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hoja de ruta organiza el capítulo en diez bloques temáticos que siguen la secuencia lógica de la enseñanza de vía aérea: primero fundamentos (definición, historia, anatomía), luego el instrumental disponible, después la evaluación preoperatoria y la técnica paso a paso, y finalmente los escenarios especiales y complicaciones. Se recomienda al residente revisar la anatomía laríngea antes de practicar en el simulador.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intubación traqueal convierte una vía aérea "abierta pero no protegida" en una vía aérea sellada y controlada. Es importante diferenciar la intubación (colocación de un tubo en la tráquea) del manejo de la vía aérea en general, que incluye maniobras menos invasivas como la máscara facial o los dispositivos supraglóticos. El residente debe recordar que la posición ideal del tubo se confirma radiológicamente cuando es necesario, ya que la distancia a la carina varía con la flexión y extensión cervical.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Ivan Magill trabajó junto a Stanley Rowbotham en el Queen Mary's Hospital de Sidcup atendiendo a soldados con heridas faciales de la Primera Guerra Mundial, lo que impulsó la necesidad de una vía aérea segura y estable durante cirugías reconstructivas prolongadas. Es importante que el residente comprenda que la estandarización de las hojas de laringoscopio (Macintosh curva, Miller recta) en los años 1940 permitió trasladar la técnica desde expertos aislados a la práctica anestesiológica generalizada.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Más allá de "abrir la vía aérea", la intubación traqueal cumple funciones simultáneas de protección, ventilación y monitorización. En el contexto de anestesia general, la elección de intubar frente a usar una máscara laríngea depende del riesgo de aspiración, la duración de la cirugía, la posición del paciente y la necesidad de relajación muscular profunda. El residente debe justificar clínicamente cada objetivo antes de decidir la técnica de manejo de vía aérea.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vía nasal se prefiere para intubación prolongada en cuidados intensivos o en cirugía intraoral, pero conlleva mayor riesgo de sinusitis y epistaxis. En la evaluación preanestésica, la inspección de la dentición y la apertura oral son pasos obligatorios: una prótesis dental móvil o un incisivo central prominente deben documentarse antes de cualquier laringoscopia. Recordar que la lengua se desplaza mediante la hoja del laringoscopio hacia la izquierda y no se "aplasta" contra los 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faringe es un conducto muscular común a la vía digestiva y respiratoria, lo cual explica el riesgo de aspiración cuando se pierden los reflejos protectores bajo sedación profunda o anestesia general. Comprender los tres segmentos ayuda a interpretar la clasificación de Mallampati (que valora la orofaringe con el paciente sentado) y a anticipar dónde puede alojarse un cuerpo extraño o quedar retenida una prótesis dental durante la laringoscopia.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laringe se ubica a nivel de C3-C6 en el adulto y actúa como esfínter protector de la vía aérea inferior. Al realizar la laringoscopia, el objetivo es alinear el eje visual con la abertura glótica traccionando el conjunto lengua-epiglotis con la hoja, sin usar los dientes como punto de apoyo. La clasificación de Cormack-Lehane describe precisamente el grado de visualización de estas estructuras glóticas durante la laringoscopia directa.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trayecto del nervio laríngeo recurrente, íntimamente relacionado con la glándula tiroides, explica por qué la cirugía tiroidea es la causa quirúrgica más frecuente de parálisis de cuerdas vocales. En anestesia, la anestesia tópica con lidocaína en la vía aérea busca precisamente bloquear las aferencias del laríngeo superior y del nervio glosofaríngeo para permitir una laringoscopia o fibrobroncoscopia despierta bien tolerada.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elección entre hoja curva y recta no es absoluta: muchos anestesiólogos experimentados emplean la Macintosh en pediatría y viceversa según el caso. Es fundamental practicar la técnica de inserción por el lado derecho de la boca, desplazando la lengua hacia la izquierda, y ejercer una fuerza de tracción en el eje del mango (45°) sin usar movimiento de palanca sobre los incisivos superiores, lo que constituye el error técnico más frecuente entre los residentes.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fórmula pediátrica de Cole (edad en años / 4 + 4) estima el diámetro interno del tubo sin balón; cuando se usa tubo con balón se recomienda restar 0.5 mm. La presión del balón debe monitorizarse con manómetro siempre que sea posible, ya que la sobrepresión se asocia a isquemia mucosa, estenosis subglótica tardía y disfonía, mientras que la hipopresión favorece la microaspiración y la fuga de gases anestésicos.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dispositivos supraglóticos y los accesorios de intubación forman parte del carro de vía aérea difícil y deben estar disponibles en todo quirófano. El bougie es especialmente valioso cuando la visión glótica es parcial (Cormack-Lehane grado II-III), ya que su diseño permite el paso a ciegas guiado por la sensación táctil de los anillos traqueales, seguido del "efecto de detención" al tocar un bronquio distal.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capnografía continua es actualmente el estándar universal recomendado por las sociedades de anestesiología para confirmar y monitorizar la posición traqueal del tubo, muy superior a la auscultación aislada, que puede ser engañosa en pacientes obesos o con patología pulmonar. Cinco a seis capnogramas cuadrados sostenidos prácticamente descartan la intubación esofágica; una curva plana obliga a laringoscopia inmediata para reconfirmar la posición del tubo.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Ningún predictor aislado tiene sensibilidad suficiente para descartar una vía aérea difícil; la combinación de varios signos aumenta considerablemente el valor predictivo. La regla LEMON es especialmente útil en el contexto de urgencias, mientras que en la evaluación preanestésica electiva se recomienda documentar sistemáticamente Mallampati, distancia tiromentoniana, apertura oral y movilidad cervical en la historia clínica.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preoxigenación busca reemplazar el nitrógeno del reservorio pulmonar por oxígeno, generando una capacidad residual funcional que actúa como reserva durante el periodo de apnea. En pacientes con patología respiratoria o alto índice de masa corporal se recomienda asociar presión positiva continua (CPAP) o cánula nasal de alto flujo durante la preoxigenación y mantenerla durante la laringoscopia (oxigenación apneica) para prolongar el margen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de "eje único" fue descrito clásicamente por Bannister y Macbeth: los ejes oral, faríngeo y laríngeo forman naturalmente tres líneas divergentes, y la posición de olfateo los aproxima a una sola línea recta desde los labios hasta la glotis. En trauma o inestabilidad cervical, la laringoscopia debe realizarse con estabilización manual en línea (in-line stabilization) por un segundo operador, aceptando una visión glótica potencialmente más limitada.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tiempo total de laringoscopia no debería exceder los 30 segundos en un intento; si no se logra la intubación se debe reoxigenar con máscara antes de un nuevo intento. Cada intento debe idealmente modificar algo (posición, hoja, operador, uso de bougie) en lugar de repetir exactamente la misma maniobra, siguiendo el principio de "no más de tres intentos" antes de activar el algoritmo de vía aérea difícil.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 la duda diagnóstica sobre la posición del tubo, la conducta más segura es asumir intubación esofágica y retirarlo, reventilando con máscara antes de un nuevo intento, salvo que la capnografía confirme claramente la posición traqueal. La intubación endobronquial selectiva (habitualmente derecha) se manifiesta por murmullo vesicular ausente o disminuido en el hemitórax izquierdo y presiones ventilatorias elevadas, y se corrige retirando el tubo 1-2 cm bajo auscultación.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Diversos metaanálisis muestran que la videolaringoscopia mejora la tasa de éxito al primer intento y reduce las complicaciones traumáticas en comparación con la laringoscopia directa, particularmente en manos de operadores en formación y en pacientes con predictores de vía aérea difícil. Sin embargo, la presencia de sangre, secreciones abundantes o vaho en la lente puede degradar la imagen, por lo que la habilidad de laringoscopia directa convencional debe mantenerse como destreza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intubación con el paciente despierto es la técnica de referencia cuando se anticipa dificultad tanto para la laringoscopia como para la ventilación con máscara, ya que preserva la ventilación espontánea del paciente durante todo el procedimiento y permite abortar de forma segura si es necesario. La colaboración del paciente y una anestesia tópica de la vía aérea meticulosa son determinantes del éxito y de la tolerancia del procedimiento.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práctica clínica estas tres categorías frecuentemente se superponen: un paciente politraumatizado con estómago lleno que requiere cirugía de urgencia combina indicaciones de protección, ventilatorias y quirúrgicas simultáneamente. La decisión de intubar debe basarse siempre en un análisis individualizado del riesgo-beneficio, considerando también alternativas como la anestesia regional cuando sea clínicamente apropiada.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esquema resume los algoritmos de sociedades como la ASA y la Difficult Airway Society: la vía aérea difícil no anticipada exige un abordaje escalonado con un número limitado de intentos, priorizando siempre la oxigenación sobre la intubación. El escenario "no intubar, no oxigenar" constituye una emergencia vital que requiere acceso quirúrgico inmediato de la vía aérea (cricotiroidotomía), y todo el personal de quirófano debe conocer su rol específico dentro de este algoritmo.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de las complicaciones inmediatas se relacionan directamente con el número de intentos de laringoscopia y con un plano anestésico insuficiente; por ello, limitar los intentos y asegurar profundidad anestésica adecuada antes de instrumentar la vía aérea son medidas preventivas fundamentales. La intubación esofágica no reconocida es una de las causas evitables más graves de daño cerebral hipóxico y muerte en anestesia, de ahí la obligatoriedad de la capnografía.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complicaciones tardías reflejan generalmente un daño isquémico acumulativo de la mucosa traqueal o laríngea y son más frecuentes cuanto mayor es el tiempo de intubación, como ocurre en pacientes de cuidados intensivos. La traqueostomía precoz se considera en pacientes que requieren ventilación mecánica prolongada (habitualmente más de 10-14 días) precisamente para reducir el riesgo de estas complicaciones subglóticas.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rápida modificada, que permite ventilación suave con máscara a baja presión si el paciente desatura, es cada vez más aceptada en la práctica clínica moderna frente a la RSI clásica estricta, siempre que se mantenga presión cricoidea o se prioricen bajas presiones inspiratorias para minimizar la insuflación gástrica. La elección entre succinilcolina y rocuronio en dosis alta depende de contraindicaciones específicas (hiperpotasemia, hipertermia maligna) y de la disponibilidad de sugammadex como reversor.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extubación es un procedimiento tan crítico como la intubación y debe planificarse con el mismo rigor, considerando siempre la posibilidad de reintubación. En pacientes con vía aérea difícil documentada, se recomienda emplear un intercambiador de tubo (airway exchange catheter) que permita reintubación guiada en caso de fracaso respiratorio inmediato tras la extubación.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prueba de fuga del balón (cuff leak test) puede ayudar a predecir el riesgo de edema laríngeo significativo en pacientes de alto riesgo antes de la extubación, aunque su valor predictivo es limitado. Todo el equipo debe tener disponibilidad inmediata de dispositivos de rescate (máscara laríngea, laringoscopio) durante cualquier extubación, ya que el laringoespasmo grave puede progresar rápidamente a hipoxemia severa si no se trata de forma oportuna.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población especial modifica no solo la técnica sino también los tiempos de seguridad: el paciente pediátrico y el obeso desaturan mucho más rápido que el adulto sano durante la apnea, lo que reduce el margen de maniobra en cada intento de intubación. En el politraumatizado, la máxima prioridad es siempre descartar o confirmar simultáneamente lesión cervical y compromiso de la vía aérea, coordinando la estabilización manual en línea con el equipo de trauma.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infrecuentes, estas complicaciones tienen un impacto clínico y medicolegal considerable, por lo que su prevención mediante técnica cuidadosa, monitorización de la presión del balón y limitación de intentos de laringoscopia es una prioridad formativa. Todo residente debe saber reconocer precozmente los signos de alarma (estridor progresivo, enfisema subcutáneo, disfonía persistente) y activar la interconsulta con otorrinolaringología o cirugía de tórax cuando corresponda.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resumen busca consolidar los conceptos centrales del capítulo: la intubación traqueal es una destreza técnica pero también una decisión clínica que integra anatomía, evaluación de riesgo y manejo de contingencias. Se recomienda al residente repasar el algoritmo de vía aérea difícil de memoria y practicar la secuencia de laringoscopia en el simulador antes de la rotación clínica en quirófano.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530"/>
        </a:solidFill>
      </p:bgPr>
    </p:bg>
    <p:spTree>
      <p:nvGrpSpPr>
        <p:cNvPr id="1" name=""/>
        <p:cNvGrpSpPr/>
        <p:nvPr/>
      </p:nvGrpSpPr>
      <p:grpSpPr>
        <a:xfrm>
          <a:off x="0" y="0"/>
          <a:ext cx="0" cy="0"/>
          <a:chOff x="0" y="0"/>
          <a:chExt cx="0" cy="0"/>
        </a:xfrm>
      </p:grpSpPr>
      <p:sp>
        <p:nvSpPr>
          <p:cNvPr id="2" name="Shape 0"/>
          <p:cNvSpPr/>
          <p:nvPr/>
        </p:nvSpPr>
        <p:spPr>
          <a:xfrm>
            <a:off x="8778240" y="-1828800"/>
            <a:ext cx="5943600" cy="5943600"/>
          </a:xfrm>
          <a:prstGeom prst="ellipse">
            <a:avLst/>
          </a:prstGeom>
          <a:solidFill>
            <a:srgbClr val="243444"/>
          </a:solidFill>
          <a:ln w="19050">
            <a:solidFill>
              <a:srgbClr val="2E4152"/>
            </a:solidFill>
            <a:prstDash val="solid"/>
          </a:ln>
        </p:spPr>
      </p:sp>
      <p:sp>
        <p:nvSpPr>
          <p:cNvPr id="3" name="Shape 1"/>
          <p:cNvSpPr/>
          <p:nvPr/>
        </p:nvSpPr>
        <p:spPr>
          <a:xfrm>
            <a:off x="9692640" y="-914400"/>
            <a:ext cx="4114800" cy="4114800"/>
          </a:xfrm>
          <a:prstGeom prst="ellipse">
            <a:avLst/>
          </a:prstGeom>
          <a:ln w="15875">
            <a:solidFill>
              <a:srgbClr val="32485C"/>
            </a:solidFill>
            <a:prstDash val="solid"/>
          </a:ln>
        </p:spPr>
      </p:sp>
      <p:sp>
        <p:nvSpPr>
          <p:cNvPr id="4" name="Shape 2"/>
          <p:cNvSpPr/>
          <p:nvPr/>
        </p:nvSpPr>
        <p:spPr>
          <a:xfrm>
            <a:off x="-2011680" y="3931920"/>
            <a:ext cx="4754880" cy="4754880"/>
          </a:xfrm>
          <a:prstGeom prst="ellipse">
            <a:avLst/>
          </a:prstGeom>
          <a:ln w="15875">
            <a:solidFill>
              <a:srgbClr val="2E4152"/>
            </a:solidFill>
            <a:prstDash val="solid"/>
          </a:ln>
        </p:spPr>
      </p:sp>
      <p:sp>
        <p:nvSpPr>
          <p:cNvPr id="5" name="Shape 3"/>
          <p:cNvSpPr/>
          <p:nvPr/>
        </p:nvSpPr>
        <p:spPr>
          <a:xfrm>
            <a:off x="822960" y="777240"/>
            <a:ext cx="960120" cy="96012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6" name="Image 0" descr="preencoded.png">    </p:cNvPr>
          <p:cNvPicPr>
            <a:picLocks noChangeAspect="1"/>
          </p:cNvPicPr>
          <p:nvPr/>
        </p:nvPicPr>
        <p:blipFill>
          <a:blip r:embed="rId1"/>
          <a:stretch>
            <a:fillRect/>
          </a:stretch>
        </p:blipFill>
        <p:spPr>
          <a:xfrm>
            <a:off x="1060704" y="1014984"/>
            <a:ext cx="484632" cy="484632"/>
          </a:xfrm>
          <a:prstGeom prst="rect">
            <a:avLst/>
          </a:prstGeom>
        </p:spPr>
      </p:pic>
      <p:sp>
        <p:nvSpPr>
          <p:cNvPr id="7" name="Text 4"/>
          <p:cNvSpPr txBox="1"/>
          <p:nvPr/>
        </p:nvSpPr>
        <p:spPr>
          <a:xfrm>
            <a:off x="822960" y="1965960"/>
            <a:ext cx="8686800" cy="365760"/>
          </a:xfrm>
          <a:prstGeom prst="rect">
            <a:avLst/>
          </a:prstGeom>
          <a:noFill/>
          <a:ln/>
        </p:spPr>
        <p:txBody>
          <a:bodyPr wrap="square" lIns="0" tIns="0" rIns="0" bIns="0" rtlCol="0" anchor="ctr"/>
          <a:lstStyle/>
          <a:p>
            <a:pPr indent="0" marL="0">
              <a:buNone/>
            </a:pPr>
            <a:r>
              <a:rPr lang="en-US" sz="1400" b="1" spc="220" kern="0" dirty="0">
                <a:solidFill>
                  <a:srgbClr val="17A2B8"/>
                </a:solidFill>
                <a:latin typeface="Calibri" pitchFamily="34" charset="0"/>
                <a:ea typeface="Calibri" pitchFamily="34" charset="-122"/>
                <a:cs typeface="Calibri" pitchFamily="34" charset="-120"/>
              </a:rPr>
              <a:t>CURSO DE POSTGRADO EN ANESTESIOLOGÍA</a:t>
            </a:r>
            <a:endParaRPr lang="en-US" sz="1400" dirty="0"/>
          </a:p>
        </p:txBody>
      </p:sp>
      <p:sp>
        <p:nvSpPr>
          <p:cNvPr id="8" name="Text 5"/>
          <p:cNvSpPr txBox="1"/>
          <p:nvPr/>
        </p:nvSpPr>
        <p:spPr>
          <a:xfrm>
            <a:off x="822960" y="2331720"/>
            <a:ext cx="9601200" cy="594360"/>
          </a:xfrm>
          <a:prstGeom prst="rect">
            <a:avLst/>
          </a:prstGeom>
          <a:noFill/>
          <a:ln/>
        </p:spPr>
        <p:txBody>
          <a:bodyPr wrap="square" lIns="0" tIns="0" rIns="0" bIns="0" rtlCol="0" anchor="ctr"/>
          <a:lstStyle/>
          <a:p>
            <a:pPr indent="0" marL="0">
              <a:buNone/>
            </a:pPr>
            <a:r>
              <a:rPr lang="en-US" sz="2600" b="1" dirty="0">
                <a:solidFill>
                  <a:srgbClr val="9FB4C4"/>
                </a:solidFill>
                <a:latin typeface="Cambria" pitchFamily="34" charset="0"/>
                <a:ea typeface="Cambria" pitchFamily="34" charset="-122"/>
                <a:cs typeface="Cambria" pitchFamily="34" charset="-120"/>
              </a:rPr>
              <a:t>Capítulo VII</a:t>
            </a:r>
            <a:endParaRPr lang="en-US" sz="2600" dirty="0"/>
          </a:p>
        </p:txBody>
      </p:sp>
      <p:sp>
        <p:nvSpPr>
          <p:cNvPr id="9" name="Text 6"/>
          <p:cNvSpPr txBox="1"/>
          <p:nvPr/>
        </p:nvSpPr>
        <p:spPr>
          <a:xfrm>
            <a:off x="822960" y="2880360"/>
            <a:ext cx="10241280" cy="13716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Intubación de la Tráquea</a:t>
            </a:r>
            <a:endParaRPr lang="en-US" sz="5200" dirty="0"/>
          </a:p>
        </p:txBody>
      </p:sp>
      <p:sp>
        <p:nvSpPr>
          <p:cNvPr id="10" name="Text 7"/>
          <p:cNvSpPr txBox="1"/>
          <p:nvPr/>
        </p:nvSpPr>
        <p:spPr>
          <a:xfrm>
            <a:off x="822960" y="4343400"/>
            <a:ext cx="8778240" cy="640080"/>
          </a:xfrm>
          <a:prstGeom prst="rect">
            <a:avLst/>
          </a:prstGeom>
          <a:noFill/>
          <a:ln/>
        </p:spPr>
        <p:txBody>
          <a:bodyPr wrap="square" lIns="0" tIns="0" rIns="0" bIns="0" rtlCol="0" anchor="ctr"/>
          <a:lstStyle/>
          <a:p>
            <a:pPr indent="0" marL="0">
              <a:lnSpc>
                <a:spcPts val="2100"/>
              </a:lnSpc>
              <a:buNone/>
            </a:pPr>
            <a:r>
              <a:rPr lang="en-US" sz="1650" i="1" dirty="0">
                <a:solidFill>
                  <a:srgbClr val="C9D4DC"/>
                </a:solidFill>
                <a:latin typeface="Calibri" pitchFamily="34" charset="0"/>
                <a:ea typeface="Calibri" pitchFamily="34" charset="-122"/>
                <a:cs typeface="Calibri" pitchFamily="34" charset="-120"/>
              </a:rPr>
              <a:t>Fundamentos anatómicos, técnica y manejo de la vía aérea en la práctica anestesiológica</a:t>
            </a:r>
            <a:endParaRPr lang="en-US" sz="1650" dirty="0"/>
          </a:p>
        </p:txBody>
      </p:sp>
      <p:sp>
        <p:nvSpPr>
          <p:cNvPr id="11" name="Text 8"/>
          <p:cNvSpPr txBox="1"/>
          <p:nvPr/>
        </p:nvSpPr>
        <p:spPr>
          <a:xfrm>
            <a:off x="822960" y="6172200"/>
            <a:ext cx="9144000" cy="320040"/>
          </a:xfrm>
          <a:prstGeom prst="rect">
            <a:avLst/>
          </a:prstGeom>
          <a:noFill/>
          <a:ln/>
        </p:spPr>
        <p:txBody>
          <a:bodyPr wrap="square" lIns="0" tIns="0" rIns="0" bIns="0" rtlCol="0" anchor="ctr"/>
          <a:lstStyle/>
          <a:p>
            <a:pPr indent="0" marL="0">
              <a:buNone/>
            </a:pPr>
            <a:r>
              <a:rPr lang="en-US" sz="1150" dirty="0">
                <a:solidFill>
                  <a:srgbClr val="7E92A2"/>
                </a:solidFill>
                <a:latin typeface="Calibri" pitchFamily="34" charset="0"/>
                <a:ea typeface="Calibri" pitchFamily="34" charset="-122"/>
                <a:cs typeface="Calibri" pitchFamily="34" charset="-120"/>
              </a:rPr>
              <a:t>Departamento de Anestesiología  ·  Programa de Formación de Postgrado</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HOJA DE RUTA</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Contenido del capítulo</a:t>
            </a:r>
            <a:endParaRPr lang="en-US" sz="2500" dirty="0"/>
          </a:p>
        </p:txBody>
      </p:sp>
      <p:sp>
        <p:nvSpPr>
          <p:cNvPr id="6" name="Text 3"/>
          <p:cNvSpPr txBox="1"/>
          <p:nvPr/>
        </p:nvSpPr>
        <p:spPr>
          <a:xfrm>
            <a:off x="502920" y="1417320"/>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01</a:t>
            </a:r>
            <a:endParaRPr lang="en-US" sz="2600" dirty="0"/>
          </a:p>
        </p:txBody>
      </p:sp>
      <p:sp>
        <p:nvSpPr>
          <p:cNvPr id="7" name="Text 4"/>
          <p:cNvSpPr txBox="1"/>
          <p:nvPr/>
        </p:nvSpPr>
        <p:spPr>
          <a:xfrm>
            <a:off x="1188720" y="1417320"/>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Definición e historia</a:t>
            </a:r>
            <a:endParaRPr lang="en-US" sz="1450" dirty="0"/>
          </a:p>
        </p:txBody>
      </p:sp>
      <p:sp>
        <p:nvSpPr>
          <p:cNvPr id="8" name="Text 5"/>
          <p:cNvSpPr txBox="1"/>
          <p:nvPr/>
        </p:nvSpPr>
        <p:spPr>
          <a:xfrm>
            <a:off x="1188720" y="1764792"/>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Concepto, hitos y desarrollo de la intubación traqueal</a:t>
            </a:r>
            <a:endParaRPr lang="en-US" sz="1100" dirty="0"/>
          </a:p>
        </p:txBody>
      </p:sp>
      <p:sp>
        <p:nvSpPr>
          <p:cNvPr id="9" name="Text 6"/>
          <p:cNvSpPr txBox="1"/>
          <p:nvPr/>
        </p:nvSpPr>
        <p:spPr>
          <a:xfrm>
            <a:off x="502920" y="2318004"/>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02</a:t>
            </a:r>
            <a:endParaRPr lang="en-US" sz="2600" dirty="0"/>
          </a:p>
        </p:txBody>
      </p:sp>
      <p:sp>
        <p:nvSpPr>
          <p:cNvPr id="10" name="Text 7"/>
          <p:cNvSpPr txBox="1"/>
          <p:nvPr/>
        </p:nvSpPr>
        <p:spPr>
          <a:xfrm>
            <a:off x="1188720" y="2318004"/>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Anatomía de la vía aérea superior</a:t>
            </a:r>
            <a:endParaRPr lang="en-US" sz="1450" dirty="0"/>
          </a:p>
        </p:txBody>
      </p:sp>
      <p:sp>
        <p:nvSpPr>
          <p:cNvPr id="11" name="Text 8"/>
          <p:cNvSpPr txBox="1"/>
          <p:nvPr/>
        </p:nvSpPr>
        <p:spPr>
          <a:xfrm>
            <a:off x="1188720" y="2665476"/>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Cavidad nasal, oral, faringe, laringe y tráquea</a:t>
            </a:r>
            <a:endParaRPr lang="en-US" sz="1100" dirty="0"/>
          </a:p>
        </p:txBody>
      </p:sp>
      <p:sp>
        <p:nvSpPr>
          <p:cNvPr id="12" name="Text 9"/>
          <p:cNvSpPr txBox="1"/>
          <p:nvPr/>
        </p:nvSpPr>
        <p:spPr>
          <a:xfrm>
            <a:off x="502920" y="3218688"/>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03</a:t>
            </a:r>
            <a:endParaRPr lang="en-US" sz="2600" dirty="0"/>
          </a:p>
        </p:txBody>
      </p:sp>
      <p:sp>
        <p:nvSpPr>
          <p:cNvPr id="13" name="Text 10"/>
          <p:cNvSpPr txBox="1"/>
          <p:nvPr/>
        </p:nvSpPr>
        <p:spPr>
          <a:xfrm>
            <a:off x="1188720" y="3218688"/>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Material y equipo</a:t>
            </a:r>
            <a:endParaRPr lang="en-US" sz="1450" dirty="0"/>
          </a:p>
        </p:txBody>
      </p:sp>
      <p:sp>
        <p:nvSpPr>
          <p:cNvPr id="14" name="Text 11"/>
          <p:cNvSpPr txBox="1"/>
          <p:nvPr/>
        </p:nvSpPr>
        <p:spPr>
          <a:xfrm>
            <a:off x="1188720" y="3566160"/>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Laringoscopios, tubos, dispositivos y monitorización</a:t>
            </a:r>
            <a:endParaRPr lang="en-US" sz="1100" dirty="0"/>
          </a:p>
        </p:txBody>
      </p:sp>
      <p:sp>
        <p:nvSpPr>
          <p:cNvPr id="15" name="Text 12"/>
          <p:cNvSpPr txBox="1"/>
          <p:nvPr/>
        </p:nvSpPr>
        <p:spPr>
          <a:xfrm>
            <a:off x="502920" y="4119372"/>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04</a:t>
            </a:r>
            <a:endParaRPr lang="en-US" sz="2600" dirty="0"/>
          </a:p>
        </p:txBody>
      </p:sp>
      <p:sp>
        <p:nvSpPr>
          <p:cNvPr id="16" name="Text 13"/>
          <p:cNvSpPr txBox="1"/>
          <p:nvPr/>
        </p:nvSpPr>
        <p:spPr>
          <a:xfrm>
            <a:off x="1188720" y="4119372"/>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Evaluación de la vía aérea</a:t>
            </a:r>
            <a:endParaRPr lang="en-US" sz="1450" dirty="0"/>
          </a:p>
        </p:txBody>
      </p:sp>
      <p:sp>
        <p:nvSpPr>
          <p:cNvPr id="17" name="Text 14"/>
          <p:cNvSpPr txBox="1"/>
          <p:nvPr/>
        </p:nvSpPr>
        <p:spPr>
          <a:xfrm>
            <a:off x="1188720" y="4466844"/>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Predictores clínicos de vía aérea difícil</a:t>
            </a:r>
            <a:endParaRPr lang="en-US" sz="1100" dirty="0"/>
          </a:p>
        </p:txBody>
      </p:sp>
      <p:sp>
        <p:nvSpPr>
          <p:cNvPr id="18" name="Text 15"/>
          <p:cNvSpPr txBox="1"/>
          <p:nvPr/>
        </p:nvSpPr>
        <p:spPr>
          <a:xfrm>
            <a:off x="502920" y="5020056"/>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05</a:t>
            </a:r>
            <a:endParaRPr lang="en-US" sz="2600" dirty="0"/>
          </a:p>
        </p:txBody>
      </p:sp>
      <p:sp>
        <p:nvSpPr>
          <p:cNvPr id="19" name="Text 16"/>
          <p:cNvSpPr txBox="1"/>
          <p:nvPr/>
        </p:nvSpPr>
        <p:spPr>
          <a:xfrm>
            <a:off x="1188720" y="5020056"/>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Técnica de intubación</a:t>
            </a:r>
            <a:endParaRPr lang="en-US" sz="1450" dirty="0"/>
          </a:p>
        </p:txBody>
      </p:sp>
      <p:sp>
        <p:nvSpPr>
          <p:cNvPr id="20" name="Text 17"/>
          <p:cNvSpPr txBox="1"/>
          <p:nvPr/>
        </p:nvSpPr>
        <p:spPr>
          <a:xfrm>
            <a:off x="1188720" y="5367528"/>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Preparación, posición, laringoscopia y confirmación</a:t>
            </a:r>
            <a:endParaRPr lang="en-US" sz="1100" dirty="0"/>
          </a:p>
        </p:txBody>
      </p:sp>
      <p:sp>
        <p:nvSpPr>
          <p:cNvPr id="21" name="Text 18"/>
          <p:cNvSpPr txBox="1"/>
          <p:nvPr/>
        </p:nvSpPr>
        <p:spPr>
          <a:xfrm>
            <a:off x="6172200" y="1417320"/>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06</a:t>
            </a:r>
            <a:endParaRPr lang="en-US" sz="2600" dirty="0"/>
          </a:p>
        </p:txBody>
      </p:sp>
      <p:sp>
        <p:nvSpPr>
          <p:cNvPr id="22" name="Text 19"/>
          <p:cNvSpPr txBox="1"/>
          <p:nvPr/>
        </p:nvSpPr>
        <p:spPr>
          <a:xfrm>
            <a:off x="6858000" y="1417320"/>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Abordajes especiales</a:t>
            </a:r>
            <a:endParaRPr lang="en-US" sz="1450" dirty="0"/>
          </a:p>
        </p:txBody>
      </p:sp>
      <p:sp>
        <p:nvSpPr>
          <p:cNvPr id="23" name="Text 20"/>
          <p:cNvSpPr txBox="1"/>
          <p:nvPr/>
        </p:nvSpPr>
        <p:spPr>
          <a:xfrm>
            <a:off x="6858000" y="1764792"/>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Videolaringoscopia y fibrobroncoscopia</a:t>
            </a:r>
            <a:endParaRPr lang="en-US" sz="1100" dirty="0"/>
          </a:p>
        </p:txBody>
      </p:sp>
      <p:sp>
        <p:nvSpPr>
          <p:cNvPr id="24" name="Text 21"/>
          <p:cNvSpPr txBox="1"/>
          <p:nvPr/>
        </p:nvSpPr>
        <p:spPr>
          <a:xfrm>
            <a:off x="6172200" y="2318004"/>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07</a:t>
            </a:r>
            <a:endParaRPr lang="en-US" sz="2600" dirty="0"/>
          </a:p>
        </p:txBody>
      </p:sp>
      <p:sp>
        <p:nvSpPr>
          <p:cNvPr id="25" name="Text 22"/>
          <p:cNvSpPr txBox="1"/>
          <p:nvPr/>
        </p:nvSpPr>
        <p:spPr>
          <a:xfrm>
            <a:off x="6858000" y="2318004"/>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Indicaciones y algoritmo</a:t>
            </a:r>
            <a:endParaRPr lang="en-US" sz="1450" dirty="0"/>
          </a:p>
        </p:txBody>
      </p:sp>
      <p:sp>
        <p:nvSpPr>
          <p:cNvPr id="26" name="Text 23"/>
          <p:cNvSpPr txBox="1"/>
          <p:nvPr/>
        </p:nvSpPr>
        <p:spPr>
          <a:xfrm>
            <a:off x="6858000" y="2665476"/>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Indicaciones clínicas y manejo de vía aérea difícil</a:t>
            </a:r>
            <a:endParaRPr lang="en-US" sz="1100" dirty="0"/>
          </a:p>
        </p:txBody>
      </p:sp>
      <p:sp>
        <p:nvSpPr>
          <p:cNvPr id="27" name="Text 24"/>
          <p:cNvSpPr txBox="1"/>
          <p:nvPr/>
        </p:nvSpPr>
        <p:spPr>
          <a:xfrm>
            <a:off x="6172200" y="3218688"/>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08</a:t>
            </a:r>
            <a:endParaRPr lang="en-US" sz="2600" dirty="0"/>
          </a:p>
        </p:txBody>
      </p:sp>
      <p:sp>
        <p:nvSpPr>
          <p:cNvPr id="28" name="Text 25"/>
          <p:cNvSpPr txBox="1"/>
          <p:nvPr/>
        </p:nvSpPr>
        <p:spPr>
          <a:xfrm>
            <a:off x="6858000" y="3218688"/>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Complicaciones</a:t>
            </a:r>
            <a:endParaRPr lang="en-US" sz="1450" dirty="0"/>
          </a:p>
        </p:txBody>
      </p:sp>
      <p:sp>
        <p:nvSpPr>
          <p:cNvPr id="29" name="Text 26"/>
          <p:cNvSpPr txBox="1"/>
          <p:nvPr/>
        </p:nvSpPr>
        <p:spPr>
          <a:xfrm>
            <a:off x="6858000" y="3566160"/>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Inmediatas, tardías y raras pero graves</a:t>
            </a:r>
            <a:endParaRPr lang="en-US" sz="1100" dirty="0"/>
          </a:p>
        </p:txBody>
      </p:sp>
      <p:sp>
        <p:nvSpPr>
          <p:cNvPr id="30" name="Text 27"/>
          <p:cNvSpPr txBox="1"/>
          <p:nvPr/>
        </p:nvSpPr>
        <p:spPr>
          <a:xfrm>
            <a:off x="6172200" y="4119372"/>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09</a:t>
            </a:r>
            <a:endParaRPr lang="en-US" sz="2600" dirty="0"/>
          </a:p>
        </p:txBody>
      </p:sp>
      <p:sp>
        <p:nvSpPr>
          <p:cNvPr id="31" name="Text 28"/>
          <p:cNvSpPr txBox="1"/>
          <p:nvPr/>
        </p:nvSpPr>
        <p:spPr>
          <a:xfrm>
            <a:off x="6858000" y="4119372"/>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Secuencia rápida y extubación</a:t>
            </a:r>
            <a:endParaRPr lang="en-US" sz="1450" dirty="0"/>
          </a:p>
        </p:txBody>
      </p:sp>
      <p:sp>
        <p:nvSpPr>
          <p:cNvPr id="32" name="Text 29"/>
          <p:cNvSpPr txBox="1"/>
          <p:nvPr/>
        </p:nvSpPr>
        <p:spPr>
          <a:xfrm>
            <a:off x="6858000" y="4466844"/>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RSI, criterios y técnica de extubación segura</a:t>
            </a:r>
            <a:endParaRPr lang="en-US" sz="1100" dirty="0"/>
          </a:p>
        </p:txBody>
      </p:sp>
      <p:sp>
        <p:nvSpPr>
          <p:cNvPr id="33" name="Text 30"/>
          <p:cNvSpPr txBox="1"/>
          <p:nvPr/>
        </p:nvSpPr>
        <p:spPr>
          <a:xfrm>
            <a:off x="6172200" y="5020056"/>
            <a:ext cx="685800" cy="731520"/>
          </a:xfrm>
          <a:prstGeom prst="rect">
            <a:avLst/>
          </a:prstGeom>
          <a:noFill/>
          <a:ln/>
        </p:spPr>
        <p:txBody>
          <a:bodyPr wrap="square" lIns="0" tIns="0" rIns="0" bIns="0" rtlCol="0" anchor="t"/>
          <a:lstStyle/>
          <a:p>
            <a:pPr indent="0" marL="0">
              <a:buNone/>
            </a:pPr>
            <a:r>
              <a:rPr lang="en-US" sz="2600" b="1" dirty="0">
                <a:solidFill>
                  <a:srgbClr val="17A2B8"/>
                </a:solidFill>
                <a:latin typeface="Cambria" pitchFamily="34" charset="0"/>
                <a:ea typeface="Cambria" pitchFamily="34" charset="-122"/>
                <a:cs typeface="Cambria" pitchFamily="34" charset="-120"/>
              </a:rPr>
              <a:t>10</a:t>
            </a:r>
            <a:endParaRPr lang="en-US" sz="2600" dirty="0"/>
          </a:p>
        </p:txBody>
      </p:sp>
      <p:sp>
        <p:nvSpPr>
          <p:cNvPr id="34" name="Text 31"/>
          <p:cNvSpPr txBox="1"/>
          <p:nvPr/>
        </p:nvSpPr>
        <p:spPr>
          <a:xfrm>
            <a:off x="6858000" y="5020056"/>
            <a:ext cx="4663440" cy="365760"/>
          </a:xfrm>
          <a:prstGeom prst="rect">
            <a:avLst/>
          </a:prstGeom>
          <a:noFill/>
          <a:ln/>
        </p:spPr>
        <p:txBody>
          <a:bodyPr wrap="square" lIns="0" tIns="0" rIns="0" bIns="0" rtlCol="0" anchor="ctr"/>
          <a:lstStyle/>
          <a:p>
            <a:pPr indent="0" marL="0">
              <a:buNone/>
            </a:pPr>
            <a:r>
              <a:rPr lang="en-US" sz="1450" b="1" dirty="0">
                <a:solidFill>
                  <a:srgbClr val="2C3E50"/>
                </a:solidFill>
                <a:latin typeface="Calibri" pitchFamily="34" charset="0"/>
                <a:ea typeface="Calibri" pitchFamily="34" charset="-122"/>
                <a:cs typeface="Calibri" pitchFamily="34" charset="-120"/>
              </a:rPr>
              <a:t>Poblaciones especiales y resumen</a:t>
            </a:r>
            <a:endParaRPr lang="en-US" sz="1450" dirty="0"/>
          </a:p>
        </p:txBody>
      </p:sp>
      <p:sp>
        <p:nvSpPr>
          <p:cNvPr id="35" name="Text 32"/>
          <p:cNvSpPr txBox="1"/>
          <p:nvPr/>
        </p:nvSpPr>
        <p:spPr>
          <a:xfrm>
            <a:off x="6858000" y="5367528"/>
            <a:ext cx="4663440" cy="457200"/>
          </a:xfrm>
          <a:prstGeom prst="rect">
            <a:avLst/>
          </a:prstGeom>
          <a:noFill/>
          <a:ln/>
        </p:spPr>
        <p:txBody>
          <a:bodyPr wrap="square" lIns="0" tIns="0" rIns="0" bIns="0" rtlCol="0" anchor="ctr"/>
          <a:lstStyle/>
          <a:p>
            <a:pPr indent="0" marL="0">
              <a:lnSpc>
                <a:spcPts val="1300"/>
              </a:lnSpc>
              <a:buNone/>
            </a:pPr>
            <a:r>
              <a:rPr lang="en-US" sz="1100" dirty="0">
                <a:solidFill>
                  <a:srgbClr val="5D6D7E"/>
                </a:solidFill>
                <a:latin typeface="Calibri" pitchFamily="34" charset="0"/>
                <a:ea typeface="Calibri" pitchFamily="34" charset="-122"/>
                <a:cs typeface="Calibri" pitchFamily="34" charset="-120"/>
              </a:rPr>
              <a:t>Pediatría, obesidad, politrauma y puntos clave</a:t>
            </a:r>
            <a:endParaRPr lang="en-US" sz="1100" dirty="0"/>
          </a:p>
        </p:txBody>
      </p:sp>
      <p:sp>
        <p:nvSpPr>
          <p:cNvPr id="36" name="Shape 33"/>
          <p:cNvSpPr/>
          <p:nvPr/>
        </p:nvSpPr>
        <p:spPr>
          <a:xfrm>
            <a:off x="6035040" y="1417320"/>
            <a:ext cx="0" cy="4297680"/>
          </a:xfrm>
          <a:prstGeom prst="line">
            <a:avLst/>
          </a:prstGeom>
          <a:noFill/>
          <a:ln w="12700">
            <a:solidFill>
              <a:srgbClr val="CBD5DA"/>
            </a:solidFill>
            <a:prstDash val="solid"/>
          </a:ln>
        </p:spPr>
      </p:sp>
      <p:sp>
        <p:nvSpPr>
          <p:cNvPr id="38" name="Text 34"/>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9" name="Text 35"/>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 / 31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CONCEPTOS FUNDAMENTALES</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Definición de la intubación traqueal</a:t>
            </a:r>
            <a:endParaRPr lang="en-US" sz="2500" dirty="0"/>
          </a:p>
        </p:txBody>
      </p:sp>
      <p:sp>
        <p:nvSpPr>
          <p:cNvPr id="6" name="Shape 3"/>
          <p:cNvSpPr/>
          <p:nvPr/>
        </p:nvSpPr>
        <p:spPr>
          <a:xfrm>
            <a:off x="502920" y="1508760"/>
            <a:ext cx="6400800" cy="1874520"/>
          </a:xfrm>
          <a:prstGeom prst="roundRect">
            <a:avLst>
              <a:gd name="adj" fmla="val 3902"/>
            </a:avLst>
          </a:prstGeom>
          <a:solidFill>
            <a:srgbClr val="2C3E50"/>
          </a:solidFill>
          <a:ln/>
        </p:spPr>
      </p:sp>
      <p:sp>
        <p:nvSpPr>
          <p:cNvPr id="7" name="Text 4"/>
          <p:cNvSpPr txBox="1"/>
          <p:nvPr/>
        </p:nvSpPr>
        <p:spPr>
          <a:xfrm>
            <a:off x="822960" y="1737360"/>
            <a:ext cx="5760720" cy="1463040"/>
          </a:xfrm>
          <a:prstGeom prst="rect">
            <a:avLst/>
          </a:prstGeom>
          <a:noFill/>
          <a:ln/>
        </p:spPr>
        <p:txBody>
          <a:bodyPr wrap="square" lIns="0" tIns="0" rIns="0" bIns="0" rtlCol="0" anchor="ctr"/>
          <a:lstStyle/>
          <a:p>
            <a:pPr indent="0" marL="0">
              <a:lnSpc>
                <a:spcPts val="2200"/>
              </a:lnSpc>
              <a:buNone/>
            </a:pPr>
            <a:r>
              <a:rPr lang="en-US" sz="1600" i="1" dirty="0">
                <a:solidFill>
                  <a:srgbClr val="FFFFFF"/>
                </a:solidFill>
                <a:latin typeface="Cambria" pitchFamily="34" charset="0"/>
                <a:ea typeface="Cambria" pitchFamily="34" charset="-122"/>
                <a:cs typeface="Cambria" pitchFamily="34" charset="-120"/>
              </a:rPr>
              <a:t>“Procedimiento mediante el cual se introduce un tubo a través de la glotis hasta la tráquea, con el fin de mantener la vía aérea permeable, permitir la ventilación con presión positiva y proteger el árbol traqueobronquial del contenido gástrico y de secreciones.”</a:t>
            </a:r>
            <a:endParaRPr lang="en-US" sz="1600" dirty="0"/>
          </a:p>
        </p:txBody>
      </p:sp>
      <p:sp>
        <p:nvSpPr>
          <p:cNvPr id="8" name="Shape 5"/>
          <p:cNvSpPr/>
          <p:nvPr/>
        </p:nvSpPr>
        <p:spPr>
          <a:xfrm>
            <a:off x="502920" y="3703320"/>
            <a:ext cx="128016" cy="128016"/>
          </a:xfrm>
          <a:prstGeom prst="ellipse">
            <a:avLst/>
          </a:prstGeom>
          <a:solidFill>
            <a:srgbClr val="17A2B8"/>
          </a:solidFill>
          <a:ln/>
        </p:spPr>
      </p:sp>
      <p:sp>
        <p:nvSpPr>
          <p:cNvPr id="9" name="Text 6"/>
          <p:cNvSpPr txBox="1"/>
          <p:nvPr/>
        </p:nvSpPr>
        <p:spPr>
          <a:xfrm>
            <a:off x="777240" y="3657600"/>
            <a:ext cx="6126480" cy="777240"/>
          </a:xfrm>
          <a:prstGeom prst="rect">
            <a:avLst/>
          </a:prstGeom>
          <a:noFill/>
          <a:ln/>
        </p:spPr>
        <p:txBody>
          <a:bodyPr wrap="square" lIns="0" tIns="0" rIns="0" bIns="0" rtlCol="0" anchor="t"/>
          <a:lstStyle/>
          <a:p>
            <a:pPr indent="0" marL="0">
              <a:lnSpc>
                <a:spcPts val="1600"/>
              </a:lnSpc>
              <a:buNone/>
            </a:pPr>
            <a:r>
              <a:rPr lang="en-US" sz="1250" b="1" dirty="0">
                <a:solidFill>
                  <a:srgbClr val="2C3E50"/>
                </a:solidFill>
                <a:latin typeface="Calibri" pitchFamily="34" charset="0"/>
                <a:ea typeface="Calibri" pitchFamily="34" charset="-122"/>
                <a:cs typeface="Calibri" pitchFamily="34" charset="-120"/>
              </a:rPr>
              <a:t>Vía de acceso:  </a:t>
            </a:r>
            <a:pPr indent="0" marL="0">
              <a:lnSpc>
                <a:spcPts val="1600"/>
              </a:lnSpc>
              <a:buNone/>
            </a:pPr>
            <a:r>
              <a:rPr lang="en-US" sz="1250" dirty="0">
                <a:solidFill>
                  <a:srgbClr val="2C3E50"/>
                </a:solidFill>
                <a:latin typeface="Calibri" pitchFamily="34" charset="0"/>
                <a:ea typeface="Calibri" pitchFamily="34" charset="-122"/>
                <a:cs typeface="Calibri" pitchFamily="34" charset="-120"/>
              </a:rPr>
              <a:t>Puede realizarse por vía orotraqueal (la más frecuente) o nasotraqueal, según la indicación clínica y quirúrgica.</a:t>
            </a:r>
            <a:endParaRPr lang="en-US" sz="1250" dirty="0"/>
          </a:p>
        </p:txBody>
      </p:sp>
      <p:sp>
        <p:nvSpPr>
          <p:cNvPr id="10" name="Shape 7"/>
          <p:cNvSpPr/>
          <p:nvPr/>
        </p:nvSpPr>
        <p:spPr>
          <a:xfrm>
            <a:off x="502920" y="4544568"/>
            <a:ext cx="128016" cy="128016"/>
          </a:xfrm>
          <a:prstGeom prst="ellipse">
            <a:avLst/>
          </a:prstGeom>
          <a:solidFill>
            <a:srgbClr val="17A2B8"/>
          </a:solidFill>
          <a:ln/>
        </p:spPr>
      </p:sp>
      <p:sp>
        <p:nvSpPr>
          <p:cNvPr id="11" name="Text 8"/>
          <p:cNvSpPr txBox="1"/>
          <p:nvPr/>
        </p:nvSpPr>
        <p:spPr>
          <a:xfrm>
            <a:off x="777240" y="4498848"/>
            <a:ext cx="6126480" cy="777240"/>
          </a:xfrm>
          <a:prstGeom prst="rect">
            <a:avLst/>
          </a:prstGeom>
          <a:noFill/>
          <a:ln/>
        </p:spPr>
        <p:txBody>
          <a:bodyPr wrap="square" lIns="0" tIns="0" rIns="0" bIns="0" rtlCol="0" anchor="t"/>
          <a:lstStyle/>
          <a:p>
            <a:pPr indent="0" marL="0">
              <a:lnSpc>
                <a:spcPts val="1600"/>
              </a:lnSpc>
              <a:buNone/>
            </a:pPr>
            <a:r>
              <a:rPr lang="en-US" sz="1250" b="1" dirty="0">
                <a:solidFill>
                  <a:srgbClr val="2C3E50"/>
                </a:solidFill>
                <a:latin typeface="Calibri" pitchFamily="34" charset="0"/>
                <a:ea typeface="Calibri" pitchFamily="34" charset="-122"/>
                <a:cs typeface="Calibri" pitchFamily="34" charset="-120"/>
              </a:rPr>
              <a:t>Instrumento clave:  </a:t>
            </a:r>
            <a:pPr indent="0" marL="0">
              <a:lnSpc>
                <a:spcPts val="1600"/>
              </a:lnSpc>
              <a:buNone/>
            </a:pPr>
            <a:r>
              <a:rPr lang="en-US" sz="1250" dirty="0">
                <a:solidFill>
                  <a:srgbClr val="2C3E50"/>
                </a:solidFill>
                <a:latin typeface="Calibri" pitchFamily="34" charset="0"/>
                <a:ea typeface="Calibri" pitchFamily="34" charset="-122"/>
                <a:cs typeface="Calibri" pitchFamily="34" charset="-120"/>
              </a:rPr>
              <a:t>El tubo endotraqueal (TET) queda situado entre la glotis y la carina, habitualmente con su extremo distal 2-4 cm por encima de la carina.</a:t>
            </a:r>
            <a:endParaRPr lang="en-US" sz="1250" dirty="0"/>
          </a:p>
        </p:txBody>
      </p:sp>
      <p:sp>
        <p:nvSpPr>
          <p:cNvPr id="12" name="Shape 9"/>
          <p:cNvSpPr/>
          <p:nvPr/>
        </p:nvSpPr>
        <p:spPr>
          <a:xfrm>
            <a:off x="502920" y="5385816"/>
            <a:ext cx="128016" cy="128016"/>
          </a:xfrm>
          <a:prstGeom prst="ellipse">
            <a:avLst/>
          </a:prstGeom>
          <a:solidFill>
            <a:srgbClr val="17A2B8"/>
          </a:solidFill>
          <a:ln/>
        </p:spPr>
      </p:sp>
      <p:sp>
        <p:nvSpPr>
          <p:cNvPr id="13" name="Text 10"/>
          <p:cNvSpPr txBox="1"/>
          <p:nvPr/>
        </p:nvSpPr>
        <p:spPr>
          <a:xfrm>
            <a:off x="777240" y="5340096"/>
            <a:ext cx="6126480" cy="777240"/>
          </a:xfrm>
          <a:prstGeom prst="rect">
            <a:avLst/>
          </a:prstGeom>
          <a:noFill/>
          <a:ln/>
        </p:spPr>
        <p:txBody>
          <a:bodyPr wrap="square" lIns="0" tIns="0" rIns="0" bIns="0" rtlCol="0" anchor="t"/>
          <a:lstStyle/>
          <a:p>
            <a:pPr indent="0" marL="0">
              <a:lnSpc>
                <a:spcPts val="1600"/>
              </a:lnSpc>
              <a:buNone/>
            </a:pPr>
            <a:r>
              <a:rPr lang="en-US" sz="1250" b="1" dirty="0">
                <a:solidFill>
                  <a:srgbClr val="2C3E50"/>
                </a:solidFill>
                <a:latin typeface="Calibri" pitchFamily="34" charset="0"/>
                <a:ea typeface="Calibri" pitchFamily="34" charset="-122"/>
                <a:cs typeface="Calibri" pitchFamily="34" charset="-120"/>
              </a:rPr>
              <a:t>Pilar de la anestesiología:  </a:t>
            </a:r>
            <a:pPr indent="0" marL="0">
              <a:lnSpc>
                <a:spcPts val="1600"/>
              </a:lnSpc>
              <a:buNone/>
            </a:pPr>
            <a:r>
              <a:rPr lang="en-US" sz="1250" dirty="0">
                <a:solidFill>
                  <a:srgbClr val="2C3E50"/>
                </a:solidFill>
                <a:latin typeface="Calibri" pitchFamily="34" charset="0"/>
                <a:ea typeface="Calibri" pitchFamily="34" charset="-122"/>
                <a:cs typeface="Calibri" pitchFamily="34" charset="-120"/>
              </a:rPr>
              <a:t>Es la técnica de referencia para el control definitivo de la vía aérea en anestesia general y en reanimación.</a:t>
            </a:r>
            <a:endParaRPr lang="en-US" sz="1250" dirty="0"/>
          </a:p>
        </p:txBody>
      </p:sp>
      <p:sp>
        <p:nvSpPr>
          <p:cNvPr id="14" name="Shape 11"/>
          <p:cNvSpPr/>
          <p:nvPr/>
        </p:nvSpPr>
        <p:spPr>
          <a:xfrm>
            <a:off x="7178040" y="1508760"/>
            <a:ext cx="4480560" cy="4572000"/>
          </a:xfrm>
          <a:prstGeom prst="roundRect">
            <a:avLst>
              <a:gd name="adj" fmla="val 1633"/>
            </a:avLst>
          </a:prstGeom>
          <a:solidFill>
            <a:srgbClr val="EDF1F3"/>
          </a:solidFill>
          <a:ln/>
          <a:effectLst>
            <a:outerShdw sx="100000" sy="100000" kx="0" ky="0" algn="bl" rotWithShape="0" blurRad="63500" dist="25400" dir="5400000">
              <a:srgbClr val="1A2530">
                <a:alpha val="12000"/>
              </a:srgbClr>
            </a:outerShdw>
          </a:effectLst>
        </p:spPr>
      </p:sp>
      <p:sp>
        <p:nvSpPr>
          <p:cNvPr id="15" name="Shape 12"/>
          <p:cNvSpPr/>
          <p:nvPr/>
        </p:nvSpPr>
        <p:spPr>
          <a:xfrm>
            <a:off x="736092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6" name="Image 1" descr="preencoded.png">    </p:cNvPr>
          <p:cNvPicPr>
            <a:picLocks noChangeAspect="1"/>
          </p:cNvPicPr>
          <p:nvPr/>
        </p:nvPicPr>
        <p:blipFill>
          <a:blip r:embed="rId2"/>
          <a:stretch>
            <a:fillRect/>
          </a:stretch>
        </p:blipFill>
        <p:spPr>
          <a:xfrm>
            <a:off x="7488936" y="1819656"/>
            <a:ext cx="201168" cy="201168"/>
          </a:xfrm>
          <a:prstGeom prst="rect">
            <a:avLst/>
          </a:prstGeom>
        </p:spPr>
      </p:pic>
      <p:sp>
        <p:nvSpPr>
          <p:cNvPr id="17" name="Text 13"/>
          <p:cNvSpPr txBox="1"/>
          <p:nvPr/>
        </p:nvSpPr>
        <p:spPr>
          <a:xfrm>
            <a:off x="7964424" y="1691640"/>
            <a:ext cx="3511296" cy="457200"/>
          </a:xfrm>
          <a:prstGeom prst="rect">
            <a:avLst/>
          </a:prstGeom>
          <a:noFill/>
          <a:ln/>
        </p:spPr>
        <p:txBody>
          <a:bodyPr wrap="square" lIns="0" tIns="0" rIns="0" bIns="0" rtlCol="0" anchor="t"/>
          <a:lstStyle/>
          <a:p>
            <a:pPr indent="0" marL="0">
              <a:buNone/>
            </a:pPr>
            <a:r>
              <a:rPr lang="en-US" sz="1550" b="1" dirty="0">
                <a:solidFill>
                  <a:srgbClr val="2C3E50"/>
                </a:solidFill>
                <a:latin typeface="Cambria" pitchFamily="34" charset="0"/>
                <a:ea typeface="Cambria" pitchFamily="34" charset="-122"/>
                <a:cs typeface="Cambria" pitchFamily="34" charset="-120"/>
              </a:rPr>
              <a:t>El tubo como "vía aérea artificial"</a:t>
            </a:r>
            <a:endParaRPr lang="en-US" sz="1550" dirty="0"/>
          </a:p>
        </p:txBody>
      </p:sp>
      <p:sp>
        <p:nvSpPr>
          <p:cNvPr id="18" name="Text 14"/>
          <p:cNvSpPr txBox="1"/>
          <p:nvPr/>
        </p:nvSpPr>
        <p:spPr>
          <a:xfrm>
            <a:off x="7964424" y="2386584"/>
            <a:ext cx="3511296" cy="355701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Aísla la vía respiratoria del tubo digestivo, reduciendo el riesgo de broncoaspiración.</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Permite ventilación mecánica controlada con presiones y volúmenes predecibles.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Facilita la succión directa de secreciones traqueobronquiales.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Es la piedra angular de la anestesia general balanceada y de la reanimación cardiopulmonar avanzada.</a:t>
            </a:r>
            <a:endParaRPr lang="en-US" sz="1250" dirty="0"/>
          </a:p>
        </p:txBody>
      </p:sp>
      <p:sp>
        <p:nvSpPr>
          <p:cNvPr id="20" name="Text 15"/>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1" name="Text 16"/>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3 / 31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PERSPECTIVA HISTÓRICA</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Historia de la intubación traqueal</a:t>
            </a:r>
            <a:endParaRPr lang="en-US" sz="2500" dirty="0"/>
          </a:p>
        </p:txBody>
      </p:sp>
      <p:sp>
        <p:nvSpPr>
          <p:cNvPr id="6" name="Shape 3"/>
          <p:cNvSpPr/>
          <p:nvPr/>
        </p:nvSpPr>
        <p:spPr>
          <a:xfrm>
            <a:off x="2084832" y="1709928"/>
            <a:ext cx="0" cy="3794760"/>
          </a:xfrm>
          <a:prstGeom prst="line">
            <a:avLst/>
          </a:prstGeom>
          <a:noFill/>
          <a:ln w="25400">
            <a:solidFill>
              <a:srgbClr val="CBD5DA"/>
            </a:solidFill>
            <a:prstDash val="solid"/>
          </a:ln>
        </p:spPr>
      </p:sp>
      <p:sp>
        <p:nvSpPr>
          <p:cNvPr id="7" name="Shape 4"/>
          <p:cNvSpPr/>
          <p:nvPr/>
        </p:nvSpPr>
        <p:spPr>
          <a:xfrm>
            <a:off x="1965960" y="1618488"/>
            <a:ext cx="237744" cy="237744"/>
          </a:xfrm>
          <a:prstGeom prst="ellipse">
            <a:avLst/>
          </a:prstGeom>
          <a:solidFill>
            <a:srgbClr val="17A2B8"/>
          </a:solidFill>
          <a:ln w="25400">
            <a:solidFill>
              <a:srgbClr val="FFFFFF"/>
            </a:solidFill>
            <a:prstDash val="solid"/>
          </a:ln>
        </p:spPr>
      </p:sp>
      <p:sp>
        <p:nvSpPr>
          <p:cNvPr id="8" name="Text 5"/>
          <p:cNvSpPr txBox="1"/>
          <p:nvPr/>
        </p:nvSpPr>
        <p:spPr>
          <a:xfrm>
            <a:off x="502920" y="1591056"/>
            <a:ext cx="1371600" cy="274320"/>
          </a:xfrm>
          <a:prstGeom prst="rect">
            <a:avLst/>
          </a:prstGeom>
          <a:noFill/>
          <a:ln/>
        </p:spPr>
        <p:txBody>
          <a:bodyPr wrap="none" lIns="0" tIns="0" rIns="0" bIns="0" rtlCol="0" anchor="t"/>
          <a:lstStyle/>
          <a:p>
            <a:pPr algn="r" indent="0" marL="0">
              <a:buNone/>
            </a:pPr>
            <a:r>
              <a:rPr lang="en-US" sz="1100" b="1" dirty="0">
                <a:solidFill>
                  <a:srgbClr val="128A9C"/>
                </a:solidFill>
                <a:latin typeface="Cambria" pitchFamily="34" charset="0"/>
                <a:ea typeface="Cambria" pitchFamily="34" charset="-122"/>
                <a:cs typeface="Cambria" pitchFamily="34" charset="-120"/>
              </a:rPr>
              <a:t>Siglo XVI</a:t>
            </a:r>
            <a:endParaRPr lang="en-US" sz="1100" dirty="0"/>
          </a:p>
        </p:txBody>
      </p:sp>
      <p:sp>
        <p:nvSpPr>
          <p:cNvPr id="9" name="Text 6"/>
          <p:cNvSpPr txBox="1"/>
          <p:nvPr/>
        </p:nvSpPr>
        <p:spPr>
          <a:xfrm>
            <a:off x="2468880" y="1508760"/>
            <a:ext cx="9189720" cy="658368"/>
          </a:xfrm>
          <a:prstGeom prst="rect">
            <a:avLst/>
          </a:prstGeom>
          <a:noFill/>
          <a:ln/>
        </p:spPr>
        <p:txBody>
          <a:bodyPr wrap="square" lIns="0" tIns="0" rIns="0" bIns="0" rtlCol="0" anchor="t"/>
          <a:lstStyle/>
          <a:p>
            <a:pPr indent="0" marL="0">
              <a:lnSpc>
                <a:spcPts val="1500"/>
              </a:lnSpc>
              <a:buNone/>
            </a:pPr>
            <a:r>
              <a:rPr lang="en-US" sz="1250" dirty="0">
                <a:solidFill>
                  <a:srgbClr val="2C3E50"/>
                </a:solidFill>
                <a:latin typeface="Calibri" pitchFamily="34" charset="0"/>
                <a:ea typeface="Calibri" pitchFamily="34" charset="-122"/>
                <a:cs typeface="Calibri" pitchFamily="34" charset="-120"/>
              </a:rPr>
              <a:t>Vesalio describe la ventilación de animales mediante un tubo insertado en la tráquea, primer antecedente experimental documentado.</a:t>
            </a:r>
            <a:endParaRPr lang="en-US" sz="1250" dirty="0"/>
          </a:p>
        </p:txBody>
      </p:sp>
      <p:sp>
        <p:nvSpPr>
          <p:cNvPr id="10" name="Shape 7"/>
          <p:cNvSpPr/>
          <p:nvPr/>
        </p:nvSpPr>
        <p:spPr>
          <a:xfrm>
            <a:off x="1965960" y="2368296"/>
            <a:ext cx="237744" cy="237744"/>
          </a:xfrm>
          <a:prstGeom prst="ellipse">
            <a:avLst/>
          </a:prstGeom>
          <a:solidFill>
            <a:srgbClr val="17A2B8"/>
          </a:solidFill>
          <a:ln w="25400">
            <a:solidFill>
              <a:srgbClr val="FFFFFF"/>
            </a:solidFill>
            <a:prstDash val="solid"/>
          </a:ln>
        </p:spPr>
      </p:sp>
      <p:sp>
        <p:nvSpPr>
          <p:cNvPr id="11" name="Text 8"/>
          <p:cNvSpPr txBox="1"/>
          <p:nvPr/>
        </p:nvSpPr>
        <p:spPr>
          <a:xfrm>
            <a:off x="502920" y="2340864"/>
            <a:ext cx="1371600" cy="274320"/>
          </a:xfrm>
          <a:prstGeom prst="rect">
            <a:avLst/>
          </a:prstGeom>
          <a:noFill/>
          <a:ln/>
        </p:spPr>
        <p:txBody>
          <a:bodyPr wrap="none" lIns="0" tIns="0" rIns="0" bIns="0" rtlCol="0" anchor="t"/>
          <a:lstStyle/>
          <a:p>
            <a:pPr algn="r" indent="0" marL="0">
              <a:buNone/>
            </a:pPr>
            <a:r>
              <a:rPr lang="en-US" sz="1100" b="1" dirty="0">
                <a:solidFill>
                  <a:srgbClr val="128A9C"/>
                </a:solidFill>
                <a:latin typeface="Cambria" pitchFamily="34" charset="0"/>
                <a:ea typeface="Cambria" pitchFamily="34" charset="-122"/>
                <a:cs typeface="Cambria" pitchFamily="34" charset="-120"/>
              </a:rPr>
              <a:t>1880s</a:t>
            </a:r>
            <a:endParaRPr lang="en-US" sz="1100" dirty="0"/>
          </a:p>
        </p:txBody>
      </p:sp>
      <p:sp>
        <p:nvSpPr>
          <p:cNvPr id="12" name="Text 9"/>
          <p:cNvSpPr txBox="1"/>
          <p:nvPr/>
        </p:nvSpPr>
        <p:spPr>
          <a:xfrm>
            <a:off x="2468880" y="2258568"/>
            <a:ext cx="9189720" cy="658368"/>
          </a:xfrm>
          <a:prstGeom prst="rect">
            <a:avLst/>
          </a:prstGeom>
          <a:noFill/>
          <a:ln/>
        </p:spPr>
        <p:txBody>
          <a:bodyPr wrap="square" lIns="0" tIns="0" rIns="0" bIns="0" rtlCol="0" anchor="t"/>
          <a:lstStyle/>
          <a:p>
            <a:pPr indent="0" marL="0">
              <a:lnSpc>
                <a:spcPts val="1500"/>
              </a:lnSpc>
              <a:buNone/>
            </a:pPr>
            <a:r>
              <a:rPr lang="en-US" sz="1250" dirty="0">
                <a:solidFill>
                  <a:srgbClr val="2C3E50"/>
                </a:solidFill>
                <a:latin typeface="Calibri" pitchFamily="34" charset="0"/>
                <a:ea typeface="Calibri" pitchFamily="34" charset="-122"/>
                <a:cs typeface="Calibri" pitchFamily="34" charset="-120"/>
              </a:rPr>
              <a:t>MacEwen y O'Dwyer emplean la intubación orotraqueal a ciegas para el manejo de la difteria y la obstrucción laríngea.</a:t>
            </a:r>
            <a:endParaRPr lang="en-US" sz="1250" dirty="0"/>
          </a:p>
        </p:txBody>
      </p:sp>
      <p:sp>
        <p:nvSpPr>
          <p:cNvPr id="13" name="Shape 10"/>
          <p:cNvSpPr/>
          <p:nvPr/>
        </p:nvSpPr>
        <p:spPr>
          <a:xfrm>
            <a:off x="1965960" y="3118104"/>
            <a:ext cx="237744" cy="237744"/>
          </a:xfrm>
          <a:prstGeom prst="ellipse">
            <a:avLst/>
          </a:prstGeom>
          <a:solidFill>
            <a:srgbClr val="17A2B8"/>
          </a:solidFill>
          <a:ln w="25400">
            <a:solidFill>
              <a:srgbClr val="FFFFFF"/>
            </a:solidFill>
            <a:prstDash val="solid"/>
          </a:ln>
        </p:spPr>
      </p:sp>
      <p:sp>
        <p:nvSpPr>
          <p:cNvPr id="14" name="Text 11"/>
          <p:cNvSpPr txBox="1"/>
          <p:nvPr/>
        </p:nvSpPr>
        <p:spPr>
          <a:xfrm>
            <a:off x="502920" y="3090672"/>
            <a:ext cx="1371600" cy="274320"/>
          </a:xfrm>
          <a:prstGeom prst="rect">
            <a:avLst/>
          </a:prstGeom>
          <a:noFill/>
          <a:ln/>
        </p:spPr>
        <p:txBody>
          <a:bodyPr wrap="none" lIns="0" tIns="0" rIns="0" bIns="0" rtlCol="0" anchor="t"/>
          <a:lstStyle/>
          <a:p>
            <a:pPr algn="r" indent="0" marL="0">
              <a:buNone/>
            </a:pPr>
            <a:r>
              <a:rPr lang="en-US" sz="1100" b="1" dirty="0">
                <a:solidFill>
                  <a:srgbClr val="128A9C"/>
                </a:solidFill>
                <a:latin typeface="Cambria" pitchFamily="34" charset="0"/>
                <a:ea typeface="Cambria" pitchFamily="34" charset="-122"/>
                <a:cs typeface="Cambria" pitchFamily="34" charset="-120"/>
              </a:rPr>
              <a:t>1913</a:t>
            </a:r>
            <a:endParaRPr lang="en-US" sz="1100" dirty="0"/>
          </a:p>
        </p:txBody>
      </p:sp>
      <p:sp>
        <p:nvSpPr>
          <p:cNvPr id="15" name="Text 12"/>
          <p:cNvSpPr txBox="1"/>
          <p:nvPr/>
        </p:nvSpPr>
        <p:spPr>
          <a:xfrm>
            <a:off x="2468880" y="3008376"/>
            <a:ext cx="9189720" cy="658368"/>
          </a:xfrm>
          <a:prstGeom prst="rect">
            <a:avLst/>
          </a:prstGeom>
          <a:noFill/>
          <a:ln/>
        </p:spPr>
        <p:txBody>
          <a:bodyPr wrap="square" lIns="0" tIns="0" rIns="0" bIns="0" rtlCol="0" anchor="t"/>
          <a:lstStyle/>
          <a:p>
            <a:pPr indent="0" marL="0">
              <a:lnSpc>
                <a:spcPts val="1500"/>
              </a:lnSpc>
              <a:buNone/>
            </a:pPr>
            <a:r>
              <a:rPr lang="en-US" sz="1250" dirty="0">
                <a:solidFill>
                  <a:srgbClr val="2C3E50"/>
                </a:solidFill>
                <a:latin typeface="Calibri" pitchFamily="34" charset="0"/>
                <a:ea typeface="Calibri" pitchFamily="34" charset="-122"/>
                <a:cs typeface="Calibri" pitchFamily="34" charset="-120"/>
              </a:rPr>
              <a:t>Chevalier Jackson desarrolla el laringoscopio de hoja recta con visión directa, base de la laringoscopia moderna.</a:t>
            </a:r>
            <a:endParaRPr lang="en-US" sz="1250" dirty="0"/>
          </a:p>
        </p:txBody>
      </p:sp>
      <p:sp>
        <p:nvSpPr>
          <p:cNvPr id="16" name="Shape 13"/>
          <p:cNvSpPr/>
          <p:nvPr/>
        </p:nvSpPr>
        <p:spPr>
          <a:xfrm>
            <a:off x="1965960" y="3867912"/>
            <a:ext cx="237744" cy="237744"/>
          </a:xfrm>
          <a:prstGeom prst="ellipse">
            <a:avLst/>
          </a:prstGeom>
          <a:solidFill>
            <a:srgbClr val="17A2B8"/>
          </a:solidFill>
          <a:ln w="25400">
            <a:solidFill>
              <a:srgbClr val="FFFFFF"/>
            </a:solidFill>
            <a:prstDash val="solid"/>
          </a:ln>
        </p:spPr>
      </p:sp>
      <p:sp>
        <p:nvSpPr>
          <p:cNvPr id="17" name="Text 14"/>
          <p:cNvSpPr txBox="1"/>
          <p:nvPr/>
        </p:nvSpPr>
        <p:spPr>
          <a:xfrm>
            <a:off x="502920" y="3840480"/>
            <a:ext cx="1371600" cy="274320"/>
          </a:xfrm>
          <a:prstGeom prst="rect">
            <a:avLst/>
          </a:prstGeom>
          <a:noFill/>
          <a:ln/>
        </p:spPr>
        <p:txBody>
          <a:bodyPr wrap="none" lIns="0" tIns="0" rIns="0" bIns="0" rtlCol="0" anchor="t"/>
          <a:lstStyle/>
          <a:p>
            <a:pPr algn="r" indent="0" marL="0">
              <a:buNone/>
            </a:pPr>
            <a:r>
              <a:rPr lang="en-US" sz="1100" b="1" dirty="0">
                <a:solidFill>
                  <a:srgbClr val="128A9C"/>
                </a:solidFill>
                <a:latin typeface="Cambria" pitchFamily="34" charset="0"/>
                <a:ea typeface="Cambria" pitchFamily="34" charset="-122"/>
                <a:cs typeface="Cambria" pitchFamily="34" charset="-120"/>
              </a:rPr>
              <a:t>1920-1930</a:t>
            </a:r>
            <a:endParaRPr lang="en-US" sz="1100" dirty="0"/>
          </a:p>
        </p:txBody>
      </p:sp>
      <p:sp>
        <p:nvSpPr>
          <p:cNvPr id="18" name="Text 15"/>
          <p:cNvSpPr txBox="1"/>
          <p:nvPr/>
        </p:nvSpPr>
        <p:spPr>
          <a:xfrm>
            <a:off x="2468880" y="3758184"/>
            <a:ext cx="9189720" cy="658368"/>
          </a:xfrm>
          <a:prstGeom prst="rect">
            <a:avLst/>
          </a:prstGeom>
          <a:noFill/>
          <a:ln/>
        </p:spPr>
        <p:txBody>
          <a:bodyPr wrap="square" lIns="0" tIns="0" rIns="0" bIns="0" rtlCol="0" anchor="t"/>
          <a:lstStyle/>
          <a:p>
            <a:pPr indent="0" marL="0">
              <a:lnSpc>
                <a:spcPts val="1500"/>
              </a:lnSpc>
              <a:buNone/>
            </a:pPr>
            <a:r>
              <a:rPr lang="en-US" sz="1250" dirty="0">
                <a:solidFill>
                  <a:srgbClr val="2C3E50"/>
                </a:solidFill>
                <a:latin typeface="Calibri" pitchFamily="34" charset="0"/>
                <a:ea typeface="Calibri" pitchFamily="34" charset="-122"/>
                <a:cs typeface="Calibri" pitchFamily="34" charset="-120"/>
              </a:rPr>
              <a:t>Ivan Magill e Ivan Whitteker (Stanley Rowbotham) perfeccionan la intubación orotraqueal a ciegas y desarrollan el tubo de Magill y las pinzas homónimas en el Reino Unido.</a:t>
            </a:r>
            <a:endParaRPr lang="en-US" sz="1250" dirty="0"/>
          </a:p>
        </p:txBody>
      </p:sp>
      <p:sp>
        <p:nvSpPr>
          <p:cNvPr id="19" name="Shape 16"/>
          <p:cNvSpPr/>
          <p:nvPr/>
        </p:nvSpPr>
        <p:spPr>
          <a:xfrm>
            <a:off x="1965960" y="4617720"/>
            <a:ext cx="237744" cy="237744"/>
          </a:xfrm>
          <a:prstGeom prst="ellipse">
            <a:avLst/>
          </a:prstGeom>
          <a:solidFill>
            <a:srgbClr val="17A2B8"/>
          </a:solidFill>
          <a:ln w="25400">
            <a:solidFill>
              <a:srgbClr val="FFFFFF"/>
            </a:solidFill>
            <a:prstDash val="solid"/>
          </a:ln>
        </p:spPr>
      </p:sp>
      <p:sp>
        <p:nvSpPr>
          <p:cNvPr id="20" name="Text 17"/>
          <p:cNvSpPr txBox="1"/>
          <p:nvPr/>
        </p:nvSpPr>
        <p:spPr>
          <a:xfrm>
            <a:off x="502920" y="4590288"/>
            <a:ext cx="1371600" cy="274320"/>
          </a:xfrm>
          <a:prstGeom prst="rect">
            <a:avLst/>
          </a:prstGeom>
          <a:noFill/>
          <a:ln/>
        </p:spPr>
        <p:txBody>
          <a:bodyPr wrap="none" lIns="0" tIns="0" rIns="0" bIns="0" rtlCol="0" anchor="t"/>
          <a:lstStyle/>
          <a:p>
            <a:pPr algn="r" indent="0" marL="0">
              <a:buNone/>
            </a:pPr>
            <a:r>
              <a:rPr lang="en-US" sz="1100" b="1" dirty="0">
                <a:solidFill>
                  <a:srgbClr val="128A9C"/>
                </a:solidFill>
                <a:latin typeface="Cambria" pitchFamily="34" charset="0"/>
                <a:ea typeface="Cambria" pitchFamily="34" charset="-122"/>
                <a:cs typeface="Cambria" pitchFamily="34" charset="-120"/>
              </a:rPr>
              <a:t>1940s</a:t>
            </a:r>
            <a:endParaRPr lang="en-US" sz="1100" dirty="0"/>
          </a:p>
        </p:txBody>
      </p:sp>
      <p:sp>
        <p:nvSpPr>
          <p:cNvPr id="21" name="Text 18"/>
          <p:cNvSpPr txBox="1"/>
          <p:nvPr/>
        </p:nvSpPr>
        <p:spPr>
          <a:xfrm>
            <a:off x="2468880" y="4507992"/>
            <a:ext cx="9189720" cy="658368"/>
          </a:xfrm>
          <a:prstGeom prst="rect">
            <a:avLst/>
          </a:prstGeom>
          <a:noFill/>
          <a:ln/>
        </p:spPr>
        <p:txBody>
          <a:bodyPr wrap="square" lIns="0" tIns="0" rIns="0" bIns="0" rtlCol="0" anchor="t"/>
          <a:lstStyle/>
          <a:p>
            <a:pPr indent="0" marL="0">
              <a:lnSpc>
                <a:spcPts val="1500"/>
              </a:lnSpc>
              <a:buNone/>
            </a:pPr>
            <a:r>
              <a:rPr lang="en-US" sz="1250" dirty="0">
                <a:solidFill>
                  <a:srgbClr val="2C3E50"/>
                </a:solidFill>
                <a:latin typeface="Calibri" pitchFamily="34" charset="0"/>
                <a:ea typeface="Calibri" pitchFamily="34" charset="-122"/>
                <a:cs typeface="Calibri" pitchFamily="34" charset="-120"/>
              </a:rPr>
              <a:t>Robert Miller (1941) y Robert Macintosh (1943) introducen las hojas de laringoscopio que hoy llevan su nombre, estandarizando la técnica.</a:t>
            </a:r>
            <a:endParaRPr lang="en-US" sz="1250" dirty="0"/>
          </a:p>
        </p:txBody>
      </p:sp>
      <p:sp>
        <p:nvSpPr>
          <p:cNvPr id="22" name="Shape 19"/>
          <p:cNvSpPr/>
          <p:nvPr/>
        </p:nvSpPr>
        <p:spPr>
          <a:xfrm>
            <a:off x="1965960" y="5367528"/>
            <a:ext cx="237744" cy="237744"/>
          </a:xfrm>
          <a:prstGeom prst="ellipse">
            <a:avLst/>
          </a:prstGeom>
          <a:solidFill>
            <a:srgbClr val="17A2B8"/>
          </a:solidFill>
          <a:ln w="25400">
            <a:solidFill>
              <a:srgbClr val="FFFFFF"/>
            </a:solidFill>
            <a:prstDash val="solid"/>
          </a:ln>
        </p:spPr>
      </p:sp>
      <p:sp>
        <p:nvSpPr>
          <p:cNvPr id="23" name="Text 20"/>
          <p:cNvSpPr txBox="1"/>
          <p:nvPr/>
        </p:nvSpPr>
        <p:spPr>
          <a:xfrm>
            <a:off x="502920" y="5340096"/>
            <a:ext cx="1371600" cy="274320"/>
          </a:xfrm>
          <a:prstGeom prst="rect">
            <a:avLst/>
          </a:prstGeom>
          <a:noFill/>
          <a:ln/>
        </p:spPr>
        <p:txBody>
          <a:bodyPr wrap="none" lIns="0" tIns="0" rIns="0" bIns="0" rtlCol="0" anchor="t"/>
          <a:lstStyle/>
          <a:p>
            <a:pPr algn="r" indent="0" marL="0">
              <a:buNone/>
            </a:pPr>
            <a:r>
              <a:rPr lang="en-US" sz="1100" b="1" dirty="0">
                <a:solidFill>
                  <a:srgbClr val="128A9C"/>
                </a:solidFill>
                <a:latin typeface="Cambria" pitchFamily="34" charset="0"/>
                <a:ea typeface="Cambria" pitchFamily="34" charset="-122"/>
                <a:cs typeface="Cambria" pitchFamily="34" charset="-120"/>
              </a:rPr>
              <a:t>Actualidad</a:t>
            </a:r>
            <a:endParaRPr lang="en-US" sz="1100" dirty="0"/>
          </a:p>
        </p:txBody>
      </p:sp>
      <p:sp>
        <p:nvSpPr>
          <p:cNvPr id="24" name="Text 21"/>
          <p:cNvSpPr txBox="1"/>
          <p:nvPr/>
        </p:nvSpPr>
        <p:spPr>
          <a:xfrm>
            <a:off x="2468880" y="5257800"/>
            <a:ext cx="9189720" cy="658368"/>
          </a:xfrm>
          <a:prstGeom prst="rect">
            <a:avLst/>
          </a:prstGeom>
          <a:noFill/>
          <a:ln/>
        </p:spPr>
        <p:txBody>
          <a:bodyPr wrap="square" lIns="0" tIns="0" rIns="0" bIns="0" rtlCol="0" anchor="t"/>
          <a:lstStyle/>
          <a:p>
            <a:pPr indent="0" marL="0">
              <a:lnSpc>
                <a:spcPts val="1500"/>
              </a:lnSpc>
              <a:buNone/>
            </a:pPr>
            <a:r>
              <a:rPr lang="en-US" sz="1250" dirty="0">
                <a:solidFill>
                  <a:srgbClr val="2C3E50"/>
                </a:solidFill>
                <a:latin typeface="Calibri" pitchFamily="34" charset="0"/>
                <a:ea typeface="Calibri" pitchFamily="34" charset="-122"/>
                <a:cs typeface="Calibri" pitchFamily="34" charset="-120"/>
              </a:rPr>
              <a:t>Incorporación de la videolaringoscopia, la fibrobroncoscopia y los algoritmos de vía aérea difícil a la práctica clínica sistemática.</a:t>
            </a:r>
            <a:endParaRPr lang="en-US" sz="1250" dirty="0"/>
          </a:p>
        </p:txBody>
      </p:sp>
      <p:sp>
        <p:nvSpPr>
          <p:cNvPr id="25" name="Shape 22"/>
          <p:cNvSpPr/>
          <p:nvPr/>
        </p:nvSpPr>
        <p:spPr>
          <a:xfrm>
            <a:off x="502920" y="5806440"/>
            <a:ext cx="11201400" cy="621792"/>
          </a:xfrm>
          <a:prstGeom prst="roundRect">
            <a:avLst>
              <a:gd name="adj" fmla="val 8824"/>
            </a:avLst>
          </a:prstGeom>
          <a:solidFill>
            <a:srgbClr val="D7EEF2"/>
          </a:solidFill>
          <a:ln/>
        </p:spPr>
      </p:sp>
      <p:sp>
        <p:nvSpPr>
          <p:cNvPr id="26" name="Text 23"/>
          <p:cNvSpPr txBox="1"/>
          <p:nvPr/>
        </p:nvSpPr>
        <p:spPr>
          <a:xfrm>
            <a:off x="731520" y="5870448"/>
            <a:ext cx="10789920" cy="512064"/>
          </a:xfrm>
          <a:prstGeom prst="rect">
            <a:avLst/>
          </a:prstGeom>
          <a:noFill/>
          <a:ln/>
        </p:spPr>
        <p:txBody>
          <a:bodyPr wrap="square" lIns="0" tIns="0" rIns="0" bIns="0" rtlCol="0" anchor="ctr"/>
          <a:lstStyle/>
          <a:p>
            <a:pPr indent="0" marL="0">
              <a:lnSpc>
                <a:spcPts val="1400"/>
              </a:lnSpc>
              <a:buNone/>
            </a:pPr>
            <a:r>
              <a:rPr lang="en-US" sz="1150" b="1" dirty="0">
                <a:solidFill>
                  <a:srgbClr val="2C3E50"/>
                </a:solidFill>
                <a:latin typeface="Calibri" pitchFamily="34" charset="0"/>
                <a:ea typeface="Calibri" pitchFamily="34" charset="-122"/>
                <a:cs typeface="Calibri" pitchFamily="34" charset="-120"/>
              </a:rPr>
              <a:t>Legado de Magill:  </a:t>
            </a:r>
            <a:pPr indent="0" marL="0">
              <a:lnSpc>
                <a:spcPts val="1400"/>
              </a:lnSpc>
              <a:buNone/>
            </a:pPr>
            <a:r>
              <a:rPr lang="en-US" sz="1150" dirty="0">
                <a:solidFill>
                  <a:srgbClr val="2C3E50"/>
                </a:solidFill>
                <a:latin typeface="Calibri" pitchFamily="34" charset="0"/>
                <a:ea typeface="Calibri" pitchFamily="34" charset="-122"/>
                <a:cs typeface="Calibri" pitchFamily="34" charset="-120"/>
              </a:rPr>
              <a:t>Sir Ivan Magill (1888-1986), considerado el padre de la anestesia endotraqueal moderna, introdujo el tubo de goma de gran calibre para intubación a ciegas, diseñó las pinzas de Magill y contribuyó decisivamente a la cirugía de cabeza y cuello y a la reconstrucción facial de posguerra.</a:t>
            </a:r>
            <a:endParaRPr lang="en-US" sz="1150" dirty="0"/>
          </a:p>
        </p:txBody>
      </p:sp>
      <p:sp>
        <p:nvSpPr>
          <p:cNvPr id="28" name="Text 24"/>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9" name="Text 25"/>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4 / 31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PROPÓSITO CLÍNICO</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Objetivos y funciones de la intubación</a:t>
            </a:r>
            <a:endParaRPr lang="en-US" sz="2500" dirty="0"/>
          </a:p>
        </p:txBody>
      </p:sp>
      <p:sp>
        <p:nvSpPr>
          <p:cNvPr id="6" name="Shape 3"/>
          <p:cNvSpPr/>
          <p:nvPr/>
        </p:nvSpPr>
        <p:spPr>
          <a:xfrm>
            <a:off x="502920"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Permeabilidad de la vía aérea</a:t>
            </a:r>
            <a:endParaRPr lang="en-US" sz="1400" dirty="0"/>
          </a:p>
        </p:txBody>
      </p:sp>
      <p:sp>
        <p:nvSpPr>
          <p:cNvPr id="10" name="Text 6"/>
          <p:cNvSpPr txBox="1"/>
          <p:nvPr/>
        </p:nvSpPr>
        <p:spPr>
          <a:xfrm>
            <a:off x="1289304" y="2386584"/>
            <a:ext cx="2624328" cy="95097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Garantiza una vía aérea patente y estable durante toda la anestesia, independientemente de la posición quirúrgica.</a:t>
            </a:r>
            <a:endParaRPr lang="en-US" sz="1200" dirty="0"/>
          </a:p>
        </p:txBody>
      </p:sp>
      <p:sp>
        <p:nvSpPr>
          <p:cNvPr id="11" name="Shape 7"/>
          <p:cNvSpPr/>
          <p:nvPr/>
        </p:nvSpPr>
        <p:spPr>
          <a:xfrm>
            <a:off x="4233672"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4416552"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4544568" y="1819656"/>
            <a:ext cx="201168" cy="201168"/>
          </a:xfrm>
          <a:prstGeom prst="rect">
            <a:avLst/>
          </a:prstGeom>
        </p:spPr>
      </p:pic>
      <p:sp>
        <p:nvSpPr>
          <p:cNvPr id="14" name="Text 9"/>
          <p:cNvSpPr txBox="1"/>
          <p:nvPr/>
        </p:nvSpPr>
        <p:spPr>
          <a:xfrm>
            <a:off x="5020056"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Protección contra aspiración</a:t>
            </a:r>
            <a:endParaRPr lang="en-US" sz="1400" dirty="0"/>
          </a:p>
        </p:txBody>
      </p:sp>
      <p:sp>
        <p:nvSpPr>
          <p:cNvPr id="15" name="Text 10"/>
          <p:cNvSpPr txBox="1"/>
          <p:nvPr/>
        </p:nvSpPr>
        <p:spPr>
          <a:xfrm>
            <a:off x="5020056"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El manguito (cuff) sella la tráquea y reduce el riesgo de broncoaspiración de contenido gástrico o sangre.</a:t>
            </a:r>
            <a:endParaRPr lang="en-US" sz="1200" dirty="0"/>
          </a:p>
        </p:txBody>
      </p:sp>
      <p:sp>
        <p:nvSpPr>
          <p:cNvPr id="16" name="Shape 11"/>
          <p:cNvSpPr/>
          <p:nvPr/>
        </p:nvSpPr>
        <p:spPr>
          <a:xfrm>
            <a:off x="7964424"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8147304"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8275320" y="1819656"/>
            <a:ext cx="201168" cy="201168"/>
          </a:xfrm>
          <a:prstGeom prst="rect">
            <a:avLst/>
          </a:prstGeom>
        </p:spPr>
      </p:pic>
      <p:sp>
        <p:nvSpPr>
          <p:cNvPr id="19" name="Text 13"/>
          <p:cNvSpPr txBox="1"/>
          <p:nvPr/>
        </p:nvSpPr>
        <p:spPr>
          <a:xfrm>
            <a:off x="8750808"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Ventilación controlada</a:t>
            </a:r>
            <a:endParaRPr lang="en-US" sz="1400" dirty="0"/>
          </a:p>
        </p:txBody>
      </p:sp>
      <p:sp>
        <p:nvSpPr>
          <p:cNvPr id="20" name="Text 14"/>
          <p:cNvSpPr txBox="1"/>
          <p:nvPr/>
        </p:nvSpPr>
        <p:spPr>
          <a:xfrm>
            <a:off x="8750808"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Posibilita la ventilación con presión positiva, el control preciso de volúmenes, presiones y del intercambio gaseoso.</a:t>
            </a:r>
            <a:endParaRPr lang="en-US" sz="1200" dirty="0"/>
          </a:p>
        </p:txBody>
      </p:sp>
      <p:sp>
        <p:nvSpPr>
          <p:cNvPr id="21" name="Shape 15"/>
          <p:cNvSpPr/>
          <p:nvPr/>
        </p:nvSpPr>
        <p:spPr>
          <a:xfrm>
            <a:off x="502920"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2" name="Shape 16"/>
          <p:cNvSpPr/>
          <p:nvPr/>
        </p:nvSpPr>
        <p:spPr>
          <a:xfrm>
            <a:off x="685800"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23" name="Image 4" descr="preencoded.png">    </p:cNvPr>
          <p:cNvPicPr>
            <a:picLocks noChangeAspect="1"/>
          </p:cNvPicPr>
          <p:nvPr/>
        </p:nvPicPr>
        <p:blipFill>
          <a:blip r:embed="rId5"/>
          <a:stretch>
            <a:fillRect/>
          </a:stretch>
        </p:blipFill>
        <p:spPr>
          <a:xfrm>
            <a:off x="813816" y="3968496"/>
            <a:ext cx="201168" cy="201168"/>
          </a:xfrm>
          <a:prstGeom prst="rect">
            <a:avLst/>
          </a:prstGeom>
        </p:spPr>
      </p:pic>
      <p:sp>
        <p:nvSpPr>
          <p:cNvPr id="24" name="Text 17"/>
          <p:cNvSpPr txBox="1"/>
          <p:nvPr/>
        </p:nvSpPr>
        <p:spPr>
          <a:xfrm>
            <a:off x="1289304"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Control de la oxigenación</a:t>
            </a:r>
            <a:endParaRPr lang="en-US" sz="1400" dirty="0"/>
          </a:p>
        </p:txBody>
      </p:sp>
      <p:sp>
        <p:nvSpPr>
          <p:cNvPr id="25" name="Text 18"/>
          <p:cNvSpPr txBox="1"/>
          <p:nvPr/>
        </p:nvSpPr>
        <p:spPr>
          <a:xfrm>
            <a:off x="1289304"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Facilita la administración de oxígeno a concentraciones exactas y la monitorización continua de la vía aérea.</a:t>
            </a:r>
            <a:endParaRPr lang="en-US" sz="1200" dirty="0"/>
          </a:p>
        </p:txBody>
      </p:sp>
      <p:sp>
        <p:nvSpPr>
          <p:cNvPr id="26" name="Shape 19"/>
          <p:cNvSpPr/>
          <p:nvPr/>
        </p:nvSpPr>
        <p:spPr>
          <a:xfrm>
            <a:off x="4233672"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7" name="Shape 20"/>
          <p:cNvSpPr/>
          <p:nvPr/>
        </p:nvSpPr>
        <p:spPr>
          <a:xfrm>
            <a:off x="4416552"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28" name="Image 5" descr="preencoded.png">    </p:cNvPr>
          <p:cNvPicPr>
            <a:picLocks noChangeAspect="1"/>
          </p:cNvPicPr>
          <p:nvPr/>
        </p:nvPicPr>
        <p:blipFill>
          <a:blip r:embed="rId6"/>
          <a:stretch>
            <a:fillRect/>
          </a:stretch>
        </p:blipFill>
        <p:spPr>
          <a:xfrm>
            <a:off x="4544568" y="3968496"/>
            <a:ext cx="201168" cy="201168"/>
          </a:xfrm>
          <a:prstGeom prst="rect">
            <a:avLst/>
          </a:prstGeom>
        </p:spPr>
      </p:pic>
      <p:sp>
        <p:nvSpPr>
          <p:cNvPr id="29" name="Text 21"/>
          <p:cNvSpPr txBox="1"/>
          <p:nvPr/>
        </p:nvSpPr>
        <p:spPr>
          <a:xfrm>
            <a:off x="5020056"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Acceso para procedimientos</a:t>
            </a:r>
            <a:endParaRPr lang="en-US" sz="1400" dirty="0"/>
          </a:p>
        </p:txBody>
      </p:sp>
      <p:sp>
        <p:nvSpPr>
          <p:cNvPr id="30" name="Text 22"/>
          <p:cNvSpPr txBox="1"/>
          <p:nvPr/>
        </p:nvSpPr>
        <p:spPr>
          <a:xfrm>
            <a:off x="5020056"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Permite la aspiración de secreciones y el acceso instrumental en cirugías de cabeza, cuello y tórax.</a:t>
            </a:r>
            <a:endParaRPr lang="en-US" sz="1200" dirty="0"/>
          </a:p>
        </p:txBody>
      </p:sp>
      <p:sp>
        <p:nvSpPr>
          <p:cNvPr id="31" name="Shape 23"/>
          <p:cNvSpPr/>
          <p:nvPr/>
        </p:nvSpPr>
        <p:spPr>
          <a:xfrm>
            <a:off x="7964424"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32" name="Shape 24"/>
          <p:cNvSpPr/>
          <p:nvPr/>
        </p:nvSpPr>
        <p:spPr>
          <a:xfrm>
            <a:off x="8147304"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3" name="Image 6" descr="preencoded.png">    </p:cNvPr>
          <p:cNvPicPr>
            <a:picLocks noChangeAspect="1"/>
          </p:cNvPicPr>
          <p:nvPr/>
        </p:nvPicPr>
        <p:blipFill>
          <a:blip r:embed="rId7"/>
          <a:stretch>
            <a:fillRect/>
          </a:stretch>
        </p:blipFill>
        <p:spPr>
          <a:xfrm>
            <a:off x="8275320" y="3968496"/>
            <a:ext cx="201168" cy="201168"/>
          </a:xfrm>
          <a:prstGeom prst="rect">
            <a:avLst/>
          </a:prstGeom>
        </p:spPr>
      </p:pic>
      <p:sp>
        <p:nvSpPr>
          <p:cNvPr id="34" name="Text 25"/>
          <p:cNvSpPr txBox="1"/>
          <p:nvPr/>
        </p:nvSpPr>
        <p:spPr>
          <a:xfrm>
            <a:off x="8750808"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Vía para agentes anestésicos</a:t>
            </a:r>
            <a:endParaRPr lang="en-US" sz="1400" dirty="0"/>
          </a:p>
        </p:txBody>
      </p:sp>
      <p:sp>
        <p:nvSpPr>
          <p:cNvPr id="35" name="Text 26"/>
          <p:cNvSpPr txBox="1"/>
          <p:nvPr/>
        </p:nvSpPr>
        <p:spPr>
          <a:xfrm>
            <a:off x="8750808"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En ciertos contextos de emergencia permite la administración traqueal de fármacos de reanimación.</a:t>
            </a:r>
            <a:endParaRPr lang="en-US" sz="1200" dirty="0"/>
          </a:p>
        </p:txBody>
      </p:sp>
      <p:sp>
        <p:nvSpPr>
          <p:cNvPr id="37" name="Text 27"/>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8" name="Text 28"/>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5 / 31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ANATOMÍA DE LA VÍA AÉREA SUPERIOR</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Cavidad nasal y cavidad oral</a:t>
            </a:r>
            <a:endParaRPr lang="en-US" sz="2500" dirty="0"/>
          </a:p>
        </p:txBody>
      </p:sp>
      <p:sp>
        <p:nvSpPr>
          <p:cNvPr id="6" name="Shape 3"/>
          <p:cNvSpPr/>
          <p:nvPr/>
        </p:nvSpPr>
        <p:spPr>
          <a:xfrm>
            <a:off x="502920" y="1508760"/>
            <a:ext cx="548640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51713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Cavidad nasal</a:t>
            </a:r>
            <a:endParaRPr lang="en-US" sz="1600" dirty="0"/>
          </a:p>
        </p:txBody>
      </p:sp>
      <p:sp>
        <p:nvSpPr>
          <p:cNvPr id="10" name="Text 6"/>
          <p:cNvSpPr txBox="1"/>
          <p:nvPr/>
        </p:nvSpPr>
        <p:spPr>
          <a:xfrm>
            <a:off x="1289304" y="2112264"/>
            <a:ext cx="451713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Se extiende desde las narinas hasta las coanas; dividida por el tabique nasal en dos fosas.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Tapizada por mucosa respiratoria muy vascularizada (plexo de Kiesselbach) — el epistaxis es la complicación más frecuente de la intubación nasotraqueal.</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Los cornetes (superior, medio e inferior) generan turbulencia que calienta, humidifica y filtra el aire inspirado.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El meato inferior es la vía de paso recomendada para el tubo nasotraqueal, dirigido en sentido paralelo al piso de la fosa nasal.</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Irrigada por ramas de las arterias maxilar interna y oftálmica; inervada por los nervios etmoidal anterior y nasopalatino (V par).</a:t>
            </a:r>
            <a:endParaRPr lang="en-US" sz="1250" dirty="0"/>
          </a:p>
        </p:txBody>
      </p:sp>
      <p:sp>
        <p:nvSpPr>
          <p:cNvPr id="11" name="Shape 7"/>
          <p:cNvSpPr/>
          <p:nvPr/>
        </p:nvSpPr>
        <p:spPr>
          <a:xfrm>
            <a:off x="6172200" y="1508760"/>
            <a:ext cx="5513832"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35508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483096" y="1819656"/>
            <a:ext cx="201168" cy="201168"/>
          </a:xfrm>
          <a:prstGeom prst="rect">
            <a:avLst/>
          </a:prstGeom>
        </p:spPr>
      </p:pic>
      <p:sp>
        <p:nvSpPr>
          <p:cNvPr id="14" name="Text 9"/>
          <p:cNvSpPr txBox="1"/>
          <p:nvPr/>
        </p:nvSpPr>
        <p:spPr>
          <a:xfrm>
            <a:off x="6958584" y="1691640"/>
            <a:ext cx="4544568"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Cavidad oral</a:t>
            </a:r>
            <a:endParaRPr lang="en-US" sz="1600" dirty="0"/>
          </a:p>
        </p:txBody>
      </p:sp>
      <p:sp>
        <p:nvSpPr>
          <p:cNvPr id="15" name="Text 10"/>
          <p:cNvSpPr txBox="1"/>
          <p:nvPr/>
        </p:nvSpPr>
        <p:spPr>
          <a:xfrm>
            <a:off x="6958584" y="2112264"/>
            <a:ext cx="4544568"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Limitada por los labios, mejillas, paladar duro y blando, piso de la boca y la lengua.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apertura oral normal permite 3 dedos (≈ 4 cm); una apertura &lt; 3 cm dificulta la laringoscopia directa.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lengua es la estructura de mayor volumen relativo en la vía aérea superior y la causa más común de obstrucción en el paciente sedado o anestesiado.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Los dientes —en especial los incisivos superiores— son la estructura con mayor riesgo de lesión traumática durante la laringoscopia.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El espacio mandibular (distancia tiromentoniana) refleja la capacidad de desplazar la lengua durante la laringoscopia directa.</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6 / 31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ANATOMÍA DE LA VÍA AÉREA SUPERIOR</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Faringe: naso, oro e hipofaringe</a:t>
            </a:r>
            <a:endParaRPr lang="en-US" sz="2500" dirty="0"/>
          </a:p>
        </p:txBody>
      </p:sp>
      <p:sp>
        <p:nvSpPr>
          <p:cNvPr id="6" name="Shape 3"/>
          <p:cNvSpPr/>
          <p:nvPr/>
        </p:nvSpPr>
        <p:spPr>
          <a:xfrm>
            <a:off x="502920"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502920" y="1508760"/>
            <a:ext cx="3593592" cy="822960"/>
          </a:xfrm>
          <a:prstGeom prst="roundRect">
            <a:avLst>
              <a:gd name="adj" fmla="val 8889"/>
            </a:avLst>
          </a:prstGeom>
          <a:solidFill>
            <a:srgbClr val="2C3E50"/>
          </a:solidFill>
          <a:ln/>
        </p:spPr>
      </p:sp>
      <p:sp>
        <p:nvSpPr>
          <p:cNvPr id="8" name="Shape 5"/>
          <p:cNvSpPr/>
          <p:nvPr/>
        </p:nvSpPr>
        <p:spPr>
          <a:xfrm>
            <a:off x="502920" y="1965960"/>
            <a:ext cx="3593592" cy="365760"/>
          </a:xfrm>
          <a:prstGeom prst="rect">
            <a:avLst/>
          </a:prstGeom>
          <a:solidFill>
            <a:srgbClr val="2C3E50"/>
          </a:solidFill>
          <a:ln/>
        </p:spPr>
      </p:sp>
      <p:sp>
        <p:nvSpPr>
          <p:cNvPr id="9" name="Text 6"/>
          <p:cNvSpPr txBox="1"/>
          <p:nvPr/>
        </p:nvSpPr>
        <p:spPr>
          <a:xfrm>
            <a:off x="685800" y="1627632"/>
            <a:ext cx="457200" cy="457200"/>
          </a:xfrm>
          <a:prstGeom prst="rect">
            <a:avLst/>
          </a:prstGeom>
          <a:noFill/>
          <a:ln/>
        </p:spPr>
        <p:txBody>
          <a:bodyPr wrap="square" lIns="0" tIns="0" rIns="0" bIns="0" rtlCol="0" anchor="ctr"/>
          <a:lstStyle/>
          <a:p>
            <a:pPr indent="0" marL="0">
              <a:buNone/>
            </a:pPr>
            <a:r>
              <a:rPr lang="en-US" sz="2000" b="1" dirty="0">
                <a:solidFill>
                  <a:srgbClr val="17A2B8"/>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1143000" y="1600200"/>
            <a:ext cx="2770632" cy="41148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Nasofaringe</a:t>
            </a:r>
            <a:endParaRPr lang="en-US" sz="1450" dirty="0"/>
          </a:p>
        </p:txBody>
      </p:sp>
      <p:sp>
        <p:nvSpPr>
          <p:cNvPr id="11" name="Text 8"/>
          <p:cNvSpPr txBox="1"/>
          <p:nvPr/>
        </p:nvSpPr>
        <p:spPr>
          <a:xfrm>
            <a:off x="685800" y="2395728"/>
            <a:ext cx="3227832" cy="502920"/>
          </a:xfrm>
          <a:prstGeom prst="rect">
            <a:avLst/>
          </a:prstGeom>
          <a:noFill/>
          <a:ln/>
        </p:spPr>
        <p:txBody>
          <a:bodyPr wrap="square" lIns="0" tIns="0" rIns="0" bIns="0" rtlCol="0" anchor="ctr"/>
          <a:lstStyle/>
          <a:p>
            <a:pPr indent="0" marL="0">
              <a:lnSpc>
                <a:spcPts val="1300"/>
              </a:lnSpc>
              <a:buNone/>
            </a:pPr>
            <a:r>
              <a:rPr lang="en-US" sz="1050" i="1" dirty="0">
                <a:solidFill>
                  <a:srgbClr val="128A9C"/>
                </a:solidFill>
                <a:latin typeface="Calibri" pitchFamily="34" charset="0"/>
                <a:ea typeface="Calibri" pitchFamily="34" charset="-122"/>
                <a:cs typeface="Calibri" pitchFamily="34" charset="-120"/>
              </a:rPr>
              <a:t>Desde las coanas hasta el paladar blando</a:t>
            </a:r>
            <a:endParaRPr lang="en-US" sz="1050" dirty="0"/>
          </a:p>
        </p:txBody>
      </p:sp>
      <p:sp>
        <p:nvSpPr>
          <p:cNvPr id="12" name="Text 9"/>
          <p:cNvSpPr txBox="1"/>
          <p:nvPr/>
        </p:nvSpPr>
        <p:spPr>
          <a:xfrm>
            <a:off x="704088" y="2971800"/>
            <a:ext cx="3191256" cy="2926080"/>
          </a:xfrm>
          <a:prstGeom prst="rect">
            <a:avLst/>
          </a:prstGeom>
          <a:noFill/>
          <a:ln/>
        </p:spPr>
        <p:txBody>
          <a:bodyPr wrap="square" lIns="0" tIns="0" rIns="0" bIns="0" rtlCol="0" anchor="t"/>
          <a:lstStyle/>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Contiene las amígdalas faríngeas (adenoides), prominentes en la infancia.</a:t>
            </a:r>
            <a:endParaRPr lang="en-US" sz="1150" dirty="0"/>
          </a:p>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Aloja el orificio de la trompa de Eustaquio.</a:t>
            </a:r>
            <a:endParaRPr lang="en-US" sz="1150" dirty="0"/>
          </a:p>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No participa directamente en la laringoscopia, pero sí en la intubación nasotraqueal.</a:t>
            </a:r>
            <a:endParaRPr lang="en-US" sz="1150" dirty="0"/>
          </a:p>
        </p:txBody>
      </p:sp>
      <p:sp>
        <p:nvSpPr>
          <p:cNvPr id="13" name="Shape 10"/>
          <p:cNvSpPr/>
          <p:nvPr/>
        </p:nvSpPr>
        <p:spPr>
          <a:xfrm>
            <a:off x="4233672"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14" name="Shape 11"/>
          <p:cNvSpPr/>
          <p:nvPr/>
        </p:nvSpPr>
        <p:spPr>
          <a:xfrm>
            <a:off x="4233672" y="1508760"/>
            <a:ext cx="3593592" cy="822960"/>
          </a:xfrm>
          <a:prstGeom prst="roundRect">
            <a:avLst>
              <a:gd name="adj" fmla="val 8889"/>
            </a:avLst>
          </a:prstGeom>
          <a:solidFill>
            <a:srgbClr val="2C3E50"/>
          </a:solidFill>
          <a:ln/>
        </p:spPr>
      </p:sp>
      <p:sp>
        <p:nvSpPr>
          <p:cNvPr id="15" name="Shape 12"/>
          <p:cNvSpPr/>
          <p:nvPr/>
        </p:nvSpPr>
        <p:spPr>
          <a:xfrm>
            <a:off x="4233672" y="1965960"/>
            <a:ext cx="3593592" cy="365760"/>
          </a:xfrm>
          <a:prstGeom prst="rect">
            <a:avLst/>
          </a:prstGeom>
          <a:solidFill>
            <a:srgbClr val="2C3E50"/>
          </a:solidFill>
          <a:ln/>
        </p:spPr>
      </p:sp>
      <p:sp>
        <p:nvSpPr>
          <p:cNvPr id="16" name="Text 13"/>
          <p:cNvSpPr txBox="1"/>
          <p:nvPr/>
        </p:nvSpPr>
        <p:spPr>
          <a:xfrm>
            <a:off x="4416552" y="1627632"/>
            <a:ext cx="457200" cy="457200"/>
          </a:xfrm>
          <a:prstGeom prst="rect">
            <a:avLst/>
          </a:prstGeom>
          <a:noFill/>
          <a:ln/>
        </p:spPr>
        <p:txBody>
          <a:bodyPr wrap="square" lIns="0" tIns="0" rIns="0" bIns="0" rtlCol="0" anchor="ctr"/>
          <a:lstStyle/>
          <a:p>
            <a:pPr indent="0" marL="0">
              <a:buNone/>
            </a:pPr>
            <a:r>
              <a:rPr lang="en-US" sz="2000" b="1" dirty="0">
                <a:solidFill>
                  <a:srgbClr val="17A2B8"/>
                </a:solidFill>
                <a:latin typeface="Cambria" pitchFamily="34" charset="0"/>
                <a:ea typeface="Cambria" pitchFamily="34" charset="-122"/>
                <a:cs typeface="Cambria" pitchFamily="34" charset="-120"/>
              </a:rPr>
              <a:t>2</a:t>
            </a:r>
            <a:endParaRPr lang="en-US" sz="2000" dirty="0"/>
          </a:p>
        </p:txBody>
      </p:sp>
      <p:sp>
        <p:nvSpPr>
          <p:cNvPr id="17" name="Text 14"/>
          <p:cNvSpPr txBox="1"/>
          <p:nvPr/>
        </p:nvSpPr>
        <p:spPr>
          <a:xfrm>
            <a:off x="4873752" y="1600200"/>
            <a:ext cx="2770632" cy="41148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Orofaringe</a:t>
            </a:r>
            <a:endParaRPr lang="en-US" sz="1450" dirty="0"/>
          </a:p>
        </p:txBody>
      </p:sp>
      <p:sp>
        <p:nvSpPr>
          <p:cNvPr id="18" name="Text 15"/>
          <p:cNvSpPr txBox="1"/>
          <p:nvPr/>
        </p:nvSpPr>
        <p:spPr>
          <a:xfrm>
            <a:off x="4416552" y="2395728"/>
            <a:ext cx="3227832" cy="502920"/>
          </a:xfrm>
          <a:prstGeom prst="rect">
            <a:avLst/>
          </a:prstGeom>
          <a:noFill/>
          <a:ln/>
        </p:spPr>
        <p:txBody>
          <a:bodyPr wrap="square" lIns="0" tIns="0" rIns="0" bIns="0" rtlCol="0" anchor="ctr"/>
          <a:lstStyle/>
          <a:p>
            <a:pPr indent="0" marL="0">
              <a:lnSpc>
                <a:spcPts val="1300"/>
              </a:lnSpc>
              <a:buNone/>
            </a:pPr>
            <a:r>
              <a:rPr lang="en-US" sz="1050" i="1" dirty="0">
                <a:solidFill>
                  <a:srgbClr val="128A9C"/>
                </a:solidFill>
                <a:latin typeface="Calibri" pitchFamily="34" charset="0"/>
                <a:ea typeface="Calibri" pitchFamily="34" charset="-122"/>
                <a:cs typeface="Calibri" pitchFamily="34" charset="-120"/>
              </a:rPr>
              <a:t>Desde el paladar blando hasta el hueso hioides</a:t>
            </a:r>
            <a:endParaRPr lang="en-US" sz="1050" dirty="0"/>
          </a:p>
        </p:txBody>
      </p:sp>
      <p:sp>
        <p:nvSpPr>
          <p:cNvPr id="19" name="Text 16"/>
          <p:cNvSpPr txBox="1"/>
          <p:nvPr/>
        </p:nvSpPr>
        <p:spPr>
          <a:xfrm>
            <a:off x="4434840" y="2971800"/>
            <a:ext cx="3191256" cy="2926080"/>
          </a:xfrm>
          <a:prstGeom prst="rect">
            <a:avLst/>
          </a:prstGeom>
          <a:noFill/>
          <a:ln/>
        </p:spPr>
        <p:txBody>
          <a:bodyPr wrap="square" lIns="0" tIns="0" rIns="0" bIns="0" rtlCol="0" anchor="t"/>
          <a:lstStyle/>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Contiene la base de la lengua y las amígdalas palatinas.</a:t>
            </a:r>
            <a:endParaRPr lang="en-US" sz="1150" dirty="0"/>
          </a:p>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Zona clave de valoración con la clasificación de Mallampati.</a:t>
            </a:r>
            <a:endParaRPr lang="en-US" sz="1150" dirty="0"/>
          </a:p>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Sitio habitual de colocación de la cánula orofaríngea (Guedel).</a:t>
            </a:r>
            <a:endParaRPr lang="en-US" sz="1150" dirty="0"/>
          </a:p>
        </p:txBody>
      </p:sp>
      <p:sp>
        <p:nvSpPr>
          <p:cNvPr id="20" name="Shape 17"/>
          <p:cNvSpPr/>
          <p:nvPr/>
        </p:nvSpPr>
        <p:spPr>
          <a:xfrm>
            <a:off x="7964424"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21" name="Shape 18"/>
          <p:cNvSpPr/>
          <p:nvPr/>
        </p:nvSpPr>
        <p:spPr>
          <a:xfrm>
            <a:off x="7964424" y="1508760"/>
            <a:ext cx="3593592" cy="822960"/>
          </a:xfrm>
          <a:prstGeom prst="roundRect">
            <a:avLst>
              <a:gd name="adj" fmla="val 8889"/>
            </a:avLst>
          </a:prstGeom>
          <a:solidFill>
            <a:srgbClr val="2C3E50"/>
          </a:solidFill>
          <a:ln/>
        </p:spPr>
      </p:sp>
      <p:sp>
        <p:nvSpPr>
          <p:cNvPr id="22" name="Shape 19"/>
          <p:cNvSpPr/>
          <p:nvPr/>
        </p:nvSpPr>
        <p:spPr>
          <a:xfrm>
            <a:off x="7964424" y="1965960"/>
            <a:ext cx="3593592" cy="365760"/>
          </a:xfrm>
          <a:prstGeom prst="rect">
            <a:avLst/>
          </a:prstGeom>
          <a:solidFill>
            <a:srgbClr val="2C3E50"/>
          </a:solidFill>
          <a:ln/>
        </p:spPr>
      </p:sp>
      <p:sp>
        <p:nvSpPr>
          <p:cNvPr id="23" name="Text 20"/>
          <p:cNvSpPr txBox="1"/>
          <p:nvPr/>
        </p:nvSpPr>
        <p:spPr>
          <a:xfrm>
            <a:off x="8147304" y="1627632"/>
            <a:ext cx="457200" cy="457200"/>
          </a:xfrm>
          <a:prstGeom prst="rect">
            <a:avLst/>
          </a:prstGeom>
          <a:noFill/>
          <a:ln/>
        </p:spPr>
        <p:txBody>
          <a:bodyPr wrap="square" lIns="0" tIns="0" rIns="0" bIns="0" rtlCol="0" anchor="ctr"/>
          <a:lstStyle/>
          <a:p>
            <a:pPr indent="0" marL="0">
              <a:buNone/>
            </a:pPr>
            <a:r>
              <a:rPr lang="en-US" sz="2000" b="1" dirty="0">
                <a:solidFill>
                  <a:srgbClr val="17A2B8"/>
                </a:solidFill>
                <a:latin typeface="Cambria" pitchFamily="34" charset="0"/>
                <a:ea typeface="Cambria" pitchFamily="34" charset="-122"/>
                <a:cs typeface="Cambria" pitchFamily="34" charset="-120"/>
              </a:rPr>
              <a:t>3</a:t>
            </a:r>
            <a:endParaRPr lang="en-US" sz="2000" dirty="0"/>
          </a:p>
        </p:txBody>
      </p:sp>
      <p:sp>
        <p:nvSpPr>
          <p:cNvPr id="24" name="Text 21"/>
          <p:cNvSpPr txBox="1"/>
          <p:nvPr/>
        </p:nvSpPr>
        <p:spPr>
          <a:xfrm>
            <a:off x="8604504" y="1600200"/>
            <a:ext cx="2770632" cy="41148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Hipofaringe (laringofaringe)</a:t>
            </a:r>
            <a:endParaRPr lang="en-US" sz="1450" dirty="0"/>
          </a:p>
        </p:txBody>
      </p:sp>
      <p:sp>
        <p:nvSpPr>
          <p:cNvPr id="25" name="Text 22"/>
          <p:cNvSpPr txBox="1"/>
          <p:nvPr/>
        </p:nvSpPr>
        <p:spPr>
          <a:xfrm>
            <a:off x="8147304" y="2395728"/>
            <a:ext cx="3227832" cy="502920"/>
          </a:xfrm>
          <a:prstGeom prst="rect">
            <a:avLst/>
          </a:prstGeom>
          <a:noFill/>
          <a:ln/>
        </p:spPr>
        <p:txBody>
          <a:bodyPr wrap="square" lIns="0" tIns="0" rIns="0" bIns="0" rtlCol="0" anchor="ctr"/>
          <a:lstStyle/>
          <a:p>
            <a:pPr indent="0" marL="0">
              <a:lnSpc>
                <a:spcPts val="1300"/>
              </a:lnSpc>
              <a:buNone/>
            </a:pPr>
            <a:r>
              <a:rPr lang="en-US" sz="1050" i="1" dirty="0">
                <a:solidFill>
                  <a:srgbClr val="128A9C"/>
                </a:solidFill>
                <a:latin typeface="Calibri" pitchFamily="34" charset="0"/>
                <a:ea typeface="Calibri" pitchFamily="34" charset="-122"/>
                <a:cs typeface="Calibri" pitchFamily="34" charset="-120"/>
              </a:rPr>
              <a:t>Desde el hioides hasta el cartílago cricoides</a:t>
            </a:r>
            <a:endParaRPr lang="en-US" sz="1050" dirty="0"/>
          </a:p>
        </p:txBody>
      </p:sp>
      <p:sp>
        <p:nvSpPr>
          <p:cNvPr id="26" name="Text 23"/>
          <p:cNvSpPr txBox="1"/>
          <p:nvPr/>
        </p:nvSpPr>
        <p:spPr>
          <a:xfrm>
            <a:off x="8165592" y="2971800"/>
            <a:ext cx="3191256" cy="2926080"/>
          </a:xfrm>
          <a:prstGeom prst="rect">
            <a:avLst/>
          </a:prstGeom>
          <a:noFill/>
          <a:ln/>
        </p:spPr>
        <p:txBody>
          <a:bodyPr wrap="square" lIns="0" tIns="0" rIns="0" bIns="0" rtlCol="0" anchor="t"/>
          <a:lstStyle/>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Contiene los senos piriformes, a ambos lados de la entrada laríngea.</a:t>
            </a:r>
            <a:endParaRPr lang="en-US" sz="1150" dirty="0"/>
          </a:p>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Se continúa con el esófago posteriormente y con la laringe anteriormente.</a:t>
            </a:r>
            <a:endParaRPr lang="en-US" sz="1150" dirty="0"/>
          </a:p>
          <a:p>
            <a:pPr marL="127000" indent="-127000">
              <a:lnSpc>
                <a:spcPts val="1500"/>
              </a:lnSpc>
              <a:spcAft>
                <a:spcPts val="800"/>
              </a:spcAft>
              <a:buSzPct val="100000"/>
              <a:buChar char="•"/>
            </a:pPr>
            <a:r>
              <a:rPr lang="en-US" sz="1150" dirty="0">
                <a:solidFill>
                  <a:srgbClr val="2C3E50"/>
                </a:solidFill>
                <a:latin typeface="Calibri" pitchFamily="34" charset="0"/>
                <a:ea typeface="Calibri" pitchFamily="34" charset="-122"/>
                <a:cs typeface="Calibri" pitchFamily="34" charset="-120"/>
              </a:rPr>
              <a:t>La punta de la hoja Macintosh se ubica en la vallécula, en la unión con la epiglotis.</a:t>
            </a:r>
            <a:endParaRPr lang="en-US" sz="1150" dirty="0"/>
          </a:p>
        </p:txBody>
      </p:sp>
      <p:sp>
        <p:nvSpPr>
          <p:cNvPr id="28" name="Text 24"/>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9" name="Text 25"/>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7 / 31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ANATOMÍA DE LA VÍA AÉREA SUPERIOR</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Laringe: cartílagos y glotis</a:t>
            </a:r>
            <a:endParaRPr lang="en-US" sz="2500" dirty="0"/>
          </a:p>
        </p:txBody>
      </p:sp>
      <p:sp>
        <p:nvSpPr>
          <p:cNvPr id="6" name="Shape 3"/>
          <p:cNvSpPr/>
          <p:nvPr/>
        </p:nvSpPr>
        <p:spPr>
          <a:xfrm>
            <a:off x="502920" y="1508760"/>
            <a:ext cx="539496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42569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Esqueleto cartilaginoso</a:t>
            </a:r>
            <a:endParaRPr lang="en-US" sz="1600" dirty="0"/>
          </a:p>
        </p:txBody>
      </p:sp>
      <p:sp>
        <p:nvSpPr>
          <p:cNvPr id="10" name="Text 6"/>
          <p:cNvSpPr txBox="1"/>
          <p:nvPr/>
        </p:nvSpPr>
        <p:spPr>
          <a:xfrm>
            <a:off x="1289304" y="2112264"/>
            <a:ext cx="442569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Cartílago tiroides: el mayor; forma la "nuez de Adán", referencia para la maniobra de BURP y la cricotiroidotomía.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Cartílago cricoides: único anillo completo de la vía aérea; base de la maniobra de Sellick (presión cricoidea).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Cartílagos aritenoides (pares): se articulan con el cricoides y dan inserción a las cuerdas vocales posteriores.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Epiglotis: cartílago elástico que protege la entrada laríngea durante la deglución; referencia visual clave en la laringoscopia.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Membrana cricotiroidea: sitio de acceso en la vía aérea quirúrgica de emergencia (cricotiroidotomía).</a:t>
            </a:r>
            <a:endParaRPr lang="en-US" sz="1250" dirty="0"/>
          </a:p>
        </p:txBody>
      </p:sp>
      <p:sp>
        <p:nvSpPr>
          <p:cNvPr id="11" name="Shape 7"/>
          <p:cNvSpPr/>
          <p:nvPr/>
        </p:nvSpPr>
        <p:spPr>
          <a:xfrm>
            <a:off x="6080760" y="1508760"/>
            <a:ext cx="5605272"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26364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391656" y="1819656"/>
            <a:ext cx="201168" cy="201168"/>
          </a:xfrm>
          <a:prstGeom prst="rect">
            <a:avLst/>
          </a:prstGeom>
        </p:spPr>
      </p:pic>
      <p:sp>
        <p:nvSpPr>
          <p:cNvPr id="14" name="Text 9"/>
          <p:cNvSpPr txBox="1"/>
          <p:nvPr/>
        </p:nvSpPr>
        <p:spPr>
          <a:xfrm>
            <a:off x="6867144" y="1691640"/>
            <a:ext cx="4636008"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Glotis y cuerdas vocales</a:t>
            </a:r>
            <a:endParaRPr lang="en-US" sz="1600" dirty="0"/>
          </a:p>
        </p:txBody>
      </p:sp>
      <p:sp>
        <p:nvSpPr>
          <p:cNvPr id="15" name="Text 10"/>
          <p:cNvSpPr txBox="1"/>
          <p:nvPr/>
        </p:nvSpPr>
        <p:spPr>
          <a:xfrm>
            <a:off x="6867144" y="2112264"/>
            <a:ext cx="4636008"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glotis es el punto más estrecho de la laringe del adulto; incluye las cuerdas vocales y el espacio interaritenoideo.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Las cuerdas vocales verdaderas son el principal reparo visual para dirigir el tubo endotraqueal a través de la abertura glótica.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En el niño menor de 8 años, el punto más estrecho funcional de la vía aérea es el cartílago cricoides, no la glotis — relevante para elegir el tubo pediátrico.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inervación motora depende del nervio laríngeo recurrente (todos los músculos intrínsecos excepto el cricotiroideo).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El espasmo laríngeo (laringoespasmo) es el cierre reflejo de las cuerdas verdaderas y falsas ante un estímulo irritante.</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8 / 31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ANATOMÍA DE LA VÍA AÉREA SUPERIOR</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Tráquea e inervación relevante</a:t>
            </a:r>
            <a:endParaRPr lang="en-US" sz="2500" dirty="0"/>
          </a:p>
        </p:txBody>
      </p:sp>
      <p:sp>
        <p:nvSpPr>
          <p:cNvPr id="6" name="Shape 3"/>
          <p:cNvSpPr/>
          <p:nvPr/>
        </p:nvSpPr>
        <p:spPr>
          <a:xfrm>
            <a:off x="502920" y="1508760"/>
            <a:ext cx="539496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42569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Tráquea</a:t>
            </a:r>
            <a:endParaRPr lang="en-US" sz="1600" dirty="0"/>
          </a:p>
        </p:txBody>
      </p:sp>
      <p:sp>
        <p:nvSpPr>
          <p:cNvPr id="10" name="Text 6"/>
          <p:cNvSpPr txBox="1"/>
          <p:nvPr/>
        </p:nvSpPr>
        <p:spPr>
          <a:xfrm>
            <a:off x="1289304" y="2112264"/>
            <a:ext cx="442569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Conducto fibrocartilaginoso de 10-12 cm de longitud en el adulto, desde el cricoides (C6) hasta la carina (T4-T5).</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Formada por 16-20 anillos cartilaginosos en "C", con la pared posterior membranosa (músculo traqueal) en contacto con el esófago.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Diámetro promedio de 18-22 mm en el hombre y 15-18 mm en la mujer adultos.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carina marca la bifurcación en bronquio principal derecho (más vertical y corto) e izquierdo — explica la mayor incidencia de intubación selectiva derecha.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distancia habitual de fijación del tubo a la comisura labial es de 21-23 cm en la mujer y 23-25 cm en el hombre.</a:t>
            </a:r>
            <a:endParaRPr lang="en-US" sz="1250" dirty="0"/>
          </a:p>
        </p:txBody>
      </p:sp>
      <p:sp>
        <p:nvSpPr>
          <p:cNvPr id="11" name="Shape 7"/>
          <p:cNvSpPr/>
          <p:nvPr/>
        </p:nvSpPr>
        <p:spPr>
          <a:xfrm>
            <a:off x="6080760" y="1508760"/>
            <a:ext cx="5605272"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26364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391656" y="1819656"/>
            <a:ext cx="201168" cy="201168"/>
          </a:xfrm>
          <a:prstGeom prst="rect">
            <a:avLst/>
          </a:prstGeom>
        </p:spPr>
      </p:pic>
      <p:sp>
        <p:nvSpPr>
          <p:cNvPr id="14" name="Text 9"/>
          <p:cNvSpPr txBox="1"/>
          <p:nvPr/>
        </p:nvSpPr>
        <p:spPr>
          <a:xfrm>
            <a:off x="6867144" y="1691640"/>
            <a:ext cx="4636008"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Inervación laríngea y traqueal</a:t>
            </a:r>
            <a:endParaRPr lang="en-US" sz="1600" dirty="0"/>
          </a:p>
        </p:txBody>
      </p:sp>
      <p:sp>
        <p:nvSpPr>
          <p:cNvPr id="15" name="Text 10"/>
          <p:cNvSpPr txBox="1"/>
          <p:nvPr/>
        </p:nvSpPr>
        <p:spPr>
          <a:xfrm>
            <a:off x="6867144" y="2112264"/>
            <a:ext cx="4636008"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Nervio laríngeo superior (rama del vago): sensitivo por encima de las cuerdas vocales; su rama motora inerva el músculo cricotiroideo.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Nervio laríngeo recurrente (rama del vago): sensitivo por debajo de las cuerdas y motor de todos los demás músculos intrínsecos.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lesión unilateral del laríngeo recurrente produce disfonía; la lesión bilateral puede causar obstrucción aguda de la vía aérea.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El bloqueo del nervio laríngeo superior es útil para la intubación con el paciente despierto, atenuando el reflejo tusígeno.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mucosa traqueal también recibe inervación vagal, relevante en la respuesta autonómica a la instrumentación.</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9 / 31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MATERIAL Y EQUIPO</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Laringoscopios: hojas curvas y rectas</a:t>
            </a:r>
            <a:endParaRPr lang="en-US" sz="2500" dirty="0"/>
          </a:p>
        </p:txBody>
      </p:sp>
      <p:sp>
        <p:nvSpPr>
          <p:cNvPr id="6" name="Text 3"/>
          <p:cNvSpPr txBox="1"/>
          <p:nvPr/>
        </p:nvSpPr>
        <p:spPr>
          <a:xfrm>
            <a:off x="502920" y="1481328"/>
            <a:ext cx="11201400" cy="457200"/>
          </a:xfrm>
          <a:prstGeom prst="rect">
            <a:avLst/>
          </a:prstGeom>
          <a:noFill/>
          <a:ln/>
        </p:spPr>
        <p:txBody>
          <a:bodyPr wrap="square" lIns="0" tIns="0" rIns="0" bIns="0" rtlCol="0" anchor="ctr"/>
          <a:lstStyle/>
          <a:p>
            <a:pPr indent="0" marL="0">
              <a:lnSpc>
                <a:spcPts val="1600"/>
              </a:lnSpc>
              <a:buNone/>
            </a:pPr>
            <a:r>
              <a:rPr lang="en-US" sz="1300" dirty="0">
                <a:solidFill>
                  <a:srgbClr val="2C3E50"/>
                </a:solidFill>
                <a:latin typeface="Calibri" pitchFamily="34" charset="0"/>
                <a:ea typeface="Calibri" pitchFamily="34" charset="-122"/>
                <a:cs typeface="Calibri" pitchFamily="34" charset="-120"/>
              </a:rPr>
              <a:t>El laringoscopio consta de un mango (con fuente de luz y baterías) y una hoja intercambiable. La elección de la hoja depende de la anatomía del paciente y de la preferencia del operador.</a:t>
            </a:r>
            <a:endParaRPr lang="en-US" sz="1300" dirty="0"/>
          </a:p>
        </p:txBody>
      </p:sp>
      <p:sp>
        <p:nvSpPr>
          <p:cNvPr id="7" name="Shape 4"/>
          <p:cNvSpPr/>
          <p:nvPr/>
        </p:nvSpPr>
        <p:spPr>
          <a:xfrm>
            <a:off x="502920" y="2148840"/>
            <a:ext cx="5440680" cy="3931920"/>
          </a:xfrm>
          <a:prstGeom prst="roundRect">
            <a:avLst>
              <a:gd name="adj" fmla="val 1860"/>
            </a:avLst>
          </a:prstGeom>
          <a:solidFill>
            <a:srgbClr val="EDF1F3"/>
          </a:solidFill>
          <a:ln/>
          <a:effectLst>
            <a:outerShdw sx="100000" sy="100000" kx="0" ky="0" algn="bl" rotWithShape="0" blurRad="63500" dist="25400" dir="5400000">
              <a:srgbClr val="1A2530">
                <a:alpha val="12000"/>
              </a:srgbClr>
            </a:outerShdw>
          </a:effectLst>
        </p:spPr>
      </p:sp>
      <p:sp>
        <p:nvSpPr>
          <p:cNvPr id="8" name="Shape 5"/>
          <p:cNvSpPr/>
          <p:nvPr/>
        </p:nvSpPr>
        <p:spPr>
          <a:xfrm>
            <a:off x="731520" y="2377440"/>
            <a:ext cx="502920" cy="50292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9" name="Image 1" descr="preencoded.png">    </p:cNvPr>
          <p:cNvPicPr>
            <a:picLocks noChangeAspect="1"/>
          </p:cNvPicPr>
          <p:nvPr/>
        </p:nvPicPr>
        <p:blipFill>
          <a:blip r:embed="rId2"/>
          <a:stretch>
            <a:fillRect/>
          </a:stretch>
        </p:blipFill>
        <p:spPr>
          <a:xfrm>
            <a:off x="872338" y="2518258"/>
            <a:ext cx="221285" cy="221285"/>
          </a:xfrm>
          <a:prstGeom prst="rect">
            <a:avLst/>
          </a:prstGeom>
        </p:spPr>
      </p:pic>
      <p:sp>
        <p:nvSpPr>
          <p:cNvPr id="10" name="Text 6"/>
          <p:cNvSpPr txBox="1"/>
          <p:nvPr/>
        </p:nvSpPr>
        <p:spPr>
          <a:xfrm>
            <a:off x="1371600" y="2377440"/>
            <a:ext cx="4343400" cy="502920"/>
          </a:xfrm>
          <a:prstGeom prst="rect">
            <a:avLst/>
          </a:prstGeom>
          <a:noFill/>
          <a:ln/>
        </p:spPr>
        <p:txBody>
          <a:bodyPr wrap="square" lIns="0" tIns="0" rIns="0" bIns="0" rtlCol="0" anchor="ctr"/>
          <a:lstStyle/>
          <a:p>
            <a:pPr indent="0" marL="0">
              <a:buNone/>
            </a:pPr>
            <a:r>
              <a:rPr lang="en-US" sz="1550" b="1" dirty="0">
                <a:solidFill>
                  <a:srgbClr val="2C3E50"/>
                </a:solidFill>
                <a:latin typeface="Cambria" pitchFamily="34" charset="0"/>
                <a:ea typeface="Cambria" pitchFamily="34" charset="-122"/>
                <a:cs typeface="Cambria" pitchFamily="34" charset="-120"/>
              </a:rPr>
              <a:t>Hoja curva — Macintosh</a:t>
            </a:r>
            <a:endParaRPr lang="en-US" sz="1550" dirty="0"/>
          </a:p>
        </p:txBody>
      </p:sp>
      <p:sp>
        <p:nvSpPr>
          <p:cNvPr id="11" name="Text 7"/>
          <p:cNvSpPr txBox="1"/>
          <p:nvPr/>
        </p:nvSpPr>
        <p:spPr>
          <a:xfrm>
            <a:off x="777240" y="3063240"/>
            <a:ext cx="4892040" cy="2834640"/>
          </a:xfrm>
          <a:prstGeom prst="rect">
            <a:avLst/>
          </a:prstGeom>
          <a:noFill/>
          <a:ln/>
        </p:spPr>
        <p:txBody>
          <a:bodyPr wrap="square" lIns="0" tIns="0" rIns="0" bIns="0" rtlCol="0" anchor="t"/>
          <a:lstStyle/>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Diseñada por Robert Macintosh (1943); es la hoja más utilizada en adultos.</a:t>
            </a:r>
            <a:endParaRPr lang="en-US" sz="1250" dirty="0"/>
          </a:p>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La punta se coloca en la vallécula, traccionando indirectamente la epiglotis mediante el ligamento hioepiglótico.</a:t>
            </a:r>
            <a:endParaRPr lang="en-US" sz="1250" dirty="0"/>
          </a:p>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Tamaños habituales: n.º 3 (adulto estándar) y n.º 4 (adulto grande).</a:t>
            </a:r>
            <a:endParaRPr lang="en-US" sz="1250" dirty="0"/>
          </a:p>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Permite mayor espacio para el paso del tubo y reduce el trauma dental al no tocar directamente la epiglotis.</a:t>
            </a:r>
            <a:endParaRPr lang="en-US" sz="1250" dirty="0"/>
          </a:p>
        </p:txBody>
      </p:sp>
      <p:sp>
        <p:nvSpPr>
          <p:cNvPr id="12" name="Shape 8"/>
          <p:cNvSpPr/>
          <p:nvPr/>
        </p:nvSpPr>
        <p:spPr>
          <a:xfrm>
            <a:off x="6199632" y="2148840"/>
            <a:ext cx="5440680" cy="3931920"/>
          </a:xfrm>
          <a:prstGeom prst="roundRect">
            <a:avLst>
              <a:gd name="adj" fmla="val 1860"/>
            </a:avLst>
          </a:prstGeom>
          <a:solidFill>
            <a:srgbClr val="EDF1F3"/>
          </a:solidFill>
          <a:ln/>
          <a:effectLst>
            <a:outerShdw sx="100000" sy="100000" kx="0" ky="0" algn="bl" rotWithShape="0" blurRad="63500" dist="25400" dir="5400000">
              <a:srgbClr val="1A2530">
                <a:alpha val="12000"/>
              </a:srgbClr>
            </a:outerShdw>
          </a:effectLst>
        </p:spPr>
      </p:sp>
      <p:sp>
        <p:nvSpPr>
          <p:cNvPr id="13" name="Shape 9"/>
          <p:cNvSpPr/>
          <p:nvPr/>
        </p:nvSpPr>
        <p:spPr>
          <a:xfrm>
            <a:off x="6428232" y="2377440"/>
            <a:ext cx="502920" cy="50292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4" name="Image 2" descr="preencoded.png">    </p:cNvPr>
          <p:cNvPicPr>
            <a:picLocks noChangeAspect="1"/>
          </p:cNvPicPr>
          <p:nvPr/>
        </p:nvPicPr>
        <p:blipFill>
          <a:blip r:embed="rId3"/>
          <a:stretch>
            <a:fillRect/>
          </a:stretch>
        </p:blipFill>
        <p:spPr>
          <a:xfrm>
            <a:off x="6569050" y="2518258"/>
            <a:ext cx="221285" cy="221285"/>
          </a:xfrm>
          <a:prstGeom prst="rect">
            <a:avLst/>
          </a:prstGeom>
        </p:spPr>
      </p:pic>
      <p:sp>
        <p:nvSpPr>
          <p:cNvPr id="15" name="Text 10"/>
          <p:cNvSpPr txBox="1"/>
          <p:nvPr/>
        </p:nvSpPr>
        <p:spPr>
          <a:xfrm>
            <a:off x="7068312" y="2377440"/>
            <a:ext cx="4343400" cy="502920"/>
          </a:xfrm>
          <a:prstGeom prst="rect">
            <a:avLst/>
          </a:prstGeom>
          <a:noFill/>
          <a:ln/>
        </p:spPr>
        <p:txBody>
          <a:bodyPr wrap="square" lIns="0" tIns="0" rIns="0" bIns="0" rtlCol="0" anchor="ctr"/>
          <a:lstStyle/>
          <a:p>
            <a:pPr indent="0" marL="0">
              <a:buNone/>
            </a:pPr>
            <a:r>
              <a:rPr lang="en-US" sz="1550" b="1" dirty="0">
                <a:solidFill>
                  <a:srgbClr val="2C3E50"/>
                </a:solidFill>
                <a:latin typeface="Cambria" pitchFamily="34" charset="0"/>
                <a:ea typeface="Cambria" pitchFamily="34" charset="-122"/>
                <a:cs typeface="Cambria" pitchFamily="34" charset="-120"/>
              </a:rPr>
              <a:t>Hoja recta — Miller</a:t>
            </a:r>
            <a:endParaRPr lang="en-US" sz="1550" dirty="0"/>
          </a:p>
        </p:txBody>
      </p:sp>
      <p:sp>
        <p:nvSpPr>
          <p:cNvPr id="16" name="Text 11"/>
          <p:cNvSpPr txBox="1"/>
          <p:nvPr/>
        </p:nvSpPr>
        <p:spPr>
          <a:xfrm>
            <a:off x="6473952" y="3063240"/>
            <a:ext cx="4892040" cy="2834640"/>
          </a:xfrm>
          <a:prstGeom prst="rect">
            <a:avLst/>
          </a:prstGeom>
          <a:noFill/>
          <a:ln/>
        </p:spPr>
        <p:txBody>
          <a:bodyPr wrap="square" lIns="0" tIns="0" rIns="0" bIns="0" rtlCol="0" anchor="t"/>
          <a:lstStyle/>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Diseñada por Robert Miller (1941); de elección frecuente en lactantes y niños pequeños.</a:t>
            </a:r>
            <a:endParaRPr lang="en-US" sz="1250" dirty="0"/>
          </a:p>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La punta se avanza por debajo de la epiglotis, levantándola directamente para exponer la glotis.</a:t>
            </a:r>
            <a:endParaRPr lang="en-US" sz="1250" dirty="0"/>
          </a:p>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Tamaños habituales: n.º 0-1 (neonatal/lactante) hasta n.º 3-4 (adulto).</a:t>
            </a:r>
            <a:endParaRPr lang="en-US" sz="1250" dirty="0"/>
          </a:p>
          <a:p>
            <a:pPr marL="152400" indent="-152400">
              <a:lnSpc>
                <a:spcPts val="1600"/>
              </a:lnSpc>
              <a:spcAft>
                <a:spcPts val="1000"/>
              </a:spcAft>
              <a:buSzPct val="100000"/>
              <a:buChar char="•"/>
            </a:pPr>
            <a:r>
              <a:rPr lang="en-US" sz="1250" dirty="0">
                <a:solidFill>
                  <a:srgbClr val="2C3E50"/>
                </a:solidFill>
                <a:latin typeface="Calibri" pitchFamily="34" charset="0"/>
                <a:ea typeface="Calibri" pitchFamily="34" charset="-122"/>
                <a:cs typeface="Calibri" pitchFamily="34" charset="-120"/>
              </a:rPr>
              <a:t>Útil cuando la epiglotis es larga y flexible, como ocurre característicamente en la vía aérea pediátrica.</a:t>
            </a:r>
            <a:endParaRPr lang="en-US" sz="1250" dirty="0"/>
          </a:p>
        </p:txBody>
      </p:sp>
      <p:sp>
        <p:nvSpPr>
          <p:cNvPr id="18" name="Text 12"/>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9" name="Text 13"/>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10 / 31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MATERIAL Y EQUIPO</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Tubos endotraqueales</a:t>
            </a:r>
            <a:endParaRPr lang="en-US" sz="2500" dirty="0"/>
          </a:p>
        </p:txBody>
      </p:sp>
      <p:sp>
        <p:nvSpPr>
          <p:cNvPr id="6" name="Text 3"/>
          <p:cNvSpPr txBox="1"/>
          <p:nvPr/>
        </p:nvSpPr>
        <p:spPr>
          <a:xfrm>
            <a:off x="502920" y="1463040"/>
            <a:ext cx="11201400" cy="384048"/>
          </a:xfrm>
          <a:prstGeom prst="rect">
            <a:avLst/>
          </a:prstGeom>
          <a:noFill/>
          <a:ln/>
        </p:spPr>
        <p:txBody>
          <a:bodyPr wrap="square" lIns="0" tIns="0" rIns="0" bIns="0" rtlCol="0" anchor="ctr"/>
          <a:lstStyle/>
          <a:p>
            <a:pPr indent="0" marL="0">
              <a:lnSpc>
                <a:spcPts val="1600"/>
              </a:lnSpc>
              <a:buNone/>
            </a:pPr>
            <a:r>
              <a:rPr lang="en-US" sz="1300" dirty="0">
                <a:solidFill>
                  <a:srgbClr val="2C3E50"/>
                </a:solidFill>
                <a:latin typeface="Calibri" pitchFamily="34" charset="0"/>
                <a:ea typeface="Calibri" pitchFamily="34" charset="-122"/>
                <a:cs typeface="Calibri" pitchFamily="34" charset="-120"/>
              </a:rPr>
              <a:t>El tubo endotraqueal (TET) estándar es de cloruro de polivinilo (PVC) transparente, con marcas de profundidad en centímetros, línea radiopaca y conector universal de 15 mm.</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938528"/>
          <a:ext cx="11201400" cy="2011680"/>
        </p:xfrm>
        <a:graphic>
          <a:graphicData uri="http://schemas.openxmlformats.org/drawingml/2006/table">
            <a:tbl>
              <a:tblPr/>
              <a:tblGrid>
                <a:gridCol w="2468880"/>
                <a:gridCol w="2788920"/>
                <a:gridCol w="2377440"/>
                <a:gridCol w="3566160"/>
              </a:tblGrid>
              <a:tr h="3352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Paciente</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2C3E5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Diámetro interno (mm)</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2C3E5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Profundidad (cm)</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2C3E5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Balón (cuff)</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2C3E50"/>
                    </a:solidFill>
                  </a:tcPr>
                </a:tc>
              </a:tr>
              <a:tr h="335280">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Neonato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2.5 – 3.5</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8 – 10</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Habitualmente sin balón</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335280">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Lactante (1-12 m)</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3.5 – 4.0</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10 – 12</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Sin balón / baja presión</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335280">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Niño (edad/4 + 4)</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4.5 – 6.0</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Edad/2 + 12</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Según criterio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335280">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Mujer adulta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6.5 – 7.5</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21 – 23</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Alto volumen / baja presión</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335280">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Hombre adulto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7.5 – 8.5</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23 – 25</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Alto volumen / baja presión</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bl>
          </a:graphicData>
        </a:graphic>
      </p:graphicFrame>
      <p:sp>
        <p:nvSpPr>
          <p:cNvPr id="8" name="Shape 4"/>
          <p:cNvSpPr/>
          <p:nvPr/>
        </p:nvSpPr>
        <p:spPr>
          <a:xfrm>
            <a:off x="502920" y="4279392"/>
            <a:ext cx="5440680" cy="932688"/>
          </a:xfrm>
          <a:prstGeom prst="roundRect">
            <a:avLst>
              <a:gd name="adj" fmla="val 6863"/>
            </a:avLst>
          </a:prstGeom>
          <a:solidFill>
            <a:srgbClr val="EDF1F3"/>
          </a:solidFill>
          <a:ln/>
          <a:effectLst>
            <a:outerShdw sx="100000" sy="100000" kx="0" ky="0" algn="bl" rotWithShape="0" blurRad="50800" dist="25400" dir="5400000">
              <a:srgbClr val="1A2530">
                <a:alpha val="12000"/>
              </a:srgbClr>
            </a:outerShdw>
          </a:effectLst>
        </p:spPr>
      </p:sp>
      <p:sp>
        <p:nvSpPr>
          <p:cNvPr id="9" name="Text 5"/>
          <p:cNvSpPr txBox="1"/>
          <p:nvPr/>
        </p:nvSpPr>
        <p:spPr>
          <a:xfrm>
            <a:off x="704088" y="4370832"/>
            <a:ext cx="5038344" cy="256032"/>
          </a:xfrm>
          <a:prstGeom prst="rect">
            <a:avLst/>
          </a:prstGeom>
          <a:noFill/>
          <a:ln/>
        </p:spPr>
        <p:txBody>
          <a:bodyPr wrap="square" lIns="0" tIns="0" rIns="0" bIns="0" rtlCol="0" anchor="ctr"/>
          <a:lstStyle/>
          <a:p>
            <a:pPr indent="0" marL="0">
              <a:buNone/>
            </a:pPr>
            <a:r>
              <a:rPr lang="en-US" sz="1250" b="1" dirty="0">
                <a:solidFill>
                  <a:srgbClr val="2C3E50"/>
                </a:solidFill>
                <a:latin typeface="Cambria" pitchFamily="34" charset="0"/>
                <a:ea typeface="Cambria" pitchFamily="34" charset="-122"/>
                <a:cs typeface="Cambria" pitchFamily="34" charset="-120"/>
              </a:rPr>
              <a:t>Balón (cuff)</a:t>
            </a:r>
            <a:endParaRPr lang="en-US" sz="1250" dirty="0"/>
          </a:p>
        </p:txBody>
      </p:sp>
      <p:sp>
        <p:nvSpPr>
          <p:cNvPr id="10" name="Text 6"/>
          <p:cNvSpPr txBox="1"/>
          <p:nvPr/>
        </p:nvSpPr>
        <p:spPr>
          <a:xfrm>
            <a:off x="704088" y="4645152"/>
            <a:ext cx="5038344" cy="475488"/>
          </a:xfrm>
          <a:prstGeom prst="rect">
            <a:avLst/>
          </a:prstGeom>
          <a:noFill/>
          <a:ln/>
        </p:spPr>
        <p:txBody>
          <a:bodyPr wrap="square" lIns="0" tIns="0" rIns="0" bIns="0" rtlCol="0" anchor="t"/>
          <a:lstStyle/>
          <a:p>
            <a:pPr indent="0" marL="0">
              <a:lnSpc>
                <a:spcPts val="1250"/>
              </a:lnSpc>
              <a:buNone/>
            </a:pPr>
            <a:r>
              <a:rPr lang="en-US" sz="1000" dirty="0">
                <a:solidFill>
                  <a:srgbClr val="2C3E50"/>
                </a:solidFill>
                <a:latin typeface="Calibri" pitchFamily="34" charset="0"/>
                <a:ea typeface="Calibri" pitchFamily="34" charset="-122"/>
                <a:cs typeface="Calibri" pitchFamily="34" charset="-120"/>
              </a:rPr>
              <a:t>Sella la tráquea y minimiza la fuga aérea; la presión debe mantenerse entre 20-30 cmH₂O para evitar isquemia de la mucosa.</a:t>
            </a:r>
            <a:endParaRPr lang="en-US" sz="1000" dirty="0"/>
          </a:p>
        </p:txBody>
      </p:sp>
      <p:sp>
        <p:nvSpPr>
          <p:cNvPr id="11" name="Shape 7"/>
          <p:cNvSpPr/>
          <p:nvPr/>
        </p:nvSpPr>
        <p:spPr>
          <a:xfrm>
            <a:off x="6263640" y="4279392"/>
            <a:ext cx="5440680" cy="932688"/>
          </a:xfrm>
          <a:prstGeom prst="roundRect">
            <a:avLst>
              <a:gd name="adj" fmla="val 6863"/>
            </a:avLst>
          </a:prstGeom>
          <a:solidFill>
            <a:srgbClr val="EDF1F3"/>
          </a:solidFill>
          <a:ln/>
          <a:effectLst>
            <a:outerShdw sx="100000" sy="100000" kx="0" ky="0" algn="bl" rotWithShape="0" blurRad="50800" dist="25400" dir="5400000">
              <a:srgbClr val="1A2530">
                <a:alpha val="12000"/>
              </a:srgbClr>
            </a:outerShdw>
          </a:effectLst>
        </p:spPr>
      </p:sp>
      <p:sp>
        <p:nvSpPr>
          <p:cNvPr id="12" name="Text 8"/>
          <p:cNvSpPr txBox="1"/>
          <p:nvPr/>
        </p:nvSpPr>
        <p:spPr>
          <a:xfrm>
            <a:off x="6464808" y="4370832"/>
            <a:ext cx="5038344" cy="256032"/>
          </a:xfrm>
          <a:prstGeom prst="rect">
            <a:avLst/>
          </a:prstGeom>
          <a:noFill/>
          <a:ln/>
        </p:spPr>
        <p:txBody>
          <a:bodyPr wrap="square" lIns="0" tIns="0" rIns="0" bIns="0" rtlCol="0" anchor="ctr"/>
          <a:lstStyle/>
          <a:p>
            <a:pPr indent="0" marL="0">
              <a:buNone/>
            </a:pPr>
            <a:r>
              <a:rPr lang="en-US" sz="1250" b="1" dirty="0">
                <a:solidFill>
                  <a:srgbClr val="2C3E50"/>
                </a:solidFill>
                <a:latin typeface="Cambria" pitchFamily="34" charset="0"/>
                <a:ea typeface="Cambria" pitchFamily="34" charset="-122"/>
                <a:cs typeface="Cambria" pitchFamily="34" charset="-120"/>
              </a:rPr>
              <a:t>Línea radiopaca</a:t>
            </a:r>
            <a:endParaRPr lang="en-US" sz="1250" dirty="0"/>
          </a:p>
        </p:txBody>
      </p:sp>
      <p:sp>
        <p:nvSpPr>
          <p:cNvPr id="13" name="Text 9"/>
          <p:cNvSpPr txBox="1"/>
          <p:nvPr/>
        </p:nvSpPr>
        <p:spPr>
          <a:xfrm>
            <a:off x="6464808" y="4645152"/>
            <a:ext cx="5038344" cy="475488"/>
          </a:xfrm>
          <a:prstGeom prst="rect">
            <a:avLst/>
          </a:prstGeom>
          <a:noFill/>
          <a:ln/>
        </p:spPr>
        <p:txBody>
          <a:bodyPr wrap="square" lIns="0" tIns="0" rIns="0" bIns="0" rtlCol="0" anchor="t"/>
          <a:lstStyle/>
          <a:p>
            <a:pPr indent="0" marL="0">
              <a:lnSpc>
                <a:spcPts val="1250"/>
              </a:lnSpc>
              <a:buNone/>
            </a:pPr>
            <a:r>
              <a:rPr lang="en-US" sz="1000" dirty="0">
                <a:solidFill>
                  <a:srgbClr val="2C3E50"/>
                </a:solidFill>
                <a:latin typeface="Calibri" pitchFamily="34" charset="0"/>
                <a:ea typeface="Calibri" pitchFamily="34" charset="-122"/>
                <a:cs typeface="Calibri" pitchFamily="34" charset="-120"/>
              </a:rPr>
              <a:t>Permite verificar la posición del tubo en la radiografía de tórax en pacientes de cuidados críticos.</a:t>
            </a:r>
            <a:endParaRPr lang="en-US" sz="1000" dirty="0"/>
          </a:p>
        </p:txBody>
      </p:sp>
      <p:sp>
        <p:nvSpPr>
          <p:cNvPr id="14" name="Shape 10"/>
          <p:cNvSpPr/>
          <p:nvPr/>
        </p:nvSpPr>
        <p:spPr>
          <a:xfrm>
            <a:off x="502920" y="5358384"/>
            <a:ext cx="5440680" cy="932688"/>
          </a:xfrm>
          <a:prstGeom prst="roundRect">
            <a:avLst>
              <a:gd name="adj" fmla="val 6863"/>
            </a:avLst>
          </a:prstGeom>
          <a:solidFill>
            <a:srgbClr val="EDF1F3"/>
          </a:solidFill>
          <a:ln/>
          <a:effectLst>
            <a:outerShdw sx="100000" sy="100000" kx="0" ky="0" algn="bl" rotWithShape="0" blurRad="50800" dist="25400" dir="5400000">
              <a:srgbClr val="1A2530">
                <a:alpha val="12000"/>
              </a:srgbClr>
            </a:outerShdw>
          </a:effectLst>
        </p:spPr>
      </p:sp>
      <p:sp>
        <p:nvSpPr>
          <p:cNvPr id="15" name="Text 11"/>
          <p:cNvSpPr txBox="1"/>
          <p:nvPr/>
        </p:nvSpPr>
        <p:spPr>
          <a:xfrm>
            <a:off x="704088" y="5449824"/>
            <a:ext cx="5038344" cy="256032"/>
          </a:xfrm>
          <a:prstGeom prst="rect">
            <a:avLst/>
          </a:prstGeom>
          <a:noFill/>
          <a:ln/>
        </p:spPr>
        <p:txBody>
          <a:bodyPr wrap="square" lIns="0" tIns="0" rIns="0" bIns="0" rtlCol="0" anchor="ctr"/>
          <a:lstStyle/>
          <a:p>
            <a:pPr indent="0" marL="0">
              <a:buNone/>
            </a:pPr>
            <a:r>
              <a:rPr lang="en-US" sz="1250" b="1" dirty="0">
                <a:solidFill>
                  <a:srgbClr val="2C3E50"/>
                </a:solidFill>
                <a:latin typeface="Cambria" pitchFamily="34" charset="0"/>
                <a:ea typeface="Cambria" pitchFamily="34" charset="-122"/>
                <a:cs typeface="Cambria" pitchFamily="34" charset="-120"/>
              </a:rPr>
              <a:t>Marcas de profundidad</a:t>
            </a:r>
            <a:endParaRPr lang="en-US" sz="1250" dirty="0"/>
          </a:p>
        </p:txBody>
      </p:sp>
      <p:sp>
        <p:nvSpPr>
          <p:cNvPr id="16" name="Text 12"/>
          <p:cNvSpPr txBox="1"/>
          <p:nvPr/>
        </p:nvSpPr>
        <p:spPr>
          <a:xfrm>
            <a:off x="704088" y="5724144"/>
            <a:ext cx="5038344" cy="475488"/>
          </a:xfrm>
          <a:prstGeom prst="rect">
            <a:avLst/>
          </a:prstGeom>
          <a:noFill/>
          <a:ln/>
        </p:spPr>
        <p:txBody>
          <a:bodyPr wrap="square" lIns="0" tIns="0" rIns="0" bIns="0" rtlCol="0" anchor="t"/>
          <a:lstStyle/>
          <a:p>
            <a:pPr indent="0" marL="0">
              <a:lnSpc>
                <a:spcPts val="1250"/>
              </a:lnSpc>
              <a:buNone/>
            </a:pPr>
            <a:r>
              <a:rPr lang="en-US" sz="1000" dirty="0">
                <a:solidFill>
                  <a:srgbClr val="2C3E50"/>
                </a:solidFill>
                <a:latin typeface="Calibri" pitchFamily="34" charset="0"/>
                <a:ea typeface="Calibri" pitchFamily="34" charset="-122"/>
                <a:cs typeface="Calibri" pitchFamily="34" charset="-120"/>
              </a:rPr>
              <a:t>Referencia en centímetros desde la punta distal, útil para fijar el tubo a la altura correcta en la arcada dentaria.</a:t>
            </a:r>
            <a:endParaRPr lang="en-US" sz="1000" dirty="0"/>
          </a:p>
        </p:txBody>
      </p:sp>
      <p:sp>
        <p:nvSpPr>
          <p:cNvPr id="17" name="Shape 13"/>
          <p:cNvSpPr/>
          <p:nvPr/>
        </p:nvSpPr>
        <p:spPr>
          <a:xfrm>
            <a:off x="6263640" y="5358384"/>
            <a:ext cx="5440680" cy="932688"/>
          </a:xfrm>
          <a:prstGeom prst="roundRect">
            <a:avLst>
              <a:gd name="adj" fmla="val 6863"/>
            </a:avLst>
          </a:prstGeom>
          <a:solidFill>
            <a:srgbClr val="EDF1F3"/>
          </a:solidFill>
          <a:ln/>
          <a:effectLst>
            <a:outerShdw sx="100000" sy="100000" kx="0" ky="0" algn="bl" rotWithShape="0" blurRad="50800" dist="25400" dir="5400000">
              <a:srgbClr val="1A2530">
                <a:alpha val="12000"/>
              </a:srgbClr>
            </a:outerShdw>
          </a:effectLst>
        </p:spPr>
      </p:sp>
      <p:sp>
        <p:nvSpPr>
          <p:cNvPr id="18" name="Text 14"/>
          <p:cNvSpPr txBox="1"/>
          <p:nvPr/>
        </p:nvSpPr>
        <p:spPr>
          <a:xfrm>
            <a:off x="6464808" y="5449824"/>
            <a:ext cx="5038344" cy="256032"/>
          </a:xfrm>
          <a:prstGeom prst="rect">
            <a:avLst/>
          </a:prstGeom>
          <a:noFill/>
          <a:ln/>
        </p:spPr>
        <p:txBody>
          <a:bodyPr wrap="square" lIns="0" tIns="0" rIns="0" bIns="0" rtlCol="0" anchor="ctr"/>
          <a:lstStyle/>
          <a:p>
            <a:pPr indent="0" marL="0">
              <a:buNone/>
            </a:pPr>
            <a:r>
              <a:rPr lang="en-US" sz="1250" b="1" dirty="0">
                <a:solidFill>
                  <a:srgbClr val="2C3E50"/>
                </a:solidFill>
                <a:latin typeface="Cambria" pitchFamily="34" charset="0"/>
                <a:ea typeface="Cambria" pitchFamily="34" charset="-122"/>
                <a:cs typeface="Cambria" pitchFamily="34" charset="-120"/>
              </a:rPr>
              <a:t>Tubos especiales</a:t>
            </a:r>
            <a:endParaRPr lang="en-US" sz="1250" dirty="0"/>
          </a:p>
        </p:txBody>
      </p:sp>
      <p:sp>
        <p:nvSpPr>
          <p:cNvPr id="19" name="Text 15"/>
          <p:cNvSpPr txBox="1"/>
          <p:nvPr/>
        </p:nvSpPr>
        <p:spPr>
          <a:xfrm>
            <a:off x="6464808" y="5724144"/>
            <a:ext cx="5038344" cy="475488"/>
          </a:xfrm>
          <a:prstGeom prst="rect">
            <a:avLst/>
          </a:prstGeom>
          <a:noFill/>
          <a:ln/>
        </p:spPr>
        <p:txBody>
          <a:bodyPr wrap="square" lIns="0" tIns="0" rIns="0" bIns="0" rtlCol="0" anchor="t"/>
          <a:lstStyle/>
          <a:p>
            <a:pPr indent="0" marL="0">
              <a:lnSpc>
                <a:spcPts val="1250"/>
              </a:lnSpc>
              <a:buNone/>
            </a:pPr>
            <a:r>
              <a:rPr lang="en-US" sz="1000" dirty="0">
                <a:solidFill>
                  <a:srgbClr val="2C3E50"/>
                </a:solidFill>
                <a:latin typeface="Calibri" pitchFamily="34" charset="0"/>
                <a:ea typeface="Calibri" pitchFamily="34" charset="-122"/>
                <a:cs typeface="Calibri" pitchFamily="34" charset="-120"/>
              </a:rPr>
              <a:t>Reforzados (anillados), RAE (preformados), de doble luz (cirugía torácica) y con lumen para aspiración subglótica.</a:t>
            </a:r>
            <a:endParaRPr lang="en-US" sz="1000" dirty="0"/>
          </a:p>
        </p:txBody>
      </p:sp>
      <p:sp>
        <p:nvSpPr>
          <p:cNvPr id="21" name="Text 16"/>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2" name="Text 17"/>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11 / 31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MATERIAL Y EQUIPO</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Dispositivos supraglóticos y accesorios</a:t>
            </a:r>
            <a:endParaRPr lang="en-US" sz="2500" dirty="0"/>
          </a:p>
        </p:txBody>
      </p:sp>
      <p:sp>
        <p:nvSpPr>
          <p:cNvPr id="6" name="Shape 3"/>
          <p:cNvSpPr/>
          <p:nvPr/>
        </p:nvSpPr>
        <p:spPr>
          <a:xfrm>
            <a:off x="502920"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Máscara laríngea (ML)</a:t>
            </a:r>
            <a:endParaRPr lang="en-US" sz="1400" dirty="0"/>
          </a:p>
        </p:txBody>
      </p:sp>
      <p:sp>
        <p:nvSpPr>
          <p:cNvPr id="10" name="Text 6"/>
          <p:cNvSpPr txBox="1"/>
          <p:nvPr/>
        </p:nvSpPr>
        <p:spPr>
          <a:xfrm>
            <a:off x="1289304"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Dispositivo supraglótico de primera línea en vía aérea electiva y de rescate; no protege completamente contra la aspiración.</a:t>
            </a:r>
            <a:endParaRPr lang="en-US" sz="1200" dirty="0"/>
          </a:p>
        </p:txBody>
      </p:sp>
      <p:sp>
        <p:nvSpPr>
          <p:cNvPr id="11" name="Shape 7"/>
          <p:cNvSpPr/>
          <p:nvPr/>
        </p:nvSpPr>
        <p:spPr>
          <a:xfrm>
            <a:off x="4233672"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4416552"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4544568" y="1819656"/>
            <a:ext cx="201168" cy="201168"/>
          </a:xfrm>
          <a:prstGeom prst="rect">
            <a:avLst/>
          </a:prstGeom>
        </p:spPr>
      </p:pic>
      <p:sp>
        <p:nvSpPr>
          <p:cNvPr id="14" name="Text 9"/>
          <p:cNvSpPr txBox="1"/>
          <p:nvPr/>
        </p:nvSpPr>
        <p:spPr>
          <a:xfrm>
            <a:off x="5020056"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Vía aérea de intubación (ML Fastrach)</a:t>
            </a:r>
            <a:endParaRPr lang="en-US" sz="1400" dirty="0"/>
          </a:p>
        </p:txBody>
      </p:sp>
      <p:sp>
        <p:nvSpPr>
          <p:cNvPr id="15" name="Text 10"/>
          <p:cNvSpPr txBox="1"/>
          <p:nvPr/>
        </p:nvSpPr>
        <p:spPr>
          <a:xfrm>
            <a:off x="5020056" y="2386584"/>
            <a:ext cx="2624328" cy="95097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Permite la intubación traqueal a ciegas o guiada a través de su lumen en vía aérea difícil.</a:t>
            </a:r>
            <a:endParaRPr lang="en-US" sz="1200" dirty="0"/>
          </a:p>
        </p:txBody>
      </p:sp>
      <p:sp>
        <p:nvSpPr>
          <p:cNvPr id="16" name="Shape 11"/>
          <p:cNvSpPr/>
          <p:nvPr/>
        </p:nvSpPr>
        <p:spPr>
          <a:xfrm>
            <a:off x="7964424"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8147304"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8275320" y="1819656"/>
            <a:ext cx="201168" cy="201168"/>
          </a:xfrm>
          <a:prstGeom prst="rect">
            <a:avLst/>
          </a:prstGeom>
        </p:spPr>
      </p:pic>
      <p:sp>
        <p:nvSpPr>
          <p:cNvPr id="19" name="Text 13"/>
          <p:cNvSpPr txBox="1"/>
          <p:nvPr/>
        </p:nvSpPr>
        <p:spPr>
          <a:xfrm>
            <a:off x="8750808"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Estiletes maleables</a:t>
            </a:r>
            <a:endParaRPr lang="en-US" sz="1400" dirty="0"/>
          </a:p>
        </p:txBody>
      </p:sp>
      <p:sp>
        <p:nvSpPr>
          <p:cNvPr id="20" name="Text 14"/>
          <p:cNvSpPr txBox="1"/>
          <p:nvPr/>
        </p:nvSpPr>
        <p:spPr>
          <a:xfrm>
            <a:off x="8750808"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Alambre revestido que se introduce en el tubo para moldear una curvatura (forma de "palo de hockey") y facilitar la dirección.</a:t>
            </a:r>
            <a:endParaRPr lang="en-US" sz="1200" dirty="0"/>
          </a:p>
        </p:txBody>
      </p:sp>
      <p:sp>
        <p:nvSpPr>
          <p:cNvPr id="21" name="Shape 15"/>
          <p:cNvSpPr/>
          <p:nvPr/>
        </p:nvSpPr>
        <p:spPr>
          <a:xfrm>
            <a:off x="502920"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2" name="Shape 16"/>
          <p:cNvSpPr/>
          <p:nvPr/>
        </p:nvSpPr>
        <p:spPr>
          <a:xfrm>
            <a:off x="685800"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23" name="Image 4" descr="preencoded.png">    </p:cNvPr>
          <p:cNvPicPr>
            <a:picLocks noChangeAspect="1"/>
          </p:cNvPicPr>
          <p:nvPr/>
        </p:nvPicPr>
        <p:blipFill>
          <a:blip r:embed="rId5"/>
          <a:stretch>
            <a:fillRect/>
          </a:stretch>
        </p:blipFill>
        <p:spPr>
          <a:xfrm>
            <a:off x="813816" y="3968496"/>
            <a:ext cx="201168" cy="201168"/>
          </a:xfrm>
          <a:prstGeom prst="rect">
            <a:avLst/>
          </a:prstGeom>
        </p:spPr>
      </p:pic>
      <p:sp>
        <p:nvSpPr>
          <p:cNvPr id="24" name="Text 17"/>
          <p:cNvSpPr txBox="1"/>
          <p:nvPr/>
        </p:nvSpPr>
        <p:spPr>
          <a:xfrm>
            <a:off x="1289304"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Bougie (guía elástica)</a:t>
            </a:r>
            <a:endParaRPr lang="en-US" sz="1400" dirty="0"/>
          </a:p>
        </p:txBody>
      </p:sp>
      <p:sp>
        <p:nvSpPr>
          <p:cNvPr id="25" name="Text 18"/>
          <p:cNvSpPr txBox="1"/>
          <p:nvPr/>
        </p:nvSpPr>
        <p:spPr>
          <a:xfrm>
            <a:off x="1289304"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Guía semirrígida con punta angulada; se introduce a ciegas bajo la epiglotis percibiendo los "clics" traqueales.</a:t>
            </a:r>
            <a:endParaRPr lang="en-US" sz="1200" dirty="0"/>
          </a:p>
        </p:txBody>
      </p:sp>
      <p:sp>
        <p:nvSpPr>
          <p:cNvPr id="26" name="Shape 19"/>
          <p:cNvSpPr/>
          <p:nvPr/>
        </p:nvSpPr>
        <p:spPr>
          <a:xfrm>
            <a:off x="4233672"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7" name="Shape 20"/>
          <p:cNvSpPr/>
          <p:nvPr/>
        </p:nvSpPr>
        <p:spPr>
          <a:xfrm>
            <a:off x="4416552"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28" name="Image 5" descr="preencoded.png">    </p:cNvPr>
          <p:cNvPicPr>
            <a:picLocks noChangeAspect="1"/>
          </p:cNvPicPr>
          <p:nvPr/>
        </p:nvPicPr>
        <p:blipFill>
          <a:blip r:embed="rId6"/>
          <a:stretch>
            <a:fillRect/>
          </a:stretch>
        </p:blipFill>
        <p:spPr>
          <a:xfrm>
            <a:off x="4544568" y="3968496"/>
            <a:ext cx="201168" cy="201168"/>
          </a:xfrm>
          <a:prstGeom prst="rect">
            <a:avLst/>
          </a:prstGeom>
        </p:spPr>
      </p:pic>
      <p:sp>
        <p:nvSpPr>
          <p:cNvPr id="29" name="Text 21"/>
          <p:cNvSpPr txBox="1"/>
          <p:nvPr/>
        </p:nvSpPr>
        <p:spPr>
          <a:xfrm>
            <a:off x="5020056"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Pinzas de Magill</a:t>
            </a:r>
            <a:endParaRPr lang="en-US" sz="1400" dirty="0"/>
          </a:p>
        </p:txBody>
      </p:sp>
      <p:sp>
        <p:nvSpPr>
          <p:cNvPr id="30" name="Text 22"/>
          <p:cNvSpPr txBox="1"/>
          <p:nvPr/>
        </p:nvSpPr>
        <p:spPr>
          <a:xfrm>
            <a:off x="5020056"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Pinzas anguladas que permiten dirigir el tubo hacia la glotis en la intubación nasotraqueal o retirar cuerpos extraños.</a:t>
            </a:r>
            <a:endParaRPr lang="en-US" sz="1200" dirty="0"/>
          </a:p>
        </p:txBody>
      </p:sp>
      <p:sp>
        <p:nvSpPr>
          <p:cNvPr id="31" name="Shape 23"/>
          <p:cNvSpPr/>
          <p:nvPr/>
        </p:nvSpPr>
        <p:spPr>
          <a:xfrm>
            <a:off x="7964424"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32" name="Shape 24"/>
          <p:cNvSpPr/>
          <p:nvPr/>
        </p:nvSpPr>
        <p:spPr>
          <a:xfrm>
            <a:off x="8147304"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3" name="Image 6" descr="preencoded.png">    </p:cNvPr>
          <p:cNvPicPr>
            <a:picLocks noChangeAspect="1"/>
          </p:cNvPicPr>
          <p:nvPr/>
        </p:nvPicPr>
        <p:blipFill>
          <a:blip r:embed="rId7"/>
          <a:stretch>
            <a:fillRect/>
          </a:stretch>
        </p:blipFill>
        <p:spPr>
          <a:xfrm>
            <a:off x="8275320" y="3968496"/>
            <a:ext cx="201168" cy="201168"/>
          </a:xfrm>
          <a:prstGeom prst="rect">
            <a:avLst/>
          </a:prstGeom>
        </p:spPr>
      </p:pic>
      <p:sp>
        <p:nvSpPr>
          <p:cNvPr id="34" name="Text 25"/>
          <p:cNvSpPr txBox="1"/>
          <p:nvPr/>
        </p:nvSpPr>
        <p:spPr>
          <a:xfrm>
            <a:off x="8750808"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Jeringa e insuflador del balón</a:t>
            </a:r>
            <a:endParaRPr lang="en-US" sz="1400" dirty="0"/>
          </a:p>
        </p:txBody>
      </p:sp>
      <p:sp>
        <p:nvSpPr>
          <p:cNvPr id="35" name="Text 26"/>
          <p:cNvSpPr txBox="1"/>
          <p:nvPr/>
        </p:nvSpPr>
        <p:spPr>
          <a:xfrm>
            <a:off x="8750808" y="4535424"/>
            <a:ext cx="2624328" cy="95097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Jeringa de 10 mL para insuflar el balón; el manómetro de presión asegura un sellado seguro sin sobrepresión.</a:t>
            </a:r>
            <a:endParaRPr lang="en-US" sz="1200" dirty="0"/>
          </a:p>
        </p:txBody>
      </p:sp>
      <p:sp>
        <p:nvSpPr>
          <p:cNvPr id="37" name="Text 27"/>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8" name="Text 28"/>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12 / 31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MATERIAL Y EQUIPO</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Succión, capnografía y confirmación</a:t>
            </a:r>
            <a:endParaRPr lang="en-US" sz="2500" dirty="0"/>
          </a:p>
        </p:txBody>
      </p:sp>
      <p:sp>
        <p:nvSpPr>
          <p:cNvPr id="6" name="Shape 3"/>
          <p:cNvSpPr/>
          <p:nvPr/>
        </p:nvSpPr>
        <p:spPr>
          <a:xfrm>
            <a:off x="502920" y="1508760"/>
            <a:ext cx="5394960" cy="2148840"/>
          </a:xfrm>
          <a:prstGeom prst="roundRect">
            <a:avLst>
              <a:gd name="adj" fmla="val 3404"/>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425696" cy="457200"/>
          </a:xfrm>
          <a:prstGeom prst="rect">
            <a:avLst/>
          </a:prstGeom>
          <a:noFill/>
          <a:ln/>
        </p:spPr>
        <p:txBody>
          <a:bodyPr wrap="square" lIns="0" tIns="0" rIns="0" bIns="0" rtlCol="0" anchor="t"/>
          <a:lstStyle/>
          <a:p>
            <a:pPr indent="0" marL="0">
              <a:buNone/>
            </a:pPr>
            <a:r>
              <a:rPr lang="en-US" sz="1500" b="1" dirty="0">
                <a:solidFill>
                  <a:srgbClr val="2C3E50"/>
                </a:solidFill>
                <a:latin typeface="Cambria" pitchFamily="34" charset="0"/>
                <a:ea typeface="Cambria" pitchFamily="34" charset="-122"/>
                <a:cs typeface="Cambria" pitchFamily="34" charset="-120"/>
              </a:rPr>
              <a:t>Equipo de succión</a:t>
            </a:r>
            <a:endParaRPr lang="en-US" sz="1500" dirty="0"/>
          </a:p>
        </p:txBody>
      </p:sp>
      <p:sp>
        <p:nvSpPr>
          <p:cNvPr id="10" name="Text 6"/>
          <p:cNvSpPr txBox="1"/>
          <p:nvPr/>
        </p:nvSpPr>
        <p:spPr>
          <a:xfrm>
            <a:off x="1289304" y="2112264"/>
            <a:ext cx="4425696" cy="1408176"/>
          </a:xfrm>
          <a:prstGeom prst="rect">
            <a:avLst/>
          </a:prstGeom>
          <a:noFill/>
          <a:ln/>
        </p:spPr>
        <p:txBody>
          <a:bodyPr wrap="square" lIns="0" tIns="0" rIns="0" bIns="0" rtlCol="0" anchor="t"/>
          <a:lstStyle/>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Aspirador de pared o portátil con presión regulable (habitualmente hasta -120 mmHg en adultos).</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Sondas rígidas (Yankauer) para la cavidad oral y sondas blandas para aspiración traqueal a través del tubo.</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Debe estar montado, probado y accesible antes de iniciar cualquier laringoscopia.</a:t>
            </a:r>
            <a:endParaRPr lang="en-US" sz="1200" dirty="0"/>
          </a:p>
        </p:txBody>
      </p:sp>
      <p:sp>
        <p:nvSpPr>
          <p:cNvPr id="11" name="Shape 7"/>
          <p:cNvSpPr/>
          <p:nvPr/>
        </p:nvSpPr>
        <p:spPr>
          <a:xfrm>
            <a:off x="502920" y="3794760"/>
            <a:ext cx="5394960" cy="2286000"/>
          </a:xfrm>
          <a:prstGeom prst="roundRect">
            <a:avLst>
              <a:gd name="adj" fmla="val 32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85800" y="3977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813816" y="4105656"/>
            <a:ext cx="201168" cy="201168"/>
          </a:xfrm>
          <a:prstGeom prst="rect">
            <a:avLst/>
          </a:prstGeom>
        </p:spPr>
      </p:pic>
      <p:sp>
        <p:nvSpPr>
          <p:cNvPr id="14" name="Text 9"/>
          <p:cNvSpPr txBox="1"/>
          <p:nvPr/>
        </p:nvSpPr>
        <p:spPr>
          <a:xfrm>
            <a:off x="1289304" y="3977640"/>
            <a:ext cx="4425696" cy="457200"/>
          </a:xfrm>
          <a:prstGeom prst="rect">
            <a:avLst/>
          </a:prstGeom>
          <a:noFill/>
          <a:ln/>
        </p:spPr>
        <p:txBody>
          <a:bodyPr wrap="square" lIns="0" tIns="0" rIns="0" bIns="0" rtlCol="0" anchor="t"/>
          <a:lstStyle/>
          <a:p>
            <a:pPr indent="0" marL="0">
              <a:buNone/>
            </a:pPr>
            <a:r>
              <a:rPr lang="en-US" sz="1500" b="1" dirty="0">
                <a:solidFill>
                  <a:srgbClr val="2C3E50"/>
                </a:solidFill>
                <a:latin typeface="Cambria" pitchFamily="34" charset="0"/>
                <a:ea typeface="Cambria" pitchFamily="34" charset="-122"/>
                <a:cs typeface="Cambria" pitchFamily="34" charset="-120"/>
              </a:rPr>
              <a:t>Confirmación clínica</a:t>
            </a:r>
            <a:endParaRPr lang="en-US" sz="1500" dirty="0"/>
          </a:p>
        </p:txBody>
      </p:sp>
      <p:sp>
        <p:nvSpPr>
          <p:cNvPr id="15" name="Text 10"/>
          <p:cNvSpPr txBox="1"/>
          <p:nvPr/>
        </p:nvSpPr>
        <p:spPr>
          <a:xfrm>
            <a:off x="1289304" y="4398264"/>
            <a:ext cx="4425696" cy="1545336"/>
          </a:xfrm>
          <a:prstGeom prst="rect">
            <a:avLst/>
          </a:prstGeom>
          <a:noFill/>
          <a:ln/>
        </p:spPr>
        <p:txBody>
          <a:bodyPr wrap="square" lIns="0" tIns="0" rIns="0" bIns="0" rtlCol="0" anchor="t"/>
          <a:lstStyle/>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Visualización directa del paso del tubo a través de las cuerdas vocales.</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Auscultación de ambos campos pulmonares y ausencia de ruido epigástrico.</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Empañamiento del tubo con cada espiración y expansión torácica simétrica.</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Ninguno de estos signos es, por sí solo, definitivo — deben interpretarse en conjunto.</a:t>
            </a:r>
            <a:endParaRPr lang="en-US" sz="1200" dirty="0"/>
          </a:p>
        </p:txBody>
      </p:sp>
      <p:sp>
        <p:nvSpPr>
          <p:cNvPr id="16" name="Shape 11"/>
          <p:cNvSpPr/>
          <p:nvPr/>
        </p:nvSpPr>
        <p:spPr>
          <a:xfrm>
            <a:off x="6172200" y="1508760"/>
            <a:ext cx="5440680" cy="1691640"/>
          </a:xfrm>
          <a:prstGeom prst="roundRect">
            <a:avLst>
              <a:gd name="adj" fmla="val 4324"/>
            </a:avLst>
          </a:prstGeom>
          <a:solidFill>
            <a:srgbClr val="2C3E50"/>
          </a:solidFill>
          <a:ln/>
        </p:spPr>
      </p:sp>
      <p:sp>
        <p:nvSpPr>
          <p:cNvPr id="17" name="Text 12"/>
          <p:cNvSpPr txBox="1"/>
          <p:nvPr/>
        </p:nvSpPr>
        <p:spPr>
          <a:xfrm>
            <a:off x="6172200" y="1600200"/>
            <a:ext cx="5440680" cy="778154"/>
          </a:xfrm>
          <a:prstGeom prst="rect">
            <a:avLst/>
          </a:prstGeom>
          <a:noFill/>
          <a:ln/>
        </p:spPr>
        <p:txBody>
          <a:bodyPr wrap="square" lIns="0" tIns="0" rIns="0" bIns="0" rtlCol="0" anchor="b"/>
          <a:lstStyle/>
          <a:p>
            <a:pPr algn="ctr" indent="0" marL="0">
              <a:buNone/>
            </a:pPr>
            <a:r>
              <a:rPr lang="en-US" sz="3400" b="1" dirty="0">
                <a:solidFill>
                  <a:srgbClr val="17A2B8"/>
                </a:solidFill>
                <a:latin typeface="Cambria" pitchFamily="34" charset="0"/>
                <a:ea typeface="Cambria" pitchFamily="34" charset="-122"/>
                <a:cs typeface="Cambria" pitchFamily="34" charset="-120"/>
              </a:rPr>
              <a:t>EtCO₂</a:t>
            </a:r>
            <a:endParaRPr lang="en-US" sz="3400" dirty="0"/>
          </a:p>
        </p:txBody>
      </p:sp>
      <p:sp>
        <p:nvSpPr>
          <p:cNvPr id="18" name="Text 13"/>
          <p:cNvSpPr txBox="1"/>
          <p:nvPr/>
        </p:nvSpPr>
        <p:spPr>
          <a:xfrm>
            <a:off x="6309360" y="2388413"/>
            <a:ext cx="5166360" cy="744322"/>
          </a:xfrm>
          <a:prstGeom prst="rect">
            <a:avLst/>
          </a:prstGeom>
          <a:noFill/>
          <a:ln/>
        </p:spPr>
        <p:txBody>
          <a:bodyPr wrap="square" lIns="0" tIns="0" rIns="0" bIns="0" rtlCol="0" anchor="t"/>
          <a:lstStyle/>
          <a:p>
            <a:pPr algn="ctr" indent="0" marL="0">
              <a:lnSpc>
                <a:spcPts val="1300"/>
              </a:lnSpc>
              <a:buNone/>
            </a:pPr>
            <a:r>
              <a:rPr lang="en-US" sz="1100" dirty="0">
                <a:solidFill>
                  <a:srgbClr val="FFFFFF"/>
                </a:solidFill>
                <a:latin typeface="Calibri" pitchFamily="34" charset="0"/>
                <a:ea typeface="Calibri" pitchFamily="34" charset="-122"/>
                <a:cs typeface="Calibri" pitchFamily="34" charset="-120"/>
              </a:rPr>
              <a:t>Estándar de oro para confirmar la posición traqueal del tubo: onda capnográfica sostenida durante al menos 6 respiraciones</a:t>
            </a:r>
            <a:endParaRPr lang="en-US" sz="1100" dirty="0"/>
          </a:p>
        </p:txBody>
      </p:sp>
      <p:sp>
        <p:nvSpPr>
          <p:cNvPr id="19" name="Shape 14"/>
          <p:cNvSpPr/>
          <p:nvPr/>
        </p:nvSpPr>
        <p:spPr>
          <a:xfrm>
            <a:off x="6172200" y="3383280"/>
            <a:ext cx="5440680" cy="2697480"/>
          </a:xfrm>
          <a:prstGeom prst="roundRect">
            <a:avLst>
              <a:gd name="adj" fmla="val 2712"/>
            </a:avLst>
          </a:prstGeom>
          <a:solidFill>
            <a:srgbClr val="EDF1F3"/>
          </a:solidFill>
          <a:ln/>
          <a:effectLst>
            <a:outerShdw sx="100000" sy="100000" kx="0" ky="0" algn="bl" rotWithShape="0" blurRad="63500" dist="25400" dir="5400000">
              <a:srgbClr val="1A2530">
                <a:alpha val="12000"/>
              </a:srgbClr>
            </a:outerShdw>
          </a:effectLst>
        </p:spPr>
      </p:sp>
      <p:sp>
        <p:nvSpPr>
          <p:cNvPr id="20" name="Shape 15"/>
          <p:cNvSpPr/>
          <p:nvPr/>
        </p:nvSpPr>
        <p:spPr>
          <a:xfrm>
            <a:off x="6355080" y="356616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21" name="Image 3" descr="preencoded.png">    </p:cNvPr>
          <p:cNvPicPr>
            <a:picLocks noChangeAspect="1"/>
          </p:cNvPicPr>
          <p:nvPr/>
        </p:nvPicPr>
        <p:blipFill>
          <a:blip r:embed="rId4"/>
          <a:stretch>
            <a:fillRect/>
          </a:stretch>
        </p:blipFill>
        <p:spPr>
          <a:xfrm>
            <a:off x="6483096" y="3694176"/>
            <a:ext cx="201168" cy="201168"/>
          </a:xfrm>
          <a:prstGeom prst="rect">
            <a:avLst/>
          </a:prstGeom>
        </p:spPr>
      </p:pic>
      <p:sp>
        <p:nvSpPr>
          <p:cNvPr id="22" name="Text 16"/>
          <p:cNvSpPr txBox="1"/>
          <p:nvPr/>
        </p:nvSpPr>
        <p:spPr>
          <a:xfrm>
            <a:off x="6958584" y="3566160"/>
            <a:ext cx="4471416" cy="457200"/>
          </a:xfrm>
          <a:prstGeom prst="rect">
            <a:avLst/>
          </a:prstGeom>
          <a:noFill/>
          <a:ln/>
        </p:spPr>
        <p:txBody>
          <a:bodyPr wrap="square" lIns="0" tIns="0" rIns="0" bIns="0" rtlCol="0" anchor="t"/>
          <a:lstStyle/>
          <a:p>
            <a:pPr indent="0" marL="0">
              <a:buNone/>
            </a:pPr>
            <a:r>
              <a:rPr lang="en-US" sz="1500" b="1" dirty="0">
                <a:solidFill>
                  <a:srgbClr val="2C3E50"/>
                </a:solidFill>
                <a:latin typeface="Cambria" pitchFamily="34" charset="0"/>
                <a:ea typeface="Cambria" pitchFamily="34" charset="-122"/>
                <a:cs typeface="Cambria" pitchFamily="34" charset="-120"/>
              </a:rPr>
              <a:t>Capnografía: puntos clave</a:t>
            </a:r>
            <a:endParaRPr lang="en-US" sz="1500" dirty="0"/>
          </a:p>
        </p:txBody>
      </p:sp>
      <p:sp>
        <p:nvSpPr>
          <p:cNvPr id="23" name="Text 17"/>
          <p:cNvSpPr txBox="1"/>
          <p:nvPr/>
        </p:nvSpPr>
        <p:spPr>
          <a:xfrm>
            <a:off x="6958584" y="3986784"/>
            <a:ext cx="4471416" cy="1956816"/>
          </a:xfrm>
          <a:prstGeom prst="rect">
            <a:avLst/>
          </a:prstGeom>
          <a:noFill/>
          <a:ln/>
        </p:spPr>
        <p:txBody>
          <a:bodyPr wrap="square" lIns="0" tIns="0" rIns="0" bIns="0" rtlCol="0" anchor="t"/>
          <a:lstStyle/>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Una onda ausente sugiere intubación esofágica hasta demostrar lo contrario.</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Una onda presente pero decreciente puede indicar bajo gasto cardíaco o hipoperfusión, no solo mal posicionamiento.</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Es un estándar obligatorio de monitorización durante toda anestesia general según las guías internacionales.</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Complementa —nunca sustituye— la evaluación clínica del paciente.</a:t>
            </a:r>
            <a:endParaRPr lang="en-US" sz="1200" dirty="0"/>
          </a:p>
        </p:txBody>
      </p:sp>
      <p:sp>
        <p:nvSpPr>
          <p:cNvPr id="25" name="Text 18"/>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6" name="Text 19"/>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13 / 31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EVALUACIÓN PREANESTÉSICA</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Predictores clínicos de vía aérea difícil</a:t>
            </a:r>
            <a:endParaRPr lang="en-US" sz="2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201400" cy="4160520"/>
        </p:xfrm>
        <a:graphic>
          <a:graphicData uri="http://schemas.openxmlformats.org/drawingml/2006/table">
            <a:tbl>
              <a:tblPr/>
              <a:tblGrid>
                <a:gridCol w="3108960"/>
                <a:gridCol w="4709160"/>
                <a:gridCol w="3383280"/>
              </a:tblGrid>
              <a:tr h="520065">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Predictor</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2C3E5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Evalúa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2C3E5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Hallazgo de alarma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2C3E50"/>
                    </a:solidFill>
                  </a:tcPr>
                </a:tc>
              </a:tr>
              <a:tr h="520065">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Mallampati modificado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Relación lengua/orofaringe (paciente sentado, boca abierta, sin fonar)</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Clase III-IV</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520065">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Distancia tiromentoniana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Espacio mandibular disponible para desplazar la lengua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&lt; 6-7 cm (≈ 3 traveses de dedo)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520065">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Apertura oral</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Espacio para introducir la hoja del laringoscopio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&lt; 3 cm (&lt; 3 traveses de dedo)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520065">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Movilidad cervical</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Capacidad de alinear los ejes oral, faríngeo y laríngeo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Extensión atlanto-occipital limitada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520065">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Clasificación de Cormack-Lehane</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Grado de visión glótica durante laringoscopia (intraoperatorio)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Grado III-IV</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520065">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Test de mordida (upper lip bite)</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Prognatismo mandibular y protrusión dentaria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Clase III (incisivos inferiores no alcanzan el labio superior)</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r h="520065">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Antecedente de intubación difícil</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Historia clínica previa documentada</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c>
                  <a:txBody>
                    <a:bodyPr/>
                    <a:lstStyle/>
                    <a:p>
                      <a:pPr indent="0" marL="0">
                        <a:buNone/>
                      </a:pPr>
                      <a:r>
                        <a:rPr lang="en-US" sz="1150" dirty="0">
                          <a:solidFill>
                            <a:srgbClr val="2C3E50"/>
                          </a:solidFill>
                          <a:latin typeface="Calibri" pitchFamily="34" charset="0"/>
                          <a:ea typeface="Calibri" pitchFamily="34" charset="-122"/>
                          <a:cs typeface="Calibri" pitchFamily="34" charset="-120"/>
                        </a:rPr>
                        <a:t>Cualquier reporte previo positivo</a:t>
                      </a:r>
                      <a:endParaRPr lang="en-US" sz="1150" dirty="0">
                        <a:latin typeface="Calibri" charset="0"/>
                        <a:ea typeface="Calibri" charset="0"/>
                        <a:cs typeface="Calibri" charset="0"/>
                      </a:endParaRPr>
                    </a:p>
                  </a:txBody>
                  <a:tcPr marL="91440" marR="91440" marT="45720" marB="45720" anchor="ctr">
                    <a:lnL w="9525" cap="flat" cmpd="sng" algn="ctr">
                      <a:solidFill>
                        <a:srgbClr val="CBD5DA"/>
                      </a:solidFill>
                      <a:prstDash val="solid"/>
                      <a:round/>
                      <a:headEnd type="none" w="med" len="med"/>
                      <a:tailEnd type="none" w="med" len="med"/>
                    </a:lnL>
                    <a:lnR w="9525" cap="flat" cmpd="sng" algn="ctr">
                      <a:solidFill>
                        <a:srgbClr val="CBD5DA"/>
                      </a:solidFill>
                      <a:prstDash val="solid"/>
                      <a:round/>
                      <a:headEnd type="none" w="med" len="med"/>
                      <a:tailEnd type="none" w="med" len="med"/>
                    </a:lnR>
                    <a:lnT w="9525" cap="flat" cmpd="sng" algn="ctr">
                      <a:solidFill>
                        <a:srgbClr val="CBD5DA"/>
                      </a:solidFill>
                      <a:prstDash val="solid"/>
                      <a:round/>
                      <a:headEnd type="none" w="med" len="med"/>
                      <a:tailEnd type="none" w="med" len="med"/>
                    </a:lnT>
                    <a:lnB w="9525" cap="flat" cmpd="sng" algn="ctr">
                      <a:solidFill>
                        <a:srgbClr val="CBD5DA"/>
                      </a:solidFill>
                      <a:prstDash val="solid"/>
                      <a:round/>
                      <a:headEnd type="none" w="med" len="med"/>
                      <a:tailEnd type="none" w="med" len="med"/>
                    </a:lnB>
                    <a:solidFill>
                      <a:srgbClr val="F4F6F7"/>
                    </a:solidFill>
                  </a:tcPr>
                </a:tc>
              </a:tr>
            </a:tbl>
          </a:graphicData>
        </a:graphic>
      </p:graphicFrame>
      <p:sp>
        <p:nvSpPr>
          <p:cNvPr id="7" name="Shape 3"/>
          <p:cNvSpPr/>
          <p:nvPr/>
        </p:nvSpPr>
        <p:spPr>
          <a:xfrm>
            <a:off x="502920" y="5779008"/>
            <a:ext cx="11201400" cy="566928"/>
          </a:xfrm>
          <a:prstGeom prst="roundRect">
            <a:avLst>
              <a:gd name="adj" fmla="val 9677"/>
            </a:avLst>
          </a:prstGeom>
          <a:solidFill>
            <a:srgbClr val="D7EEF2"/>
          </a:solidFill>
          <a:ln/>
        </p:spPr>
      </p:sp>
      <p:sp>
        <p:nvSpPr>
          <p:cNvPr id="8" name="Text 4"/>
          <p:cNvSpPr txBox="1"/>
          <p:nvPr/>
        </p:nvSpPr>
        <p:spPr>
          <a:xfrm>
            <a:off x="731520" y="5852160"/>
            <a:ext cx="10789920" cy="438912"/>
          </a:xfrm>
          <a:prstGeom prst="rect">
            <a:avLst/>
          </a:prstGeom>
          <a:noFill/>
          <a:ln/>
        </p:spPr>
        <p:txBody>
          <a:bodyPr wrap="square" lIns="0" tIns="0" rIns="0" bIns="0" rtlCol="0" anchor="ctr"/>
          <a:lstStyle/>
          <a:p>
            <a:pPr indent="0" marL="0">
              <a:buNone/>
            </a:pPr>
            <a:r>
              <a:rPr lang="en-US" sz="1200" b="1" dirty="0">
                <a:solidFill>
                  <a:srgbClr val="2C3E50"/>
                </a:solidFill>
                <a:latin typeface="Calibri" pitchFamily="34" charset="0"/>
                <a:ea typeface="Calibri" pitchFamily="34" charset="-122"/>
                <a:cs typeface="Calibri" pitchFamily="34" charset="-120"/>
              </a:rPr>
              <a:t>Regla mnemotécnica LEMON:  </a:t>
            </a:r>
            <a:pPr indent="0" marL="0">
              <a:buNone/>
            </a:pPr>
            <a:r>
              <a:rPr lang="en-US" sz="1200" dirty="0">
                <a:solidFill>
                  <a:srgbClr val="2C3E50"/>
                </a:solidFill>
                <a:latin typeface="Calibri" pitchFamily="34" charset="0"/>
                <a:ea typeface="Calibri" pitchFamily="34" charset="-122"/>
                <a:cs typeface="Calibri" pitchFamily="34" charset="-120"/>
              </a:rPr>
              <a:t>Look (inspección externa) · Evaluate 3-3-2 · Mallampati · Obstrucción/Obesidad · Movilidad cervical (Neck).</a:t>
            </a:r>
            <a:endParaRPr lang="en-US" sz="1200" dirty="0"/>
          </a:p>
        </p:txBody>
      </p:sp>
      <p:sp>
        <p:nvSpPr>
          <p:cNvPr id="10" name="Text 5"/>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1" name="Text 6"/>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14 / 31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TÉCNICA DE LA INTUBACIÓN TRAQUEAL</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Preparación del paciente y preoxigenación</a:t>
            </a:r>
            <a:endParaRPr lang="en-US" sz="2500" dirty="0"/>
          </a:p>
        </p:txBody>
      </p:sp>
      <p:sp>
        <p:nvSpPr>
          <p:cNvPr id="6" name="Shape 3"/>
          <p:cNvSpPr/>
          <p:nvPr/>
        </p:nvSpPr>
        <p:spPr>
          <a:xfrm>
            <a:off x="1257300" y="1965960"/>
            <a:ext cx="731520" cy="731520"/>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7" name="Text 4"/>
          <p:cNvSpPr txBox="1"/>
          <p:nvPr/>
        </p:nvSpPr>
        <p:spPr>
          <a:xfrm>
            <a:off x="1257300" y="19659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txBox="1"/>
          <p:nvPr/>
        </p:nvSpPr>
        <p:spPr>
          <a:xfrm>
            <a:off x="557784" y="2807208"/>
            <a:ext cx="213055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Verificación de equipo</a:t>
            </a:r>
            <a:endParaRPr lang="en-US" sz="1300" dirty="0"/>
          </a:p>
        </p:txBody>
      </p:sp>
      <p:sp>
        <p:nvSpPr>
          <p:cNvPr id="9" name="Text 6"/>
          <p:cNvSpPr txBox="1"/>
          <p:nvPr/>
        </p:nvSpPr>
        <p:spPr>
          <a:xfrm>
            <a:off x="557784" y="3118104"/>
            <a:ext cx="213055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Comprobar laringoscopio, tubo (con balón íntegro), succión, capnógrafo y dispositivos de rescate ("check" de vía aérea").</a:t>
            </a:r>
            <a:endParaRPr lang="en-US" sz="1050" dirty="0"/>
          </a:p>
        </p:txBody>
      </p:sp>
      <p:sp>
        <p:nvSpPr>
          <p:cNvPr id="10" name="Shape 7"/>
          <p:cNvSpPr/>
          <p:nvPr/>
        </p:nvSpPr>
        <p:spPr>
          <a:xfrm>
            <a:off x="2043684" y="2249424"/>
            <a:ext cx="1399032" cy="164592"/>
          </a:xfrm>
          <a:prstGeom prst="rightArrow">
            <a:avLst/>
          </a:prstGeom>
          <a:solidFill>
            <a:srgbClr val="5D6D7E"/>
          </a:solidFill>
          <a:ln/>
        </p:spPr>
      </p:sp>
      <p:sp>
        <p:nvSpPr>
          <p:cNvPr id="11" name="Shape 8"/>
          <p:cNvSpPr/>
          <p:nvPr/>
        </p:nvSpPr>
        <p:spPr>
          <a:xfrm>
            <a:off x="3497580" y="1965960"/>
            <a:ext cx="731520" cy="731520"/>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12" name="Text 9"/>
          <p:cNvSpPr txBox="1"/>
          <p:nvPr/>
        </p:nvSpPr>
        <p:spPr>
          <a:xfrm>
            <a:off x="3497580" y="19659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0"/>
          <p:cNvSpPr txBox="1"/>
          <p:nvPr/>
        </p:nvSpPr>
        <p:spPr>
          <a:xfrm>
            <a:off x="2798064" y="2807208"/>
            <a:ext cx="213055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Monitorización básica</a:t>
            </a:r>
            <a:endParaRPr lang="en-US" sz="1300" dirty="0"/>
          </a:p>
        </p:txBody>
      </p:sp>
      <p:sp>
        <p:nvSpPr>
          <p:cNvPr id="14" name="Text 11"/>
          <p:cNvSpPr txBox="1"/>
          <p:nvPr/>
        </p:nvSpPr>
        <p:spPr>
          <a:xfrm>
            <a:off x="2798064" y="3118104"/>
            <a:ext cx="213055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Colocar pulsioximetría, ECG, presión arterial no invasiva y capnografía antes de la inducción.</a:t>
            </a:r>
            <a:endParaRPr lang="en-US" sz="1050" dirty="0"/>
          </a:p>
        </p:txBody>
      </p:sp>
      <p:sp>
        <p:nvSpPr>
          <p:cNvPr id="15" name="Shape 12"/>
          <p:cNvSpPr/>
          <p:nvPr/>
        </p:nvSpPr>
        <p:spPr>
          <a:xfrm>
            <a:off x="4283964" y="2249424"/>
            <a:ext cx="1399032" cy="164592"/>
          </a:xfrm>
          <a:prstGeom prst="rightArrow">
            <a:avLst/>
          </a:prstGeom>
          <a:solidFill>
            <a:srgbClr val="5D6D7E"/>
          </a:solidFill>
          <a:ln/>
        </p:spPr>
      </p:sp>
      <p:sp>
        <p:nvSpPr>
          <p:cNvPr id="16" name="Shape 13"/>
          <p:cNvSpPr/>
          <p:nvPr/>
        </p:nvSpPr>
        <p:spPr>
          <a:xfrm>
            <a:off x="5737860" y="1965960"/>
            <a:ext cx="731520" cy="731520"/>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17" name="Text 14"/>
          <p:cNvSpPr txBox="1"/>
          <p:nvPr/>
        </p:nvSpPr>
        <p:spPr>
          <a:xfrm>
            <a:off x="5737860" y="19659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5"/>
          <p:cNvSpPr txBox="1"/>
          <p:nvPr/>
        </p:nvSpPr>
        <p:spPr>
          <a:xfrm>
            <a:off x="5038344" y="2807208"/>
            <a:ext cx="213055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Posicionamiento inicial</a:t>
            </a:r>
            <a:endParaRPr lang="en-US" sz="1300" dirty="0"/>
          </a:p>
        </p:txBody>
      </p:sp>
      <p:sp>
        <p:nvSpPr>
          <p:cNvPr id="19" name="Text 16"/>
          <p:cNvSpPr txBox="1"/>
          <p:nvPr/>
        </p:nvSpPr>
        <p:spPr>
          <a:xfrm>
            <a:off x="5038344" y="3118104"/>
            <a:ext cx="213055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Elevar la cabecera de la camilla y alinear al paciente para optimizar la mecánica ventilatoria.</a:t>
            </a:r>
            <a:endParaRPr lang="en-US" sz="1050" dirty="0"/>
          </a:p>
        </p:txBody>
      </p:sp>
      <p:sp>
        <p:nvSpPr>
          <p:cNvPr id="20" name="Shape 17"/>
          <p:cNvSpPr/>
          <p:nvPr/>
        </p:nvSpPr>
        <p:spPr>
          <a:xfrm>
            <a:off x="6524244" y="2249424"/>
            <a:ext cx="1399032" cy="164592"/>
          </a:xfrm>
          <a:prstGeom prst="rightArrow">
            <a:avLst/>
          </a:prstGeom>
          <a:solidFill>
            <a:srgbClr val="5D6D7E"/>
          </a:solidFill>
          <a:ln/>
        </p:spPr>
      </p:sp>
      <p:sp>
        <p:nvSpPr>
          <p:cNvPr id="21" name="Shape 18"/>
          <p:cNvSpPr/>
          <p:nvPr/>
        </p:nvSpPr>
        <p:spPr>
          <a:xfrm>
            <a:off x="7978140" y="1965960"/>
            <a:ext cx="731520" cy="731520"/>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22" name="Text 19"/>
          <p:cNvSpPr txBox="1"/>
          <p:nvPr/>
        </p:nvSpPr>
        <p:spPr>
          <a:xfrm>
            <a:off x="7978140" y="19659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0"/>
          <p:cNvSpPr txBox="1"/>
          <p:nvPr/>
        </p:nvSpPr>
        <p:spPr>
          <a:xfrm>
            <a:off x="7278624" y="2807208"/>
            <a:ext cx="213055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Preoxigenación</a:t>
            </a:r>
            <a:endParaRPr lang="en-US" sz="1300" dirty="0"/>
          </a:p>
        </p:txBody>
      </p:sp>
      <p:sp>
        <p:nvSpPr>
          <p:cNvPr id="24" name="Text 21"/>
          <p:cNvSpPr txBox="1"/>
          <p:nvPr/>
        </p:nvSpPr>
        <p:spPr>
          <a:xfrm>
            <a:off x="7278624" y="3118104"/>
            <a:ext cx="213055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Administrar O₂ al 100% con máscara facial sellada durante 3-5 minutos o 8 respiraciones a capacidad vital.</a:t>
            </a:r>
            <a:endParaRPr lang="en-US" sz="1050" dirty="0"/>
          </a:p>
        </p:txBody>
      </p:sp>
      <p:sp>
        <p:nvSpPr>
          <p:cNvPr id="25" name="Shape 22"/>
          <p:cNvSpPr/>
          <p:nvPr/>
        </p:nvSpPr>
        <p:spPr>
          <a:xfrm>
            <a:off x="8764524" y="2249424"/>
            <a:ext cx="1399032" cy="164592"/>
          </a:xfrm>
          <a:prstGeom prst="rightArrow">
            <a:avLst/>
          </a:prstGeom>
          <a:solidFill>
            <a:srgbClr val="5D6D7E"/>
          </a:solidFill>
          <a:ln/>
        </p:spPr>
      </p:sp>
      <p:sp>
        <p:nvSpPr>
          <p:cNvPr id="26" name="Shape 23"/>
          <p:cNvSpPr/>
          <p:nvPr/>
        </p:nvSpPr>
        <p:spPr>
          <a:xfrm>
            <a:off x="10218420" y="1965960"/>
            <a:ext cx="731520" cy="731520"/>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27" name="Text 24"/>
          <p:cNvSpPr txBox="1"/>
          <p:nvPr/>
        </p:nvSpPr>
        <p:spPr>
          <a:xfrm>
            <a:off x="10218420" y="19659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8" name="Text 25"/>
          <p:cNvSpPr txBox="1"/>
          <p:nvPr/>
        </p:nvSpPr>
        <p:spPr>
          <a:xfrm>
            <a:off x="9518904" y="2807208"/>
            <a:ext cx="213055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Objetivo de desnitrogenación</a:t>
            </a:r>
            <a:endParaRPr lang="en-US" sz="1300" dirty="0"/>
          </a:p>
        </p:txBody>
      </p:sp>
      <p:sp>
        <p:nvSpPr>
          <p:cNvPr id="29" name="Text 26"/>
          <p:cNvSpPr txBox="1"/>
          <p:nvPr/>
        </p:nvSpPr>
        <p:spPr>
          <a:xfrm>
            <a:off x="9518904" y="3118104"/>
            <a:ext cx="213055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Alcanzar una fracción espirada de oxígeno (FeO₂) ≥ 90%, que crea un reservorio de oxígeno apneico.</a:t>
            </a:r>
            <a:endParaRPr lang="en-US" sz="1050" dirty="0"/>
          </a:p>
        </p:txBody>
      </p:sp>
      <p:sp>
        <p:nvSpPr>
          <p:cNvPr id="30" name="Shape 27"/>
          <p:cNvSpPr/>
          <p:nvPr/>
        </p:nvSpPr>
        <p:spPr>
          <a:xfrm>
            <a:off x="502920" y="5349240"/>
            <a:ext cx="5440680" cy="1051560"/>
          </a:xfrm>
          <a:prstGeom prst="roundRect">
            <a:avLst>
              <a:gd name="adj" fmla="val 6957"/>
            </a:avLst>
          </a:prstGeom>
          <a:solidFill>
            <a:srgbClr val="2C3E50"/>
          </a:solidFill>
          <a:ln/>
        </p:spPr>
      </p:sp>
      <p:sp>
        <p:nvSpPr>
          <p:cNvPr id="31" name="Text 28"/>
          <p:cNvSpPr txBox="1"/>
          <p:nvPr/>
        </p:nvSpPr>
        <p:spPr>
          <a:xfrm>
            <a:off x="502920" y="5440680"/>
            <a:ext cx="5440680" cy="483718"/>
          </a:xfrm>
          <a:prstGeom prst="rect">
            <a:avLst/>
          </a:prstGeom>
          <a:noFill/>
          <a:ln/>
        </p:spPr>
        <p:txBody>
          <a:bodyPr wrap="square" lIns="0" tIns="0" rIns="0" bIns="0" rtlCol="0" anchor="b"/>
          <a:lstStyle/>
          <a:p>
            <a:pPr algn="ctr" indent="0" marL="0">
              <a:buNone/>
            </a:pPr>
            <a:r>
              <a:rPr lang="en-US" sz="2800" b="1" dirty="0">
                <a:solidFill>
                  <a:srgbClr val="17A2B8"/>
                </a:solidFill>
                <a:latin typeface="Cambria" pitchFamily="34" charset="0"/>
                <a:ea typeface="Cambria" pitchFamily="34" charset="-122"/>
                <a:cs typeface="Cambria" pitchFamily="34" charset="-120"/>
              </a:rPr>
              <a:t>3-5 min</a:t>
            </a:r>
            <a:endParaRPr lang="en-US" sz="2800" dirty="0"/>
          </a:p>
        </p:txBody>
      </p:sp>
      <p:sp>
        <p:nvSpPr>
          <p:cNvPr id="32" name="Text 29"/>
          <p:cNvSpPr txBox="1"/>
          <p:nvPr/>
        </p:nvSpPr>
        <p:spPr>
          <a:xfrm>
            <a:off x="640080" y="5896051"/>
            <a:ext cx="5166360" cy="462686"/>
          </a:xfrm>
          <a:prstGeom prst="rect">
            <a:avLst/>
          </a:prstGeom>
          <a:noFill/>
          <a:ln/>
        </p:spPr>
        <p:txBody>
          <a:bodyPr wrap="square" lIns="0" tIns="0" rIns="0" bIns="0" rtlCol="0" anchor="t"/>
          <a:lstStyle/>
          <a:p>
            <a:pPr algn="ctr" indent="0" marL="0">
              <a:lnSpc>
                <a:spcPts val="1300"/>
              </a:lnSpc>
              <a:buNone/>
            </a:pPr>
            <a:r>
              <a:rPr lang="en-US" sz="1100" dirty="0">
                <a:solidFill>
                  <a:srgbClr val="FFFFFF"/>
                </a:solidFill>
                <a:latin typeface="Calibri" pitchFamily="34" charset="0"/>
                <a:ea typeface="Calibri" pitchFamily="34" charset="-122"/>
                <a:cs typeface="Calibri" pitchFamily="34" charset="-120"/>
              </a:rPr>
              <a:t>Duración recomendada de preoxigenación con máscara sellada al 100% de O₂</a:t>
            </a:r>
            <a:endParaRPr lang="en-US" sz="1100" dirty="0"/>
          </a:p>
        </p:txBody>
      </p:sp>
      <p:sp>
        <p:nvSpPr>
          <p:cNvPr id="33" name="Shape 30"/>
          <p:cNvSpPr/>
          <p:nvPr/>
        </p:nvSpPr>
        <p:spPr>
          <a:xfrm>
            <a:off x="6172200" y="5349240"/>
            <a:ext cx="5440680" cy="1051560"/>
          </a:xfrm>
          <a:prstGeom prst="roundRect">
            <a:avLst>
              <a:gd name="adj" fmla="val 6957"/>
            </a:avLst>
          </a:prstGeom>
          <a:solidFill>
            <a:srgbClr val="EDF1F3"/>
          </a:solidFill>
          <a:ln/>
        </p:spPr>
      </p:sp>
      <p:sp>
        <p:nvSpPr>
          <p:cNvPr id="34" name="Text 31"/>
          <p:cNvSpPr txBox="1"/>
          <p:nvPr/>
        </p:nvSpPr>
        <p:spPr>
          <a:xfrm>
            <a:off x="6382512" y="5468112"/>
            <a:ext cx="5029200" cy="822960"/>
          </a:xfrm>
          <a:prstGeom prst="rect">
            <a:avLst/>
          </a:prstGeom>
          <a:noFill/>
          <a:ln/>
        </p:spPr>
        <p:txBody>
          <a:bodyPr wrap="square" lIns="0" tIns="0" rIns="0" bIns="0" rtlCol="0" anchor="ctr"/>
          <a:lstStyle/>
          <a:p>
            <a:pPr indent="0" marL="0">
              <a:lnSpc>
                <a:spcPts val="1450"/>
              </a:lnSpc>
              <a:buNone/>
            </a:pPr>
            <a:r>
              <a:rPr lang="en-US" sz="1150" dirty="0">
                <a:solidFill>
                  <a:srgbClr val="2C3E50"/>
                </a:solidFill>
                <a:latin typeface="Calibri" pitchFamily="34" charset="0"/>
                <a:ea typeface="Calibri" pitchFamily="34" charset="-122"/>
                <a:cs typeface="Calibri" pitchFamily="34" charset="-120"/>
              </a:rPr>
              <a:t>En pacientes obesos o gestantes, preoxigenar en posición de rampa (30-45° de elevación de tórax y cabeza) prolonga significativamente el tiempo de apnea segura.</a:t>
            </a:r>
            <a:endParaRPr lang="en-US" sz="1150" dirty="0"/>
          </a:p>
        </p:txBody>
      </p:sp>
      <p:sp>
        <p:nvSpPr>
          <p:cNvPr id="36" name="Text 32"/>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7" name="Text 33"/>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15 / 31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TÉCNICA DE LA INTUBACIÓN TRAQUEAL</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Posicionamiento: posición de olfateo</a:t>
            </a:r>
            <a:endParaRPr lang="en-US" sz="2500" dirty="0"/>
          </a:p>
        </p:txBody>
      </p:sp>
      <p:sp>
        <p:nvSpPr>
          <p:cNvPr id="6" name="Shape 3"/>
          <p:cNvSpPr/>
          <p:nvPr/>
        </p:nvSpPr>
        <p:spPr>
          <a:xfrm>
            <a:off x="502920" y="1508760"/>
            <a:ext cx="548640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51713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Fundamento anatómico</a:t>
            </a:r>
            <a:endParaRPr lang="en-US" sz="1600" dirty="0"/>
          </a:p>
        </p:txBody>
      </p:sp>
      <p:sp>
        <p:nvSpPr>
          <p:cNvPr id="10" name="Text 6"/>
          <p:cNvSpPr txBox="1"/>
          <p:nvPr/>
        </p:nvSpPr>
        <p:spPr>
          <a:xfrm>
            <a:off x="1289304" y="2112264"/>
            <a:ext cx="451713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Busca alinear los tres ejes de la vía aérea: oral, faríngeo y laríngeo, para permitir una línea de visión directa hasta la glotis.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Se logra mediante flexión del cuello sobre el tórax (elevación de la cabeza 8-10 cm con una almohada u soporte) y extensión de la cabeza sobre el cuello a nivel atlanto-occipital.</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Difiere de la simple hiperextensión cervical: combina flexión baja + extensión alta.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En el paciente obeso se sustituye por la posición de rampa, elevando tórax, hombros y cabeza hasta alinear el conducto auditivo externo con la horquilla esternal.</a:t>
            </a:r>
            <a:endParaRPr lang="en-US" sz="1250" dirty="0"/>
          </a:p>
        </p:txBody>
      </p:sp>
      <p:sp>
        <p:nvSpPr>
          <p:cNvPr id="11" name="Shape 7"/>
          <p:cNvSpPr/>
          <p:nvPr/>
        </p:nvSpPr>
        <p:spPr>
          <a:xfrm>
            <a:off x="6172200" y="1508760"/>
            <a:ext cx="544068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355080" y="169164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483096" y="1819656"/>
            <a:ext cx="201168" cy="201168"/>
          </a:xfrm>
          <a:prstGeom prst="rect">
            <a:avLst/>
          </a:prstGeom>
        </p:spPr>
      </p:pic>
      <p:sp>
        <p:nvSpPr>
          <p:cNvPr id="14" name="Text 9"/>
          <p:cNvSpPr txBox="1"/>
          <p:nvPr/>
        </p:nvSpPr>
        <p:spPr>
          <a:xfrm>
            <a:off x="6958584" y="1691640"/>
            <a:ext cx="447141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Precauciones clínicas</a:t>
            </a:r>
            <a:endParaRPr lang="en-US" sz="1600" dirty="0"/>
          </a:p>
        </p:txBody>
      </p:sp>
      <p:sp>
        <p:nvSpPr>
          <p:cNvPr id="15" name="Text 10"/>
          <p:cNvSpPr txBox="1"/>
          <p:nvPr/>
        </p:nvSpPr>
        <p:spPr>
          <a:xfrm>
            <a:off x="6958584" y="2112264"/>
            <a:ext cx="447141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En sospecha de lesión de columna cervical, se debe mantener alineación neutra con estabilización manual en línea, evitando la flexo-extensión.</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En pacientes con artritis reumatoide o espondilitis anquilosante, la movilidad cervical puede estar críticamente reducida — planificar técnica alternativa.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posición óptima puede requerir ajuste dinámico durante la laringoscopia y no es idéntica en todos los pacientes.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Un soporte occipital demasiado alto o bajo es una causa frecuente de visión glótica subóptima en el residente en formación.</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16 / 31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TÉCNICA DE LA INTUBACIÓN TRAQUEAL</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Laringoscopia directa: técnica paso a paso</a:t>
            </a:r>
            <a:endParaRPr lang="en-US" sz="2500" dirty="0"/>
          </a:p>
        </p:txBody>
      </p:sp>
      <p:sp>
        <p:nvSpPr>
          <p:cNvPr id="6" name="Shape 3"/>
          <p:cNvSpPr/>
          <p:nvPr/>
        </p:nvSpPr>
        <p:spPr>
          <a:xfrm>
            <a:off x="1107186" y="1965960"/>
            <a:ext cx="658368" cy="658368"/>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7" name="Text 4"/>
          <p:cNvSpPr txBox="1"/>
          <p:nvPr/>
        </p:nvSpPr>
        <p:spPr>
          <a:xfrm>
            <a:off x="1107186" y="196596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txBox="1"/>
          <p:nvPr/>
        </p:nvSpPr>
        <p:spPr>
          <a:xfrm>
            <a:off x="557784" y="273405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Sujeción e inserción</a:t>
            </a:r>
            <a:endParaRPr lang="en-US" sz="1300" dirty="0"/>
          </a:p>
        </p:txBody>
      </p:sp>
      <p:sp>
        <p:nvSpPr>
          <p:cNvPr id="9" name="Text 6"/>
          <p:cNvSpPr txBox="1"/>
          <p:nvPr/>
        </p:nvSpPr>
        <p:spPr>
          <a:xfrm>
            <a:off x="557784" y="304495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Laringoscopio en mano izquierda; introducir la hoja por el lado derecho de la boca, desplazando la lengua hacia la izquierda.</a:t>
            </a:r>
            <a:endParaRPr lang="en-US" sz="1050" dirty="0"/>
          </a:p>
        </p:txBody>
      </p:sp>
      <p:sp>
        <p:nvSpPr>
          <p:cNvPr id="10" name="Shape 7"/>
          <p:cNvSpPr/>
          <p:nvPr/>
        </p:nvSpPr>
        <p:spPr>
          <a:xfrm>
            <a:off x="1820418" y="2212848"/>
            <a:ext cx="1098804" cy="164592"/>
          </a:xfrm>
          <a:prstGeom prst="rightArrow">
            <a:avLst/>
          </a:prstGeom>
          <a:solidFill>
            <a:srgbClr val="5D6D7E"/>
          </a:solidFill>
          <a:ln/>
        </p:spPr>
      </p:sp>
      <p:sp>
        <p:nvSpPr>
          <p:cNvPr id="11" name="Shape 8"/>
          <p:cNvSpPr/>
          <p:nvPr/>
        </p:nvSpPr>
        <p:spPr>
          <a:xfrm>
            <a:off x="2974086" y="1965960"/>
            <a:ext cx="658368" cy="658368"/>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12" name="Text 9"/>
          <p:cNvSpPr txBox="1"/>
          <p:nvPr/>
        </p:nvSpPr>
        <p:spPr>
          <a:xfrm>
            <a:off x="2974086" y="196596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0"/>
          <p:cNvSpPr txBox="1"/>
          <p:nvPr/>
        </p:nvSpPr>
        <p:spPr>
          <a:xfrm>
            <a:off x="2424684" y="273405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Avance progresivo</a:t>
            </a:r>
            <a:endParaRPr lang="en-US" sz="1300" dirty="0"/>
          </a:p>
        </p:txBody>
      </p:sp>
      <p:sp>
        <p:nvSpPr>
          <p:cNvPr id="14" name="Text 11"/>
          <p:cNvSpPr txBox="1"/>
          <p:nvPr/>
        </p:nvSpPr>
        <p:spPr>
          <a:xfrm>
            <a:off x="2424684" y="304495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Avanzar la hoja siguiendo la curvatura de la lengua hasta visualizar la epiglotis.</a:t>
            </a:r>
            <a:endParaRPr lang="en-US" sz="1050" dirty="0"/>
          </a:p>
        </p:txBody>
      </p:sp>
      <p:sp>
        <p:nvSpPr>
          <p:cNvPr id="15" name="Shape 12"/>
          <p:cNvSpPr/>
          <p:nvPr/>
        </p:nvSpPr>
        <p:spPr>
          <a:xfrm>
            <a:off x="3687318" y="2212848"/>
            <a:ext cx="1098804" cy="164592"/>
          </a:xfrm>
          <a:prstGeom prst="rightArrow">
            <a:avLst/>
          </a:prstGeom>
          <a:solidFill>
            <a:srgbClr val="5D6D7E"/>
          </a:solidFill>
          <a:ln/>
        </p:spPr>
      </p:sp>
      <p:sp>
        <p:nvSpPr>
          <p:cNvPr id="16" name="Shape 13"/>
          <p:cNvSpPr/>
          <p:nvPr/>
        </p:nvSpPr>
        <p:spPr>
          <a:xfrm>
            <a:off x="4840986" y="1965960"/>
            <a:ext cx="658368" cy="658368"/>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17" name="Text 14"/>
          <p:cNvSpPr txBox="1"/>
          <p:nvPr/>
        </p:nvSpPr>
        <p:spPr>
          <a:xfrm>
            <a:off x="4840986" y="196596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5"/>
          <p:cNvSpPr txBox="1"/>
          <p:nvPr/>
        </p:nvSpPr>
        <p:spPr>
          <a:xfrm>
            <a:off x="4291584" y="273405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Exposición glótica</a:t>
            </a:r>
            <a:endParaRPr lang="en-US" sz="1300" dirty="0"/>
          </a:p>
        </p:txBody>
      </p:sp>
      <p:sp>
        <p:nvSpPr>
          <p:cNvPr id="19" name="Text 16"/>
          <p:cNvSpPr txBox="1"/>
          <p:nvPr/>
        </p:nvSpPr>
        <p:spPr>
          <a:xfrm>
            <a:off x="4291584" y="304495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Macintosh: punta en la vallécula. Miller: punta bajo la epiglotis, levantándola directamente.</a:t>
            </a:r>
            <a:endParaRPr lang="en-US" sz="1050" dirty="0"/>
          </a:p>
        </p:txBody>
      </p:sp>
      <p:sp>
        <p:nvSpPr>
          <p:cNvPr id="20" name="Shape 17"/>
          <p:cNvSpPr/>
          <p:nvPr/>
        </p:nvSpPr>
        <p:spPr>
          <a:xfrm>
            <a:off x="5554218" y="2212848"/>
            <a:ext cx="1098804" cy="164592"/>
          </a:xfrm>
          <a:prstGeom prst="rightArrow">
            <a:avLst/>
          </a:prstGeom>
          <a:solidFill>
            <a:srgbClr val="5D6D7E"/>
          </a:solidFill>
          <a:ln/>
        </p:spPr>
      </p:sp>
      <p:sp>
        <p:nvSpPr>
          <p:cNvPr id="21" name="Shape 18"/>
          <p:cNvSpPr/>
          <p:nvPr/>
        </p:nvSpPr>
        <p:spPr>
          <a:xfrm>
            <a:off x="6707886" y="1965960"/>
            <a:ext cx="658368" cy="658368"/>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22" name="Text 19"/>
          <p:cNvSpPr txBox="1"/>
          <p:nvPr/>
        </p:nvSpPr>
        <p:spPr>
          <a:xfrm>
            <a:off x="6707886" y="196596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0"/>
          <p:cNvSpPr txBox="1"/>
          <p:nvPr/>
        </p:nvSpPr>
        <p:spPr>
          <a:xfrm>
            <a:off x="6158484" y="273405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Tracción en el eje del mango</a:t>
            </a:r>
            <a:endParaRPr lang="en-US" sz="1300" dirty="0"/>
          </a:p>
        </p:txBody>
      </p:sp>
      <p:sp>
        <p:nvSpPr>
          <p:cNvPr id="24" name="Text 21"/>
          <p:cNvSpPr txBox="1"/>
          <p:nvPr/>
        </p:nvSpPr>
        <p:spPr>
          <a:xfrm>
            <a:off x="6158484" y="304495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Traccionar en dirección de 45° respecto al plano horizontal, sin usar palanca sobre los incisivos.</a:t>
            </a:r>
            <a:endParaRPr lang="en-US" sz="1050" dirty="0"/>
          </a:p>
        </p:txBody>
      </p:sp>
      <p:sp>
        <p:nvSpPr>
          <p:cNvPr id="25" name="Shape 22"/>
          <p:cNvSpPr/>
          <p:nvPr/>
        </p:nvSpPr>
        <p:spPr>
          <a:xfrm>
            <a:off x="7421118" y="2212848"/>
            <a:ext cx="1098804" cy="164592"/>
          </a:xfrm>
          <a:prstGeom prst="rightArrow">
            <a:avLst/>
          </a:prstGeom>
          <a:solidFill>
            <a:srgbClr val="5D6D7E"/>
          </a:solidFill>
          <a:ln/>
        </p:spPr>
      </p:sp>
      <p:sp>
        <p:nvSpPr>
          <p:cNvPr id="26" name="Shape 23"/>
          <p:cNvSpPr/>
          <p:nvPr/>
        </p:nvSpPr>
        <p:spPr>
          <a:xfrm>
            <a:off x="8574786" y="1965960"/>
            <a:ext cx="658368" cy="658368"/>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27" name="Text 24"/>
          <p:cNvSpPr txBox="1"/>
          <p:nvPr/>
        </p:nvSpPr>
        <p:spPr>
          <a:xfrm>
            <a:off x="8574786" y="196596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8" name="Text 25"/>
          <p:cNvSpPr txBox="1"/>
          <p:nvPr/>
        </p:nvSpPr>
        <p:spPr>
          <a:xfrm>
            <a:off x="8025384" y="273405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Paso del tubo</a:t>
            </a:r>
            <a:endParaRPr lang="en-US" sz="1300" dirty="0"/>
          </a:p>
        </p:txBody>
      </p:sp>
      <p:sp>
        <p:nvSpPr>
          <p:cNvPr id="29" name="Text 26"/>
          <p:cNvSpPr txBox="1"/>
          <p:nvPr/>
        </p:nvSpPr>
        <p:spPr>
          <a:xfrm>
            <a:off x="8025384" y="304495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Introducir el tubo por el ángulo derecho de la boca bajo visión directa hasta cruzar las cuerdas vocales.</a:t>
            </a:r>
            <a:endParaRPr lang="en-US" sz="1050" dirty="0"/>
          </a:p>
        </p:txBody>
      </p:sp>
      <p:sp>
        <p:nvSpPr>
          <p:cNvPr id="30" name="Shape 27"/>
          <p:cNvSpPr/>
          <p:nvPr/>
        </p:nvSpPr>
        <p:spPr>
          <a:xfrm>
            <a:off x="9288018" y="2212848"/>
            <a:ext cx="1098804" cy="164592"/>
          </a:xfrm>
          <a:prstGeom prst="rightArrow">
            <a:avLst/>
          </a:prstGeom>
          <a:solidFill>
            <a:srgbClr val="5D6D7E"/>
          </a:solidFill>
          <a:ln/>
        </p:spPr>
      </p:sp>
      <p:sp>
        <p:nvSpPr>
          <p:cNvPr id="31" name="Shape 28"/>
          <p:cNvSpPr/>
          <p:nvPr/>
        </p:nvSpPr>
        <p:spPr>
          <a:xfrm>
            <a:off x="10441686" y="1965960"/>
            <a:ext cx="658368" cy="658368"/>
          </a:xfrm>
          <a:prstGeom prst="ellipse">
            <a:avLst/>
          </a:prstGeom>
          <a:solidFill>
            <a:srgbClr val="17A2B8"/>
          </a:solidFill>
          <a:ln/>
          <a:effectLst>
            <a:outerShdw sx="100000" sy="100000" kx="0" ky="0" algn="bl" rotWithShape="0" blurRad="63500" dist="25400" dir="5400000">
              <a:srgbClr val="1A2530">
                <a:alpha val="22000"/>
              </a:srgbClr>
            </a:outerShdw>
          </a:effectLst>
        </p:spPr>
      </p:sp>
      <p:sp>
        <p:nvSpPr>
          <p:cNvPr id="32" name="Text 29"/>
          <p:cNvSpPr txBox="1"/>
          <p:nvPr/>
        </p:nvSpPr>
        <p:spPr>
          <a:xfrm>
            <a:off x="10441686" y="196596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3" name="Text 30"/>
          <p:cNvSpPr txBox="1"/>
          <p:nvPr/>
        </p:nvSpPr>
        <p:spPr>
          <a:xfrm>
            <a:off x="9892284" y="273405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Retiro e insuflado</a:t>
            </a:r>
            <a:endParaRPr lang="en-US" sz="1300" dirty="0"/>
          </a:p>
        </p:txBody>
      </p:sp>
      <p:sp>
        <p:nvSpPr>
          <p:cNvPr id="34" name="Text 31"/>
          <p:cNvSpPr txBox="1"/>
          <p:nvPr/>
        </p:nvSpPr>
        <p:spPr>
          <a:xfrm>
            <a:off x="9892284" y="304495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Retirar el laringoscopio, insuflar el balón y confirmar la posición antes de fijar el tubo.</a:t>
            </a:r>
            <a:endParaRPr lang="en-US" sz="1050" dirty="0"/>
          </a:p>
        </p:txBody>
      </p:sp>
      <p:sp>
        <p:nvSpPr>
          <p:cNvPr id="35" name="Shape 32"/>
          <p:cNvSpPr/>
          <p:nvPr/>
        </p:nvSpPr>
        <p:spPr>
          <a:xfrm>
            <a:off x="502920" y="5440680"/>
            <a:ext cx="11201400" cy="914400"/>
          </a:xfrm>
          <a:prstGeom prst="roundRect">
            <a:avLst>
              <a:gd name="adj" fmla="val 7000"/>
            </a:avLst>
          </a:prstGeom>
          <a:solidFill>
            <a:srgbClr val="D7EEF2"/>
          </a:solidFill>
          <a:ln/>
        </p:spPr>
      </p:sp>
      <p:sp>
        <p:nvSpPr>
          <p:cNvPr id="36" name="Text 33"/>
          <p:cNvSpPr txBox="1"/>
          <p:nvPr/>
        </p:nvSpPr>
        <p:spPr>
          <a:xfrm>
            <a:off x="777240" y="5559552"/>
            <a:ext cx="10607040" cy="685800"/>
          </a:xfrm>
          <a:prstGeom prst="rect">
            <a:avLst/>
          </a:prstGeom>
          <a:noFill/>
          <a:ln/>
        </p:spPr>
        <p:txBody>
          <a:bodyPr wrap="square" lIns="0" tIns="0" rIns="0" bIns="0" rtlCol="0" anchor="ctr"/>
          <a:lstStyle/>
          <a:p>
            <a:pPr indent="0" marL="0">
              <a:lnSpc>
                <a:spcPts val="1500"/>
              </a:lnSpc>
              <a:buNone/>
            </a:pPr>
            <a:r>
              <a:rPr lang="en-US" sz="1250" b="1" dirty="0">
                <a:solidFill>
                  <a:srgbClr val="2C3E50"/>
                </a:solidFill>
                <a:latin typeface="Calibri" pitchFamily="34" charset="0"/>
                <a:ea typeface="Calibri" pitchFamily="34" charset="-122"/>
                <a:cs typeface="Calibri" pitchFamily="34" charset="-120"/>
              </a:rPr>
              <a:t>Perla clínica:  </a:t>
            </a:r>
            <a:pPr indent="0" marL="0">
              <a:lnSpc>
                <a:spcPts val="1500"/>
              </a:lnSpc>
              <a:buNone/>
            </a:pPr>
            <a:r>
              <a:rPr lang="en-US" sz="1250" dirty="0">
                <a:solidFill>
                  <a:srgbClr val="2C3E50"/>
                </a:solidFill>
                <a:latin typeface="Calibri" pitchFamily="34" charset="0"/>
                <a:ea typeface="Calibri" pitchFamily="34" charset="-122"/>
                <a:cs typeface="Calibri" pitchFamily="34" charset="-120"/>
              </a:rPr>
              <a:t>La profundidad de inserción del tubo debe reconfirmarse siempre tras el posicionamiento final del paciente, ya que la flexión o extensión del cuello puede desplazar la punta del tubo varios centímetros dentro de la tráquea.</a:t>
            </a:r>
            <a:endParaRPr lang="en-US" sz="1250" dirty="0"/>
          </a:p>
        </p:txBody>
      </p:sp>
      <p:sp>
        <p:nvSpPr>
          <p:cNvPr id="38" name="Text 34"/>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9" name="Text 35"/>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17 / 31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TÉCNICA DE LA INTUBACIÓN TRAQUEAL</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Confirmación de la colocación del tubo</a:t>
            </a:r>
            <a:endParaRPr lang="en-US" sz="2500" dirty="0"/>
          </a:p>
        </p:txBody>
      </p:sp>
      <p:sp>
        <p:nvSpPr>
          <p:cNvPr id="6" name="Shape 3"/>
          <p:cNvSpPr/>
          <p:nvPr/>
        </p:nvSpPr>
        <p:spPr>
          <a:xfrm>
            <a:off x="502920"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Capnografía continua</a:t>
            </a:r>
            <a:endParaRPr lang="en-US" sz="1400" dirty="0"/>
          </a:p>
        </p:txBody>
      </p:sp>
      <p:sp>
        <p:nvSpPr>
          <p:cNvPr id="10" name="Text 6"/>
          <p:cNvSpPr txBox="1"/>
          <p:nvPr/>
        </p:nvSpPr>
        <p:spPr>
          <a:xfrm>
            <a:off x="1289304"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Onda cuadrada sostenida durante ≥ 6 ciclos respiratorios: el método más fiable y el estándar de monitorización obligatoria.</a:t>
            </a:r>
            <a:endParaRPr lang="en-US" sz="1200" dirty="0"/>
          </a:p>
        </p:txBody>
      </p:sp>
      <p:sp>
        <p:nvSpPr>
          <p:cNvPr id="11" name="Shape 7"/>
          <p:cNvSpPr/>
          <p:nvPr/>
        </p:nvSpPr>
        <p:spPr>
          <a:xfrm>
            <a:off x="4233672"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4416552"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4544568" y="1819656"/>
            <a:ext cx="201168" cy="201168"/>
          </a:xfrm>
          <a:prstGeom prst="rect">
            <a:avLst/>
          </a:prstGeom>
        </p:spPr>
      </p:pic>
      <p:sp>
        <p:nvSpPr>
          <p:cNvPr id="14" name="Text 9"/>
          <p:cNvSpPr txBox="1"/>
          <p:nvPr/>
        </p:nvSpPr>
        <p:spPr>
          <a:xfrm>
            <a:off x="5020056"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Auscultación bilateral</a:t>
            </a:r>
            <a:endParaRPr lang="en-US" sz="1400" dirty="0"/>
          </a:p>
        </p:txBody>
      </p:sp>
      <p:sp>
        <p:nvSpPr>
          <p:cNvPr id="15" name="Text 10"/>
          <p:cNvSpPr txBox="1"/>
          <p:nvPr/>
        </p:nvSpPr>
        <p:spPr>
          <a:xfrm>
            <a:off x="5020056"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Murmullo vesicular simétrico en ambos campos pulmonares y ausencia de ruido de entrada de aire en epigastrio.</a:t>
            </a:r>
            <a:endParaRPr lang="en-US" sz="1200" dirty="0"/>
          </a:p>
        </p:txBody>
      </p:sp>
      <p:sp>
        <p:nvSpPr>
          <p:cNvPr id="16" name="Shape 11"/>
          <p:cNvSpPr/>
          <p:nvPr/>
        </p:nvSpPr>
        <p:spPr>
          <a:xfrm>
            <a:off x="7964424"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8147304"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8275320" y="1819656"/>
            <a:ext cx="201168" cy="201168"/>
          </a:xfrm>
          <a:prstGeom prst="rect">
            <a:avLst/>
          </a:prstGeom>
        </p:spPr>
      </p:pic>
      <p:sp>
        <p:nvSpPr>
          <p:cNvPr id="19" name="Text 13"/>
          <p:cNvSpPr txBox="1"/>
          <p:nvPr/>
        </p:nvSpPr>
        <p:spPr>
          <a:xfrm>
            <a:off x="8750808"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Visualización directa</a:t>
            </a:r>
            <a:endParaRPr lang="en-US" sz="1400" dirty="0"/>
          </a:p>
        </p:txBody>
      </p:sp>
      <p:sp>
        <p:nvSpPr>
          <p:cNvPr id="20" name="Text 14"/>
          <p:cNvSpPr txBox="1"/>
          <p:nvPr/>
        </p:nvSpPr>
        <p:spPr>
          <a:xfrm>
            <a:off x="8750808"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Observación directa del paso del tubo a través de las cuerdas vocales durante la laringoscopia.</a:t>
            </a:r>
            <a:endParaRPr lang="en-US" sz="1200" dirty="0"/>
          </a:p>
        </p:txBody>
      </p:sp>
      <p:sp>
        <p:nvSpPr>
          <p:cNvPr id="21" name="Shape 15"/>
          <p:cNvSpPr/>
          <p:nvPr/>
        </p:nvSpPr>
        <p:spPr>
          <a:xfrm>
            <a:off x="502920"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2" name="Shape 16"/>
          <p:cNvSpPr/>
          <p:nvPr/>
        </p:nvSpPr>
        <p:spPr>
          <a:xfrm>
            <a:off x="685800"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23" name="Image 4" descr="preencoded.png">    </p:cNvPr>
          <p:cNvPicPr>
            <a:picLocks noChangeAspect="1"/>
          </p:cNvPicPr>
          <p:nvPr/>
        </p:nvPicPr>
        <p:blipFill>
          <a:blip r:embed="rId5"/>
          <a:stretch>
            <a:fillRect/>
          </a:stretch>
        </p:blipFill>
        <p:spPr>
          <a:xfrm>
            <a:off x="813816" y="3968496"/>
            <a:ext cx="201168" cy="201168"/>
          </a:xfrm>
          <a:prstGeom prst="rect">
            <a:avLst/>
          </a:prstGeom>
        </p:spPr>
      </p:pic>
      <p:sp>
        <p:nvSpPr>
          <p:cNvPr id="24" name="Text 17"/>
          <p:cNvSpPr txBox="1"/>
          <p:nvPr/>
        </p:nvSpPr>
        <p:spPr>
          <a:xfrm>
            <a:off x="1289304"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Expansión torácica</a:t>
            </a:r>
            <a:endParaRPr lang="en-US" sz="1400" dirty="0"/>
          </a:p>
        </p:txBody>
      </p:sp>
      <p:sp>
        <p:nvSpPr>
          <p:cNvPr id="25" name="Text 18"/>
          <p:cNvSpPr txBox="1"/>
          <p:nvPr/>
        </p:nvSpPr>
        <p:spPr>
          <a:xfrm>
            <a:off x="1289304"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Movimiento torácico simétrico y bilateral con cada insuflación manual o mecánica.</a:t>
            </a:r>
            <a:endParaRPr lang="en-US" sz="1200" dirty="0"/>
          </a:p>
        </p:txBody>
      </p:sp>
      <p:sp>
        <p:nvSpPr>
          <p:cNvPr id="26" name="Shape 19"/>
          <p:cNvSpPr/>
          <p:nvPr/>
        </p:nvSpPr>
        <p:spPr>
          <a:xfrm>
            <a:off x="4233672"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7" name="Shape 20"/>
          <p:cNvSpPr/>
          <p:nvPr/>
        </p:nvSpPr>
        <p:spPr>
          <a:xfrm>
            <a:off x="4416552"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28" name="Image 5" descr="preencoded.png">    </p:cNvPr>
          <p:cNvPicPr>
            <a:picLocks noChangeAspect="1"/>
          </p:cNvPicPr>
          <p:nvPr/>
        </p:nvPicPr>
        <p:blipFill>
          <a:blip r:embed="rId6"/>
          <a:stretch>
            <a:fillRect/>
          </a:stretch>
        </p:blipFill>
        <p:spPr>
          <a:xfrm>
            <a:off x="4544568" y="3968496"/>
            <a:ext cx="201168" cy="201168"/>
          </a:xfrm>
          <a:prstGeom prst="rect">
            <a:avLst/>
          </a:prstGeom>
        </p:spPr>
      </p:pic>
      <p:sp>
        <p:nvSpPr>
          <p:cNvPr id="29" name="Text 21"/>
          <p:cNvSpPr txBox="1"/>
          <p:nvPr/>
        </p:nvSpPr>
        <p:spPr>
          <a:xfrm>
            <a:off x="5020056"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Empañamiento del tubo</a:t>
            </a:r>
            <a:endParaRPr lang="en-US" sz="1400" dirty="0"/>
          </a:p>
        </p:txBody>
      </p:sp>
      <p:sp>
        <p:nvSpPr>
          <p:cNvPr id="30" name="Text 22"/>
          <p:cNvSpPr txBox="1"/>
          <p:nvPr/>
        </p:nvSpPr>
        <p:spPr>
          <a:xfrm>
            <a:off x="5020056"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Condensación de vapor de agua en la luz del tubo durante la espiración (signo de apoyo, no definitivo).</a:t>
            </a:r>
            <a:endParaRPr lang="en-US" sz="1200" dirty="0"/>
          </a:p>
        </p:txBody>
      </p:sp>
      <p:sp>
        <p:nvSpPr>
          <p:cNvPr id="31" name="Shape 23"/>
          <p:cNvSpPr/>
          <p:nvPr/>
        </p:nvSpPr>
        <p:spPr>
          <a:xfrm>
            <a:off x="7964424"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32" name="Shape 24"/>
          <p:cNvSpPr/>
          <p:nvPr/>
        </p:nvSpPr>
        <p:spPr>
          <a:xfrm>
            <a:off x="8147304" y="384048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3" name="Image 6" descr="preencoded.png">    </p:cNvPr>
          <p:cNvPicPr>
            <a:picLocks noChangeAspect="1"/>
          </p:cNvPicPr>
          <p:nvPr/>
        </p:nvPicPr>
        <p:blipFill>
          <a:blip r:embed="rId7"/>
          <a:stretch>
            <a:fillRect/>
          </a:stretch>
        </p:blipFill>
        <p:spPr>
          <a:xfrm>
            <a:off x="8275320" y="3968496"/>
            <a:ext cx="201168" cy="201168"/>
          </a:xfrm>
          <a:prstGeom prst="rect">
            <a:avLst/>
          </a:prstGeom>
        </p:spPr>
      </p:pic>
      <p:sp>
        <p:nvSpPr>
          <p:cNvPr id="34" name="Text 25"/>
          <p:cNvSpPr txBox="1"/>
          <p:nvPr/>
        </p:nvSpPr>
        <p:spPr>
          <a:xfrm>
            <a:off x="8750808"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Pulsioximetría estable</a:t>
            </a:r>
            <a:endParaRPr lang="en-US" sz="1400" dirty="0"/>
          </a:p>
        </p:txBody>
      </p:sp>
      <p:sp>
        <p:nvSpPr>
          <p:cNvPr id="35" name="Text 26"/>
          <p:cNvSpPr txBox="1"/>
          <p:nvPr/>
        </p:nvSpPr>
        <p:spPr>
          <a:xfrm>
            <a:off x="8750808"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Mantenimiento de SpO₂ adecuada; su caída es un signo tardío frente a la capnografía.</a:t>
            </a:r>
            <a:endParaRPr lang="en-US" sz="1200" dirty="0"/>
          </a:p>
        </p:txBody>
      </p:sp>
      <p:sp>
        <p:nvSpPr>
          <p:cNvPr id="37" name="Text 27"/>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8" name="Text 28"/>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18 / 31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ABORDAJES MODERNOS DE LA VÍA AÉREA</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Videolaringoscopia: ventajas y técnica</a:t>
            </a:r>
            <a:endParaRPr lang="en-US" sz="2500" dirty="0"/>
          </a:p>
        </p:txBody>
      </p:sp>
      <p:sp>
        <p:nvSpPr>
          <p:cNvPr id="6" name="Shape 3"/>
          <p:cNvSpPr/>
          <p:nvPr/>
        </p:nvSpPr>
        <p:spPr>
          <a:xfrm>
            <a:off x="502920" y="1508760"/>
            <a:ext cx="548640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51713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Fundamento y ventajas</a:t>
            </a:r>
            <a:endParaRPr lang="en-US" sz="1600" dirty="0"/>
          </a:p>
        </p:txBody>
      </p:sp>
      <p:sp>
        <p:nvSpPr>
          <p:cNvPr id="10" name="Text 6"/>
          <p:cNvSpPr txBox="1"/>
          <p:nvPr/>
        </p:nvSpPr>
        <p:spPr>
          <a:xfrm>
            <a:off x="1289304" y="2112264"/>
            <a:ext cx="451713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Incorpora una cámara digital en la punta de la hoja que proyecta la imagen glótica en una pantalla externa.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Mejora el grado de visión glótica (Cormack-Lehane) incluso sin necesidad de alinear los tres ejes clásicos de la vía aérea.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Reduce la fuerza de tracción necesaria y, por tanto, el riesgo de trauma dental y de respuesta hemodinámica exagerada.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Permite que un segundo operador o el instructor supervisen la técnica en tiempo real — valor formativo para residentes.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Existen hojas de geometría estándar (tipo Macintosh) y de geometría hiperangulada para vías aéreas anatómicamente difíciles.</a:t>
            </a:r>
            <a:endParaRPr lang="en-US" sz="1250" dirty="0"/>
          </a:p>
        </p:txBody>
      </p:sp>
      <p:sp>
        <p:nvSpPr>
          <p:cNvPr id="11" name="Shape 7"/>
          <p:cNvSpPr/>
          <p:nvPr/>
        </p:nvSpPr>
        <p:spPr>
          <a:xfrm>
            <a:off x="6172200" y="1508760"/>
            <a:ext cx="544068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35508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483096" y="1819656"/>
            <a:ext cx="201168" cy="201168"/>
          </a:xfrm>
          <a:prstGeom prst="rect">
            <a:avLst/>
          </a:prstGeom>
        </p:spPr>
      </p:pic>
      <p:sp>
        <p:nvSpPr>
          <p:cNvPr id="14" name="Text 9"/>
          <p:cNvSpPr txBox="1"/>
          <p:nvPr/>
        </p:nvSpPr>
        <p:spPr>
          <a:xfrm>
            <a:off x="6958584" y="1691640"/>
            <a:ext cx="447141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Aspectos técnicos</a:t>
            </a:r>
            <a:endParaRPr lang="en-US" sz="1600" dirty="0"/>
          </a:p>
        </p:txBody>
      </p:sp>
      <p:sp>
        <p:nvSpPr>
          <p:cNvPr id="15" name="Text 10"/>
          <p:cNvSpPr txBox="1"/>
          <p:nvPr/>
        </p:nvSpPr>
        <p:spPr>
          <a:xfrm>
            <a:off x="6958584" y="2112264"/>
            <a:ext cx="447141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Con hoja hiperangulada, el tubo requiere un estilete rígido preformado con la misma curvatura que la hoja.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imagen visualizada en la pantalla puede lograrse antes de que el tubo entre en el campo visual — dirigir el tubo "a ciegas" hasta que aparezca en pantalla.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Recomendada actualmente como técnica de primera línea en muchos algoritmos de vía aérea difícil anticipada.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Requiere entrenamiento específico: la coordinación mano-ojo-pantalla difiere de la laringoscopia directa convencional.</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Debe estar disponible de forma inmediata en todo carro de vía aérea difícil.</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19 / 31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ABORDAJES MODERNOS DE LA VÍA AÉREA</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Fibrobroncoscopio: paciente despierto</a:t>
            </a:r>
            <a:endParaRPr lang="en-US" sz="2500" dirty="0"/>
          </a:p>
        </p:txBody>
      </p:sp>
      <p:sp>
        <p:nvSpPr>
          <p:cNvPr id="6" name="Shape 3"/>
          <p:cNvSpPr/>
          <p:nvPr/>
        </p:nvSpPr>
        <p:spPr>
          <a:xfrm>
            <a:off x="502920" y="1508760"/>
            <a:ext cx="539496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42569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Indicaciones principales</a:t>
            </a:r>
            <a:endParaRPr lang="en-US" sz="1600" dirty="0"/>
          </a:p>
        </p:txBody>
      </p:sp>
      <p:sp>
        <p:nvSpPr>
          <p:cNvPr id="10" name="Text 6"/>
          <p:cNvSpPr txBox="1"/>
          <p:nvPr/>
        </p:nvSpPr>
        <p:spPr>
          <a:xfrm>
            <a:off x="1289304" y="2112264"/>
            <a:ext cx="442569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Vía aérea difícil anticipada, especialmente con apertura oral o movilidad cervical muy limitadas.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Patología de la vía aérea superior: tumores, abscesos, estenosis o masas que distorsionan la anatomía.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Inestabilidad de columna cervical donde se busca minimizar el movimiento durante la intubación.</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Antecedente documentado de intubación fallida o extremadamente difícil.</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Cirugía de columna cervical, maxilofacial mayor o de vía aérea donde se requiere control inicial despierto.</a:t>
            </a:r>
            <a:endParaRPr lang="en-US" sz="1250" dirty="0"/>
          </a:p>
        </p:txBody>
      </p:sp>
      <p:sp>
        <p:nvSpPr>
          <p:cNvPr id="11" name="Shape 7"/>
          <p:cNvSpPr/>
          <p:nvPr/>
        </p:nvSpPr>
        <p:spPr>
          <a:xfrm>
            <a:off x="6080760" y="1508760"/>
            <a:ext cx="5605272"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26364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391656" y="1819656"/>
            <a:ext cx="201168" cy="201168"/>
          </a:xfrm>
          <a:prstGeom prst="rect">
            <a:avLst/>
          </a:prstGeom>
        </p:spPr>
      </p:pic>
      <p:sp>
        <p:nvSpPr>
          <p:cNvPr id="14" name="Text 9"/>
          <p:cNvSpPr txBox="1"/>
          <p:nvPr/>
        </p:nvSpPr>
        <p:spPr>
          <a:xfrm>
            <a:off x="6867144" y="1691640"/>
            <a:ext cx="4636008"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Secuencia técnica esencial</a:t>
            </a:r>
            <a:endParaRPr lang="en-US" sz="1600" dirty="0"/>
          </a:p>
        </p:txBody>
      </p:sp>
      <p:sp>
        <p:nvSpPr>
          <p:cNvPr id="15" name="Text 10"/>
          <p:cNvSpPr txBox="1"/>
          <p:nvPr/>
        </p:nvSpPr>
        <p:spPr>
          <a:xfrm>
            <a:off x="6867144" y="2112264"/>
            <a:ext cx="4636008"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Anestesia tópica de la vía aérea (lidocaína) y, si procede, sedación consciente que preserve la ventilación espontánea.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Bloqueo opcional del nervio laríngeo superior y anestesia translaríngea para reducir el reflejo tusígeno.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Avance del fibrobroncoscopio, con el tubo previamente cargado, guiándose por las estructuras anatómicas hasta visualizar la carina.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Deslizamiento del tubo sobre el fibrobroncoscopio, evitando el impacto contra los aritenoides.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Confirmación endoscópica directa y capnográfica antes de inducir la anestesia general.</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20 / 31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INDICACIONES CLÍNICAS</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Indicaciones de la intubación traqueal</a:t>
            </a:r>
            <a:endParaRPr lang="en-US" sz="2500" dirty="0"/>
          </a:p>
        </p:txBody>
      </p:sp>
      <p:sp>
        <p:nvSpPr>
          <p:cNvPr id="6" name="Shape 3"/>
          <p:cNvSpPr/>
          <p:nvPr/>
        </p:nvSpPr>
        <p:spPr>
          <a:xfrm>
            <a:off x="502920"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1956816" y="1737360"/>
            <a:ext cx="685800" cy="6858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2148840" y="1929384"/>
            <a:ext cx="301752" cy="301752"/>
          </a:xfrm>
          <a:prstGeom prst="rect">
            <a:avLst/>
          </a:prstGeom>
        </p:spPr>
      </p:pic>
      <p:sp>
        <p:nvSpPr>
          <p:cNvPr id="9" name="Text 5"/>
          <p:cNvSpPr txBox="1"/>
          <p:nvPr/>
        </p:nvSpPr>
        <p:spPr>
          <a:xfrm>
            <a:off x="640080" y="2542032"/>
            <a:ext cx="3319272" cy="548640"/>
          </a:xfrm>
          <a:prstGeom prst="rect">
            <a:avLst/>
          </a:prstGeom>
          <a:noFill/>
          <a:ln/>
        </p:spPr>
        <p:txBody>
          <a:bodyPr wrap="square" lIns="0" tIns="0" rIns="0" bIns="0" rtlCol="0" anchor="t"/>
          <a:lstStyle/>
          <a:p>
            <a:pPr algn="ctr" indent="0" marL="0">
              <a:buNone/>
            </a:pPr>
            <a:r>
              <a:rPr lang="en-US" sz="1450" b="1" dirty="0">
                <a:solidFill>
                  <a:srgbClr val="2C3E50"/>
                </a:solidFill>
                <a:latin typeface="Cambria" pitchFamily="34" charset="0"/>
                <a:ea typeface="Cambria" pitchFamily="34" charset="-122"/>
                <a:cs typeface="Cambria" pitchFamily="34" charset="-120"/>
              </a:rPr>
              <a:t>Indicaciones quirúrgicas</a:t>
            </a:r>
            <a:endParaRPr lang="en-US" sz="1450" dirty="0"/>
          </a:p>
        </p:txBody>
      </p:sp>
      <p:sp>
        <p:nvSpPr>
          <p:cNvPr id="10" name="Text 6"/>
          <p:cNvSpPr txBox="1"/>
          <p:nvPr/>
        </p:nvSpPr>
        <p:spPr>
          <a:xfrm>
            <a:off x="758952" y="3200400"/>
            <a:ext cx="3081528" cy="2743200"/>
          </a:xfrm>
          <a:prstGeom prst="rect">
            <a:avLst/>
          </a:prstGeom>
          <a:noFill/>
          <a:ln/>
        </p:spPr>
        <p:txBody>
          <a:bodyPr wrap="square" lIns="0" tIns="0" rIns="0" bIns="0" rtlCol="0" anchor="t"/>
          <a:lstStyle/>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Cirugía con relajación muscular profunda requerida.</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Cirugías de cabeza, cuello, tórax o abdomen mayor.</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Posiciones quirúrgicas que limitan el acceso a la vía aérea (prono, sedestación).</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Procedimientos de duración prolongada.</a:t>
            </a:r>
            <a:endParaRPr lang="en-US" sz="1150" dirty="0"/>
          </a:p>
        </p:txBody>
      </p:sp>
      <p:sp>
        <p:nvSpPr>
          <p:cNvPr id="11" name="Shape 7"/>
          <p:cNvSpPr/>
          <p:nvPr/>
        </p:nvSpPr>
        <p:spPr>
          <a:xfrm>
            <a:off x="4233672"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5687568" y="1737360"/>
            <a:ext cx="685800" cy="6858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5879592" y="1929384"/>
            <a:ext cx="301752" cy="301752"/>
          </a:xfrm>
          <a:prstGeom prst="rect">
            <a:avLst/>
          </a:prstGeom>
        </p:spPr>
      </p:pic>
      <p:sp>
        <p:nvSpPr>
          <p:cNvPr id="14" name="Text 9"/>
          <p:cNvSpPr txBox="1"/>
          <p:nvPr/>
        </p:nvSpPr>
        <p:spPr>
          <a:xfrm>
            <a:off x="4370832" y="2542032"/>
            <a:ext cx="3319272" cy="548640"/>
          </a:xfrm>
          <a:prstGeom prst="rect">
            <a:avLst/>
          </a:prstGeom>
          <a:noFill/>
          <a:ln/>
        </p:spPr>
        <p:txBody>
          <a:bodyPr wrap="square" lIns="0" tIns="0" rIns="0" bIns="0" rtlCol="0" anchor="t"/>
          <a:lstStyle/>
          <a:p>
            <a:pPr algn="ctr" indent="0" marL="0">
              <a:buNone/>
            </a:pPr>
            <a:r>
              <a:rPr lang="en-US" sz="1450" b="1" dirty="0">
                <a:solidFill>
                  <a:srgbClr val="2C3E50"/>
                </a:solidFill>
                <a:latin typeface="Cambria" pitchFamily="34" charset="0"/>
                <a:ea typeface="Cambria" pitchFamily="34" charset="-122"/>
                <a:cs typeface="Cambria" pitchFamily="34" charset="-120"/>
              </a:rPr>
              <a:t>Protección de la vía aérea</a:t>
            </a:r>
            <a:endParaRPr lang="en-US" sz="1450" dirty="0"/>
          </a:p>
        </p:txBody>
      </p:sp>
      <p:sp>
        <p:nvSpPr>
          <p:cNvPr id="15" name="Text 10"/>
          <p:cNvSpPr txBox="1"/>
          <p:nvPr/>
        </p:nvSpPr>
        <p:spPr>
          <a:xfrm>
            <a:off x="4489704" y="3200400"/>
            <a:ext cx="3081528" cy="2743200"/>
          </a:xfrm>
          <a:prstGeom prst="rect">
            <a:avLst/>
          </a:prstGeom>
          <a:noFill/>
          <a:ln/>
        </p:spPr>
        <p:txBody>
          <a:bodyPr wrap="square" lIns="0" tIns="0" rIns="0" bIns="0" rtlCol="0" anchor="t"/>
          <a:lstStyle/>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Riesgo de broncoaspiración (estómago lleno, reflujo, embarazo).</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Pérdida de reflejos protectores (coma, sedación profunda).</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Hemorragia digestiva alta activa.</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Cirugía de urgencia sin ayuno adecuado.</a:t>
            </a:r>
            <a:endParaRPr lang="en-US" sz="1150" dirty="0"/>
          </a:p>
        </p:txBody>
      </p:sp>
      <p:sp>
        <p:nvSpPr>
          <p:cNvPr id="16" name="Shape 11"/>
          <p:cNvSpPr/>
          <p:nvPr/>
        </p:nvSpPr>
        <p:spPr>
          <a:xfrm>
            <a:off x="7964424"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9418320" y="1737360"/>
            <a:ext cx="685800" cy="685800"/>
          </a:xfrm>
          <a:prstGeom prst="ellipse">
            <a:avLst/>
          </a:prstGeom>
          <a:solidFill>
            <a:srgbClr val="2C3E50"/>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9610344" y="1929384"/>
            <a:ext cx="301752" cy="301752"/>
          </a:xfrm>
          <a:prstGeom prst="rect">
            <a:avLst/>
          </a:prstGeom>
        </p:spPr>
      </p:pic>
      <p:sp>
        <p:nvSpPr>
          <p:cNvPr id="19" name="Text 13"/>
          <p:cNvSpPr txBox="1"/>
          <p:nvPr/>
        </p:nvSpPr>
        <p:spPr>
          <a:xfrm>
            <a:off x="8101584" y="2542032"/>
            <a:ext cx="3319272" cy="548640"/>
          </a:xfrm>
          <a:prstGeom prst="rect">
            <a:avLst/>
          </a:prstGeom>
          <a:noFill/>
          <a:ln/>
        </p:spPr>
        <p:txBody>
          <a:bodyPr wrap="square" lIns="0" tIns="0" rIns="0" bIns="0" rtlCol="0" anchor="t"/>
          <a:lstStyle/>
          <a:p>
            <a:pPr algn="ctr" indent="0" marL="0">
              <a:buNone/>
            </a:pPr>
            <a:r>
              <a:rPr lang="en-US" sz="1450" b="1" dirty="0">
                <a:solidFill>
                  <a:srgbClr val="2C3E50"/>
                </a:solidFill>
                <a:latin typeface="Cambria" pitchFamily="34" charset="0"/>
                <a:ea typeface="Cambria" pitchFamily="34" charset="-122"/>
                <a:cs typeface="Cambria" pitchFamily="34" charset="-120"/>
              </a:rPr>
              <a:t>Ventilación mecánica</a:t>
            </a:r>
            <a:endParaRPr lang="en-US" sz="1450" dirty="0"/>
          </a:p>
        </p:txBody>
      </p:sp>
      <p:sp>
        <p:nvSpPr>
          <p:cNvPr id="20" name="Text 14"/>
          <p:cNvSpPr txBox="1"/>
          <p:nvPr/>
        </p:nvSpPr>
        <p:spPr>
          <a:xfrm>
            <a:off x="8220456" y="3200400"/>
            <a:ext cx="3081528" cy="2743200"/>
          </a:xfrm>
          <a:prstGeom prst="rect">
            <a:avLst/>
          </a:prstGeom>
          <a:noFill/>
          <a:ln/>
        </p:spPr>
        <p:txBody>
          <a:bodyPr wrap="square" lIns="0" tIns="0" rIns="0" bIns="0" rtlCol="0" anchor="t"/>
          <a:lstStyle/>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Insuficiencia respiratoria aguda con necesidad de soporte ventilatorio.</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Falla de otros métodos de oxigenación no invasiva.</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Necesidad de sedorrelajación profunda en cuidados críticos.</a:t>
            </a:r>
            <a:endParaRPr lang="en-US" sz="1150" dirty="0"/>
          </a:p>
          <a:p>
            <a:pPr marL="127000" indent="-127000">
              <a:lnSpc>
                <a:spcPts val="1500"/>
              </a:lnSpc>
              <a:spcAft>
                <a:spcPts val="900"/>
              </a:spcAft>
              <a:buSzPct val="100000"/>
              <a:buChar char="•"/>
            </a:pPr>
            <a:r>
              <a:rPr lang="en-US" sz="1150" dirty="0">
                <a:solidFill>
                  <a:srgbClr val="2C3E50"/>
                </a:solidFill>
                <a:latin typeface="Calibri" pitchFamily="34" charset="0"/>
                <a:ea typeface="Calibri" pitchFamily="34" charset="-122"/>
                <a:cs typeface="Calibri" pitchFamily="34" charset="-120"/>
              </a:rPr>
              <a:t>Reanimación cardiopulmonar avanzada.</a:t>
            </a:r>
            <a:endParaRPr lang="en-US" sz="1150" dirty="0"/>
          </a:p>
        </p:txBody>
      </p:sp>
      <p:sp>
        <p:nvSpPr>
          <p:cNvPr id="22" name="Text 15"/>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3" name="Text 16"/>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21 / 31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VÍA AÉREA DIFÍCIL</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Reconocimiento y algoritmo de manejo</a:t>
            </a:r>
            <a:endParaRPr lang="en-US" sz="2500" dirty="0"/>
          </a:p>
        </p:txBody>
      </p:sp>
      <p:sp>
        <p:nvSpPr>
          <p:cNvPr id="6" name="Shape 3"/>
          <p:cNvSpPr/>
          <p:nvPr/>
        </p:nvSpPr>
        <p:spPr>
          <a:xfrm>
            <a:off x="4480560" y="1371600"/>
            <a:ext cx="3200400" cy="457200"/>
          </a:xfrm>
          <a:prstGeom prst="roundRect">
            <a:avLst>
              <a:gd name="adj" fmla="val 12000"/>
            </a:avLst>
          </a:prstGeom>
          <a:solidFill>
            <a:srgbClr val="2C3E50"/>
          </a:solidFill>
          <a:ln/>
        </p:spPr>
      </p:sp>
      <p:sp>
        <p:nvSpPr>
          <p:cNvPr id="7" name="Text 4"/>
          <p:cNvSpPr txBox="1"/>
          <p:nvPr/>
        </p:nvSpPr>
        <p:spPr>
          <a:xfrm>
            <a:off x="4590288" y="1408176"/>
            <a:ext cx="2980944" cy="384048"/>
          </a:xfrm>
          <a:prstGeom prst="rect">
            <a:avLst/>
          </a:prstGeom>
          <a:noFill/>
          <a:ln/>
        </p:spPr>
        <p:txBody>
          <a:bodyPr wrap="square" lIns="0" tIns="0" rIns="0" bIns="0" rtlCol="0" anchor="ctr"/>
          <a:lstStyle/>
          <a:p>
            <a:pPr algn="ctr" indent="0" marL="0">
              <a:lnSpc>
                <a:spcPts val="1250"/>
              </a:lnSpc>
              <a:buNone/>
            </a:pPr>
            <a:r>
              <a:rPr lang="en-US" sz="1050" b="1" dirty="0">
                <a:solidFill>
                  <a:srgbClr val="FFFFFF"/>
                </a:solidFill>
                <a:latin typeface="Calibri" pitchFamily="34" charset="0"/>
                <a:ea typeface="Calibri" pitchFamily="34" charset="-122"/>
                <a:cs typeface="Calibri" pitchFamily="34" charset="-120"/>
              </a:rPr>
              <a:t>Vía aérea difícil anticipada o reconocida</a:t>
            </a:r>
            <a:endParaRPr lang="en-US" sz="1050" dirty="0"/>
          </a:p>
        </p:txBody>
      </p:sp>
      <p:sp>
        <p:nvSpPr>
          <p:cNvPr id="8" name="Shape 5"/>
          <p:cNvSpPr/>
          <p:nvPr/>
        </p:nvSpPr>
        <p:spPr>
          <a:xfrm>
            <a:off x="5998464" y="1847088"/>
            <a:ext cx="164592" cy="146304"/>
          </a:xfrm>
          <a:prstGeom prst="downArrow">
            <a:avLst/>
          </a:prstGeom>
          <a:solidFill>
            <a:srgbClr val="5D6D7E"/>
          </a:solidFill>
          <a:ln/>
        </p:spPr>
      </p:sp>
      <p:sp>
        <p:nvSpPr>
          <p:cNvPr id="9" name="Shape 6"/>
          <p:cNvSpPr/>
          <p:nvPr/>
        </p:nvSpPr>
        <p:spPr>
          <a:xfrm>
            <a:off x="4480560" y="2011680"/>
            <a:ext cx="3200400" cy="457200"/>
          </a:xfrm>
          <a:prstGeom prst="roundRect">
            <a:avLst>
              <a:gd name="adj" fmla="val 12000"/>
            </a:avLst>
          </a:prstGeom>
          <a:solidFill>
            <a:srgbClr val="17A2B8"/>
          </a:solidFill>
          <a:ln/>
        </p:spPr>
      </p:sp>
      <p:sp>
        <p:nvSpPr>
          <p:cNvPr id="10" name="Text 7"/>
          <p:cNvSpPr txBox="1"/>
          <p:nvPr/>
        </p:nvSpPr>
        <p:spPr>
          <a:xfrm>
            <a:off x="4590288" y="2048256"/>
            <a:ext cx="2980944" cy="384048"/>
          </a:xfrm>
          <a:prstGeom prst="rect">
            <a:avLst/>
          </a:prstGeom>
          <a:noFill/>
          <a:ln/>
        </p:spPr>
        <p:txBody>
          <a:bodyPr wrap="square" lIns="0" tIns="0" rIns="0" bIns="0" rtlCol="0" anchor="ctr"/>
          <a:lstStyle/>
          <a:p>
            <a:pPr algn="ctr" indent="0" marL="0">
              <a:lnSpc>
                <a:spcPts val="1250"/>
              </a:lnSpc>
              <a:buNone/>
            </a:pPr>
            <a:r>
              <a:rPr lang="en-US" sz="1050" b="1" dirty="0">
                <a:solidFill>
                  <a:srgbClr val="FFFFFF"/>
                </a:solidFill>
                <a:latin typeface="Calibri" pitchFamily="34" charset="0"/>
                <a:ea typeface="Calibri" pitchFamily="34" charset="-122"/>
                <a:cs typeface="Calibri" pitchFamily="34" charset="-120"/>
              </a:rPr>
              <a:t>Optimizar preoxigenación y posición · Plan A: laringoscopia (± videolaringoscopio)</a:t>
            </a:r>
            <a:endParaRPr lang="en-US" sz="1050" dirty="0"/>
          </a:p>
        </p:txBody>
      </p:sp>
      <p:sp>
        <p:nvSpPr>
          <p:cNvPr id="11" name="Shape 8"/>
          <p:cNvSpPr/>
          <p:nvPr/>
        </p:nvSpPr>
        <p:spPr>
          <a:xfrm>
            <a:off x="5998464" y="2487168"/>
            <a:ext cx="164592" cy="146304"/>
          </a:xfrm>
          <a:prstGeom prst="downArrow">
            <a:avLst/>
          </a:prstGeom>
          <a:solidFill>
            <a:srgbClr val="5D6D7E"/>
          </a:solidFill>
          <a:ln/>
        </p:spPr>
      </p:sp>
      <p:sp>
        <p:nvSpPr>
          <p:cNvPr id="12" name="Shape 9"/>
          <p:cNvSpPr/>
          <p:nvPr/>
        </p:nvSpPr>
        <p:spPr>
          <a:xfrm>
            <a:off x="4480560" y="2651760"/>
            <a:ext cx="3200400" cy="420624"/>
          </a:xfrm>
          <a:prstGeom prst="roundRect">
            <a:avLst>
              <a:gd name="adj" fmla="val 13043"/>
            </a:avLst>
          </a:prstGeom>
          <a:solidFill>
            <a:srgbClr val="5D6D7E"/>
          </a:solidFill>
          <a:ln/>
        </p:spPr>
      </p:sp>
      <p:sp>
        <p:nvSpPr>
          <p:cNvPr id="13" name="Text 10"/>
          <p:cNvSpPr txBox="1"/>
          <p:nvPr/>
        </p:nvSpPr>
        <p:spPr>
          <a:xfrm>
            <a:off x="4590288" y="2688336"/>
            <a:ext cx="2980944" cy="347472"/>
          </a:xfrm>
          <a:prstGeom prst="rect">
            <a:avLst/>
          </a:prstGeom>
          <a:noFill/>
          <a:ln/>
        </p:spPr>
        <p:txBody>
          <a:bodyPr wrap="square" lIns="0" tIns="0" rIns="0" bIns="0" rtlCol="0" anchor="ctr"/>
          <a:lstStyle/>
          <a:p>
            <a:pPr algn="ctr" indent="0" marL="0">
              <a:lnSpc>
                <a:spcPts val="1250"/>
              </a:lnSpc>
              <a:buNone/>
            </a:pPr>
            <a:r>
              <a:rPr lang="en-US" sz="1050" b="1" dirty="0">
                <a:solidFill>
                  <a:srgbClr val="FFFFFF"/>
                </a:solidFill>
                <a:latin typeface="Calibri" pitchFamily="34" charset="0"/>
                <a:ea typeface="Calibri" pitchFamily="34" charset="-122"/>
                <a:cs typeface="Calibri" pitchFamily="34" charset="-120"/>
              </a:rPr>
              <a:t>¿Intubación exitosa?</a:t>
            </a:r>
            <a:endParaRPr lang="en-US" sz="1050" dirty="0"/>
          </a:p>
        </p:txBody>
      </p:sp>
      <p:sp>
        <p:nvSpPr>
          <p:cNvPr id="14" name="Shape 11"/>
          <p:cNvSpPr/>
          <p:nvPr/>
        </p:nvSpPr>
        <p:spPr>
          <a:xfrm>
            <a:off x="6080760" y="3072384"/>
            <a:ext cx="0" cy="146304"/>
          </a:xfrm>
          <a:prstGeom prst="line">
            <a:avLst/>
          </a:prstGeom>
          <a:noFill/>
          <a:ln w="19050">
            <a:solidFill>
              <a:srgbClr val="5D6D7E"/>
            </a:solidFill>
            <a:prstDash val="solid"/>
          </a:ln>
        </p:spPr>
      </p:sp>
      <p:sp>
        <p:nvSpPr>
          <p:cNvPr id="15" name="Shape 12"/>
          <p:cNvSpPr/>
          <p:nvPr/>
        </p:nvSpPr>
        <p:spPr>
          <a:xfrm>
            <a:off x="1920240" y="3218688"/>
            <a:ext cx="8321040" cy="0"/>
          </a:xfrm>
          <a:prstGeom prst="line">
            <a:avLst/>
          </a:prstGeom>
          <a:noFill/>
          <a:ln w="19050">
            <a:solidFill>
              <a:srgbClr val="5D6D7E"/>
            </a:solidFill>
            <a:prstDash val="solid"/>
          </a:ln>
        </p:spPr>
      </p:sp>
      <p:sp>
        <p:nvSpPr>
          <p:cNvPr id="16" name="Shape 13"/>
          <p:cNvSpPr/>
          <p:nvPr/>
        </p:nvSpPr>
        <p:spPr>
          <a:xfrm>
            <a:off x="1920240" y="3218688"/>
            <a:ext cx="0" cy="118872"/>
          </a:xfrm>
          <a:prstGeom prst="line">
            <a:avLst/>
          </a:prstGeom>
          <a:noFill/>
          <a:ln w="19050">
            <a:solidFill>
              <a:srgbClr val="5D6D7E"/>
            </a:solidFill>
            <a:prstDash val="solid"/>
          </a:ln>
        </p:spPr>
      </p:sp>
      <p:sp>
        <p:nvSpPr>
          <p:cNvPr id="17" name="Shape 14"/>
          <p:cNvSpPr/>
          <p:nvPr/>
        </p:nvSpPr>
        <p:spPr>
          <a:xfrm>
            <a:off x="6080760" y="3218688"/>
            <a:ext cx="0" cy="118872"/>
          </a:xfrm>
          <a:prstGeom prst="line">
            <a:avLst/>
          </a:prstGeom>
          <a:noFill/>
          <a:ln w="19050">
            <a:solidFill>
              <a:srgbClr val="5D6D7E"/>
            </a:solidFill>
            <a:prstDash val="solid"/>
          </a:ln>
        </p:spPr>
      </p:sp>
      <p:sp>
        <p:nvSpPr>
          <p:cNvPr id="18" name="Shape 15"/>
          <p:cNvSpPr/>
          <p:nvPr/>
        </p:nvSpPr>
        <p:spPr>
          <a:xfrm>
            <a:off x="10241280" y="3218688"/>
            <a:ext cx="0" cy="118872"/>
          </a:xfrm>
          <a:prstGeom prst="line">
            <a:avLst/>
          </a:prstGeom>
          <a:noFill/>
          <a:ln w="19050">
            <a:solidFill>
              <a:srgbClr val="5D6D7E"/>
            </a:solidFill>
            <a:prstDash val="solid"/>
          </a:ln>
        </p:spPr>
      </p:sp>
      <p:sp>
        <p:nvSpPr>
          <p:cNvPr id="19" name="Text 16"/>
          <p:cNvSpPr txBox="1"/>
          <p:nvPr/>
        </p:nvSpPr>
        <p:spPr>
          <a:xfrm>
            <a:off x="822960" y="3355848"/>
            <a:ext cx="1005840" cy="219456"/>
          </a:xfrm>
          <a:prstGeom prst="rect">
            <a:avLst/>
          </a:prstGeom>
          <a:noFill/>
          <a:ln/>
        </p:spPr>
        <p:txBody>
          <a:bodyPr wrap="square" lIns="0" tIns="0" rIns="0" bIns="0" rtlCol="0" anchor="ctr"/>
          <a:lstStyle/>
          <a:p>
            <a:pPr algn="ctr" indent="0" marL="0">
              <a:buNone/>
            </a:pPr>
            <a:r>
              <a:rPr lang="en-US" sz="1100" b="1" dirty="0">
                <a:solidFill>
                  <a:srgbClr val="128A9C"/>
                </a:solidFill>
                <a:latin typeface="Calibri" pitchFamily="34" charset="0"/>
                <a:ea typeface="Calibri" pitchFamily="34" charset="-122"/>
                <a:cs typeface="Calibri" pitchFamily="34" charset="-120"/>
              </a:rPr>
              <a:t>SÍ</a:t>
            </a:r>
            <a:endParaRPr lang="en-US" sz="1100" dirty="0"/>
          </a:p>
        </p:txBody>
      </p:sp>
      <p:sp>
        <p:nvSpPr>
          <p:cNvPr id="20" name="Text 17"/>
          <p:cNvSpPr txBox="1"/>
          <p:nvPr/>
        </p:nvSpPr>
        <p:spPr>
          <a:xfrm>
            <a:off x="5212080" y="3355848"/>
            <a:ext cx="1737360" cy="219456"/>
          </a:xfrm>
          <a:prstGeom prst="rect">
            <a:avLst/>
          </a:prstGeom>
          <a:noFill/>
          <a:ln/>
        </p:spPr>
        <p:txBody>
          <a:bodyPr wrap="square" lIns="0" tIns="0" rIns="0" bIns="0" rtlCol="0" anchor="ctr"/>
          <a:lstStyle/>
          <a:p>
            <a:pPr algn="ctr" indent="0" marL="0">
              <a:buNone/>
            </a:pPr>
            <a:r>
              <a:rPr lang="en-US" sz="1000" b="1" dirty="0">
                <a:solidFill>
                  <a:srgbClr val="128A9C"/>
                </a:solidFill>
                <a:latin typeface="Calibri" pitchFamily="34" charset="0"/>
                <a:ea typeface="Calibri" pitchFamily="34" charset="-122"/>
                <a:cs typeface="Calibri" pitchFamily="34" charset="-120"/>
              </a:rPr>
              <a:t>NO — ventilable</a:t>
            </a:r>
            <a:endParaRPr lang="en-US" sz="1000" dirty="0"/>
          </a:p>
        </p:txBody>
      </p:sp>
      <p:sp>
        <p:nvSpPr>
          <p:cNvPr id="21" name="Text 18"/>
          <p:cNvSpPr txBox="1"/>
          <p:nvPr/>
        </p:nvSpPr>
        <p:spPr>
          <a:xfrm>
            <a:off x="9281160" y="3355848"/>
            <a:ext cx="1920240" cy="219456"/>
          </a:xfrm>
          <a:prstGeom prst="rect">
            <a:avLst/>
          </a:prstGeom>
          <a:noFill/>
          <a:ln/>
        </p:spPr>
        <p:txBody>
          <a:bodyPr wrap="square" lIns="0" tIns="0" rIns="0" bIns="0" rtlCol="0" anchor="ctr"/>
          <a:lstStyle/>
          <a:p>
            <a:pPr algn="ctr" indent="0" marL="0">
              <a:buNone/>
            </a:pPr>
            <a:r>
              <a:rPr lang="en-US" sz="1000" b="1" dirty="0">
                <a:solidFill>
                  <a:srgbClr val="128A9C"/>
                </a:solidFill>
                <a:latin typeface="Calibri" pitchFamily="34" charset="0"/>
                <a:ea typeface="Calibri" pitchFamily="34" charset="-122"/>
                <a:cs typeface="Calibri" pitchFamily="34" charset="-120"/>
              </a:rPr>
              <a:t>NO — no ventilable</a:t>
            </a:r>
            <a:endParaRPr lang="en-US" sz="1000" dirty="0"/>
          </a:p>
        </p:txBody>
      </p:sp>
      <p:sp>
        <p:nvSpPr>
          <p:cNvPr id="22" name="Shape 19"/>
          <p:cNvSpPr/>
          <p:nvPr/>
        </p:nvSpPr>
        <p:spPr>
          <a:xfrm>
            <a:off x="502920" y="3602736"/>
            <a:ext cx="3749040" cy="868680"/>
          </a:xfrm>
          <a:prstGeom prst="roundRect">
            <a:avLst>
              <a:gd name="adj" fmla="val 6316"/>
            </a:avLst>
          </a:prstGeom>
          <a:solidFill>
            <a:srgbClr val="E3E9EC"/>
          </a:solidFill>
          <a:ln/>
        </p:spPr>
      </p:sp>
      <p:sp>
        <p:nvSpPr>
          <p:cNvPr id="23" name="Text 20"/>
          <p:cNvSpPr txBox="1"/>
          <p:nvPr/>
        </p:nvSpPr>
        <p:spPr>
          <a:xfrm>
            <a:off x="612648" y="3639312"/>
            <a:ext cx="3529584" cy="795528"/>
          </a:xfrm>
          <a:prstGeom prst="rect">
            <a:avLst/>
          </a:prstGeom>
          <a:noFill/>
          <a:ln/>
        </p:spPr>
        <p:txBody>
          <a:bodyPr wrap="square" lIns="0" tIns="0" rIns="0" bIns="0" rtlCol="0" anchor="ctr"/>
          <a:lstStyle/>
          <a:p>
            <a:pPr algn="ctr" indent="0" marL="0">
              <a:lnSpc>
                <a:spcPts val="1250"/>
              </a:lnSpc>
              <a:buNone/>
            </a:pPr>
            <a:r>
              <a:rPr lang="en-US" sz="1050" b="1" dirty="0">
                <a:solidFill>
                  <a:srgbClr val="2C3E50"/>
                </a:solidFill>
                <a:latin typeface="Calibri" pitchFamily="34" charset="0"/>
                <a:ea typeface="Calibri" pitchFamily="34" charset="-122"/>
                <a:cs typeface="Calibri" pitchFamily="34" charset="-120"/>
              </a:rPr>
              <a:t>Continuar plan quirúrgico. Confirmar y fijar el tubo. Documentar la vía aérea difícil.</a:t>
            </a:r>
            <a:endParaRPr lang="en-US" sz="1050" dirty="0"/>
          </a:p>
        </p:txBody>
      </p:sp>
      <p:sp>
        <p:nvSpPr>
          <p:cNvPr id="24" name="Shape 21"/>
          <p:cNvSpPr/>
          <p:nvPr/>
        </p:nvSpPr>
        <p:spPr>
          <a:xfrm>
            <a:off x="4480560" y="3602736"/>
            <a:ext cx="3200400" cy="868680"/>
          </a:xfrm>
          <a:prstGeom prst="roundRect">
            <a:avLst>
              <a:gd name="adj" fmla="val 6316"/>
            </a:avLst>
          </a:prstGeom>
          <a:solidFill>
            <a:srgbClr val="E3E9EC"/>
          </a:solidFill>
          <a:ln/>
        </p:spPr>
      </p:sp>
      <p:sp>
        <p:nvSpPr>
          <p:cNvPr id="25" name="Text 22"/>
          <p:cNvSpPr txBox="1"/>
          <p:nvPr/>
        </p:nvSpPr>
        <p:spPr>
          <a:xfrm>
            <a:off x="4590288" y="3639312"/>
            <a:ext cx="2980944" cy="795528"/>
          </a:xfrm>
          <a:prstGeom prst="rect">
            <a:avLst/>
          </a:prstGeom>
          <a:noFill/>
          <a:ln/>
        </p:spPr>
        <p:txBody>
          <a:bodyPr wrap="square" lIns="0" tIns="0" rIns="0" bIns="0" rtlCol="0" anchor="ctr"/>
          <a:lstStyle/>
          <a:p>
            <a:pPr algn="ctr" indent="0" marL="0">
              <a:lnSpc>
                <a:spcPts val="1250"/>
              </a:lnSpc>
              <a:buNone/>
            </a:pPr>
            <a:r>
              <a:rPr lang="en-US" sz="1050" b="1" dirty="0">
                <a:solidFill>
                  <a:srgbClr val="2C3E50"/>
                </a:solidFill>
                <a:latin typeface="Calibri" pitchFamily="34" charset="0"/>
                <a:ea typeface="Calibri" pitchFamily="34" charset="-122"/>
                <a:cs typeface="Calibri" pitchFamily="34" charset="-120"/>
              </a:rPr>
              <a:t>Plan B: dispositivo supraglótico o bougie · Máximo 3 intentos · Llamar por ayuda</a:t>
            </a:r>
            <a:endParaRPr lang="en-US" sz="1050" dirty="0"/>
          </a:p>
        </p:txBody>
      </p:sp>
      <p:sp>
        <p:nvSpPr>
          <p:cNvPr id="26" name="Shape 23"/>
          <p:cNvSpPr/>
          <p:nvPr/>
        </p:nvSpPr>
        <p:spPr>
          <a:xfrm>
            <a:off x="8503920" y="3602736"/>
            <a:ext cx="3154680" cy="868680"/>
          </a:xfrm>
          <a:prstGeom prst="roundRect">
            <a:avLst>
              <a:gd name="adj" fmla="val 6316"/>
            </a:avLst>
          </a:prstGeom>
          <a:solidFill>
            <a:srgbClr val="C0392B"/>
          </a:solidFill>
          <a:ln/>
        </p:spPr>
      </p:sp>
      <p:sp>
        <p:nvSpPr>
          <p:cNvPr id="27" name="Text 24"/>
          <p:cNvSpPr txBox="1"/>
          <p:nvPr/>
        </p:nvSpPr>
        <p:spPr>
          <a:xfrm>
            <a:off x="8613648" y="3639312"/>
            <a:ext cx="2935224" cy="795528"/>
          </a:xfrm>
          <a:prstGeom prst="rect">
            <a:avLst/>
          </a:prstGeom>
          <a:noFill/>
          <a:ln/>
        </p:spPr>
        <p:txBody>
          <a:bodyPr wrap="square" lIns="0" tIns="0" rIns="0" bIns="0" rtlCol="0" anchor="ctr"/>
          <a:lstStyle/>
          <a:p>
            <a:pPr algn="ctr" indent="0" marL="0">
              <a:lnSpc>
                <a:spcPts val="1250"/>
              </a:lnSpc>
              <a:buNone/>
            </a:pPr>
            <a:r>
              <a:rPr lang="en-US" sz="1050" b="1" dirty="0">
                <a:solidFill>
                  <a:srgbClr val="FFFFFF"/>
                </a:solidFill>
                <a:latin typeface="Calibri" pitchFamily="34" charset="0"/>
                <a:ea typeface="Calibri" pitchFamily="34" charset="-122"/>
                <a:cs typeface="Calibri" pitchFamily="34" charset="-120"/>
              </a:rPr>
              <a:t>Escenario "no intubar, no oxigenar" (NINO): vía aérea quirúrgica de emergencia</a:t>
            </a:r>
            <a:endParaRPr lang="en-US" sz="1050" dirty="0"/>
          </a:p>
        </p:txBody>
      </p:sp>
      <p:sp>
        <p:nvSpPr>
          <p:cNvPr id="28" name="Shape 25"/>
          <p:cNvSpPr/>
          <p:nvPr/>
        </p:nvSpPr>
        <p:spPr>
          <a:xfrm>
            <a:off x="5998464" y="4507992"/>
            <a:ext cx="164592" cy="146304"/>
          </a:xfrm>
          <a:prstGeom prst="downArrow">
            <a:avLst/>
          </a:prstGeom>
          <a:solidFill>
            <a:srgbClr val="5D6D7E"/>
          </a:solidFill>
          <a:ln/>
        </p:spPr>
      </p:sp>
      <p:sp>
        <p:nvSpPr>
          <p:cNvPr id="29" name="Shape 26"/>
          <p:cNvSpPr/>
          <p:nvPr/>
        </p:nvSpPr>
        <p:spPr>
          <a:xfrm>
            <a:off x="4480560" y="4690872"/>
            <a:ext cx="3200400" cy="594360"/>
          </a:xfrm>
          <a:prstGeom prst="roundRect">
            <a:avLst>
              <a:gd name="adj" fmla="val 9231"/>
            </a:avLst>
          </a:prstGeom>
          <a:solidFill>
            <a:srgbClr val="2C3E50"/>
          </a:solidFill>
          <a:ln/>
        </p:spPr>
      </p:sp>
      <p:sp>
        <p:nvSpPr>
          <p:cNvPr id="30" name="Text 27"/>
          <p:cNvSpPr txBox="1"/>
          <p:nvPr/>
        </p:nvSpPr>
        <p:spPr>
          <a:xfrm>
            <a:off x="4590288" y="4727448"/>
            <a:ext cx="2980944" cy="521208"/>
          </a:xfrm>
          <a:prstGeom prst="rect">
            <a:avLst/>
          </a:prstGeom>
          <a:noFill/>
          <a:ln/>
        </p:spPr>
        <p:txBody>
          <a:bodyPr wrap="square" lIns="0" tIns="0" rIns="0" bIns="0" rtlCol="0" anchor="ctr"/>
          <a:lstStyle/>
          <a:p>
            <a:pPr algn="ctr" indent="0" marL="0">
              <a:lnSpc>
                <a:spcPts val="1250"/>
              </a:lnSpc>
              <a:buNone/>
            </a:pPr>
            <a:r>
              <a:rPr lang="en-US" sz="1050" b="1" dirty="0">
                <a:solidFill>
                  <a:srgbClr val="FFFFFF"/>
                </a:solidFill>
                <a:latin typeface="Calibri" pitchFamily="34" charset="0"/>
                <a:ea typeface="Calibri" pitchFamily="34" charset="-122"/>
                <a:cs typeface="Calibri" pitchFamily="34" charset="-120"/>
              </a:rPr>
              <a:t>Plan C: despertar al paciente si es posible, o proceder a vía aérea quirúrgica electiva</a:t>
            </a:r>
            <a:endParaRPr lang="en-US" sz="1050" dirty="0"/>
          </a:p>
        </p:txBody>
      </p:sp>
      <p:sp>
        <p:nvSpPr>
          <p:cNvPr id="31" name="Shape 28"/>
          <p:cNvSpPr/>
          <p:nvPr/>
        </p:nvSpPr>
        <p:spPr>
          <a:xfrm>
            <a:off x="9994392" y="4507992"/>
            <a:ext cx="164592" cy="146304"/>
          </a:xfrm>
          <a:prstGeom prst="downArrow">
            <a:avLst/>
          </a:prstGeom>
          <a:solidFill>
            <a:srgbClr val="5D6D7E"/>
          </a:solidFill>
          <a:ln/>
        </p:spPr>
      </p:sp>
      <p:sp>
        <p:nvSpPr>
          <p:cNvPr id="32" name="Shape 29"/>
          <p:cNvSpPr/>
          <p:nvPr/>
        </p:nvSpPr>
        <p:spPr>
          <a:xfrm>
            <a:off x="8503920" y="4690872"/>
            <a:ext cx="3154680" cy="594360"/>
          </a:xfrm>
          <a:prstGeom prst="roundRect">
            <a:avLst>
              <a:gd name="adj" fmla="val 9231"/>
            </a:avLst>
          </a:prstGeom>
          <a:solidFill>
            <a:srgbClr val="A93226"/>
          </a:solidFill>
          <a:ln/>
        </p:spPr>
      </p:sp>
      <p:sp>
        <p:nvSpPr>
          <p:cNvPr id="33" name="Text 30"/>
          <p:cNvSpPr txBox="1"/>
          <p:nvPr/>
        </p:nvSpPr>
        <p:spPr>
          <a:xfrm>
            <a:off x="8613648" y="4727448"/>
            <a:ext cx="2935224" cy="521208"/>
          </a:xfrm>
          <a:prstGeom prst="rect">
            <a:avLst/>
          </a:prstGeom>
          <a:noFill/>
          <a:ln/>
        </p:spPr>
        <p:txBody>
          <a:bodyPr wrap="square" lIns="0" tIns="0" rIns="0" bIns="0" rtlCol="0" anchor="ctr"/>
          <a:lstStyle/>
          <a:p>
            <a:pPr algn="ctr" indent="0" marL="0">
              <a:lnSpc>
                <a:spcPts val="1250"/>
              </a:lnSpc>
              <a:buNone/>
            </a:pPr>
            <a:r>
              <a:rPr lang="en-US" sz="1050" b="1" dirty="0">
                <a:solidFill>
                  <a:srgbClr val="FFFFFF"/>
                </a:solidFill>
                <a:latin typeface="Calibri" pitchFamily="34" charset="0"/>
                <a:ea typeface="Calibri" pitchFamily="34" charset="-122"/>
                <a:cs typeface="Calibri" pitchFamily="34" charset="-120"/>
              </a:rPr>
              <a:t>Cricotiroidotomía de emergencia (con aguja o quirúrgica)</a:t>
            </a:r>
            <a:endParaRPr lang="en-US" sz="1050" dirty="0"/>
          </a:p>
        </p:txBody>
      </p:sp>
      <p:sp>
        <p:nvSpPr>
          <p:cNvPr id="34" name="Shape 31"/>
          <p:cNvSpPr/>
          <p:nvPr/>
        </p:nvSpPr>
        <p:spPr>
          <a:xfrm>
            <a:off x="502920" y="5468112"/>
            <a:ext cx="11201400" cy="548640"/>
          </a:xfrm>
          <a:prstGeom prst="roundRect">
            <a:avLst>
              <a:gd name="adj" fmla="val 10000"/>
            </a:avLst>
          </a:prstGeom>
          <a:solidFill>
            <a:srgbClr val="D7EEF2"/>
          </a:solidFill>
          <a:ln/>
        </p:spPr>
      </p:sp>
      <p:sp>
        <p:nvSpPr>
          <p:cNvPr id="35" name="Text 32"/>
          <p:cNvSpPr txBox="1"/>
          <p:nvPr/>
        </p:nvSpPr>
        <p:spPr>
          <a:xfrm>
            <a:off x="777240" y="5532120"/>
            <a:ext cx="10789920" cy="420624"/>
          </a:xfrm>
          <a:prstGeom prst="rect">
            <a:avLst/>
          </a:prstGeom>
          <a:noFill/>
          <a:ln/>
        </p:spPr>
        <p:txBody>
          <a:bodyPr wrap="square" lIns="0" tIns="0" rIns="0" bIns="0" rtlCol="0" anchor="ctr"/>
          <a:lstStyle/>
          <a:p>
            <a:pPr indent="0" marL="0">
              <a:buNone/>
            </a:pPr>
            <a:r>
              <a:rPr lang="en-US" sz="1150" b="1" dirty="0">
                <a:solidFill>
                  <a:srgbClr val="2C3E50"/>
                </a:solidFill>
                <a:latin typeface="Calibri" pitchFamily="34" charset="0"/>
                <a:ea typeface="Calibri" pitchFamily="34" charset="-122"/>
                <a:cs typeface="Calibri" pitchFamily="34" charset="-120"/>
              </a:rPr>
              <a:t>Principio rector:  </a:t>
            </a:r>
            <a:pPr indent="0" marL="0">
              <a:buNone/>
            </a:pPr>
            <a:r>
              <a:rPr lang="en-US" sz="1150" dirty="0">
                <a:solidFill>
                  <a:srgbClr val="2C3E50"/>
                </a:solidFill>
                <a:latin typeface="Calibri" pitchFamily="34" charset="0"/>
                <a:ea typeface="Calibri" pitchFamily="34" charset="-122"/>
                <a:cs typeface="Calibri" pitchFamily="34" charset="-120"/>
              </a:rPr>
              <a:t>Priorizar en todo momento la oxigenación del paciente por encima de lograr la intubación; declarar activamente el algoritmo y pedir ayuda de forma temprana.</a:t>
            </a:r>
            <a:endParaRPr lang="en-US" sz="1150" dirty="0"/>
          </a:p>
        </p:txBody>
      </p:sp>
      <p:sp>
        <p:nvSpPr>
          <p:cNvPr id="37" name="Text 33"/>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8" name="Text 34"/>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22 / 31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COMPLICACIONES</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Complicaciones inmediatas</a:t>
            </a:r>
            <a:endParaRPr lang="en-US" sz="2500" dirty="0"/>
          </a:p>
        </p:txBody>
      </p:sp>
      <p:sp>
        <p:nvSpPr>
          <p:cNvPr id="6" name="Shape 3"/>
          <p:cNvSpPr/>
          <p:nvPr/>
        </p:nvSpPr>
        <p:spPr>
          <a:xfrm>
            <a:off x="502920"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Trauma dental</a:t>
            </a:r>
            <a:endParaRPr lang="en-US" sz="1400" dirty="0"/>
          </a:p>
        </p:txBody>
      </p:sp>
      <p:sp>
        <p:nvSpPr>
          <p:cNvPr id="10" name="Text 6"/>
          <p:cNvSpPr txBox="1"/>
          <p:nvPr/>
        </p:nvSpPr>
        <p:spPr>
          <a:xfrm>
            <a:off x="1289304"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La complicación traumática más frecuente; incisivos superiores en mayor riesgo por uso incorrecto del laringoscopio como palanca.</a:t>
            </a:r>
            <a:endParaRPr lang="en-US" sz="1200" dirty="0"/>
          </a:p>
        </p:txBody>
      </p:sp>
      <p:sp>
        <p:nvSpPr>
          <p:cNvPr id="11" name="Shape 7"/>
          <p:cNvSpPr/>
          <p:nvPr/>
        </p:nvSpPr>
        <p:spPr>
          <a:xfrm>
            <a:off x="4233672"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4416552" y="169164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4544568" y="1819656"/>
            <a:ext cx="201168" cy="201168"/>
          </a:xfrm>
          <a:prstGeom prst="rect">
            <a:avLst/>
          </a:prstGeom>
        </p:spPr>
      </p:pic>
      <p:sp>
        <p:nvSpPr>
          <p:cNvPr id="14" name="Text 9"/>
          <p:cNvSpPr txBox="1"/>
          <p:nvPr/>
        </p:nvSpPr>
        <p:spPr>
          <a:xfrm>
            <a:off x="5020056"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Laceración de tejidos blandos</a:t>
            </a:r>
            <a:endParaRPr lang="en-US" sz="1400" dirty="0"/>
          </a:p>
        </p:txBody>
      </p:sp>
      <p:sp>
        <p:nvSpPr>
          <p:cNvPr id="15" name="Text 10"/>
          <p:cNvSpPr txBox="1"/>
          <p:nvPr/>
        </p:nvSpPr>
        <p:spPr>
          <a:xfrm>
            <a:off x="5020056" y="2386584"/>
            <a:ext cx="2624328" cy="95097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Lesión de labios, encías, lengua o mucosa faríngea por el instrumental o por movimientos bruscos.</a:t>
            </a:r>
            <a:endParaRPr lang="en-US" sz="1200" dirty="0"/>
          </a:p>
        </p:txBody>
      </p:sp>
      <p:sp>
        <p:nvSpPr>
          <p:cNvPr id="16" name="Shape 11"/>
          <p:cNvSpPr/>
          <p:nvPr/>
        </p:nvSpPr>
        <p:spPr>
          <a:xfrm>
            <a:off x="7964424"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8147304" y="169164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8275320" y="1819656"/>
            <a:ext cx="201168" cy="201168"/>
          </a:xfrm>
          <a:prstGeom prst="rect">
            <a:avLst/>
          </a:prstGeom>
        </p:spPr>
      </p:pic>
      <p:sp>
        <p:nvSpPr>
          <p:cNvPr id="19" name="Text 13"/>
          <p:cNvSpPr txBox="1"/>
          <p:nvPr/>
        </p:nvSpPr>
        <p:spPr>
          <a:xfrm>
            <a:off x="8750808"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Intubación esofágica</a:t>
            </a:r>
            <a:endParaRPr lang="en-US" sz="1400" dirty="0"/>
          </a:p>
        </p:txBody>
      </p:sp>
      <p:sp>
        <p:nvSpPr>
          <p:cNvPr id="20" name="Text 14"/>
          <p:cNvSpPr txBox="1"/>
          <p:nvPr/>
        </p:nvSpPr>
        <p:spPr>
          <a:xfrm>
            <a:off x="8750808" y="211226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Colocación inadvertida del tubo en el esófago; se detecta por ausencia de capnografía y ruido epigástrico.</a:t>
            </a:r>
            <a:endParaRPr lang="en-US" sz="1200" dirty="0"/>
          </a:p>
        </p:txBody>
      </p:sp>
      <p:sp>
        <p:nvSpPr>
          <p:cNvPr id="21" name="Shape 15"/>
          <p:cNvSpPr/>
          <p:nvPr/>
        </p:nvSpPr>
        <p:spPr>
          <a:xfrm>
            <a:off x="502920"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2" name="Shape 16"/>
          <p:cNvSpPr/>
          <p:nvPr/>
        </p:nvSpPr>
        <p:spPr>
          <a:xfrm>
            <a:off x="685800" y="384048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23" name="Image 4" descr="preencoded.png">    </p:cNvPr>
          <p:cNvPicPr>
            <a:picLocks noChangeAspect="1"/>
          </p:cNvPicPr>
          <p:nvPr/>
        </p:nvPicPr>
        <p:blipFill>
          <a:blip r:embed="rId5"/>
          <a:stretch>
            <a:fillRect/>
          </a:stretch>
        </p:blipFill>
        <p:spPr>
          <a:xfrm>
            <a:off x="813816" y="3968496"/>
            <a:ext cx="201168" cy="201168"/>
          </a:xfrm>
          <a:prstGeom prst="rect">
            <a:avLst/>
          </a:prstGeom>
        </p:spPr>
      </p:pic>
      <p:sp>
        <p:nvSpPr>
          <p:cNvPr id="24" name="Text 17"/>
          <p:cNvSpPr txBox="1"/>
          <p:nvPr/>
        </p:nvSpPr>
        <p:spPr>
          <a:xfrm>
            <a:off x="1289304"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Intubación endobronquial</a:t>
            </a:r>
            <a:endParaRPr lang="en-US" sz="1400" dirty="0"/>
          </a:p>
        </p:txBody>
      </p:sp>
      <p:sp>
        <p:nvSpPr>
          <p:cNvPr id="25" name="Text 18"/>
          <p:cNvSpPr txBox="1"/>
          <p:nvPr/>
        </p:nvSpPr>
        <p:spPr>
          <a:xfrm>
            <a:off x="1289304"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Avance excesivo del tubo, habitualmente hacia el bronquio derecho; causa hipoxemia e hiperpresión ventilatoria.</a:t>
            </a:r>
            <a:endParaRPr lang="en-US" sz="1200" dirty="0"/>
          </a:p>
        </p:txBody>
      </p:sp>
      <p:sp>
        <p:nvSpPr>
          <p:cNvPr id="26" name="Shape 19"/>
          <p:cNvSpPr/>
          <p:nvPr/>
        </p:nvSpPr>
        <p:spPr>
          <a:xfrm>
            <a:off x="4233672"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7" name="Shape 20"/>
          <p:cNvSpPr/>
          <p:nvPr/>
        </p:nvSpPr>
        <p:spPr>
          <a:xfrm>
            <a:off x="4416552" y="384048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28" name="Image 5" descr="preencoded.png">    </p:cNvPr>
          <p:cNvPicPr>
            <a:picLocks noChangeAspect="1"/>
          </p:cNvPicPr>
          <p:nvPr/>
        </p:nvPicPr>
        <p:blipFill>
          <a:blip r:embed="rId6"/>
          <a:stretch>
            <a:fillRect/>
          </a:stretch>
        </p:blipFill>
        <p:spPr>
          <a:xfrm>
            <a:off x="4544568" y="3968496"/>
            <a:ext cx="201168" cy="201168"/>
          </a:xfrm>
          <a:prstGeom prst="rect">
            <a:avLst/>
          </a:prstGeom>
        </p:spPr>
      </p:pic>
      <p:sp>
        <p:nvSpPr>
          <p:cNvPr id="29" name="Text 21"/>
          <p:cNvSpPr txBox="1"/>
          <p:nvPr/>
        </p:nvSpPr>
        <p:spPr>
          <a:xfrm>
            <a:off x="5020056"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Respuesta hemodinámica</a:t>
            </a:r>
            <a:endParaRPr lang="en-US" sz="1400" dirty="0"/>
          </a:p>
        </p:txBody>
      </p:sp>
      <p:sp>
        <p:nvSpPr>
          <p:cNvPr id="30" name="Text 22"/>
          <p:cNvSpPr txBox="1"/>
          <p:nvPr/>
        </p:nvSpPr>
        <p:spPr>
          <a:xfrm>
            <a:off x="5020056"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Taquicardia e hipertensión reflejas por estimulación simpática durante la laringoscopia.</a:t>
            </a:r>
            <a:endParaRPr lang="en-US" sz="1200" dirty="0"/>
          </a:p>
        </p:txBody>
      </p:sp>
      <p:sp>
        <p:nvSpPr>
          <p:cNvPr id="31" name="Shape 23"/>
          <p:cNvSpPr/>
          <p:nvPr/>
        </p:nvSpPr>
        <p:spPr>
          <a:xfrm>
            <a:off x="7964424"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32" name="Shape 24"/>
          <p:cNvSpPr/>
          <p:nvPr/>
        </p:nvSpPr>
        <p:spPr>
          <a:xfrm>
            <a:off x="8147304" y="384048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33" name="Image 6" descr="preencoded.png">    </p:cNvPr>
          <p:cNvPicPr>
            <a:picLocks noChangeAspect="1"/>
          </p:cNvPicPr>
          <p:nvPr/>
        </p:nvPicPr>
        <p:blipFill>
          <a:blip r:embed="rId7"/>
          <a:stretch>
            <a:fillRect/>
          </a:stretch>
        </p:blipFill>
        <p:spPr>
          <a:xfrm>
            <a:off x="8275320" y="3968496"/>
            <a:ext cx="201168" cy="201168"/>
          </a:xfrm>
          <a:prstGeom prst="rect">
            <a:avLst/>
          </a:prstGeom>
        </p:spPr>
      </p:pic>
      <p:sp>
        <p:nvSpPr>
          <p:cNvPr id="34" name="Text 25"/>
          <p:cNvSpPr txBox="1"/>
          <p:nvPr/>
        </p:nvSpPr>
        <p:spPr>
          <a:xfrm>
            <a:off x="8750808" y="384048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Laringoespasmo/broncoespasmo</a:t>
            </a:r>
            <a:endParaRPr lang="en-US" sz="1400" dirty="0"/>
          </a:p>
        </p:txBody>
      </p:sp>
      <p:sp>
        <p:nvSpPr>
          <p:cNvPr id="35" name="Text 26"/>
          <p:cNvSpPr txBox="1"/>
          <p:nvPr/>
        </p:nvSpPr>
        <p:spPr>
          <a:xfrm>
            <a:off x="8750808" y="4261104"/>
            <a:ext cx="2624328" cy="1225296"/>
          </a:xfrm>
          <a:prstGeom prst="rect">
            <a:avLst/>
          </a:prstGeom>
          <a:noFill/>
          <a:ln/>
        </p:spPr>
        <p:txBody>
          <a:bodyPr wrap="square" lIns="0" tIns="0" rIns="0" bIns="0" rtlCol="0" anchor="t"/>
          <a:lstStyle/>
          <a:p>
            <a:pPr indent="0" marL="0">
              <a:lnSpc>
                <a:spcPts val="1536"/>
              </a:lnSpc>
              <a:spcAft>
                <a:spcPts val="600"/>
              </a:spcAft>
              <a:buNone/>
            </a:pPr>
            <a:r>
              <a:rPr lang="en-US" sz="1200" dirty="0">
                <a:solidFill>
                  <a:srgbClr val="2C3E50"/>
                </a:solidFill>
                <a:latin typeface="Calibri" pitchFamily="34" charset="0"/>
                <a:ea typeface="Calibri" pitchFamily="34" charset="-122"/>
                <a:cs typeface="Calibri" pitchFamily="34" charset="-120"/>
              </a:rPr>
              <a:t>Cierre reflejo de la vía aérea o broncoconstricción ante la instrumentación en plano anestésico superficial.</a:t>
            </a:r>
            <a:endParaRPr lang="en-US" sz="1200" dirty="0"/>
          </a:p>
        </p:txBody>
      </p:sp>
      <p:sp>
        <p:nvSpPr>
          <p:cNvPr id="37" name="Text 27"/>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8" name="Text 28"/>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23 / 31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COMPLICACIONES</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Complicaciones tardías</a:t>
            </a:r>
            <a:endParaRPr lang="en-US" sz="2500" dirty="0"/>
          </a:p>
        </p:txBody>
      </p:sp>
      <p:sp>
        <p:nvSpPr>
          <p:cNvPr id="6" name="Shape 3"/>
          <p:cNvSpPr/>
          <p:nvPr/>
        </p:nvSpPr>
        <p:spPr>
          <a:xfrm>
            <a:off x="502920" y="1508760"/>
            <a:ext cx="539496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42569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Estenosis subglótica</a:t>
            </a:r>
            <a:endParaRPr lang="en-US" sz="1600" dirty="0"/>
          </a:p>
        </p:txBody>
      </p:sp>
      <p:sp>
        <p:nvSpPr>
          <p:cNvPr id="10" name="Text 6"/>
          <p:cNvSpPr txBox="1"/>
          <p:nvPr/>
        </p:nvSpPr>
        <p:spPr>
          <a:xfrm>
            <a:off x="1289304" y="2112264"/>
            <a:ext cx="442569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Formación de tejido cicatricial que estrecha la luz traqueal, típicamente a nivel del balón o de la punta del tubo.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Favorecida por intubación prolongada, presión de balón excesiva y traumatismo repetido de la mucosa.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Se manifiesta semanas a meses después con estridor y disnea progresiva, incluso tras la extubación.</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prevención incluye el monitoreo sistemático de la presión del balón (20-30 cmH₂O) y la elección del tamaño de tubo adecuado.</a:t>
            </a:r>
            <a:endParaRPr lang="en-US" sz="1250" dirty="0"/>
          </a:p>
        </p:txBody>
      </p:sp>
      <p:sp>
        <p:nvSpPr>
          <p:cNvPr id="11" name="Shape 7"/>
          <p:cNvSpPr/>
          <p:nvPr/>
        </p:nvSpPr>
        <p:spPr>
          <a:xfrm>
            <a:off x="6080760" y="1508760"/>
            <a:ext cx="5605272"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263640" y="169164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391656" y="1819656"/>
            <a:ext cx="201168" cy="201168"/>
          </a:xfrm>
          <a:prstGeom prst="rect">
            <a:avLst/>
          </a:prstGeom>
        </p:spPr>
      </p:pic>
      <p:sp>
        <p:nvSpPr>
          <p:cNvPr id="14" name="Text 9"/>
          <p:cNvSpPr txBox="1"/>
          <p:nvPr/>
        </p:nvSpPr>
        <p:spPr>
          <a:xfrm>
            <a:off x="6867144" y="1691640"/>
            <a:ext cx="4636008"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Granulomas y disfonía</a:t>
            </a:r>
            <a:endParaRPr lang="en-US" sz="1600" dirty="0"/>
          </a:p>
        </p:txBody>
      </p:sp>
      <p:sp>
        <p:nvSpPr>
          <p:cNvPr id="15" name="Text 10"/>
          <p:cNvSpPr txBox="1"/>
          <p:nvPr/>
        </p:nvSpPr>
        <p:spPr>
          <a:xfrm>
            <a:off x="6867144" y="2112264"/>
            <a:ext cx="4636008"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Los granulomas de cuerdas vocales se forman por fricción e irritación mecánica sostenida, especialmente en el tercio posterior (apófisis vocal).</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disfonía transitoria es frecuente tras la extubación por edema o irritación de la mucosa laríngea.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disfonía persistente obliga a descartar lesión del nervio laríngeo recurrente o luxación aritenoidea.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El manejo incluye reposo vocal, tratamiento antiinflamatorio y valoración otorrinolaringológica si persiste más de 1-2 semanas.</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24 / 31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TÉCNICAS ESPECIALES</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Intubación de secuencia rápida (RSI)</a:t>
            </a:r>
            <a:endParaRPr lang="en-US" sz="2500" dirty="0"/>
          </a:p>
        </p:txBody>
      </p:sp>
      <p:sp>
        <p:nvSpPr>
          <p:cNvPr id="6" name="Text 3"/>
          <p:cNvSpPr txBox="1"/>
          <p:nvPr/>
        </p:nvSpPr>
        <p:spPr>
          <a:xfrm>
            <a:off x="502920" y="1463040"/>
            <a:ext cx="11201400" cy="502920"/>
          </a:xfrm>
          <a:prstGeom prst="rect">
            <a:avLst/>
          </a:prstGeom>
          <a:noFill/>
          <a:ln/>
        </p:spPr>
        <p:txBody>
          <a:bodyPr wrap="square" lIns="0" tIns="0" rIns="0" bIns="0" rtlCol="0" anchor="ctr"/>
          <a:lstStyle/>
          <a:p>
            <a:pPr indent="0" marL="0">
              <a:lnSpc>
                <a:spcPts val="1500"/>
              </a:lnSpc>
              <a:buNone/>
            </a:pPr>
            <a:r>
              <a:rPr lang="en-US" sz="1250" dirty="0">
                <a:solidFill>
                  <a:srgbClr val="2C3E50"/>
                </a:solidFill>
                <a:latin typeface="Calibri" pitchFamily="34" charset="0"/>
                <a:ea typeface="Calibri" pitchFamily="34" charset="-122"/>
                <a:cs typeface="Calibri" pitchFamily="34" charset="-120"/>
              </a:rPr>
              <a:t>Indicada en pacientes con estómago lleno o alto riesgo de broncoaspiración (urgencias, embarazo, obstrucción intestinal, trauma). Busca minimizar el tiempo entre la pérdida de reflejos protectores y el aseguramiento de la vía aérea.</a:t>
            </a:r>
            <a:endParaRPr lang="en-US" sz="1250" dirty="0"/>
          </a:p>
        </p:txBody>
      </p:sp>
      <p:sp>
        <p:nvSpPr>
          <p:cNvPr id="7" name="Shape 4"/>
          <p:cNvSpPr/>
          <p:nvPr/>
        </p:nvSpPr>
        <p:spPr>
          <a:xfrm>
            <a:off x="1107186" y="2286000"/>
            <a:ext cx="658368" cy="658368"/>
          </a:xfrm>
          <a:prstGeom prst="ellipse">
            <a:avLst/>
          </a:prstGeom>
          <a:solidFill>
            <a:srgbClr val="2C3E50"/>
          </a:solidFill>
          <a:ln/>
          <a:effectLst>
            <a:outerShdw sx="100000" sy="100000" kx="0" ky="0" algn="bl" rotWithShape="0" blurRad="63500" dist="25400" dir="5400000">
              <a:srgbClr val="1A2530">
                <a:alpha val="22000"/>
              </a:srgbClr>
            </a:outerShdw>
          </a:effectLst>
        </p:spPr>
      </p:sp>
      <p:sp>
        <p:nvSpPr>
          <p:cNvPr id="8" name="Text 5"/>
          <p:cNvSpPr txBox="1"/>
          <p:nvPr/>
        </p:nvSpPr>
        <p:spPr>
          <a:xfrm>
            <a:off x="1107186" y="228600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txBox="1"/>
          <p:nvPr/>
        </p:nvSpPr>
        <p:spPr>
          <a:xfrm>
            <a:off x="557784" y="305409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Preparación</a:t>
            </a:r>
            <a:endParaRPr lang="en-US" sz="1300" dirty="0"/>
          </a:p>
        </p:txBody>
      </p:sp>
      <p:sp>
        <p:nvSpPr>
          <p:cNvPr id="10" name="Text 7"/>
          <p:cNvSpPr txBox="1"/>
          <p:nvPr/>
        </p:nvSpPr>
        <p:spPr>
          <a:xfrm>
            <a:off x="557784" y="336499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Equipo y fármacos listos; succión inmediatamente disponible y comprobada.</a:t>
            </a:r>
            <a:endParaRPr lang="en-US" sz="1050" dirty="0"/>
          </a:p>
        </p:txBody>
      </p:sp>
      <p:sp>
        <p:nvSpPr>
          <p:cNvPr id="11" name="Shape 8"/>
          <p:cNvSpPr/>
          <p:nvPr/>
        </p:nvSpPr>
        <p:spPr>
          <a:xfrm>
            <a:off x="1820418" y="2532888"/>
            <a:ext cx="1098804" cy="164592"/>
          </a:xfrm>
          <a:prstGeom prst="rightArrow">
            <a:avLst/>
          </a:prstGeom>
          <a:solidFill>
            <a:srgbClr val="5D6D7E"/>
          </a:solidFill>
          <a:ln/>
        </p:spPr>
      </p:sp>
      <p:sp>
        <p:nvSpPr>
          <p:cNvPr id="12" name="Shape 9"/>
          <p:cNvSpPr/>
          <p:nvPr/>
        </p:nvSpPr>
        <p:spPr>
          <a:xfrm>
            <a:off x="2974086" y="2286000"/>
            <a:ext cx="658368" cy="658368"/>
          </a:xfrm>
          <a:prstGeom prst="ellipse">
            <a:avLst/>
          </a:prstGeom>
          <a:solidFill>
            <a:srgbClr val="2C3E50"/>
          </a:solidFill>
          <a:ln/>
          <a:effectLst>
            <a:outerShdw sx="100000" sy="100000" kx="0" ky="0" algn="bl" rotWithShape="0" blurRad="63500" dist="25400" dir="5400000">
              <a:srgbClr val="1A2530">
                <a:alpha val="22000"/>
              </a:srgbClr>
            </a:outerShdw>
          </a:effectLst>
        </p:spPr>
      </p:sp>
      <p:sp>
        <p:nvSpPr>
          <p:cNvPr id="13" name="Text 10"/>
          <p:cNvSpPr txBox="1"/>
          <p:nvPr/>
        </p:nvSpPr>
        <p:spPr>
          <a:xfrm>
            <a:off x="2974086" y="228600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1"/>
          <p:cNvSpPr txBox="1"/>
          <p:nvPr/>
        </p:nvSpPr>
        <p:spPr>
          <a:xfrm>
            <a:off x="2424684" y="305409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Preoxigenación</a:t>
            </a:r>
            <a:endParaRPr lang="en-US" sz="1300" dirty="0"/>
          </a:p>
        </p:txBody>
      </p:sp>
      <p:sp>
        <p:nvSpPr>
          <p:cNvPr id="15" name="Text 12"/>
          <p:cNvSpPr txBox="1"/>
          <p:nvPr/>
        </p:nvSpPr>
        <p:spPr>
          <a:xfrm>
            <a:off x="2424684" y="336499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O₂ al 100% sin ventilar con presión positiva, para evitar insuflación gástrica.</a:t>
            </a:r>
            <a:endParaRPr lang="en-US" sz="1050" dirty="0"/>
          </a:p>
        </p:txBody>
      </p:sp>
      <p:sp>
        <p:nvSpPr>
          <p:cNvPr id="16" name="Shape 13"/>
          <p:cNvSpPr/>
          <p:nvPr/>
        </p:nvSpPr>
        <p:spPr>
          <a:xfrm>
            <a:off x="3687318" y="2532888"/>
            <a:ext cx="1098804" cy="164592"/>
          </a:xfrm>
          <a:prstGeom prst="rightArrow">
            <a:avLst/>
          </a:prstGeom>
          <a:solidFill>
            <a:srgbClr val="5D6D7E"/>
          </a:solidFill>
          <a:ln/>
        </p:spPr>
      </p:sp>
      <p:sp>
        <p:nvSpPr>
          <p:cNvPr id="17" name="Shape 14"/>
          <p:cNvSpPr/>
          <p:nvPr/>
        </p:nvSpPr>
        <p:spPr>
          <a:xfrm>
            <a:off x="4840986" y="2286000"/>
            <a:ext cx="658368" cy="658368"/>
          </a:xfrm>
          <a:prstGeom prst="ellipse">
            <a:avLst/>
          </a:prstGeom>
          <a:solidFill>
            <a:srgbClr val="2C3E50"/>
          </a:solidFill>
          <a:ln/>
          <a:effectLst>
            <a:outerShdw sx="100000" sy="100000" kx="0" ky="0" algn="bl" rotWithShape="0" blurRad="63500" dist="25400" dir="5400000">
              <a:srgbClr val="1A2530">
                <a:alpha val="22000"/>
              </a:srgbClr>
            </a:outerShdw>
          </a:effectLst>
        </p:spPr>
      </p:sp>
      <p:sp>
        <p:nvSpPr>
          <p:cNvPr id="18" name="Text 15"/>
          <p:cNvSpPr txBox="1"/>
          <p:nvPr/>
        </p:nvSpPr>
        <p:spPr>
          <a:xfrm>
            <a:off x="4840986" y="228600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6"/>
          <p:cNvSpPr txBox="1"/>
          <p:nvPr/>
        </p:nvSpPr>
        <p:spPr>
          <a:xfrm>
            <a:off x="4291584" y="305409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Premedicación</a:t>
            </a:r>
            <a:endParaRPr lang="en-US" sz="1300" dirty="0"/>
          </a:p>
        </p:txBody>
      </p:sp>
      <p:sp>
        <p:nvSpPr>
          <p:cNvPr id="20" name="Text 17"/>
          <p:cNvSpPr txBox="1"/>
          <p:nvPr/>
        </p:nvSpPr>
        <p:spPr>
          <a:xfrm>
            <a:off x="4291584" y="336499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Opcional según el caso (p. ej., opioide) para atenuar la respuesta simpática.</a:t>
            </a:r>
            <a:endParaRPr lang="en-US" sz="1050" dirty="0"/>
          </a:p>
        </p:txBody>
      </p:sp>
      <p:sp>
        <p:nvSpPr>
          <p:cNvPr id="21" name="Shape 18"/>
          <p:cNvSpPr/>
          <p:nvPr/>
        </p:nvSpPr>
        <p:spPr>
          <a:xfrm>
            <a:off x="5554218" y="2532888"/>
            <a:ext cx="1098804" cy="164592"/>
          </a:xfrm>
          <a:prstGeom prst="rightArrow">
            <a:avLst/>
          </a:prstGeom>
          <a:solidFill>
            <a:srgbClr val="5D6D7E"/>
          </a:solidFill>
          <a:ln/>
        </p:spPr>
      </p:sp>
      <p:sp>
        <p:nvSpPr>
          <p:cNvPr id="22" name="Shape 19"/>
          <p:cNvSpPr/>
          <p:nvPr/>
        </p:nvSpPr>
        <p:spPr>
          <a:xfrm>
            <a:off x="6707886" y="2286000"/>
            <a:ext cx="658368" cy="658368"/>
          </a:xfrm>
          <a:prstGeom prst="ellipse">
            <a:avLst/>
          </a:prstGeom>
          <a:solidFill>
            <a:srgbClr val="2C3E50"/>
          </a:solidFill>
          <a:ln/>
          <a:effectLst>
            <a:outerShdw sx="100000" sy="100000" kx="0" ky="0" algn="bl" rotWithShape="0" blurRad="63500" dist="25400" dir="5400000">
              <a:srgbClr val="1A2530">
                <a:alpha val="22000"/>
              </a:srgbClr>
            </a:outerShdw>
          </a:effectLst>
        </p:spPr>
      </p:sp>
      <p:sp>
        <p:nvSpPr>
          <p:cNvPr id="23" name="Text 20"/>
          <p:cNvSpPr txBox="1"/>
          <p:nvPr/>
        </p:nvSpPr>
        <p:spPr>
          <a:xfrm>
            <a:off x="6707886" y="228600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4" name="Text 21"/>
          <p:cNvSpPr txBox="1"/>
          <p:nvPr/>
        </p:nvSpPr>
        <p:spPr>
          <a:xfrm>
            <a:off x="6158484" y="305409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Inducción y relajación</a:t>
            </a:r>
            <a:endParaRPr lang="en-US" sz="1300" dirty="0"/>
          </a:p>
        </p:txBody>
      </p:sp>
      <p:sp>
        <p:nvSpPr>
          <p:cNvPr id="25" name="Text 22"/>
          <p:cNvSpPr txBox="1"/>
          <p:nvPr/>
        </p:nvSpPr>
        <p:spPr>
          <a:xfrm>
            <a:off x="6158484" y="336499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Inductor de acción rápida seguido inmediatamente de un relajante de inicio rápido (succinilcolina o rocuronio en dosis alta).</a:t>
            </a:r>
            <a:endParaRPr lang="en-US" sz="1050" dirty="0"/>
          </a:p>
        </p:txBody>
      </p:sp>
      <p:sp>
        <p:nvSpPr>
          <p:cNvPr id="26" name="Shape 23"/>
          <p:cNvSpPr/>
          <p:nvPr/>
        </p:nvSpPr>
        <p:spPr>
          <a:xfrm>
            <a:off x="7421118" y="2532888"/>
            <a:ext cx="1098804" cy="164592"/>
          </a:xfrm>
          <a:prstGeom prst="rightArrow">
            <a:avLst/>
          </a:prstGeom>
          <a:solidFill>
            <a:srgbClr val="5D6D7E"/>
          </a:solidFill>
          <a:ln/>
        </p:spPr>
      </p:sp>
      <p:sp>
        <p:nvSpPr>
          <p:cNvPr id="27" name="Shape 24"/>
          <p:cNvSpPr/>
          <p:nvPr/>
        </p:nvSpPr>
        <p:spPr>
          <a:xfrm>
            <a:off x="8574786" y="2286000"/>
            <a:ext cx="658368" cy="658368"/>
          </a:xfrm>
          <a:prstGeom prst="ellipse">
            <a:avLst/>
          </a:prstGeom>
          <a:solidFill>
            <a:srgbClr val="2C3E50"/>
          </a:solidFill>
          <a:ln/>
          <a:effectLst>
            <a:outerShdw sx="100000" sy="100000" kx="0" ky="0" algn="bl" rotWithShape="0" blurRad="63500" dist="25400" dir="5400000">
              <a:srgbClr val="1A2530">
                <a:alpha val="22000"/>
              </a:srgbClr>
            </a:outerShdw>
          </a:effectLst>
        </p:spPr>
      </p:sp>
      <p:sp>
        <p:nvSpPr>
          <p:cNvPr id="28" name="Text 25"/>
          <p:cNvSpPr txBox="1"/>
          <p:nvPr/>
        </p:nvSpPr>
        <p:spPr>
          <a:xfrm>
            <a:off x="8574786" y="228600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9" name="Text 26"/>
          <p:cNvSpPr txBox="1"/>
          <p:nvPr/>
        </p:nvSpPr>
        <p:spPr>
          <a:xfrm>
            <a:off x="8025384" y="305409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Sin ventilación manual</a:t>
            </a:r>
            <a:endParaRPr lang="en-US" sz="1300" dirty="0"/>
          </a:p>
        </p:txBody>
      </p:sp>
      <p:sp>
        <p:nvSpPr>
          <p:cNvPr id="30" name="Text 27"/>
          <p:cNvSpPr txBox="1"/>
          <p:nvPr/>
        </p:nvSpPr>
        <p:spPr>
          <a:xfrm>
            <a:off x="8025384" y="336499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Se evita ventilar con máscara entre la inducción y la intubación, salvo hipoxemia.</a:t>
            </a:r>
            <a:endParaRPr lang="en-US" sz="1050" dirty="0"/>
          </a:p>
        </p:txBody>
      </p:sp>
      <p:sp>
        <p:nvSpPr>
          <p:cNvPr id="31" name="Shape 28"/>
          <p:cNvSpPr/>
          <p:nvPr/>
        </p:nvSpPr>
        <p:spPr>
          <a:xfrm>
            <a:off x="9288018" y="2532888"/>
            <a:ext cx="1098804" cy="164592"/>
          </a:xfrm>
          <a:prstGeom prst="rightArrow">
            <a:avLst/>
          </a:prstGeom>
          <a:solidFill>
            <a:srgbClr val="5D6D7E"/>
          </a:solidFill>
          <a:ln/>
        </p:spPr>
      </p:sp>
      <p:sp>
        <p:nvSpPr>
          <p:cNvPr id="32" name="Shape 29"/>
          <p:cNvSpPr/>
          <p:nvPr/>
        </p:nvSpPr>
        <p:spPr>
          <a:xfrm>
            <a:off x="10441686" y="2286000"/>
            <a:ext cx="658368" cy="658368"/>
          </a:xfrm>
          <a:prstGeom prst="ellipse">
            <a:avLst/>
          </a:prstGeom>
          <a:solidFill>
            <a:srgbClr val="2C3E50"/>
          </a:solidFill>
          <a:ln/>
          <a:effectLst>
            <a:outerShdw sx="100000" sy="100000" kx="0" ky="0" algn="bl" rotWithShape="0" blurRad="63500" dist="25400" dir="5400000">
              <a:srgbClr val="1A2530">
                <a:alpha val="22000"/>
              </a:srgbClr>
            </a:outerShdw>
          </a:effectLst>
        </p:spPr>
      </p:sp>
      <p:sp>
        <p:nvSpPr>
          <p:cNvPr id="33" name="Text 30"/>
          <p:cNvSpPr txBox="1"/>
          <p:nvPr/>
        </p:nvSpPr>
        <p:spPr>
          <a:xfrm>
            <a:off x="10441686" y="228600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4" name="Text 31"/>
          <p:cNvSpPr txBox="1"/>
          <p:nvPr/>
        </p:nvSpPr>
        <p:spPr>
          <a:xfrm>
            <a:off x="9892284" y="3054096"/>
            <a:ext cx="1757172" cy="320040"/>
          </a:xfrm>
          <a:prstGeom prst="rect">
            <a:avLst/>
          </a:prstGeom>
          <a:noFill/>
          <a:ln/>
        </p:spPr>
        <p:txBody>
          <a:bodyPr wrap="square" lIns="0" tIns="0" rIns="0" bIns="0" rtlCol="0" anchor="ctr"/>
          <a:lstStyle/>
          <a:p>
            <a:pPr algn="ctr" indent="0" marL="0">
              <a:buNone/>
            </a:pPr>
            <a:r>
              <a:rPr lang="en-US" sz="1300" b="1" dirty="0">
                <a:solidFill>
                  <a:srgbClr val="2C3E50"/>
                </a:solidFill>
                <a:latin typeface="Calibri" pitchFamily="34" charset="0"/>
                <a:ea typeface="Calibri" pitchFamily="34" charset="-122"/>
                <a:cs typeface="Calibri" pitchFamily="34" charset="-120"/>
              </a:rPr>
              <a:t>Intubación y confirmación</a:t>
            </a:r>
            <a:endParaRPr lang="en-US" sz="1300" dirty="0"/>
          </a:p>
        </p:txBody>
      </p:sp>
      <p:sp>
        <p:nvSpPr>
          <p:cNvPr id="35" name="Text 32"/>
          <p:cNvSpPr txBox="1"/>
          <p:nvPr/>
        </p:nvSpPr>
        <p:spPr>
          <a:xfrm>
            <a:off x="9892284" y="3364992"/>
            <a:ext cx="1757172" cy="822960"/>
          </a:xfrm>
          <a:prstGeom prst="rect">
            <a:avLst/>
          </a:prstGeom>
          <a:noFill/>
          <a:ln/>
        </p:spPr>
        <p:txBody>
          <a:bodyPr wrap="square" lIns="0" tIns="0" rIns="0" bIns="0" rtlCol="0" anchor="t"/>
          <a:lstStyle/>
          <a:p>
            <a:pPr algn="ctr" indent="0" marL="0">
              <a:lnSpc>
                <a:spcPts val="1300"/>
              </a:lnSpc>
              <a:buNone/>
            </a:pPr>
            <a:r>
              <a:rPr lang="en-US" sz="1050" dirty="0">
                <a:solidFill>
                  <a:srgbClr val="5D6D7E"/>
                </a:solidFill>
                <a:latin typeface="Calibri" pitchFamily="34" charset="0"/>
                <a:ea typeface="Calibri" pitchFamily="34" charset="-122"/>
                <a:cs typeface="Calibri" pitchFamily="34" charset="-120"/>
              </a:rPr>
              <a:t>Laringoscopia inmediata al alcanzar la relajación; confirmar con capnografía sin demora.</a:t>
            </a:r>
            <a:endParaRPr lang="en-US" sz="1050" dirty="0"/>
          </a:p>
        </p:txBody>
      </p:sp>
      <p:sp>
        <p:nvSpPr>
          <p:cNvPr id="36" name="Shape 33"/>
          <p:cNvSpPr/>
          <p:nvPr/>
        </p:nvSpPr>
        <p:spPr>
          <a:xfrm>
            <a:off x="502920" y="5440680"/>
            <a:ext cx="11201400" cy="914400"/>
          </a:xfrm>
          <a:prstGeom prst="roundRect">
            <a:avLst>
              <a:gd name="adj" fmla="val 7000"/>
            </a:avLst>
          </a:prstGeom>
          <a:solidFill>
            <a:srgbClr val="D7EEF2"/>
          </a:solidFill>
          <a:ln/>
        </p:spPr>
      </p:sp>
      <p:sp>
        <p:nvSpPr>
          <p:cNvPr id="37" name="Text 34"/>
          <p:cNvSpPr txBox="1"/>
          <p:nvPr/>
        </p:nvSpPr>
        <p:spPr>
          <a:xfrm>
            <a:off x="777240" y="5559552"/>
            <a:ext cx="10607040" cy="685800"/>
          </a:xfrm>
          <a:prstGeom prst="rect">
            <a:avLst/>
          </a:prstGeom>
          <a:noFill/>
          <a:ln/>
        </p:spPr>
        <p:txBody>
          <a:bodyPr wrap="square" lIns="0" tIns="0" rIns="0" bIns="0" rtlCol="0" anchor="ctr"/>
          <a:lstStyle/>
          <a:p>
            <a:pPr indent="0" marL="0">
              <a:lnSpc>
                <a:spcPts val="1500"/>
              </a:lnSpc>
              <a:buNone/>
            </a:pPr>
            <a:r>
              <a:rPr lang="en-US" sz="1200" b="1" dirty="0">
                <a:solidFill>
                  <a:srgbClr val="2C3E50"/>
                </a:solidFill>
                <a:latin typeface="Calibri" pitchFamily="34" charset="0"/>
                <a:ea typeface="Calibri" pitchFamily="34" charset="-122"/>
                <a:cs typeface="Calibri" pitchFamily="34" charset="-120"/>
              </a:rPr>
              <a:t>Nota sobre presión cricoidea:  </a:t>
            </a:r>
            <a:pPr indent="0" marL="0">
              <a:lnSpc>
                <a:spcPts val="1500"/>
              </a:lnSpc>
              <a:buNone/>
            </a:pPr>
            <a:r>
              <a:rPr lang="en-US" sz="1200" dirty="0">
                <a:solidFill>
                  <a:srgbClr val="2C3E50"/>
                </a:solidFill>
                <a:latin typeface="Calibri" pitchFamily="34" charset="0"/>
                <a:ea typeface="Calibri" pitchFamily="34" charset="-122"/>
                <a:cs typeface="Calibri" pitchFamily="34" charset="-120"/>
              </a:rPr>
              <a:t>Tradicionalmente descrita en la maniobra de Sellick para ocluir el esófago; su beneficio real es controvertido y las guías actuales recomiendan liberarla si dificulta la visión glótica o el paso del tubo.</a:t>
            </a:r>
            <a:endParaRPr lang="en-US" sz="1200" dirty="0"/>
          </a:p>
        </p:txBody>
      </p:sp>
      <p:sp>
        <p:nvSpPr>
          <p:cNvPr id="39" name="Text 35"/>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40" name="Text 36"/>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25 / 31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EXTUBACIÓN TRAQUEAL</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Criterios de extubación segura</a:t>
            </a:r>
            <a:endParaRPr lang="en-US" sz="2500" dirty="0"/>
          </a:p>
        </p:txBody>
      </p:sp>
      <p:sp>
        <p:nvSpPr>
          <p:cNvPr id="6" name="Shape 3"/>
          <p:cNvSpPr/>
          <p:nvPr/>
        </p:nvSpPr>
        <p:spPr>
          <a:xfrm>
            <a:off x="502920"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2624328" cy="457200"/>
          </a:xfrm>
          <a:prstGeom prst="rect">
            <a:avLst/>
          </a:prstGeom>
          <a:noFill/>
          <a:ln/>
        </p:spPr>
        <p:txBody>
          <a:bodyPr wrap="square" lIns="0" tIns="0" rIns="0" bIns="0" rtlCol="0" anchor="t"/>
          <a:lstStyle/>
          <a:p>
            <a:pPr indent="0" marL="0">
              <a:buNone/>
            </a:pPr>
            <a:r>
              <a:rPr lang="en-US" sz="1450" b="1" dirty="0">
                <a:solidFill>
                  <a:srgbClr val="2C3E50"/>
                </a:solidFill>
                <a:latin typeface="Cambria" pitchFamily="34" charset="0"/>
                <a:ea typeface="Cambria" pitchFamily="34" charset="-122"/>
                <a:cs typeface="Cambria" pitchFamily="34" charset="-120"/>
              </a:rPr>
              <a:t>Criterios respiratorios</a:t>
            </a:r>
            <a:endParaRPr lang="en-US" sz="1450" dirty="0"/>
          </a:p>
        </p:txBody>
      </p:sp>
      <p:sp>
        <p:nvSpPr>
          <p:cNvPr id="10" name="Text 6"/>
          <p:cNvSpPr txBox="1"/>
          <p:nvPr/>
        </p:nvSpPr>
        <p:spPr>
          <a:xfrm>
            <a:off x="1289304" y="2112264"/>
            <a:ext cx="2624328" cy="3831336"/>
          </a:xfrm>
          <a:prstGeom prst="rect">
            <a:avLst/>
          </a:prstGeom>
          <a:noFill/>
          <a:ln/>
        </p:spPr>
        <p:txBody>
          <a:bodyPr wrap="square" lIns="0" tIns="0" rIns="0" bIns="0" rtlCol="0" anchor="t"/>
          <a:lstStyle/>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Ventilación espontánea adecuada, con volumen corriente y frecuencia respiratoria eficaces.</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SpO₂ y gasometría dentro de parámetros aceptables con FiO₂ baja.</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Fuerza muscular respiratoria recuperada (capacidad de toser eficazmente).</a:t>
            </a:r>
            <a:endParaRPr lang="en-US" sz="1200" dirty="0"/>
          </a:p>
        </p:txBody>
      </p:sp>
      <p:sp>
        <p:nvSpPr>
          <p:cNvPr id="11" name="Shape 7"/>
          <p:cNvSpPr/>
          <p:nvPr/>
        </p:nvSpPr>
        <p:spPr>
          <a:xfrm>
            <a:off x="4233672"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4416552"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4544568" y="1819656"/>
            <a:ext cx="201168" cy="201168"/>
          </a:xfrm>
          <a:prstGeom prst="rect">
            <a:avLst/>
          </a:prstGeom>
        </p:spPr>
      </p:pic>
      <p:sp>
        <p:nvSpPr>
          <p:cNvPr id="14" name="Text 9"/>
          <p:cNvSpPr txBox="1"/>
          <p:nvPr/>
        </p:nvSpPr>
        <p:spPr>
          <a:xfrm>
            <a:off x="5020056" y="1691640"/>
            <a:ext cx="2624328" cy="457200"/>
          </a:xfrm>
          <a:prstGeom prst="rect">
            <a:avLst/>
          </a:prstGeom>
          <a:noFill/>
          <a:ln/>
        </p:spPr>
        <p:txBody>
          <a:bodyPr wrap="square" lIns="0" tIns="0" rIns="0" bIns="0" rtlCol="0" anchor="t"/>
          <a:lstStyle/>
          <a:p>
            <a:pPr indent="0" marL="0">
              <a:buNone/>
            </a:pPr>
            <a:r>
              <a:rPr lang="en-US" sz="1450" b="1" dirty="0">
                <a:solidFill>
                  <a:srgbClr val="2C3E50"/>
                </a:solidFill>
                <a:latin typeface="Cambria" pitchFamily="34" charset="0"/>
                <a:ea typeface="Cambria" pitchFamily="34" charset="-122"/>
                <a:cs typeface="Cambria" pitchFamily="34" charset="-120"/>
              </a:rPr>
              <a:t>Criterios neurológicos</a:t>
            </a:r>
            <a:endParaRPr lang="en-US" sz="1450" dirty="0"/>
          </a:p>
        </p:txBody>
      </p:sp>
      <p:sp>
        <p:nvSpPr>
          <p:cNvPr id="15" name="Text 10"/>
          <p:cNvSpPr txBox="1"/>
          <p:nvPr/>
        </p:nvSpPr>
        <p:spPr>
          <a:xfrm>
            <a:off x="5020056" y="2112264"/>
            <a:ext cx="2624328" cy="3831336"/>
          </a:xfrm>
          <a:prstGeom prst="rect">
            <a:avLst/>
          </a:prstGeom>
          <a:noFill/>
          <a:ln/>
        </p:spPr>
        <p:txBody>
          <a:bodyPr wrap="square" lIns="0" tIns="0" rIns="0" bIns="0" rtlCol="0" anchor="t"/>
          <a:lstStyle/>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Recuperación del estado de conciencia y capacidad de seguir órdenes simples.</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Recuperación de los reflejos protectores de la vía aérea (deglución, tos).</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Ausencia de bloqueo neuromuscular residual (tren de cuatro ≥ 0.9).</a:t>
            </a:r>
            <a:endParaRPr lang="en-US" sz="1200" dirty="0"/>
          </a:p>
        </p:txBody>
      </p:sp>
      <p:sp>
        <p:nvSpPr>
          <p:cNvPr id="16" name="Shape 11"/>
          <p:cNvSpPr/>
          <p:nvPr/>
        </p:nvSpPr>
        <p:spPr>
          <a:xfrm>
            <a:off x="7964424"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8147304"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8275320" y="1819656"/>
            <a:ext cx="201168" cy="201168"/>
          </a:xfrm>
          <a:prstGeom prst="rect">
            <a:avLst/>
          </a:prstGeom>
        </p:spPr>
      </p:pic>
      <p:sp>
        <p:nvSpPr>
          <p:cNvPr id="19" name="Text 13"/>
          <p:cNvSpPr txBox="1"/>
          <p:nvPr/>
        </p:nvSpPr>
        <p:spPr>
          <a:xfrm>
            <a:off x="8750808" y="1691640"/>
            <a:ext cx="2624328" cy="457200"/>
          </a:xfrm>
          <a:prstGeom prst="rect">
            <a:avLst/>
          </a:prstGeom>
          <a:noFill/>
          <a:ln/>
        </p:spPr>
        <p:txBody>
          <a:bodyPr wrap="square" lIns="0" tIns="0" rIns="0" bIns="0" rtlCol="0" anchor="t"/>
          <a:lstStyle/>
          <a:p>
            <a:pPr indent="0" marL="0">
              <a:buNone/>
            </a:pPr>
            <a:r>
              <a:rPr lang="en-US" sz="1450" b="1" dirty="0">
                <a:solidFill>
                  <a:srgbClr val="2C3E50"/>
                </a:solidFill>
                <a:latin typeface="Cambria" pitchFamily="34" charset="0"/>
                <a:ea typeface="Cambria" pitchFamily="34" charset="-122"/>
                <a:cs typeface="Cambria" pitchFamily="34" charset="-120"/>
              </a:rPr>
              <a:t>Criterios hemodinámicos y generales</a:t>
            </a:r>
            <a:endParaRPr lang="en-US" sz="1450" dirty="0"/>
          </a:p>
        </p:txBody>
      </p:sp>
      <p:sp>
        <p:nvSpPr>
          <p:cNvPr id="20" name="Text 14"/>
          <p:cNvSpPr txBox="1"/>
          <p:nvPr/>
        </p:nvSpPr>
        <p:spPr>
          <a:xfrm>
            <a:off x="8750808" y="2386584"/>
            <a:ext cx="2624328" cy="3557016"/>
          </a:xfrm>
          <a:prstGeom prst="rect">
            <a:avLst/>
          </a:prstGeom>
          <a:noFill/>
          <a:ln/>
        </p:spPr>
        <p:txBody>
          <a:bodyPr wrap="square" lIns="0" tIns="0" rIns="0" bIns="0" rtlCol="0" anchor="t"/>
          <a:lstStyle/>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Estabilidad hemodinámica sin soporte vasopresor significativo.</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Normotermia y ausencia de alteraciones metabólicas o ácido-base mayores.</a:t>
            </a:r>
            <a:endParaRPr lang="en-US" sz="1200" dirty="0"/>
          </a:p>
          <a:p>
            <a:pPr marL="152400" indent="-152400">
              <a:lnSpc>
                <a:spcPts val="1536"/>
              </a:lnSpc>
              <a:spcAft>
                <a:spcPts val="600"/>
              </a:spcAft>
              <a:buSzPct val="100000"/>
              <a:buChar char="•"/>
            </a:pPr>
            <a:r>
              <a:rPr lang="en-US" sz="1200" dirty="0">
                <a:solidFill>
                  <a:srgbClr val="2C3E50"/>
                </a:solidFill>
                <a:latin typeface="Calibri" pitchFamily="34" charset="0"/>
                <a:ea typeface="Calibri" pitchFamily="34" charset="-122"/>
                <a:cs typeface="Calibri" pitchFamily="34" charset="-120"/>
              </a:rPr>
              <a:t>Ausencia de sangrado activo o de factores que anticipen una vía aérea difícil poscirugía.</a:t>
            </a:r>
            <a:endParaRPr lang="en-US" sz="1200" dirty="0"/>
          </a:p>
        </p:txBody>
      </p:sp>
      <p:sp>
        <p:nvSpPr>
          <p:cNvPr id="22" name="Text 15"/>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3" name="Text 16"/>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26 / 31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EXTUBACIÓN TRAQUEAL</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Técnica y manejo de complicaciones</a:t>
            </a:r>
            <a:endParaRPr lang="en-US" sz="2500" dirty="0"/>
          </a:p>
        </p:txBody>
      </p:sp>
      <p:sp>
        <p:nvSpPr>
          <p:cNvPr id="6" name="Shape 3"/>
          <p:cNvSpPr/>
          <p:nvPr/>
        </p:nvSpPr>
        <p:spPr>
          <a:xfrm>
            <a:off x="502920" y="1508760"/>
            <a:ext cx="5394960"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4425696"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Técnica de extubación</a:t>
            </a:r>
            <a:endParaRPr lang="en-US" sz="1600" dirty="0"/>
          </a:p>
        </p:txBody>
      </p:sp>
      <p:sp>
        <p:nvSpPr>
          <p:cNvPr id="10" name="Text 6"/>
          <p:cNvSpPr txBox="1"/>
          <p:nvPr/>
        </p:nvSpPr>
        <p:spPr>
          <a:xfrm>
            <a:off x="1289304" y="2112264"/>
            <a:ext cx="4425696"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Aspirar secreciones orofaríngeas y, si procede, endotraqueales antes de retirar el tubo.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Ventilar con O₂ al 100% y desinflar completamente el balón.</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Retirar el tubo en un momento adecuado del ciclo respiratorio: en inspiración profunda ("extubación con presión positiva") suele reducir el laringoespasmo.</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Extubación "profunda" (bajo plano anestésico) frente a "despierto": la primera reduce la tos pero exige indicación cuidadosa por mayor riesgo de obstrucción.</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Mantener oxígeno suplementario y vigilancia estrecha en el postoperatorio inmediato.</a:t>
            </a:r>
            <a:endParaRPr lang="en-US" sz="1250" dirty="0"/>
          </a:p>
        </p:txBody>
      </p:sp>
      <p:sp>
        <p:nvSpPr>
          <p:cNvPr id="11" name="Shape 7"/>
          <p:cNvSpPr/>
          <p:nvPr/>
        </p:nvSpPr>
        <p:spPr>
          <a:xfrm>
            <a:off x="6080760" y="1508760"/>
            <a:ext cx="5605272" cy="4572000"/>
          </a:xfrm>
          <a:prstGeom prst="roundRect">
            <a:avLst>
              <a:gd name="adj" fmla="val 1600"/>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6263640" y="1691640"/>
            <a:ext cx="457200" cy="457200"/>
          </a:xfrm>
          <a:prstGeom prst="ellipse">
            <a:avLst/>
          </a:prstGeom>
          <a:solidFill>
            <a:srgbClr val="5D6D7E"/>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6391656" y="1819656"/>
            <a:ext cx="201168" cy="201168"/>
          </a:xfrm>
          <a:prstGeom prst="rect">
            <a:avLst/>
          </a:prstGeom>
        </p:spPr>
      </p:pic>
      <p:sp>
        <p:nvSpPr>
          <p:cNvPr id="14" name="Text 9"/>
          <p:cNvSpPr txBox="1"/>
          <p:nvPr/>
        </p:nvSpPr>
        <p:spPr>
          <a:xfrm>
            <a:off x="6867144" y="1691640"/>
            <a:ext cx="4636008" cy="457200"/>
          </a:xfrm>
          <a:prstGeom prst="rect">
            <a:avLst/>
          </a:prstGeom>
          <a:noFill/>
          <a:ln/>
        </p:spPr>
        <p:txBody>
          <a:bodyPr wrap="square" lIns="0" tIns="0" rIns="0" bIns="0" rtlCol="0" anchor="t"/>
          <a:lstStyle/>
          <a:p>
            <a:pPr indent="0" marL="0">
              <a:buNone/>
            </a:pPr>
            <a:r>
              <a:rPr lang="en-US" sz="1600" b="1" dirty="0">
                <a:solidFill>
                  <a:srgbClr val="2C3E50"/>
                </a:solidFill>
                <a:latin typeface="Cambria" pitchFamily="34" charset="0"/>
                <a:ea typeface="Cambria" pitchFamily="34" charset="-122"/>
                <a:cs typeface="Cambria" pitchFamily="34" charset="-120"/>
              </a:rPr>
              <a:t>Complicaciones y manejo</a:t>
            </a:r>
            <a:endParaRPr lang="en-US" sz="1600" dirty="0"/>
          </a:p>
        </p:txBody>
      </p:sp>
      <p:sp>
        <p:nvSpPr>
          <p:cNvPr id="15" name="Text 10"/>
          <p:cNvSpPr txBox="1"/>
          <p:nvPr/>
        </p:nvSpPr>
        <p:spPr>
          <a:xfrm>
            <a:off x="6867144" y="2112264"/>
            <a:ext cx="4636008" cy="3831336"/>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Laringoespasmo: cierre reflejo de la glotis; manejo con presión positiva continua, maniobra de Larson (presión en el "punto de laringoespasmo") y, si persiste, dosis baja de succinilcolina.</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Edema laríngeo/subglótico: causa estridor postextubación; el tratamiento incluye O₂ humidificado, adrenalina nebulizada y corticoides.</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Hipoventilación por bloqueo residual: requiere reversión adecuada y reevaluación antes de considerar reintubación.</a:t>
            </a:r>
            <a:endParaRPr lang="en-US" sz="1250" dirty="0"/>
          </a:p>
          <a:p>
            <a:pPr marL="152400" indent="-152400">
              <a:lnSpc>
                <a:spcPts val="1600"/>
              </a:lnSpc>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Obstrucción por edema de vía aérea superior en cirugía prolongada en decúbito prono o Trendelenburg extremo.</a:t>
            </a:r>
            <a:endParaRPr lang="en-US" sz="1250" dirty="0"/>
          </a:p>
        </p:txBody>
      </p:sp>
      <p:sp>
        <p:nvSpPr>
          <p:cNvPr id="17" name="Text 11"/>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18" name="Text 12"/>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27 / 31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CONSIDERACIONES ESPECIALES</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Pediatría, obesidad y politrauma</a:t>
            </a:r>
            <a:endParaRPr lang="en-US" sz="2500" dirty="0"/>
          </a:p>
        </p:txBody>
      </p:sp>
      <p:sp>
        <p:nvSpPr>
          <p:cNvPr id="6" name="Shape 3"/>
          <p:cNvSpPr/>
          <p:nvPr/>
        </p:nvSpPr>
        <p:spPr>
          <a:xfrm>
            <a:off x="502920"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Paciente pediátrico</a:t>
            </a:r>
            <a:endParaRPr lang="en-US" sz="1400" dirty="0"/>
          </a:p>
        </p:txBody>
      </p:sp>
      <p:sp>
        <p:nvSpPr>
          <p:cNvPr id="10" name="Text 6"/>
          <p:cNvSpPr txBox="1"/>
          <p:nvPr/>
        </p:nvSpPr>
        <p:spPr>
          <a:xfrm>
            <a:off x="1289304" y="2112264"/>
            <a:ext cx="2624328" cy="3831336"/>
          </a:xfrm>
          <a:prstGeom prst="rect">
            <a:avLst/>
          </a:prstGeom>
          <a:noFill/>
          <a:ln/>
        </p:spPr>
        <p:txBody>
          <a:bodyPr wrap="square" lIns="0" tIns="0" rIns="0" bIns="0" rtlCol="0" anchor="t"/>
          <a:lstStyle/>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Vía aérea más cefálica, lengua relativamente grande y occipucio prominente.</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Epiglotis larga y flexible: preferencia frecuente por hoja recta (Miller).</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Punto más estrecho funcional: cartílago cricoides (no la glotis).</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Mayor riesgo de desaturación rápida por menor capacidad residual funcional.</a:t>
            </a:r>
            <a:endParaRPr lang="en-US" sz="1150" dirty="0"/>
          </a:p>
        </p:txBody>
      </p:sp>
      <p:sp>
        <p:nvSpPr>
          <p:cNvPr id="11" name="Shape 7"/>
          <p:cNvSpPr/>
          <p:nvPr/>
        </p:nvSpPr>
        <p:spPr>
          <a:xfrm>
            <a:off x="4233672"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4416552"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4544568" y="1819656"/>
            <a:ext cx="201168" cy="201168"/>
          </a:xfrm>
          <a:prstGeom prst="rect">
            <a:avLst/>
          </a:prstGeom>
        </p:spPr>
      </p:pic>
      <p:sp>
        <p:nvSpPr>
          <p:cNvPr id="14" name="Text 9"/>
          <p:cNvSpPr txBox="1"/>
          <p:nvPr/>
        </p:nvSpPr>
        <p:spPr>
          <a:xfrm>
            <a:off x="5020056"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Paciente obeso</a:t>
            </a:r>
            <a:endParaRPr lang="en-US" sz="1400" dirty="0"/>
          </a:p>
        </p:txBody>
      </p:sp>
      <p:sp>
        <p:nvSpPr>
          <p:cNvPr id="15" name="Text 10"/>
          <p:cNvSpPr txBox="1"/>
          <p:nvPr/>
        </p:nvSpPr>
        <p:spPr>
          <a:xfrm>
            <a:off x="5020056" y="2112264"/>
            <a:ext cx="2624328" cy="3831336"/>
          </a:xfrm>
          <a:prstGeom prst="rect">
            <a:avLst/>
          </a:prstGeom>
          <a:noFill/>
          <a:ln/>
        </p:spPr>
        <p:txBody>
          <a:bodyPr wrap="square" lIns="0" tIns="0" rIns="0" bIns="0" rtlCol="0" anchor="t"/>
          <a:lstStyle/>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Reserva de oxígeno reducida y desaturación más rápida durante la apnea.</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Posición de rampa obligatoria para optimizar la laringoscopia.</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Mayor prevalencia de vía aérea difícil y de apnea obstructiva del sueño no diagnosticada.</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Preferencia por videolaringoscopia como primera línea en muchos protocolos.</a:t>
            </a:r>
            <a:endParaRPr lang="en-US" sz="1150" dirty="0"/>
          </a:p>
        </p:txBody>
      </p:sp>
      <p:sp>
        <p:nvSpPr>
          <p:cNvPr id="16" name="Shape 11"/>
          <p:cNvSpPr/>
          <p:nvPr/>
        </p:nvSpPr>
        <p:spPr>
          <a:xfrm>
            <a:off x="7964424" y="1508760"/>
            <a:ext cx="3593592" cy="4572000"/>
          </a:xfrm>
          <a:prstGeom prst="roundRect">
            <a:avLst>
              <a:gd name="adj" fmla="val 2036"/>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8147304" y="1691640"/>
            <a:ext cx="457200" cy="45720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8275320" y="1819656"/>
            <a:ext cx="201168" cy="201168"/>
          </a:xfrm>
          <a:prstGeom prst="rect">
            <a:avLst/>
          </a:prstGeom>
        </p:spPr>
      </p:pic>
      <p:sp>
        <p:nvSpPr>
          <p:cNvPr id="19" name="Text 13"/>
          <p:cNvSpPr txBox="1"/>
          <p:nvPr/>
        </p:nvSpPr>
        <p:spPr>
          <a:xfrm>
            <a:off x="8750808" y="1691640"/>
            <a:ext cx="2624328" cy="457200"/>
          </a:xfrm>
          <a:prstGeom prst="rect">
            <a:avLst/>
          </a:prstGeom>
          <a:noFill/>
          <a:ln/>
        </p:spPr>
        <p:txBody>
          <a:bodyPr wrap="square" lIns="0" tIns="0" rIns="0" bIns="0" rtlCol="0" anchor="t"/>
          <a:lstStyle/>
          <a:p>
            <a:pPr indent="0" marL="0">
              <a:buNone/>
            </a:pPr>
            <a:r>
              <a:rPr lang="en-US" sz="1400" b="1" dirty="0">
                <a:solidFill>
                  <a:srgbClr val="2C3E50"/>
                </a:solidFill>
                <a:latin typeface="Cambria" pitchFamily="34" charset="0"/>
                <a:ea typeface="Cambria" pitchFamily="34" charset="-122"/>
                <a:cs typeface="Cambria" pitchFamily="34" charset="-120"/>
              </a:rPr>
              <a:t>Paciente politraumatizado</a:t>
            </a:r>
            <a:endParaRPr lang="en-US" sz="1400" dirty="0"/>
          </a:p>
        </p:txBody>
      </p:sp>
      <p:sp>
        <p:nvSpPr>
          <p:cNvPr id="20" name="Text 14"/>
          <p:cNvSpPr txBox="1"/>
          <p:nvPr/>
        </p:nvSpPr>
        <p:spPr>
          <a:xfrm>
            <a:off x="8750808" y="2112264"/>
            <a:ext cx="2624328" cy="3831336"/>
          </a:xfrm>
          <a:prstGeom prst="rect">
            <a:avLst/>
          </a:prstGeom>
          <a:noFill/>
          <a:ln/>
        </p:spPr>
        <p:txBody>
          <a:bodyPr wrap="square" lIns="0" tIns="0" rIns="0" bIns="0" rtlCol="0" anchor="t"/>
          <a:lstStyle/>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Asumir lesión de columna cervical hasta descartarla: estabilización manual en línea.</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Alta probabilidad de estómago lleno: considerar secuencia rápida.</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Riesgo de vía aérea anatómicamente distorsionada (trauma facial, hematoma cervical).</a:t>
            </a:r>
            <a:endParaRPr lang="en-US" sz="1150" dirty="0"/>
          </a:p>
          <a:p>
            <a:pPr marL="152400" indent="-152400">
              <a:lnSpc>
                <a:spcPts val="1472"/>
              </a:lnSpc>
              <a:spcAft>
                <a:spcPts val="600"/>
              </a:spcAft>
              <a:buSzPct val="100000"/>
              <a:buChar char="•"/>
            </a:pPr>
            <a:r>
              <a:rPr lang="en-US" sz="1150" dirty="0">
                <a:solidFill>
                  <a:srgbClr val="2C3E50"/>
                </a:solidFill>
                <a:latin typeface="Calibri" pitchFamily="34" charset="0"/>
                <a:ea typeface="Calibri" pitchFamily="34" charset="-122"/>
                <a:cs typeface="Calibri" pitchFamily="34" charset="-120"/>
              </a:rPr>
              <a:t>Disponibilidad inmediata de vía aérea quirúrgica ante fracaso de intubación.</a:t>
            </a:r>
            <a:endParaRPr lang="en-US" sz="1150" dirty="0"/>
          </a:p>
        </p:txBody>
      </p:sp>
      <p:sp>
        <p:nvSpPr>
          <p:cNvPr id="22" name="Text 15"/>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23" name="Text 16"/>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28 / 31</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566928" cy="566928"/>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3" name="Image 0" descr="preencoded.png">    </p:cNvPr>
          <p:cNvPicPr>
            <a:picLocks noChangeAspect="1"/>
          </p:cNvPicPr>
          <p:nvPr/>
        </p:nvPicPr>
        <p:blipFill>
          <a:blip r:embed="rId1"/>
          <a:stretch>
            <a:fillRect/>
          </a:stretch>
        </p:blipFill>
        <p:spPr>
          <a:xfrm>
            <a:off x="661660" y="542788"/>
            <a:ext cx="249448" cy="249448"/>
          </a:xfrm>
          <a:prstGeom prst="rect">
            <a:avLst/>
          </a:prstGeom>
        </p:spPr>
      </p:pic>
      <p:sp>
        <p:nvSpPr>
          <p:cNvPr id="4" name="Text 1"/>
          <p:cNvSpPr txBox="1"/>
          <p:nvPr/>
        </p:nvSpPr>
        <p:spPr>
          <a:xfrm>
            <a:off x="1252728" y="365760"/>
            <a:ext cx="9875520" cy="274320"/>
          </a:xfrm>
          <a:prstGeom prst="rect">
            <a:avLst/>
          </a:prstGeom>
          <a:noFill/>
          <a:ln/>
        </p:spPr>
        <p:txBody>
          <a:bodyPr wrap="square" lIns="0" tIns="0" rIns="0" bIns="0" rtlCol="0" anchor="ctr"/>
          <a:lstStyle/>
          <a:p>
            <a:pPr indent="0" marL="0">
              <a:buNone/>
            </a:pPr>
            <a:r>
              <a:rPr lang="en-US" sz="1250" b="1" spc="150" kern="0" dirty="0">
                <a:solidFill>
                  <a:srgbClr val="128A9C"/>
                </a:solidFill>
                <a:latin typeface="Calibri" pitchFamily="34" charset="0"/>
                <a:ea typeface="Calibri" pitchFamily="34" charset="-122"/>
                <a:cs typeface="Calibri" pitchFamily="34" charset="-120"/>
              </a:rPr>
              <a:t>COMPLICACIONES</a:t>
            </a:r>
            <a:endParaRPr lang="en-US" sz="1250" dirty="0"/>
          </a:p>
        </p:txBody>
      </p:sp>
      <p:sp>
        <p:nvSpPr>
          <p:cNvPr id="5" name="Text 2"/>
          <p:cNvSpPr txBox="1"/>
          <p:nvPr/>
        </p:nvSpPr>
        <p:spPr>
          <a:xfrm>
            <a:off x="1252728" y="621792"/>
            <a:ext cx="10195560" cy="548640"/>
          </a:xfrm>
          <a:prstGeom prst="rect">
            <a:avLst/>
          </a:prstGeom>
          <a:noFill/>
          <a:ln/>
        </p:spPr>
        <p:txBody>
          <a:bodyPr wrap="square" lIns="0" tIns="0" rIns="0" bIns="0" rtlCol="0" anchor="ctr"/>
          <a:lstStyle/>
          <a:p>
            <a:pPr indent="0" marL="0">
              <a:buNone/>
            </a:pPr>
            <a:r>
              <a:rPr lang="en-US" sz="2500" b="1" dirty="0">
                <a:solidFill>
                  <a:srgbClr val="2C3E50"/>
                </a:solidFill>
                <a:latin typeface="Cambria" pitchFamily="34" charset="0"/>
                <a:ea typeface="Cambria" pitchFamily="34" charset="-122"/>
                <a:cs typeface="Cambria" pitchFamily="34" charset="-120"/>
              </a:rPr>
              <a:t>Complicaciones raras pero graves</a:t>
            </a:r>
            <a:endParaRPr lang="en-US" sz="2500" dirty="0"/>
          </a:p>
        </p:txBody>
      </p:sp>
      <p:sp>
        <p:nvSpPr>
          <p:cNvPr id="6" name="Shape 3"/>
          <p:cNvSpPr/>
          <p:nvPr/>
        </p:nvSpPr>
        <p:spPr>
          <a:xfrm>
            <a:off x="502920"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7" name="Shape 4"/>
          <p:cNvSpPr/>
          <p:nvPr/>
        </p:nvSpPr>
        <p:spPr>
          <a:xfrm>
            <a:off x="685800" y="1691640"/>
            <a:ext cx="457200" cy="457200"/>
          </a:xfrm>
          <a:prstGeom prst="ellipse">
            <a:avLst/>
          </a:prstGeom>
          <a:solidFill>
            <a:srgbClr val="A93226"/>
          </a:solidFill>
          <a:ln/>
          <a:effectLst>
            <a:outerShdw sx="100000" sy="100000" kx="0" ky="0" algn="bl" rotWithShape="0" blurRad="76200" dist="25400" dir="5400000">
              <a:srgbClr val="1A2530">
                <a:alpha val="25000"/>
              </a:srgbClr>
            </a:outerShdw>
          </a:effectLst>
        </p:spPr>
      </p:sp>
      <p:pic>
        <p:nvPicPr>
          <p:cNvPr id="8" name="Image 1" descr="preencoded.png">    </p:cNvPr>
          <p:cNvPicPr>
            <a:picLocks noChangeAspect="1"/>
          </p:cNvPicPr>
          <p:nvPr/>
        </p:nvPicPr>
        <p:blipFill>
          <a:blip r:embed="rId2"/>
          <a:stretch>
            <a:fillRect/>
          </a:stretch>
        </p:blipFill>
        <p:spPr>
          <a:xfrm>
            <a:off x="813816" y="1819656"/>
            <a:ext cx="201168" cy="201168"/>
          </a:xfrm>
          <a:prstGeom prst="rect">
            <a:avLst/>
          </a:prstGeom>
        </p:spPr>
      </p:pic>
      <p:sp>
        <p:nvSpPr>
          <p:cNvPr id="9" name="Text 5"/>
          <p:cNvSpPr txBox="1"/>
          <p:nvPr/>
        </p:nvSpPr>
        <p:spPr>
          <a:xfrm>
            <a:off x="1289304" y="1691640"/>
            <a:ext cx="2624328" cy="457200"/>
          </a:xfrm>
          <a:prstGeom prst="rect">
            <a:avLst/>
          </a:prstGeom>
          <a:noFill/>
          <a:ln/>
        </p:spPr>
        <p:txBody>
          <a:bodyPr wrap="square" lIns="0" tIns="0" rIns="0" bIns="0" rtlCol="0" anchor="t"/>
          <a:lstStyle/>
          <a:p>
            <a:pPr indent="0" marL="0">
              <a:buNone/>
            </a:pPr>
            <a:r>
              <a:rPr lang="en-US" sz="1350" b="1" dirty="0">
                <a:solidFill>
                  <a:srgbClr val="2C3E50"/>
                </a:solidFill>
                <a:latin typeface="Cambria" pitchFamily="34" charset="0"/>
                <a:ea typeface="Cambria" pitchFamily="34" charset="-122"/>
                <a:cs typeface="Cambria" pitchFamily="34" charset="-120"/>
              </a:rPr>
              <a:t>Lesión de cuerdas vocales</a:t>
            </a:r>
            <a:endParaRPr lang="en-US" sz="1350" dirty="0"/>
          </a:p>
        </p:txBody>
      </p:sp>
      <p:sp>
        <p:nvSpPr>
          <p:cNvPr id="10" name="Text 6"/>
          <p:cNvSpPr txBox="1"/>
          <p:nvPr/>
        </p:nvSpPr>
        <p:spPr>
          <a:xfrm>
            <a:off x="1289304" y="2112264"/>
            <a:ext cx="2624328" cy="1225296"/>
          </a:xfrm>
          <a:prstGeom prst="rect">
            <a:avLst/>
          </a:prstGeom>
          <a:noFill/>
          <a:ln/>
        </p:spPr>
        <p:txBody>
          <a:bodyPr wrap="square" lIns="0" tIns="0" rIns="0" bIns="0" rtlCol="0" anchor="t"/>
          <a:lstStyle/>
          <a:p>
            <a:pPr indent="0" marL="0">
              <a:lnSpc>
                <a:spcPts val="1408"/>
              </a:lnSpc>
              <a:spcAft>
                <a:spcPts val="600"/>
              </a:spcAft>
              <a:buNone/>
            </a:pPr>
            <a:r>
              <a:rPr lang="en-US" sz="1100" dirty="0">
                <a:solidFill>
                  <a:srgbClr val="2C3E50"/>
                </a:solidFill>
                <a:latin typeface="Calibri" pitchFamily="34" charset="0"/>
                <a:ea typeface="Calibri" pitchFamily="34" charset="-122"/>
                <a:cs typeface="Calibri" pitchFamily="34" charset="-120"/>
              </a:rPr>
              <a:t>Luxación o subluxación aritenoidea por laringoscopia traumática o intubación con estilete demasiado rígido; produce disfonía persistente y requiere valoración otorrinolaringológica urgente.</a:t>
            </a:r>
            <a:endParaRPr lang="en-US" sz="1100" dirty="0"/>
          </a:p>
        </p:txBody>
      </p:sp>
      <p:sp>
        <p:nvSpPr>
          <p:cNvPr id="11" name="Shape 7"/>
          <p:cNvSpPr/>
          <p:nvPr/>
        </p:nvSpPr>
        <p:spPr>
          <a:xfrm>
            <a:off x="4233672"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2" name="Shape 8"/>
          <p:cNvSpPr/>
          <p:nvPr/>
        </p:nvSpPr>
        <p:spPr>
          <a:xfrm>
            <a:off x="4416552" y="1691640"/>
            <a:ext cx="457200" cy="457200"/>
          </a:xfrm>
          <a:prstGeom prst="ellipse">
            <a:avLst/>
          </a:prstGeom>
          <a:solidFill>
            <a:srgbClr val="A93226"/>
          </a:solidFill>
          <a:ln/>
          <a:effectLst>
            <a:outerShdw sx="100000" sy="100000" kx="0" ky="0" algn="bl" rotWithShape="0" blurRad="76200" dist="25400" dir="5400000">
              <a:srgbClr val="1A2530">
                <a:alpha val="25000"/>
              </a:srgbClr>
            </a:outerShdw>
          </a:effectLst>
        </p:spPr>
      </p:sp>
      <p:pic>
        <p:nvPicPr>
          <p:cNvPr id="13" name="Image 2" descr="preencoded.png">    </p:cNvPr>
          <p:cNvPicPr>
            <a:picLocks noChangeAspect="1"/>
          </p:cNvPicPr>
          <p:nvPr/>
        </p:nvPicPr>
        <p:blipFill>
          <a:blip r:embed="rId3"/>
          <a:stretch>
            <a:fillRect/>
          </a:stretch>
        </p:blipFill>
        <p:spPr>
          <a:xfrm>
            <a:off x="4544568" y="1819656"/>
            <a:ext cx="201168" cy="201168"/>
          </a:xfrm>
          <a:prstGeom prst="rect">
            <a:avLst/>
          </a:prstGeom>
        </p:spPr>
      </p:pic>
      <p:sp>
        <p:nvSpPr>
          <p:cNvPr id="14" name="Text 9"/>
          <p:cNvSpPr txBox="1"/>
          <p:nvPr/>
        </p:nvSpPr>
        <p:spPr>
          <a:xfrm>
            <a:off x="5020056" y="1691640"/>
            <a:ext cx="2624328" cy="457200"/>
          </a:xfrm>
          <a:prstGeom prst="rect">
            <a:avLst/>
          </a:prstGeom>
          <a:noFill/>
          <a:ln/>
        </p:spPr>
        <p:txBody>
          <a:bodyPr wrap="square" lIns="0" tIns="0" rIns="0" bIns="0" rtlCol="0" anchor="t"/>
          <a:lstStyle/>
          <a:p>
            <a:pPr indent="0" marL="0">
              <a:buNone/>
            </a:pPr>
            <a:r>
              <a:rPr lang="en-US" sz="1350" b="1" dirty="0">
                <a:solidFill>
                  <a:srgbClr val="2C3E50"/>
                </a:solidFill>
                <a:latin typeface="Cambria" pitchFamily="34" charset="0"/>
                <a:ea typeface="Cambria" pitchFamily="34" charset="-122"/>
                <a:cs typeface="Cambria" pitchFamily="34" charset="-120"/>
              </a:rPr>
              <a:t>Estenosis subglótica severa</a:t>
            </a:r>
            <a:endParaRPr lang="en-US" sz="1350" dirty="0"/>
          </a:p>
        </p:txBody>
      </p:sp>
      <p:sp>
        <p:nvSpPr>
          <p:cNvPr id="15" name="Text 10"/>
          <p:cNvSpPr txBox="1"/>
          <p:nvPr/>
        </p:nvSpPr>
        <p:spPr>
          <a:xfrm>
            <a:off x="5020056" y="2112264"/>
            <a:ext cx="2624328" cy="1225296"/>
          </a:xfrm>
          <a:prstGeom prst="rect">
            <a:avLst/>
          </a:prstGeom>
          <a:noFill/>
          <a:ln/>
        </p:spPr>
        <p:txBody>
          <a:bodyPr wrap="square" lIns="0" tIns="0" rIns="0" bIns="0" rtlCol="0" anchor="t"/>
          <a:lstStyle/>
          <a:p>
            <a:pPr indent="0" marL="0">
              <a:lnSpc>
                <a:spcPts val="1408"/>
              </a:lnSpc>
              <a:spcAft>
                <a:spcPts val="600"/>
              </a:spcAft>
              <a:buNone/>
            </a:pPr>
            <a:r>
              <a:rPr lang="en-US" sz="1100" dirty="0">
                <a:solidFill>
                  <a:srgbClr val="2C3E50"/>
                </a:solidFill>
                <a:latin typeface="Calibri" pitchFamily="34" charset="0"/>
                <a:ea typeface="Calibri" pitchFamily="34" charset="-122"/>
                <a:cs typeface="Calibri" pitchFamily="34" charset="-120"/>
              </a:rPr>
              <a:t>Forma extrema de estenosis cicatricial que puede requerir dilatación endoscópica o reconstrucción traqueal quirúrgica; con frecuencia asociada a intubación prolongada con presión de balón no controlada.</a:t>
            </a:r>
            <a:endParaRPr lang="en-US" sz="1100" dirty="0"/>
          </a:p>
        </p:txBody>
      </p:sp>
      <p:sp>
        <p:nvSpPr>
          <p:cNvPr id="16" name="Shape 11"/>
          <p:cNvSpPr/>
          <p:nvPr/>
        </p:nvSpPr>
        <p:spPr>
          <a:xfrm>
            <a:off x="7964424" y="150876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17" name="Shape 12"/>
          <p:cNvSpPr/>
          <p:nvPr/>
        </p:nvSpPr>
        <p:spPr>
          <a:xfrm>
            <a:off x="8147304" y="1691640"/>
            <a:ext cx="457200" cy="457200"/>
          </a:xfrm>
          <a:prstGeom prst="ellipse">
            <a:avLst/>
          </a:prstGeom>
          <a:solidFill>
            <a:srgbClr val="A93226"/>
          </a:solidFill>
          <a:ln/>
          <a:effectLst>
            <a:outerShdw sx="100000" sy="100000" kx="0" ky="0" algn="bl" rotWithShape="0" blurRad="76200" dist="25400" dir="5400000">
              <a:srgbClr val="1A2530">
                <a:alpha val="25000"/>
              </a:srgbClr>
            </a:outerShdw>
          </a:effectLst>
        </p:spPr>
      </p:sp>
      <p:pic>
        <p:nvPicPr>
          <p:cNvPr id="18" name="Image 3" descr="preencoded.png">    </p:cNvPr>
          <p:cNvPicPr>
            <a:picLocks noChangeAspect="1"/>
          </p:cNvPicPr>
          <p:nvPr/>
        </p:nvPicPr>
        <p:blipFill>
          <a:blip r:embed="rId4"/>
          <a:stretch>
            <a:fillRect/>
          </a:stretch>
        </p:blipFill>
        <p:spPr>
          <a:xfrm>
            <a:off x="8275320" y="1819656"/>
            <a:ext cx="201168" cy="201168"/>
          </a:xfrm>
          <a:prstGeom prst="rect">
            <a:avLst/>
          </a:prstGeom>
        </p:spPr>
      </p:pic>
      <p:sp>
        <p:nvSpPr>
          <p:cNvPr id="19" name="Text 13"/>
          <p:cNvSpPr txBox="1"/>
          <p:nvPr/>
        </p:nvSpPr>
        <p:spPr>
          <a:xfrm>
            <a:off x="8750808" y="1691640"/>
            <a:ext cx="2624328" cy="457200"/>
          </a:xfrm>
          <a:prstGeom prst="rect">
            <a:avLst/>
          </a:prstGeom>
          <a:noFill/>
          <a:ln/>
        </p:spPr>
        <p:txBody>
          <a:bodyPr wrap="square" lIns="0" tIns="0" rIns="0" bIns="0" rtlCol="0" anchor="t"/>
          <a:lstStyle/>
          <a:p>
            <a:pPr indent="0" marL="0">
              <a:buNone/>
            </a:pPr>
            <a:r>
              <a:rPr lang="en-US" sz="1350" b="1" dirty="0">
                <a:solidFill>
                  <a:srgbClr val="2C3E50"/>
                </a:solidFill>
                <a:latin typeface="Cambria" pitchFamily="34" charset="0"/>
                <a:ea typeface="Cambria" pitchFamily="34" charset="-122"/>
                <a:cs typeface="Cambria" pitchFamily="34" charset="-120"/>
              </a:rPr>
              <a:t>Perforación traqueal o esofágica</a:t>
            </a:r>
            <a:endParaRPr lang="en-US" sz="1350" dirty="0"/>
          </a:p>
        </p:txBody>
      </p:sp>
      <p:sp>
        <p:nvSpPr>
          <p:cNvPr id="20" name="Text 14"/>
          <p:cNvSpPr txBox="1"/>
          <p:nvPr/>
        </p:nvSpPr>
        <p:spPr>
          <a:xfrm>
            <a:off x="8750808" y="2386584"/>
            <a:ext cx="2624328" cy="950976"/>
          </a:xfrm>
          <a:prstGeom prst="rect">
            <a:avLst/>
          </a:prstGeom>
          <a:noFill/>
          <a:ln/>
        </p:spPr>
        <p:txBody>
          <a:bodyPr wrap="square" lIns="0" tIns="0" rIns="0" bIns="0" rtlCol="0" anchor="t"/>
          <a:lstStyle/>
          <a:p>
            <a:pPr indent="0" marL="0">
              <a:lnSpc>
                <a:spcPts val="1408"/>
              </a:lnSpc>
              <a:spcAft>
                <a:spcPts val="600"/>
              </a:spcAft>
              <a:buNone/>
            </a:pPr>
            <a:r>
              <a:rPr lang="en-US" sz="1100" dirty="0">
                <a:solidFill>
                  <a:srgbClr val="2C3E50"/>
                </a:solidFill>
                <a:latin typeface="Calibri" pitchFamily="34" charset="0"/>
                <a:ea typeface="Calibri" pitchFamily="34" charset="-122"/>
                <a:cs typeface="Calibri" pitchFamily="34" charset="-120"/>
              </a:rPr>
              <a:t>Complicación infrecuente pero potencialmente mortal asociada a intubación traumática, uso excesivo de fuerza o instrumentación con estiletes rígidos.</a:t>
            </a:r>
            <a:endParaRPr lang="en-US" sz="1100" dirty="0"/>
          </a:p>
        </p:txBody>
      </p:sp>
      <p:sp>
        <p:nvSpPr>
          <p:cNvPr id="21" name="Shape 15"/>
          <p:cNvSpPr/>
          <p:nvPr/>
        </p:nvSpPr>
        <p:spPr>
          <a:xfrm>
            <a:off x="502920"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2" name="Shape 16"/>
          <p:cNvSpPr/>
          <p:nvPr/>
        </p:nvSpPr>
        <p:spPr>
          <a:xfrm>
            <a:off x="685800" y="3840480"/>
            <a:ext cx="457200" cy="457200"/>
          </a:xfrm>
          <a:prstGeom prst="ellipse">
            <a:avLst/>
          </a:prstGeom>
          <a:solidFill>
            <a:srgbClr val="A93226"/>
          </a:solidFill>
          <a:ln/>
          <a:effectLst>
            <a:outerShdw sx="100000" sy="100000" kx="0" ky="0" algn="bl" rotWithShape="0" blurRad="76200" dist="25400" dir="5400000">
              <a:srgbClr val="1A2530">
                <a:alpha val="25000"/>
              </a:srgbClr>
            </a:outerShdw>
          </a:effectLst>
        </p:spPr>
      </p:sp>
      <p:pic>
        <p:nvPicPr>
          <p:cNvPr id="23" name="Image 4" descr="preencoded.png">    </p:cNvPr>
          <p:cNvPicPr>
            <a:picLocks noChangeAspect="1"/>
          </p:cNvPicPr>
          <p:nvPr/>
        </p:nvPicPr>
        <p:blipFill>
          <a:blip r:embed="rId5"/>
          <a:stretch>
            <a:fillRect/>
          </a:stretch>
        </p:blipFill>
        <p:spPr>
          <a:xfrm>
            <a:off x="813816" y="3968496"/>
            <a:ext cx="201168" cy="201168"/>
          </a:xfrm>
          <a:prstGeom prst="rect">
            <a:avLst/>
          </a:prstGeom>
        </p:spPr>
      </p:pic>
      <p:sp>
        <p:nvSpPr>
          <p:cNvPr id="24" name="Text 17"/>
          <p:cNvSpPr txBox="1"/>
          <p:nvPr/>
        </p:nvSpPr>
        <p:spPr>
          <a:xfrm>
            <a:off x="1289304" y="3840480"/>
            <a:ext cx="2624328" cy="457200"/>
          </a:xfrm>
          <a:prstGeom prst="rect">
            <a:avLst/>
          </a:prstGeom>
          <a:noFill/>
          <a:ln/>
        </p:spPr>
        <p:txBody>
          <a:bodyPr wrap="square" lIns="0" tIns="0" rIns="0" bIns="0" rtlCol="0" anchor="t"/>
          <a:lstStyle/>
          <a:p>
            <a:pPr indent="0" marL="0">
              <a:buNone/>
            </a:pPr>
            <a:r>
              <a:rPr lang="en-US" sz="1350" b="1" dirty="0">
                <a:solidFill>
                  <a:srgbClr val="2C3E50"/>
                </a:solidFill>
                <a:latin typeface="Cambria" pitchFamily="34" charset="0"/>
                <a:ea typeface="Cambria" pitchFamily="34" charset="-122"/>
                <a:cs typeface="Cambria" pitchFamily="34" charset="-120"/>
              </a:rPr>
              <a:t>Edema pulmonar postobstructivo</a:t>
            </a:r>
            <a:endParaRPr lang="en-US" sz="1350" dirty="0"/>
          </a:p>
        </p:txBody>
      </p:sp>
      <p:sp>
        <p:nvSpPr>
          <p:cNvPr id="25" name="Text 18"/>
          <p:cNvSpPr txBox="1"/>
          <p:nvPr/>
        </p:nvSpPr>
        <p:spPr>
          <a:xfrm>
            <a:off x="1289304" y="4535424"/>
            <a:ext cx="2624328" cy="950976"/>
          </a:xfrm>
          <a:prstGeom prst="rect">
            <a:avLst/>
          </a:prstGeom>
          <a:noFill/>
          <a:ln/>
        </p:spPr>
        <p:txBody>
          <a:bodyPr wrap="square" lIns="0" tIns="0" rIns="0" bIns="0" rtlCol="0" anchor="t"/>
          <a:lstStyle/>
          <a:p>
            <a:pPr indent="0" marL="0">
              <a:lnSpc>
                <a:spcPts val="1408"/>
              </a:lnSpc>
              <a:spcAft>
                <a:spcPts val="600"/>
              </a:spcAft>
              <a:buNone/>
            </a:pPr>
            <a:r>
              <a:rPr lang="en-US" sz="1100" dirty="0">
                <a:solidFill>
                  <a:srgbClr val="2C3E50"/>
                </a:solidFill>
                <a:latin typeface="Calibri" pitchFamily="34" charset="0"/>
                <a:ea typeface="Calibri" pitchFamily="34" charset="-122"/>
                <a:cs typeface="Calibri" pitchFamily="34" charset="-120"/>
              </a:rPr>
              <a:t>Tras el alivio súbito de una obstrucción grave de la vía aérea (p. ej., laringoespasmo severo), por generación de presiones intratorácicas negativas extremas.</a:t>
            </a:r>
            <a:endParaRPr lang="en-US" sz="1100" dirty="0"/>
          </a:p>
        </p:txBody>
      </p:sp>
      <p:sp>
        <p:nvSpPr>
          <p:cNvPr id="26" name="Shape 19"/>
          <p:cNvSpPr/>
          <p:nvPr/>
        </p:nvSpPr>
        <p:spPr>
          <a:xfrm>
            <a:off x="4233672"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27" name="Shape 20"/>
          <p:cNvSpPr/>
          <p:nvPr/>
        </p:nvSpPr>
        <p:spPr>
          <a:xfrm>
            <a:off x="4416552" y="3840480"/>
            <a:ext cx="457200" cy="457200"/>
          </a:xfrm>
          <a:prstGeom prst="ellipse">
            <a:avLst/>
          </a:prstGeom>
          <a:solidFill>
            <a:srgbClr val="A93226"/>
          </a:solidFill>
          <a:ln/>
          <a:effectLst>
            <a:outerShdw sx="100000" sy="100000" kx="0" ky="0" algn="bl" rotWithShape="0" blurRad="76200" dist="25400" dir="5400000">
              <a:srgbClr val="1A2530">
                <a:alpha val="25000"/>
              </a:srgbClr>
            </a:outerShdw>
          </a:effectLst>
        </p:spPr>
      </p:sp>
      <p:pic>
        <p:nvPicPr>
          <p:cNvPr id="28" name="Image 5" descr="preencoded.png">    </p:cNvPr>
          <p:cNvPicPr>
            <a:picLocks noChangeAspect="1"/>
          </p:cNvPicPr>
          <p:nvPr/>
        </p:nvPicPr>
        <p:blipFill>
          <a:blip r:embed="rId6"/>
          <a:stretch>
            <a:fillRect/>
          </a:stretch>
        </p:blipFill>
        <p:spPr>
          <a:xfrm>
            <a:off x="4544568" y="3968496"/>
            <a:ext cx="201168" cy="201168"/>
          </a:xfrm>
          <a:prstGeom prst="rect">
            <a:avLst/>
          </a:prstGeom>
        </p:spPr>
      </p:pic>
      <p:sp>
        <p:nvSpPr>
          <p:cNvPr id="29" name="Text 21"/>
          <p:cNvSpPr txBox="1"/>
          <p:nvPr/>
        </p:nvSpPr>
        <p:spPr>
          <a:xfrm>
            <a:off x="5020056" y="3840480"/>
            <a:ext cx="2624328" cy="457200"/>
          </a:xfrm>
          <a:prstGeom prst="rect">
            <a:avLst/>
          </a:prstGeom>
          <a:noFill/>
          <a:ln/>
        </p:spPr>
        <p:txBody>
          <a:bodyPr wrap="square" lIns="0" tIns="0" rIns="0" bIns="0" rtlCol="0" anchor="t"/>
          <a:lstStyle/>
          <a:p>
            <a:pPr indent="0" marL="0">
              <a:buNone/>
            </a:pPr>
            <a:r>
              <a:rPr lang="en-US" sz="1350" b="1" dirty="0">
                <a:solidFill>
                  <a:srgbClr val="2C3E50"/>
                </a:solidFill>
                <a:latin typeface="Cambria" pitchFamily="34" charset="0"/>
                <a:ea typeface="Cambria" pitchFamily="34" charset="-122"/>
                <a:cs typeface="Cambria" pitchFamily="34" charset="-120"/>
              </a:rPr>
              <a:t>Neumotórax/neumomediastino</a:t>
            </a:r>
            <a:endParaRPr lang="en-US" sz="1350" dirty="0"/>
          </a:p>
        </p:txBody>
      </p:sp>
      <p:sp>
        <p:nvSpPr>
          <p:cNvPr id="30" name="Text 22"/>
          <p:cNvSpPr txBox="1"/>
          <p:nvPr/>
        </p:nvSpPr>
        <p:spPr>
          <a:xfrm>
            <a:off x="5020056" y="4261104"/>
            <a:ext cx="2624328" cy="1225296"/>
          </a:xfrm>
          <a:prstGeom prst="rect">
            <a:avLst/>
          </a:prstGeom>
          <a:noFill/>
          <a:ln/>
        </p:spPr>
        <p:txBody>
          <a:bodyPr wrap="square" lIns="0" tIns="0" rIns="0" bIns="0" rtlCol="0" anchor="t"/>
          <a:lstStyle/>
          <a:p>
            <a:pPr indent="0" marL="0">
              <a:lnSpc>
                <a:spcPts val="1408"/>
              </a:lnSpc>
              <a:spcAft>
                <a:spcPts val="600"/>
              </a:spcAft>
              <a:buNone/>
            </a:pPr>
            <a:r>
              <a:rPr lang="en-US" sz="1100" dirty="0">
                <a:solidFill>
                  <a:srgbClr val="2C3E50"/>
                </a:solidFill>
                <a:latin typeface="Calibri" pitchFamily="34" charset="0"/>
                <a:ea typeface="Calibri" pitchFamily="34" charset="-122"/>
                <a:cs typeface="Calibri" pitchFamily="34" charset="-120"/>
              </a:rPr>
              <a:t>Asociado a barotrauma por ventilación con presión positiva excesiva o a intubación endobronquial no reconocida.</a:t>
            </a:r>
            <a:endParaRPr lang="en-US" sz="1100" dirty="0"/>
          </a:p>
        </p:txBody>
      </p:sp>
      <p:sp>
        <p:nvSpPr>
          <p:cNvPr id="31" name="Shape 23"/>
          <p:cNvSpPr/>
          <p:nvPr/>
        </p:nvSpPr>
        <p:spPr>
          <a:xfrm>
            <a:off x="7964424" y="3657600"/>
            <a:ext cx="3593592" cy="1965960"/>
          </a:xfrm>
          <a:prstGeom prst="roundRect">
            <a:avLst>
              <a:gd name="adj" fmla="val 3721"/>
            </a:avLst>
          </a:prstGeom>
          <a:solidFill>
            <a:srgbClr val="EDF1F3"/>
          </a:solidFill>
          <a:ln/>
          <a:effectLst>
            <a:outerShdw sx="100000" sy="100000" kx="0" ky="0" algn="bl" rotWithShape="0" blurRad="63500" dist="25400" dir="5400000">
              <a:srgbClr val="1A2530">
                <a:alpha val="12000"/>
              </a:srgbClr>
            </a:outerShdw>
          </a:effectLst>
        </p:spPr>
      </p:sp>
      <p:sp>
        <p:nvSpPr>
          <p:cNvPr id="32" name="Shape 24"/>
          <p:cNvSpPr/>
          <p:nvPr/>
        </p:nvSpPr>
        <p:spPr>
          <a:xfrm>
            <a:off x="8147304" y="3840480"/>
            <a:ext cx="457200" cy="457200"/>
          </a:xfrm>
          <a:prstGeom prst="ellipse">
            <a:avLst/>
          </a:prstGeom>
          <a:solidFill>
            <a:srgbClr val="A93226"/>
          </a:solidFill>
          <a:ln/>
          <a:effectLst>
            <a:outerShdw sx="100000" sy="100000" kx="0" ky="0" algn="bl" rotWithShape="0" blurRad="76200" dist="25400" dir="5400000">
              <a:srgbClr val="1A2530">
                <a:alpha val="25000"/>
              </a:srgbClr>
            </a:outerShdw>
          </a:effectLst>
        </p:spPr>
      </p:sp>
      <p:pic>
        <p:nvPicPr>
          <p:cNvPr id="33" name="Image 6" descr="preencoded.png">    </p:cNvPr>
          <p:cNvPicPr>
            <a:picLocks noChangeAspect="1"/>
          </p:cNvPicPr>
          <p:nvPr/>
        </p:nvPicPr>
        <p:blipFill>
          <a:blip r:embed="rId7"/>
          <a:stretch>
            <a:fillRect/>
          </a:stretch>
        </p:blipFill>
        <p:spPr>
          <a:xfrm>
            <a:off x="8275320" y="3968496"/>
            <a:ext cx="201168" cy="201168"/>
          </a:xfrm>
          <a:prstGeom prst="rect">
            <a:avLst/>
          </a:prstGeom>
        </p:spPr>
      </p:pic>
      <p:sp>
        <p:nvSpPr>
          <p:cNvPr id="34" name="Text 25"/>
          <p:cNvSpPr txBox="1"/>
          <p:nvPr/>
        </p:nvSpPr>
        <p:spPr>
          <a:xfrm>
            <a:off x="8750808" y="3840480"/>
            <a:ext cx="2624328" cy="457200"/>
          </a:xfrm>
          <a:prstGeom prst="rect">
            <a:avLst/>
          </a:prstGeom>
          <a:noFill/>
          <a:ln/>
        </p:spPr>
        <p:txBody>
          <a:bodyPr wrap="square" lIns="0" tIns="0" rIns="0" bIns="0" rtlCol="0" anchor="t"/>
          <a:lstStyle/>
          <a:p>
            <a:pPr indent="0" marL="0">
              <a:buNone/>
            </a:pPr>
            <a:r>
              <a:rPr lang="en-US" sz="1350" b="1" dirty="0">
                <a:solidFill>
                  <a:srgbClr val="2C3E50"/>
                </a:solidFill>
                <a:latin typeface="Cambria" pitchFamily="34" charset="0"/>
                <a:ea typeface="Cambria" pitchFamily="34" charset="-122"/>
                <a:cs typeface="Cambria" pitchFamily="34" charset="-120"/>
              </a:rPr>
              <a:t>Parálisis bilateral de cuerdas vocales</a:t>
            </a:r>
            <a:endParaRPr lang="en-US" sz="1350" dirty="0"/>
          </a:p>
        </p:txBody>
      </p:sp>
      <p:sp>
        <p:nvSpPr>
          <p:cNvPr id="35" name="Text 26"/>
          <p:cNvSpPr txBox="1"/>
          <p:nvPr/>
        </p:nvSpPr>
        <p:spPr>
          <a:xfrm>
            <a:off x="8750808" y="4535424"/>
            <a:ext cx="2624328" cy="950976"/>
          </a:xfrm>
          <a:prstGeom prst="rect">
            <a:avLst/>
          </a:prstGeom>
          <a:noFill/>
          <a:ln/>
        </p:spPr>
        <p:txBody>
          <a:bodyPr wrap="square" lIns="0" tIns="0" rIns="0" bIns="0" rtlCol="0" anchor="t"/>
          <a:lstStyle/>
          <a:p>
            <a:pPr indent="0" marL="0">
              <a:lnSpc>
                <a:spcPts val="1408"/>
              </a:lnSpc>
              <a:spcAft>
                <a:spcPts val="600"/>
              </a:spcAft>
              <a:buNone/>
            </a:pPr>
            <a:r>
              <a:rPr lang="en-US" sz="1100" dirty="0">
                <a:solidFill>
                  <a:srgbClr val="2C3E50"/>
                </a:solidFill>
                <a:latin typeface="Calibri" pitchFamily="34" charset="0"/>
                <a:ea typeface="Calibri" pitchFamily="34" charset="-122"/>
                <a:cs typeface="Calibri" pitchFamily="34" charset="-120"/>
              </a:rPr>
              <a:t>Lesión bilateral del nervio laríngeo recurrente; puede causar obstrucción aguda de la vía aérea y requerir traqueostomía de urgencia.</a:t>
            </a:r>
            <a:endParaRPr lang="en-US" sz="1100" dirty="0"/>
          </a:p>
        </p:txBody>
      </p:sp>
      <p:sp>
        <p:nvSpPr>
          <p:cNvPr id="37" name="Text 27"/>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8" name="Text 28"/>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29 / 31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530"/>
        </a:solidFill>
      </p:bgPr>
    </p:bg>
    <p:spTree>
      <p:nvGrpSpPr>
        <p:cNvPr id="1" name=""/>
        <p:cNvGrpSpPr/>
        <p:nvPr/>
      </p:nvGrpSpPr>
      <p:grpSpPr>
        <a:xfrm>
          <a:off x="0" y="0"/>
          <a:ext cx="0" cy="0"/>
          <a:chOff x="0" y="0"/>
          <a:chExt cx="0" cy="0"/>
        </a:xfrm>
      </p:grpSpPr>
      <p:sp>
        <p:nvSpPr>
          <p:cNvPr id="2" name="Shape 0"/>
          <p:cNvSpPr/>
          <p:nvPr/>
        </p:nvSpPr>
        <p:spPr>
          <a:xfrm>
            <a:off x="-2103120" y="-2103120"/>
            <a:ext cx="5029200" cy="5029200"/>
          </a:xfrm>
          <a:prstGeom prst="ellipse">
            <a:avLst/>
          </a:prstGeom>
          <a:ln w="15875">
            <a:solidFill>
              <a:srgbClr val="2E4152"/>
            </a:solidFill>
            <a:prstDash val="solid"/>
          </a:ln>
        </p:spPr>
      </p:sp>
      <p:sp>
        <p:nvSpPr>
          <p:cNvPr id="3" name="Shape 1"/>
          <p:cNvSpPr/>
          <p:nvPr/>
        </p:nvSpPr>
        <p:spPr>
          <a:xfrm>
            <a:off x="9875520" y="4206240"/>
            <a:ext cx="5303520" cy="5303520"/>
          </a:xfrm>
          <a:prstGeom prst="ellipse">
            <a:avLst/>
          </a:prstGeom>
          <a:ln w="15875">
            <a:solidFill>
              <a:srgbClr val="2E4152"/>
            </a:solidFill>
            <a:prstDash val="solid"/>
          </a:ln>
        </p:spPr>
      </p:sp>
      <p:sp>
        <p:nvSpPr>
          <p:cNvPr id="4" name="Shape 2"/>
          <p:cNvSpPr/>
          <p:nvPr/>
        </p:nvSpPr>
        <p:spPr>
          <a:xfrm>
            <a:off x="548640" y="502920"/>
            <a:ext cx="777240" cy="77724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5" name="Image 0" descr="preencoded.png">    </p:cNvPr>
          <p:cNvPicPr>
            <a:picLocks noChangeAspect="1"/>
          </p:cNvPicPr>
          <p:nvPr/>
        </p:nvPicPr>
        <p:blipFill>
          <a:blip r:embed="rId1"/>
          <a:stretch>
            <a:fillRect/>
          </a:stretch>
        </p:blipFill>
        <p:spPr>
          <a:xfrm>
            <a:off x="749808" y="704088"/>
            <a:ext cx="374904" cy="374904"/>
          </a:xfrm>
          <a:prstGeom prst="rect">
            <a:avLst/>
          </a:prstGeom>
        </p:spPr>
      </p:pic>
      <p:sp>
        <p:nvSpPr>
          <p:cNvPr id="6" name="Text 3"/>
          <p:cNvSpPr txBox="1"/>
          <p:nvPr/>
        </p:nvSpPr>
        <p:spPr>
          <a:xfrm>
            <a:off x="1508760" y="594360"/>
            <a:ext cx="7315200" cy="320040"/>
          </a:xfrm>
          <a:prstGeom prst="rect">
            <a:avLst/>
          </a:prstGeom>
          <a:noFill/>
          <a:ln/>
        </p:spPr>
        <p:txBody>
          <a:bodyPr wrap="square" lIns="0" tIns="0" rIns="0" bIns="0" rtlCol="0" anchor="ctr"/>
          <a:lstStyle/>
          <a:p>
            <a:pPr indent="0" marL="0">
              <a:buNone/>
            </a:pPr>
            <a:r>
              <a:rPr lang="en-US" sz="1300" b="1" spc="200" kern="0" dirty="0">
                <a:solidFill>
                  <a:srgbClr val="17A2B8"/>
                </a:solidFill>
                <a:latin typeface="Calibri" pitchFamily="34" charset="0"/>
                <a:ea typeface="Calibri" pitchFamily="34" charset="-122"/>
                <a:cs typeface="Calibri" pitchFamily="34" charset="-120"/>
              </a:rPr>
              <a:t>SÍNTESIS DEL CAPÍTULO</a:t>
            </a:r>
            <a:endParaRPr lang="en-US" sz="1300" dirty="0"/>
          </a:p>
        </p:txBody>
      </p:sp>
      <p:sp>
        <p:nvSpPr>
          <p:cNvPr id="7" name="Text 4"/>
          <p:cNvSpPr txBox="1"/>
          <p:nvPr/>
        </p:nvSpPr>
        <p:spPr>
          <a:xfrm>
            <a:off x="1508760" y="896112"/>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Resumen: puntos clave</a:t>
            </a:r>
            <a:endParaRPr lang="en-US" sz="3000" dirty="0"/>
          </a:p>
        </p:txBody>
      </p:sp>
      <p:sp>
        <p:nvSpPr>
          <p:cNvPr id="8" name="Shape 5"/>
          <p:cNvSpPr/>
          <p:nvPr/>
        </p:nvSpPr>
        <p:spPr>
          <a:xfrm>
            <a:off x="594360" y="1911096"/>
            <a:ext cx="292608" cy="292608"/>
          </a:xfrm>
          <a:prstGeom prst="ellipse">
            <a:avLst/>
          </a:prstGeom>
          <a:solidFill>
            <a:srgbClr val="17A2B8"/>
          </a:solidFill>
          <a:ln/>
        </p:spPr>
      </p:sp>
      <p:sp>
        <p:nvSpPr>
          <p:cNvPr id="9" name="Text 6"/>
          <p:cNvSpPr txBox="1"/>
          <p:nvPr/>
        </p:nvSpPr>
        <p:spPr>
          <a:xfrm>
            <a:off x="594360" y="1911096"/>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014984" y="1847088"/>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La intubación traqueal asegura permeabilidad, protección y ventilación controlada de la vía aérea.</a:t>
            </a:r>
            <a:endParaRPr lang="en-US" sz="1200" dirty="0"/>
          </a:p>
        </p:txBody>
      </p:sp>
      <p:sp>
        <p:nvSpPr>
          <p:cNvPr id="11" name="Shape 8"/>
          <p:cNvSpPr/>
          <p:nvPr/>
        </p:nvSpPr>
        <p:spPr>
          <a:xfrm>
            <a:off x="594360" y="2807208"/>
            <a:ext cx="292608" cy="292608"/>
          </a:xfrm>
          <a:prstGeom prst="ellipse">
            <a:avLst/>
          </a:prstGeom>
          <a:solidFill>
            <a:srgbClr val="17A2B8"/>
          </a:solidFill>
          <a:ln/>
        </p:spPr>
      </p:sp>
      <p:sp>
        <p:nvSpPr>
          <p:cNvPr id="12" name="Text 9"/>
          <p:cNvSpPr txBox="1"/>
          <p:nvPr/>
        </p:nvSpPr>
        <p:spPr>
          <a:xfrm>
            <a:off x="594360" y="2807208"/>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014984" y="2743200"/>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El dominio de la anatomía de nariz, faringe, laringe y tráquea es indispensable para una técnica segura.</a:t>
            </a:r>
            <a:endParaRPr lang="en-US" sz="1200" dirty="0"/>
          </a:p>
        </p:txBody>
      </p:sp>
      <p:sp>
        <p:nvSpPr>
          <p:cNvPr id="14" name="Shape 11"/>
          <p:cNvSpPr/>
          <p:nvPr/>
        </p:nvSpPr>
        <p:spPr>
          <a:xfrm>
            <a:off x="594360" y="3703320"/>
            <a:ext cx="292608" cy="292608"/>
          </a:xfrm>
          <a:prstGeom prst="ellipse">
            <a:avLst/>
          </a:prstGeom>
          <a:solidFill>
            <a:srgbClr val="17A2B8"/>
          </a:solidFill>
          <a:ln/>
        </p:spPr>
      </p:sp>
      <p:sp>
        <p:nvSpPr>
          <p:cNvPr id="15" name="Text 12"/>
          <p:cNvSpPr txBox="1"/>
          <p:nvPr/>
        </p:nvSpPr>
        <p:spPr>
          <a:xfrm>
            <a:off x="594360" y="3703320"/>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014984" y="3639312"/>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La evaluación preanestésica sistemática (Mallampati, distancia tiromentoniana, apertura oral, movilidad cervical) predice, sin garantizar, la dificultad de la vía aérea.</a:t>
            </a:r>
            <a:endParaRPr lang="en-US" sz="1200" dirty="0"/>
          </a:p>
        </p:txBody>
      </p:sp>
      <p:sp>
        <p:nvSpPr>
          <p:cNvPr id="17" name="Shape 14"/>
          <p:cNvSpPr/>
          <p:nvPr/>
        </p:nvSpPr>
        <p:spPr>
          <a:xfrm>
            <a:off x="594360" y="4599432"/>
            <a:ext cx="292608" cy="292608"/>
          </a:xfrm>
          <a:prstGeom prst="ellipse">
            <a:avLst/>
          </a:prstGeom>
          <a:solidFill>
            <a:srgbClr val="17A2B8"/>
          </a:solidFill>
          <a:ln/>
        </p:spPr>
      </p:sp>
      <p:sp>
        <p:nvSpPr>
          <p:cNvPr id="18" name="Text 15"/>
          <p:cNvSpPr txBox="1"/>
          <p:nvPr/>
        </p:nvSpPr>
        <p:spPr>
          <a:xfrm>
            <a:off x="594360" y="4599432"/>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014984" y="4535424"/>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La preoxigenación adecuada y el posicionamiento en "sniffing position" optimizan las condiciones de laringoscopia.</a:t>
            </a:r>
            <a:endParaRPr lang="en-US" sz="1200" dirty="0"/>
          </a:p>
        </p:txBody>
      </p:sp>
      <p:sp>
        <p:nvSpPr>
          <p:cNvPr id="20" name="Shape 17"/>
          <p:cNvSpPr/>
          <p:nvPr/>
        </p:nvSpPr>
        <p:spPr>
          <a:xfrm>
            <a:off x="6263640" y="1911096"/>
            <a:ext cx="292608" cy="292608"/>
          </a:xfrm>
          <a:prstGeom prst="ellipse">
            <a:avLst/>
          </a:prstGeom>
          <a:solidFill>
            <a:srgbClr val="17A2B8"/>
          </a:solidFill>
          <a:ln/>
        </p:spPr>
      </p:sp>
      <p:sp>
        <p:nvSpPr>
          <p:cNvPr id="21" name="Text 18"/>
          <p:cNvSpPr txBox="1"/>
          <p:nvPr/>
        </p:nvSpPr>
        <p:spPr>
          <a:xfrm>
            <a:off x="6263640" y="1911096"/>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6684264" y="1847088"/>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La capnografía continua es el estándar de confirmación de la posición traqueal del tubo.</a:t>
            </a:r>
            <a:endParaRPr lang="en-US" sz="1200" dirty="0"/>
          </a:p>
        </p:txBody>
      </p:sp>
      <p:sp>
        <p:nvSpPr>
          <p:cNvPr id="23" name="Shape 20"/>
          <p:cNvSpPr/>
          <p:nvPr/>
        </p:nvSpPr>
        <p:spPr>
          <a:xfrm>
            <a:off x="6263640" y="2807208"/>
            <a:ext cx="292608" cy="292608"/>
          </a:xfrm>
          <a:prstGeom prst="ellipse">
            <a:avLst/>
          </a:prstGeom>
          <a:solidFill>
            <a:srgbClr val="17A2B8"/>
          </a:solidFill>
          <a:ln/>
        </p:spPr>
      </p:sp>
      <p:sp>
        <p:nvSpPr>
          <p:cNvPr id="24" name="Text 21"/>
          <p:cNvSpPr txBox="1"/>
          <p:nvPr/>
        </p:nvSpPr>
        <p:spPr>
          <a:xfrm>
            <a:off x="6263640" y="2807208"/>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6</a:t>
            </a:r>
            <a:endParaRPr lang="en-US" sz="1300" dirty="0"/>
          </a:p>
        </p:txBody>
      </p:sp>
      <p:sp>
        <p:nvSpPr>
          <p:cNvPr id="25" name="Text 22"/>
          <p:cNvSpPr txBox="1"/>
          <p:nvPr/>
        </p:nvSpPr>
        <p:spPr>
          <a:xfrm>
            <a:off x="6684264" y="2743200"/>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La videolaringoscopia y la fibrobroncoscopia despierta amplían las opciones frente a la vía aérea difícil.</a:t>
            </a:r>
            <a:endParaRPr lang="en-US" sz="1200" dirty="0"/>
          </a:p>
        </p:txBody>
      </p:sp>
      <p:sp>
        <p:nvSpPr>
          <p:cNvPr id="26" name="Shape 23"/>
          <p:cNvSpPr/>
          <p:nvPr/>
        </p:nvSpPr>
        <p:spPr>
          <a:xfrm>
            <a:off x="6263640" y="3703320"/>
            <a:ext cx="292608" cy="292608"/>
          </a:xfrm>
          <a:prstGeom prst="ellipse">
            <a:avLst/>
          </a:prstGeom>
          <a:solidFill>
            <a:srgbClr val="17A2B8"/>
          </a:solidFill>
          <a:ln/>
        </p:spPr>
      </p:sp>
      <p:sp>
        <p:nvSpPr>
          <p:cNvPr id="27" name="Text 24"/>
          <p:cNvSpPr txBox="1"/>
          <p:nvPr/>
        </p:nvSpPr>
        <p:spPr>
          <a:xfrm>
            <a:off x="6263640" y="3703320"/>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7</a:t>
            </a:r>
            <a:endParaRPr lang="en-US" sz="1300" dirty="0"/>
          </a:p>
        </p:txBody>
      </p:sp>
      <p:sp>
        <p:nvSpPr>
          <p:cNvPr id="28" name="Text 25"/>
          <p:cNvSpPr txBox="1"/>
          <p:nvPr/>
        </p:nvSpPr>
        <p:spPr>
          <a:xfrm>
            <a:off x="6684264" y="3639312"/>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El algoritmo de vía aérea difícil prioriza siempre la oxigenación del paciente sobre lograr la intubación.</a:t>
            </a:r>
            <a:endParaRPr lang="en-US" sz="1200" dirty="0"/>
          </a:p>
        </p:txBody>
      </p:sp>
      <p:sp>
        <p:nvSpPr>
          <p:cNvPr id="29" name="Shape 26"/>
          <p:cNvSpPr/>
          <p:nvPr/>
        </p:nvSpPr>
        <p:spPr>
          <a:xfrm>
            <a:off x="6263640" y="4599432"/>
            <a:ext cx="292608" cy="292608"/>
          </a:xfrm>
          <a:prstGeom prst="ellipse">
            <a:avLst/>
          </a:prstGeom>
          <a:solidFill>
            <a:srgbClr val="17A2B8"/>
          </a:solidFill>
          <a:ln/>
        </p:spPr>
      </p:sp>
      <p:sp>
        <p:nvSpPr>
          <p:cNvPr id="30" name="Text 27"/>
          <p:cNvSpPr txBox="1"/>
          <p:nvPr/>
        </p:nvSpPr>
        <p:spPr>
          <a:xfrm>
            <a:off x="6263640" y="4599432"/>
            <a:ext cx="292608" cy="292608"/>
          </a:xfrm>
          <a:prstGeom prst="rect">
            <a:avLst/>
          </a:prstGeom>
          <a:noFill/>
          <a:ln/>
        </p:spPr>
        <p:txBody>
          <a:bodyPr wrap="square" lIns="0" tIns="0" rIns="0" bIns="0" rtlCol="0" anchor="ctr"/>
          <a:lstStyle/>
          <a:p>
            <a:pPr algn="ctr" indent="0" marL="0">
              <a:buNone/>
            </a:pPr>
            <a:r>
              <a:rPr lang="en-US" sz="1300" b="1" dirty="0">
                <a:solidFill>
                  <a:srgbClr val="1A2530"/>
                </a:solidFill>
                <a:latin typeface="Cambria" pitchFamily="34" charset="0"/>
                <a:ea typeface="Cambria" pitchFamily="34" charset="-122"/>
                <a:cs typeface="Cambria" pitchFamily="34" charset="-120"/>
              </a:rPr>
              <a:t>8</a:t>
            </a:r>
            <a:endParaRPr lang="en-US" sz="1300" dirty="0"/>
          </a:p>
        </p:txBody>
      </p:sp>
      <p:sp>
        <p:nvSpPr>
          <p:cNvPr id="31" name="Text 28"/>
          <p:cNvSpPr txBox="1"/>
          <p:nvPr/>
        </p:nvSpPr>
        <p:spPr>
          <a:xfrm>
            <a:off x="6684264" y="4535424"/>
            <a:ext cx="4892040" cy="822960"/>
          </a:xfrm>
          <a:prstGeom prst="rect">
            <a:avLst/>
          </a:prstGeom>
          <a:noFill/>
          <a:ln/>
        </p:spPr>
        <p:txBody>
          <a:bodyPr wrap="square" lIns="0" tIns="0" rIns="0" bIns="0" rtlCol="0" anchor="t"/>
          <a:lstStyle/>
          <a:p>
            <a:pPr indent="0" marL="0">
              <a:lnSpc>
                <a:spcPts val="1550"/>
              </a:lnSpc>
              <a:buNone/>
            </a:pPr>
            <a:r>
              <a:rPr lang="en-US" sz="1200" dirty="0">
                <a:solidFill>
                  <a:srgbClr val="D7E1E8"/>
                </a:solidFill>
                <a:latin typeface="Calibri" pitchFamily="34" charset="0"/>
                <a:ea typeface="Calibri" pitchFamily="34" charset="-122"/>
                <a:cs typeface="Calibri" pitchFamily="34" charset="-120"/>
              </a:rPr>
              <a:t>La extubación exige la misma planificación y vigilancia que la intubación, anticipando la posible reintubación.</a:t>
            </a:r>
            <a:endParaRPr lang="en-US" sz="1200" dirty="0"/>
          </a:p>
        </p:txBody>
      </p:sp>
      <p:sp>
        <p:nvSpPr>
          <p:cNvPr id="33" name="Text 29"/>
          <p:cNvSpPr txBox="1"/>
          <p:nvPr/>
        </p:nvSpPr>
        <p:spPr>
          <a:xfrm>
            <a:off x="502920" y="6510528"/>
            <a:ext cx="6400800" cy="27432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Capítulo VII · Intubación de la Tráquea</a:t>
            </a:r>
            <a:endParaRPr lang="en-US" sz="900" dirty="0"/>
          </a:p>
        </p:txBody>
      </p:sp>
      <p:sp>
        <p:nvSpPr>
          <p:cNvPr id="34" name="Text 30"/>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5D6D7E"/>
                </a:solidFill>
                <a:latin typeface="Calibri" pitchFamily="34" charset="0"/>
                <a:ea typeface="Calibri" pitchFamily="34" charset="-122"/>
                <a:cs typeface="Calibri" pitchFamily="34" charset="-120"/>
              </a:rPr>
              <a:t>30 / 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530"/>
        </a:solidFill>
      </p:bgPr>
    </p:bg>
    <p:spTree>
      <p:nvGrpSpPr>
        <p:cNvPr id="1" name=""/>
        <p:cNvGrpSpPr/>
        <p:nvPr/>
      </p:nvGrpSpPr>
      <p:grpSpPr>
        <a:xfrm>
          <a:off x="0" y="0"/>
          <a:ext cx="0" cy="0"/>
          <a:chOff x="0" y="0"/>
          <a:chExt cx="0" cy="0"/>
        </a:xfrm>
      </p:grpSpPr>
      <p:sp>
        <p:nvSpPr>
          <p:cNvPr id="2" name="Shape 0"/>
          <p:cNvSpPr/>
          <p:nvPr/>
        </p:nvSpPr>
        <p:spPr>
          <a:xfrm>
            <a:off x="8778240" y="-1828800"/>
            <a:ext cx="5943600" cy="5943600"/>
          </a:xfrm>
          <a:prstGeom prst="ellipse">
            <a:avLst/>
          </a:prstGeom>
          <a:ln w="15875">
            <a:solidFill>
              <a:srgbClr val="2E4152"/>
            </a:solidFill>
            <a:prstDash val="solid"/>
          </a:ln>
        </p:spPr>
      </p:sp>
      <p:sp>
        <p:nvSpPr>
          <p:cNvPr id="3" name="Shape 1"/>
          <p:cNvSpPr/>
          <p:nvPr/>
        </p:nvSpPr>
        <p:spPr>
          <a:xfrm>
            <a:off x="548640" y="502920"/>
            <a:ext cx="777240" cy="777240"/>
          </a:xfrm>
          <a:prstGeom prst="ellipse">
            <a:avLst/>
          </a:prstGeom>
          <a:solidFill>
            <a:srgbClr val="17A2B8"/>
          </a:solidFill>
          <a:ln/>
          <a:effectLst>
            <a:outerShdw sx="100000" sy="100000" kx="0" ky="0" algn="bl" rotWithShape="0" blurRad="76200" dist="25400" dir="5400000">
              <a:srgbClr val="1A2530">
                <a:alpha val="25000"/>
              </a:srgbClr>
            </a:outerShdw>
          </a:effectLst>
        </p:spPr>
      </p:sp>
      <p:pic>
        <p:nvPicPr>
          <p:cNvPr id="4" name="Image 0" descr="preencoded.png">    </p:cNvPr>
          <p:cNvPicPr>
            <a:picLocks noChangeAspect="1"/>
          </p:cNvPicPr>
          <p:nvPr/>
        </p:nvPicPr>
        <p:blipFill>
          <a:blip r:embed="rId1"/>
          <a:stretch>
            <a:fillRect/>
          </a:stretch>
        </p:blipFill>
        <p:spPr>
          <a:xfrm>
            <a:off x="749808" y="704088"/>
            <a:ext cx="374904" cy="374904"/>
          </a:xfrm>
          <a:prstGeom prst="rect">
            <a:avLst/>
          </a:prstGeom>
        </p:spPr>
      </p:pic>
      <p:sp>
        <p:nvSpPr>
          <p:cNvPr id="5" name="Text 2"/>
          <p:cNvSpPr txBox="1"/>
          <p:nvPr/>
        </p:nvSpPr>
        <p:spPr>
          <a:xfrm>
            <a:off x="1508760" y="594360"/>
            <a:ext cx="7315200" cy="320040"/>
          </a:xfrm>
          <a:prstGeom prst="rect">
            <a:avLst/>
          </a:prstGeom>
          <a:noFill/>
          <a:ln/>
        </p:spPr>
        <p:txBody>
          <a:bodyPr wrap="square" lIns="0" tIns="0" rIns="0" bIns="0" rtlCol="0" anchor="ctr"/>
          <a:lstStyle/>
          <a:p>
            <a:pPr indent="0" marL="0">
              <a:buNone/>
            </a:pPr>
            <a:r>
              <a:rPr lang="en-US" sz="1300" b="1" spc="200" kern="0" dirty="0">
                <a:solidFill>
                  <a:srgbClr val="17A2B8"/>
                </a:solidFill>
                <a:latin typeface="Calibri" pitchFamily="34" charset="0"/>
                <a:ea typeface="Calibri" pitchFamily="34" charset="-122"/>
                <a:cs typeface="Calibri" pitchFamily="34" charset="-120"/>
              </a:rPr>
              <a:t>BIBLIOGRAFÍA</a:t>
            </a:r>
            <a:endParaRPr lang="en-US" sz="1300" dirty="0"/>
          </a:p>
        </p:txBody>
      </p:sp>
      <p:sp>
        <p:nvSpPr>
          <p:cNvPr id="6" name="Text 3"/>
          <p:cNvSpPr txBox="1"/>
          <p:nvPr/>
        </p:nvSpPr>
        <p:spPr>
          <a:xfrm>
            <a:off x="1508760" y="896112"/>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Referencias bibliográficas</a:t>
            </a:r>
            <a:endParaRPr lang="en-US" sz="3000" dirty="0"/>
          </a:p>
        </p:txBody>
      </p:sp>
      <p:sp>
        <p:nvSpPr>
          <p:cNvPr id="7" name="Shape 4"/>
          <p:cNvSpPr/>
          <p:nvPr/>
        </p:nvSpPr>
        <p:spPr>
          <a:xfrm>
            <a:off x="594360" y="1965960"/>
            <a:ext cx="100584" cy="100584"/>
          </a:xfrm>
          <a:prstGeom prst="ellipse">
            <a:avLst/>
          </a:prstGeom>
          <a:solidFill>
            <a:srgbClr val="17A2B8"/>
          </a:solidFill>
          <a:ln/>
        </p:spPr>
      </p:sp>
      <p:sp>
        <p:nvSpPr>
          <p:cNvPr id="8" name="Text 5"/>
          <p:cNvSpPr txBox="1"/>
          <p:nvPr/>
        </p:nvSpPr>
        <p:spPr>
          <a:xfrm>
            <a:off x="886968" y="184708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Miller RD, Cohen NH, Eriksson LI, et al. Miller's Anesthesia. 9.ª edición. Filadelfia: Elsevier; capítulo sobre manejo de la vía aérea.</a:t>
            </a:r>
            <a:endParaRPr lang="en-US" sz="1100" dirty="0"/>
          </a:p>
        </p:txBody>
      </p:sp>
      <p:sp>
        <p:nvSpPr>
          <p:cNvPr id="9" name="Shape 6"/>
          <p:cNvSpPr/>
          <p:nvPr/>
        </p:nvSpPr>
        <p:spPr>
          <a:xfrm>
            <a:off x="594360" y="2926080"/>
            <a:ext cx="100584" cy="100584"/>
          </a:xfrm>
          <a:prstGeom prst="ellipse">
            <a:avLst/>
          </a:prstGeom>
          <a:solidFill>
            <a:srgbClr val="17A2B8"/>
          </a:solidFill>
          <a:ln/>
        </p:spPr>
      </p:sp>
      <p:sp>
        <p:nvSpPr>
          <p:cNvPr id="10" name="Text 7"/>
          <p:cNvSpPr txBox="1"/>
          <p:nvPr/>
        </p:nvSpPr>
        <p:spPr>
          <a:xfrm>
            <a:off x="886968" y="280720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Butterworth JF, Mackey DC, Wasnick JD. Morgan &amp; Mikhail's Clinical Anesthesiology. 6.ª edición. Nueva York: McGraw-Hill; capítulo de manejo de la vía aérea.</a:t>
            </a:r>
            <a:endParaRPr lang="en-US" sz="1100" dirty="0"/>
          </a:p>
        </p:txBody>
      </p:sp>
      <p:sp>
        <p:nvSpPr>
          <p:cNvPr id="11" name="Shape 8"/>
          <p:cNvSpPr/>
          <p:nvPr/>
        </p:nvSpPr>
        <p:spPr>
          <a:xfrm>
            <a:off x="594360" y="3886200"/>
            <a:ext cx="100584" cy="100584"/>
          </a:xfrm>
          <a:prstGeom prst="ellipse">
            <a:avLst/>
          </a:prstGeom>
          <a:solidFill>
            <a:srgbClr val="17A2B8"/>
          </a:solidFill>
          <a:ln/>
        </p:spPr>
      </p:sp>
      <p:sp>
        <p:nvSpPr>
          <p:cNvPr id="12" name="Text 9"/>
          <p:cNvSpPr txBox="1"/>
          <p:nvPr/>
        </p:nvSpPr>
        <p:spPr>
          <a:xfrm>
            <a:off x="886968" y="376732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Barash PG, Cullen BF, Stoelting RK, et al. Clinical Anesthesia. 8.ª edición. Filadelfia: Wolters Kluwer.</a:t>
            </a:r>
            <a:endParaRPr lang="en-US" sz="1100" dirty="0"/>
          </a:p>
        </p:txBody>
      </p:sp>
      <p:sp>
        <p:nvSpPr>
          <p:cNvPr id="13" name="Shape 10"/>
          <p:cNvSpPr/>
          <p:nvPr/>
        </p:nvSpPr>
        <p:spPr>
          <a:xfrm>
            <a:off x="594360" y="4846320"/>
            <a:ext cx="100584" cy="100584"/>
          </a:xfrm>
          <a:prstGeom prst="ellipse">
            <a:avLst/>
          </a:prstGeom>
          <a:solidFill>
            <a:srgbClr val="17A2B8"/>
          </a:solidFill>
          <a:ln/>
        </p:spPr>
      </p:sp>
      <p:sp>
        <p:nvSpPr>
          <p:cNvPr id="14" name="Text 11"/>
          <p:cNvSpPr txBox="1"/>
          <p:nvPr/>
        </p:nvSpPr>
        <p:spPr>
          <a:xfrm>
            <a:off x="886968" y="472744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American Society of Anesthesiologists. Practice Guidelines for Management of the Difficult Airway. Anesthesiology.</a:t>
            </a:r>
            <a:endParaRPr lang="en-US" sz="1100" dirty="0"/>
          </a:p>
        </p:txBody>
      </p:sp>
      <p:sp>
        <p:nvSpPr>
          <p:cNvPr id="15" name="Shape 12"/>
          <p:cNvSpPr/>
          <p:nvPr/>
        </p:nvSpPr>
        <p:spPr>
          <a:xfrm>
            <a:off x="6263640" y="1965960"/>
            <a:ext cx="100584" cy="100584"/>
          </a:xfrm>
          <a:prstGeom prst="ellipse">
            <a:avLst/>
          </a:prstGeom>
          <a:solidFill>
            <a:srgbClr val="17A2B8"/>
          </a:solidFill>
          <a:ln/>
        </p:spPr>
      </p:sp>
      <p:sp>
        <p:nvSpPr>
          <p:cNvPr id="16" name="Text 13"/>
          <p:cNvSpPr txBox="1"/>
          <p:nvPr/>
        </p:nvSpPr>
        <p:spPr>
          <a:xfrm>
            <a:off x="6556248" y="184708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Difficult Airway Society (DAS). Guidelines for management of unanticipated difficult intubation in adults.</a:t>
            </a:r>
            <a:endParaRPr lang="en-US" sz="1100" dirty="0"/>
          </a:p>
        </p:txBody>
      </p:sp>
      <p:sp>
        <p:nvSpPr>
          <p:cNvPr id="17" name="Shape 14"/>
          <p:cNvSpPr/>
          <p:nvPr/>
        </p:nvSpPr>
        <p:spPr>
          <a:xfrm>
            <a:off x="6263640" y="2926080"/>
            <a:ext cx="100584" cy="100584"/>
          </a:xfrm>
          <a:prstGeom prst="ellipse">
            <a:avLst/>
          </a:prstGeom>
          <a:solidFill>
            <a:srgbClr val="17A2B8"/>
          </a:solidFill>
          <a:ln/>
        </p:spPr>
      </p:sp>
      <p:sp>
        <p:nvSpPr>
          <p:cNvPr id="18" name="Text 15"/>
          <p:cNvSpPr txBox="1"/>
          <p:nvPr/>
        </p:nvSpPr>
        <p:spPr>
          <a:xfrm>
            <a:off x="6556248" y="280720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Apfelbaum JL, et al. Practice guidelines for management of the difficult airway: an updated report. American Society of Anesthesiologists Task Force.</a:t>
            </a:r>
            <a:endParaRPr lang="en-US" sz="1100" dirty="0"/>
          </a:p>
        </p:txBody>
      </p:sp>
      <p:sp>
        <p:nvSpPr>
          <p:cNvPr id="19" name="Shape 16"/>
          <p:cNvSpPr/>
          <p:nvPr/>
        </p:nvSpPr>
        <p:spPr>
          <a:xfrm>
            <a:off x="6263640" y="3886200"/>
            <a:ext cx="100584" cy="100584"/>
          </a:xfrm>
          <a:prstGeom prst="ellipse">
            <a:avLst/>
          </a:prstGeom>
          <a:solidFill>
            <a:srgbClr val="17A2B8"/>
          </a:solidFill>
          <a:ln/>
        </p:spPr>
      </p:sp>
      <p:sp>
        <p:nvSpPr>
          <p:cNvPr id="20" name="Text 17"/>
          <p:cNvSpPr txBox="1"/>
          <p:nvPr/>
        </p:nvSpPr>
        <p:spPr>
          <a:xfrm>
            <a:off x="6556248" y="376732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Cook TM, Woodall N, Frerk C. Major complications of airway management in the United Kingdom (NAP4). Royal College of Anaesthetists.</a:t>
            </a:r>
            <a:endParaRPr lang="en-US" sz="1100" dirty="0"/>
          </a:p>
        </p:txBody>
      </p:sp>
      <p:sp>
        <p:nvSpPr>
          <p:cNvPr id="21" name="Shape 18"/>
          <p:cNvSpPr/>
          <p:nvPr/>
        </p:nvSpPr>
        <p:spPr>
          <a:xfrm>
            <a:off x="6263640" y="4846320"/>
            <a:ext cx="100584" cy="100584"/>
          </a:xfrm>
          <a:prstGeom prst="ellipse">
            <a:avLst/>
          </a:prstGeom>
          <a:solidFill>
            <a:srgbClr val="17A2B8"/>
          </a:solidFill>
          <a:ln/>
        </p:spPr>
      </p:sp>
      <p:sp>
        <p:nvSpPr>
          <p:cNvPr id="22" name="Text 19"/>
          <p:cNvSpPr txBox="1"/>
          <p:nvPr/>
        </p:nvSpPr>
        <p:spPr>
          <a:xfrm>
            <a:off x="6556248" y="4727448"/>
            <a:ext cx="5029200" cy="914400"/>
          </a:xfrm>
          <a:prstGeom prst="rect">
            <a:avLst/>
          </a:prstGeom>
          <a:noFill/>
          <a:ln/>
        </p:spPr>
        <p:txBody>
          <a:bodyPr wrap="square" lIns="0" tIns="0" rIns="0" bIns="0" rtlCol="0" anchor="t"/>
          <a:lstStyle/>
          <a:p>
            <a:pPr indent="0" marL="0">
              <a:lnSpc>
                <a:spcPts val="1450"/>
              </a:lnSpc>
              <a:buNone/>
            </a:pPr>
            <a:r>
              <a:rPr lang="en-US" sz="1100" i="1" dirty="0">
                <a:solidFill>
                  <a:srgbClr val="C9D4DC"/>
                </a:solidFill>
                <a:latin typeface="Calibri" pitchFamily="34" charset="0"/>
                <a:ea typeface="Calibri" pitchFamily="34" charset="-122"/>
                <a:cs typeface="Calibri" pitchFamily="34" charset="-120"/>
              </a:rPr>
              <a:t>Hagberg CA. Benumof and Hagberg's Airway Management. 4.ª edición. Filadelfia: Elsevier.</a:t>
            </a:r>
            <a:endParaRPr lang="en-US" sz="1100" dirty="0"/>
          </a:p>
        </p:txBody>
      </p:sp>
      <p:sp>
        <p:nvSpPr>
          <p:cNvPr id="23" name="Text 20"/>
          <p:cNvSpPr txBox="1"/>
          <p:nvPr/>
        </p:nvSpPr>
        <p:spPr>
          <a:xfrm>
            <a:off x="594360" y="6263640"/>
            <a:ext cx="9144000" cy="320040"/>
          </a:xfrm>
          <a:prstGeom prst="rect">
            <a:avLst/>
          </a:prstGeom>
          <a:noFill/>
          <a:ln/>
        </p:spPr>
        <p:txBody>
          <a:bodyPr wrap="square" lIns="0" tIns="0" rIns="0" bIns="0" rtlCol="0" anchor="ctr"/>
          <a:lstStyle/>
          <a:p>
            <a:pPr indent="0" marL="0">
              <a:buNone/>
            </a:pPr>
            <a:r>
              <a:rPr lang="en-US" sz="1050" i="1" dirty="0">
                <a:solidFill>
                  <a:srgbClr val="7E92A2"/>
                </a:solidFill>
                <a:latin typeface="Calibri" pitchFamily="34" charset="0"/>
                <a:ea typeface="Calibri" pitchFamily="34" charset="-122"/>
                <a:cs typeface="Calibri" pitchFamily="34" charset="-120"/>
              </a:rPr>
              <a:t>Fin del Capítulo VII — Intubación de la Tráquea</a:t>
            </a:r>
            <a:endParaRPr lang="en-US" sz="1050" dirty="0"/>
          </a:p>
        </p:txBody>
      </p:sp>
      <p:sp>
        <p:nvSpPr>
          <p:cNvPr id="24" name="Text 21"/>
          <p:cNvSpPr txBox="1"/>
          <p:nvPr/>
        </p:nvSpPr>
        <p:spPr>
          <a:xfrm>
            <a:off x="11292840" y="6519672"/>
            <a:ext cx="731520" cy="274320"/>
          </a:xfrm>
          <a:prstGeom prst="rect">
            <a:avLst/>
          </a:prstGeom>
          <a:noFill/>
          <a:ln/>
        </p:spPr>
        <p:txBody>
          <a:bodyPr wrap="square" lIns="0" tIns="0" rIns="0" bIns="0" rtlCol="0" anchor="ctr"/>
          <a:lstStyle/>
          <a:p>
            <a:pPr algn="r" indent="0" marL="0">
              <a:buNone/>
            </a:pPr>
            <a:r>
              <a:rPr lang="en-US" sz="900" dirty="0">
                <a:solidFill>
                  <a:srgbClr val="7E92A2"/>
                </a:solidFill>
                <a:latin typeface="Calibri" pitchFamily="34" charset="0"/>
                <a:ea typeface="Calibri" pitchFamily="34" charset="-122"/>
                <a:cs typeface="Calibri" pitchFamily="34" charset="-120"/>
              </a:rPr>
              <a:t>31 / 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2026-08-27T01:04:14Z</dcterms:created>
  <dcterms:modified xsi:type="dcterms:W3CDTF">2026-08-27T01:04:14Z</dcterms:modified>
</cp:coreProperties>
</file>