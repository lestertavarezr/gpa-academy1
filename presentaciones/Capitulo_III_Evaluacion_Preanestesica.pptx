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evaluación preanestésica no es un trámite administrativo: es el acto médico donde se construye el plan anestésico y se anticipan complicaciones. Enfatizar a los residentes que los seis objetivos deben cumplirse en toda consulta, independientemente del tiempo disponible, y que la anamnesis dirigida sigue siendo la herramienta de mayor rendimiento diagnóstico, por encima de estudios de laboratorio solicitados de forma indiscriminada. Discutir que la consulta ideal ocurre con suficiente anticipación para permitir optimización médica, no el mismo día de la cirugía.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evidencia acumulada en clínicas de preanestesia muestra reducción de cancelaciones quirúrgicas de causa médica hasta en dos tercios cuando la evaluación se realiza con antelación suficiente. Insistir en que "importancia" no es solo seguridad clínica sino también gestión eficiente del quirófano: cada cancelación el día de la cirugía tiene un costo institucional y humano considerable. Relacionar este concepto con la clasificación ASA que se revisará más adelante en el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estos tres componentes no son secuenciales rígidos sino iterativos: un hallazgo en el examen físico puede reorientar la anamnesis, y un dato de laboratorio anormal puede requerir ampliar el examen físico. La historia clínica sigue siendo el pilar con mayor rendimiento diagnóstico; los estudios complementarios deben solicitarse de forma dirigida y no como rutina indiscriminada, tema que se profundizará en el apartado de estudios preoperatorios racionales.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historia clínica preanestésica debe ser dirigida, no un listado genérico: cada antecedente positivo obliga a profundizar su impacto funcional actual (por ejemplo, clase funcional en cardiopatía, control glucémico en diabetes). Enseñar a los residentes a buscar activamente el expediente anestésico de cirugías previas, ya que el reporte verbal del paciente subestima sistemáticamente eventos como intubación difícil o hipertermia intraoperatoria.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antecedente de complicación anestésica debe registrarse de forma explícita en el expediente y comunicarse al equipo quirúrgico, idealmente mediante una alerta visible. El antecedente de vía aérea difícil previa es el predictor aislado más fuerte de dificultad en la intubación actual, superior a cualquier escala física, por lo que su búsqueda activa tiene prioridad sobre los hallazgos del examen físico del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hipertermia maligna es una urgencia anestésica con mortalidad elevada si no se trata oportunamente con dantroleno; sin tratamiento la mortalidad histórica supera el 70 por ciento, mientras que con reconocimiento y dantroleno disponible desciende a menos del 5 por ciento. Enfatizar que la ausencia de antecedente personal no descarta el riesgo si existe antecedente familiar positivo, dado el patrón de penetrancia variable. También indagar antecedentes familiares de deficiencia de colinesterasa plasmática, que prolonga el bloqueo neuromuscular con succinilcolina y mivacurio.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clasificación de Gell y Coombs organiza el razonamiento fisiopatológico, pero en la práctica perioperatoria la reacción tipo I es la de mayor relevancia inmediata por su potencial de anafilaxia. Enseñar a diferenciar sistemáticamente "alergia" de "intolerancia": muchos pacientes refieren alergia a la morfina cuando en realidad presentan náusea o prurito por liberación de histamina no inmunológica, lo cual no contraindica su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relajantes neuromusculares explican la mayoría de los casos de anafilaxia perioperatoria en las series europeas, seguidos por el látex y los antibióticos; el orden puede variar según la región y el uso local de agentes. Para pacientes con síndrome látex-fruta o exposición ocupacional relevante, coordinar con la central de esterilización para preparar un quirófano libre de látex y programar la cirugía a primera hora, cuando la concentración ambiental de partículas de látex es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anafilaxia perioperatoria es una emergencia con mortalidad reportada entre 3 y 9 por ciento según las series; el retraso en administrar adrenalina es el factor más asociado a desenlaces fatales. Insistir en que el diagnóstico diferencial bajo anestesia general incluye sobredosis relativa de anestésico, embolia, neumotórax a tensión y taponamiento, por lo que la triptasa seriada es clave para confirmar el mecanismo alérgico y planificar el estudio alergológico diferido.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interrogatorio sobre hábitos tóxicos debe realizarse sin juicios de valor y de forma directa, ya que el subregistro es frecuente si el paciente percibe estigmatización. Explicar que el objetivo no es únicamente documentar el consumo, sino cuantificarlo (paquetes-año, unidades de alcohol por semana, tiempo de última dosis) porque de ello depende el riesgo de complicaciones respiratorias, la posibilidad de tolerancia farmacológica y el riesgo de síndromes de abstinencia perioperatoria.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consulta preanestésica es una oportunidad terapéutica única para la intervención breve de cese tabáquico, con evidencia de mayor efectividad que en otros contextos clínicos por la motivación asociada a la cirugía inminente. Aclarar el mito histórico de que el cese reciente aumenta las secreciones y el riesgo respiratorio: la evidencia actual no sustenta retrasar el cese por ese motivo, y cualquier tiempo sin fumar es beneficioso.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síndrome de abstinencia alcohólica no reconocido es una causa importante de agitación e inestabilidad autonómica postoperatoria mal atribuida a otras causas; su prevención mediante benzodiacepinas profilácticas debe considerarse en pacientes identificados como de alto riesgo por el CAGE u otros instrumentos como el AUDIT. Recordar la profilaxis con tiamina antes de administrar soluciones glucosadas en pacientes con consumo crónico, para prevenir la encefalopatía de Wernicke.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interrogatorio sobre sustancias ilícitas debe hacerse con enfoque no estigmatizante, explicando al paciente que la información es exclusivamente para su seguridad anestésica. La cocaína y otros estimulantes son de particular relevancia porque su uso reciente incrementa el riesgo de isquemia miocárdica e inestabilidad hemodinámica catastrófica con ciertos fármacos anestésicos; ante sospecha de consumo agudo no confirmado, algunos protocolos recomiendan diferir la cirugía electiva 12-24 horas cuando sea clínicamente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general en la mayoría de los fármacos de uso crónico es continuarlos hasta el día de la cirugía, incluyendo la mañana del procedimiento con un sorbo de agua, salvo excepciones específicas que se revisan en la siguiente diapositiva. Enfatizar la importancia de indagar suplementos herbolarios, frecuentemente omitidos por el paciente por no considerarlos "medicamentos", pero con potencial de interacción y riesgo de sangrado significativo.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seis categorías concentran la mayoría de los errores de manejo perioperatorio evitables. En anticoagulación, la decisión debe individualizarse según el riesgo trombótico de la indicación (por ejemplo, válvula mecánica frente a fibrilación auricular de bajo riesgo) y el riesgo hemorrágico del procedimiento, idealmente con apoyo de un puente de heparina cuando esté indicado. Con IMAO, la interacción con meperidina puede producir un síndrome serotoninérgico grave y con simpaticomiméticos indirectos como efedrina puede desencadenar crisis hipertensiva; se prefieren opioides como fentanilo y vasopresores de acción directa.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interacciones ilustran por qué la reconciliación farmacológica debe traducirse en decisiones concretas de técnica anestésica y no quedar solo documentada. El riesgo de hipotensión refractaria a la inducción en pacientes con IECA o ARA-II es especialmente relevante y algunos protocolos sugieren omitir la dosis matutina el día de la cirugía en procedimientos de alto riesgo hemodinámico, aunque la evidencia es mixta y debe individualizarse. El síndrome serotoninérgico por interacción entre ISRS y tramadol o fentanilo debe estar en el diagnóstico diferencial de agitación e inestabilidad autonómica postoperatoria.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examen físico general preanestésico complementa la anamnesis y debe realizarse siempre de forma completa, no limitarse a la vía aérea. Los signos vitales basales son la referencia contra la cual se interpretarán las variaciones intraoperatorias; una presión arterial elevada aislada en la consulta puede reflejar ansiedad de bata blanca, pero valores persistentemente altos ameritan estudio antes de la cirugía electiva no urgente.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Ningún parámetro aislado predice con certeza la vía aérea difícil; la combinación de Mallampati, distancia tiromentoniana y apertura bucal mejora sustancialmente la sensibilidad respecto a evaluar cada uno por separado. El Mallampati debe explorarse con el paciente sentado, cabeza en posición neutra, sin fonación durante la exploración, ya que la fonación puede elevar falsamente la clase visualizada.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nemotecnia LEMON integra en segundos los elementos con mayor valor predictivo combinado para vía aérea difícil y es especialmente útil en la valoración preanestésica rápida o en el servicio de urgencias. Insistir en que ante cualquier predictor positivo relevante se debe planificar la vía aérea con dispositivos y personal adicional disponibles (videolaringoscopio, set de vía aérea difícil, segundo operador) y considerar intubación despierto en casos de alto riesgo combinado.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disnea debe cuantificarse funcionalmente, no solo registrarse como presente o ausente, porque la capacidad funcional expresada en equivalentes metabólicos es uno de los mejores predictores clínicos de tolerancia al estrés quirúrgico. En pacientes con sospecha de apnea obstructiva del sueño no diagnosticada, aplicar un cuestionario de tamizaje como STOP-BANG durante la consulta, ya que esta condición incrementa el riesgo de vía aérea difícil y de depresión respiratoria postoperatoria por opioides.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Numerosas guías de sociedades de anestesiología coinciden en que la espirometría preoperatoria rutinaria no mejora los desenlaces en pacientes sin indicación clínica específica y genera falsos positivos, demoras y costos innecesarios. La decisión de solicitarla debe basarse en si el resultado cambiará el manejo: por ejemplo, en cirugía de resección pulmonar el volumen espiratorio forzado en el primer segundo (FEV1) postoperatorio predicho es determinante para la selección de candidatos quirúrgicos.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capacidad funcional autoreferida por el paciente, expresada en METs, es uno de los predictores clínicos más robustos y de menor costo para estimar el riesgo cardiovascular perioperatorio, y en muchos algoritmos determina si se requieren estudios cardiológicos adicionales antes de cirugía no cardiaca. Recordar que 4 METs equivale aproximadamente a subir dos tramos de escaleras o caminar rápido en plano; por debajo de ese umbral el riesgo de eventos cardiacos mayores se incrementa de forma consistente en la literatura.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RCRI es la escala más utilizada en la práctica por su sencillez, aunque escalas más recientes como el NSQIP MICA la complementan con mejor calibración en algunas poblaciones. Explicar que el índice se combina con la capacidad funcional del paciente: un paciente con RCRI elevado pero excelente capacidad funcional puede no requerir estudios adicionales, mientras que uno con capacidad funcional reducida sí amerita valorar biomarcadores o interconsulta cardiológica antes de cirugía de riesgo intermedio-alto.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clasificación de Child-Pugh, originalmente diseñada para predecir mortalidad en cirugía de derivación portosistémica, se utiliza ampliamente como estimador general de riesgo quirúrgico en el paciente cirrótico. En pacientes Child-Pugh C, la cirugía electiva mayor debe reconsiderarse seriamente y, de ser necesaria, planificarse con optimización de la coagulopatía, manejo cuidadoso de la volemia y anticipación de disfunción multiorgánica postoperatoria; el score MELD complementa esta valoración en candidatos a trasplante o cirugía de alto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función renal debe estimarse siempre mediante la tasa de filtrado glomerular calculada, no solo con la creatinina sérica aislada, ya que esta última puede subestimar el deterioro en pacientes con baja masa muscular. Recordar que la succinilcolina puede elevar el potasio sérico entre 0.5 y 1 mEq/L en pacientes sanos, efecto potencialmente peligroso si el paciente ya cursa con hiperpotasemia basal por enfermedad renal avanzada.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retención urinaria aguda postoperatoria es una complicación frecuente y subestimada, particularmente tras anestesia neuroaxial, cirugía pélvica o herniorrafia, y en varones mayores con hipertrofia prostática subyacente; su prevención incluye limitar la fluidoterapia excesiva y considerar sondaje profiláctico en procedimientos de alto riesgo. La decisión de colocar sonda vesical debe sopesar el beneficio del monitoreo de diuresis contra el riesgo de infección urinaria asociada a catéter, y retirarse tan pronto como deje de ser clínicamente necesaria.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contraindicaciones absolutas de condiciones que requieren optimización antes de la cirugía, ya que no toda comorbilidad descompensada implica cancelación definitiva sino diferimiento hasta lograr control clínico. El caso del infarto reciente ilustra bien este principio: el riesgo de reinfarto perioperatorio disminuye progresivamente con el tiempo transcurrido, por lo que las guías recomiendan ventanas mínimas de espera salvo que la cirugía sea de carácter urgente e inaplazable.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clasificación ASA, desarrollada originalmente en 1941 por la Sociedad Americana de Anestesiólogos, sigue siendo la escala de estratificación más utilizada mundialmente por su simplicidad y reproducibilidad razonable, a pesar de no incorporar variables quirúrgicas. Enseñar a los residentes a asignarla de forma explícita y justificada en cada nota preanestésica, y a reconocer que puede modificarse si el estado clínico del paciente cambia entre la consulta y el día de la cirugía.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principio rector de esta tabla es que ningún estudio se solicita "por rutina" o "por edad" sin una hipótesis clínica que lo justifique: la evidencia muestra que el tamizaje indiscriminado no reduce complicaciones y sí incrementa falsos positivos, costos y demoras quirúrgicas. La decisión debe basarse en tres preguntas: qué sugiere la historia clínica y el examen físico, qué tan invasiva y de qué riesgo es la cirugía, y si el resultado del estudio cambiará realmente el manejo anestésico o la decisión de operar.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guías de ayuno han evolucionado hacia esquemas más liberales para líquidos claros (2 horas), reconociendo que el ayuno prolongado innecesario no reduce el riesgo de broncoaspiración y sí genera deshidratación, hipoglucemia y malestar del paciente; estas guías aplican al paciente sano de bajo riesgo, no a quienes presentan retraso del vaciamiento gástrico. El consentimiento informado debe entenderse como un proceso de comunicación, no solo un documento firmado, y es responsabilidad indelegable del anestesiólogo tratante.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Utilizar esta diapositiva para un cierre activo del capítulo: pedir a los residentes que, para cada punto, mencionen un ejemplo clínico propio de su práctica reciente. El objetivo del capítulo es que el residente egrese con un marco mental reproducible para cualquier consulta preanestésica, independientemente de la complejidad del caso, y que reconozca cuándo escalar hacia interconsulta o diferir la cirugía.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lista referencia textos clásicos y guías de sociedades reconocidas en anestesiología para orientar lectura complementaria del residente; se recomienda consultar siempre la edición vigente de cada guía, ya que los umbrales numéricos de escalas de riesgo y recomendaciones de ayuno se actualizan periódicamente conforme a nueva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1.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1.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052560" y="-1463040"/>
            <a:ext cx="5120640" cy="5120640"/>
          </a:xfrm>
          <a:prstGeom prst="ellipse">
            <a:avLst/>
          </a:prstGeom>
          <a:ln w="25400">
            <a:solidFill>
              <a:srgbClr val="0C4A50"/>
            </a:solidFill>
            <a:prstDash val="solid"/>
          </a:ln>
        </p:spPr>
      </p:sp>
      <p:sp>
        <p:nvSpPr>
          <p:cNvPr id="3" name="Shape 1"/>
          <p:cNvSpPr/>
          <p:nvPr/>
        </p:nvSpPr>
        <p:spPr>
          <a:xfrm>
            <a:off x="9692640" y="-822960"/>
            <a:ext cx="3840480" cy="3840480"/>
          </a:xfrm>
          <a:prstGeom prst="ellipse">
            <a:avLst/>
          </a:prstGeom>
          <a:ln w="19050">
            <a:solidFill>
              <a:srgbClr val="0C4A50"/>
            </a:solidFill>
            <a:prstDash val="solid"/>
          </a:ln>
        </p:spPr>
      </p:sp>
      <p:sp>
        <p:nvSpPr>
          <p:cNvPr id="4" name="Shape 2"/>
          <p:cNvSpPr/>
          <p:nvPr/>
        </p:nvSpPr>
        <p:spPr>
          <a:xfrm>
            <a:off x="-1645920" y="4023360"/>
            <a:ext cx="4023360" cy="4023360"/>
          </a:xfrm>
          <a:prstGeom prst="ellipse">
            <a:avLst/>
          </a:prstGeom>
          <a:ln w="19050">
            <a:solidFill>
              <a:srgbClr val="0C4A50"/>
            </a:solidFill>
            <a:prstDash val="solid"/>
          </a:ln>
        </p:spPr>
      </p:sp>
      <p:sp>
        <p:nvSpPr>
          <p:cNvPr id="5" name="Text 3"/>
          <p:cNvSpPr txBox="1"/>
          <p:nvPr/>
        </p:nvSpPr>
        <p:spPr>
          <a:xfrm>
            <a:off x="822960" y="1417320"/>
            <a:ext cx="8229600" cy="365760"/>
          </a:xfrm>
          <a:prstGeom prst="rect">
            <a:avLst/>
          </a:prstGeom>
          <a:noFill/>
          <a:ln/>
        </p:spPr>
        <p:txBody>
          <a:bodyPr wrap="square" lIns="0" tIns="0" rIns="0" bIns="0" rtlCol="0" anchor="ctr"/>
          <a:lstStyle/>
          <a:p>
            <a:pPr indent="0" marL="0">
              <a:buNone/>
            </a:pPr>
            <a:r>
              <a:rPr lang="en-US" sz="1300" b="1" spc="200" kern="0" dirty="0">
                <a:solidFill>
                  <a:srgbClr val="00A896"/>
                </a:solidFill>
                <a:latin typeface="Calibri" pitchFamily="34" charset="0"/>
                <a:ea typeface="Calibri" pitchFamily="34" charset="-122"/>
                <a:cs typeface="Calibri" pitchFamily="34" charset="-120"/>
              </a:rPr>
              <a:t>CURSO DE POSTGRADO EN ANESTESIOLOGÍA</a:t>
            </a:r>
            <a:endParaRPr lang="en-US" sz="1300" dirty="0"/>
          </a:p>
        </p:txBody>
      </p:sp>
      <p:sp>
        <p:nvSpPr>
          <p:cNvPr id="6" name="Text 4"/>
          <p:cNvSpPr txBox="1"/>
          <p:nvPr/>
        </p:nvSpPr>
        <p:spPr>
          <a:xfrm>
            <a:off x="822960" y="187452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Capítulo III</a:t>
            </a:r>
            <a:endParaRPr lang="en-US" sz="4000" dirty="0"/>
          </a:p>
        </p:txBody>
      </p:sp>
      <p:sp>
        <p:nvSpPr>
          <p:cNvPr id="7" name="Text 5"/>
          <p:cNvSpPr txBox="1"/>
          <p:nvPr/>
        </p:nvSpPr>
        <p:spPr>
          <a:xfrm>
            <a:off x="822960" y="2606040"/>
            <a:ext cx="9601200" cy="1188720"/>
          </a:xfrm>
          <a:prstGeom prst="rect">
            <a:avLst/>
          </a:prstGeom>
          <a:noFill/>
          <a:ln/>
        </p:spPr>
        <p:txBody>
          <a:bodyPr wrap="square" lIns="0" tIns="0" rIns="0" bIns="0" rtlCol="0" anchor="ctr"/>
          <a:lstStyle/>
          <a:p>
            <a:pPr indent="0" marL="0">
              <a:lnSpc>
                <a:spcPct val="103000"/>
              </a:lnSpc>
              <a:buNone/>
            </a:pPr>
            <a:r>
              <a:rPr lang="en-US" sz="4600" b="1" dirty="0">
                <a:solidFill>
                  <a:srgbClr val="02C39A"/>
                </a:solidFill>
                <a:latin typeface="Cambria" pitchFamily="34" charset="0"/>
                <a:ea typeface="Cambria" pitchFamily="34" charset="-122"/>
                <a:cs typeface="Cambria" pitchFamily="34" charset="-120"/>
              </a:rPr>
              <a:t>Evaluación Preanestésica</a:t>
            </a:r>
            <a:endParaRPr lang="en-US" sz="4600" dirty="0"/>
          </a:p>
        </p:txBody>
      </p:sp>
      <p:sp>
        <p:nvSpPr>
          <p:cNvPr id="8" name="Text 6"/>
          <p:cNvSpPr txBox="1"/>
          <p:nvPr/>
        </p:nvSpPr>
        <p:spPr>
          <a:xfrm>
            <a:off x="822960" y="4114800"/>
            <a:ext cx="7863840" cy="731520"/>
          </a:xfrm>
          <a:prstGeom prst="rect">
            <a:avLst/>
          </a:prstGeom>
          <a:noFill/>
          <a:ln/>
        </p:spPr>
        <p:txBody>
          <a:bodyPr wrap="square" lIns="0" tIns="0" rIns="0" bIns="0" rtlCol="0" anchor="ctr"/>
          <a:lstStyle/>
          <a:p>
            <a:pPr indent="0" marL="0">
              <a:lnSpc>
                <a:spcPct val="120000"/>
              </a:lnSpc>
              <a:buNone/>
            </a:pPr>
            <a:r>
              <a:rPr lang="en-US" sz="1500" i="1" dirty="0">
                <a:solidFill>
                  <a:srgbClr val="CFEDEF"/>
                </a:solidFill>
                <a:latin typeface="Calibri" pitchFamily="34" charset="0"/>
                <a:ea typeface="Calibri" pitchFamily="34" charset="-122"/>
                <a:cs typeface="Calibri" pitchFamily="34" charset="-120"/>
              </a:rPr>
              <a:t>De la historia clínica al riesgo perioperatorio: valoración integral, sistemática y basada en evidencia del paciente quirúrgico.</a:t>
            </a:r>
            <a:endParaRPr lang="en-US" sz="1500" dirty="0"/>
          </a:p>
        </p:txBody>
      </p:sp>
      <p:sp>
        <p:nvSpPr>
          <p:cNvPr id="9" name="Shape 7"/>
          <p:cNvSpPr/>
          <p:nvPr/>
        </p:nvSpPr>
        <p:spPr>
          <a:xfrm>
            <a:off x="822960" y="5257800"/>
            <a:ext cx="566928" cy="566928"/>
          </a:xfrm>
          <a:prstGeom prst="ellipse">
            <a:avLst/>
          </a:prstGeom>
          <a:solidFill>
            <a:srgbClr val="028090"/>
          </a:solidFill>
          <a:ln/>
        </p:spPr>
      </p:sp>
      <p:pic>
        <p:nvPicPr>
          <p:cNvPr id="10" name="Image 0" descr="/tmp/claude-0/-home-user-gpa-academy1/adc6e4aa-3b77-57c1-ba92-a8d4ee625c84/scratchpad/pptx_ch3/icons/clipboard_white.png">    </p:cNvPr>
          <p:cNvPicPr>
            <a:picLocks noChangeAspect="1"/>
          </p:cNvPicPr>
          <p:nvPr/>
        </p:nvPicPr>
        <p:blipFill>
          <a:blip r:embed="rId1"/>
          <a:stretch>
            <a:fillRect/>
          </a:stretch>
        </p:blipFill>
        <p:spPr>
          <a:xfrm>
            <a:off x="950519" y="5385359"/>
            <a:ext cx="311810" cy="311810"/>
          </a:xfrm>
          <a:prstGeom prst="rect">
            <a:avLst/>
          </a:prstGeom>
        </p:spPr>
      </p:pic>
      <p:sp>
        <p:nvSpPr>
          <p:cNvPr id="11" name="Text 8"/>
          <p:cNvSpPr txBox="1"/>
          <p:nvPr/>
        </p:nvSpPr>
        <p:spPr>
          <a:xfrm>
            <a:off x="1508760" y="5321808"/>
            <a:ext cx="7772400" cy="457200"/>
          </a:xfrm>
          <a:prstGeom prst="rect">
            <a:avLst/>
          </a:prstGeom>
          <a:noFill/>
          <a:ln/>
        </p:spPr>
        <p:txBody>
          <a:bodyPr wrap="square" lIns="0" tIns="0" rIns="0" bIns="0" rtlCol="0" anchor="ctr"/>
          <a:lstStyle/>
          <a:p>
            <a:pPr indent="0" marL="0">
              <a:buNone/>
            </a:pPr>
            <a:r>
              <a:rPr lang="en-US" sz="1150" dirty="0">
                <a:solidFill>
                  <a:srgbClr val="A9D6D9"/>
                </a:solidFill>
                <a:latin typeface="Calibri" pitchFamily="34" charset="0"/>
                <a:ea typeface="Calibri" pitchFamily="34" charset="-122"/>
                <a:cs typeface="Calibri" pitchFamily="34" charset="-120"/>
              </a:rPr>
              <a:t>Programa Académico de Anestesiología  ·  Módulo de Medicina Perioperatoria</a:t>
            </a:r>
            <a:endParaRPr lang="en-US" sz="1150" dirty="0"/>
          </a:p>
        </p:txBody>
      </p:sp>
      <p:sp>
        <p:nvSpPr>
          <p:cNvPr id="12" name="Text 9"/>
          <p:cNvSpPr txBox="1"/>
          <p:nvPr/>
        </p:nvSpPr>
        <p:spPr>
          <a:xfrm>
            <a:off x="10607040" y="6126480"/>
            <a:ext cx="1371600" cy="365760"/>
          </a:xfrm>
          <a:prstGeom prst="rect">
            <a:avLst/>
          </a:prstGeom>
          <a:noFill/>
          <a:ln/>
        </p:spPr>
        <p:txBody>
          <a:bodyPr wrap="square" lIns="0" tIns="0" rIns="0" bIns="0" rtlCol="0" anchor="ctr"/>
          <a:lstStyle/>
          <a:p>
            <a:pPr algn="r" indent="0" marL="0">
              <a:buNone/>
            </a:pPr>
            <a:r>
              <a:rPr lang="en-US" sz="1000" b="1" dirty="0">
                <a:solidFill>
                  <a:srgbClr val="5C9CA1"/>
                </a:solidFill>
                <a:latin typeface="Calibri" pitchFamily="34" charset="0"/>
                <a:ea typeface="Calibri" pitchFamily="34" charset="-122"/>
                <a:cs typeface="Calibri" pitchFamily="34" charset="-120"/>
              </a:rPr>
              <a:t>CAP. III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CAPÍTULO III</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Contenido del capítulo</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agenda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640080" y="1600200"/>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01</a:t>
            </a:r>
            <a:endParaRPr lang="en-US" sz="2400" dirty="0"/>
          </a:p>
        </p:txBody>
      </p:sp>
      <p:sp>
        <p:nvSpPr>
          <p:cNvPr id="7" name="Text 4"/>
          <p:cNvSpPr txBox="1"/>
          <p:nvPr/>
        </p:nvSpPr>
        <p:spPr>
          <a:xfrm>
            <a:off x="1417320" y="1600200"/>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Fundamentos de la evaluación preanestésica</a:t>
            </a:r>
            <a:endParaRPr lang="en-US" sz="1350" dirty="0"/>
          </a:p>
        </p:txBody>
      </p:sp>
      <p:sp>
        <p:nvSpPr>
          <p:cNvPr id="8" name="Shape 5"/>
          <p:cNvSpPr/>
          <p:nvPr/>
        </p:nvSpPr>
        <p:spPr>
          <a:xfrm>
            <a:off x="640080" y="2386584"/>
            <a:ext cx="5212080" cy="0"/>
          </a:xfrm>
          <a:prstGeom prst="line">
            <a:avLst/>
          </a:prstGeom>
          <a:noFill/>
          <a:ln w="12700">
            <a:solidFill>
              <a:srgbClr val="D9E9E8"/>
            </a:solidFill>
            <a:prstDash val="solid"/>
          </a:ln>
        </p:spPr>
      </p:sp>
      <p:sp>
        <p:nvSpPr>
          <p:cNvPr id="9" name="Text 6"/>
          <p:cNvSpPr txBox="1"/>
          <p:nvPr/>
        </p:nvSpPr>
        <p:spPr>
          <a:xfrm>
            <a:off x="640080" y="2496312"/>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02</a:t>
            </a:r>
            <a:endParaRPr lang="en-US" sz="2400" dirty="0"/>
          </a:p>
        </p:txBody>
      </p:sp>
      <p:sp>
        <p:nvSpPr>
          <p:cNvPr id="10" name="Text 7"/>
          <p:cNvSpPr txBox="1"/>
          <p:nvPr/>
        </p:nvSpPr>
        <p:spPr>
          <a:xfrm>
            <a:off x="1417320" y="2496312"/>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Historia clínica y antecedentes relevantes</a:t>
            </a:r>
            <a:endParaRPr lang="en-US" sz="1350" dirty="0"/>
          </a:p>
        </p:txBody>
      </p:sp>
      <p:sp>
        <p:nvSpPr>
          <p:cNvPr id="11" name="Shape 8"/>
          <p:cNvSpPr/>
          <p:nvPr/>
        </p:nvSpPr>
        <p:spPr>
          <a:xfrm>
            <a:off x="640080" y="3282696"/>
            <a:ext cx="5212080" cy="0"/>
          </a:xfrm>
          <a:prstGeom prst="line">
            <a:avLst/>
          </a:prstGeom>
          <a:noFill/>
          <a:ln w="12700">
            <a:solidFill>
              <a:srgbClr val="D9E9E8"/>
            </a:solidFill>
            <a:prstDash val="solid"/>
          </a:ln>
        </p:spPr>
      </p:sp>
      <p:sp>
        <p:nvSpPr>
          <p:cNvPr id="12" name="Text 9"/>
          <p:cNvSpPr txBox="1"/>
          <p:nvPr/>
        </p:nvSpPr>
        <p:spPr>
          <a:xfrm>
            <a:off x="640080" y="3392424"/>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03</a:t>
            </a:r>
            <a:endParaRPr lang="en-US" sz="2400" dirty="0"/>
          </a:p>
        </p:txBody>
      </p:sp>
      <p:sp>
        <p:nvSpPr>
          <p:cNvPr id="13" name="Text 10"/>
          <p:cNvSpPr txBox="1"/>
          <p:nvPr/>
        </p:nvSpPr>
        <p:spPr>
          <a:xfrm>
            <a:off x="1417320" y="3392424"/>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Alergias y reacciones perioperatorias</a:t>
            </a:r>
            <a:endParaRPr lang="en-US" sz="1350" dirty="0"/>
          </a:p>
        </p:txBody>
      </p:sp>
      <p:sp>
        <p:nvSpPr>
          <p:cNvPr id="14" name="Shape 11"/>
          <p:cNvSpPr/>
          <p:nvPr/>
        </p:nvSpPr>
        <p:spPr>
          <a:xfrm>
            <a:off x="640080" y="4178808"/>
            <a:ext cx="5212080" cy="0"/>
          </a:xfrm>
          <a:prstGeom prst="line">
            <a:avLst/>
          </a:prstGeom>
          <a:noFill/>
          <a:ln w="12700">
            <a:solidFill>
              <a:srgbClr val="D9E9E8"/>
            </a:solidFill>
            <a:prstDash val="solid"/>
          </a:ln>
        </p:spPr>
      </p:sp>
      <p:sp>
        <p:nvSpPr>
          <p:cNvPr id="15" name="Text 12"/>
          <p:cNvSpPr txBox="1"/>
          <p:nvPr/>
        </p:nvSpPr>
        <p:spPr>
          <a:xfrm>
            <a:off x="640080" y="4288536"/>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04</a:t>
            </a:r>
            <a:endParaRPr lang="en-US" sz="2400" dirty="0"/>
          </a:p>
        </p:txBody>
      </p:sp>
      <p:sp>
        <p:nvSpPr>
          <p:cNvPr id="16" name="Text 13"/>
          <p:cNvSpPr txBox="1"/>
          <p:nvPr/>
        </p:nvSpPr>
        <p:spPr>
          <a:xfrm>
            <a:off x="1417320" y="4288536"/>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Hábitos tóxicos y su impacto anestésico</a:t>
            </a:r>
            <a:endParaRPr lang="en-US" sz="1350" dirty="0"/>
          </a:p>
        </p:txBody>
      </p:sp>
      <p:sp>
        <p:nvSpPr>
          <p:cNvPr id="17" name="Shape 14"/>
          <p:cNvSpPr/>
          <p:nvPr/>
        </p:nvSpPr>
        <p:spPr>
          <a:xfrm>
            <a:off x="640080" y="5074920"/>
            <a:ext cx="5212080" cy="0"/>
          </a:xfrm>
          <a:prstGeom prst="line">
            <a:avLst/>
          </a:prstGeom>
          <a:noFill/>
          <a:ln w="12700">
            <a:solidFill>
              <a:srgbClr val="D9E9E8"/>
            </a:solidFill>
            <a:prstDash val="solid"/>
          </a:ln>
        </p:spPr>
      </p:sp>
      <p:sp>
        <p:nvSpPr>
          <p:cNvPr id="18" name="Text 15"/>
          <p:cNvSpPr txBox="1"/>
          <p:nvPr/>
        </p:nvSpPr>
        <p:spPr>
          <a:xfrm>
            <a:off x="640080" y="5184648"/>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05</a:t>
            </a:r>
            <a:endParaRPr lang="en-US" sz="2400" dirty="0"/>
          </a:p>
        </p:txBody>
      </p:sp>
      <p:sp>
        <p:nvSpPr>
          <p:cNvPr id="19" name="Text 16"/>
          <p:cNvSpPr txBox="1"/>
          <p:nvPr/>
        </p:nvSpPr>
        <p:spPr>
          <a:xfrm>
            <a:off x="1417320" y="5184648"/>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Historial farmacológico e interacciones</a:t>
            </a:r>
            <a:endParaRPr lang="en-US" sz="1350" dirty="0"/>
          </a:p>
        </p:txBody>
      </p:sp>
      <p:sp>
        <p:nvSpPr>
          <p:cNvPr id="20" name="Text 17"/>
          <p:cNvSpPr txBox="1"/>
          <p:nvPr/>
        </p:nvSpPr>
        <p:spPr>
          <a:xfrm>
            <a:off x="6263640" y="1600200"/>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06</a:t>
            </a:r>
            <a:endParaRPr lang="en-US" sz="2400" dirty="0"/>
          </a:p>
        </p:txBody>
      </p:sp>
      <p:sp>
        <p:nvSpPr>
          <p:cNvPr id="21" name="Text 18"/>
          <p:cNvSpPr txBox="1"/>
          <p:nvPr/>
        </p:nvSpPr>
        <p:spPr>
          <a:xfrm>
            <a:off x="7040880" y="1600200"/>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Examen físico y valoración de la vía aérea</a:t>
            </a:r>
            <a:endParaRPr lang="en-US" sz="1350" dirty="0"/>
          </a:p>
        </p:txBody>
      </p:sp>
      <p:sp>
        <p:nvSpPr>
          <p:cNvPr id="22" name="Shape 19"/>
          <p:cNvSpPr/>
          <p:nvPr/>
        </p:nvSpPr>
        <p:spPr>
          <a:xfrm>
            <a:off x="6263640" y="2386584"/>
            <a:ext cx="5212080" cy="0"/>
          </a:xfrm>
          <a:prstGeom prst="line">
            <a:avLst/>
          </a:prstGeom>
          <a:noFill/>
          <a:ln w="12700">
            <a:solidFill>
              <a:srgbClr val="D9E9E8"/>
            </a:solidFill>
            <a:prstDash val="solid"/>
          </a:ln>
        </p:spPr>
      </p:sp>
      <p:sp>
        <p:nvSpPr>
          <p:cNvPr id="23" name="Text 20"/>
          <p:cNvSpPr txBox="1"/>
          <p:nvPr/>
        </p:nvSpPr>
        <p:spPr>
          <a:xfrm>
            <a:off x="6263640" y="2496312"/>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07</a:t>
            </a:r>
            <a:endParaRPr lang="en-US" sz="2400" dirty="0"/>
          </a:p>
        </p:txBody>
      </p:sp>
      <p:sp>
        <p:nvSpPr>
          <p:cNvPr id="24" name="Text 21"/>
          <p:cNvSpPr txBox="1"/>
          <p:nvPr/>
        </p:nvSpPr>
        <p:spPr>
          <a:xfrm>
            <a:off x="7040880" y="2496312"/>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Evaluación por sistemas (respiratorio, cardiovascular, hepático, renal)</a:t>
            </a:r>
            <a:endParaRPr lang="en-US" sz="1350" dirty="0"/>
          </a:p>
        </p:txBody>
      </p:sp>
      <p:sp>
        <p:nvSpPr>
          <p:cNvPr id="25" name="Shape 22"/>
          <p:cNvSpPr/>
          <p:nvPr/>
        </p:nvSpPr>
        <p:spPr>
          <a:xfrm>
            <a:off x="6263640" y="3282696"/>
            <a:ext cx="5212080" cy="0"/>
          </a:xfrm>
          <a:prstGeom prst="line">
            <a:avLst/>
          </a:prstGeom>
          <a:noFill/>
          <a:ln w="12700">
            <a:solidFill>
              <a:srgbClr val="D9E9E8"/>
            </a:solidFill>
            <a:prstDash val="solid"/>
          </a:ln>
        </p:spPr>
      </p:sp>
      <p:sp>
        <p:nvSpPr>
          <p:cNvPr id="26" name="Text 23"/>
          <p:cNvSpPr txBox="1"/>
          <p:nvPr/>
        </p:nvSpPr>
        <p:spPr>
          <a:xfrm>
            <a:off x="6263640" y="3392424"/>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08</a:t>
            </a:r>
            <a:endParaRPr lang="en-US" sz="2400" dirty="0"/>
          </a:p>
        </p:txBody>
      </p:sp>
      <p:sp>
        <p:nvSpPr>
          <p:cNvPr id="27" name="Text 24"/>
          <p:cNvSpPr txBox="1"/>
          <p:nvPr/>
        </p:nvSpPr>
        <p:spPr>
          <a:xfrm>
            <a:off x="7040880" y="3392424"/>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Estratificación de riesgo y clasificación ASA</a:t>
            </a:r>
            <a:endParaRPr lang="en-US" sz="1350" dirty="0"/>
          </a:p>
        </p:txBody>
      </p:sp>
      <p:sp>
        <p:nvSpPr>
          <p:cNvPr id="28" name="Shape 25"/>
          <p:cNvSpPr/>
          <p:nvPr/>
        </p:nvSpPr>
        <p:spPr>
          <a:xfrm>
            <a:off x="6263640" y="4178808"/>
            <a:ext cx="5212080" cy="0"/>
          </a:xfrm>
          <a:prstGeom prst="line">
            <a:avLst/>
          </a:prstGeom>
          <a:noFill/>
          <a:ln w="12700">
            <a:solidFill>
              <a:srgbClr val="D9E9E8"/>
            </a:solidFill>
            <a:prstDash val="solid"/>
          </a:ln>
        </p:spPr>
      </p:sp>
      <p:sp>
        <p:nvSpPr>
          <p:cNvPr id="29" name="Text 26"/>
          <p:cNvSpPr txBox="1"/>
          <p:nvPr/>
        </p:nvSpPr>
        <p:spPr>
          <a:xfrm>
            <a:off x="6263640" y="4288536"/>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09</a:t>
            </a:r>
            <a:endParaRPr lang="en-US" sz="2400" dirty="0"/>
          </a:p>
        </p:txBody>
      </p:sp>
      <p:sp>
        <p:nvSpPr>
          <p:cNvPr id="30" name="Text 27"/>
          <p:cNvSpPr txBox="1"/>
          <p:nvPr/>
        </p:nvSpPr>
        <p:spPr>
          <a:xfrm>
            <a:off x="7040880" y="4288536"/>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Estudios complementarios racionales</a:t>
            </a:r>
            <a:endParaRPr lang="en-US" sz="1350" dirty="0"/>
          </a:p>
        </p:txBody>
      </p:sp>
      <p:sp>
        <p:nvSpPr>
          <p:cNvPr id="31" name="Shape 28"/>
          <p:cNvSpPr/>
          <p:nvPr/>
        </p:nvSpPr>
        <p:spPr>
          <a:xfrm>
            <a:off x="6263640" y="5074920"/>
            <a:ext cx="5212080" cy="0"/>
          </a:xfrm>
          <a:prstGeom prst="line">
            <a:avLst/>
          </a:prstGeom>
          <a:noFill/>
          <a:ln w="12700">
            <a:solidFill>
              <a:srgbClr val="D9E9E8"/>
            </a:solidFill>
            <a:prstDash val="solid"/>
          </a:ln>
        </p:spPr>
      </p:sp>
      <p:sp>
        <p:nvSpPr>
          <p:cNvPr id="32" name="Text 29"/>
          <p:cNvSpPr txBox="1"/>
          <p:nvPr/>
        </p:nvSpPr>
        <p:spPr>
          <a:xfrm>
            <a:off x="6263640" y="5184648"/>
            <a:ext cx="685800" cy="64008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10</a:t>
            </a:r>
            <a:endParaRPr lang="en-US" sz="2400" dirty="0"/>
          </a:p>
        </p:txBody>
      </p:sp>
      <p:sp>
        <p:nvSpPr>
          <p:cNvPr id="33" name="Text 30"/>
          <p:cNvSpPr txBox="1"/>
          <p:nvPr/>
        </p:nvSpPr>
        <p:spPr>
          <a:xfrm>
            <a:off x="7040880" y="5184648"/>
            <a:ext cx="4434840" cy="640080"/>
          </a:xfrm>
          <a:prstGeom prst="rect">
            <a:avLst/>
          </a:prstGeom>
          <a:noFill/>
          <a:ln/>
        </p:spPr>
        <p:txBody>
          <a:bodyPr wrap="square" lIns="0" tIns="0" rIns="0" bIns="0" rtlCol="0" anchor="ctr"/>
          <a:lstStyle/>
          <a:p>
            <a:pPr indent="0" marL="0">
              <a:lnSpc>
                <a:spcPct val="105000"/>
              </a:lnSpc>
              <a:buNone/>
            </a:pPr>
            <a:r>
              <a:rPr lang="en-US" sz="1350" dirty="0">
                <a:solidFill>
                  <a:srgbClr val="1B2E30"/>
                </a:solidFill>
                <a:latin typeface="Calibri" pitchFamily="34" charset="0"/>
                <a:ea typeface="Calibri" pitchFamily="34" charset="-122"/>
                <a:cs typeface="Calibri" pitchFamily="34" charset="-120"/>
              </a:rPr>
              <a:t>Ayuno, consentimiento informado y cierre de la consulta</a:t>
            </a:r>
            <a:endParaRPr lang="en-US" sz="1350" dirty="0"/>
          </a:p>
        </p:txBody>
      </p:sp>
      <p:sp>
        <p:nvSpPr>
          <p:cNvPr id="34" name="Text 31"/>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5" name="Text 32"/>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FUNDAMENTOS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Introducción y objetivos de la evaluación preanestésica</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target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36192"/>
            <a:ext cx="11064240" cy="685800"/>
          </a:xfrm>
          <a:prstGeom prst="rect">
            <a:avLst/>
          </a:prstGeom>
          <a:noFill/>
          <a:ln/>
        </p:spPr>
        <p:txBody>
          <a:bodyPr wrap="square" lIns="0" tIns="0" rIns="0" bIns="0" rtlCol="0" anchor="ctr"/>
          <a:lstStyle/>
          <a:p>
            <a:pPr indent="0" marL="0">
              <a:lnSpc>
                <a:spcPct val="118000"/>
              </a:lnSpc>
              <a:buNone/>
            </a:pPr>
            <a:r>
              <a:rPr lang="en-US" sz="1350" dirty="0">
                <a:solidFill>
                  <a:srgbClr val="1B2E30"/>
                </a:solidFill>
                <a:latin typeface="Calibri" pitchFamily="34" charset="0"/>
                <a:ea typeface="Calibri" pitchFamily="34" charset="-122"/>
                <a:cs typeface="Calibri" pitchFamily="34" charset="-120"/>
              </a:rPr>
              <a:t>La evaluación preanestésica es el proceso clínico sistemático mediante el cual el anestesiólogo identifica el estado de salud del paciente, estratifica su riesgo perioperatorio y planifica la estrategia anestésica más segura para el procedimiento propuesto.</a:t>
            </a:r>
            <a:endParaRPr lang="en-US" sz="1350" dirty="0"/>
          </a:p>
        </p:txBody>
      </p:sp>
      <p:sp>
        <p:nvSpPr>
          <p:cNvPr id="7" name="Shape 4"/>
          <p:cNvSpPr/>
          <p:nvPr/>
        </p:nvSpPr>
        <p:spPr>
          <a:xfrm>
            <a:off x="548640" y="2514600"/>
            <a:ext cx="35204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8" name="Shape 5"/>
          <p:cNvSpPr/>
          <p:nvPr/>
        </p:nvSpPr>
        <p:spPr>
          <a:xfrm>
            <a:off x="749808" y="2697480"/>
            <a:ext cx="457200" cy="457200"/>
          </a:xfrm>
          <a:prstGeom prst="ellipse">
            <a:avLst/>
          </a:prstGeom>
          <a:solidFill>
            <a:srgbClr val="028090"/>
          </a:solidFill>
          <a:ln/>
        </p:spPr>
      </p:sp>
      <p:pic>
        <p:nvPicPr>
          <p:cNvPr id="9" name="Image 1" descr="/tmp/claude-0/-home-user-gpa-academy1/adc6e4aa-3b77-57c1-ba92-a8d4ee625c84/scratchpad/pptx_ch3/icons/examBody_white.png">    </p:cNvPr>
          <p:cNvPicPr>
            <a:picLocks noChangeAspect="1"/>
          </p:cNvPicPr>
          <p:nvPr/>
        </p:nvPicPr>
        <p:blipFill>
          <a:blip r:embed="rId2"/>
          <a:stretch>
            <a:fillRect/>
          </a:stretch>
        </p:blipFill>
        <p:spPr>
          <a:xfrm>
            <a:off x="852678" y="2800350"/>
            <a:ext cx="251460" cy="251460"/>
          </a:xfrm>
          <a:prstGeom prst="rect">
            <a:avLst/>
          </a:prstGeom>
        </p:spPr>
      </p:pic>
      <p:sp>
        <p:nvSpPr>
          <p:cNvPr id="10" name="Text 6"/>
          <p:cNvSpPr txBox="1"/>
          <p:nvPr/>
        </p:nvSpPr>
        <p:spPr>
          <a:xfrm>
            <a:off x="749808" y="3264408"/>
            <a:ext cx="3108960" cy="274320"/>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Conocer al paciente</a:t>
            </a:r>
            <a:endParaRPr lang="en-US" sz="1300" dirty="0"/>
          </a:p>
        </p:txBody>
      </p:sp>
      <p:sp>
        <p:nvSpPr>
          <p:cNvPr id="11" name="Text 7"/>
          <p:cNvSpPr txBox="1"/>
          <p:nvPr/>
        </p:nvSpPr>
        <p:spPr>
          <a:xfrm>
            <a:off x="749808" y="3520440"/>
            <a:ext cx="3108960" cy="457200"/>
          </a:xfrm>
          <a:prstGeom prst="rect">
            <a:avLst/>
          </a:prstGeom>
          <a:noFill/>
          <a:ln/>
        </p:spPr>
        <p:txBody>
          <a:bodyPr wrap="square" lIns="0" tIns="0" rIns="0" bIns="0" rtlCol="0" anchor="t"/>
          <a:lstStyle/>
          <a:p>
            <a:pPr indent="0" marL="0">
              <a:lnSpc>
                <a:spcPct val="108000"/>
              </a:lnSpc>
              <a:buNone/>
            </a:pPr>
            <a:r>
              <a:rPr lang="en-US" sz="1000" dirty="0">
                <a:solidFill>
                  <a:srgbClr val="52696C"/>
                </a:solidFill>
                <a:latin typeface="Calibri" pitchFamily="34" charset="0"/>
                <a:ea typeface="Calibri" pitchFamily="34" charset="-122"/>
                <a:cs typeface="Calibri" pitchFamily="34" charset="-120"/>
              </a:rPr>
              <a:t>Establecer una relación clínica, revisar antecedentes y explorar activamente comorbilidades no diagnosticadas.</a:t>
            </a:r>
            <a:endParaRPr lang="en-US" sz="1000" dirty="0"/>
          </a:p>
        </p:txBody>
      </p:sp>
      <p:sp>
        <p:nvSpPr>
          <p:cNvPr id="12" name="Shape 8"/>
          <p:cNvSpPr/>
          <p:nvPr/>
        </p:nvSpPr>
        <p:spPr>
          <a:xfrm>
            <a:off x="4251960" y="2514600"/>
            <a:ext cx="35204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3" name="Shape 9"/>
          <p:cNvSpPr/>
          <p:nvPr/>
        </p:nvSpPr>
        <p:spPr>
          <a:xfrm>
            <a:off x="4453128" y="2697480"/>
            <a:ext cx="457200" cy="457200"/>
          </a:xfrm>
          <a:prstGeom prst="ellipse">
            <a:avLst/>
          </a:prstGeom>
          <a:solidFill>
            <a:srgbClr val="00A896"/>
          </a:solidFill>
          <a:ln/>
        </p:spPr>
      </p:sp>
      <p:pic>
        <p:nvPicPr>
          <p:cNvPr id="14" name="Image 2" descr="/tmp/claude-0/-home-user-gpa-academy1/adc6e4aa-3b77-57c1-ba92-a8d4ee625c84/scratchpad/pptx_ch3/icons/bars_white.png">    </p:cNvPr>
          <p:cNvPicPr>
            <a:picLocks noChangeAspect="1"/>
          </p:cNvPicPr>
          <p:nvPr/>
        </p:nvPicPr>
        <p:blipFill>
          <a:blip r:embed="rId3"/>
          <a:stretch>
            <a:fillRect/>
          </a:stretch>
        </p:blipFill>
        <p:spPr>
          <a:xfrm>
            <a:off x="4555998" y="2800350"/>
            <a:ext cx="251460" cy="251460"/>
          </a:xfrm>
          <a:prstGeom prst="rect">
            <a:avLst/>
          </a:prstGeom>
        </p:spPr>
      </p:pic>
      <p:sp>
        <p:nvSpPr>
          <p:cNvPr id="15" name="Text 10"/>
          <p:cNvSpPr txBox="1"/>
          <p:nvPr/>
        </p:nvSpPr>
        <p:spPr>
          <a:xfrm>
            <a:off x="4453128" y="3264408"/>
            <a:ext cx="3108960" cy="274320"/>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Estratificar el riesgo</a:t>
            </a:r>
            <a:endParaRPr lang="en-US" sz="1300" dirty="0"/>
          </a:p>
        </p:txBody>
      </p:sp>
      <p:sp>
        <p:nvSpPr>
          <p:cNvPr id="16" name="Text 11"/>
          <p:cNvSpPr txBox="1"/>
          <p:nvPr/>
        </p:nvSpPr>
        <p:spPr>
          <a:xfrm>
            <a:off x="4453128" y="3520440"/>
            <a:ext cx="3108960" cy="457200"/>
          </a:xfrm>
          <a:prstGeom prst="rect">
            <a:avLst/>
          </a:prstGeom>
          <a:noFill/>
          <a:ln/>
        </p:spPr>
        <p:txBody>
          <a:bodyPr wrap="square" lIns="0" tIns="0" rIns="0" bIns="0" rtlCol="0" anchor="t"/>
          <a:lstStyle/>
          <a:p>
            <a:pPr indent="0" marL="0">
              <a:lnSpc>
                <a:spcPct val="108000"/>
              </a:lnSpc>
              <a:buNone/>
            </a:pPr>
            <a:r>
              <a:rPr lang="en-US" sz="1000" dirty="0">
                <a:solidFill>
                  <a:srgbClr val="52696C"/>
                </a:solidFill>
                <a:latin typeface="Calibri" pitchFamily="34" charset="0"/>
                <a:ea typeface="Calibri" pitchFamily="34" charset="-122"/>
                <a:cs typeface="Calibri" pitchFamily="34" charset="-120"/>
              </a:rPr>
              <a:t>Clasificar el estado físico (ASA) y el riesgo específico de órgano ante la agresión quirúrgico-anestésica.</a:t>
            </a:r>
            <a:endParaRPr lang="en-US" sz="1000" dirty="0"/>
          </a:p>
        </p:txBody>
      </p:sp>
      <p:sp>
        <p:nvSpPr>
          <p:cNvPr id="17" name="Shape 12"/>
          <p:cNvSpPr/>
          <p:nvPr/>
        </p:nvSpPr>
        <p:spPr>
          <a:xfrm>
            <a:off x="7955280" y="2514600"/>
            <a:ext cx="35204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8" name="Shape 13"/>
          <p:cNvSpPr/>
          <p:nvPr/>
        </p:nvSpPr>
        <p:spPr>
          <a:xfrm>
            <a:off x="8156448" y="2697480"/>
            <a:ext cx="457200" cy="457200"/>
          </a:xfrm>
          <a:prstGeom prst="ellipse">
            <a:avLst/>
          </a:prstGeom>
          <a:solidFill>
            <a:srgbClr val="02C39A"/>
          </a:solidFill>
          <a:ln/>
        </p:spPr>
      </p:sp>
      <p:pic>
        <p:nvPicPr>
          <p:cNvPr id="19" name="Image 3" descr="/tmp/claude-0/-home-user-gpa-academy1/adc6e4aa-3b77-57c1-ba92-a8d4ee625c84/scratchpad/pptx_ch3/icons/checklist_white.png">    </p:cNvPr>
          <p:cNvPicPr>
            <a:picLocks noChangeAspect="1"/>
          </p:cNvPicPr>
          <p:nvPr/>
        </p:nvPicPr>
        <p:blipFill>
          <a:blip r:embed="rId4"/>
          <a:stretch>
            <a:fillRect/>
          </a:stretch>
        </p:blipFill>
        <p:spPr>
          <a:xfrm>
            <a:off x="8259318" y="2800350"/>
            <a:ext cx="251460" cy="251460"/>
          </a:xfrm>
          <a:prstGeom prst="rect">
            <a:avLst/>
          </a:prstGeom>
        </p:spPr>
      </p:pic>
      <p:sp>
        <p:nvSpPr>
          <p:cNvPr id="20" name="Text 14"/>
          <p:cNvSpPr txBox="1"/>
          <p:nvPr/>
        </p:nvSpPr>
        <p:spPr>
          <a:xfrm>
            <a:off x="8156448" y="3264408"/>
            <a:ext cx="3108960" cy="274320"/>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Optimizar condiciones</a:t>
            </a:r>
            <a:endParaRPr lang="en-US" sz="1300" dirty="0"/>
          </a:p>
        </p:txBody>
      </p:sp>
      <p:sp>
        <p:nvSpPr>
          <p:cNvPr id="21" name="Text 15"/>
          <p:cNvSpPr txBox="1"/>
          <p:nvPr/>
        </p:nvSpPr>
        <p:spPr>
          <a:xfrm>
            <a:off x="8156448" y="3520440"/>
            <a:ext cx="3108960" cy="457200"/>
          </a:xfrm>
          <a:prstGeom prst="rect">
            <a:avLst/>
          </a:prstGeom>
          <a:noFill/>
          <a:ln/>
        </p:spPr>
        <p:txBody>
          <a:bodyPr wrap="square" lIns="0" tIns="0" rIns="0" bIns="0" rtlCol="0" anchor="t"/>
          <a:lstStyle/>
          <a:p>
            <a:pPr indent="0" marL="0">
              <a:lnSpc>
                <a:spcPct val="108000"/>
              </a:lnSpc>
              <a:buNone/>
            </a:pPr>
            <a:r>
              <a:rPr lang="en-US" sz="1000" dirty="0">
                <a:solidFill>
                  <a:srgbClr val="52696C"/>
                </a:solidFill>
                <a:latin typeface="Calibri" pitchFamily="34" charset="0"/>
                <a:ea typeface="Calibri" pitchFamily="34" charset="-122"/>
                <a:cs typeface="Calibri" pitchFamily="34" charset="-120"/>
              </a:rPr>
              <a:t>Corregir o compensar patologías modificables antes de la cirugía electiva cuando sea posible.</a:t>
            </a:r>
            <a:endParaRPr lang="en-US" sz="1000" dirty="0"/>
          </a:p>
        </p:txBody>
      </p:sp>
      <p:sp>
        <p:nvSpPr>
          <p:cNvPr id="22" name="Shape 16"/>
          <p:cNvSpPr/>
          <p:nvPr/>
        </p:nvSpPr>
        <p:spPr>
          <a:xfrm>
            <a:off x="548640" y="4206240"/>
            <a:ext cx="35204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3" name="Shape 17"/>
          <p:cNvSpPr/>
          <p:nvPr/>
        </p:nvSpPr>
        <p:spPr>
          <a:xfrm>
            <a:off x="749808" y="4389120"/>
            <a:ext cx="457200" cy="457200"/>
          </a:xfrm>
          <a:prstGeom prst="ellipse">
            <a:avLst/>
          </a:prstGeom>
          <a:solidFill>
            <a:srgbClr val="028090"/>
          </a:solidFill>
          <a:ln/>
        </p:spPr>
      </p:sp>
      <p:pic>
        <p:nvPicPr>
          <p:cNvPr id="24" name="Image 4" descr="/tmp/claude-0/-home-user-gpa-academy1/adc6e4aa-3b77-57c1-ba92-a8d4ee625c84/scratchpad/pptx_ch3/icons/consent_white.png">    </p:cNvPr>
          <p:cNvPicPr>
            <a:picLocks noChangeAspect="1"/>
          </p:cNvPicPr>
          <p:nvPr/>
        </p:nvPicPr>
        <p:blipFill>
          <a:blip r:embed="rId5"/>
          <a:stretch>
            <a:fillRect/>
          </a:stretch>
        </p:blipFill>
        <p:spPr>
          <a:xfrm>
            <a:off x="852678" y="4491990"/>
            <a:ext cx="251460" cy="251460"/>
          </a:xfrm>
          <a:prstGeom prst="rect">
            <a:avLst/>
          </a:prstGeom>
        </p:spPr>
      </p:pic>
      <p:sp>
        <p:nvSpPr>
          <p:cNvPr id="25" name="Text 18"/>
          <p:cNvSpPr txBox="1"/>
          <p:nvPr/>
        </p:nvSpPr>
        <p:spPr>
          <a:xfrm>
            <a:off x="749808" y="4956048"/>
            <a:ext cx="3108960" cy="274320"/>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Planificar la técnica</a:t>
            </a:r>
            <a:endParaRPr lang="en-US" sz="1300" dirty="0"/>
          </a:p>
        </p:txBody>
      </p:sp>
      <p:sp>
        <p:nvSpPr>
          <p:cNvPr id="26" name="Text 19"/>
          <p:cNvSpPr txBox="1"/>
          <p:nvPr/>
        </p:nvSpPr>
        <p:spPr>
          <a:xfrm>
            <a:off x="749808" y="5212080"/>
            <a:ext cx="3108960" cy="457200"/>
          </a:xfrm>
          <a:prstGeom prst="rect">
            <a:avLst/>
          </a:prstGeom>
          <a:noFill/>
          <a:ln/>
        </p:spPr>
        <p:txBody>
          <a:bodyPr wrap="square" lIns="0" tIns="0" rIns="0" bIns="0" rtlCol="0" anchor="t"/>
          <a:lstStyle/>
          <a:p>
            <a:pPr indent="0" marL="0">
              <a:lnSpc>
                <a:spcPct val="108000"/>
              </a:lnSpc>
              <a:buNone/>
            </a:pPr>
            <a:r>
              <a:rPr lang="en-US" sz="1000" dirty="0">
                <a:solidFill>
                  <a:srgbClr val="52696C"/>
                </a:solidFill>
                <a:latin typeface="Calibri" pitchFamily="34" charset="0"/>
                <a:ea typeface="Calibri" pitchFamily="34" charset="-122"/>
                <a:cs typeface="Calibri" pitchFamily="34" charset="-120"/>
              </a:rPr>
              <a:t>Seleccionar la técnica anestésica, el monitoreo y los recursos necesarios de forma individualizada.</a:t>
            </a:r>
            <a:endParaRPr lang="en-US" sz="1000" dirty="0"/>
          </a:p>
        </p:txBody>
      </p:sp>
      <p:sp>
        <p:nvSpPr>
          <p:cNvPr id="27" name="Shape 20"/>
          <p:cNvSpPr/>
          <p:nvPr/>
        </p:nvSpPr>
        <p:spPr>
          <a:xfrm>
            <a:off x="4251960" y="4206240"/>
            <a:ext cx="35204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8" name="Shape 21"/>
          <p:cNvSpPr/>
          <p:nvPr/>
        </p:nvSpPr>
        <p:spPr>
          <a:xfrm>
            <a:off x="4453128" y="4389120"/>
            <a:ext cx="457200" cy="457200"/>
          </a:xfrm>
          <a:prstGeom prst="ellipse">
            <a:avLst/>
          </a:prstGeom>
          <a:solidFill>
            <a:srgbClr val="00A896"/>
          </a:solidFill>
          <a:ln/>
        </p:spPr>
      </p:sp>
      <p:pic>
        <p:nvPicPr>
          <p:cNvPr id="29" name="Image 5" descr="/tmp/claude-0/-home-user-gpa-academy1/adc6e4aa-3b77-57c1-ba92-a8d4ee625c84/scratchpad/pptx_ch3/icons/shield_white.png">    </p:cNvPr>
          <p:cNvPicPr>
            <a:picLocks noChangeAspect="1"/>
          </p:cNvPicPr>
          <p:nvPr/>
        </p:nvPicPr>
        <p:blipFill>
          <a:blip r:embed="rId6"/>
          <a:stretch>
            <a:fillRect/>
          </a:stretch>
        </p:blipFill>
        <p:spPr>
          <a:xfrm>
            <a:off x="4555998" y="4491990"/>
            <a:ext cx="251460" cy="251460"/>
          </a:xfrm>
          <a:prstGeom prst="rect">
            <a:avLst/>
          </a:prstGeom>
        </p:spPr>
      </p:pic>
      <p:sp>
        <p:nvSpPr>
          <p:cNvPr id="30" name="Text 22"/>
          <p:cNvSpPr txBox="1"/>
          <p:nvPr/>
        </p:nvSpPr>
        <p:spPr>
          <a:xfrm>
            <a:off x="4453128" y="4956048"/>
            <a:ext cx="3108960" cy="274320"/>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Informar y consentir</a:t>
            </a:r>
            <a:endParaRPr lang="en-US" sz="1300" dirty="0"/>
          </a:p>
        </p:txBody>
      </p:sp>
      <p:sp>
        <p:nvSpPr>
          <p:cNvPr id="31" name="Text 23"/>
          <p:cNvSpPr txBox="1"/>
          <p:nvPr/>
        </p:nvSpPr>
        <p:spPr>
          <a:xfrm>
            <a:off x="4453128" y="5212080"/>
            <a:ext cx="3108960" cy="457200"/>
          </a:xfrm>
          <a:prstGeom prst="rect">
            <a:avLst/>
          </a:prstGeom>
          <a:noFill/>
          <a:ln/>
        </p:spPr>
        <p:txBody>
          <a:bodyPr wrap="square" lIns="0" tIns="0" rIns="0" bIns="0" rtlCol="0" anchor="t"/>
          <a:lstStyle/>
          <a:p>
            <a:pPr indent="0" marL="0">
              <a:lnSpc>
                <a:spcPct val="108000"/>
              </a:lnSpc>
              <a:buNone/>
            </a:pPr>
            <a:r>
              <a:rPr lang="en-US" sz="1000" dirty="0">
                <a:solidFill>
                  <a:srgbClr val="52696C"/>
                </a:solidFill>
                <a:latin typeface="Calibri" pitchFamily="34" charset="0"/>
                <a:ea typeface="Calibri" pitchFamily="34" charset="-122"/>
                <a:cs typeface="Calibri" pitchFamily="34" charset="-120"/>
              </a:rPr>
              <a:t>Explicar riesgos, beneficios y alternativas, obteniendo el consentimiento informado del paciente.</a:t>
            </a:r>
            <a:endParaRPr lang="en-US" sz="1000" dirty="0"/>
          </a:p>
        </p:txBody>
      </p:sp>
      <p:sp>
        <p:nvSpPr>
          <p:cNvPr id="32" name="Shape 24"/>
          <p:cNvSpPr/>
          <p:nvPr/>
        </p:nvSpPr>
        <p:spPr>
          <a:xfrm>
            <a:off x="7955280" y="4206240"/>
            <a:ext cx="35204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33" name="Shape 25"/>
          <p:cNvSpPr/>
          <p:nvPr/>
        </p:nvSpPr>
        <p:spPr>
          <a:xfrm>
            <a:off x="8156448" y="4389120"/>
            <a:ext cx="457200" cy="457200"/>
          </a:xfrm>
          <a:prstGeom prst="ellipse">
            <a:avLst/>
          </a:prstGeom>
          <a:solidFill>
            <a:srgbClr val="02C39A"/>
          </a:solidFill>
          <a:ln/>
        </p:spPr>
      </p:sp>
      <p:pic>
        <p:nvPicPr>
          <p:cNvPr id="34" name="Image 6" descr="/tmp/claude-0/-home-user-gpa-academy1/adc6e4aa-3b77-57c1-ba92-a8d4ee625c84/scratchpad/pptx_ch3/icons/clock_white.png">    </p:cNvPr>
          <p:cNvPicPr>
            <a:picLocks noChangeAspect="1"/>
          </p:cNvPicPr>
          <p:nvPr/>
        </p:nvPicPr>
        <p:blipFill>
          <a:blip r:embed="rId7"/>
          <a:stretch>
            <a:fillRect/>
          </a:stretch>
        </p:blipFill>
        <p:spPr>
          <a:xfrm>
            <a:off x="8259318" y="4491990"/>
            <a:ext cx="251460" cy="251460"/>
          </a:xfrm>
          <a:prstGeom prst="rect">
            <a:avLst/>
          </a:prstGeom>
        </p:spPr>
      </p:pic>
      <p:sp>
        <p:nvSpPr>
          <p:cNvPr id="35" name="Text 26"/>
          <p:cNvSpPr txBox="1"/>
          <p:nvPr/>
        </p:nvSpPr>
        <p:spPr>
          <a:xfrm>
            <a:off x="8156448" y="4956048"/>
            <a:ext cx="3108960" cy="274320"/>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Reducir demoras</a:t>
            </a:r>
            <a:endParaRPr lang="en-US" sz="1300" dirty="0"/>
          </a:p>
        </p:txBody>
      </p:sp>
      <p:sp>
        <p:nvSpPr>
          <p:cNvPr id="36" name="Text 27"/>
          <p:cNvSpPr txBox="1"/>
          <p:nvPr/>
        </p:nvSpPr>
        <p:spPr>
          <a:xfrm>
            <a:off x="8156448" y="5212080"/>
            <a:ext cx="3108960" cy="457200"/>
          </a:xfrm>
          <a:prstGeom prst="rect">
            <a:avLst/>
          </a:prstGeom>
          <a:noFill/>
          <a:ln/>
        </p:spPr>
        <p:txBody>
          <a:bodyPr wrap="square" lIns="0" tIns="0" rIns="0" bIns="0" rtlCol="0" anchor="t"/>
          <a:lstStyle/>
          <a:p>
            <a:pPr indent="0" marL="0">
              <a:lnSpc>
                <a:spcPct val="108000"/>
              </a:lnSpc>
              <a:buNone/>
            </a:pPr>
            <a:r>
              <a:rPr lang="en-US" sz="1000" dirty="0">
                <a:solidFill>
                  <a:srgbClr val="52696C"/>
                </a:solidFill>
                <a:latin typeface="Calibri" pitchFamily="34" charset="0"/>
                <a:ea typeface="Calibri" pitchFamily="34" charset="-122"/>
                <a:cs typeface="Calibri" pitchFamily="34" charset="-120"/>
              </a:rPr>
              <a:t>Anticipar estudios o interconsultas necesarias, evitando cancelaciones el día de la cirugía.</a:t>
            </a:r>
            <a:endParaRPr lang="en-US" sz="1000" dirty="0"/>
          </a:p>
        </p:txBody>
      </p:sp>
      <p:sp>
        <p:nvSpPr>
          <p:cNvPr id="37" name="Text 28"/>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8" name="Text 29"/>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FUNDAMENTOS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Importancia de la consulta preanestésica en la reducción del riesgo perioperatorio</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shield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Shape 3"/>
          <p:cNvSpPr/>
          <p:nvPr/>
        </p:nvSpPr>
        <p:spPr>
          <a:xfrm>
            <a:off x="548640" y="1600200"/>
            <a:ext cx="3200400" cy="1554480"/>
          </a:xfrm>
          <a:prstGeom prst="roundRect">
            <a:avLst>
              <a:gd name="adj" fmla="val 4706"/>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7" name="Text 4"/>
          <p:cNvSpPr txBox="1"/>
          <p:nvPr/>
        </p:nvSpPr>
        <p:spPr>
          <a:xfrm>
            <a:off x="685800" y="1691640"/>
            <a:ext cx="2926080" cy="566928"/>
          </a:xfrm>
          <a:prstGeom prst="rect">
            <a:avLst/>
          </a:prstGeom>
          <a:noFill/>
          <a:ln/>
        </p:spPr>
        <p:txBody>
          <a:bodyPr wrap="square" lIns="0" tIns="0" rIns="0" bIns="0" rtlCol="0" anchor="b"/>
          <a:lstStyle/>
          <a:p>
            <a:pPr algn="ctr" indent="0" marL="0">
              <a:buNone/>
            </a:pPr>
            <a:r>
              <a:rPr lang="en-US" sz="5000" b="1" dirty="0">
                <a:solidFill>
                  <a:srgbClr val="028090"/>
                </a:solidFill>
                <a:latin typeface="Cambria" pitchFamily="34" charset="0"/>
                <a:ea typeface="Cambria" pitchFamily="34" charset="-122"/>
                <a:cs typeface="Cambria" pitchFamily="34" charset="-120"/>
              </a:rPr>
              <a:t>↓</a:t>
            </a:r>
            <a:endParaRPr lang="en-US" sz="5000" dirty="0"/>
          </a:p>
        </p:txBody>
      </p:sp>
      <p:sp>
        <p:nvSpPr>
          <p:cNvPr id="8" name="Text 5"/>
          <p:cNvSpPr txBox="1"/>
          <p:nvPr/>
        </p:nvSpPr>
        <p:spPr>
          <a:xfrm>
            <a:off x="685800" y="2313432"/>
            <a:ext cx="2926080" cy="256032"/>
          </a:xfrm>
          <a:prstGeom prst="rect">
            <a:avLst/>
          </a:prstGeom>
          <a:noFill/>
          <a:ln/>
        </p:spPr>
        <p:txBody>
          <a:bodyPr wrap="square" lIns="0" tIns="0" rIns="0" bIns="0" rtlCol="0" anchor="ctr"/>
          <a:lstStyle/>
          <a:p>
            <a:pPr algn="ctr" indent="0" marL="0">
              <a:buNone/>
            </a:pPr>
            <a:r>
              <a:rPr lang="en-US" sz="1150" b="1" dirty="0">
                <a:solidFill>
                  <a:srgbClr val="013A40"/>
                </a:solidFill>
                <a:latin typeface="Calibri" pitchFamily="34" charset="0"/>
                <a:ea typeface="Calibri" pitchFamily="34" charset="-122"/>
                <a:cs typeface="Calibri" pitchFamily="34" charset="-120"/>
              </a:rPr>
              <a:t>Cancelaciones el día de cirugía</a:t>
            </a:r>
            <a:endParaRPr lang="en-US" sz="1150" dirty="0"/>
          </a:p>
        </p:txBody>
      </p:sp>
      <p:sp>
        <p:nvSpPr>
          <p:cNvPr id="9" name="Text 6"/>
          <p:cNvSpPr txBox="1"/>
          <p:nvPr/>
        </p:nvSpPr>
        <p:spPr>
          <a:xfrm>
            <a:off x="685800" y="2587752"/>
            <a:ext cx="2926080" cy="438912"/>
          </a:xfrm>
          <a:prstGeom prst="rect">
            <a:avLst/>
          </a:prstGeom>
          <a:noFill/>
          <a:ln/>
        </p:spPr>
        <p:txBody>
          <a:bodyPr wrap="square" lIns="0" tIns="0" rIns="0" bIns="0" rtlCol="0" anchor="t"/>
          <a:lstStyle/>
          <a:p>
            <a:pPr algn="ctr" indent="0" marL="0">
              <a:lnSpc>
                <a:spcPct val="105000"/>
              </a:lnSpc>
              <a:buNone/>
            </a:pPr>
            <a:r>
              <a:rPr lang="en-US" sz="950" dirty="0">
                <a:solidFill>
                  <a:srgbClr val="52696C"/>
                </a:solidFill>
                <a:latin typeface="Calibri" pitchFamily="34" charset="0"/>
                <a:ea typeface="Calibri" pitchFamily="34" charset="-122"/>
                <a:cs typeface="Calibri" pitchFamily="34" charset="-120"/>
              </a:rPr>
              <a:t>Con evaluación anticipada estructurada</a:t>
            </a:r>
            <a:endParaRPr lang="en-US" sz="950" dirty="0"/>
          </a:p>
        </p:txBody>
      </p:sp>
      <p:sp>
        <p:nvSpPr>
          <p:cNvPr id="10" name="Shape 7"/>
          <p:cNvSpPr/>
          <p:nvPr/>
        </p:nvSpPr>
        <p:spPr>
          <a:xfrm>
            <a:off x="3931920" y="1600200"/>
            <a:ext cx="3200400" cy="1554480"/>
          </a:xfrm>
          <a:prstGeom prst="roundRect">
            <a:avLst>
              <a:gd name="adj" fmla="val 4706"/>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1" name="Text 8"/>
          <p:cNvSpPr txBox="1"/>
          <p:nvPr/>
        </p:nvSpPr>
        <p:spPr>
          <a:xfrm>
            <a:off x="4069080" y="1691640"/>
            <a:ext cx="2926080" cy="566928"/>
          </a:xfrm>
          <a:prstGeom prst="rect">
            <a:avLst/>
          </a:prstGeom>
          <a:noFill/>
          <a:ln/>
        </p:spPr>
        <p:txBody>
          <a:bodyPr wrap="square" lIns="0" tIns="0" rIns="0" bIns="0" rtlCol="0" anchor="b"/>
          <a:lstStyle/>
          <a:p>
            <a:pPr algn="ctr" indent="0" marL="0">
              <a:buNone/>
            </a:pPr>
            <a:r>
              <a:rPr lang="en-US" sz="5000" b="1" dirty="0">
                <a:solidFill>
                  <a:srgbClr val="00A896"/>
                </a:solidFill>
                <a:latin typeface="Cambria" pitchFamily="34" charset="0"/>
                <a:ea typeface="Cambria" pitchFamily="34" charset="-122"/>
                <a:cs typeface="Cambria" pitchFamily="34" charset="-120"/>
              </a:rPr>
              <a:t>↓</a:t>
            </a:r>
            <a:endParaRPr lang="en-US" sz="5000" dirty="0"/>
          </a:p>
        </p:txBody>
      </p:sp>
      <p:sp>
        <p:nvSpPr>
          <p:cNvPr id="12" name="Text 9"/>
          <p:cNvSpPr txBox="1"/>
          <p:nvPr/>
        </p:nvSpPr>
        <p:spPr>
          <a:xfrm>
            <a:off x="4069080" y="2313432"/>
            <a:ext cx="2926080" cy="256032"/>
          </a:xfrm>
          <a:prstGeom prst="rect">
            <a:avLst/>
          </a:prstGeom>
          <a:noFill/>
          <a:ln/>
        </p:spPr>
        <p:txBody>
          <a:bodyPr wrap="square" lIns="0" tIns="0" rIns="0" bIns="0" rtlCol="0" anchor="ctr"/>
          <a:lstStyle/>
          <a:p>
            <a:pPr algn="ctr" indent="0" marL="0">
              <a:buNone/>
            </a:pPr>
            <a:r>
              <a:rPr lang="en-US" sz="1150" b="1" dirty="0">
                <a:solidFill>
                  <a:srgbClr val="013A40"/>
                </a:solidFill>
                <a:latin typeface="Calibri" pitchFamily="34" charset="0"/>
                <a:ea typeface="Calibri" pitchFamily="34" charset="-122"/>
                <a:cs typeface="Calibri" pitchFamily="34" charset="-120"/>
              </a:rPr>
              <a:t>Morbimortalidad perioperatoria</a:t>
            </a:r>
            <a:endParaRPr lang="en-US" sz="1150" dirty="0"/>
          </a:p>
        </p:txBody>
      </p:sp>
      <p:sp>
        <p:nvSpPr>
          <p:cNvPr id="13" name="Text 10"/>
          <p:cNvSpPr txBox="1"/>
          <p:nvPr/>
        </p:nvSpPr>
        <p:spPr>
          <a:xfrm>
            <a:off x="4069080" y="2587752"/>
            <a:ext cx="2926080" cy="438912"/>
          </a:xfrm>
          <a:prstGeom prst="rect">
            <a:avLst/>
          </a:prstGeom>
          <a:noFill/>
          <a:ln/>
        </p:spPr>
        <p:txBody>
          <a:bodyPr wrap="square" lIns="0" tIns="0" rIns="0" bIns="0" rtlCol="0" anchor="t"/>
          <a:lstStyle/>
          <a:p>
            <a:pPr algn="ctr" indent="0" marL="0">
              <a:lnSpc>
                <a:spcPct val="105000"/>
              </a:lnSpc>
              <a:buNone/>
            </a:pPr>
            <a:r>
              <a:rPr lang="en-US" sz="950" dirty="0">
                <a:solidFill>
                  <a:srgbClr val="52696C"/>
                </a:solidFill>
                <a:latin typeface="Calibri" pitchFamily="34" charset="0"/>
                <a:ea typeface="Calibri" pitchFamily="34" charset="-122"/>
                <a:cs typeface="Calibri" pitchFamily="34" charset="-120"/>
              </a:rPr>
              <a:t>Al detectar y optimizar comorbilidades</a:t>
            </a:r>
            <a:endParaRPr lang="en-US" sz="950" dirty="0"/>
          </a:p>
        </p:txBody>
      </p:sp>
      <p:sp>
        <p:nvSpPr>
          <p:cNvPr id="14" name="Shape 11"/>
          <p:cNvSpPr/>
          <p:nvPr/>
        </p:nvSpPr>
        <p:spPr>
          <a:xfrm>
            <a:off x="7315200" y="1600200"/>
            <a:ext cx="3977640" cy="1554480"/>
          </a:xfrm>
          <a:prstGeom prst="roundRect">
            <a:avLst>
              <a:gd name="adj" fmla="val 4706"/>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5" name="Text 12"/>
          <p:cNvSpPr txBox="1"/>
          <p:nvPr/>
        </p:nvSpPr>
        <p:spPr>
          <a:xfrm>
            <a:off x="7452360" y="1691640"/>
            <a:ext cx="3703320" cy="566928"/>
          </a:xfrm>
          <a:prstGeom prst="rect">
            <a:avLst/>
          </a:prstGeom>
          <a:noFill/>
          <a:ln/>
        </p:spPr>
        <p:txBody>
          <a:bodyPr wrap="square" lIns="0" tIns="0" rIns="0" bIns="0" rtlCol="0" anchor="b"/>
          <a:lstStyle/>
          <a:p>
            <a:pPr algn="ctr" indent="0" marL="0">
              <a:buNone/>
            </a:pPr>
            <a:r>
              <a:rPr lang="en-US" sz="5000" b="1" dirty="0">
                <a:solidFill>
                  <a:srgbClr val="02C39A"/>
                </a:solidFill>
                <a:latin typeface="Cambria" pitchFamily="34" charset="0"/>
                <a:ea typeface="Cambria" pitchFamily="34" charset="-122"/>
                <a:cs typeface="Cambria" pitchFamily="34" charset="-120"/>
              </a:rPr>
              <a:t>↑</a:t>
            </a:r>
            <a:endParaRPr lang="en-US" sz="5000" dirty="0"/>
          </a:p>
        </p:txBody>
      </p:sp>
      <p:sp>
        <p:nvSpPr>
          <p:cNvPr id="16" name="Text 13"/>
          <p:cNvSpPr txBox="1"/>
          <p:nvPr/>
        </p:nvSpPr>
        <p:spPr>
          <a:xfrm>
            <a:off x="7452360" y="2313432"/>
            <a:ext cx="3703320" cy="256032"/>
          </a:xfrm>
          <a:prstGeom prst="rect">
            <a:avLst/>
          </a:prstGeom>
          <a:noFill/>
          <a:ln/>
        </p:spPr>
        <p:txBody>
          <a:bodyPr wrap="square" lIns="0" tIns="0" rIns="0" bIns="0" rtlCol="0" anchor="ctr"/>
          <a:lstStyle/>
          <a:p>
            <a:pPr algn="ctr" indent="0" marL="0">
              <a:buNone/>
            </a:pPr>
            <a:r>
              <a:rPr lang="en-US" sz="1150" b="1" dirty="0">
                <a:solidFill>
                  <a:srgbClr val="013A40"/>
                </a:solidFill>
                <a:latin typeface="Calibri" pitchFamily="34" charset="0"/>
                <a:ea typeface="Calibri" pitchFamily="34" charset="-122"/>
                <a:cs typeface="Calibri" pitchFamily="34" charset="-120"/>
              </a:rPr>
              <a:t>Eficiencia y satisfacción</a:t>
            </a:r>
            <a:endParaRPr lang="en-US" sz="1150" dirty="0"/>
          </a:p>
        </p:txBody>
      </p:sp>
      <p:sp>
        <p:nvSpPr>
          <p:cNvPr id="17" name="Text 14"/>
          <p:cNvSpPr txBox="1"/>
          <p:nvPr/>
        </p:nvSpPr>
        <p:spPr>
          <a:xfrm>
            <a:off x="7452360" y="2587752"/>
            <a:ext cx="3703320" cy="438912"/>
          </a:xfrm>
          <a:prstGeom prst="rect">
            <a:avLst/>
          </a:prstGeom>
          <a:noFill/>
          <a:ln/>
        </p:spPr>
        <p:txBody>
          <a:bodyPr wrap="square" lIns="0" tIns="0" rIns="0" bIns="0" rtlCol="0" anchor="t"/>
          <a:lstStyle/>
          <a:p>
            <a:pPr algn="ctr" indent="0" marL="0">
              <a:lnSpc>
                <a:spcPct val="105000"/>
              </a:lnSpc>
              <a:buNone/>
            </a:pPr>
            <a:r>
              <a:rPr lang="en-US" sz="950" dirty="0">
                <a:solidFill>
                  <a:srgbClr val="52696C"/>
                </a:solidFill>
                <a:latin typeface="Calibri" pitchFamily="34" charset="0"/>
                <a:ea typeface="Calibri" pitchFamily="34" charset="-122"/>
                <a:cs typeface="Calibri" pitchFamily="34" charset="-120"/>
              </a:rPr>
              <a:t>Menor estancia, menos estudios innecesarios</a:t>
            </a:r>
            <a:endParaRPr lang="en-US" sz="950" dirty="0"/>
          </a:p>
        </p:txBody>
      </p:sp>
      <p:sp>
        <p:nvSpPr>
          <p:cNvPr id="18" name="Text 15"/>
          <p:cNvSpPr txBox="1"/>
          <p:nvPr/>
        </p:nvSpPr>
        <p:spPr>
          <a:xfrm>
            <a:off x="548640" y="3383280"/>
            <a:ext cx="91440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BENEFICIOS DOCUMENTADOS DE LA CONSULTA PREANESTÉSICA ESTRUCTURADA</a:t>
            </a:r>
            <a:endParaRPr lang="en-US" sz="1300" dirty="0"/>
          </a:p>
        </p:txBody>
      </p:sp>
      <p:sp>
        <p:nvSpPr>
          <p:cNvPr id="19" name="Text 16"/>
          <p:cNvSpPr txBox="1"/>
          <p:nvPr/>
        </p:nvSpPr>
        <p:spPr>
          <a:xfrm>
            <a:off x="548640" y="3730752"/>
            <a:ext cx="10881360" cy="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B2E30"/>
                </a:solidFill>
                <a:latin typeface="Calibri" pitchFamily="34" charset="0"/>
                <a:ea typeface="Calibri" pitchFamily="34" charset="-122"/>
                <a:cs typeface="Calibri" pitchFamily="34" charset="-120"/>
              </a:rPr>
              <a:t>Identificación temprana de vía aérea difícil, cardiopatía no compensada o trastornos de coagulación que modifican la técnica anestésica.</a:t>
            </a:r>
            <a:endParaRPr lang="en-US" sz="1300" dirty="0"/>
          </a:p>
          <a:p>
            <a:pPr marL="342900" indent="-342900">
              <a:spcAft>
                <a:spcPts val="1200"/>
              </a:spcAft>
              <a:buSzPct val="100000"/>
              <a:buChar char="•"/>
            </a:pPr>
            <a:r>
              <a:rPr lang="en-US" sz="1300" dirty="0">
                <a:solidFill>
                  <a:srgbClr val="1B2E30"/>
                </a:solidFill>
                <a:latin typeface="Calibri" pitchFamily="34" charset="0"/>
                <a:ea typeface="Calibri" pitchFamily="34" charset="-122"/>
                <a:cs typeface="Calibri" pitchFamily="34" charset="-120"/>
              </a:rPr>
              <a:t>Racionalización de estudios de laboratorio y gabinete, evitando pruebas innecesarias sin valor predictivo para el procedimiento.</a:t>
            </a:r>
            <a:endParaRPr lang="en-US" sz="1300" dirty="0"/>
          </a:p>
          <a:p>
            <a:pPr marL="342900" indent="-342900">
              <a:spcAft>
                <a:spcPts val="1200"/>
              </a:spcAft>
              <a:buSzPct val="100000"/>
              <a:buChar char="•"/>
            </a:pPr>
            <a:r>
              <a:rPr lang="en-US" sz="1300" dirty="0">
                <a:solidFill>
                  <a:srgbClr val="1B2E30"/>
                </a:solidFill>
                <a:latin typeface="Calibri" pitchFamily="34" charset="0"/>
                <a:ea typeface="Calibri" pitchFamily="34" charset="-122"/>
                <a:cs typeface="Calibri" pitchFamily="34" charset="-120"/>
              </a:rPr>
              <a:t>Disminución de la ansiedad del paciente mediante información clara sobre el proceso anestésico-quirúrgico.</a:t>
            </a:r>
            <a:endParaRPr lang="en-US" sz="1300" dirty="0"/>
          </a:p>
          <a:p>
            <a:pPr marL="342900" indent="-342900">
              <a:buSzPct val="100000"/>
              <a:buChar char="•"/>
            </a:pPr>
            <a:r>
              <a:rPr lang="en-US" sz="1300" dirty="0">
                <a:solidFill>
                  <a:srgbClr val="1B2E30"/>
                </a:solidFill>
                <a:latin typeface="Calibri" pitchFamily="34" charset="0"/>
                <a:ea typeface="Calibri" pitchFamily="34" charset="-122"/>
                <a:cs typeface="Calibri" pitchFamily="34" charset="-120"/>
              </a:rPr>
              <a:t>Coordinación oportuna con otras especialidades (cardiología, neumología, hematología) cuando se requiere optimización.</a:t>
            </a:r>
            <a:endParaRPr lang="en-US" sz="1300" dirty="0"/>
          </a:p>
        </p:txBody>
      </p:sp>
      <p:sp>
        <p:nvSpPr>
          <p:cNvPr id="20" name="Shape 17"/>
          <p:cNvSpPr/>
          <p:nvPr/>
        </p:nvSpPr>
        <p:spPr>
          <a:xfrm>
            <a:off x="548640" y="5486400"/>
            <a:ext cx="11064240" cy="868680"/>
          </a:xfrm>
          <a:prstGeom prst="roundRect">
            <a:avLst>
              <a:gd name="adj" fmla="val 8421"/>
            </a:avLst>
          </a:prstGeom>
          <a:solidFill>
            <a:srgbClr val="EFF7F7"/>
          </a:solidFill>
          <a:ln/>
        </p:spPr>
      </p:sp>
      <p:sp>
        <p:nvSpPr>
          <p:cNvPr id="21" name="Shape 18"/>
          <p:cNvSpPr/>
          <p:nvPr/>
        </p:nvSpPr>
        <p:spPr>
          <a:xfrm>
            <a:off x="749808" y="5682996"/>
            <a:ext cx="475488" cy="475488"/>
          </a:xfrm>
          <a:prstGeom prst="ellipse">
            <a:avLst/>
          </a:prstGeom>
          <a:solidFill>
            <a:srgbClr val="028090"/>
          </a:solidFill>
          <a:ln/>
        </p:spPr>
      </p:sp>
      <p:pic>
        <p:nvPicPr>
          <p:cNvPr id="22" name="Image 1" descr="/tmp/claude-0/-home-user-gpa-academy1/adc6e4aa-3b77-57c1-ba92-a8d4ee625c84/scratchpad/pptx_ch3/icons/target_white.png">    </p:cNvPr>
          <p:cNvPicPr>
            <a:picLocks noChangeAspect="1"/>
          </p:cNvPicPr>
          <p:nvPr/>
        </p:nvPicPr>
        <p:blipFill>
          <a:blip r:embed="rId2"/>
          <a:stretch>
            <a:fillRect/>
          </a:stretch>
        </p:blipFill>
        <p:spPr>
          <a:xfrm>
            <a:off x="854415" y="5787603"/>
            <a:ext cx="266273" cy="266273"/>
          </a:xfrm>
          <a:prstGeom prst="rect">
            <a:avLst/>
          </a:prstGeom>
        </p:spPr>
      </p:pic>
      <p:sp>
        <p:nvSpPr>
          <p:cNvPr id="23" name="Text 19"/>
          <p:cNvSpPr txBox="1"/>
          <p:nvPr/>
        </p:nvSpPr>
        <p:spPr>
          <a:xfrm>
            <a:off x="1371600" y="5614416"/>
            <a:ext cx="10058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Momento clave</a:t>
            </a:r>
            <a:endParaRPr lang="en-US" sz="1350" dirty="0"/>
          </a:p>
        </p:txBody>
      </p:sp>
      <p:sp>
        <p:nvSpPr>
          <p:cNvPr id="24" name="Text 20"/>
          <p:cNvSpPr txBox="1"/>
          <p:nvPr/>
        </p:nvSpPr>
        <p:spPr>
          <a:xfrm>
            <a:off x="1371600" y="5888736"/>
            <a:ext cx="10058400" cy="36576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La consulta preanestésica idealmente ocurre días o semanas antes de la cirugía, no en el preoperatorio inmediato, para permitir optimizar comorbilidades sin retrasar el procedimiento.</a:t>
            </a:r>
            <a:endParaRPr lang="en-US" sz="1150" dirty="0"/>
          </a:p>
        </p:txBody>
      </p:sp>
      <p:sp>
        <p:nvSpPr>
          <p:cNvPr id="25" name="Text 21"/>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26" name="Text 22"/>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FUNDAMENTOS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Componentes generales de la evaluación preanestésica</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clipboard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Shape 3"/>
          <p:cNvSpPr/>
          <p:nvPr/>
        </p:nvSpPr>
        <p:spPr>
          <a:xfrm>
            <a:off x="548640" y="1600200"/>
            <a:ext cx="3520440" cy="4343400"/>
          </a:xfrm>
          <a:prstGeom prst="roundRect">
            <a:avLst>
              <a:gd name="adj" fmla="val 2078"/>
            </a:avLst>
          </a:prstGeom>
          <a:solidFill>
            <a:srgbClr val="FFFFFF"/>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7" name="Shape 4"/>
          <p:cNvSpPr/>
          <p:nvPr/>
        </p:nvSpPr>
        <p:spPr>
          <a:xfrm>
            <a:off x="548640" y="1600200"/>
            <a:ext cx="3520440" cy="960120"/>
          </a:xfrm>
          <a:prstGeom prst="roundRect">
            <a:avLst>
              <a:gd name="adj" fmla="val 7619"/>
            </a:avLst>
          </a:prstGeom>
          <a:solidFill>
            <a:srgbClr val="028090"/>
          </a:solidFill>
          <a:ln/>
        </p:spPr>
      </p:sp>
      <p:sp>
        <p:nvSpPr>
          <p:cNvPr id="8" name="Shape 5"/>
          <p:cNvSpPr/>
          <p:nvPr/>
        </p:nvSpPr>
        <p:spPr>
          <a:xfrm>
            <a:off x="749808" y="1810512"/>
            <a:ext cx="548640" cy="548640"/>
          </a:xfrm>
          <a:prstGeom prst="ellipse">
            <a:avLst/>
          </a:prstGeom>
          <a:solidFill>
            <a:srgbClr val="FFFFFF"/>
          </a:solidFill>
          <a:ln/>
        </p:spPr>
      </p:sp>
      <p:pic>
        <p:nvPicPr>
          <p:cNvPr id="9" name="Image 1" descr="/tmp/claude-0/-home-user-gpa-academy1/adc6e4aa-3b77-57c1-ba92-a8d4ee625c84/scratchpad/pptx_ch3/icons/history_teal.png">    </p:cNvPr>
          <p:cNvPicPr>
            <a:picLocks noChangeAspect="1"/>
          </p:cNvPicPr>
          <p:nvPr/>
        </p:nvPicPr>
        <p:blipFill>
          <a:blip r:embed="rId2"/>
          <a:stretch>
            <a:fillRect/>
          </a:stretch>
        </p:blipFill>
        <p:spPr>
          <a:xfrm>
            <a:off x="873252" y="1933956"/>
            <a:ext cx="301752" cy="301752"/>
          </a:xfrm>
          <a:prstGeom prst="rect">
            <a:avLst/>
          </a:prstGeom>
        </p:spPr>
      </p:pic>
      <p:sp>
        <p:nvSpPr>
          <p:cNvPr id="10" name="Text 6"/>
          <p:cNvSpPr txBox="1"/>
          <p:nvPr/>
        </p:nvSpPr>
        <p:spPr>
          <a:xfrm>
            <a:off x="1463040" y="1600200"/>
            <a:ext cx="2468880" cy="9601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Historia clínica</a:t>
            </a:r>
            <a:endParaRPr lang="en-US" sz="1500" dirty="0"/>
          </a:p>
        </p:txBody>
      </p:sp>
      <p:sp>
        <p:nvSpPr>
          <p:cNvPr id="11" name="Text 7"/>
          <p:cNvSpPr txBox="1"/>
          <p:nvPr/>
        </p:nvSpPr>
        <p:spPr>
          <a:xfrm>
            <a:off x="804672" y="278892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Antecedentes personales, quirúrgicos y anestésicos</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Antecedentes familiares relevantes</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Alergias y hábitos tóxicos</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Historial farmacológico completo</a:t>
            </a:r>
            <a:endParaRPr lang="en-US" sz="1150" dirty="0"/>
          </a:p>
        </p:txBody>
      </p:sp>
      <p:sp>
        <p:nvSpPr>
          <p:cNvPr id="12" name="Shape 8"/>
          <p:cNvSpPr/>
          <p:nvPr/>
        </p:nvSpPr>
        <p:spPr>
          <a:xfrm>
            <a:off x="4251960" y="1600200"/>
            <a:ext cx="3520440" cy="4343400"/>
          </a:xfrm>
          <a:prstGeom prst="roundRect">
            <a:avLst>
              <a:gd name="adj" fmla="val 2078"/>
            </a:avLst>
          </a:prstGeom>
          <a:solidFill>
            <a:srgbClr val="FFFFFF"/>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3" name="Shape 9"/>
          <p:cNvSpPr/>
          <p:nvPr/>
        </p:nvSpPr>
        <p:spPr>
          <a:xfrm>
            <a:off x="4251960" y="1600200"/>
            <a:ext cx="3520440" cy="960120"/>
          </a:xfrm>
          <a:prstGeom prst="roundRect">
            <a:avLst>
              <a:gd name="adj" fmla="val 7619"/>
            </a:avLst>
          </a:prstGeom>
          <a:solidFill>
            <a:srgbClr val="00A896"/>
          </a:solidFill>
          <a:ln/>
        </p:spPr>
      </p:sp>
      <p:sp>
        <p:nvSpPr>
          <p:cNvPr id="14" name="Shape 10"/>
          <p:cNvSpPr/>
          <p:nvPr/>
        </p:nvSpPr>
        <p:spPr>
          <a:xfrm>
            <a:off x="4453128" y="1810512"/>
            <a:ext cx="548640" cy="548640"/>
          </a:xfrm>
          <a:prstGeom prst="ellipse">
            <a:avLst/>
          </a:prstGeom>
          <a:solidFill>
            <a:srgbClr val="FFFFFF"/>
          </a:solidFill>
          <a:ln/>
        </p:spPr>
      </p:sp>
      <p:pic>
        <p:nvPicPr>
          <p:cNvPr id="15" name="Image 2" descr="/tmp/claude-0/-home-user-gpa-academy1/adc6e4aa-3b77-57c1-ba92-a8d4ee625c84/scratchpad/pptx_ch3/icons/examBody_teal.png">    </p:cNvPr>
          <p:cNvPicPr>
            <a:picLocks noChangeAspect="1"/>
          </p:cNvPicPr>
          <p:nvPr/>
        </p:nvPicPr>
        <p:blipFill>
          <a:blip r:embed="rId3"/>
          <a:stretch>
            <a:fillRect/>
          </a:stretch>
        </p:blipFill>
        <p:spPr>
          <a:xfrm>
            <a:off x="4576572" y="1933956"/>
            <a:ext cx="301752" cy="301752"/>
          </a:xfrm>
          <a:prstGeom prst="rect">
            <a:avLst/>
          </a:prstGeom>
        </p:spPr>
      </p:pic>
      <p:sp>
        <p:nvSpPr>
          <p:cNvPr id="16" name="Text 11"/>
          <p:cNvSpPr txBox="1"/>
          <p:nvPr/>
        </p:nvSpPr>
        <p:spPr>
          <a:xfrm>
            <a:off x="5166360" y="1600200"/>
            <a:ext cx="2468880" cy="9601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Examen físico</a:t>
            </a:r>
            <a:endParaRPr lang="en-US" sz="1500" dirty="0"/>
          </a:p>
        </p:txBody>
      </p:sp>
      <p:sp>
        <p:nvSpPr>
          <p:cNvPr id="17" name="Text 12"/>
          <p:cNvSpPr txBox="1"/>
          <p:nvPr/>
        </p:nvSpPr>
        <p:spPr>
          <a:xfrm>
            <a:off x="4507992" y="278892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Signos vitales y estado general</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Vía aérea (Mallampati, apertura bucal)</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Auscultación cardiopulmonar dirigida</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Evaluación de accesos vasculares</a:t>
            </a:r>
            <a:endParaRPr lang="en-US" sz="1150" dirty="0"/>
          </a:p>
        </p:txBody>
      </p:sp>
      <p:sp>
        <p:nvSpPr>
          <p:cNvPr id="18" name="Shape 13"/>
          <p:cNvSpPr/>
          <p:nvPr/>
        </p:nvSpPr>
        <p:spPr>
          <a:xfrm>
            <a:off x="7955280" y="1600200"/>
            <a:ext cx="3520440" cy="4343400"/>
          </a:xfrm>
          <a:prstGeom prst="roundRect">
            <a:avLst>
              <a:gd name="adj" fmla="val 2078"/>
            </a:avLst>
          </a:prstGeom>
          <a:solidFill>
            <a:srgbClr val="FFFFFF"/>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9" name="Shape 14"/>
          <p:cNvSpPr/>
          <p:nvPr/>
        </p:nvSpPr>
        <p:spPr>
          <a:xfrm>
            <a:off x="7955280" y="1600200"/>
            <a:ext cx="3520440" cy="960120"/>
          </a:xfrm>
          <a:prstGeom prst="roundRect">
            <a:avLst>
              <a:gd name="adj" fmla="val 7619"/>
            </a:avLst>
          </a:prstGeom>
          <a:solidFill>
            <a:srgbClr val="02C39A"/>
          </a:solidFill>
          <a:ln/>
        </p:spPr>
      </p:sp>
      <p:sp>
        <p:nvSpPr>
          <p:cNvPr id="20" name="Shape 15"/>
          <p:cNvSpPr/>
          <p:nvPr/>
        </p:nvSpPr>
        <p:spPr>
          <a:xfrm>
            <a:off x="8156448" y="1810512"/>
            <a:ext cx="548640" cy="548640"/>
          </a:xfrm>
          <a:prstGeom prst="ellipse">
            <a:avLst/>
          </a:prstGeom>
          <a:solidFill>
            <a:srgbClr val="FFFFFF"/>
          </a:solidFill>
          <a:ln/>
        </p:spPr>
      </p:sp>
      <p:pic>
        <p:nvPicPr>
          <p:cNvPr id="21" name="Image 3" descr="/tmp/claude-0/-home-user-gpa-academy1/adc6e4aa-3b77-57c1-ba92-a8d4ee625c84/scratchpad/pptx_ch3/icons/labs_darkteal.png">    </p:cNvPr>
          <p:cNvPicPr>
            <a:picLocks noChangeAspect="1"/>
          </p:cNvPicPr>
          <p:nvPr/>
        </p:nvPicPr>
        <p:blipFill>
          <a:blip r:embed="rId4"/>
          <a:stretch>
            <a:fillRect/>
          </a:stretch>
        </p:blipFill>
        <p:spPr>
          <a:xfrm>
            <a:off x="8279892" y="1933956"/>
            <a:ext cx="301752" cy="301752"/>
          </a:xfrm>
          <a:prstGeom prst="rect">
            <a:avLst/>
          </a:prstGeom>
        </p:spPr>
      </p:pic>
      <p:sp>
        <p:nvSpPr>
          <p:cNvPr id="22" name="Text 16"/>
          <p:cNvSpPr txBox="1"/>
          <p:nvPr/>
        </p:nvSpPr>
        <p:spPr>
          <a:xfrm>
            <a:off x="8869680" y="1600200"/>
            <a:ext cx="2468880" cy="9601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Estudios complementarios</a:t>
            </a:r>
            <a:endParaRPr lang="en-US" sz="1500" dirty="0"/>
          </a:p>
        </p:txBody>
      </p:sp>
      <p:sp>
        <p:nvSpPr>
          <p:cNvPr id="23" name="Text 17"/>
          <p:cNvSpPr txBox="1"/>
          <p:nvPr/>
        </p:nvSpPr>
        <p:spPr>
          <a:xfrm>
            <a:off x="8211312" y="278892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Laboratorio según hallazgos clínicos</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Electrocardiograma si está indicado</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Estudios de imagen dirigidos</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Interconsultas especializadas</a:t>
            </a:r>
            <a:endParaRPr lang="en-US" sz="1150" dirty="0"/>
          </a:p>
        </p:txBody>
      </p:sp>
      <p:sp>
        <p:nvSpPr>
          <p:cNvPr id="24" name="Text 18"/>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25" name="Text 19"/>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HISTORIA CLÍNICA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Antecedentes personales y quirúrgicos previos</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historyClock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ANTECEDENTES PERSONALES PATOLÓGICOS A INDAGAR</a:t>
            </a:r>
            <a:endParaRPr lang="en-US" sz="1300" dirty="0"/>
          </a:p>
        </p:txBody>
      </p:sp>
      <p:sp>
        <p:nvSpPr>
          <p:cNvPr id="7" name="Text 4"/>
          <p:cNvSpPr txBox="1"/>
          <p:nvPr/>
        </p:nvSpPr>
        <p:spPr>
          <a:xfrm>
            <a:off x="548640" y="1901952"/>
            <a:ext cx="5394960" cy="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Enfermedades crónicas: hipertensión arterial, diabetes mellitus, cardiopatías, neumopatías, nefropatías.</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Enfermedades endocrinológicas: patología tiroidea, insuficiencia suprarrenal.</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Trastornos hematológicos y de la coagulación.</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Enfermedades neurológicas y musculoesqueléticas relevantes para el posicionamiento.</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Embarazo y estado reproductivo en pacientes en edad fértil.</a:t>
            </a:r>
            <a:endParaRPr lang="en-US" sz="1250" dirty="0"/>
          </a:p>
        </p:txBody>
      </p:sp>
      <p:sp>
        <p:nvSpPr>
          <p:cNvPr id="8" name="Text 5"/>
          <p:cNvSpPr txBox="1"/>
          <p:nvPr/>
        </p:nvSpPr>
        <p:spPr>
          <a:xfrm>
            <a:off x="6263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ANTECEDENTES QUIRÚRGICOS PREVIOS</a:t>
            </a:r>
            <a:endParaRPr lang="en-US" sz="1300" dirty="0"/>
          </a:p>
        </p:txBody>
      </p:sp>
      <p:sp>
        <p:nvSpPr>
          <p:cNvPr id="9" name="Text 6"/>
          <p:cNvSpPr txBox="1"/>
          <p:nvPr/>
        </p:nvSpPr>
        <p:spPr>
          <a:xfrm>
            <a:off x="6263640" y="1901952"/>
            <a:ext cx="5394960" cy="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Número y tipo de cirugías previas, con fechas aproximadas.</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Técnica anestésica empleada en cada procedimiento.</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Evolución postoperatoria: complicaciones, ingreso a UCI, ventilación prolongada.</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Cicatrices que sugieran cirugías no referidas espontáneamente por el paciente.</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Antecedente de cirugía de vía aérea o cervical (riesgo de intubación difícil).</a:t>
            </a:r>
            <a:endParaRPr lang="en-US" sz="1250" dirty="0"/>
          </a:p>
        </p:txBody>
      </p:sp>
      <p:sp>
        <p:nvSpPr>
          <p:cNvPr id="10" name="Shape 7"/>
          <p:cNvSpPr/>
          <p:nvPr/>
        </p:nvSpPr>
        <p:spPr>
          <a:xfrm>
            <a:off x="548640" y="4709160"/>
            <a:ext cx="11064240" cy="1234440"/>
          </a:xfrm>
          <a:prstGeom prst="roundRect">
            <a:avLst>
              <a:gd name="adj" fmla="val 5926"/>
            </a:avLst>
          </a:prstGeom>
          <a:solidFill>
            <a:srgbClr val="EFF7F7"/>
          </a:solidFill>
          <a:ln/>
        </p:spPr>
      </p:sp>
      <p:sp>
        <p:nvSpPr>
          <p:cNvPr id="11" name="Shape 8"/>
          <p:cNvSpPr/>
          <p:nvPr/>
        </p:nvSpPr>
        <p:spPr>
          <a:xfrm>
            <a:off x="749808" y="5088636"/>
            <a:ext cx="475488" cy="475488"/>
          </a:xfrm>
          <a:prstGeom prst="ellipse">
            <a:avLst/>
          </a:prstGeom>
          <a:solidFill>
            <a:srgbClr val="028090"/>
          </a:solidFill>
          <a:ln/>
        </p:spPr>
      </p:sp>
      <p:pic>
        <p:nvPicPr>
          <p:cNvPr id="12" name="Image 1" descr="/tmp/claude-0/-home-user-gpa-academy1/adc6e4aa-3b77-57c1-ba92-a8d4ee625c84/scratchpad/pptx_ch3/icons/checklist_white.png">    </p:cNvPr>
          <p:cNvPicPr>
            <a:picLocks noChangeAspect="1"/>
          </p:cNvPicPr>
          <p:nvPr/>
        </p:nvPicPr>
        <p:blipFill>
          <a:blip r:embed="rId2"/>
          <a:stretch>
            <a:fillRect/>
          </a:stretch>
        </p:blipFill>
        <p:spPr>
          <a:xfrm>
            <a:off x="854415" y="5193243"/>
            <a:ext cx="266273" cy="266273"/>
          </a:xfrm>
          <a:prstGeom prst="rect">
            <a:avLst/>
          </a:prstGeom>
        </p:spPr>
      </p:pic>
      <p:sp>
        <p:nvSpPr>
          <p:cNvPr id="13" name="Text 9"/>
          <p:cNvSpPr txBox="1"/>
          <p:nvPr/>
        </p:nvSpPr>
        <p:spPr>
          <a:xfrm>
            <a:off x="1371600" y="4837176"/>
            <a:ext cx="10058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Regla práctica de anamnesis dirigida</a:t>
            </a:r>
            <a:endParaRPr lang="en-US" sz="1350" dirty="0"/>
          </a:p>
        </p:txBody>
      </p:sp>
      <p:sp>
        <p:nvSpPr>
          <p:cNvPr id="14" name="Text 10"/>
          <p:cNvSpPr txBox="1"/>
          <p:nvPr/>
        </p:nvSpPr>
        <p:spPr>
          <a:xfrm>
            <a:off x="1371600" y="5111496"/>
            <a:ext cx="10058400" cy="73152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Un antecedente quirúrgico "sin complicaciones" referido por el paciente no descarta eventos relevantes (p. ej. intubación difícil resuelta, náusea y vómito postoperatorio severo). Siempre que sea posible, corroborar con el expediente clínico o el registro anestésico previo, no únicamente con el relato del paciente.</a:t>
            </a:r>
            <a:endParaRPr lang="en-US" sz="1150" dirty="0"/>
          </a:p>
        </p:txBody>
      </p:sp>
      <p:sp>
        <p:nvSpPr>
          <p:cNvPr id="15" name="Text 11"/>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6" name="Text 12"/>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HISTORIA CLÍNICA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Antecedentes de anestesias previas y complicaciones relevantes</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history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PREGUNTAS CLAVE EN LA ENTREVISTA</a:t>
            </a:r>
            <a:endParaRPr lang="en-US" sz="1300" dirty="0"/>
          </a:p>
        </p:txBody>
      </p:sp>
      <p:sp>
        <p:nvSpPr>
          <p:cNvPr id="7" name="Text 4"/>
          <p:cNvSpPr txBox="1"/>
          <p:nvPr/>
        </p:nvSpPr>
        <p:spPr>
          <a:xfrm>
            <a:off x="548640" y="1901952"/>
            <a:ext cx="5394960" cy="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¿Ha recibido anestesia general, regional o sedación previamente?</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¿Tuvo dificultad para la intubación o el manejo de la vía aérea?</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¿Presentó náusea, vómito o despertar prolongado postoperatorio?</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¿Requirió ingreso no planeado a cuidados intensivos tras una cirugía?</a:t>
            </a:r>
            <a:endParaRPr lang="en-US" sz="1250" dirty="0"/>
          </a:p>
          <a:p>
            <a:pPr marL="342900" indent="-342900">
              <a:spcAft>
                <a:spcPts val="1000"/>
              </a:spcAft>
              <a:buSzPct val="100000"/>
              <a:buChar char="•"/>
            </a:pPr>
            <a:r>
              <a:rPr lang="en-US" sz="1250" dirty="0">
                <a:solidFill>
                  <a:srgbClr val="1B2E30"/>
                </a:solidFill>
                <a:latin typeface="Calibri" pitchFamily="34" charset="0"/>
                <a:ea typeface="Calibri" pitchFamily="34" charset="-122"/>
                <a:cs typeface="Calibri" pitchFamily="34" charset="-120"/>
              </a:rPr>
              <a:t>¿Existe reporte de reacción adversa a algún anestésico?</a:t>
            </a:r>
            <a:endParaRPr lang="en-US" sz="1250" dirty="0"/>
          </a:p>
        </p:txBody>
      </p:sp>
      <p:sp>
        <p:nvSpPr>
          <p:cNvPr id="8" name="Text 5"/>
          <p:cNvSpPr txBox="1"/>
          <p:nvPr/>
        </p:nvSpPr>
        <p:spPr>
          <a:xfrm>
            <a:off x="6263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COMPLICACIONES ANESTÉSICAS A DOCUMENTAR</a:t>
            </a:r>
            <a:endParaRPr lang="en-US" sz="1300" dirty="0"/>
          </a:p>
        </p:txBody>
      </p:sp>
      <p:sp>
        <p:nvSpPr>
          <p:cNvPr id="9" name="Shape 6"/>
          <p:cNvSpPr/>
          <p:nvPr/>
        </p:nvSpPr>
        <p:spPr>
          <a:xfrm>
            <a:off x="6263640" y="1901952"/>
            <a:ext cx="457200" cy="457200"/>
          </a:xfrm>
          <a:prstGeom prst="ellipse">
            <a:avLst/>
          </a:prstGeom>
          <a:solidFill>
            <a:srgbClr val="028090"/>
          </a:solidFill>
          <a:ln/>
        </p:spPr>
      </p:sp>
      <p:pic>
        <p:nvPicPr>
          <p:cNvPr id="10" name="Image 1" descr="/tmp/claude-0/-home-user-gpa-academy1/adc6e4aa-3b77-57c1-ba92-a8d4ee625c84/scratchpad/pptx_ch3/icons/warning_white.png">    </p:cNvPr>
          <p:cNvPicPr>
            <a:picLocks noChangeAspect="1"/>
          </p:cNvPicPr>
          <p:nvPr/>
        </p:nvPicPr>
        <p:blipFill>
          <a:blip r:embed="rId2"/>
          <a:stretch>
            <a:fillRect/>
          </a:stretch>
        </p:blipFill>
        <p:spPr>
          <a:xfrm>
            <a:off x="6366510" y="2004822"/>
            <a:ext cx="251460" cy="251460"/>
          </a:xfrm>
          <a:prstGeom prst="rect">
            <a:avLst/>
          </a:prstGeom>
        </p:spPr>
      </p:pic>
      <p:sp>
        <p:nvSpPr>
          <p:cNvPr id="11" name="Text 7"/>
          <p:cNvSpPr txBox="1"/>
          <p:nvPr/>
        </p:nvSpPr>
        <p:spPr>
          <a:xfrm>
            <a:off x="6922008" y="1865376"/>
            <a:ext cx="4736592"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Vía aérea difícil previa</a:t>
            </a:r>
            <a:endParaRPr lang="en-US" sz="1250" dirty="0"/>
          </a:p>
        </p:txBody>
      </p:sp>
      <p:sp>
        <p:nvSpPr>
          <p:cNvPr id="12" name="Text 8"/>
          <p:cNvSpPr txBox="1"/>
          <p:nvPr/>
        </p:nvSpPr>
        <p:spPr>
          <a:xfrm>
            <a:off x="6922008" y="2130552"/>
            <a:ext cx="4736592" cy="82296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Intubación fallida, uso de dispositivos supraglóticos de rescate o traqueostomía urgente.</a:t>
            </a:r>
            <a:endParaRPr lang="en-US" sz="1050" dirty="0"/>
          </a:p>
        </p:txBody>
      </p:sp>
      <p:sp>
        <p:nvSpPr>
          <p:cNvPr id="13" name="Shape 9"/>
          <p:cNvSpPr/>
          <p:nvPr/>
        </p:nvSpPr>
        <p:spPr>
          <a:xfrm>
            <a:off x="6263640" y="2798064"/>
            <a:ext cx="457200" cy="457200"/>
          </a:xfrm>
          <a:prstGeom prst="ellipse">
            <a:avLst/>
          </a:prstGeom>
          <a:solidFill>
            <a:srgbClr val="00A896"/>
          </a:solidFill>
          <a:ln/>
        </p:spPr>
      </p:sp>
      <p:pic>
        <p:nvPicPr>
          <p:cNvPr id="14" name="Image 2" descr="/tmp/claude-0/-home-user-gpa-academy1/adc6e4aa-3b77-57c1-ba92-a8d4ee625c84/scratchpad/pptx_ch3/icons/thermometer_white.png">    </p:cNvPr>
          <p:cNvPicPr>
            <a:picLocks noChangeAspect="1"/>
          </p:cNvPicPr>
          <p:nvPr/>
        </p:nvPicPr>
        <p:blipFill>
          <a:blip r:embed="rId3"/>
          <a:stretch>
            <a:fillRect/>
          </a:stretch>
        </p:blipFill>
        <p:spPr>
          <a:xfrm>
            <a:off x="6366510" y="2900934"/>
            <a:ext cx="251460" cy="251460"/>
          </a:xfrm>
          <a:prstGeom prst="rect">
            <a:avLst/>
          </a:prstGeom>
        </p:spPr>
      </p:pic>
      <p:sp>
        <p:nvSpPr>
          <p:cNvPr id="15" name="Text 10"/>
          <p:cNvSpPr txBox="1"/>
          <p:nvPr/>
        </p:nvSpPr>
        <p:spPr>
          <a:xfrm>
            <a:off x="6922008" y="2761488"/>
            <a:ext cx="4736592"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Hipertermia maligna</a:t>
            </a:r>
            <a:endParaRPr lang="en-US" sz="1250" dirty="0"/>
          </a:p>
        </p:txBody>
      </p:sp>
      <p:sp>
        <p:nvSpPr>
          <p:cNvPr id="16" name="Text 11"/>
          <p:cNvSpPr txBox="1"/>
          <p:nvPr/>
        </p:nvSpPr>
        <p:spPr>
          <a:xfrm>
            <a:off x="6922008" y="3026664"/>
            <a:ext cx="4736592" cy="82296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Episodio febril intraoperatorio con rigidez muscular y acidosis inexplicada.</a:t>
            </a:r>
            <a:endParaRPr lang="en-US" sz="1050" dirty="0"/>
          </a:p>
        </p:txBody>
      </p:sp>
      <p:sp>
        <p:nvSpPr>
          <p:cNvPr id="17" name="Shape 12"/>
          <p:cNvSpPr/>
          <p:nvPr/>
        </p:nvSpPr>
        <p:spPr>
          <a:xfrm>
            <a:off x="6263640" y="3694176"/>
            <a:ext cx="457200" cy="457200"/>
          </a:xfrm>
          <a:prstGeom prst="ellipse">
            <a:avLst/>
          </a:prstGeom>
          <a:solidFill>
            <a:srgbClr val="02C39A"/>
          </a:solidFill>
          <a:ln/>
        </p:spPr>
      </p:sp>
      <p:pic>
        <p:nvPicPr>
          <p:cNvPr id="18" name="Image 3" descr="/tmp/claude-0/-home-user-gpa-academy1/adc6e4aa-3b77-57c1-ba92-a8d4ee625c84/scratchpad/pptx_ch3/icons/heart_white.png">    </p:cNvPr>
          <p:cNvPicPr>
            <a:picLocks noChangeAspect="1"/>
          </p:cNvPicPr>
          <p:nvPr/>
        </p:nvPicPr>
        <p:blipFill>
          <a:blip r:embed="rId4"/>
          <a:stretch>
            <a:fillRect/>
          </a:stretch>
        </p:blipFill>
        <p:spPr>
          <a:xfrm>
            <a:off x="6366510" y="3797046"/>
            <a:ext cx="251460" cy="251460"/>
          </a:xfrm>
          <a:prstGeom prst="rect">
            <a:avLst/>
          </a:prstGeom>
        </p:spPr>
      </p:pic>
      <p:sp>
        <p:nvSpPr>
          <p:cNvPr id="19" name="Text 13"/>
          <p:cNvSpPr txBox="1"/>
          <p:nvPr/>
        </p:nvSpPr>
        <p:spPr>
          <a:xfrm>
            <a:off x="6922008" y="3657600"/>
            <a:ext cx="4736592"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Inestabilidad hemodinámica</a:t>
            </a:r>
            <a:endParaRPr lang="en-US" sz="1250" dirty="0"/>
          </a:p>
        </p:txBody>
      </p:sp>
      <p:sp>
        <p:nvSpPr>
          <p:cNvPr id="20" name="Text 14"/>
          <p:cNvSpPr txBox="1"/>
          <p:nvPr/>
        </p:nvSpPr>
        <p:spPr>
          <a:xfrm>
            <a:off x="6922008" y="3922776"/>
            <a:ext cx="4736592" cy="82296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Hipotensión o arritmias significativas durante anestesias previas.</a:t>
            </a:r>
            <a:endParaRPr lang="en-US" sz="1050" dirty="0"/>
          </a:p>
        </p:txBody>
      </p:sp>
      <p:sp>
        <p:nvSpPr>
          <p:cNvPr id="21" name="Shape 15"/>
          <p:cNvSpPr/>
          <p:nvPr/>
        </p:nvSpPr>
        <p:spPr>
          <a:xfrm>
            <a:off x="6263640" y="4590288"/>
            <a:ext cx="457200" cy="457200"/>
          </a:xfrm>
          <a:prstGeom prst="ellipse">
            <a:avLst/>
          </a:prstGeom>
          <a:solidFill>
            <a:srgbClr val="028090"/>
          </a:solidFill>
          <a:ln/>
        </p:spPr>
      </p:sp>
      <p:pic>
        <p:nvPicPr>
          <p:cNvPr id="22" name="Image 4" descr="/tmp/claude-0/-home-user-gpa-academy1/adc6e4aa-3b77-57c1-ba92-a8d4ee625c84/scratchpad/pptx_ch3/icons/dangerous_white.png">    </p:cNvPr>
          <p:cNvPicPr>
            <a:picLocks noChangeAspect="1"/>
          </p:cNvPicPr>
          <p:nvPr/>
        </p:nvPicPr>
        <p:blipFill>
          <a:blip r:embed="rId5"/>
          <a:stretch>
            <a:fillRect/>
          </a:stretch>
        </p:blipFill>
        <p:spPr>
          <a:xfrm>
            <a:off x="6366510" y="4693158"/>
            <a:ext cx="251460" cy="251460"/>
          </a:xfrm>
          <a:prstGeom prst="rect">
            <a:avLst/>
          </a:prstGeom>
        </p:spPr>
      </p:pic>
      <p:sp>
        <p:nvSpPr>
          <p:cNvPr id="23" name="Text 16"/>
          <p:cNvSpPr txBox="1"/>
          <p:nvPr/>
        </p:nvSpPr>
        <p:spPr>
          <a:xfrm>
            <a:off x="6922008" y="4553712"/>
            <a:ext cx="4736592"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Despertar intraoperatorio</a:t>
            </a:r>
            <a:endParaRPr lang="en-US" sz="1250" dirty="0"/>
          </a:p>
        </p:txBody>
      </p:sp>
      <p:sp>
        <p:nvSpPr>
          <p:cNvPr id="24" name="Text 17"/>
          <p:cNvSpPr txBox="1"/>
          <p:nvPr/>
        </p:nvSpPr>
        <p:spPr>
          <a:xfrm>
            <a:off x="6922008" y="4818888"/>
            <a:ext cx="4736592" cy="82296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Recuerdo explícito durante anestesia general, con impacto psicológico relevante.</a:t>
            </a:r>
            <a:endParaRPr lang="en-US" sz="1050" dirty="0"/>
          </a:p>
        </p:txBody>
      </p:sp>
      <p:sp>
        <p:nvSpPr>
          <p:cNvPr id="25" name="Shape 18"/>
          <p:cNvSpPr/>
          <p:nvPr/>
        </p:nvSpPr>
        <p:spPr>
          <a:xfrm>
            <a:off x="548640" y="4160520"/>
            <a:ext cx="5394960" cy="1783080"/>
          </a:xfrm>
          <a:prstGeom prst="roundRect">
            <a:avLst>
              <a:gd name="adj" fmla="val 4103"/>
            </a:avLst>
          </a:prstGeom>
          <a:solidFill>
            <a:srgbClr val="EFF7F7"/>
          </a:solidFill>
          <a:ln/>
        </p:spPr>
      </p:sp>
      <p:sp>
        <p:nvSpPr>
          <p:cNvPr id="26" name="Shape 19"/>
          <p:cNvSpPr/>
          <p:nvPr/>
        </p:nvSpPr>
        <p:spPr>
          <a:xfrm>
            <a:off x="749808" y="4814316"/>
            <a:ext cx="475488" cy="475488"/>
          </a:xfrm>
          <a:prstGeom prst="ellipse">
            <a:avLst/>
          </a:prstGeom>
          <a:solidFill>
            <a:srgbClr val="028090"/>
          </a:solidFill>
          <a:ln/>
        </p:spPr>
      </p:sp>
      <p:pic>
        <p:nvPicPr>
          <p:cNvPr id="27" name="Image 5" descr="/tmp/claude-0/-home-user-gpa-academy1/adc6e4aa-3b77-57c1-ba92-a8d4ee625c84/scratchpad/pptx_ch3/icons/checklist_white.png">    </p:cNvPr>
          <p:cNvPicPr>
            <a:picLocks noChangeAspect="1"/>
          </p:cNvPicPr>
          <p:nvPr/>
        </p:nvPicPr>
        <p:blipFill>
          <a:blip r:embed="rId6"/>
          <a:stretch>
            <a:fillRect/>
          </a:stretch>
        </p:blipFill>
        <p:spPr>
          <a:xfrm>
            <a:off x="854415" y="4918923"/>
            <a:ext cx="266273" cy="266273"/>
          </a:xfrm>
          <a:prstGeom prst="rect">
            <a:avLst/>
          </a:prstGeom>
        </p:spPr>
      </p:pic>
      <p:sp>
        <p:nvSpPr>
          <p:cNvPr id="28" name="Text 20"/>
          <p:cNvSpPr txBox="1"/>
          <p:nvPr/>
        </p:nvSpPr>
        <p:spPr>
          <a:xfrm>
            <a:off x="1371600" y="4288536"/>
            <a:ext cx="438912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Fuente de mayor confiabilidad</a:t>
            </a:r>
            <a:endParaRPr lang="en-US" sz="1350" dirty="0"/>
          </a:p>
        </p:txBody>
      </p:sp>
      <p:sp>
        <p:nvSpPr>
          <p:cNvPr id="29" name="Text 21"/>
          <p:cNvSpPr txBox="1"/>
          <p:nvPr/>
        </p:nvSpPr>
        <p:spPr>
          <a:xfrm>
            <a:off x="1371600" y="4562856"/>
            <a:ext cx="4389120" cy="128016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Siempre que exista, el expediente o carnet anestésico previo es más confiable que el recuerdo del paciente. Registrar hallazgos relevantes en un formato visible (alerta, brazalete) para el equipo quirúrgico actual.</a:t>
            </a:r>
            <a:endParaRPr lang="en-US" sz="1150" dirty="0"/>
          </a:p>
        </p:txBody>
      </p:sp>
      <p:sp>
        <p:nvSpPr>
          <p:cNvPr id="30" name="Text 22"/>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1" name="Text 23"/>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HISTORIA CLÍNICA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Antecedentes familiares de complicaciones anestésicas</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family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36192"/>
            <a:ext cx="11064240" cy="548640"/>
          </a:xfrm>
          <a:prstGeom prst="rect">
            <a:avLst/>
          </a:prstGeom>
          <a:noFill/>
          <a:ln/>
        </p:spPr>
        <p:txBody>
          <a:bodyPr wrap="square" lIns="0" tIns="0" rIns="0" bIns="0" rtlCol="0" anchor="ctr"/>
          <a:lstStyle/>
          <a:p>
            <a:pPr indent="0" marL="0">
              <a:lnSpc>
                <a:spcPct val="115000"/>
              </a:lnSpc>
              <a:buNone/>
            </a:pPr>
            <a:r>
              <a:rPr lang="en-US" sz="1300" dirty="0">
                <a:solidFill>
                  <a:srgbClr val="1B2E30"/>
                </a:solidFill>
                <a:latin typeface="Calibri" pitchFamily="34" charset="0"/>
                <a:ea typeface="Calibri" pitchFamily="34" charset="-122"/>
                <a:cs typeface="Calibri" pitchFamily="34" charset="-120"/>
              </a:rPr>
              <a:t>Los antecedentes familiares de eventos adversos relacionados con la anestesia son con frecuencia el único dato que permite anticipar condiciones hereditarias potencialmente letales durante el acto anestésico.</a:t>
            </a:r>
            <a:endParaRPr lang="en-US" sz="1300" dirty="0"/>
          </a:p>
        </p:txBody>
      </p:sp>
      <p:sp>
        <p:nvSpPr>
          <p:cNvPr id="7" name="Shape 4"/>
          <p:cNvSpPr/>
          <p:nvPr/>
        </p:nvSpPr>
        <p:spPr>
          <a:xfrm>
            <a:off x="548640" y="2240280"/>
            <a:ext cx="6492240" cy="3703320"/>
          </a:xfrm>
          <a:prstGeom prst="roundRect">
            <a:avLst>
              <a:gd name="adj" fmla="val 1975"/>
            </a:avLst>
          </a:prstGeom>
          <a:solidFill>
            <a:srgbClr val="FFFFFF"/>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8" name="Shape 5"/>
          <p:cNvSpPr/>
          <p:nvPr/>
        </p:nvSpPr>
        <p:spPr>
          <a:xfrm>
            <a:off x="822960" y="2468880"/>
            <a:ext cx="548640" cy="548640"/>
          </a:xfrm>
          <a:prstGeom prst="ellipse">
            <a:avLst/>
          </a:prstGeom>
          <a:solidFill>
            <a:srgbClr val="C0392B"/>
          </a:solidFill>
          <a:ln/>
        </p:spPr>
      </p:sp>
      <p:pic>
        <p:nvPicPr>
          <p:cNvPr id="9" name="Image 1" descr="/tmp/claude-0/-home-user-gpa-academy1/adc6e4aa-3b77-57c1-ba92-a8d4ee625c84/scratchpad/pptx_ch3/icons/thermometer_white.png">    </p:cNvPr>
          <p:cNvPicPr>
            <a:picLocks noChangeAspect="1"/>
          </p:cNvPicPr>
          <p:nvPr/>
        </p:nvPicPr>
        <p:blipFill>
          <a:blip r:embed="rId2"/>
          <a:stretch>
            <a:fillRect/>
          </a:stretch>
        </p:blipFill>
        <p:spPr>
          <a:xfrm>
            <a:off x="946404" y="2592324"/>
            <a:ext cx="301752" cy="301752"/>
          </a:xfrm>
          <a:prstGeom prst="rect">
            <a:avLst/>
          </a:prstGeom>
        </p:spPr>
      </p:pic>
      <p:sp>
        <p:nvSpPr>
          <p:cNvPr id="10" name="Text 6"/>
          <p:cNvSpPr txBox="1"/>
          <p:nvPr/>
        </p:nvSpPr>
        <p:spPr>
          <a:xfrm>
            <a:off x="1508760" y="2487168"/>
            <a:ext cx="5303520" cy="365760"/>
          </a:xfrm>
          <a:prstGeom prst="rect">
            <a:avLst/>
          </a:prstGeom>
          <a:noFill/>
          <a:ln/>
        </p:spPr>
        <p:txBody>
          <a:bodyPr wrap="square" lIns="0" tIns="0" rIns="0" bIns="0" rtlCol="0" anchor="ctr"/>
          <a:lstStyle/>
          <a:p>
            <a:pPr indent="0" marL="0">
              <a:buNone/>
            </a:pPr>
            <a:r>
              <a:rPr lang="en-US" sz="1600" b="1" dirty="0">
                <a:solidFill>
                  <a:srgbClr val="013A40"/>
                </a:solidFill>
                <a:latin typeface="Cambria" pitchFamily="34" charset="0"/>
                <a:ea typeface="Cambria" pitchFamily="34" charset="-122"/>
                <a:cs typeface="Cambria" pitchFamily="34" charset="-120"/>
              </a:rPr>
              <a:t>Hipertermia maligna (HM)</a:t>
            </a:r>
            <a:endParaRPr lang="en-US" sz="1600" dirty="0"/>
          </a:p>
        </p:txBody>
      </p:sp>
      <p:sp>
        <p:nvSpPr>
          <p:cNvPr id="11" name="Text 7"/>
          <p:cNvSpPr txBox="1"/>
          <p:nvPr/>
        </p:nvSpPr>
        <p:spPr>
          <a:xfrm>
            <a:off x="822960" y="2971800"/>
            <a:ext cx="5943600" cy="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Trastorno farmacogenético autosómico dominante del receptor de rianodina (RYR1) del músculo esquelético.</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Se desencadena por anestésicos halogenados y succinilcolina, produciendo liberación masiva de calcio intracelular.</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Manifestaciones: hipercapnia súbita, rigidez muscular, taquicardia, hipertermia progresiva y acidosis mixta.</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Un familiar de primer grado con HM confirmada o sospechada obliga a evitar agentes desencadenantes y planificar anestesia total intravenosa.</a:t>
            </a:r>
            <a:endParaRPr lang="en-US" sz="1150" dirty="0"/>
          </a:p>
          <a:p>
            <a:pPr marL="342900" indent="-342900">
              <a:spcAft>
                <a:spcPts val="1000"/>
              </a:spcAft>
              <a:buSzPct val="100000"/>
              <a:buChar char="•"/>
            </a:pPr>
            <a:r>
              <a:rPr lang="en-US" sz="1150" dirty="0">
                <a:solidFill>
                  <a:srgbClr val="1B2E30"/>
                </a:solidFill>
                <a:latin typeface="Calibri" pitchFamily="34" charset="0"/>
                <a:ea typeface="Calibri" pitchFamily="34" charset="-122"/>
                <a:cs typeface="Calibri" pitchFamily="34" charset="-120"/>
              </a:rPr>
              <a:t>Interrogar también sobre miopatías congénitas y muertes perioperatorias inexplicadas en la familia.</a:t>
            </a:r>
            <a:endParaRPr lang="en-US" sz="1150" dirty="0"/>
          </a:p>
        </p:txBody>
      </p:sp>
      <p:sp>
        <p:nvSpPr>
          <p:cNvPr id="12" name="Shape 8"/>
          <p:cNvSpPr/>
          <p:nvPr/>
        </p:nvSpPr>
        <p:spPr>
          <a:xfrm>
            <a:off x="7269480" y="2240280"/>
            <a:ext cx="3977640" cy="1737360"/>
          </a:xfrm>
          <a:prstGeom prst="roundRect">
            <a:avLst>
              <a:gd name="adj" fmla="val 4211"/>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3" name="Text 9"/>
          <p:cNvSpPr txBox="1"/>
          <p:nvPr/>
        </p:nvSpPr>
        <p:spPr>
          <a:xfrm>
            <a:off x="7406640" y="2331720"/>
            <a:ext cx="3703320" cy="566928"/>
          </a:xfrm>
          <a:prstGeom prst="rect">
            <a:avLst/>
          </a:prstGeom>
          <a:noFill/>
          <a:ln/>
        </p:spPr>
        <p:txBody>
          <a:bodyPr wrap="square" lIns="0" tIns="0" rIns="0" bIns="0" rtlCol="0" anchor="b"/>
          <a:lstStyle/>
          <a:p>
            <a:pPr algn="ctr" indent="0" marL="0">
              <a:buNone/>
            </a:pPr>
            <a:r>
              <a:rPr lang="en-US" sz="3000" b="1" dirty="0">
                <a:solidFill>
                  <a:srgbClr val="028090"/>
                </a:solidFill>
                <a:latin typeface="Cambria" pitchFamily="34" charset="0"/>
                <a:ea typeface="Cambria" pitchFamily="34" charset="-122"/>
                <a:cs typeface="Cambria" pitchFamily="34" charset="-120"/>
              </a:rPr>
              <a:t>1:5,000</a:t>
            </a:r>
            <a:endParaRPr lang="en-US" sz="3000" dirty="0"/>
          </a:p>
        </p:txBody>
      </p:sp>
      <p:sp>
        <p:nvSpPr>
          <p:cNvPr id="14" name="Text 10"/>
          <p:cNvSpPr txBox="1"/>
          <p:nvPr/>
        </p:nvSpPr>
        <p:spPr>
          <a:xfrm>
            <a:off x="7406640" y="2953512"/>
            <a:ext cx="3703320" cy="256032"/>
          </a:xfrm>
          <a:prstGeom prst="rect">
            <a:avLst/>
          </a:prstGeom>
          <a:noFill/>
          <a:ln/>
        </p:spPr>
        <p:txBody>
          <a:bodyPr wrap="square" lIns="0" tIns="0" rIns="0" bIns="0" rtlCol="0" anchor="ctr"/>
          <a:lstStyle/>
          <a:p>
            <a:pPr algn="ctr" indent="0" marL="0">
              <a:buNone/>
            </a:pPr>
            <a:r>
              <a:rPr lang="en-US" sz="1150" b="1" dirty="0">
                <a:solidFill>
                  <a:srgbClr val="013A40"/>
                </a:solidFill>
                <a:latin typeface="Calibri" pitchFamily="34" charset="0"/>
                <a:ea typeface="Calibri" pitchFamily="34" charset="-122"/>
                <a:cs typeface="Calibri" pitchFamily="34" charset="-120"/>
              </a:rPr>
              <a:t>a 1:50,000 anestesias</a:t>
            </a:r>
            <a:endParaRPr lang="en-US" sz="1150" dirty="0"/>
          </a:p>
        </p:txBody>
      </p:sp>
      <p:sp>
        <p:nvSpPr>
          <p:cNvPr id="15" name="Text 11"/>
          <p:cNvSpPr txBox="1"/>
          <p:nvPr/>
        </p:nvSpPr>
        <p:spPr>
          <a:xfrm>
            <a:off x="7406640" y="3227832"/>
            <a:ext cx="3703320" cy="621792"/>
          </a:xfrm>
          <a:prstGeom prst="rect">
            <a:avLst/>
          </a:prstGeom>
          <a:noFill/>
          <a:ln/>
        </p:spPr>
        <p:txBody>
          <a:bodyPr wrap="square" lIns="0" tIns="0" rIns="0" bIns="0" rtlCol="0" anchor="t"/>
          <a:lstStyle/>
          <a:p>
            <a:pPr algn="ctr" indent="0" marL="0">
              <a:lnSpc>
                <a:spcPct val="105000"/>
              </a:lnSpc>
              <a:buNone/>
            </a:pPr>
            <a:r>
              <a:rPr lang="en-US" sz="950" dirty="0">
                <a:solidFill>
                  <a:srgbClr val="52696C"/>
                </a:solidFill>
                <a:latin typeface="Calibri" pitchFamily="34" charset="0"/>
                <a:ea typeface="Calibri" pitchFamily="34" charset="-122"/>
                <a:cs typeface="Calibri" pitchFamily="34" charset="-120"/>
              </a:rPr>
              <a:t>Incidencia estimada de episodios de hipertermia maligna en población general</a:t>
            </a:r>
            <a:endParaRPr lang="en-US" sz="950" dirty="0"/>
          </a:p>
        </p:txBody>
      </p:sp>
      <p:sp>
        <p:nvSpPr>
          <p:cNvPr id="16" name="Shape 12"/>
          <p:cNvSpPr/>
          <p:nvPr/>
        </p:nvSpPr>
        <p:spPr>
          <a:xfrm>
            <a:off x="7269480" y="4114800"/>
            <a:ext cx="3977640" cy="1828800"/>
          </a:xfrm>
          <a:prstGeom prst="roundRect">
            <a:avLst>
              <a:gd name="adj" fmla="val 4000"/>
            </a:avLst>
          </a:prstGeom>
          <a:solidFill>
            <a:srgbClr val="FCEEEC"/>
          </a:solidFill>
          <a:ln/>
        </p:spPr>
      </p:sp>
      <p:sp>
        <p:nvSpPr>
          <p:cNvPr id="17" name="Shape 13"/>
          <p:cNvSpPr/>
          <p:nvPr/>
        </p:nvSpPr>
        <p:spPr>
          <a:xfrm>
            <a:off x="7470648" y="4791456"/>
            <a:ext cx="475488" cy="475488"/>
          </a:xfrm>
          <a:prstGeom prst="ellipse">
            <a:avLst/>
          </a:prstGeom>
          <a:solidFill>
            <a:srgbClr val="C0392B"/>
          </a:solidFill>
          <a:ln/>
        </p:spPr>
      </p:sp>
      <p:pic>
        <p:nvPicPr>
          <p:cNvPr id="18" name="Image 2" descr="/tmp/claude-0/-home-user-gpa-academy1/adc6e4aa-3b77-57c1-ba92-a8d4ee625c84/scratchpad/pptx_ch3/icons/warning_white.png">    </p:cNvPr>
          <p:cNvPicPr>
            <a:picLocks noChangeAspect="1"/>
          </p:cNvPicPr>
          <p:nvPr/>
        </p:nvPicPr>
        <p:blipFill>
          <a:blip r:embed="rId3"/>
          <a:stretch>
            <a:fillRect/>
          </a:stretch>
        </p:blipFill>
        <p:spPr>
          <a:xfrm>
            <a:off x="7575255" y="4896063"/>
            <a:ext cx="266273" cy="266273"/>
          </a:xfrm>
          <a:prstGeom prst="rect">
            <a:avLst/>
          </a:prstGeom>
        </p:spPr>
      </p:pic>
      <p:sp>
        <p:nvSpPr>
          <p:cNvPr id="19" name="Text 14"/>
          <p:cNvSpPr txBox="1"/>
          <p:nvPr/>
        </p:nvSpPr>
        <p:spPr>
          <a:xfrm>
            <a:off x="8092440" y="4242816"/>
            <a:ext cx="2971800" cy="256032"/>
          </a:xfrm>
          <a:prstGeom prst="rect">
            <a:avLst/>
          </a:prstGeom>
          <a:noFill/>
          <a:ln/>
        </p:spPr>
        <p:txBody>
          <a:bodyPr wrap="square" lIns="0" tIns="0" rIns="0" bIns="0" rtlCol="0" anchor="ctr"/>
          <a:lstStyle/>
          <a:p>
            <a:pPr indent="0" marL="0">
              <a:buNone/>
            </a:pPr>
            <a:r>
              <a:rPr lang="en-US" sz="1350" b="1" dirty="0">
                <a:solidFill>
                  <a:srgbClr val="7A2A1F"/>
                </a:solidFill>
                <a:latin typeface="Cambria" pitchFamily="34" charset="0"/>
                <a:ea typeface="Cambria" pitchFamily="34" charset="-122"/>
                <a:cs typeface="Cambria" pitchFamily="34" charset="-120"/>
              </a:rPr>
              <a:t>Conducta ante sospecha</a:t>
            </a:r>
            <a:endParaRPr lang="en-US" sz="1350" dirty="0"/>
          </a:p>
        </p:txBody>
      </p:sp>
      <p:sp>
        <p:nvSpPr>
          <p:cNvPr id="20" name="Text 15"/>
          <p:cNvSpPr txBox="1"/>
          <p:nvPr/>
        </p:nvSpPr>
        <p:spPr>
          <a:xfrm>
            <a:off x="8092440" y="4517136"/>
            <a:ext cx="2971800" cy="1325880"/>
          </a:xfrm>
          <a:prstGeom prst="rect">
            <a:avLst/>
          </a:prstGeom>
          <a:noFill/>
          <a:ln/>
        </p:spPr>
        <p:txBody>
          <a:bodyPr wrap="square" lIns="0" tIns="0" rIns="0" bIns="0" rtlCol="0" anchor="t"/>
          <a:lstStyle/>
          <a:p>
            <a:pPr indent="0" marL="0">
              <a:lnSpc>
                <a:spcPct val="112000"/>
              </a:lnSpc>
              <a:buNone/>
            </a:pPr>
            <a:r>
              <a:rPr lang="en-US" sz="1150" dirty="0">
                <a:solidFill>
                  <a:srgbClr val="7A2A1F"/>
                </a:solidFill>
                <a:latin typeface="Calibri" pitchFamily="34" charset="0"/>
                <a:ea typeface="Calibri" pitchFamily="34" charset="-122"/>
                <a:cs typeface="Calibri" pitchFamily="34" charset="-120"/>
              </a:rPr>
              <a:t>Evitar agentes halogenados y succinilcolina; disponer de dantroleno sódico; monitoreo estrecho de temperatura y CO₂ espirado; considerar prueba de contractura in vitro con biopsia muscular en centros especializados.</a:t>
            </a:r>
            <a:endParaRPr lang="en-US" sz="1150" dirty="0"/>
          </a:p>
        </p:txBody>
      </p:sp>
      <p:sp>
        <p:nvSpPr>
          <p:cNvPr id="21" name="Text 16"/>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22" name="Text 17"/>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ALERGIAS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Alergia: clasificación e importancia en la valoración preanestésica</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allergyWarning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54480"/>
            <a:ext cx="10515600" cy="274320"/>
          </a:xfrm>
          <a:prstGeom prst="rect">
            <a:avLst/>
          </a:prstGeom>
          <a:noFill/>
          <a:ln/>
        </p:spPr>
        <p:txBody>
          <a:bodyPr wrap="square" lIns="0" tIns="0" rIns="0" bIns="0"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Clasificación de Gell y Coombs de las reacciones de hipersensibilidad</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1280160"/>
                <a:gridCol w="2743200"/>
                <a:gridCol w="3474720"/>
                <a:gridCol w="3566160"/>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Tipo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Mecanismo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Ejemplo clínico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Relevancia perioperatoria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56692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Mediada por IgE, degranulación de mastocitos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Anafilaxia a relajantes musculares o látex</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Reacción inmediata, potencialmente mortal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56692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Citotóxica, mediada por anticuerpos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Anemia hemolítica inducida por fármacos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Poco frecuente en el perioperatorio inmediato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III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Inmunocomplejos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Reacciones a protamina, enfermedad del suero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Puede simular anafilaxia tardía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56692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IV</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Mediada por células T (retardada)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Dermatitis de contacto a clorhexidina o látex</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Relevante en exposición cutánea repetida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029200"/>
            <a:ext cx="73152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PUNTOS CLAVE DE LA ANAMNESIS ALERGOLÓGICA</a:t>
            </a:r>
            <a:endParaRPr lang="en-US" sz="1300" dirty="0"/>
          </a:p>
        </p:txBody>
      </p:sp>
      <p:sp>
        <p:nvSpPr>
          <p:cNvPr id="9" name="Text 5"/>
          <p:cNvSpPr txBox="1"/>
          <p:nvPr/>
        </p:nvSpPr>
        <p:spPr>
          <a:xfrm>
            <a:off x="548640" y="5349240"/>
            <a:ext cx="10972800" cy="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E30"/>
                </a:solidFill>
                <a:latin typeface="Calibri" pitchFamily="34" charset="0"/>
                <a:ea typeface="Calibri" pitchFamily="34" charset="-122"/>
                <a:cs typeface="Calibri" pitchFamily="34" charset="-120"/>
              </a:rPr>
              <a:t>Diferenciar una verdadera alergia de una intolerancia o efecto adverso esperado (p. ej. náusea por opioides).</a:t>
            </a:r>
            <a:endParaRPr lang="en-US" sz="1200" dirty="0"/>
          </a:p>
          <a:p>
            <a:pPr marL="342900" indent="-342900">
              <a:buSzPct val="100000"/>
              <a:buChar char="•"/>
            </a:pPr>
            <a:r>
              <a:rPr lang="en-US" sz="1200" dirty="0">
                <a:solidFill>
                  <a:srgbClr val="1B2E30"/>
                </a:solidFill>
                <a:latin typeface="Calibri" pitchFamily="34" charset="0"/>
                <a:ea typeface="Calibri" pitchFamily="34" charset="-122"/>
                <a:cs typeface="Calibri" pitchFamily="34" charset="-120"/>
              </a:rPr>
              <a:t>Documentar el agente, la manifestación clínica exacta y el tiempo transcurrido desde la exposición hasta el síntoma.</a:t>
            </a:r>
            <a:endParaRPr lang="en-US" sz="1200" dirty="0"/>
          </a:p>
        </p:txBody>
      </p:sp>
      <p:sp>
        <p:nvSpPr>
          <p:cNvPr id="10" name="Text 6"/>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1" name="Text 7"/>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ALERGIAS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Alergia a medicamentos anestésicos y alergia al látex</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vial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Shape 3"/>
          <p:cNvSpPr/>
          <p:nvPr/>
        </p:nvSpPr>
        <p:spPr>
          <a:xfrm>
            <a:off x="548640" y="1572768"/>
            <a:ext cx="5394960" cy="4434840"/>
          </a:xfrm>
          <a:prstGeom prst="roundRect">
            <a:avLst>
              <a:gd name="adj" fmla="val 1649"/>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7" name="Shape 4"/>
          <p:cNvSpPr/>
          <p:nvPr/>
        </p:nvSpPr>
        <p:spPr>
          <a:xfrm>
            <a:off x="777240" y="1783080"/>
            <a:ext cx="502920" cy="502920"/>
          </a:xfrm>
          <a:prstGeom prst="ellipse">
            <a:avLst/>
          </a:prstGeom>
          <a:solidFill>
            <a:srgbClr val="028090"/>
          </a:solidFill>
          <a:ln/>
        </p:spPr>
      </p:sp>
      <p:pic>
        <p:nvPicPr>
          <p:cNvPr id="8" name="Image 1" descr="/tmp/claude-0/-home-user-gpa-academy1/adc6e4aa-3b77-57c1-ba92-a8d4ee625c84/scratchpad/pptx_ch3/icons/vial_white.png">    </p:cNvPr>
          <p:cNvPicPr>
            <a:picLocks noChangeAspect="1"/>
          </p:cNvPicPr>
          <p:nvPr/>
        </p:nvPicPr>
        <p:blipFill>
          <a:blip r:embed="rId2"/>
          <a:stretch>
            <a:fillRect/>
          </a:stretch>
        </p:blipFill>
        <p:spPr>
          <a:xfrm>
            <a:off x="890397" y="1896237"/>
            <a:ext cx="276606" cy="276606"/>
          </a:xfrm>
          <a:prstGeom prst="rect">
            <a:avLst/>
          </a:prstGeom>
        </p:spPr>
      </p:pic>
      <p:sp>
        <p:nvSpPr>
          <p:cNvPr id="9" name="Text 5"/>
          <p:cNvSpPr txBox="1"/>
          <p:nvPr/>
        </p:nvSpPr>
        <p:spPr>
          <a:xfrm>
            <a:off x="1417320" y="1810512"/>
            <a:ext cx="4389120" cy="457200"/>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Fármacos anestésicos con mayor riesgo alergénico</a:t>
            </a:r>
            <a:endParaRPr lang="en-US" sz="1350" dirty="0"/>
          </a:p>
        </p:txBody>
      </p:sp>
      <p:sp>
        <p:nvSpPr>
          <p:cNvPr id="10" name="Text 6"/>
          <p:cNvSpPr txBox="1"/>
          <p:nvPr/>
        </p:nvSpPr>
        <p:spPr>
          <a:xfrm>
            <a:off x="777240" y="2331720"/>
            <a:ext cx="4937760" cy="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B2E30"/>
                </a:solidFill>
                <a:latin typeface="Calibri" pitchFamily="34" charset="0"/>
                <a:ea typeface="Calibri" pitchFamily="34" charset="-122"/>
                <a:cs typeface="Calibri" pitchFamily="34" charset="-120"/>
              </a:rPr>
              <a:t>Relajantes neuromusculares (rocuronio, succinilcolina): causa más frecuente de anafilaxia perioperatoria en muchas series.</a:t>
            </a:r>
            <a:endParaRPr lang="en-US" sz="1150" dirty="0"/>
          </a:p>
          <a:p>
            <a:pPr marL="342900" indent="-342900">
              <a:spcAft>
                <a:spcPts val="800"/>
              </a:spcAft>
              <a:buSzPct val="100000"/>
              <a:buChar char="•"/>
            </a:pPr>
            <a:r>
              <a:rPr lang="en-US" sz="1150" dirty="0">
                <a:solidFill>
                  <a:srgbClr val="1B2E30"/>
                </a:solidFill>
                <a:latin typeface="Calibri" pitchFamily="34" charset="0"/>
                <a:ea typeface="Calibri" pitchFamily="34" charset="-122"/>
                <a:cs typeface="Calibri" pitchFamily="34" charset="-120"/>
              </a:rPr>
              <a:t>Antibióticos betalactámicos administrados en la inducción profiláctica.</a:t>
            </a:r>
            <a:endParaRPr lang="en-US" sz="1150" dirty="0"/>
          </a:p>
          <a:p>
            <a:pPr marL="342900" indent="-342900">
              <a:spcAft>
                <a:spcPts val="800"/>
              </a:spcAft>
              <a:buSzPct val="100000"/>
              <a:buChar char="•"/>
            </a:pPr>
            <a:r>
              <a:rPr lang="en-US" sz="1150" dirty="0">
                <a:solidFill>
                  <a:srgbClr val="1B2E30"/>
                </a:solidFill>
                <a:latin typeface="Calibri" pitchFamily="34" charset="0"/>
                <a:ea typeface="Calibri" pitchFamily="34" charset="-122"/>
                <a:cs typeface="Calibri" pitchFamily="34" charset="-120"/>
              </a:rPr>
              <a:t>Látex de dispositivos médicos (guantes, catéteres, torniquetes).</a:t>
            </a:r>
            <a:endParaRPr lang="en-US" sz="1150" dirty="0"/>
          </a:p>
          <a:p>
            <a:pPr marL="342900" indent="-342900">
              <a:spcAft>
                <a:spcPts val="800"/>
              </a:spcAft>
              <a:buSzPct val="100000"/>
              <a:buChar char="•"/>
            </a:pPr>
            <a:r>
              <a:rPr lang="en-US" sz="1150" dirty="0">
                <a:solidFill>
                  <a:srgbClr val="1B2E30"/>
                </a:solidFill>
                <a:latin typeface="Calibri" pitchFamily="34" charset="0"/>
                <a:ea typeface="Calibri" pitchFamily="34" charset="-122"/>
                <a:cs typeface="Calibri" pitchFamily="34" charset="-120"/>
              </a:rPr>
              <a:t>Clorhexidina, usada como antiséptico cutáneo y en catéteres impregnados.</a:t>
            </a:r>
            <a:endParaRPr lang="en-US" sz="1150" dirty="0"/>
          </a:p>
          <a:p>
            <a:pPr marL="342900" indent="-342900">
              <a:buSzPct val="100000"/>
              <a:buChar char="•"/>
            </a:pPr>
            <a:r>
              <a:rPr lang="en-US" sz="1150" dirty="0">
                <a:solidFill>
                  <a:srgbClr val="1B2E30"/>
                </a:solidFill>
                <a:latin typeface="Calibri" pitchFamily="34" charset="0"/>
                <a:ea typeface="Calibri" pitchFamily="34" charset="-122"/>
                <a:cs typeface="Calibri" pitchFamily="34" charset="-120"/>
              </a:rPr>
              <a:t>Hipnóticos (propofol) en pacientes con alergia verdadera a huevo o soya; la asociación clásica es controvertida pero se investiga.</a:t>
            </a:r>
            <a:endParaRPr lang="en-US" sz="1150" dirty="0"/>
          </a:p>
        </p:txBody>
      </p:sp>
      <p:sp>
        <p:nvSpPr>
          <p:cNvPr id="11" name="Shape 7"/>
          <p:cNvSpPr/>
          <p:nvPr/>
        </p:nvSpPr>
        <p:spPr>
          <a:xfrm>
            <a:off x="6217920" y="1572768"/>
            <a:ext cx="5394960" cy="4434840"/>
          </a:xfrm>
          <a:prstGeom prst="roundRect">
            <a:avLst>
              <a:gd name="adj" fmla="val 1649"/>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2" name="Shape 8"/>
          <p:cNvSpPr/>
          <p:nvPr/>
        </p:nvSpPr>
        <p:spPr>
          <a:xfrm>
            <a:off x="6446520" y="1783080"/>
            <a:ext cx="502920" cy="502920"/>
          </a:xfrm>
          <a:prstGeom prst="ellipse">
            <a:avLst/>
          </a:prstGeom>
          <a:solidFill>
            <a:srgbClr val="00A896"/>
          </a:solidFill>
          <a:ln/>
        </p:spPr>
      </p:sp>
      <p:pic>
        <p:nvPicPr>
          <p:cNvPr id="13" name="Image 2" descr="/tmp/claude-0/-home-user-gpa-academy1/adc6e4aa-3b77-57c1-ba92-a8d4ee625c84/scratchpad/pptx_ch3/icons/latex_white.png">    </p:cNvPr>
          <p:cNvPicPr>
            <a:picLocks noChangeAspect="1"/>
          </p:cNvPicPr>
          <p:nvPr/>
        </p:nvPicPr>
        <p:blipFill>
          <a:blip r:embed="rId3"/>
          <a:stretch>
            <a:fillRect/>
          </a:stretch>
        </p:blipFill>
        <p:spPr>
          <a:xfrm>
            <a:off x="6572250" y="1908810"/>
            <a:ext cx="251460" cy="251460"/>
          </a:xfrm>
          <a:prstGeom prst="rect">
            <a:avLst/>
          </a:prstGeom>
        </p:spPr>
      </p:pic>
      <p:sp>
        <p:nvSpPr>
          <p:cNvPr id="14" name="Text 9"/>
          <p:cNvSpPr txBox="1"/>
          <p:nvPr/>
        </p:nvSpPr>
        <p:spPr>
          <a:xfrm>
            <a:off x="7086600" y="1810512"/>
            <a:ext cx="4389120" cy="457200"/>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Alergia al látex: grupos de riesgo</a:t>
            </a:r>
            <a:endParaRPr lang="en-US" sz="1350" dirty="0"/>
          </a:p>
        </p:txBody>
      </p:sp>
      <p:sp>
        <p:nvSpPr>
          <p:cNvPr id="15" name="Text 10"/>
          <p:cNvSpPr txBox="1"/>
          <p:nvPr/>
        </p:nvSpPr>
        <p:spPr>
          <a:xfrm>
            <a:off x="6446520" y="2331720"/>
            <a:ext cx="4937760" cy="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B2E30"/>
                </a:solidFill>
                <a:latin typeface="Calibri" pitchFamily="34" charset="0"/>
                <a:ea typeface="Calibri" pitchFamily="34" charset="-122"/>
                <a:cs typeface="Calibri" pitchFamily="34" charset="-120"/>
              </a:rPr>
              <a:t>Pacientes con espina bífida o malformaciones urogenitales congénitas (exposición quirúrgica repetida).</a:t>
            </a:r>
            <a:endParaRPr lang="en-US" sz="1150" dirty="0"/>
          </a:p>
          <a:p>
            <a:pPr marL="342900" indent="-342900">
              <a:spcAft>
                <a:spcPts val="800"/>
              </a:spcAft>
              <a:buSzPct val="100000"/>
              <a:buChar char="•"/>
            </a:pPr>
            <a:r>
              <a:rPr lang="en-US" sz="1150" dirty="0">
                <a:solidFill>
                  <a:srgbClr val="1B2E30"/>
                </a:solidFill>
                <a:latin typeface="Calibri" pitchFamily="34" charset="0"/>
                <a:ea typeface="Calibri" pitchFamily="34" charset="-122"/>
                <a:cs typeface="Calibri" pitchFamily="34" charset="-120"/>
              </a:rPr>
              <a:t>Personal de salud con exposición ocupacional crónica a guantes de látex.</a:t>
            </a:r>
            <a:endParaRPr lang="en-US" sz="1150" dirty="0"/>
          </a:p>
          <a:p>
            <a:pPr marL="342900" indent="-342900">
              <a:spcAft>
                <a:spcPts val="800"/>
              </a:spcAft>
              <a:buSzPct val="100000"/>
              <a:buChar char="•"/>
            </a:pPr>
            <a:r>
              <a:rPr lang="en-US" sz="1150" dirty="0">
                <a:solidFill>
                  <a:srgbClr val="1B2E30"/>
                </a:solidFill>
                <a:latin typeface="Calibri" pitchFamily="34" charset="0"/>
                <a:ea typeface="Calibri" pitchFamily="34" charset="-122"/>
                <a:cs typeface="Calibri" pitchFamily="34" charset="-120"/>
              </a:rPr>
              <a:t>Antecedente de alergia alimentaria cruzada: plátano, aguacate, kiwi, castaña (síndrome látex-fruta).</a:t>
            </a:r>
            <a:endParaRPr lang="en-US" sz="1150" dirty="0"/>
          </a:p>
          <a:p>
            <a:pPr marL="342900" indent="-342900">
              <a:spcAft>
                <a:spcPts val="800"/>
              </a:spcAft>
              <a:buSzPct val="100000"/>
              <a:buChar char="•"/>
            </a:pPr>
            <a:r>
              <a:rPr lang="en-US" sz="1150" dirty="0">
                <a:solidFill>
                  <a:srgbClr val="1B2E30"/>
                </a:solidFill>
                <a:latin typeface="Calibri" pitchFamily="34" charset="0"/>
                <a:ea typeface="Calibri" pitchFamily="34" charset="-122"/>
                <a:cs typeface="Calibri" pitchFamily="34" charset="-120"/>
              </a:rPr>
              <a:t>Múltiples cirugías previas, especialmente en la infancia.</a:t>
            </a:r>
            <a:endParaRPr lang="en-US" sz="1150" dirty="0"/>
          </a:p>
          <a:p>
            <a:pPr marL="342900" indent="-342900">
              <a:buSzPct val="100000"/>
              <a:buChar char="•"/>
            </a:pPr>
            <a:r>
              <a:rPr lang="en-US" sz="1150" b="1" dirty="0">
                <a:solidFill>
                  <a:srgbClr val="028090"/>
                </a:solidFill>
                <a:latin typeface="Calibri" pitchFamily="34" charset="0"/>
                <a:ea typeface="Calibri" pitchFamily="34" charset="-122"/>
                <a:cs typeface="Calibri" pitchFamily="34" charset="-120"/>
              </a:rPr>
              <a:t>Conducta: programar como primer caso del día en quirófano libre de látex, con dispositivos alternativos disponibles.</a:t>
            </a:r>
            <a:endParaRPr lang="en-US" sz="1150" dirty="0"/>
          </a:p>
        </p:txBody>
      </p:sp>
      <p:sp>
        <p:nvSpPr>
          <p:cNvPr id="16" name="Text 11"/>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7" name="Text 12"/>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ALERGIAS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Reacciones alérgicas perioperatorias: reconocimiento de la anafilaxia</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anaphylaxis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54480"/>
            <a:ext cx="73152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SIGNOS DE ALARMA SEGÚN SISTEMA AFECTADO</a:t>
            </a:r>
            <a:endParaRPr lang="en-US" sz="1300" dirty="0"/>
          </a:p>
        </p:txBody>
      </p:sp>
      <p:sp>
        <p:nvSpPr>
          <p:cNvPr id="7" name="Shape 4"/>
          <p:cNvSpPr/>
          <p:nvPr/>
        </p:nvSpPr>
        <p:spPr>
          <a:xfrm>
            <a:off x="548640" y="1874520"/>
            <a:ext cx="502920" cy="502920"/>
          </a:xfrm>
          <a:prstGeom prst="ellipse">
            <a:avLst/>
          </a:prstGeom>
          <a:solidFill>
            <a:srgbClr val="028090"/>
          </a:solidFill>
          <a:ln/>
        </p:spPr>
      </p:sp>
      <p:pic>
        <p:nvPicPr>
          <p:cNvPr id="8" name="Image 1" descr="/tmp/claude-0/-home-user-gpa-academy1/adc6e4aa-3b77-57c1-ba92-a8d4ee625c84/scratchpad/pptx_ch3/icons/heart_white.png">    </p:cNvPr>
          <p:cNvPicPr>
            <a:picLocks noChangeAspect="1"/>
          </p:cNvPicPr>
          <p:nvPr/>
        </p:nvPicPr>
        <p:blipFill>
          <a:blip r:embed="rId2"/>
          <a:stretch>
            <a:fillRect/>
          </a:stretch>
        </p:blipFill>
        <p:spPr>
          <a:xfrm>
            <a:off x="661797" y="1987677"/>
            <a:ext cx="276606" cy="276606"/>
          </a:xfrm>
          <a:prstGeom prst="rect">
            <a:avLst/>
          </a:prstGeom>
        </p:spPr>
      </p:pic>
      <p:sp>
        <p:nvSpPr>
          <p:cNvPr id="9" name="Text 5"/>
          <p:cNvSpPr txBox="1"/>
          <p:nvPr/>
        </p:nvSpPr>
        <p:spPr>
          <a:xfrm>
            <a:off x="1252728" y="1837944"/>
            <a:ext cx="4873752"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Cardiovascular</a:t>
            </a:r>
            <a:endParaRPr lang="en-US" sz="1300" dirty="0"/>
          </a:p>
        </p:txBody>
      </p:sp>
      <p:sp>
        <p:nvSpPr>
          <p:cNvPr id="10" name="Text 6"/>
          <p:cNvSpPr txBox="1"/>
          <p:nvPr/>
        </p:nvSpPr>
        <p:spPr>
          <a:xfrm>
            <a:off x="1252728" y="2103120"/>
            <a:ext cx="4873752"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Hipotensión súbita refractaria, taquicardia, colapso circulatorio, paro cardiaco.</a:t>
            </a:r>
            <a:endParaRPr lang="en-US" sz="1100" dirty="0"/>
          </a:p>
        </p:txBody>
      </p:sp>
      <p:sp>
        <p:nvSpPr>
          <p:cNvPr id="11" name="Shape 7"/>
          <p:cNvSpPr/>
          <p:nvPr/>
        </p:nvSpPr>
        <p:spPr>
          <a:xfrm>
            <a:off x="548640" y="2834640"/>
            <a:ext cx="502920" cy="502920"/>
          </a:xfrm>
          <a:prstGeom prst="ellipse">
            <a:avLst/>
          </a:prstGeom>
          <a:solidFill>
            <a:srgbClr val="00A896"/>
          </a:solidFill>
          <a:ln/>
        </p:spPr>
      </p:sp>
      <p:pic>
        <p:nvPicPr>
          <p:cNvPr id="12" name="Image 2" descr="/tmp/claude-0/-home-user-gpa-academy1/adc6e4aa-3b77-57c1-ba92-a8d4ee625c84/scratchpad/pptx_ch3/icons/lungs_white.png">    </p:cNvPr>
          <p:cNvPicPr>
            <a:picLocks noChangeAspect="1"/>
          </p:cNvPicPr>
          <p:nvPr/>
        </p:nvPicPr>
        <p:blipFill>
          <a:blip r:embed="rId3"/>
          <a:stretch>
            <a:fillRect/>
          </a:stretch>
        </p:blipFill>
        <p:spPr>
          <a:xfrm>
            <a:off x="661797" y="2947797"/>
            <a:ext cx="276606" cy="276606"/>
          </a:xfrm>
          <a:prstGeom prst="rect">
            <a:avLst/>
          </a:prstGeom>
        </p:spPr>
      </p:pic>
      <p:sp>
        <p:nvSpPr>
          <p:cNvPr id="13" name="Text 8"/>
          <p:cNvSpPr txBox="1"/>
          <p:nvPr/>
        </p:nvSpPr>
        <p:spPr>
          <a:xfrm>
            <a:off x="1252728" y="2798064"/>
            <a:ext cx="4873752"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Respiratorio</a:t>
            </a:r>
            <a:endParaRPr lang="en-US" sz="1300" dirty="0"/>
          </a:p>
        </p:txBody>
      </p:sp>
      <p:sp>
        <p:nvSpPr>
          <p:cNvPr id="14" name="Text 9"/>
          <p:cNvSpPr txBox="1"/>
          <p:nvPr/>
        </p:nvSpPr>
        <p:spPr>
          <a:xfrm>
            <a:off x="1252728" y="3063240"/>
            <a:ext cx="4873752"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Broncoespasmo, aumento de presión en vía aérea, desaturación, edema laríngeo.</a:t>
            </a:r>
            <a:endParaRPr lang="en-US" sz="1100" dirty="0"/>
          </a:p>
        </p:txBody>
      </p:sp>
      <p:sp>
        <p:nvSpPr>
          <p:cNvPr id="15" name="Shape 10"/>
          <p:cNvSpPr/>
          <p:nvPr/>
        </p:nvSpPr>
        <p:spPr>
          <a:xfrm>
            <a:off x="548640" y="3794760"/>
            <a:ext cx="502920" cy="502920"/>
          </a:xfrm>
          <a:prstGeom prst="ellipse">
            <a:avLst/>
          </a:prstGeom>
          <a:solidFill>
            <a:srgbClr val="02C39A"/>
          </a:solidFill>
          <a:ln/>
        </p:spPr>
      </p:sp>
      <p:pic>
        <p:nvPicPr>
          <p:cNvPr id="16" name="Image 3" descr="/tmp/claude-0/-home-user-gpa-academy1/adc6e4aa-3b77-57c1-ba92-a8d4ee625c84/scratchpad/pptx_ch3/icons/allergyWarning_white.png">    </p:cNvPr>
          <p:cNvPicPr>
            <a:picLocks noChangeAspect="1"/>
          </p:cNvPicPr>
          <p:nvPr/>
        </p:nvPicPr>
        <p:blipFill>
          <a:blip r:embed="rId4"/>
          <a:stretch>
            <a:fillRect/>
          </a:stretch>
        </p:blipFill>
        <p:spPr>
          <a:xfrm>
            <a:off x="661797" y="3907917"/>
            <a:ext cx="276606" cy="276606"/>
          </a:xfrm>
          <a:prstGeom prst="rect">
            <a:avLst/>
          </a:prstGeom>
        </p:spPr>
      </p:pic>
      <p:sp>
        <p:nvSpPr>
          <p:cNvPr id="17" name="Text 11"/>
          <p:cNvSpPr txBox="1"/>
          <p:nvPr/>
        </p:nvSpPr>
        <p:spPr>
          <a:xfrm>
            <a:off x="1252728" y="3758184"/>
            <a:ext cx="4873752"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Cutáneo-mucoso</a:t>
            </a:r>
            <a:endParaRPr lang="en-US" sz="1300" dirty="0"/>
          </a:p>
        </p:txBody>
      </p:sp>
      <p:sp>
        <p:nvSpPr>
          <p:cNvPr id="18" name="Text 12"/>
          <p:cNvSpPr txBox="1"/>
          <p:nvPr/>
        </p:nvSpPr>
        <p:spPr>
          <a:xfrm>
            <a:off x="1252728" y="4023360"/>
            <a:ext cx="4873752"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Urticaria, eritema generalizado, angioedema (puede estar ausente bajo anestesia).</a:t>
            </a:r>
            <a:endParaRPr lang="en-US" sz="1100" dirty="0"/>
          </a:p>
        </p:txBody>
      </p:sp>
      <p:sp>
        <p:nvSpPr>
          <p:cNvPr id="19" name="Shape 13"/>
          <p:cNvSpPr/>
          <p:nvPr/>
        </p:nvSpPr>
        <p:spPr>
          <a:xfrm>
            <a:off x="548640" y="4937760"/>
            <a:ext cx="5577840" cy="1051560"/>
          </a:xfrm>
          <a:prstGeom prst="roundRect">
            <a:avLst>
              <a:gd name="adj" fmla="val 6957"/>
            </a:avLst>
          </a:prstGeom>
          <a:solidFill>
            <a:srgbClr val="FCEEEC"/>
          </a:solidFill>
          <a:ln/>
        </p:spPr>
      </p:sp>
      <p:sp>
        <p:nvSpPr>
          <p:cNvPr id="20" name="Shape 14"/>
          <p:cNvSpPr/>
          <p:nvPr/>
        </p:nvSpPr>
        <p:spPr>
          <a:xfrm>
            <a:off x="749808" y="5225796"/>
            <a:ext cx="475488" cy="475488"/>
          </a:xfrm>
          <a:prstGeom prst="ellipse">
            <a:avLst/>
          </a:prstGeom>
          <a:solidFill>
            <a:srgbClr val="C0392B"/>
          </a:solidFill>
          <a:ln/>
        </p:spPr>
      </p:sp>
      <p:pic>
        <p:nvPicPr>
          <p:cNvPr id="21" name="Image 4" descr="/tmp/claude-0/-home-user-gpa-academy1/adc6e4aa-3b77-57c1-ba92-a8d4ee625c84/scratchpad/pptx_ch3/icons/warning_white.png">    </p:cNvPr>
          <p:cNvPicPr>
            <a:picLocks noChangeAspect="1"/>
          </p:cNvPicPr>
          <p:nvPr/>
        </p:nvPicPr>
        <p:blipFill>
          <a:blip r:embed="rId5"/>
          <a:stretch>
            <a:fillRect/>
          </a:stretch>
        </p:blipFill>
        <p:spPr>
          <a:xfrm>
            <a:off x="854415" y="5330403"/>
            <a:ext cx="266273" cy="266273"/>
          </a:xfrm>
          <a:prstGeom prst="rect">
            <a:avLst/>
          </a:prstGeom>
        </p:spPr>
      </p:pic>
      <p:sp>
        <p:nvSpPr>
          <p:cNvPr id="22" name="Text 15"/>
          <p:cNvSpPr txBox="1"/>
          <p:nvPr/>
        </p:nvSpPr>
        <p:spPr>
          <a:xfrm>
            <a:off x="1371600" y="5065776"/>
            <a:ext cx="4572000" cy="256032"/>
          </a:xfrm>
          <a:prstGeom prst="rect">
            <a:avLst/>
          </a:prstGeom>
          <a:noFill/>
          <a:ln/>
        </p:spPr>
        <p:txBody>
          <a:bodyPr wrap="square" lIns="0" tIns="0" rIns="0" bIns="0" rtlCol="0" anchor="ctr"/>
          <a:lstStyle/>
          <a:p>
            <a:pPr indent="0" marL="0">
              <a:buNone/>
            </a:pPr>
            <a:r>
              <a:rPr lang="en-US" sz="1350" b="1" dirty="0">
                <a:solidFill>
                  <a:srgbClr val="7A2A1F"/>
                </a:solidFill>
                <a:latin typeface="Cambria" pitchFamily="34" charset="0"/>
                <a:ea typeface="Cambria" pitchFamily="34" charset="-122"/>
                <a:cs typeface="Cambria" pitchFamily="34" charset="-120"/>
              </a:rPr>
              <a:t>Dato clínico crítico</a:t>
            </a:r>
            <a:endParaRPr lang="en-US" sz="1350" dirty="0"/>
          </a:p>
        </p:txBody>
      </p:sp>
      <p:sp>
        <p:nvSpPr>
          <p:cNvPr id="23" name="Text 16"/>
          <p:cNvSpPr txBox="1"/>
          <p:nvPr/>
        </p:nvSpPr>
        <p:spPr>
          <a:xfrm>
            <a:off x="1371600" y="5340096"/>
            <a:ext cx="4572000" cy="548640"/>
          </a:xfrm>
          <a:prstGeom prst="rect">
            <a:avLst/>
          </a:prstGeom>
          <a:noFill/>
          <a:ln/>
        </p:spPr>
        <p:txBody>
          <a:bodyPr wrap="square" lIns="0" tIns="0" rIns="0" bIns="0" rtlCol="0" anchor="t"/>
          <a:lstStyle/>
          <a:p>
            <a:pPr indent="0" marL="0">
              <a:lnSpc>
                <a:spcPct val="112000"/>
              </a:lnSpc>
              <a:buNone/>
            </a:pPr>
            <a:r>
              <a:rPr lang="en-US" sz="1150" dirty="0">
                <a:solidFill>
                  <a:srgbClr val="7A2A1F"/>
                </a:solidFill>
                <a:latin typeface="Calibri" pitchFamily="34" charset="0"/>
                <a:ea typeface="Calibri" pitchFamily="34" charset="-122"/>
                <a:cs typeface="Calibri" pitchFamily="34" charset="-120"/>
              </a:rPr>
              <a:t>Bajo anestesia general, el signo inicial más frecuente y a veces único es la hipotensión súbita inexplicada; las manifestaciones cutáneas pueden estar enmascaradas o ausentes.</a:t>
            </a:r>
            <a:endParaRPr lang="en-US" sz="1150" dirty="0"/>
          </a:p>
        </p:txBody>
      </p:sp>
      <p:sp>
        <p:nvSpPr>
          <p:cNvPr id="24" name="Shape 17"/>
          <p:cNvSpPr/>
          <p:nvPr/>
        </p:nvSpPr>
        <p:spPr>
          <a:xfrm>
            <a:off x="6355080" y="1554480"/>
            <a:ext cx="5303520" cy="4434840"/>
          </a:xfrm>
          <a:prstGeom prst="roundRect">
            <a:avLst>
              <a:gd name="adj" fmla="val 1649"/>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5" name="Text 18"/>
          <p:cNvSpPr txBox="1"/>
          <p:nvPr/>
        </p:nvSpPr>
        <p:spPr>
          <a:xfrm>
            <a:off x="6583680" y="1737360"/>
            <a:ext cx="4846320" cy="320040"/>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Manejo inmediato de la anafilaxia perioperatoria</a:t>
            </a:r>
            <a:endParaRPr lang="en-US" sz="1350" dirty="0"/>
          </a:p>
        </p:txBody>
      </p:sp>
      <p:sp>
        <p:nvSpPr>
          <p:cNvPr id="26" name="Text 19"/>
          <p:cNvSpPr txBox="1"/>
          <p:nvPr/>
        </p:nvSpPr>
        <p:spPr>
          <a:xfrm>
            <a:off x="6583680" y="2148840"/>
            <a:ext cx="4846320" cy="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1B2E30"/>
                </a:solidFill>
                <a:latin typeface="Calibri" pitchFamily="34" charset="0"/>
                <a:ea typeface="Calibri" pitchFamily="34" charset="-122"/>
                <a:cs typeface="Calibri" pitchFamily="34" charset="-120"/>
              </a:rPr>
              <a:t>Suspender de inmediato el agente sospechoso y todo fármaco no esencial.</a:t>
            </a:r>
            <a:endParaRPr lang="en-US" sz="1150" dirty="0"/>
          </a:p>
          <a:p>
            <a:pPr marL="342900" indent="-342900">
              <a:spcAft>
                <a:spcPts val="900"/>
              </a:spcAft>
              <a:buSzPct val="100000"/>
              <a:buChar char="•"/>
            </a:pPr>
            <a:r>
              <a:rPr lang="en-US" sz="1150" dirty="0">
                <a:solidFill>
                  <a:srgbClr val="1B2E30"/>
                </a:solidFill>
                <a:latin typeface="Calibri" pitchFamily="34" charset="0"/>
                <a:ea typeface="Calibri" pitchFamily="34" charset="-122"/>
                <a:cs typeface="Calibri" pitchFamily="34" charset="-120"/>
              </a:rPr>
              <a:t>Solicitar ayuda, administrar oxígeno al 100 % y asegurar la vía aérea.</a:t>
            </a:r>
            <a:endParaRPr lang="en-US" sz="1150" dirty="0"/>
          </a:p>
          <a:p>
            <a:pPr marL="342900" indent="-342900">
              <a:spcAft>
                <a:spcPts val="900"/>
              </a:spcAft>
              <a:buSzPct val="100000"/>
              <a:buChar char="•"/>
            </a:pPr>
            <a:r>
              <a:rPr lang="en-US" sz="1150" b="1" dirty="0">
                <a:solidFill>
                  <a:srgbClr val="1B2E30"/>
                </a:solidFill>
                <a:latin typeface="Calibri" pitchFamily="34" charset="0"/>
                <a:ea typeface="Calibri" pitchFamily="34" charset="-122"/>
                <a:cs typeface="Calibri" pitchFamily="34" charset="-120"/>
              </a:rPr>
              <a:t>Adrenalina intramuscular o intravenosa titulada según la gravedad; es el fármaco de primera línea, sin contraindicación absoluta en este contexto.</a:t>
            </a:r>
            <a:endParaRPr lang="en-US" sz="1150" dirty="0"/>
          </a:p>
          <a:p>
            <a:pPr marL="342900" indent="-342900">
              <a:spcAft>
                <a:spcPts val="900"/>
              </a:spcAft>
              <a:buSzPct val="100000"/>
              <a:buChar char="•"/>
            </a:pPr>
            <a:r>
              <a:rPr lang="en-US" sz="1150" dirty="0">
                <a:solidFill>
                  <a:srgbClr val="1B2E30"/>
                </a:solidFill>
                <a:latin typeface="Calibri" pitchFamily="34" charset="0"/>
                <a:ea typeface="Calibri" pitchFamily="34" charset="-122"/>
                <a:cs typeface="Calibri" pitchFamily="34" charset="-120"/>
              </a:rPr>
              <a:t>Expansión de volumen intravenosa agresiva con cristaloides.</a:t>
            </a:r>
            <a:endParaRPr lang="en-US" sz="1150" dirty="0"/>
          </a:p>
          <a:p>
            <a:pPr marL="342900" indent="-342900">
              <a:spcAft>
                <a:spcPts val="900"/>
              </a:spcAft>
              <a:buSzPct val="100000"/>
              <a:buChar char="•"/>
            </a:pPr>
            <a:r>
              <a:rPr lang="en-US" sz="1150" dirty="0">
                <a:solidFill>
                  <a:srgbClr val="1B2E30"/>
                </a:solidFill>
                <a:latin typeface="Calibri" pitchFamily="34" charset="0"/>
                <a:ea typeface="Calibri" pitchFamily="34" charset="-122"/>
                <a:cs typeface="Calibri" pitchFamily="34" charset="-120"/>
              </a:rPr>
              <a:t>Broncodilatadores si predomina el broncoespasmo.</a:t>
            </a:r>
            <a:endParaRPr lang="en-US" sz="1150" dirty="0"/>
          </a:p>
          <a:p>
            <a:pPr marL="342900" indent="-342900">
              <a:buSzPct val="100000"/>
              <a:buChar char="•"/>
            </a:pPr>
            <a:r>
              <a:rPr lang="en-US" sz="1150" dirty="0">
                <a:solidFill>
                  <a:srgbClr val="1B2E30"/>
                </a:solidFill>
                <a:latin typeface="Calibri" pitchFamily="34" charset="0"/>
                <a:ea typeface="Calibri" pitchFamily="34" charset="-122"/>
                <a:cs typeface="Calibri" pitchFamily="34" charset="-120"/>
              </a:rPr>
              <a:t>Tomar triptasa sérica basal y a las horas 1-2 y 24 para confirmar el diagnóstico y referir a alergología perioperatoria.</a:t>
            </a:r>
            <a:endParaRPr lang="en-US" sz="1150" dirty="0"/>
          </a:p>
        </p:txBody>
      </p:sp>
      <p:sp>
        <p:nvSpPr>
          <p:cNvPr id="27" name="Text 20"/>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28" name="Text 21"/>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HÁBITOS TÓXICOS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Hábitos tóxicos: introducción y relevancia perioperatoria</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smokeFree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36192"/>
            <a:ext cx="11064240" cy="640080"/>
          </a:xfrm>
          <a:prstGeom prst="rect">
            <a:avLst/>
          </a:prstGeom>
          <a:noFill/>
          <a:ln/>
        </p:spPr>
        <p:txBody>
          <a:bodyPr wrap="square" lIns="0" tIns="0" rIns="0" bIns="0" rtlCol="0" anchor="ctr"/>
          <a:lstStyle/>
          <a:p>
            <a:pPr indent="0" marL="0">
              <a:lnSpc>
                <a:spcPct val="118000"/>
              </a:lnSpc>
              <a:buNone/>
            </a:pPr>
            <a:r>
              <a:rPr lang="en-US" sz="1350" dirty="0">
                <a:solidFill>
                  <a:srgbClr val="1B2E30"/>
                </a:solidFill>
                <a:latin typeface="Calibri" pitchFamily="34" charset="0"/>
                <a:ea typeface="Calibri" pitchFamily="34" charset="-122"/>
                <a:cs typeface="Calibri" pitchFamily="34" charset="-120"/>
              </a:rPr>
              <a:t>El consumo de tabaco, alcohol y sustancias ilícitas modifica de forma directa la farmacocinética y farmacodinamia de los agentes anestésicos, además de incrementar el riesgo de complicaciones respiratorias, cardiovasculares y de abstinencia perioperatoria.</a:t>
            </a:r>
            <a:endParaRPr lang="en-US" sz="1350" dirty="0"/>
          </a:p>
        </p:txBody>
      </p:sp>
      <p:sp>
        <p:nvSpPr>
          <p:cNvPr id="7" name="Shape 4"/>
          <p:cNvSpPr/>
          <p:nvPr/>
        </p:nvSpPr>
        <p:spPr>
          <a:xfrm>
            <a:off x="548640" y="2423160"/>
            <a:ext cx="3429000" cy="3566160"/>
          </a:xfrm>
          <a:prstGeom prst="roundRect">
            <a:avLst>
              <a:gd name="adj" fmla="val 213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8" name="Shape 5"/>
          <p:cNvSpPr/>
          <p:nvPr/>
        </p:nvSpPr>
        <p:spPr>
          <a:xfrm>
            <a:off x="1851660" y="2697480"/>
            <a:ext cx="822960" cy="822960"/>
          </a:xfrm>
          <a:prstGeom prst="ellipse">
            <a:avLst/>
          </a:prstGeom>
          <a:solidFill>
            <a:srgbClr val="028090"/>
          </a:solidFill>
          <a:ln/>
        </p:spPr>
      </p:sp>
      <p:pic>
        <p:nvPicPr>
          <p:cNvPr id="9" name="Image 1" descr="/tmp/claude-0/-home-user-gpa-academy1/adc6e4aa-3b77-57c1-ba92-a8d4ee625c84/scratchpad/pptx_ch3/icons/smoking_white.png">    </p:cNvPr>
          <p:cNvPicPr>
            <a:picLocks noChangeAspect="1"/>
          </p:cNvPicPr>
          <p:nvPr/>
        </p:nvPicPr>
        <p:blipFill>
          <a:blip r:embed="rId2"/>
          <a:stretch>
            <a:fillRect/>
          </a:stretch>
        </p:blipFill>
        <p:spPr>
          <a:xfrm>
            <a:off x="2057400" y="2903220"/>
            <a:ext cx="411480" cy="411480"/>
          </a:xfrm>
          <a:prstGeom prst="rect">
            <a:avLst/>
          </a:prstGeom>
        </p:spPr>
      </p:pic>
      <p:sp>
        <p:nvSpPr>
          <p:cNvPr id="10" name="Text 6"/>
          <p:cNvSpPr txBox="1"/>
          <p:nvPr/>
        </p:nvSpPr>
        <p:spPr>
          <a:xfrm>
            <a:off x="731520" y="3657600"/>
            <a:ext cx="3063240" cy="365760"/>
          </a:xfrm>
          <a:prstGeom prst="rect">
            <a:avLst/>
          </a:prstGeom>
          <a:noFill/>
          <a:ln/>
        </p:spPr>
        <p:txBody>
          <a:bodyPr wrap="square" lIns="0" tIns="0" rIns="0" bIns="0"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Tabaquismo</a:t>
            </a:r>
            <a:endParaRPr lang="en-US" sz="1500" dirty="0"/>
          </a:p>
        </p:txBody>
      </p:sp>
      <p:sp>
        <p:nvSpPr>
          <p:cNvPr id="11" name="Text 7"/>
          <p:cNvSpPr txBox="1"/>
          <p:nvPr/>
        </p:nvSpPr>
        <p:spPr>
          <a:xfrm>
            <a:off x="822960" y="4069080"/>
            <a:ext cx="2880360" cy="1737360"/>
          </a:xfrm>
          <a:prstGeom prst="rect">
            <a:avLst/>
          </a:prstGeom>
          <a:noFill/>
          <a:ln/>
        </p:spPr>
        <p:txBody>
          <a:bodyPr wrap="square" lIns="0" tIns="0" rIns="0" bIns="0" rtlCol="0" anchor="t"/>
          <a:lstStyle/>
          <a:p>
            <a:pPr algn="ctr" indent="0" marL="0">
              <a:lnSpc>
                <a:spcPct val="115000"/>
              </a:lnSpc>
              <a:buNone/>
            </a:pPr>
            <a:r>
              <a:rPr lang="en-US" sz="1150" dirty="0">
                <a:solidFill>
                  <a:srgbClr val="52696C"/>
                </a:solidFill>
                <a:latin typeface="Calibri" pitchFamily="34" charset="0"/>
                <a:ea typeface="Calibri" pitchFamily="34" charset="-122"/>
                <a:cs typeface="Calibri" pitchFamily="34" charset="-120"/>
              </a:rPr>
              <a:t>Compromiso de la función mucociliar y reserva respiratoria; aumenta el riesgo de complicaciones pulmonares postoperatorias.</a:t>
            </a:r>
            <a:endParaRPr lang="en-US" sz="1150" dirty="0"/>
          </a:p>
        </p:txBody>
      </p:sp>
      <p:sp>
        <p:nvSpPr>
          <p:cNvPr id="12" name="Shape 8"/>
          <p:cNvSpPr/>
          <p:nvPr/>
        </p:nvSpPr>
        <p:spPr>
          <a:xfrm>
            <a:off x="4251960" y="2423160"/>
            <a:ext cx="3429000" cy="3566160"/>
          </a:xfrm>
          <a:prstGeom prst="roundRect">
            <a:avLst>
              <a:gd name="adj" fmla="val 213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3" name="Shape 9"/>
          <p:cNvSpPr/>
          <p:nvPr/>
        </p:nvSpPr>
        <p:spPr>
          <a:xfrm>
            <a:off x="5554980" y="2697480"/>
            <a:ext cx="822960" cy="822960"/>
          </a:xfrm>
          <a:prstGeom prst="ellipse">
            <a:avLst/>
          </a:prstGeom>
          <a:solidFill>
            <a:srgbClr val="00A896"/>
          </a:solidFill>
          <a:ln/>
        </p:spPr>
      </p:sp>
      <p:pic>
        <p:nvPicPr>
          <p:cNvPr id="14" name="Image 2" descr="/tmp/claude-0/-home-user-gpa-academy1/adc6e4aa-3b77-57c1-ba92-a8d4ee625c84/scratchpad/pptx_ch3/icons/bar_white.png">    </p:cNvPr>
          <p:cNvPicPr>
            <a:picLocks noChangeAspect="1"/>
          </p:cNvPicPr>
          <p:nvPr/>
        </p:nvPicPr>
        <p:blipFill>
          <a:blip r:embed="rId3"/>
          <a:stretch>
            <a:fillRect/>
          </a:stretch>
        </p:blipFill>
        <p:spPr>
          <a:xfrm>
            <a:off x="5760720" y="2903220"/>
            <a:ext cx="411480" cy="411480"/>
          </a:xfrm>
          <a:prstGeom prst="rect">
            <a:avLst/>
          </a:prstGeom>
        </p:spPr>
      </p:pic>
      <p:sp>
        <p:nvSpPr>
          <p:cNvPr id="15" name="Text 10"/>
          <p:cNvSpPr txBox="1"/>
          <p:nvPr/>
        </p:nvSpPr>
        <p:spPr>
          <a:xfrm>
            <a:off x="4434840" y="3657600"/>
            <a:ext cx="3063240" cy="365760"/>
          </a:xfrm>
          <a:prstGeom prst="rect">
            <a:avLst/>
          </a:prstGeom>
          <a:noFill/>
          <a:ln/>
        </p:spPr>
        <p:txBody>
          <a:bodyPr wrap="square" lIns="0" tIns="0" rIns="0" bIns="0"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Consumo de alcohol</a:t>
            </a:r>
            <a:endParaRPr lang="en-US" sz="1500" dirty="0"/>
          </a:p>
        </p:txBody>
      </p:sp>
      <p:sp>
        <p:nvSpPr>
          <p:cNvPr id="16" name="Text 11"/>
          <p:cNvSpPr txBox="1"/>
          <p:nvPr/>
        </p:nvSpPr>
        <p:spPr>
          <a:xfrm>
            <a:off x="4526280" y="4069080"/>
            <a:ext cx="2880360" cy="1737360"/>
          </a:xfrm>
          <a:prstGeom prst="rect">
            <a:avLst/>
          </a:prstGeom>
          <a:noFill/>
          <a:ln/>
        </p:spPr>
        <p:txBody>
          <a:bodyPr wrap="square" lIns="0" tIns="0" rIns="0" bIns="0" rtlCol="0" anchor="t"/>
          <a:lstStyle/>
          <a:p>
            <a:pPr algn="ctr" indent="0" marL="0">
              <a:lnSpc>
                <a:spcPct val="115000"/>
              </a:lnSpc>
              <a:buNone/>
            </a:pPr>
            <a:r>
              <a:rPr lang="en-US" sz="1150" dirty="0">
                <a:solidFill>
                  <a:srgbClr val="52696C"/>
                </a:solidFill>
                <a:latin typeface="Calibri" pitchFamily="34" charset="0"/>
                <a:ea typeface="Calibri" pitchFamily="34" charset="-122"/>
                <a:cs typeface="Calibri" pitchFamily="34" charset="-120"/>
              </a:rPr>
              <a:t>Tolerancia cruzada a anestésicos, riesgo de síndrome de abstinencia y hepatopatía asociada.</a:t>
            </a:r>
            <a:endParaRPr lang="en-US" sz="1150" dirty="0"/>
          </a:p>
        </p:txBody>
      </p:sp>
      <p:sp>
        <p:nvSpPr>
          <p:cNvPr id="17" name="Shape 12"/>
          <p:cNvSpPr/>
          <p:nvPr/>
        </p:nvSpPr>
        <p:spPr>
          <a:xfrm>
            <a:off x="7955280" y="2423160"/>
            <a:ext cx="3429000" cy="3566160"/>
          </a:xfrm>
          <a:prstGeom prst="roundRect">
            <a:avLst>
              <a:gd name="adj" fmla="val 213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8" name="Shape 13"/>
          <p:cNvSpPr/>
          <p:nvPr/>
        </p:nvSpPr>
        <p:spPr>
          <a:xfrm>
            <a:off x="9258300" y="2697480"/>
            <a:ext cx="822960" cy="822960"/>
          </a:xfrm>
          <a:prstGeom prst="ellipse">
            <a:avLst/>
          </a:prstGeom>
          <a:solidFill>
            <a:srgbClr val="02C39A"/>
          </a:solidFill>
          <a:ln/>
        </p:spPr>
      </p:sp>
      <p:pic>
        <p:nvPicPr>
          <p:cNvPr id="19" name="Image 3" descr="/tmp/claude-0/-home-user-gpa-academy1/adc6e4aa-3b77-57c1-ba92-a8d4ee625c84/scratchpad/pptx_ch3/icons/dangerous_white.png">    </p:cNvPr>
          <p:cNvPicPr>
            <a:picLocks noChangeAspect="1"/>
          </p:cNvPicPr>
          <p:nvPr/>
        </p:nvPicPr>
        <p:blipFill>
          <a:blip r:embed="rId4"/>
          <a:stretch>
            <a:fillRect/>
          </a:stretch>
        </p:blipFill>
        <p:spPr>
          <a:xfrm>
            <a:off x="9464040" y="2903220"/>
            <a:ext cx="411480" cy="411480"/>
          </a:xfrm>
          <a:prstGeom prst="rect">
            <a:avLst/>
          </a:prstGeom>
        </p:spPr>
      </p:pic>
      <p:sp>
        <p:nvSpPr>
          <p:cNvPr id="20" name="Text 14"/>
          <p:cNvSpPr txBox="1"/>
          <p:nvPr/>
        </p:nvSpPr>
        <p:spPr>
          <a:xfrm>
            <a:off x="8138160" y="3657600"/>
            <a:ext cx="3063240" cy="365760"/>
          </a:xfrm>
          <a:prstGeom prst="rect">
            <a:avLst/>
          </a:prstGeom>
          <a:noFill/>
          <a:ln/>
        </p:spPr>
        <p:txBody>
          <a:bodyPr wrap="square" lIns="0" tIns="0" rIns="0" bIns="0"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Sustancias ilícitas</a:t>
            </a:r>
            <a:endParaRPr lang="en-US" sz="1500" dirty="0"/>
          </a:p>
        </p:txBody>
      </p:sp>
      <p:sp>
        <p:nvSpPr>
          <p:cNvPr id="21" name="Text 15"/>
          <p:cNvSpPr txBox="1"/>
          <p:nvPr/>
        </p:nvSpPr>
        <p:spPr>
          <a:xfrm>
            <a:off x="8229600" y="4069080"/>
            <a:ext cx="2880360" cy="1737360"/>
          </a:xfrm>
          <a:prstGeom prst="rect">
            <a:avLst/>
          </a:prstGeom>
          <a:noFill/>
          <a:ln/>
        </p:spPr>
        <p:txBody>
          <a:bodyPr wrap="square" lIns="0" tIns="0" rIns="0" bIns="0" rtlCol="0" anchor="t"/>
          <a:lstStyle/>
          <a:p>
            <a:pPr algn="ctr" indent="0" marL="0">
              <a:lnSpc>
                <a:spcPct val="115000"/>
              </a:lnSpc>
              <a:buNone/>
            </a:pPr>
            <a:r>
              <a:rPr lang="en-US" sz="1150" dirty="0">
                <a:solidFill>
                  <a:srgbClr val="52696C"/>
                </a:solidFill>
                <a:latin typeface="Calibri" pitchFamily="34" charset="0"/>
                <a:ea typeface="Calibri" pitchFamily="34" charset="-122"/>
                <a:cs typeface="Calibri" pitchFamily="34" charset="-120"/>
              </a:rPr>
              <a:t>Interacciones farmacológicas impredecibles y riesgo de intoxicación o abstinencia aguda.</a:t>
            </a:r>
            <a:endParaRPr lang="en-US" sz="1150" dirty="0"/>
          </a:p>
        </p:txBody>
      </p:sp>
      <p:sp>
        <p:nvSpPr>
          <p:cNvPr id="22" name="Text 16"/>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23" name="Text 17"/>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HÁBITOS TÓXICOS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Tabaquismo: impacto respiratorio, anestésico-quirúrgico y cese preoperatorio</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smoking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EFECTOS PERIOPERATORIOS DEL TABAQUISMO</a:t>
            </a:r>
            <a:endParaRPr lang="en-US" sz="1300" dirty="0"/>
          </a:p>
        </p:txBody>
      </p:sp>
      <p:sp>
        <p:nvSpPr>
          <p:cNvPr id="7" name="Text 4"/>
          <p:cNvSpPr txBox="1"/>
          <p:nvPr/>
        </p:nvSpPr>
        <p:spPr>
          <a:xfrm>
            <a:off x="548640" y="1901952"/>
            <a:ext cx="5394960" cy="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Disminución de la función mucociliar y aumento de secreciones bronquiales.</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Mayor reactividad de la vía aérea: riesgo de laringoespasmo y broncoespasmo.</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Niveles elevados de carboxihemoglobina, que reducen el transporte de oxígeno.</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Retraso en la cicatrización de heridas por vasoconstricción e hipoxia tisular.</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Aumento del riesgo de complicaciones pulmonares postoperatorias (atelectasia, neumonía).</a:t>
            </a:r>
            <a:endParaRPr lang="en-US" sz="1200" dirty="0"/>
          </a:p>
        </p:txBody>
      </p:sp>
      <p:sp>
        <p:nvSpPr>
          <p:cNvPr id="8" name="Text 5"/>
          <p:cNvSpPr txBox="1"/>
          <p:nvPr/>
        </p:nvSpPr>
        <p:spPr>
          <a:xfrm>
            <a:off x="6263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VENTANA DE CESE PREOPERATORIO Y BENEFICIO ESPERADO</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63640" y="1874520"/>
          <a:ext cx="5394960" cy="914400"/>
        </p:xfrm>
        <a:graphic>
          <a:graphicData uri="http://schemas.openxmlformats.org/drawingml/2006/table">
            <a:tbl>
              <a:tblPr/>
              <a:tblGrid>
                <a:gridCol w="1828800"/>
                <a:gridCol w="356616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Tiempo de cese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Beneficio fisiológico esperado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45720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12-24 horas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Disminuye la carboxihemoglobina y mejora el aporte de oxígeno tisular</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5720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48-72 horas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Mejora la función ciliar y reduce la reactividad de la vía aérea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1-2 semanas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Disminuyen las secreciones bronquiales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5720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4-8 semanas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Reducción significativa de complicaciones pulmonares y de herida quirúrgica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4800600"/>
            <a:ext cx="3291840" cy="1371600"/>
          </a:xfrm>
          <a:prstGeom prst="roundRect">
            <a:avLst>
              <a:gd name="adj" fmla="val 533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1" name="Text 7"/>
          <p:cNvSpPr txBox="1"/>
          <p:nvPr/>
        </p:nvSpPr>
        <p:spPr>
          <a:xfrm>
            <a:off x="685800" y="4892040"/>
            <a:ext cx="3017520" cy="566928"/>
          </a:xfrm>
          <a:prstGeom prst="rect">
            <a:avLst/>
          </a:prstGeom>
          <a:noFill/>
          <a:ln/>
        </p:spPr>
        <p:txBody>
          <a:bodyPr wrap="square" lIns="0" tIns="0" rIns="0" bIns="0" rtlCol="0" anchor="b"/>
          <a:lstStyle/>
          <a:p>
            <a:pPr algn="ctr" indent="0" marL="0">
              <a:buNone/>
            </a:pPr>
            <a:r>
              <a:rPr lang="en-US" sz="3400" b="1" dirty="0">
                <a:solidFill>
                  <a:srgbClr val="028090"/>
                </a:solidFill>
                <a:latin typeface="Cambria" pitchFamily="34" charset="0"/>
                <a:ea typeface="Cambria" pitchFamily="34" charset="-122"/>
                <a:cs typeface="Cambria" pitchFamily="34" charset="-120"/>
              </a:rPr>
              <a:t>≥4</a:t>
            </a:r>
            <a:endParaRPr lang="en-US" sz="3400" dirty="0"/>
          </a:p>
        </p:txBody>
      </p:sp>
      <p:sp>
        <p:nvSpPr>
          <p:cNvPr id="12" name="Text 8"/>
          <p:cNvSpPr txBox="1"/>
          <p:nvPr/>
        </p:nvSpPr>
        <p:spPr>
          <a:xfrm>
            <a:off x="685800" y="5513832"/>
            <a:ext cx="3017520" cy="256032"/>
          </a:xfrm>
          <a:prstGeom prst="rect">
            <a:avLst/>
          </a:prstGeom>
          <a:noFill/>
          <a:ln/>
        </p:spPr>
        <p:txBody>
          <a:bodyPr wrap="square" lIns="0" tIns="0" rIns="0" bIns="0" rtlCol="0" anchor="ctr"/>
          <a:lstStyle/>
          <a:p>
            <a:pPr algn="ctr" indent="0" marL="0">
              <a:buNone/>
            </a:pPr>
            <a:r>
              <a:rPr lang="en-US" sz="1150" b="1" dirty="0">
                <a:solidFill>
                  <a:srgbClr val="013A40"/>
                </a:solidFill>
                <a:latin typeface="Calibri" pitchFamily="34" charset="0"/>
                <a:ea typeface="Calibri" pitchFamily="34" charset="-122"/>
                <a:cs typeface="Calibri" pitchFamily="34" charset="-120"/>
              </a:rPr>
              <a:t>semanas de cese</a:t>
            </a:r>
            <a:endParaRPr lang="en-US" sz="1150" dirty="0"/>
          </a:p>
        </p:txBody>
      </p:sp>
      <p:sp>
        <p:nvSpPr>
          <p:cNvPr id="13" name="Text 9"/>
          <p:cNvSpPr txBox="1"/>
          <p:nvPr/>
        </p:nvSpPr>
        <p:spPr>
          <a:xfrm>
            <a:off x="685800" y="5788152"/>
            <a:ext cx="3017520" cy="274320"/>
          </a:xfrm>
          <a:prstGeom prst="rect">
            <a:avLst/>
          </a:prstGeom>
          <a:noFill/>
          <a:ln/>
        </p:spPr>
        <p:txBody>
          <a:bodyPr wrap="square" lIns="0" tIns="0" rIns="0" bIns="0" rtlCol="0" anchor="t"/>
          <a:lstStyle/>
          <a:p>
            <a:pPr algn="ctr" indent="0" marL="0">
              <a:lnSpc>
                <a:spcPct val="105000"/>
              </a:lnSpc>
              <a:buNone/>
            </a:pPr>
            <a:r>
              <a:rPr lang="en-US" sz="950" dirty="0">
                <a:solidFill>
                  <a:srgbClr val="52696C"/>
                </a:solidFill>
                <a:latin typeface="Calibri" pitchFamily="34" charset="0"/>
                <a:ea typeface="Calibri" pitchFamily="34" charset="-122"/>
                <a:cs typeface="Calibri" pitchFamily="34" charset="-120"/>
              </a:rPr>
              <a:t>Umbral asociado a menor riesgo de complicaciones</a:t>
            </a:r>
            <a:endParaRPr lang="en-US" sz="950" dirty="0"/>
          </a:p>
        </p:txBody>
      </p:sp>
      <p:sp>
        <p:nvSpPr>
          <p:cNvPr id="14" name="Shape 10"/>
          <p:cNvSpPr/>
          <p:nvPr/>
        </p:nvSpPr>
        <p:spPr>
          <a:xfrm>
            <a:off x="3977640" y="4800600"/>
            <a:ext cx="7635240" cy="1371600"/>
          </a:xfrm>
          <a:prstGeom prst="roundRect">
            <a:avLst>
              <a:gd name="adj" fmla="val 5333"/>
            </a:avLst>
          </a:prstGeom>
          <a:solidFill>
            <a:srgbClr val="EFF7F7"/>
          </a:solidFill>
          <a:ln/>
        </p:spPr>
      </p:sp>
      <p:sp>
        <p:nvSpPr>
          <p:cNvPr id="15" name="Shape 11"/>
          <p:cNvSpPr/>
          <p:nvPr/>
        </p:nvSpPr>
        <p:spPr>
          <a:xfrm>
            <a:off x="4178808" y="5248656"/>
            <a:ext cx="475488" cy="475488"/>
          </a:xfrm>
          <a:prstGeom prst="ellipse">
            <a:avLst/>
          </a:prstGeom>
          <a:solidFill>
            <a:srgbClr val="00A896"/>
          </a:solidFill>
          <a:ln/>
        </p:spPr>
      </p:sp>
      <p:pic>
        <p:nvPicPr>
          <p:cNvPr id="16" name="Image 1" descr="/tmp/claude-0/-home-user-gpa-academy1/adc6e4aa-3b77-57c1-ba92-a8d4ee625c84/scratchpad/pptx_ch3/icons/checklist_white.png">    </p:cNvPr>
          <p:cNvPicPr>
            <a:picLocks noChangeAspect="1"/>
          </p:cNvPicPr>
          <p:nvPr/>
        </p:nvPicPr>
        <p:blipFill>
          <a:blip r:embed="rId2"/>
          <a:stretch>
            <a:fillRect/>
          </a:stretch>
        </p:blipFill>
        <p:spPr>
          <a:xfrm>
            <a:off x="4283415" y="5353263"/>
            <a:ext cx="266273" cy="266273"/>
          </a:xfrm>
          <a:prstGeom prst="rect">
            <a:avLst/>
          </a:prstGeom>
        </p:spPr>
      </p:pic>
      <p:sp>
        <p:nvSpPr>
          <p:cNvPr id="17" name="Text 12"/>
          <p:cNvSpPr txBox="1"/>
          <p:nvPr/>
        </p:nvSpPr>
        <p:spPr>
          <a:xfrm>
            <a:off x="4800600" y="4928616"/>
            <a:ext cx="6629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Mensaje clínico para el paciente</a:t>
            </a:r>
            <a:endParaRPr lang="en-US" sz="1350" dirty="0"/>
          </a:p>
        </p:txBody>
      </p:sp>
      <p:sp>
        <p:nvSpPr>
          <p:cNvPr id="18" name="Text 13"/>
          <p:cNvSpPr txBox="1"/>
          <p:nvPr/>
        </p:nvSpPr>
        <p:spPr>
          <a:xfrm>
            <a:off x="4800600" y="5202936"/>
            <a:ext cx="6629400" cy="86868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Todo cese, incluso 12-24 horas antes de la cirugía, aporta beneficio fisiológico inmediato: nunca se debe desalentar el cese tabáquico por "ser demasiado tarde". El momento ideal para la intervención breve de cese es precisamente la consulta preanestésica.</a:t>
            </a:r>
            <a:endParaRPr lang="en-US" sz="1150" dirty="0"/>
          </a:p>
        </p:txBody>
      </p:sp>
      <p:sp>
        <p:nvSpPr>
          <p:cNvPr id="19" name="Text 14"/>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20" name="Text 15"/>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HÁBITOS TÓXICOS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Consumo de alcohol: implicaciones perioperatorias</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bar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6766560" cy="274320"/>
          </a:xfrm>
          <a:prstGeom prst="rect">
            <a:avLst/>
          </a:prstGeom>
          <a:noFill/>
          <a:ln/>
        </p:spPr>
        <p:txBody>
          <a:bodyPr wrap="square" lIns="0" tIns="0" rIns="0" bIns="0" rtlCol="0" anchor="ctr"/>
          <a:lstStyle/>
          <a:p>
            <a:pPr indent="0" marL="0">
              <a:buNone/>
            </a:pPr>
            <a:r>
              <a:rPr lang="en-US" sz="1200" b="1" spc="50" kern="0" dirty="0">
                <a:solidFill>
                  <a:srgbClr val="028090"/>
                </a:solidFill>
                <a:latin typeface="Calibri" pitchFamily="34" charset="0"/>
                <a:ea typeface="Calibri" pitchFamily="34" charset="-122"/>
                <a:cs typeface="Calibri" pitchFamily="34" charset="-120"/>
              </a:rPr>
              <a:t>CUESTIONARIO CAGE: TAMIZAJE RÁPIDO DE CONSUMO PROBLEMÁTICO</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01952"/>
          <a:ext cx="6583680" cy="914400"/>
        </p:xfrm>
        <a:graphic>
          <a:graphicData uri="http://schemas.openxmlformats.org/drawingml/2006/table">
            <a:tbl>
              <a:tblPr/>
              <a:tblGrid>
                <a:gridCol w="457200"/>
                <a:gridCol w="6126480"/>
              </a:tblGrid>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Cut down: ¿Ha sentido que debería reducir su consumo de alcohol?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Annoyed: ¿Se ha molestado por críticas hacia su forma de beber?</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G</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Guilty: ¿Se ha sentido culpable por su consumo de alcohol?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Eye-opener: ¿Ha necesitado beber al despertar para calmar los nervios?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bl>
          </a:graphicData>
        </a:graphic>
      </p:graphicFrame>
      <p:sp>
        <p:nvSpPr>
          <p:cNvPr id="8" name="Text 4"/>
          <p:cNvSpPr txBox="1"/>
          <p:nvPr/>
        </p:nvSpPr>
        <p:spPr>
          <a:xfrm>
            <a:off x="548640" y="3977640"/>
            <a:ext cx="6583680" cy="457200"/>
          </a:xfrm>
          <a:prstGeom prst="rect">
            <a:avLst/>
          </a:prstGeom>
          <a:noFill/>
          <a:ln/>
        </p:spPr>
        <p:txBody>
          <a:bodyPr wrap="square" lIns="0" tIns="0" rIns="0" bIns="0" rtlCol="0" anchor="ctr"/>
          <a:lstStyle/>
          <a:p>
            <a:pPr indent="0" marL="0">
              <a:lnSpc>
                <a:spcPct val="110000"/>
              </a:lnSpc>
              <a:buNone/>
            </a:pPr>
            <a:r>
              <a:rPr lang="en-US" sz="1100" i="1" dirty="0">
                <a:solidFill>
                  <a:srgbClr val="52696C"/>
                </a:solidFill>
                <a:latin typeface="Calibri" pitchFamily="34" charset="0"/>
                <a:ea typeface="Calibri" pitchFamily="34" charset="-122"/>
                <a:cs typeface="Calibri" pitchFamily="34" charset="-120"/>
              </a:rPr>
              <a:t>Dos o más respuestas afirmativas sugieren consumo problemático y ameritan valoración dirigida del riesgo de abstinencia.</a:t>
            </a:r>
            <a:endParaRPr lang="en-US" sz="1100" dirty="0"/>
          </a:p>
        </p:txBody>
      </p:sp>
      <p:sp>
        <p:nvSpPr>
          <p:cNvPr id="9" name="Shape 5"/>
          <p:cNvSpPr/>
          <p:nvPr/>
        </p:nvSpPr>
        <p:spPr>
          <a:xfrm>
            <a:off x="548640" y="4572000"/>
            <a:ext cx="6583680" cy="1417320"/>
          </a:xfrm>
          <a:prstGeom prst="roundRect">
            <a:avLst>
              <a:gd name="adj" fmla="val 5161"/>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0" name="Text 6"/>
          <p:cNvSpPr txBox="1"/>
          <p:nvPr/>
        </p:nvSpPr>
        <p:spPr>
          <a:xfrm>
            <a:off x="685800" y="4663440"/>
            <a:ext cx="6309360" cy="566928"/>
          </a:xfrm>
          <a:prstGeom prst="rect">
            <a:avLst/>
          </a:prstGeom>
          <a:noFill/>
          <a:ln/>
        </p:spPr>
        <p:txBody>
          <a:bodyPr wrap="square" lIns="0" tIns="0" rIns="0" bIns="0" rtlCol="0" anchor="b"/>
          <a:lstStyle/>
          <a:p>
            <a:pPr algn="ctr" indent="0" marL="0">
              <a:buNone/>
            </a:pPr>
            <a:r>
              <a:rPr lang="en-US" sz="3400" b="1" dirty="0">
                <a:solidFill>
                  <a:srgbClr val="00A896"/>
                </a:solidFill>
                <a:latin typeface="Cambria" pitchFamily="34" charset="0"/>
                <a:ea typeface="Cambria" pitchFamily="34" charset="-122"/>
                <a:cs typeface="Cambria" pitchFamily="34" charset="-120"/>
              </a:rPr>
              <a:t>6-96 h</a:t>
            </a:r>
            <a:endParaRPr lang="en-US" sz="3400" dirty="0"/>
          </a:p>
        </p:txBody>
      </p:sp>
      <p:sp>
        <p:nvSpPr>
          <p:cNvPr id="11" name="Text 7"/>
          <p:cNvSpPr txBox="1"/>
          <p:nvPr/>
        </p:nvSpPr>
        <p:spPr>
          <a:xfrm>
            <a:off x="685800" y="5285232"/>
            <a:ext cx="6309360" cy="256032"/>
          </a:xfrm>
          <a:prstGeom prst="rect">
            <a:avLst/>
          </a:prstGeom>
          <a:noFill/>
          <a:ln/>
        </p:spPr>
        <p:txBody>
          <a:bodyPr wrap="square" lIns="0" tIns="0" rIns="0" bIns="0" rtlCol="0" anchor="ctr"/>
          <a:lstStyle/>
          <a:p>
            <a:pPr algn="ctr" indent="0" marL="0">
              <a:buNone/>
            </a:pPr>
            <a:r>
              <a:rPr lang="en-US" sz="1150" b="1" dirty="0">
                <a:solidFill>
                  <a:srgbClr val="013A40"/>
                </a:solidFill>
                <a:latin typeface="Calibri" pitchFamily="34" charset="0"/>
                <a:ea typeface="Calibri" pitchFamily="34" charset="-122"/>
                <a:cs typeface="Calibri" pitchFamily="34" charset="-120"/>
              </a:rPr>
              <a:t>Ventana de riesgo de abstinencia alcohólica</a:t>
            </a:r>
            <a:endParaRPr lang="en-US" sz="1150" dirty="0"/>
          </a:p>
        </p:txBody>
      </p:sp>
      <p:sp>
        <p:nvSpPr>
          <p:cNvPr id="12" name="Text 8"/>
          <p:cNvSpPr txBox="1"/>
          <p:nvPr/>
        </p:nvSpPr>
        <p:spPr>
          <a:xfrm>
            <a:off x="685800" y="5559552"/>
            <a:ext cx="6309360" cy="301752"/>
          </a:xfrm>
          <a:prstGeom prst="rect">
            <a:avLst/>
          </a:prstGeom>
          <a:noFill/>
          <a:ln/>
        </p:spPr>
        <p:txBody>
          <a:bodyPr wrap="square" lIns="0" tIns="0" rIns="0" bIns="0" rtlCol="0" anchor="t"/>
          <a:lstStyle/>
          <a:p>
            <a:pPr algn="ctr" indent="0" marL="0">
              <a:lnSpc>
                <a:spcPct val="105000"/>
              </a:lnSpc>
              <a:buNone/>
            </a:pPr>
            <a:r>
              <a:rPr lang="en-US" sz="950" dirty="0">
                <a:solidFill>
                  <a:srgbClr val="52696C"/>
                </a:solidFill>
                <a:latin typeface="Calibri" pitchFamily="34" charset="0"/>
                <a:ea typeface="Calibri" pitchFamily="34" charset="-122"/>
                <a:cs typeface="Calibri" pitchFamily="34" charset="-120"/>
              </a:rPr>
              <a:t>Vigilancia estrecha del estado neurológico y autonómico en el postoperatorio de pacientes con consumo crónico significativo</a:t>
            </a:r>
            <a:endParaRPr lang="en-US" sz="950" dirty="0"/>
          </a:p>
        </p:txBody>
      </p:sp>
      <p:sp>
        <p:nvSpPr>
          <p:cNvPr id="13" name="Shape 9"/>
          <p:cNvSpPr/>
          <p:nvPr/>
        </p:nvSpPr>
        <p:spPr>
          <a:xfrm>
            <a:off x="7406640" y="1572768"/>
            <a:ext cx="4206240" cy="4434840"/>
          </a:xfrm>
          <a:prstGeom prst="roundRect">
            <a:avLst>
              <a:gd name="adj" fmla="val 1739"/>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4" name="Text 10"/>
          <p:cNvSpPr txBox="1"/>
          <p:nvPr/>
        </p:nvSpPr>
        <p:spPr>
          <a:xfrm>
            <a:off x="7635240" y="1755648"/>
            <a:ext cx="3749040" cy="320040"/>
          </a:xfrm>
          <a:prstGeom prst="rect">
            <a:avLst/>
          </a:prstGeom>
          <a:noFill/>
          <a:ln/>
        </p:spPr>
        <p:txBody>
          <a:bodyPr wrap="square" lIns="0" tIns="0" rIns="0" bIns="0"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Implicaciones anestésicas</a:t>
            </a:r>
            <a:endParaRPr lang="en-US" sz="1400" dirty="0"/>
          </a:p>
        </p:txBody>
      </p:sp>
      <p:sp>
        <p:nvSpPr>
          <p:cNvPr id="15" name="Text 11"/>
          <p:cNvSpPr txBox="1"/>
          <p:nvPr/>
        </p:nvSpPr>
        <p:spPr>
          <a:xfrm>
            <a:off x="7635240" y="2148840"/>
            <a:ext cx="3749040" cy="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Tolerancia cruzada: mayores requerimientos de hipnóticos y anestésicos inhalados en consumo crónico.</a:t>
            </a:r>
            <a:endParaRPr lang="en-US" sz="1100" dirty="0"/>
          </a:p>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Intoxicación aguda: mayor sensibilidad a depresores del SNC, riesgo de hipotensión e hipotermia.</a:t>
            </a:r>
            <a:endParaRPr lang="en-US" sz="1100" dirty="0"/>
          </a:p>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Riesgo de síndrome de abstinencia alcohólica entre las 6 y 96 horas postoperatorias: agitación, taquicardia, hipertensión, convulsiones y delirium tremens.</a:t>
            </a:r>
            <a:endParaRPr lang="en-US" sz="1100" dirty="0"/>
          </a:p>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Coagulopatía y disfunción hepática asociadas al consumo crónico (ver Child-Pugh).</a:t>
            </a:r>
            <a:endParaRPr lang="en-US" sz="1100" dirty="0"/>
          </a:p>
          <a:p>
            <a:pPr marL="342900" indent="-342900">
              <a:buSzPct val="100000"/>
              <a:buChar char="•"/>
            </a:pPr>
            <a:r>
              <a:rPr lang="en-US" sz="1100" dirty="0">
                <a:solidFill>
                  <a:srgbClr val="1B2E30"/>
                </a:solidFill>
                <a:latin typeface="Calibri" pitchFamily="34" charset="0"/>
                <a:ea typeface="Calibri" pitchFamily="34" charset="-122"/>
                <a:cs typeface="Calibri" pitchFamily="34" charset="-120"/>
              </a:rPr>
              <a:t>Déficit nutricional, incluyendo tiamina; considerar suplementación perioperatoria para prevenir encefalopatía de Wernicke.</a:t>
            </a:r>
            <a:endParaRPr lang="en-US" sz="1100" dirty="0"/>
          </a:p>
        </p:txBody>
      </p:sp>
      <p:sp>
        <p:nvSpPr>
          <p:cNvPr id="16" name="Text 12"/>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7" name="Text 13"/>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HÁBITOS TÓXICOS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Uso de sustancias ilícitas y su relevancia en la valoración anestésica</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dangerous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Shape 3"/>
          <p:cNvSpPr/>
          <p:nvPr/>
        </p:nvSpPr>
        <p:spPr>
          <a:xfrm>
            <a:off x="548640" y="1600200"/>
            <a:ext cx="5349240" cy="1371600"/>
          </a:xfrm>
          <a:prstGeom prst="roundRect">
            <a:avLst>
              <a:gd name="adj" fmla="val 533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7" name="Shape 4"/>
          <p:cNvSpPr/>
          <p:nvPr/>
        </p:nvSpPr>
        <p:spPr>
          <a:xfrm>
            <a:off x="777240" y="1801368"/>
            <a:ext cx="502920" cy="502920"/>
          </a:xfrm>
          <a:prstGeom prst="ellipse">
            <a:avLst/>
          </a:prstGeom>
          <a:solidFill>
            <a:srgbClr val="028090"/>
          </a:solidFill>
          <a:ln/>
        </p:spPr>
      </p:sp>
      <p:pic>
        <p:nvPicPr>
          <p:cNvPr id="8" name="Image 1" descr="/tmp/claude-0/-home-user-gpa-academy1/adc6e4aa-3b77-57c1-ba92-a8d4ee625c84/scratchpad/pptx_ch3/icons/pills_white.png">    </p:cNvPr>
          <p:cNvPicPr>
            <a:picLocks noChangeAspect="1"/>
          </p:cNvPicPr>
          <p:nvPr/>
        </p:nvPicPr>
        <p:blipFill>
          <a:blip r:embed="rId2"/>
          <a:stretch>
            <a:fillRect/>
          </a:stretch>
        </p:blipFill>
        <p:spPr>
          <a:xfrm>
            <a:off x="890397" y="1914525"/>
            <a:ext cx="276606" cy="276606"/>
          </a:xfrm>
          <a:prstGeom prst="rect">
            <a:avLst/>
          </a:prstGeom>
        </p:spPr>
      </p:pic>
      <p:sp>
        <p:nvSpPr>
          <p:cNvPr id="9" name="Text 5"/>
          <p:cNvSpPr txBox="1"/>
          <p:nvPr/>
        </p:nvSpPr>
        <p:spPr>
          <a:xfrm>
            <a:off x="1481328" y="1764792"/>
            <a:ext cx="4233672"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Cocaína y estimulantes</a:t>
            </a:r>
            <a:endParaRPr lang="en-US" sz="1300" dirty="0"/>
          </a:p>
        </p:txBody>
      </p:sp>
      <p:sp>
        <p:nvSpPr>
          <p:cNvPr id="10" name="Text 6"/>
          <p:cNvSpPr txBox="1"/>
          <p:nvPr/>
        </p:nvSpPr>
        <p:spPr>
          <a:xfrm>
            <a:off x="1481328" y="2029968"/>
            <a:ext cx="4233672" cy="822960"/>
          </a:xfrm>
          <a:prstGeom prst="rect">
            <a:avLst/>
          </a:prstGeom>
          <a:noFill/>
          <a:ln/>
        </p:spPr>
        <p:txBody>
          <a:bodyPr wrap="square" lIns="0" tIns="0" rIns="0" bIns="0" rtlCol="0" anchor="t"/>
          <a:lstStyle/>
          <a:p>
            <a:pPr indent="0" marL="0">
              <a:lnSpc>
                <a:spcPct val="110000"/>
              </a:lnSpc>
              <a:buNone/>
            </a:pPr>
            <a:r>
              <a:rPr lang="en-US" sz="1080" dirty="0">
                <a:solidFill>
                  <a:srgbClr val="52696C"/>
                </a:solidFill>
                <a:latin typeface="Calibri" pitchFamily="34" charset="0"/>
                <a:ea typeface="Calibri" pitchFamily="34" charset="-122"/>
                <a:cs typeface="Calibri" pitchFamily="34" charset="-120"/>
              </a:rPr>
              <a:t>Riesgo de isquemia miocárdica, arritmias e hipertensión severa; evitar efedrina y ketamina por efecto simpaticomimético aditivo.</a:t>
            </a:r>
            <a:endParaRPr lang="en-US" sz="1080" dirty="0"/>
          </a:p>
        </p:txBody>
      </p:sp>
      <p:sp>
        <p:nvSpPr>
          <p:cNvPr id="11" name="Shape 7"/>
          <p:cNvSpPr/>
          <p:nvPr/>
        </p:nvSpPr>
        <p:spPr>
          <a:xfrm>
            <a:off x="6126480" y="1600200"/>
            <a:ext cx="5349240" cy="1371600"/>
          </a:xfrm>
          <a:prstGeom prst="roundRect">
            <a:avLst>
              <a:gd name="adj" fmla="val 533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2" name="Shape 8"/>
          <p:cNvSpPr/>
          <p:nvPr/>
        </p:nvSpPr>
        <p:spPr>
          <a:xfrm>
            <a:off x="6355080" y="1801368"/>
            <a:ext cx="502920" cy="502920"/>
          </a:xfrm>
          <a:prstGeom prst="ellipse">
            <a:avLst/>
          </a:prstGeom>
          <a:solidFill>
            <a:srgbClr val="00A896"/>
          </a:solidFill>
          <a:ln/>
        </p:spPr>
      </p:sp>
      <p:pic>
        <p:nvPicPr>
          <p:cNvPr id="13" name="Image 2" descr="/tmp/claude-0/-home-user-gpa-academy1/adc6e4aa-3b77-57c1-ba92-a8d4ee625c84/scratchpad/pptx_ch3/icons/smoking_white.png">    </p:cNvPr>
          <p:cNvPicPr>
            <a:picLocks noChangeAspect="1"/>
          </p:cNvPicPr>
          <p:nvPr/>
        </p:nvPicPr>
        <p:blipFill>
          <a:blip r:embed="rId3"/>
          <a:stretch>
            <a:fillRect/>
          </a:stretch>
        </p:blipFill>
        <p:spPr>
          <a:xfrm>
            <a:off x="6468237" y="1914525"/>
            <a:ext cx="276606" cy="276606"/>
          </a:xfrm>
          <a:prstGeom prst="rect">
            <a:avLst/>
          </a:prstGeom>
        </p:spPr>
      </p:pic>
      <p:sp>
        <p:nvSpPr>
          <p:cNvPr id="14" name="Text 9"/>
          <p:cNvSpPr txBox="1"/>
          <p:nvPr/>
        </p:nvSpPr>
        <p:spPr>
          <a:xfrm>
            <a:off x="7059168" y="1764792"/>
            <a:ext cx="4233672"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Cannabis</a:t>
            </a:r>
            <a:endParaRPr lang="en-US" sz="1300" dirty="0"/>
          </a:p>
        </p:txBody>
      </p:sp>
      <p:sp>
        <p:nvSpPr>
          <p:cNvPr id="15" name="Text 10"/>
          <p:cNvSpPr txBox="1"/>
          <p:nvPr/>
        </p:nvSpPr>
        <p:spPr>
          <a:xfrm>
            <a:off x="7059168" y="2029968"/>
            <a:ext cx="4233672" cy="822960"/>
          </a:xfrm>
          <a:prstGeom prst="rect">
            <a:avLst/>
          </a:prstGeom>
          <a:noFill/>
          <a:ln/>
        </p:spPr>
        <p:txBody>
          <a:bodyPr wrap="square" lIns="0" tIns="0" rIns="0" bIns="0" rtlCol="0" anchor="t"/>
          <a:lstStyle/>
          <a:p>
            <a:pPr indent="0" marL="0">
              <a:lnSpc>
                <a:spcPct val="110000"/>
              </a:lnSpc>
              <a:buNone/>
            </a:pPr>
            <a:r>
              <a:rPr lang="en-US" sz="1080" dirty="0">
                <a:solidFill>
                  <a:srgbClr val="52696C"/>
                </a:solidFill>
                <a:latin typeface="Calibri" pitchFamily="34" charset="0"/>
                <a:ea typeface="Calibri" pitchFamily="34" charset="-122"/>
                <a:cs typeface="Calibri" pitchFamily="34" charset="-120"/>
              </a:rPr>
              <a:t>Tolerancia cruzada con anestésicos, mayor requerimiento de hipnóticos; riesgo de hiperreactividad de vía aérea si se fuma.</a:t>
            </a:r>
            <a:endParaRPr lang="en-US" sz="1080" dirty="0"/>
          </a:p>
        </p:txBody>
      </p:sp>
      <p:sp>
        <p:nvSpPr>
          <p:cNvPr id="16" name="Shape 11"/>
          <p:cNvSpPr/>
          <p:nvPr/>
        </p:nvSpPr>
        <p:spPr>
          <a:xfrm>
            <a:off x="548640" y="3154680"/>
            <a:ext cx="5349240" cy="1371600"/>
          </a:xfrm>
          <a:prstGeom prst="roundRect">
            <a:avLst>
              <a:gd name="adj" fmla="val 533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7" name="Shape 12"/>
          <p:cNvSpPr/>
          <p:nvPr/>
        </p:nvSpPr>
        <p:spPr>
          <a:xfrm>
            <a:off x="777240" y="3355848"/>
            <a:ext cx="502920" cy="502920"/>
          </a:xfrm>
          <a:prstGeom prst="ellipse">
            <a:avLst/>
          </a:prstGeom>
          <a:solidFill>
            <a:srgbClr val="02C39A"/>
          </a:solidFill>
          <a:ln/>
        </p:spPr>
      </p:sp>
      <p:pic>
        <p:nvPicPr>
          <p:cNvPr id="18" name="Image 3" descr="/tmp/claude-0/-home-user-gpa-academy1/adc6e4aa-3b77-57c1-ba92-a8d4ee625c84/scratchpad/pptx_ch3/icons/syringe_white.png">    </p:cNvPr>
          <p:cNvPicPr>
            <a:picLocks noChangeAspect="1"/>
          </p:cNvPicPr>
          <p:nvPr/>
        </p:nvPicPr>
        <p:blipFill>
          <a:blip r:embed="rId4"/>
          <a:stretch>
            <a:fillRect/>
          </a:stretch>
        </p:blipFill>
        <p:spPr>
          <a:xfrm>
            <a:off x="890397" y="3469005"/>
            <a:ext cx="276606" cy="276606"/>
          </a:xfrm>
          <a:prstGeom prst="rect">
            <a:avLst/>
          </a:prstGeom>
        </p:spPr>
      </p:pic>
      <p:sp>
        <p:nvSpPr>
          <p:cNvPr id="19" name="Text 13"/>
          <p:cNvSpPr txBox="1"/>
          <p:nvPr/>
        </p:nvSpPr>
        <p:spPr>
          <a:xfrm>
            <a:off x="1481328" y="3319272"/>
            <a:ext cx="4233672"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Opioides ilícitos</a:t>
            </a:r>
            <a:endParaRPr lang="en-US" sz="1300" dirty="0"/>
          </a:p>
        </p:txBody>
      </p:sp>
      <p:sp>
        <p:nvSpPr>
          <p:cNvPr id="20" name="Text 14"/>
          <p:cNvSpPr txBox="1"/>
          <p:nvPr/>
        </p:nvSpPr>
        <p:spPr>
          <a:xfrm>
            <a:off x="1481328" y="3584448"/>
            <a:ext cx="4233672" cy="822960"/>
          </a:xfrm>
          <a:prstGeom prst="rect">
            <a:avLst/>
          </a:prstGeom>
          <a:noFill/>
          <a:ln/>
        </p:spPr>
        <p:txBody>
          <a:bodyPr wrap="square" lIns="0" tIns="0" rIns="0" bIns="0" rtlCol="0" anchor="t"/>
          <a:lstStyle/>
          <a:p>
            <a:pPr indent="0" marL="0">
              <a:lnSpc>
                <a:spcPct val="110000"/>
              </a:lnSpc>
              <a:buNone/>
            </a:pPr>
            <a:r>
              <a:rPr lang="en-US" sz="1080" dirty="0">
                <a:solidFill>
                  <a:srgbClr val="52696C"/>
                </a:solidFill>
                <a:latin typeface="Calibri" pitchFamily="34" charset="0"/>
                <a:ea typeface="Calibri" pitchFamily="34" charset="-122"/>
                <a:cs typeface="Calibri" pitchFamily="34" charset="-120"/>
              </a:rPr>
              <a:t>Tolerancia marcada a opioides, riesgo de abstinencia aguda; requiere estrategias multimodales de analgesia.</a:t>
            </a:r>
            <a:endParaRPr lang="en-US" sz="1080" dirty="0"/>
          </a:p>
        </p:txBody>
      </p:sp>
      <p:sp>
        <p:nvSpPr>
          <p:cNvPr id="21" name="Shape 15"/>
          <p:cNvSpPr/>
          <p:nvPr/>
        </p:nvSpPr>
        <p:spPr>
          <a:xfrm>
            <a:off x="6126480" y="3154680"/>
            <a:ext cx="5349240" cy="1371600"/>
          </a:xfrm>
          <a:prstGeom prst="roundRect">
            <a:avLst>
              <a:gd name="adj" fmla="val 533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2" name="Shape 16"/>
          <p:cNvSpPr/>
          <p:nvPr/>
        </p:nvSpPr>
        <p:spPr>
          <a:xfrm>
            <a:off x="6355080" y="3355848"/>
            <a:ext cx="502920" cy="502920"/>
          </a:xfrm>
          <a:prstGeom prst="ellipse">
            <a:avLst/>
          </a:prstGeom>
          <a:solidFill>
            <a:srgbClr val="028090"/>
          </a:solidFill>
          <a:ln/>
        </p:spPr>
      </p:sp>
      <p:pic>
        <p:nvPicPr>
          <p:cNvPr id="23" name="Image 4" descr="/tmp/claude-0/-home-user-gpa-academy1/adc6e4aa-3b77-57c1-ba92-a8d4ee625c84/scratchpad/pptx_ch3/icons/brain_white.png">    </p:cNvPr>
          <p:cNvPicPr>
            <a:picLocks noChangeAspect="1"/>
          </p:cNvPicPr>
          <p:nvPr/>
        </p:nvPicPr>
        <p:blipFill>
          <a:blip r:embed="rId5"/>
          <a:stretch>
            <a:fillRect/>
          </a:stretch>
        </p:blipFill>
        <p:spPr>
          <a:xfrm>
            <a:off x="6468237" y="3469005"/>
            <a:ext cx="276606" cy="276606"/>
          </a:xfrm>
          <a:prstGeom prst="rect">
            <a:avLst/>
          </a:prstGeom>
        </p:spPr>
      </p:pic>
      <p:sp>
        <p:nvSpPr>
          <p:cNvPr id="24" name="Text 17"/>
          <p:cNvSpPr txBox="1"/>
          <p:nvPr/>
        </p:nvSpPr>
        <p:spPr>
          <a:xfrm>
            <a:off x="7059168" y="3319272"/>
            <a:ext cx="4233672"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Depresores / sedantes</a:t>
            </a:r>
            <a:endParaRPr lang="en-US" sz="1300" dirty="0"/>
          </a:p>
        </p:txBody>
      </p:sp>
      <p:sp>
        <p:nvSpPr>
          <p:cNvPr id="25" name="Text 18"/>
          <p:cNvSpPr txBox="1"/>
          <p:nvPr/>
        </p:nvSpPr>
        <p:spPr>
          <a:xfrm>
            <a:off x="7059168" y="3584448"/>
            <a:ext cx="4233672" cy="822960"/>
          </a:xfrm>
          <a:prstGeom prst="rect">
            <a:avLst/>
          </a:prstGeom>
          <a:noFill/>
          <a:ln/>
        </p:spPr>
        <p:txBody>
          <a:bodyPr wrap="square" lIns="0" tIns="0" rIns="0" bIns="0" rtlCol="0" anchor="t"/>
          <a:lstStyle/>
          <a:p>
            <a:pPr indent="0" marL="0">
              <a:lnSpc>
                <a:spcPct val="110000"/>
              </a:lnSpc>
              <a:buNone/>
            </a:pPr>
            <a:r>
              <a:rPr lang="en-US" sz="1080" dirty="0">
                <a:solidFill>
                  <a:srgbClr val="52696C"/>
                </a:solidFill>
                <a:latin typeface="Calibri" pitchFamily="34" charset="0"/>
                <a:ea typeface="Calibri" pitchFamily="34" charset="-122"/>
                <a:cs typeface="Calibri" pitchFamily="34" charset="-120"/>
              </a:rPr>
              <a:t>Riesgo de potenciación con anestésicos y de síndrome de abstinencia con convulsiones si el consumo es crónico.</a:t>
            </a:r>
            <a:endParaRPr lang="en-US" sz="1080" dirty="0"/>
          </a:p>
        </p:txBody>
      </p:sp>
      <p:sp>
        <p:nvSpPr>
          <p:cNvPr id="26" name="Shape 19"/>
          <p:cNvSpPr/>
          <p:nvPr/>
        </p:nvSpPr>
        <p:spPr>
          <a:xfrm>
            <a:off x="548640" y="4800600"/>
            <a:ext cx="11064240" cy="1188720"/>
          </a:xfrm>
          <a:prstGeom prst="roundRect">
            <a:avLst>
              <a:gd name="adj" fmla="val 6154"/>
            </a:avLst>
          </a:prstGeom>
          <a:solidFill>
            <a:srgbClr val="FCEEEC"/>
          </a:solidFill>
          <a:ln/>
        </p:spPr>
      </p:sp>
      <p:sp>
        <p:nvSpPr>
          <p:cNvPr id="27" name="Shape 20"/>
          <p:cNvSpPr/>
          <p:nvPr/>
        </p:nvSpPr>
        <p:spPr>
          <a:xfrm>
            <a:off x="749808" y="5157216"/>
            <a:ext cx="475488" cy="475488"/>
          </a:xfrm>
          <a:prstGeom prst="ellipse">
            <a:avLst/>
          </a:prstGeom>
          <a:solidFill>
            <a:srgbClr val="C0392B"/>
          </a:solidFill>
          <a:ln/>
        </p:spPr>
      </p:sp>
      <p:pic>
        <p:nvPicPr>
          <p:cNvPr id="28" name="Image 5" descr="/tmp/claude-0/-home-user-gpa-academy1/adc6e4aa-3b77-57c1-ba92-a8d4ee625c84/scratchpad/pptx_ch3/icons/warning_white.png">    </p:cNvPr>
          <p:cNvPicPr>
            <a:picLocks noChangeAspect="1"/>
          </p:cNvPicPr>
          <p:nvPr/>
        </p:nvPicPr>
        <p:blipFill>
          <a:blip r:embed="rId6"/>
          <a:stretch>
            <a:fillRect/>
          </a:stretch>
        </p:blipFill>
        <p:spPr>
          <a:xfrm>
            <a:off x="854415" y="5261823"/>
            <a:ext cx="266273" cy="266273"/>
          </a:xfrm>
          <a:prstGeom prst="rect">
            <a:avLst/>
          </a:prstGeom>
        </p:spPr>
      </p:pic>
      <p:sp>
        <p:nvSpPr>
          <p:cNvPr id="29" name="Text 21"/>
          <p:cNvSpPr txBox="1"/>
          <p:nvPr/>
        </p:nvSpPr>
        <p:spPr>
          <a:xfrm>
            <a:off x="1371600" y="4928616"/>
            <a:ext cx="10058400" cy="256032"/>
          </a:xfrm>
          <a:prstGeom prst="rect">
            <a:avLst/>
          </a:prstGeom>
          <a:noFill/>
          <a:ln/>
        </p:spPr>
        <p:txBody>
          <a:bodyPr wrap="square" lIns="0" tIns="0" rIns="0" bIns="0" rtlCol="0" anchor="ctr"/>
          <a:lstStyle/>
          <a:p>
            <a:pPr indent="0" marL="0">
              <a:buNone/>
            </a:pPr>
            <a:r>
              <a:rPr lang="en-US" sz="1350" b="1" dirty="0">
                <a:solidFill>
                  <a:srgbClr val="7A2A1F"/>
                </a:solidFill>
                <a:latin typeface="Cambria" pitchFamily="34" charset="0"/>
                <a:ea typeface="Cambria" pitchFamily="34" charset="-122"/>
                <a:cs typeface="Cambria" pitchFamily="34" charset="-120"/>
              </a:rPr>
              <a:t>Conducta clínica ante consumo activo o reciente</a:t>
            </a:r>
            <a:endParaRPr lang="en-US" sz="1350" dirty="0"/>
          </a:p>
        </p:txBody>
      </p:sp>
      <p:sp>
        <p:nvSpPr>
          <p:cNvPr id="30" name="Text 22"/>
          <p:cNvSpPr txBox="1"/>
          <p:nvPr/>
        </p:nvSpPr>
        <p:spPr>
          <a:xfrm>
            <a:off x="1371600" y="5202936"/>
            <a:ext cx="10058400" cy="685800"/>
          </a:xfrm>
          <a:prstGeom prst="rect">
            <a:avLst/>
          </a:prstGeom>
          <a:noFill/>
          <a:ln/>
        </p:spPr>
        <p:txBody>
          <a:bodyPr wrap="square" lIns="0" tIns="0" rIns="0" bIns="0" rtlCol="0" anchor="t"/>
          <a:lstStyle/>
          <a:p>
            <a:pPr indent="0" marL="0">
              <a:lnSpc>
                <a:spcPct val="112000"/>
              </a:lnSpc>
              <a:buNone/>
            </a:pPr>
            <a:r>
              <a:rPr lang="en-US" sz="1150" dirty="0">
                <a:solidFill>
                  <a:srgbClr val="7A2A1F"/>
                </a:solidFill>
                <a:latin typeface="Calibri" pitchFamily="34" charset="0"/>
                <a:ea typeface="Calibri" pitchFamily="34" charset="-122"/>
                <a:cs typeface="Calibri" pitchFamily="34" charset="-120"/>
              </a:rPr>
              <a:t>Interrogar el tiempo transcurrido desde el último consumo, la vía de administración y la presencia de síntomas de intoxicación o abstinencia. Cuando sea posible, diferir la cirugía electiva en intoxicación aguda; en consumo crónico, planificar estrategias analgésicas multimodales y coordinar con equipos de manejo de dolor y adicciones.</a:t>
            </a:r>
            <a:endParaRPr lang="en-US" sz="1150" dirty="0"/>
          </a:p>
        </p:txBody>
      </p:sp>
      <p:sp>
        <p:nvSpPr>
          <p:cNvPr id="31" name="Text 23"/>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2" name="Text 24"/>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FARMACOLOGÍA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Historial farmacológico: medicamentos de uso crónico del paciente</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pharmacy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36192"/>
            <a:ext cx="11064240" cy="502920"/>
          </a:xfrm>
          <a:prstGeom prst="rect">
            <a:avLst/>
          </a:prstGeom>
          <a:noFill/>
          <a:ln/>
        </p:spPr>
        <p:txBody>
          <a:bodyPr wrap="square" lIns="0" tIns="0" rIns="0" bIns="0" rtlCol="0" anchor="ctr"/>
          <a:lstStyle/>
          <a:p>
            <a:pPr indent="0" marL="0">
              <a:lnSpc>
                <a:spcPct val="115000"/>
              </a:lnSpc>
              <a:buNone/>
            </a:pPr>
            <a:r>
              <a:rPr lang="en-US" sz="1300" dirty="0">
                <a:solidFill>
                  <a:srgbClr val="1B2E30"/>
                </a:solidFill>
                <a:latin typeface="Calibri" pitchFamily="34" charset="0"/>
                <a:ea typeface="Calibri" pitchFamily="34" charset="-122"/>
                <a:cs typeface="Calibri" pitchFamily="34" charset="-120"/>
              </a:rPr>
              <a:t>La reconciliación farmacológica completa —incluyendo dosis, horario y adherencia— es indispensable para decidir qué medicamentos continuar, ajustar o suspender antes de la cirugía.</a:t>
            </a:r>
            <a:endParaRPr lang="en-US" sz="1300" dirty="0"/>
          </a:p>
        </p:txBody>
      </p:sp>
      <p:sp>
        <p:nvSpPr>
          <p:cNvPr id="7" name="Shape 4"/>
          <p:cNvSpPr/>
          <p:nvPr/>
        </p:nvSpPr>
        <p:spPr>
          <a:xfrm>
            <a:off x="548640" y="2240280"/>
            <a:ext cx="3520440" cy="1783080"/>
          </a:xfrm>
          <a:prstGeom prst="roundRect">
            <a:avLst>
              <a:gd name="adj" fmla="val 410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8" name="Shape 5"/>
          <p:cNvSpPr/>
          <p:nvPr/>
        </p:nvSpPr>
        <p:spPr>
          <a:xfrm>
            <a:off x="749808" y="2423160"/>
            <a:ext cx="457200" cy="457200"/>
          </a:xfrm>
          <a:prstGeom prst="ellipse">
            <a:avLst/>
          </a:prstGeom>
          <a:solidFill>
            <a:srgbClr val="028090"/>
          </a:solidFill>
          <a:ln/>
        </p:spPr>
      </p:sp>
      <p:pic>
        <p:nvPicPr>
          <p:cNvPr id="9" name="Image 1" descr="/tmp/claude-0/-home-user-gpa-academy1/adc6e4aa-3b77-57c1-ba92-a8d4ee625c84/scratchpad/pptx_ch3/icons/heart_white.png">    </p:cNvPr>
          <p:cNvPicPr>
            <a:picLocks noChangeAspect="1"/>
          </p:cNvPicPr>
          <p:nvPr/>
        </p:nvPicPr>
        <p:blipFill>
          <a:blip r:embed="rId2"/>
          <a:stretch>
            <a:fillRect/>
          </a:stretch>
        </p:blipFill>
        <p:spPr>
          <a:xfrm>
            <a:off x="852678" y="2526030"/>
            <a:ext cx="251460" cy="251460"/>
          </a:xfrm>
          <a:prstGeom prst="rect">
            <a:avLst/>
          </a:prstGeom>
        </p:spPr>
      </p:pic>
      <p:sp>
        <p:nvSpPr>
          <p:cNvPr id="10" name="Text 6"/>
          <p:cNvSpPr txBox="1"/>
          <p:nvPr/>
        </p:nvSpPr>
        <p:spPr>
          <a:xfrm>
            <a:off x="749808" y="2990088"/>
            <a:ext cx="310896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Cardiovasculares</a:t>
            </a:r>
            <a:endParaRPr lang="en-US" sz="1250" dirty="0"/>
          </a:p>
        </p:txBody>
      </p:sp>
      <p:sp>
        <p:nvSpPr>
          <p:cNvPr id="11" name="Text 7"/>
          <p:cNvSpPr txBox="1"/>
          <p:nvPr/>
        </p:nvSpPr>
        <p:spPr>
          <a:xfrm>
            <a:off x="749808" y="3246120"/>
            <a:ext cx="3108960" cy="68580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Antihipertensivos, betabloqueadores, antiarrítmicos, estatinas.</a:t>
            </a:r>
            <a:endParaRPr lang="en-US" sz="1050" dirty="0"/>
          </a:p>
        </p:txBody>
      </p:sp>
      <p:sp>
        <p:nvSpPr>
          <p:cNvPr id="12" name="Shape 8"/>
          <p:cNvSpPr/>
          <p:nvPr/>
        </p:nvSpPr>
        <p:spPr>
          <a:xfrm>
            <a:off x="4251960" y="2240280"/>
            <a:ext cx="3520440" cy="1783080"/>
          </a:xfrm>
          <a:prstGeom prst="roundRect">
            <a:avLst>
              <a:gd name="adj" fmla="val 410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3" name="Shape 9"/>
          <p:cNvSpPr/>
          <p:nvPr/>
        </p:nvSpPr>
        <p:spPr>
          <a:xfrm>
            <a:off x="4453128" y="2423160"/>
            <a:ext cx="457200" cy="457200"/>
          </a:xfrm>
          <a:prstGeom prst="ellipse">
            <a:avLst/>
          </a:prstGeom>
          <a:solidFill>
            <a:srgbClr val="00A896"/>
          </a:solidFill>
          <a:ln/>
        </p:spPr>
      </p:sp>
      <p:pic>
        <p:nvPicPr>
          <p:cNvPr id="14" name="Image 2" descr="/tmp/claude-0/-home-user-gpa-academy1/adc6e4aa-3b77-57c1-ba92-a8d4ee625c84/scratchpad/pptx_ch3/icons/pills_white.png">    </p:cNvPr>
          <p:cNvPicPr>
            <a:picLocks noChangeAspect="1"/>
          </p:cNvPicPr>
          <p:nvPr/>
        </p:nvPicPr>
        <p:blipFill>
          <a:blip r:embed="rId3"/>
          <a:stretch>
            <a:fillRect/>
          </a:stretch>
        </p:blipFill>
        <p:spPr>
          <a:xfrm>
            <a:off x="4555998" y="2526030"/>
            <a:ext cx="251460" cy="251460"/>
          </a:xfrm>
          <a:prstGeom prst="rect">
            <a:avLst/>
          </a:prstGeom>
        </p:spPr>
      </p:pic>
      <p:sp>
        <p:nvSpPr>
          <p:cNvPr id="15" name="Text 10"/>
          <p:cNvSpPr txBox="1"/>
          <p:nvPr/>
        </p:nvSpPr>
        <p:spPr>
          <a:xfrm>
            <a:off x="4453128" y="2990088"/>
            <a:ext cx="310896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Antidiabéticos</a:t>
            </a:r>
            <a:endParaRPr lang="en-US" sz="1250" dirty="0"/>
          </a:p>
        </p:txBody>
      </p:sp>
      <p:sp>
        <p:nvSpPr>
          <p:cNvPr id="16" name="Text 11"/>
          <p:cNvSpPr txBox="1"/>
          <p:nvPr/>
        </p:nvSpPr>
        <p:spPr>
          <a:xfrm>
            <a:off x="4453128" y="3246120"/>
            <a:ext cx="3108960" cy="68580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Insulina, metformina, sulfonilureas, iSGLT2, agonistas GLP-1.</a:t>
            </a:r>
            <a:endParaRPr lang="en-US" sz="1050" dirty="0"/>
          </a:p>
        </p:txBody>
      </p:sp>
      <p:sp>
        <p:nvSpPr>
          <p:cNvPr id="17" name="Shape 12"/>
          <p:cNvSpPr/>
          <p:nvPr/>
        </p:nvSpPr>
        <p:spPr>
          <a:xfrm>
            <a:off x="7955280" y="2240280"/>
            <a:ext cx="3520440" cy="1783080"/>
          </a:xfrm>
          <a:prstGeom prst="roundRect">
            <a:avLst>
              <a:gd name="adj" fmla="val 410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8" name="Shape 13"/>
          <p:cNvSpPr/>
          <p:nvPr/>
        </p:nvSpPr>
        <p:spPr>
          <a:xfrm>
            <a:off x="8156448" y="2423160"/>
            <a:ext cx="457200" cy="457200"/>
          </a:xfrm>
          <a:prstGeom prst="ellipse">
            <a:avLst/>
          </a:prstGeom>
          <a:solidFill>
            <a:srgbClr val="02C39A"/>
          </a:solidFill>
          <a:ln/>
        </p:spPr>
      </p:sp>
      <p:pic>
        <p:nvPicPr>
          <p:cNvPr id="19" name="Image 3" descr="/tmp/claude-0/-home-user-gpa-academy1/adc6e4aa-3b77-57c1-ba92-a8d4ee625c84/scratchpad/pptx_ch3/icons/brain_white.png">    </p:cNvPr>
          <p:cNvPicPr>
            <a:picLocks noChangeAspect="1"/>
          </p:cNvPicPr>
          <p:nvPr/>
        </p:nvPicPr>
        <p:blipFill>
          <a:blip r:embed="rId4"/>
          <a:stretch>
            <a:fillRect/>
          </a:stretch>
        </p:blipFill>
        <p:spPr>
          <a:xfrm>
            <a:off x="8259318" y="2526030"/>
            <a:ext cx="251460" cy="251460"/>
          </a:xfrm>
          <a:prstGeom prst="rect">
            <a:avLst/>
          </a:prstGeom>
        </p:spPr>
      </p:pic>
      <p:sp>
        <p:nvSpPr>
          <p:cNvPr id="20" name="Text 14"/>
          <p:cNvSpPr txBox="1"/>
          <p:nvPr/>
        </p:nvSpPr>
        <p:spPr>
          <a:xfrm>
            <a:off x="8156448" y="2990088"/>
            <a:ext cx="310896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Neuropsiquiátricos</a:t>
            </a:r>
            <a:endParaRPr lang="en-US" sz="1250" dirty="0"/>
          </a:p>
        </p:txBody>
      </p:sp>
      <p:sp>
        <p:nvSpPr>
          <p:cNvPr id="21" name="Text 15"/>
          <p:cNvSpPr txBox="1"/>
          <p:nvPr/>
        </p:nvSpPr>
        <p:spPr>
          <a:xfrm>
            <a:off x="8156448" y="3246120"/>
            <a:ext cx="3108960" cy="68580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Antidepresivos, ansiolíticos, antiepilépticos, antipsicóticos.</a:t>
            </a:r>
            <a:endParaRPr lang="en-US" sz="1050" dirty="0"/>
          </a:p>
        </p:txBody>
      </p:sp>
      <p:sp>
        <p:nvSpPr>
          <p:cNvPr id="22" name="Shape 16"/>
          <p:cNvSpPr/>
          <p:nvPr/>
        </p:nvSpPr>
        <p:spPr>
          <a:xfrm>
            <a:off x="548640" y="4206240"/>
            <a:ext cx="3520440" cy="1783080"/>
          </a:xfrm>
          <a:prstGeom prst="roundRect">
            <a:avLst>
              <a:gd name="adj" fmla="val 410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3" name="Shape 17"/>
          <p:cNvSpPr/>
          <p:nvPr/>
        </p:nvSpPr>
        <p:spPr>
          <a:xfrm>
            <a:off x="749808" y="4389120"/>
            <a:ext cx="457200" cy="457200"/>
          </a:xfrm>
          <a:prstGeom prst="ellipse">
            <a:avLst/>
          </a:prstGeom>
          <a:solidFill>
            <a:srgbClr val="028090"/>
          </a:solidFill>
          <a:ln/>
        </p:spPr>
      </p:sp>
      <p:pic>
        <p:nvPicPr>
          <p:cNvPr id="24" name="Image 4" descr="/tmp/claude-0/-home-user-gpa-academy1/adc6e4aa-3b77-57c1-ba92-a8d4ee625c84/scratchpad/pptx_ch3/icons/vaccine_white.png">    </p:cNvPr>
          <p:cNvPicPr>
            <a:picLocks noChangeAspect="1"/>
          </p:cNvPicPr>
          <p:nvPr/>
        </p:nvPicPr>
        <p:blipFill>
          <a:blip r:embed="rId5"/>
          <a:stretch>
            <a:fillRect/>
          </a:stretch>
        </p:blipFill>
        <p:spPr>
          <a:xfrm>
            <a:off x="852678" y="4491990"/>
            <a:ext cx="251460" cy="251460"/>
          </a:xfrm>
          <a:prstGeom prst="rect">
            <a:avLst/>
          </a:prstGeom>
        </p:spPr>
      </p:pic>
      <p:sp>
        <p:nvSpPr>
          <p:cNvPr id="25" name="Text 18"/>
          <p:cNvSpPr txBox="1"/>
          <p:nvPr/>
        </p:nvSpPr>
        <p:spPr>
          <a:xfrm>
            <a:off x="749808" y="4956048"/>
            <a:ext cx="310896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Inmunosupresores</a:t>
            </a:r>
            <a:endParaRPr lang="en-US" sz="1250" dirty="0"/>
          </a:p>
        </p:txBody>
      </p:sp>
      <p:sp>
        <p:nvSpPr>
          <p:cNvPr id="26" name="Text 19"/>
          <p:cNvSpPr txBox="1"/>
          <p:nvPr/>
        </p:nvSpPr>
        <p:spPr>
          <a:xfrm>
            <a:off x="749808" y="5212080"/>
            <a:ext cx="3108960" cy="68580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Corticoides crónicos, biológicos, antirreumáticos.</a:t>
            </a:r>
            <a:endParaRPr lang="en-US" sz="1050" dirty="0"/>
          </a:p>
        </p:txBody>
      </p:sp>
      <p:sp>
        <p:nvSpPr>
          <p:cNvPr id="27" name="Shape 20"/>
          <p:cNvSpPr/>
          <p:nvPr/>
        </p:nvSpPr>
        <p:spPr>
          <a:xfrm>
            <a:off x="4251960" y="4206240"/>
            <a:ext cx="3520440" cy="1783080"/>
          </a:xfrm>
          <a:prstGeom prst="roundRect">
            <a:avLst>
              <a:gd name="adj" fmla="val 410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8" name="Shape 21"/>
          <p:cNvSpPr/>
          <p:nvPr/>
        </p:nvSpPr>
        <p:spPr>
          <a:xfrm>
            <a:off x="4453128" y="4389120"/>
            <a:ext cx="457200" cy="457200"/>
          </a:xfrm>
          <a:prstGeom prst="ellipse">
            <a:avLst/>
          </a:prstGeom>
          <a:solidFill>
            <a:srgbClr val="00A896"/>
          </a:solidFill>
          <a:ln/>
        </p:spPr>
      </p:sp>
      <p:pic>
        <p:nvPicPr>
          <p:cNvPr id="29" name="Image 5" descr="/tmp/claude-0/-home-user-gpa-academy1/adc6e4aa-3b77-57c1-ba92-a8d4ee625c84/scratchpad/pptx_ch3/icons/vial_white.png">    </p:cNvPr>
          <p:cNvPicPr>
            <a:picLocks noChangeAspect="1"/>
          </p:cNvPicPr>
          <p:nvPr/>
        </p:nvPicPr>
        <p:blipFill>
          <a:blip r:embed="rId6"/>
          <a:stretch>
            <a:fillRect/>
          </a:stretch>
        </p:blipFill>
        <p:spPr>
          <a:xfrm>
            <a:off x="4555998" y="4491990"/>
            <a:ext cx="251460" cy="251460"/>
          </a:xfrm>
          <a:prstGeom prst="rect">
            <a:avLst/>
          </a:prstGeom>
        </p:spPr>
      </p:pic>
      <p:sp>
        <p:nvSpPr>
          <p:cNvPr id="30" name="Text 22"/>
          <p:cNvSpPr txBox="1"/>
          <p:nvPr/>
        </p:nvSpPr>
        <p:spPr>
          <a:xfrm>
            <a:off x="4453128" y="4956048"/>
            <a:ext cx="310896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Suplementos y herbolaria</a:t>
            </a:r>
            <a:endParaRPr lang="en-US" sz="1250" dirty="0"/>
          </a:p>
        </p:txBody>
      </p:sp>
      <p:sp>
        <p:nvSpPr>
          <p:cNvPr id="31" name="Text 23"/>
          <p:cNvSpPr txBox="1"/>
          <p:nvPr/>
        </p:nvSpPr>
        <p:spPr>
          <a:xfrm>
            <a:off x="4453128" y="5212080"/>
            <a:ext cx="3108960" cy="68580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Ginkgo biloba, ajo, ginseng, vitamina E: riesgo de sangrado.</a:t>
            </a:r>
            <a:endParaRPr lang="en-US" sz="1050" dirty="0"/>
          </a:p>
        </p:txBody>
      </p:sp>
      <p:sp>
        <p:nvSpPr>
          <p:cNvPr id="32" name="Shape 24"/>
          <p:cNvSpPr/>
          <p:nvPr/>
        </p:nvSpPr>
        <p:spPr>
          <a:xfrm>
            <a:off x="7955280" y="4206240"/>
            <a:ext cx="3520440" cy="1783080"/>
          </a:xfrm>
          <a:prstGeom prst="roundRect">
            <a:avLst>
              <a:gd name="adj" fmla="val 4103"/>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33" name="Shape 25"/>
          <p:cNvSpPr/>
          <p:nvPr/>
        </p:nvSpPr>
        <p:spPr>
          <a:xfrm>
            <a:off x="8156448" y="4389120"/>
            <a:ext cx="457200" cy="457200"/>
          </a:xfrm>
          <a:prstGeom prst="ellipse">
            <a:avLst/>
          </a:prstGeom>
          <a:solidFill>
            <a:srgbClr val="02C39A"/>
          </a:solidFill>
          <a:ln/>
        </p:spPr>
      </p:sp>
      <p:pic>
        <p:nvPicPr>
          <p:cNvPr id="34" name="Image 6" descr="/tmp/claude-0/-home-user-gpa-academy1/adc6e4aa-3b77-57c1-ba92-a8d4ee625c84/scratchpad/pptx_ch3/icons/syringe_white.png">    </p:cNvPr>
          <p:cNvPicPr>
            <a:picLocks noChangeAspect="1"/>
          </p:cNvPicPr>
          <p:nvPr/>
        </p:nvPicPr>
        <p:blipFill>
          <a:blip r:embed="rId7"/>
          <a:stretch>
            <a:fillRect/>
          </a:stretch>
        </p:blipFill>
        <p:spPr>
          <a:xfrm>
            <a:off x="8259318" y="4491990"/>
            <a:ext cx="251460" cy="251460"/>
          </a:xfrm>
          <a:prstGeom prst="rect">
            <a:avLst/>
          </a:prstGeom>
        </p:spPr>
      </p:pic>
      <p:sp>
        <p:nvSpPr>
          <p:cNvPr id="35" name="Text 26"/>
          <p:cNvSpPr txBox="1"/>
          <p:nvPr/>
        </p:nvSpPr>
        <p:spPr>
          <a:xfrm>
            <a:off x="8156448" y="4956048"/>
            <a:ext cx="310896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Anticoagulantes/antiagregantes</a:t>
            </a:r>
            <a:endParaRPr lang="en-US" sz="1250" dirty="0"/>
          </a:p>
        </p:txBody>
      </p:sp>
      <p:sp>
        <p:nvSpPr>
          <p:cNvPr id="36" name="Text 27"/>
          <p:cNvSpPr txBox="1"/>
          <p:nvPr/>
        </p:nvSpPr>
        <p:spPr>
          <a:xfrm>
            <a:off x="8156448" y="5212080"/>
            <a:ext cx="3108960" cy="685800"/>
          </a:xfrm>
          <a:prstGeom prst="rect">
            <a:avLst/>
          </a:prstGeom>
          <a:noFill/>
          <a:ln/>
        </p:spPr>
        <p:txBody>
          <a:bodyPr wrap="square" lIns="0" tIns="0" rIns="0" bIns="0" rtlCol="0" anchor="t"/>
          <a:lstStyle/>
          <a:p>
            <a:pPr indent="0" marL="0">
              <a:lnSpc>
                <a:spcPct val="110000"/>
              </a:lnSpc>
              <a:buNone/>
            </a:pPr>
            <a:r>
              <a:rPr lang="en-US" sz="1050" dirty="0">
                <a:solidFill>
                  <a:srgbClr val="52696C"/>
                </a:solidFill>
                <a:latin typeface="Calibri" pitchFamily="34" charset="0"/>
                <a:ea typeface="Calibri" pitchFamily="34" charset="-122"/>
                <a:cs typeface="Calibri" pitchFamily="34" charset="-120"/>
              </a:rPr>
              <a:t>Warfarina, anticoagulantes de acción directa, AAS, clopidogrel.</a:t>
            </a:r>
            <a:endParaRPr lang="en-US" sz="1050" dirty="0"/>
          </a:p>
        </p:txBody>
      </p:sp>
      <p:sp>
        <p:nvSpPr>
          <p:cNvPr id="37" name="Text 28"/>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8" name="Text 29"/>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FARMACOLOGÍA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Fármacos que requieren manejo especial perioperatorio</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vaccine_white.png">    </p:cNvPr>
          <p:cNvPicPr>
            <a:picLocks noChangeAspect="1"/>
          </p:cNvPicPr>
          <p:nvPr/>
        </p:nvPicPr>
        <p:blipFill>
          <a:blip r:embed="rId1"/>
          <a:stretch>
            <a:fillRect/>
          </a:stretch>
        </p:blipFill>
        <p:spPr>
          <a:xfrm>
            <a:off x="11224717" y="544525"/>
            <a:ext cx="392278" cy="392278"/>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2103120"/>
                <a:gridCol w="4023360"/>
                <a:gridCol w="4937760"/>
              </a:tblGrid>
              <a:tr h="65836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Grupo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Conducta perioperatoria recomendada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Justificación clínica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65836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Anticoagulantes orales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Suspender warfarina 5 días antes (INR objetivo); anticoagulantes de acción directa 1-4 días según función renal y riesgo hemorrágico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Balance entre riesgo trombótico y riesgo de sangrado quirúrgico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65836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Antiagregantes plaquetarios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AAS individualizar; clopidogrel suspender 5-7 días salvo stent coronario reciente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Riesgo de trombosis de stent frente a sangrado quirúrgico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Antidiabéticos orales/GLP-1</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Suspender metformina el día de cirugía; agonistas GLP-1 suspender días antes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Riesgo de acidosis láctica y de retraso en vaciamiento gástrico (broncoaspiración)</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65836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Insulina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Ajustar dosis basal, no suspender totalmente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Riesgo de hiperglucemia y cetoacidosis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65836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IMAO (inhibidores de la monoaminooxidasa)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Evitar suspensión abrupta sin valorar riesgo psiquiátrico; evitar meperidina y simpaticomiméticos indirectos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Riesgo de crisis hipertensiva o síndrome serotoninérgico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65836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Corticoides crónicos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Mantener dosis habitual y considerar dosis de estrés perioperatoria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Riesgo de insuficiencia suprarrenal aguda por supresión del eje hipotálamo-hipófisis-adrenal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8" name="Text 4"/>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FARMACOLOGÍA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Interacciones farmacológicas relevantes con agentes anestésicos</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interaction_white.png">    </p:cNvPr>
          <p:cNvPicPr>
            <a:picLocks noChangeAspect="1"/>
          </p:cNvPicPr>
          <p:nvPr/>
        </p:nvPicPr>
        <p:blipFill>
          <a:blip r:embed="rId1"/>
          <a:stretch>
            <a:fillRect/>
          </a:stretch>
        </p:blipFill>
        <p:spPr>
          <a:xfrm>
            <a:off x="11224717" y="544525"/>
            <a:ext cx="392278" cy="392278"/>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2743200"/>
                <a:gridCol w="5577840"/>
              </a:tblGrid>
              <a:tr h="60350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Fármaco crónico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Agente anestésico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Interacción esperada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603504">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Inhibidores de la ECA / ARA-II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Inducción anestésica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Hipotensión refractaria por bloqueo del sistema renina-angiotensina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603504">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Betabloqueadores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Anestésicos inhalados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Potenciación de bradicardia e hipotensión; no suspender abruptamente (riesgo de rebote)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603504">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Benzodiacepinas / opioides crónicos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Hipnóticos y opioides intravenosos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Tolerancia cruzada: mayores requerimientos de dosis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603504">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Antiepilépticos inductores enzimáticos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Relajantes neuromusculares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Aceleran el metabolismo hepático, acortando la duración del bloqueo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603504">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Inhibidores selectivos de recaptura de serotonina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Tramadol, fentanilo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Riesgo de síndrome serotoninérgico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603504">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Litio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Relajantes neuromusculares no despolarizantes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Prolongación del bloqueo neuromuscular</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8" name="Text 4"/>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EXAMEN FÍSICO</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Examen físico general preanestésico</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examBody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Shape 3"/>
          <p:cNvSpPr/>
          <p:nvPr/>
        </p:nvSpPr>
        <p:spPr>
          <a:xfrm>
            <a:off x="548640" y="1828800"/>
            <a:ext cx="512064" cy="512064"/>
          </a:xfrm>
          <a:prstGeom prst="ellipse">
            <a:avLst/>
          </a:prstGeom>
          <a:solidFill>
            <a:srgbClr val="028090"/>
          </a:solidFill>
          <a:ln/>
        </p:spPr>
      </p:sp>
      <p:pic>
        <p:nvPicPr>
          <p:cNvPr id="7" name="Image 1" descr="/tmp/claude-0/-home-user-gpa-academy1/adc6e4aa-3b77-57c1-ba92-a8d4ee625c84/scratchpad/pptx_ch3/icons/scale_white.png">    </p:cNvPr>
          <p:cNvPicPr>
            <a:picLocks noChangeAspect="1"/>
          </p:cNvPicPr>
          <p:nvPr/>
        </p:nvPicPr>
        <p:blipFill>
          <a:blip r:embed="rId2"/>
          <a:stretch>
            <a:fillRect/>
          </a:stretch>
        </p:blipFill>
        <p:spPr>
          <a:xfrm>
            <a:off x="663854" y="1944014"/>
            <a:ext cx="281635" cy="281635"/>
          </a:xfrm>
          <a:prstGeom prst="rect">
            <a:avLst/>
          </a:prstGeom>
        </p:spPr>
      </p:pic>
      <p:sp>
        <p:nvSpPr>
          <p:cNvPr id="8" name="Text 4"/>
          <p:cNvSpPr txBox="1"/>
          <p:nvPr/>
        </p:nvSpPr>
        <p:spPr>
          <a:xfrm>
            <a:off x="1261872" y="1792224"/>
            <a:ext cx="2807208"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Somatometría</a:t>
            </a:r>
            <a:endParaRPr lang="en-US" sz="1300" dirty="0"/>
          </a:p>
        </p:txBody>
      </p:sp>
      <p:sp>
        <p:nvSpPr>
          <p:cNvPr id="9" name="Text 5"/>
          <p:cNvSpPr txBox="1"/>
          <p:nvPr/>
        </p:nvSpPr>
        <p:spPr>
          <a:xfrm>
            <a:off x="1261872" y="2057400"/>
            <a:ext cx="2807208" cy="822960"/>
          </a:xfrm>
          <a:prstGeom prst="rect">
            <a:avLst/>
          </a:prstGeom>
          <a:noFill/>
          <a:ln/>
        </p:spPr>
        <p:txBody>
          <a:bodyPr wrap="square" lIns="0" tIns="0" rIns="0" bIns="0" rtlCol="0" anchor="t"/>
          <a:lstStyle/>
          <a:p>
            <a:pPr indent="0" marL="0">
              <a:lnSpc>
                <a:spcPct val="110000"/>
              </a:lnSpc>
              <a:buNone/>
            </a:pPr>
            <a:r>
              <a:rPr lang="en-US" sz="1130" dirty="0">
                <a:solidFill>
                  <a:srgbClr val="52696C"/>
                </a:solidFill>
                <a:latin typeface="Calibri" pitchFamily="34" charset="0"/>
                <a:ea typeface="Calibri" pitchFamily="34" charset="-122"/>
                <a:cs typeface="Calibri" pitchFamily="34" charset="-120"/>
              </a:rPr>
              <a:t>Peso, talla e índice de masa corporal: base para el cálculo de dosis y la valoración de riesgo de vía aérea difícil y apnea del sueño.</a:t>
            </a:r>
            <a:endParaRPr lang="en-US" sz="1130" dirty="0"/>
          </a:p>
        </p:txBody>
      </p:sp>
      <p:sp>
        <p:nvSpPr>
          <p:cNvPr id="10" name="Shape 6"/>
          <p:cNvSpPr/>
          <p:nvPr/>
        </p:nvSpPr>
        <p:spPr>
          <a:xfrm>
            <a:off x="4251960" y="1828800"/>
            <a:ext cx="512064" cy="512064"/>
          </a:xfrm>
          <a:prstGeom prst="ellipse">
            <a:avLst/>
          </a:prstGeom>
          <a:solidFill>
            <a:srgbClr val="00A896"/>
          </a:solidFill>
          <a:ln/>
        </p:spPr>
      </p:sp>
      <p:pic>
        <p:nvPicPr>
          <p:cNvPr id="11" name="Image 2" descr="/tmp/claude-0/-home-user-gpa-academy1/adc6e4aa-3b77-57c1-ba92-a8d4ee625c84/scratchpad/pptx_ch3/icons/bp_white.png">    </p:cNvPr>
          <p:cNvPicPr>
            <a:picLocks noChangeAspect="1"/>
          </p:cNvPicPr>
          <p:nvPr/>
        </p:nvPicPr>
        <p:blipFill>
          <a:blip r:embed="rId3"/>
          <a:stretch>
            <a:fillRect/>
          </a:stretch>
        </p:blipFill>
        <p:spPr>
          <a:xfrm>
            <a:off x="4367174" y="1944014"/>
            <a:ext cx="281635" cy="281635"/>
          </a:xfrm>
          <a:prstGeom prst="rect">
            <a:avLst/>
          </a:prstGeom>
        </p:spPr>
      </p:pic>
      <p:sp>
        <p:nvSpPr>
          <p:cNvPr id="12" name="Text 7"/>
          <p:cNvSpPr txBox="1"/>
          <p:nvPr/>
        </p:nvSpPr>
        <p:spPr>
          <a:xfrm>
            <a:off x="4965192" y="1792224"/>
            <a:ext cx="2807208"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Signos vitales</a:t>
            </a:r>
            <a:endParaRPr lang="en-US" sz="1300" dirty="0"/>
          </a:p>
        </p:txBody>
      </p:sp>
      <p:sp>
        <p:nvSpPr>
          <p:cNvPr id="13" name="Text 8"/>
          <p:cNvSpPr txBox="1"/>
          <p:nvPr/>
        </p:nvSpPr>
        <p:spPr>
          <a:xfrm>
            <a:off x="4965192" y="2057400"/>
            <a:ext cx="2807208" cy="822960"/>
          </a:xfrm>
          <a:prstGeom prst="rect">
            <a:avLst/>
          </a:prstGeom>
          <a:noFill/>
          <a:ln/>
        </p:spPr>
        <p:txBody>
          <a:bodyPr wrap="square" lIns="0" tIns="0" rIns="0" bIns="0" rtlCol="0" anchor="t"/>
          <a:lstStyle/>
          <a:p>
            <a:pPr indent="0" marL="0">
              <a:lnSpc>
                <a:spcPct val="110000"/>
              </a:lnSpc>
              <a:buNone/>
            </a:pPr>
            <a:r>
              <a:rPr lang="en-US" sz="1130" dirty="0">
                <a:solidFill>
                  <a:srgbClr val="52696C"/>
                </a:solidFill>
                <a:latin typeface="Calibri" pitchFamily="34" charset="0"/>
                <a:ea typeface="Calibri" pitchFamily="34" charset="-122"/>
                <a:cs typeface="Calibri" pitchFamily="34" charset="-120"/>
              </a:rPr>
              <a:t>Presión arterial, frecuencia cardiaca, frecuencia respiratoria, temperatura y saturación de oxígeno basal.</a:t>
            </a:r>
            <a:endParaRPr lang="en-US" sz="1130" dirty="0"/>
          </a:p>
        </p:txBody>
      </p:sp>
      <p:sp>
        <p:nvSpPr>
          <p:cNvPr id="14" name="Shape 9"/>
          <p:cNvSpPr/>
          <p:nvPr/>
        </p:nvSpPr>
        <p:spPr>
          <a:xfrm>
            <a:off x="7955280" y="1828800"/>
            <a:ext cx="512064" cy="512064"/>
          </a:xfrm>
          <a:prstGeom prst="ellipse">
            <a:avLst/>
          </a:prstGeom>
          <a:solidFill>
            <a:srgbClr val="02C39A"/>
          </a:solidFill>
          <a:ln/>
        </p:spPr>
      </p:sp>
      <p:pic>
        <p:nvPicPr>
          <p:cNvPr id="15" name="Image 3" descr="/tmp/claude-0/-home-user-gpa-academy1/adc6e4aa-3b77-57c1-ba92-a8d4ee625c84/scratchpad/pptx_ch3/icons/examBody_white.png">    </p:cNvPr>
          <p:cNvPicPr>
            <a:picLocks noChangeAspect="1"/>
          </p:cNvPicPr>
          <p:nvPr/>
        </p:nvPicPr>
        <p:blipFill>
          <a:blip r:embed="rId4"/>
          <a:stretch>
            <a:fillRect/>
          </a:stretch>
        </p:blipFill>
        <p:spPr>
          <a:xfrm>
            <a:off x="8070494" y="1944014"/>
            <a:ext cx="281635" cy="281635"/>
          </a:xfrm>
          <a:prstGeom prst="rect">
            <a:avLst/>
          </a:prstGeom>
        </p:spPr>
      </p:pic>
      <p:sp>
        <p:nvSpPr>
          <p:cNvPr id="16" name="Text 10"/>
          <p:cNvSpPr txBox="1"/>
          <p:nvPr/>
        </p:nvSpPr>
        <p:spPr>
          <a:xfrm>
            <a:off x="8668512" y="1792224"/>
            <a:ext cx="2807208"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Inspección general</a:t>
            </a:r>
            <a:endParaRPr lang="en-US" sz="1300" dirty="0"/>
          </a:p>
        </p:txBody>
      </p:sp>
      <p:sp>
        <p:nvSpPr>
          <p:cNvPr id="17" name="Text 11"/>
          <p:cNvSpPr txBox="1"/>
          <p:nvPr/>
        </p:nvSpPr>
        <p:spPr>
          <a:xfrm>
            <a:off x="8668512" y="2057400"/>
            <a:ext cx="2807208" cy="822960"/>
          </a:xfrm>
          <a:prstGeom prst="rect">
            <a:avLst/>
          </a:prstGeom>
          <a:noFill/>
          <a:ln/>
        </p:spPr>
        <p:txBody>
          <a:bodyPr wrap="square" lIns="0" tIns="0" rIns="0" bIns="0" rtlCol="0" anchor="t"/>
          <a:lstStyle/>
          <a:p>
            <a:pPr indent="0" marL="0">
              <a:lnSpc>
                <a:spcPct val="110000"/>
              </a:lnSpc>
              <a:buNone/>
            </a:pPr>
            <a:r>
              <a:rPr lang="en-US" sz="1130" dirty="0">
                <a:solidFill>
                  <a:srgbClr val="52696C"/>
                </a:solidFill>
                <a:latin typeface="Calibri" pitchFamily="34" charset="0"/>
                <a:ea typeface="Calibri" pitchFamily="34" charset="-122"/>
                <a:cs typeface="Calibri" pitchFamily="34" charset="-120"/>
              </a:rPr>
              <a:t>Estado nutricional, coloración de piel y mucosas, hidratación, presencia de edema o deformidades.</a:t>
            </a:r>
            <a:endParaRPr lang="en-US" sz="1130" dirty="0"/>
          </a:p>
        </p:txBody>
      </p:sp>
      <p:sp>
        <p:nvSpPr>
          <p:cNvPr id="18" name="Shape 12"/>
          <p:cNvSpPr/>
          <p:nvPr/>
        </p:nvSpPr>
        <p:spPr>
          <a:xfrm>
            <a:off x="548640" y="4160520"/>
            <a:ext cx="512064" cy="512064"/>
          </a:xfrm>
          <a:prstGeom prst="ellipse">
            <a:avLst/>
          </a:prstGeom>
          <a:solidFill>
            <a:srgbClr val="028090"/>
          </a:solidFill>
          <a:ln/>
        </p:spPr>
      </p:sp>
      <p:pic>
        <p:nvPicPr>
          <p:cNvPr id="19" name="Image 4" descr="/tmp/claude-0/-home-user-gpa-academy1/adc6e4aa-3b77-57c1-ba92-a8d4ee625c84/scratchpad/pptx_ch3/icons/stethoscope_white.png">    </p:cNvPr>
          <p:cNvPicPr>
            <a:picLocks noChangeAspect="1"/>
          </p:cNvPicPr>
          <p:nvPr/>
        </p:nvPicPr>
        <p:blipFill>
          <a:blip r:embed="rId5"/>
          <a:stretch>
            <a:fillRect/>
          </a:stretch>
        </p:blipFill>
        <p:spPr>
          <a:xfrm>
            <a:off x="663854" y="4275734"/>
            <a:ext cx="281635" cy="281635"/>
          </a:xfrm>
          <a:prstGeom prst="rect">
            <a:avLst/>
          </a:prstGeom>
        </p:spPr>
      </p:pic>
      <p:sp>
        <p:nvSpPr>
          <p:cNvPr id="20" name="Text 13"/>
          <p:cNvSpPr txBox="1"/>
          <p:nvPr/>
        </p:nvSpPr>
        <p:spPr>
          <a:xfrm>
            <a:off x="1261872" y="4123944"/>
            <a:ext cx="2807208"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Exploración cardiopulmonar</a:t>
            </a:r>
            <a:endParaRPr lang="en-US" sz="1300" dirty="0"/>
          </a:p>
        </p:txBody>
      </p:sp>
      <p:sp>
        <p:nvSpPr>
          <p:cNvPr id="21" name="Text 14"/>
          <p:cNvSpPr txBox="1"/>
          <p:nvPr/>
        </p:nvSpPr>
        <p:spPr>
          <a:xfrm>
            <a:off x="1261872" y="4389120"/>
            <a:ext cx="2807208" cy="822960"/>
          </a:xfrm>
          <a:prstGeom prst="rect">
            <a:avLst/>
          </a:prstGeom>
          <a:noFill/>
          <a:ln/>
        </p:spPr>
        <p:txBody>
          <a:bodyPr wrap="square" lIns="0" tIns="0" rIns="0" bIns="0" rtlCol="0" anchor="t"/>
          <a:lstStyle/>
          <a:p>
            <a:pPr indent="0" marL="0">
              <a:lnSpc>
                <a:spcPct val="110000"/>
              </a:lnSpc>
              <a:buNone/>
            </a:pPr>
            <a:r>
              <a:rPr lang="en-US" sz="1130" dirty="0">
                <a:solidFill>
                  <a:srgbClr val="52696C"/>
                </a:solidFill>
                <a:latin typeface="Calibri" pitchFamily="34" charset="0"/>
                <a:ea typeface="Calibri" pitchFamily="34" charset="-122"/>
                <a:cs typeface="Calibri" pitchFamily="34" charset="-120"/>
              </a:rPr>
              <a:t>Auscultación cardiaca y pulmonar dirigida, en todo paciente independientemente del motivo de consulta.</a:t>
            </a:r>
            <a:endParaRPr lang="en-US" sz="1130" dirty="0"/>
          </a:p>
        </p:txBody>
      </p:sp>
      <p:sp>
        <p:nvSpPr>
          <p:cNvPr id="22" name="Shape 15"/>
          <p:cNvSpPr/>
          <p:nvPr/>
        </p:nvSpPr>
        <p:spPr>
          <a:xfrm>
            <a:off x="4251960" y="4160520"/>
            <a:ext cx="512064" cy="512064"/>
          </a:xfrm>
          <a:prstGeom prst="ellipse">
            <a:avLst/>
          </a:prstGeom>
          <a:solidFill>
            <a:srgbClr val="00A896"/>
          </a:solidFill>
          <a:ln/>
        </p:spPr>
      </p:sp>
      <p:pic>
        <p:nvPicPr>
          <p:cNvPr id="23" name="Image 5" descr="/tmp/claude-0/-home-user-gpa-academy1/adc6e4aa-3b77-57c1-ba92-a8d4ee625c84/scratchpad/pptx_ch3/icons/bone_white.png">    </p:cNvPr>
          <p:cNvPicPr>
            <a:picLocks noChangeAspect="1"/>
          </p:cNvPicPr>
          <p:nvPr/>
        </p:nvPicPr>
        <p:blipFill>
          <a:blip r:embed="rId6"/>
          <a:stretch>
            <a:fillRect/>
          </a:stretch>
        </p:blipFill>
        <p:spPr>
          <a:xfrm>
            <a:off x="4367174" y="4275734"/>
            <a:ext cx="281635" cy="281635"/>
          </a:xfrm>
          <a:prstGeom prst="rect">
            <a:avLst/>
          </a:prstGeom>
        </p:spPr>
      </p:pic>
      <p:sp>
        <p:nvSpPr>
          <p:cNvPr id="24" name="Text 16"/>
          <p:cNvSpPr txBox="1"/>
          <p:nvPr/>
        </p:nvSpPr>
        <p:spPr>
          <a:xfrm>
            <a:off x="4965192" y="4123944"/>
            <a:ext cx="2807208"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Sistema musculoesquelético</a:t>
            </a:r>
            <a:endParaRPr lang="en-US" sz="1300" dirty="0"/>
          </a:p>
        </p:txBody>
      </p:sp>
      <p:sp>
        <p:nvSpPr>
          <p:cNvPr id="25" name="Text 17"/>
          <p:cNvSpPr txBox="1"/>
          <p:nvPr/>
        </p:nvSpPr>
        <p:spPr>
          <a:xfrm>
            <a:off x="4965192" y="4389120"/>
            <a:ext cx="2807208" cy="822960"/>
          </a:xfrm>
          <a:prstGeom prst="rect">
            <a:avLst/>
          </a:prstGeom>
          <a:noFill/>
          <a:ln/>
        </p:spPr>
        <p:txBody>
          <a:bodyPr wrap="square" lIns="0" tIns="0" rIns="0" bIns="0" rtlCol="0" anchor="t"/>
          <a:lstStyle/>
          <a:p>
            <a:pPr indent="0" marL="0">
              <a:lnSpc>
                <a:spcPct val="110000"/>
              </a:lnSpc>
              <a:buNone/>
            </a:pPr>
            <a:r>
              <a:rPr lang="en-US" sz="1130" dirty="0">
                <a:solidFill>
                  <a:srgbClr val="52696C"/>
                </a:solidFill>
                <a:latin typeface="Calibri" pitchFamily="34" charset="0"/>
                <a:ea typeface="Calibri" pitchFamily="34" charset="-122"/>
                <a:cs typeface="Calibri" pitchFamily="34" charset="-120"/>
              </a:rPr>
              <a:t>Movilidad cervical, columna vertebral (relevante para anestesia regional) y limitaciones de posicionamiento.</a:t>
            </a:r>
            <a:endParaRPr lang="en-US" sz="1130" dirty="0"/>
          </a:p>
        </p:txBody>
      </p:sp>
      <p:sp>
        <p:nvSpPr>
          <p:cNvPr id="26" name="Shape 18"/>
          <p:cNvSpPr/>
          <p:nvPr/>
        </p:nvSpPr>
        <p:spPr>
          <a:xfrm>
            <a:off x="7955280" y="4160520"/>
            <a:ext cx="512064" cy="512064"/>
          </a:xfrm>
          <a:prstGeom prst="ellipse">
            <a:avLst/>
          </a:prstGeom>
          <a:solidFill>
            <a:srgbClr val="02C39A"/>
          </a:solidFill>
          <a:ln/>
        </p:spPr>
      </p:sp>
      <p:pic>
        <p:nvPicPr>
          <p:cNvPr id="27" name="Image 6" descr="/tmp/claude-0/-home-user-gpa-academy1/adc6e4aa-3b77-57c1-ba92-a8d4ee625c84/scratchpad/pptx_ch3/icons/history_white.png">    </p:cNvPr>
          <p:cNvPicPr>
            <a:picLocks noChangeAspect="1"/>
          </p:cNvPicPr>
          <p:nvPr/>
        </p:nvPicPr>
        <p:blipFill>
          <a:blip r:embed="rId7"/>
          <a:stretch>
            <a:fillRect/>
          </a:stretch>
        </p:blipFill>
        <p:spPr>
          <a:xfrm>
            <a:off x="8070494" y="4275734"/>
            <a:ext cx="281635" cy="281635"/>
          </a:xfrm>
          <a:prstGeom prst="rect">
            <a:avLst/>
          </a:prstGeom>
        </p:spPr>
      </p:pic>
      <p:sp>
        <p:nvSpPr>
          <p:cNvPr id="28" name="Text 19"/>
          <p:cNvSpPr txBox="1"/>
          <p:nvPr/>
        </p:nvSpPr>
        <p:spPr>
          <a:xfrm>
            <a:off x="8668512" y="4123944"/>
            <a:ext cx="2807208" cy="256032"/>
          </a:xfrm>
          <a:prstGeom prst="rect">
            <a:avLst/>
          </a:prstGeom>
          <a:noFill/>
          <a:ln/>
        </p:spPr>
        <p:txBody>
          <a:bodyPr wrap="square" lIns="0" tIns="0" rIns="0" bIns="0" rtlCol="0" anchor="ctr"/>
          <a:lstStyle/>
          <a:p>
            <a:pPr indent="0" marL="0">
              <a:buNone/>
            </a:pPr>
            <a:r>
              <a:rPr lang="en-US" sz="1300" b="1" dirty="0">
                <a:solidFill>
                  <a:srgbClr val="013A40"/>
                </a:solidFill>
                <a:latin typeface="Cambria" pitchFamily="34" charset="0"/>
                <a:ea typeface="Cambria" pitchFamily="34" charset="-122"/>
                <a:cs typeface="Cambria" pitchFamily="34" charset="-120"/>
              </a:rPr>
              <a:t>Accesos vasculares</a:t>
            </a:r>
            <a:endParaRPr lang="en-US" sz="1300" dirty="0"/>
          </a:p>
        </p:txBody>
      </p:sp>
      <p:sp>
        <p:nvSpPr>
          <p:cNvPr id="29" name="Text 20"/>
          <p:cNvSpPr txBox="1"/>
          <p:nvPr/>
        </p:nvSpPr>
        <p:spPr>
          <a:xfrm>
            <a:off x="8668512" y="4389120"/>
            <a:ext cx="2807208" cy="822960"/>
          </a:xfrm>
          <a:prstGeom prst="rect">
            <a:avLst/>
          </a:prstGeom>
          <a:noFill/>
          <a:ln/>
        </p:spPr>
        <p:txBody>
          <a:bodyPr wrap="square" lIns="0" tIns="0" rIns="0" bIns="0" rtlCol="0" anchor="t"/>
          <a:lstStyle/>
          <a:p>
            <a:pPr indent="0" marL="0">
              <a:lnSpc>
                <a:spcPct val="110000"/>
              </a:lnSpc>
              <a:buNone/>
            </a:pPr>
            <a:r>
              <a:rPr lang="en-US" sz="1130" dirty="0">
                <a:solidFill>
                  <a:srgbClr val="52696C"/>
                </a:solidFill>
                <a:latin typeface="Calibri" pitchFamily="34" charset="0"/>
                <a:ea typeface="Calibri" pitchFamily="34" charset="-122"/>
                <a:cs typeface="Calibri" pitchFamily="34" charset="-120"/>
              </a:rPr>
              <a:t>Valoración de venas periféricas y sitios potenciales para catéteres centrales si se anticipan.</a:t>
            </a:r>
            <a:endParaRPr lang="en-US" sz="1130" dirty="0"/>
          </a:p>
        </p:txBody>
      </p:sp>
      <p:sp>
        <p:nvSpPr>
          <p:cNvPr id="30" name="Shape 21"/>
          <p:cNvSpPr/>
          <p:nvPr/>
        </p:nvSpPr>
        <p:spPr>
          <a:xfrm>
            <a:off x="548640" y="5577840"/>
            <a:ext cx="11064240" cy="777240"/>
          </a:xfrm>
          <a:prstGeom prst="roundRect">
            <a:avLst>
              <a:gd name="adj" fmla="val 9412"/>
            </a:avLst>
          </a:prstGeom>
          <a:solidFill>
            <a:srgbClr val="EFF7F7"/>
          </a:solidFill>
          <a:ln/>
        </p:spPr>
      </p:sp>
      <p:sp>
        <p:nvSpPr>
          <p:cNvPr id="31" name="Shape 22"/>
          <p:cNvSpPr/>
          <p:nvPr/>
        </p:nvSpPr>
        <p:spPr>
          <a:xfrm>
            <a:off x="749808" y="5728716"/>
            <a:ext cx="475488" cy="475488"/>
          </a:xfrm>
          <a:prstGeom prst="ellipse">
            <a:avLst/>
          </a:prstGeom>
          <a:solidFill>
            <a:srgbClr val="028090"/>
          </a:solidFill>
          <a:ln/>
        </p:spPr>
      </p:sp>
      <p:pic>
        <p:nvPicPr>
          <p:cNvPr id="32" name="Image 7" descr="/tmp/claude-0/-home-user-gpa-academy1/adc6e4aa-3b77-57c1-ba92-a8d4ee625c84/scratchpad/pptx_ch3/icons/checklist_white.png">    </p:cNvPr>
          <p:cNvPicPr>
            <a:picLocks noChangeAspect="1"/>
          </p:cNvPicPr>
          <p:nvPr/>
        </p:nvPicPr>
        <p:blipFill>
          <a:blip r:embed="rId8"/>
          <a:stretch>
            <a:fillRect/>
          </a:stretch>
        </p:blipFill>
        <p:spPr>
          <a:xfrm>
            <a:off x="854415" y="5833323"/>
            <a:ext cx="266273" cy="266273"/>
          </a:xfrm>
          <a:prstGeom prst="rect">
            <a:avLst/>
          </a:prstGeom>
        </p:spPr>
      </p:pic>
      <p:sp>
        <p:nvSpPr>
          <p:cNvPr id="33" name="Text 23"/>
          <p:cNvSpPr txBox="1"/>
          <p:nvPr/>
        </p:nvSpPr>
        <p:spPr>
          <a:xfrm>
            <a:off x="1371600" y="5705856"/>
            <a:ext cx="10058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Enfoque práctico</a:t>
            </a:r>
            <a:endParaRPr lang="en-US" sz="1350" dirty="0"/>
          </a:p>
        </p:txBody>
      </p:sp>
      <p:sp>
        <p:nvSpPr>
          <p:cNvPr id="34" name="Text 24"/>
          <p:cNvSpPr txBox="1"/>
          <p:nvPr/>
        </p:nvSpPr>
        <p:spPr>
          <a:xfrm>
            <a:off x="1371600" y="5980176"/>
            <a:ext cx="10058400" cy="27432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El examen físico preanestésico debe completarse siempre, incluso en cirugías menores: hallazgos incidentales (soplo no documentado, vía aérea límite) cambian con frecuencia el plan anestésico.</a:t>
            </a:r>
            <a:endParaRPr lang="en-US" sz="1150" dirty="0"/>
          </a:p>
        </p:txBody>
      </p:sp>
      <p:sp>
        <p:nvSpPr>
          <p:cNvPr id="35" name="Text 25"/>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6" name="Text 26"/>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VÍA AÉREA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Evaluación de la vía aérea: Mallampati, distancia tiromentoniana y apertura bucal</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airway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54480"/>
            <a:ext cx="73152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CLASIFICACIÓN DE MALLAMPATI MODIFICADA (SAMSOON-YOUNG)</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6675120" cy="914400"/>
        </p:xfrm>
        <a:graphic>
          <a:graphicData uri="http://schemas.openxmlformats.org/drawingml/2006/table">
            <a:tbl>
              <a:tblPr/>
              <a:tblGrid>
                <a:gridCol w="731520"/>
                <a:gridCol w="5943600"/>
              </a:tblGrid>
              <a:tr h="47548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Clase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Estructuras visibles con boca abierta y lengua protruida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Paladar blando, úvula completa, fauces y pilares amigdalinos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Paladar blando, úvula parcialmente visible, fauces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III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Paladar blando y base de la úvula únicamente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IV</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Solo paladar duro visible; úvula no identificable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4370832"/>
            <a:ext cx="6675120" cy="320040"/>
          </a:xfrm>
          <a:prstGeom prst="rect">
            <a:avLst/>
          </a:prstGeom>
          <a:noFill/>
          <a:ln/>
        </p:spPr>
        <p:txBody>
          <a:bodyPr wrap="square" lIns="0" tIns="0" rIns="0" bIns="0" rtlCol="0" anchor="ctr"/>
          <a:lstStyle/>
          <a:p>
            <a:pPr indent="0" marL="0">
              <a:buNone/>
            </a:pPr>
            <a:r>
              <a:rPr lang="en-US" sz="1050" i="1" dirty="0">
                <a:solidFill>
                  <a:srgbClr val="52696C"/>
                </a:solidFill>
                <a:latin typeface="Calibri" pitchFamily="34" charset="0"/>
                <a:ea typeface="Calibri" pitchFamily="34" charset="-122"/>
                <a:cs typeface="Calibri" pitchFamily="34" charset="-120"/>
              </a:rPr>
              <a:t>Clases III-IV se asocian a mayor dificultad de laringoscopia directa.</a:t>
            </a:r>
            <a:endParaRPr lang="en-US" sz="1050" dirty="0"/>
          </a:p>
        </p:txBody>
      </p:sp>
      <p:sp>
        <p:nvSpPr>
          <p:cNvPr id="9" name="Shape 5"/>
          <p:cNvSpPr/>
          <p:nvPr/>
        </p:nvSpPr>
        <p:spPr>
          <a:xfrm>
            <a:off x="548640" y="4800600"/>
            <a:ext cx="6675120" cy="1188720"/>
          </a:xfrm>
          <a:prstGeom prst="roundRect">
            <a:avLst>
              <a:gd name="adj" fmla="val 6154"/>
            </a:avLst>
          </a:prstGeom>
          <a:solidFill>
            <a:srgbClr val="EFF7F7"/>
          </a:solidFill>
          <a:ln/>
        </p:spPr>
      </p:sp>
      <p:sp>
        <p:nvSpPr>
          <p:cNvPr id="10" name="Shape 6"/>
          <p:cNvSpPr/>
          <p:nvPr/>
        </p:nvSpPr>
        <p:spPr>
          <a:xfrm>
            <a:off x="749808" y="5157216"/>
            <a:ext cx="475488" cy="475488"/>
          </a:xfrm>
          <a:prstGeom prst="ellipse">
            <a:avLst/>
          </a:prstGeom>
          <a:solidFill>
            <a:srgbClr val="00A896"/>
          </a:solidFill>
          <a:ln/>
        </p:spPr>
      </p:sp>
      <p:pic>
        <p:nvPicPr>
          <p:cNvPr id="11" name="Image 1" descr="/tmp/claude-0/-home-user-gpa-academy1/adc6e4aa-3b77-57c1-ba92-a8d4ee625c84/scratchpad/pptx_ch3/icons/checklist_white.png">    </p:cNvPr>
          <p:cNvPicPr>
            <a:picLocks noChangeAspect="1"/>
          </p:cNvPicPr>
          <p:nvPr/>
        </p:nvPicPr>
        <p:blipFill>
          <a:blip r:embed="rId2"/>
          <a:stretch>
            <a:fillRect/>
          </a:stretch>
        </p:blipFill>
        <p:spPr>
          <a:xfrm>
            <a:off x="854415" y="5261823"/>
            <a:ext cx="266273" cy="266273"/>
          </a:xfrm>
          <a:prstGeom prst="rect">
            <a:avLst/>
          </a:prstGeom>
        </p:spPr>
      </p:pic>
      <p:sp>
        <p:nvSpPr>
          <p:cNvPr id="12" name="Text 7"/>
          <p:cNvSpPr txBox="1"/>
          <p:nvPr/>
        </p:nvSpPr>
        <p:spPr>
          <a:xfrm>
            <a:off x="1371600" y="4928616"/>
            <a:ext cx="566928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Técnica correcta de exploración</a:t>
            </a:r>
            <a:endParaRPr lang="en-US" sz="1350" dirty="0"/>
          </a:p>
        </p:txBody>
      </p:sp>
      <p:sp>
        <p:nvSpPr>
          <p:cNvPr id="13" name="Text 8"/>
          <p:cNvSpPr txBox="1"/>
          <p:nvPr/>
        </p:nvSpPr>
        <p:spPr>
          <a:xfrm>
            <a:off x="1371600" y="5202936"/>
            <a:ext cx="5669280" cy="68580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Explorar con el paciente sentado, cabeza en posición neutra, boca abierta al máximo y lengua protruida sin fonar: fonar durante la maniobra eleva falsamente la clase visualizada y subestima el riesgo real.</a:t>
            </a:r>
            <a:endParaRPr lang="en-US" sz="1150" dirty="0"/>
          </a:p>
        </p:txBody>
      </p:sp>
      <p:sp>
        <p:nvSpPr>
          <p:cNvPr id="14" name="Shape 9"/>
          <p:cNvSpPr/>
          <p:nvPr/>
        </p:nvSpPr>
        <p:spPr>
          <a:xfrm>
            <a:off x="7452360" y="1554480"/>
            <a:ext cx="4160520" cy="4434840"/>
          </a:xfrm>
          <a:prstGeom prst="roundRect">
            <a:avLst>
              <a:gd name="adj" fmla="val 175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5" name="Text 10"/>
          <p:cNvSpPr txBox="1"/>
          <p:nvPr/>
        </p:nvSpPr>
        <p:spPr>
          <a:xfrm>
            <a:off x="7680960" y="1737360"/>
            <a:ext cx="3703320" cy="320040"/>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Otras mediciones anatómicas clave</a:t>
            </a:r>
            <a:endParaRPr lang="en-US" sz="1350" dirty="0"/>
          </a:p>
        </p:txBody>
      </p:sp>
      <p:sp>
        <p:nvSpPr>
          <p:cNvPr id="16" name="Text 11"/>
          <p:cNvSpPr txBox="1"/>
          <p:nvPr/>
        </p:nvSpPr>
        <p:spPr>
          <a:xfrm>
            <a:off x="7680960" y="2148840"/>
            <a:ext cx="3749040" cy="0"/>
          </a:xfrm>
          <a:prstGeom prst="rect">
            <a:avLst/>
          </a:prstGeom>
          <a:noFill/>
          <a:ln/>
        </p:spPr>
        <p:txBody>
          <a:bodyPr wrap="square" lIns="0" tIns="0" rIns="0" bIns="0" rtlCol="0" anchor="t"/>
          <a:lstStyle/>
          <a:p>
            <a:pPr marL="342900" indent="-342900">
              <a:spcAft>
                <a:spcPts val="900"/>
              </a:spcAft>
              <a:buSzPct val="100000"/>
              <a:buChar char="•"/>
            </a:pPr>
            <a:r>
              <a:rPr lang="en-US" sz="1100" dirty="0">
                <a:solidFill>
                  <a:srgbClr val="1B2E30"/>
                </a:solidFill>
                <a:latin typeface="Calibri" pitchFamily="34" charset="0"/>
                <a:ea typeface="Calibri" pitchFamily="34" charset="-122"/>
                <a:cs typeface="Calibri" pitchFamily="34" charset="-120"/>
              </a:rPr>
              <a:t>Distancia tiromentoniana: del cartílago tiroides al mentón, cuello en extensión. &lt; 6 cm sugiere vía aérea difícil.</a:t>
            </a:r>
            <a:endParaRPr lang="en-US" sz="1100" dirty="0"/>
          </a:p>
          <a:p>
            <a:pPr marL="342900" indent="-342900">
              <a:spcAft>
                <a:spcPts val="900"/>
              </a:spcAft>
              <a:buSzPct val="100000"/>
              <a:buChar char="•"/>
            </a:pPr>
            <a:r>
              <a:rPr lang="en-US" sz="1100" dirty="0">
                <a:solidFill>
                  <a:srgbClr val="1B2E30"/>
                </a:solidFill>
                <a:latin typeface="Calibri" pitchFamily="34" charset="0"/>
                <a:ea typeface="Calibri" pitchFamily="34" charset="-122"/>
                <a:cs typeface="Calibri" pitchFamily="34" charset="-120"/>
              </a:rPr>
              <a:t>Apertura bucal (distancia interincisiva): &lt; 3 cm (aprox. 2 traveses de dedo) limita el espacio de laringoscopia.</a:t>
            </a:r>
            <a:endParaRPr lang="en-US" sz="1100" dirty="0"/>
          </a:p>
          <a:p>
            <a:pPr marL="342900" indent="-342900">
              <a:spcAft>
                <a:spcPts val="900"/>
              </a:spcAft>
              <a:buSzPct val="100000"/>
              <a:buChar char="•"/>
            </a:pPr>
            <a:r>
              <a:rPr lang="en-US" sz="1100" dirty="0">
                <a:solidFill>
                  <a:srgbClr val="1B2E30"/>
                </a:solidFill>
                <a:latin typeface="Calibri" pitchFamily="34" charset="0"/>
                <a:ea typeface="Calibri" pitchFamily="34" charset="-122"/>
                <a:cs typeface="Calibri" pitchFamily="34" charset="-120"/>
              </a:rPr>
              <a:t>Distancia esternomentoniana: &lt; 12.5 cm se asocia a intubación difícil.</a:t>
            </a:r>
            <a:endParaRPr lang="en-US" sz="1100" dirty="0"/>
          </a:p>
          <a:p>
            <a:pPr marL="342900" indent="-342900">
              <a:spcAft>
                <a:spcPts val="900"/>
              </a:spcAft>
              <a:buSzPct val="100000"/>
              <a:buChar char="•"/>
            </a:pPr>
            <a:r>
              <a:rPr lang="en-US" sz="1100" dirty="0">
                <a:solidFill>
                  <a:srgbClr val="1B2E30"/>
                </a:solidFill>
                <a:latin typeface="Calibri" pitchFamily="34" charset="0"/>
                <a:ea typeface="Calibri" pitchFamily="34" charset="-122"/>
                <a:cs typeface="Calibri" pitchFamily="34" charset="-120"/>
              </a:rPr>
              <a:t>Movilidad cervical: extensión atlanto-occipital limitada dificulta el alineamiento de ejes.</a:t>
            </a:r>
            <a:endParaRPr lang="en-US" sz="1100" dirty="0"/>
          </a:p>
          <a:p>
            <a:pPr marL="342900" indent="-342900">
              <a:buSzPct val="100000"/>
              <a:buChar char="•"/>
            </a:pPr>
            <a:r>
              <a:rPr lang="en-US" sz="1100" dirty="0">
                <a:solidFill>
                  <a:srgbClr val="1B2E30"/>
                </a:solidFill>
                <a:latin typeface="Calibri" pitchFamily="34" charset="0"/>
                <a:ea typeface="Calibri" pitchFamily="34" charset="-122"/>
                <a:cs typeface="Calibri" pitchFamily="34" charset="-120"/>
              </a:rPr>
              <a:t>Protrusión mandibular (test de mordida): incapacidad de proyectar incisivos inferiores por delante de los superiores.</a:t>
            </a:r>
            <a:endParaRPr lang="en-US" sz="1100" dirty="0"/>
          </a:p>
        </p:txBody>
      </p:sp>
      <p:sp>
        <p:nvSpPr>
          <p:cNvPr id="17" name="Text 12"/>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8" name="Text 13"/>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VÍA AÉREA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Predictores clínicos de vía aérea difícil</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warning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NEMOTECNIA LEMON PARA VALORACIÓN RÁPIDA</a:t>
            </a:r>
            <a:endParaRPr lang="en-US" sz="1300" dirty="0"/>
          </a:p>
        </p:txBody>
      </p:sp>
      <p:sp>
        <p:nvSpPr>
          <p:cNvPr id="7" name="Shape 4"/>
          <p:cNvSpPr/>
          <p:nvPr/>
        </p:nvSpPr>
        <p:spPr>
          <a:xfrm>
            <a:off x="548640" y="1920240"/>
            <a:ext cx="402336" cy="402336"/>
          </a:xfrm>
          <a:prstGeom prst="ellipse">
            <a:avLst/>
          </a:prstGeom>
          <a:solidFill>
            <a:srgbClr val="028090"/>
          </a:solidFill>
          <a:ln/>
        </p:spPr>
      </p:sp>
      <p:sp>
        <p:nvSpPr>
          <p:cNvPr id="8" name="Text 5"/>
          <p:cNvSpPr txBox="1"/>
          <p:nvPr/>
        </p:nvSpPr>
        <p:spPr>
          <a:xfrm>
            <a:off x="548640" y="19202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a:t>
            </a:r>
            <a:endParaRPr lang="en-US" sz="1500" dirty="0"/>
          </a:p>
        </p:txBody>
      </p:sp>
      <p:sp>
        <p:nvSpPr>
          <p:cNvPr id="9" name="Text 6"/>
          <p:cNvSpPr txBox="1"/>
          <p:nvPr/>
        </p:nvSpPr>
        <p:spPr>
          <a:xfrm>
            <a:off x="1097280" y="1901952"/>
            <a:ext cx="4846320" cy="457200"/>
          </a:xfrm>
          <a:prstGeom prst="rect">
            <a:avLst/>
          </a:prstGeom>
          <a:noFill/>
          <a:ln/>
        </p:spPr>
        <p:txBody>
          <a:bodyPr wrap="square" lIns="0" tIns="0" rIns="0" bIns="0" rtlCol="0" anchor="ctr"/>
          <a:lstStyle/>
          <a:p>
            <a:pPr indent="0" marL="0">
              <a:lnSpc>
                <a:spcPct val="105000"/>
              </a:lnSpc>
              <a:buNone/>
            </a:pPr>
            <a:r>
              <a:rPr lang="en-US" sz="1100" b="1" dirty="0">
                <a:solidFill>
                  <a:srgbClr val="013A40"/>
                </a:solidFill>
                <a:latin typeface="Calibri" pitchFamily="34" charset="0"/>
                <a:ea typeface="Calibri" pitchFamily="34" charset="-122"/>
                <a:cs typeface="Calibri" pitchFamily="34" charset="-120"/>
              </a:rPr>
              <a:t>Look externally:  </a:t>
            </a:r>
            <a:pPr indent="0" marL="0">
              <a:lnSpc>
                <a:spcPct val="105000"/>
              </a:lnSpc>
              <a:buNone/>
            </a:pPr>
            <a:r>
              <a:rPr lang="en-US" sz="1100" dirty="0">
                <a:solidFill>
                  <a:srgbClr val="52696C"/>
                </a:solidFill>
                <a:latin typeface="Calibri" pitchFamily="34" charset="0"/>
                <a:ea typeface="Calibri" pitchFamily="34" charset="-122"/>
                <a:cs typeface="Calibri" pitchFamily="34" charset="-120"/>
              </a:rPr>
              <a:t>Rasgos faciales anormales: retrognatia, cuello corto, obesidad.</a:t>
            </a:r>
            <a:endParaRPr lang="en-US" sz="1100" dirty="0"/>
          </a:p>
        </p:txBody>
      </p:sp>
      <p:sp>
        <p:nvSpPr>
          <p:cNvPr id="10" name="Shape 7"/>
          <p:cNvSpPr/>
          <p:nvPr/>
        </p:nvSpPr>
        <p:spPr>
          <a:xfrm>
            <a:off x="548640" y="2523744"/>
            <a:ext cx="402336" cy="402336"/>
          </a:xfrm>
          <a:prstGeom prst="ellipse">
            <a:avLst/>
          </a:prstGeom>
          <a:solidFill>
            <a:srgbClr val="028090"/>
          </a:solidFill>
          <a:ln/>
        </p:spPr>
      </p:sp>
      <p:sp>
        <p:nvSpPr>
          <p:cNvPr id="11" name="Text 8"/>
          <p:cNvSpPr txBox="1"/>
          <p:nvPr/>
        </p:nvSpPr>
        <p:spPr>
          <a:xfrm>
            <a:off x="548640" y="25237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a:t>
            </a:r>
            <a:endParaRPr lang="en-US" sz="1500" dirty="0"/>
          </a:p>
        </p:txBody>
      </p:sp>
      <p:sp>
        <p:nvSpPr>
          <p:cNvPr id="12" name="Text 9"/>
          <p:cNvSpPr txBox="1"/>
          <p:nvPr/>
        </p:nvSpPr>
        <p:spPr>
          <a:xfrm>
            <a:off x="1097280" y="2505456"/>
            <a:ext cx="4846320" cy="457200"/>
          </a:xfrm>
          <a:prstGeom prst="rect">
            <a:avLst/>
          </a:prstGeom>
          <a:noFill/>
          <a:ln/>
        </p:spPr>
        <p:txBody>
          <a:bodyPr wrap="square" lIns="0" tIns="0" rIns="0" bIns="0" rtlCol="0" anchor="ctr"/>
          <a:lstStyle/>
          <a:p>
            <a:pPr indent="0" marL="0">
              <a:lnSpc>
                <a:spcPct val="105000"/>
              </a:lnSpc>
              <a:buNone/>
            </a:pPr>
            <a:r>
              <a:rPr lang="en-US" sz="1100" b="1" dirty="0">
                <a:solidFill>
                  <a:srgbClr val="013A40"/>
                </a:solidFill>
                <a:latin typeface="Calibri" pitchFamily="34" charset="0"/>
                <a:ea typeface="Calibri" pitchFamily="34" charset="-122"/>
                <a:cs typeface="Calibri" pitchFamily="34" charset="-120"/>
              </a:rPr>
              <a:t>Evaluate 3-3-2:  </a:t>
            </a:r>
            <a:pPr indent="0" marL="0">
              <a:lnSpc>
                <a:spcPct val="105000"/>
              </a:lnSpc>
              <a:buNone/>
            </a:pPr>
            <a:r>
              <a:rPr lang="en-US" sz="1100" dirty="0">
                <a:solidFill>
                  <a:srgbClr val="52696C"/>
                </a:solidFill>
                <a:latin typeface="Calibri" pitchFamily="34" charset="0"/>
                <a:ea typeface="Calibri" pitchFamily="34" charset="-122"/>
                <a:cs typeface="Calibri" pitchFamily="34" charset="-120"/>
              </a:rPr>
              <a:t>Apertura bucal, distancia mentohioidea y tiromentoniana.</a:t>
            </a:r>
            <a:endParaRPr lang="en-US" sz="1100" dirty="0"/>
          </a:p>
        </p:txBody>
      </p:sp>
      <p:sp>
        <p:nvSpPr>
          <p:cNvPr id="13" name="Shape 10"/>
          <p:cNvSpPr/>
          <p:nvPr/>
        </p:nvSpPr>
        <p:spPr>
          <a:xfrm>
            <a:off x="548640" y="3127248"/>
            <a:ext cx="402336" cy="402336"/>
          </a:xfrm>
          <a:prstGeom prst="ellipse">
            <a:avLst/>
          </a:prstGeom>
          <a:solidFill>
            <a:srgbClr val="028090"/>
          </a:solidFill>
          <a:ln/>
        </p:spPr>
      </p:sp>
      <p:sp>
        <p:nvSpPr>
          <p:cNvPr id="14" name="Text 11"/>
          <p:cNvSpPr txBox="1"/>
          <p:nvPr/>
        </p:nvSpPr>
        <p:spPr>
          <a:xfrm>
            <a:off x="548640" y="31272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a:t>
            </a:r>
            <a:endParaRPr lang="en-US" sz="1500" dirty="0"/>
          </a:p>
        </p:txBody>
      </p:sp>
      <p:sp>
        <p:nvSpPr>
          <p:cNvPr id="15" name="Text 12"/>
          <p:cNvSpPr txBox="1"/>
          <p:nvPr/>
        </p:nvSpPr>
        <p:spPr>
          <a:xfrm>
            <a:off x="1097280" y="3108960"/>
            <a:ext cx="4846320" cy="457200"/>
          </a:xfrm>
          <a:prstGeom prst="rect">
            <a:avLst/>
          </a:prstGeom>
          <a:noFill/>
          <a:ln/>
        </p:spPr>
        <p:txBody>
          <a:bodyPr wrap="square" lIns="0" tIns="0" rIns="0" bIns="0" rtlCol="0" anchor="ctr"/>
          <a:lstStyle/>
          <a:p>
            <a:pPr indent="0" marL="0">
              <a:lnSpc>
                <a:spcPct val="105000"/>
              </a:lnSpc>
              <a:buNone/>
            </a:pPr>
            <a:r>
              <a:rPr lang="en-US" sz="1100" b="1" dirty="0">
                <a:solidFill>
                  <a:srgbClr val="013A40"/>
                </a:solidFill>
                <a:latin typeface="Calibri" pitchFamily="34" charset="0"/>
                <a:ea typeface="Calibri" pitchFamily="34" charset="-122"/>
                <a:cs typeface="Calibri" pitchFamily="34" charset="-120"/>
              </a:rPr>
              <a:t>Mallampati:  </a:t>
            </a:r>
            <a:pPr indent="0" marL="0">
              <a:lnSpc>
                <a:spcPct val="105000"/>
              </a:lnSpc>
              <a:buNone/>
            </a:pPr>
            <a:r>
              <a:rPr lang="en-US" sz="1100" dirty="0">
                <a:solidFill>
                  <a:srgbClr val="52696C"/>
                </a:solidFill>
                <a:latin typeface="Calibri" pitchFamily="34" charset="0"/>
                <a:ea typeface="Calibri" pitchFamily="34" charset="-122"/>
                <a:cs typeface="Calibri" pitchFamily="34" charset="-120"/>
              </a:rPr>
              <a:t>Clase III-IV incrementa la dificultad esperada.</a:t>
            </a:r>
            <a:endParaRPr lang="en-US" sz="1100" dirty="0"/>
          </a:p>
        </p:txBody>
      </p:sp>
      <p:sp>
        <p:nvSpPr>
          <p:cNvPr id="16" name="Shape 13"/>
          <p:cNvSpPr/>
          <p:nvPr/>
        </p:nvSpPr>
        <p:spPr>
          <a:xfrm>
            <a:off x="548640" y="3730752"/>
            <a:ext cx="402336" cy="402336"/>
          </a:xfrm>
          <a:prstGeom prst="ellipse">
            <a:avLst/>
          </a:prstGeom>
          <a:solidFill>
            <a:srgbClr val="028090"/>
          </a:solidFill>
          <a:ln/>
        </p:spPr>
      </p:sp>
      <p:sp>
        <p:nvSpPr>
          <p:cNvPr id="17" name="Text 14"/>
          <p:cNvSpPr txBox="1"/>
          <p:nvPr/>
        </p:nvSpPr>
        <p:spPr>
          <a:xfrm>
            <a:off x="548640" y="37307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O</a:t>
            </a:r>
            <a:endParaRPr lang="en-US" sz="1500" dirty="0"/>
          </a:p>
        </p:txBody>
      </p:sp>
      <p:sp>
        <p:nvSpPr>
          <p:cNvPr id="18" name="Text 15"/>
          <p:cNvSpPr txBox="1"/>
          <p:nvPr/>
        </p:nvSpPr>
        <p:spPr>
          <a:xfrm>
            <a:off x="1097280" y="3712464"/>
            <a:ext cx="4846320" cy="457200"/>
          </a:xfrm>
          <a:prstGeom prst="rect">
            <a:avLst/>
          </a:prstGeom>
          <a:noFill/>
          <a:ln/>
        </p:spPr>
        <p:txBody>
          <a:bodyPr wrap="square" lIns="0" tIns="0" rIns="0" bIns="0" rtlCol="0" anchor="ctr"/>
          <a:lstStyle/>
          <a:p>
            <a:pPr indent="0" marL="0">
              <a:lnSpc>
                <a:spcPct val="105000"/>
              </a:lnSpc>
              <a:buNone/>
            </a:pPr>
            <a:r>
              <a:rPr lang="en-US" sz="1100" b="1" dirty="0">
                <a:solidFill>
                  <a:srgbClr val="013A40"/>
                </a:solidFill>
                <a:latin typeface="Calibri" pitchFamily="34" charset="0"/>
                <a:ea typeface="Calibri" pitchFamily="34" charset="-122"/>
                <a:cs typeface="Calibri" pitchFamily="34" charset="-120"/>
              </a:rPr>
              <a:t>Obstruction:  </a:t>
            </a:r>
            <a:pPr indent="0" marL="0">
              <a:lnSpc>
                <a:spcPct val="105000"/>
              </a:lnSpc>
              <a:buNone/>
            </a:pPr>
            <a:r>
              <a:rPr lang="en-US" sz="1100" dirty="0">
                <a:solidFill>
                  <a:srgbClr val="52696C"/>
                </a:solidFill>
                <a:latin typeface="Calibri" pitchFamily="34" charset="0"/>
                <a:ea typeface="Calibri" pitchFamily="34" charset="-122"/>
                <a:cs typeface="Calibri" pitchFamily="34" charset="-120"/>
              </a:rPr>
              <a:t>Cualquier obstrucción anatómica: tumor, absceso, trauma.</a:t>
            </a:r>
            <a:endParaRPr lang="en-US" sz="1100" dirty="0"/>
          </a:p>
        </p:txBody>
      </p:sp>
      <p:sp>
        <p:nvSpPr>
          <p:cNvPr id="19" name="Shape 16"/>
          <p:cNvSpPr/>
          <p:nvPr/>
        </p:nvSpPr>
        <p:spPr>
          <a:xfrm>
            <a:off x="548640" y="4334256"/>
            <a:ext cx="402336" cy="402336"/>
          </a:xfrm>
          <a:prstGeom prst="ellipse">
            <a:avLst/>
          </a:prstGeom>
          <a:solidFill>
            <a:srgbClr val="028090"/>
          </a:solidFill>
          <a:ln/>
        </p:spPr>
      </p:sp>
      <p:sp>
        <p:nvSpPr>
          <p:cNvPr id="20" name="Text 17"/>
          <p:cNvSpPr txBox="1"/>
          <p:nvPr/>
        </p:nvSpPr>
        <p:spPr>
          <a:xfrm>
            <a:off x="548640" y="43342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N</a:t>
            </a:r>
            <a:endParaRPr lang="en-US" sz="1500" dirty="0"/>
          </a:p>
        </p:txBody>
      </p:sp>
      <p:sp>
        <p:nvSpPr>
          <p:cNvPr id="21" name="Text 18"/>
          <p:cNvSpPr txBox="1"/>
          <p:nvPr/>
        </p:nvSpPr>
        <p:spPr>
          <a:xfrm>
            <a:off x="1097280" y="4315968"/>
            <a:ext cx="4846320" cy="457200"/>
          </a:xfrm>
          <a:prstGeom prst="rect">
            <a:avLst/>
          </a:prstGeom>
          <a:noFill/>
          <a:ln/>
        </p:spPr>
        <p:txBody>
          <a:bodyPr wrap="square" lIns="0" tIns="0" rIns="0" bIns="0" rtlCol="0" anchor="ctr"/>
          <a:lstStyle/>
          <a:p>
            <a:pPr indent="0" marL="0">
              <a:lnSpc>
                <a:spcPct val="105000"/>
              </a:lnSpc>
              <a:buNone/>
            </a:pPr>
            <a:r>
              <a:rPr lang="en-US" sz="1100" b="1" dirty="0">
                <a:solidFill>
                  <a:srgbClr val="013A40"/>
                </a:solidFill>
                <a:latin typeface="Calibri" pitchFamily="34" charset="0"/>
                <a:ea typeface="Calibri" pitchFamily="34" charset="-122"/>
                <a:cs typeface="Calibri" pitchFamily="34" charset="-120"/>
              </a:rPr>
              <a:t>Neck mobility:  </a:t>
            </a:r>
            <a:pPr indent="0" marL="0">
              <a:lnSpc>
                <a:spcPct val="105000"/>
              </a:lnSpc>
              <a:buNone/>
            </a:pPr>
            <a:r>
              <a:rPr lang="en-US" sz="1100" dirty="0">
                <a:solidFill>
                  <a:srgbClr val="52696C"/>
                </a:solidFill>
                <a:latin typeface="Calibri" pitchFamily="34" charset="0"/>
                <a:ea typeface="Calibri" pitchFamily="34" charset="-122"/>
                <a:cs typeface="Calibri" pitchFamily="34" charset="-120"/>
              </a:rPr>
              <a:t>Movilidad cervical limitada (artritis, collarín, espondilitis).</a:t>
            </a:r>
            <a:endParaRPr lang="en-US" sz="1100" dirty="0"/>
          </a:p>
        </p:txBody>
      </p:sp>
      <p:sp>
        <p:nvSpPr>
          <p:cNvPr id="22" name="Shape 19"/>
          <p:cNvSpPr/>
          <p:nvPr/>
        </p:nvSpPr>
        <p:spPr>
          <a:xfrm>
            <a:off x="548640" y="5166360"/>
            <a:ext cx="5394960" cy="1051560"/>
          </a:xfrm>
          <a:prstGeom prst="roundRect">
            <a:avLst>
              <a:gd name="adj" fmla="val 6957"/>
            </a:avLst>
          </a:prstGeom>
          <a:solidFill>
            <a:srgbClr val="EFF7F7"/>
          </a:solidFill>
          <a:ln/>
        </p:spPr>
      </p:sp>
      <p:sp>
        <p:nvSpPr>
          <p:cNvPr id="23" name="Shape 20"/>
          <p:cNvSpPr/>
          <p:nvPr/>
        </p:nvSpPr>
        <p:spPr>
          <a:xfrm>
            <a:off x="749808" y="5454396"/>
            <a:ext cx="475488" cy="475488"/>
          </a:xfrm>
          <a:prstGeom prst="ellipse">
            <a:avLst/>
          </a:prstGeom>
          <a:solidFill>
            <a:srgbClr val="028090"/>
          </a:solidFill>
          <a:ln/>
        </p:spPr>
      </p:sp>
      <p:pic>
        <p:nvPicPr>
          <p:cNvPr id="24" name="Image 1" descr="/tmp/claude-0/-home-user-gpa-academy1/adc6e4aa-3b77-57c1-ba92-a8d4ee625c84/scratchpad/pptx_ch3/icons/warning_white.png">    </p:cNvPr>
          <p:cNvPicPr>
            <a:picLocks noChangeAspect="1"/>
          </p:cNvPicPr>
          <p:nvPr/>
        </p:nvPicPr>
        <p:blipFill>
          <a:blip r:embed="rId2"/>
          <a:stretch>
            <a:fillRect/>
          </a:stretch>
        </p:blipFill>
        <p:spPr>
          <a:xfrm>
            <a:off x="854415" y="5559003"/>
            <a:ext cx="266273" cy="266273"/>
          </a:xfrm>
          <a:prstGeom prst="rect">
            <a:avLst/>
          </a:prstGeom>
        </p:spPr>
      </p:pic>
      <p:sp>
        <p:nvSpPr>
          <p:cNvPr id="25" name="Text 21"/>
          <p:cNvSpPr txBox="1"/>
          <p:nvPr/>
        </p:nvSpPr>
        <p:spPr>
          <a:xfrm>
            <a:off x="1371600" y="5294376"/>
            <a:ext cx="438912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Cuando LEMON es positivo</a:t>
            </a:r>
            <a:endParaRPr lang="en-US" sz="1350" dirty="0"/>
          </a:p>
        </p:txBody>
      </p:sp>
      <p:sp>
        <p:nvSpPr>
          <p:cNvPr id="26" name="Text 22"/>
          <p:cNvSpPr txBox="1"/>
          <p:nvPr/>
        </p:nvSpPr>
        <p:spPr>
          <a:xfrm>
            <a:off x="1371600" y="5568696"/>
            <a:ext cx="4389120" cy="54864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Ante hallazgos positivos, planificar con dispositivos y personal adicional (videolaringoscopio, set de vía aérea difícil, segundo operador) antes de iniciar la inducción.</a:t>
            </a:r>
            <a:endParaRPr lang="en-US" sz="1150" dirty="0"/>
          </a:p>
        </p:txBody>
      </p:sp>
      <p:sp>
        <p:nvSpPr>
          <p:cNvPr id="27" name="Shape 23"/>
          <p:cNvSpPr/>
          <p:nvPr/>
        </p:nvSpPr>
        <p:spPr>
          <a:xfrm>
            <a:off x="6263640" y="1572768"/>
            <a:ext cx="5394960" cy="4434840"/>
          </a:xfrm>
          <a:prstGeom prst="roundRect">
            <a:avLst>
              <a:gd name="adj" fmla="val 1649"/>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8" name="Text 24"/>
          <p:cNvSpPr txBox="1"/>
          <p:nvPr/>
        </p:nvSpPr>
        <p:spPr>
          <a:xfrm>
            <a:off x="6492240" y="1755648"/>
            <a:ext cx="4937760" cy="320040"/>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Condiciones clínicas asociadas a vía aérea difícil</a:t>
            </a:r>
            <a:endParaRPr lang="en-US" sz="1350" dirty="0"/>
          </a:p>
        </p:txBody>
      </p:sp>
      <p:sp>
        <p:nvSpPr>
          <p:cNvPr id="29" name="Text 25"/>
          <p:cNvSpPr txBox="1"/>
          <p:nvPr/>
        </p:nvSpPr>
        <p:spPr>
          <a:xfrm>
            <a:off x="6492240" y="2103120"/>
            <a:ext cx="4937760" cy="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Obesidad severa y síndrome de apnea obstructiva del sueño.</a:t>
            </a:r>
            <a:endParaRPr lang="en-US" sz="1100" dirty="0"/>
          </a:p>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Antecedente personal documentado de intubación difícil.</a:t>
            </a:r>
            <a:endParaRPr lang="en-US" sz="1100" dirty="0"/>
          </a:p>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Patología cervical: artritis reumatoide, espondilitis anquilosante, radioterapia previa.</a:t>
            </a:r>
            <a:endParaRPr lang="en-US" sz="1100" dirty="0"/>
          </a:p>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Tumoraciones o infecciones de cabeza y cuello (absceso periamigdalino, angina de Ludwig).</a:t>
            </a:r>
            <a:endParaRPr lang="en-US" sz="1100" dirty="0"/>
          </a:p>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Embarazo avanzado: edema de vía aérea y mucosa friable.</a:t>
            </a:r>
            <a:endParaRPr lang="en-US" sz="1100" dirty="0"/>
          </a:p>
          <a:p>
            <a:pPr marL="342900" indent="-342900">
              <a:spcAft>
                <a:spcPts val="800"/>
              </a:spcAft>
              <a:buSzPct val="100000"/>
              <a:buChar char="•"/>
            </a:pPr>
            <a:r>
              <a:rPr lang="en-US" sz="1100" dirty="0">
                <a:solidFill>
                  <a:srgbClr val="1B2E30"/>
                </a:solidFill>
                <a:latin typeface="Calibri" pitchFamily="34" charset="0"/>
                <a:ea typeface="Calibri" pitchFamily="34" charset="-122"/>
                <a:cs typeface="Calibri" pitchFamily="34" charset="-120"/>
              </a:rPr>
              <a:t>Malformaciones congénitas craneofaciales (Pierre Robin, Treacher Collins).</a:t>
            </a:r>
            <a:endParaRPr lang="en-US" sz="1100" dirty="0"/>
          </a:p>
          <a:p>
            <a:pPr marL="342900" indent="-342900">
              <a:buSzPct val="100000"/>
              <a:buChar char="•"/>
            </a:pPr>
            <a:r>
              <a:rPr lang="en-US" sz="1100" dirty="0">
                <a:solidFill>
                  <a:srgbClr val="1B2E30"/>
                </a:solidFill>
                <a:latin typeface="Calibri" pitchFamily="34" charset="0"/>
                <a:ea typeface="Calibri" pitchFamily="34" charset="-122"/>
                <a:cs typeface="Calibri" pitchFamily="34" charset="-120"/>
              </a:rPr>
              <a:t>Quemaduras o trauma facial/cervical reciente.</a:t>
            </a:r>
            <a:endParaRPr lang="en-US" sz="1100" dirty="0"/>
          </a:p>
        </p:txBody>
      </p:sp>
      <p:sp>
        <p:nvSpPr>
          <p:cNvPr id="30" name="Text 26"/>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1" name="Text 27"/>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EVALUACIÓN POR SISTEMAS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Evaluación respiratoria: historia y examen pulmonar dirigido</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lungs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ANAMNESIS RESPIRATORIA DIRIGIDA</a:t>
            </a:r>
            <a:endParaRPr lang="en-US" sz="1300" dirty="0"/>
          </a:p>
        </p:txBody>
      </p:sp>
      <p:sp>
        <p:nvSpPr>
          <p:cNvPr id="7" name="Text 4"/>
          <p:cNvSpPr txBox="1"/>
          <p:nvPr/>
        </p:nvSpPr>
        <p:spPr>
          <a:xfrm>
            <a:off x="548640" y="1901952"/>
            <a:ext cx="5394960" cy="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Disnea: cuantificar según escala funcional (mMRC o equivalente) y su relación con el esfuerzo.</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Tos crónica, producción de esputo y su carácter (purulento, hemoptoico).</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Sibilancias, antecedente de asma o EPOC y su grado de control actual.</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Infecciones respiratorias recientes: posponer cirugía electiva si hay infección activa.</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Antecedente de apnea obstructiva del sueño y uso de CPAP domiciliario.</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Exposición ocupacional a polvos, humos o agentes irritantes.</a:t>
            </a:r>
            <a:endParaRPr lang="en-US" sz="1200" dirty="0"/>
          </a:p>
        </p:txBody>
      </p:sp>
      <p:sp>
        <p:nvSpPr>
          <p:cNvPr id="8" name="Shape 5"/>
          <p:cNvSpPr/>
          <p:nvPr/>
        </p:nvSpPr>
        <p:spPr>
          <a:xfrm>
            <a:off x="548640" y="4709160"/>
            <a:ext cx="5394960" cy="1417320"/>
          </a:xfrm>
          <a:prstGeom prst="roundRect">
            <a:avLst>
              <a:gd name="adj" fmla="val 5161"/>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9" name="Text 6"/>
          <p:cNvSpPr txBox="1"/>
          <p:nvPr/>
        </p:nvSpPr>
        <p:spPr>
          <a:xfrm>
            <a:off x="685800" y="4800600"/>
            <a:ext cx="5120640" cy="566928"/>
          </a:xfrm>
          <a:prstGeom prst="rect">
            <a:avLst/>
          </a:prstGeom>
          <a:noFill/>
          <a:ln/>
        </p:spPr>
        <p:txBody>
          <a:bodyPr wrap="square" lIns="0" tIns="0" rIns="0" bIns="0" rtlCol="0" anchor="b"/>
          <a:lstStyle/>
          <a:p>
            <a:pPr algn="ctr" indent="0" marL="0">
              <a:buNone/>
            </a:pPr>
            <a:r>
              <a:rPr lang="en-US" sz="2400" b="1" dirty="0">
                <a:solidFill>
                  <a:srgbClr val="00A896"/>
                </a:solidFill>
                <a:latin typeface="Cambria" pitchFamily="34" charset="0"/>
                <a:ea typeface="Cambria" pitchFamily="34" charset="-122"/>
                <a:cs typeface="Cambria" pitchFamily="34" charset="-120"/>
              </a:rPr>
              <a:t>STOP-BANG</a:t>
            </a:r>
            <a:endParaRPr lang="en-US" sz="2400" dirty="0"/>
          </a:p>
        </p:txBody>
      </p:sp>
      <p:sp>
        <p:nvSpPr>
          <p:cNvPr id="10" name="Text 7"/>
          <p:cNvSpPr txBox="1"/>
          <p:nvPr/>
        </p:nvSpPr>
        <p:spPr>
          <a:xfrm>
            <a:off x="685800" y="5422392"/>
            <a:ext cx="5120640" cy="256032"/>
          </a:xfrm>
          <a:prstGeom prst="rect">
            <a:avLst/>
          </a:prstGeom>
          <a:noFill/>
          <a:ln/>
        </p:spPr>
        <p:txBody>
          <a:bodyPr wrap="square" lIns="0" tIns="0" rIns="0" bIns="0" rtlCol="0" anchor="ctr"/>
          <a:lstStyle/>
          <a:p>
            <a:pPr algn="ctr" indent="0" marL="0">
              <a:buNone/>
            </a:pPr>
            <a:r>
              <a:rPr lang="en-US" sz="1150" b="1" dirty="0">
                <a:solidFill>
                  <a:srgbClr val="013A40"/>
                </a:solidFill>
                <a:latin typeface="Calibri" pitchFamily="34" charset="0"/>
                <a:ea typeface="Calibri" pitchFamily="34" charset="-122"/>
                <a:cs typeface="Calibri" pitchFamily="34" charset="-120"/>
              </a:rPr>
              <a:t>Tamizaje de apnea obstructiva del sueño</a:t>
            </a:r>
            <a:endParaRPr lang="en-US" sz="1150" dirty="0"/>
          </a:p>
        </p:txBody>
      </p:sp>
      <p:sp>
        <p:nvSpPr>
          <p:cNvPr id="11" name="Text 8"/>
          <p:cNvSpPr txBox="1"/>
          <p:nvPr/>
        </p:nvSpPr>
        <p:spPr>
          <a:xfrm>
            <a:off x="685800" y="5696712"/>
            <a:ext cx="5120640" cy="301752"/>
          </a:xfrm>
          <a:prstGeom prst="rect">
            <a:avLst/>
          </a:prstGeom>
          <a:noFill/>
          <a:ln/>
        </p:spPr>
        <p:txBody>
          <a:bodyPr wrap="square" lIns="0" tIns="0" rIns="0" bIns="0" rtlCol="0" anchor="t"/>
          <a:lstStyle/>
          <a:p>
            <a:pPr algn="ctr" indent="0" marL="0">
              <a:lnSpc>
                <a:spcPct val="105000"/>
              </a:lnSpc>
              <a:buNone/>
            </a:pPr>
            <a:r>
              <a:rPr lang="en-US" sz="950" dirty="0">
                <a:solidFill>
                  <a:srgbClr val="52696C"/>
                </a:solidFill>
                <a:latin typeface="Calibri" pitchFamily="34" charset="0"/>
                <a:ea typeface="Calibri" pitchFamily="34" charset="-122"/>
                <a:cs typeface="Calibri" pitchFamily="34" charset="-120"/>
              </a:rPr>
              <a:t>Aplicar en la consulta ante ronquido, somnolencia diurna u obesidad: eleva el riesgo de vía aérea difícil y depresión respiratoria por opioides</a:t>
            </a:r>
            <a:endParaRPr lang="en-US" sz="950" dirty="0"/>
          </a:p>
        </p:txBody>
      </p:sp>
      <p:sp>
        <p:nvSpPr>
          <p:cNvPr id="12" name="Text 9"/>
          <p:cNvSpPr txBox="1"/>
          <p:nvPr/>
        </p:nvSpPr>
        <p:spPr>
          <a:xfrm>
            <a:off x="6263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HALLAZGOS DE ALTO VALOR EN EL EXAMEN FÍSICO</a:t>
            </a:r>
            <a:endParaRPr lang="en-US" sz="1300" dirty="0"/>
          </a:p>
        </p:txBody>
      </p:sp>
      <p:sp>
        <p:nvSpPr>
          <p:cNvPr id="13" name="Shape 10"/>
          <p:cNvSpPr/>
          <p:nvPr/>
        </p:nvSpPr>
        <p:spPr>
          <a:xfrm>
            <a:off x="6263640" y="1901952"/>
            <a:ext cx="475488" cy="475488"/>
          </a:xfrm>
          <a:prstGeom prst="ellipse">
            <a:avLst/>
          </a:prstGeom>
          <a:solidFill>
            <a:srgbClr val="028090"/>
          </a:solidFill>
          <a:ln/>
        </p:spPr>
      </p:sp>
      <p:pic>
        <p:nvPicPr>
          <p:cNvPr id="14" name="Image 1" descr="/tmp/claude-0/-home-user-gpa-academy1/adc6e4aa-3b77-57c1-ba92-a8d4ee625c84/scratchpad/pptx_ch3/icons/examBody_white.png">    </p:cNvPr>
          <p:cNvPicPr>
            <a:picLocks noChangeAspect="1"/>
          </p:cNvPicPr>
          <p:nvPr/>
        </p:nvPicPr>
        <p:blipFill>
          <a:blip r:embed="rId2"/>
          <a:stretch>
            <a:fillRect/>
          </a:stretch>
        </p:blipFill>
        <p:spPr>
          <a:xfrm>
            <a:off x="6370625" y="2008937"/>
            <a:ext cx="261518" cy="261518"/>
          </a:xfrm>
          <a:prstGeom prst="rect">
            <a:avLst/>
          </a:prstGeom>
        </p:spPr>
      </p:pic>
      <p:sp>
        <p:nvSpPr>
          <p:cNvPr id="15" name="Text 11"/>
          <p:cNvSpPr txBox="1"/>
          <p:nvPr/>
        </p:nvSpPr>
        <p:spPr>
          <a:xfrm>
            <a:off x="6940296" y="1865376"/>
            <a:ext cx="4718304"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Patrón respiratorio</a:t>
            </a:r>
            <a:endParaRPr lang="en-US" sz="1250" dirty="0"/>
          </a:p>
        </p:txBody>
      </p:sp>
      <p:sp>
        <p:nvSpPr>
          <p:cNvPr id="16" name="Text 12"/>
          <p:cNvSpPr txBox="1"/>
          <p:nvPr/>
        </p:nvSpPr>
        <p:spPr>
          <a:xfrm>
            <a:off x="6940296" y="2130552"/>
            <a:ext cx="4718304"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Frecuencia, uso de musculatura accesoria, tiraje intercostal o supraclavicular.</a:t>
            </a:r>
            <a:endParaRPr lang="en-US" sz="1100" dirty="0"/>
          </a:p>
        </p:txBody>
      </p:sp>
      <p:sp>
        <p:nvSpPr>
          <p:cNvPr id="17" name="Shape 13"/>
          <p:cNvSpPr/>
          <p:nvPr/>
        </p:nvSpPr>
        <p:spPr>
          <a:xfrm>
            <a:off x="6263640" y="2862072"/>
            <a:ext cx="475488" cy="475488"/>
          </a:xfrm>
          <a:prstGeom prst="ellipse">
            <a:avLst/>
          </a:prstGeom>
          <a:solidFill>
            <a:srgbClr val="00A896"/>
          </a:solidFill>
          <a:ln/>
        </p:spPr>
      </p:sp>
      <p:pic>
        <p:nvPicPr>
          <p:cNvPr id="18" name="Image 2" descr="/tmp/claude-0/-home-user-gpa-academy1/adc6e4aa-3b77-57c1-ba92-a8d4ee625c84/scratchpad/pptx_ch3/icons/stethoscope_white.png">    </p:cNvPr>
          <p:cNvPicPr>
            <a:picLocks noChangeAspect="1"/>
          </p:cNvPicPr>
          <p:nvPr/>
        </p:nvPicPr>
        <p:blipFill>
          <a:blip r:embed="rId3"/>
          <a:stretch>
            <a:fillRect/>
          </a:stretch>
        </p:blipFill>
        <p:spPr>
          <a:xfrm>
            <a:off x="6370625" y="2969057"/>
            <a:ext cx="261518" cy="261518"/>
          </a:xfrm>
          <a:prstGeom prst="rect">
            <a:avLst/>
          </a:prstGeom>
        </p:spPr>
      </p:pic>
      <p:sp>
        <p:nvSpPr>
          <p:cNvPr id="19" name="Text 14"/>
          <p:cNvSpPr txBox="1"/>
          <p:nvPr/>
        </p:nvSpPr>
        <p:spPr>
          <a:xfrm>
            <a:off x="6940296" y="2825496"/>
            <a:ext cx="4718304"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Auscultación</a:t>
            </a:r>
            <a:endParaRPr lang="en-US" sz="1250" dirty="0"/>
          </a:p>
        </p:txBody>
      </p:sp>
      <p:sp>
        <p:nvSpPr>
          <p:cNvPr id="20" name="Text 15"/>
          <p:cNvSpPr txBox="1"/>
          <p:nvPr/>
        </p:nvSpPr>
        <p:spPr>
          <a:xfrm>
            <a:off x="6940296" y="3090672"/>
            <a:ext cx="4718304"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Sibilancias, estertores, disminución del murmullo vesicular, asimetrías.</a:t>
            </a:r>
            <a:endParaRPr lang="en-US" sz="1100" dirty="0"/>
          </a:p>
        </p:txBody>
      </p:sp>
      <p:sp>
        <p:nvSpPr>
          <p:cNvPr id="21" name="Shape 16"/>
          <p:cNvSpPr/>
          <p:nvPr/>
        </p:nvSpPr>
        <p:spPr>
          <a:xfrm>
            <a:off x="6263640" y="3822192"/>
            <a:ext cx="475488" cy="475488"/>
          </a:xfrm>
          <a:prstGeom prst="ellipse">
            <a:avLst/>
          </a:prstGeom>
          <a:solidFill>
            <a:srgbClr val="02C39A"/>
          </a:solidFill>
          <a:ln/>
        </p:spPr>
      </p:sp>
      <p:pic>
        <p:nvPicPr>
          <p:cNvPr id="22" name="Image 3" descr="/tmp/claude-0/-home-user-gpa-academy1/adc6e4aa-3b77-57c1-ba92-a8d4ee625c84/scratchpad/pptx_ch3/icons/scale_white.png">    </p:cNvPr>
          <p:cNvPicPr>
            <a:picLocks noChangeAspect="1"/>
          </p:cNvPicPr>
          <p:nvPr/>
        </p:nvPicPr>
        <p:blipFill>
          <a:blip r:embed="rId4"/>
          <a:stretch>
            <a:fillRect/>
          </a:stretch>
        </p:blipFill>
        <p:spPr>
          <a:xfrm>
            <a:off x="6370625" y="3929177"/>
            <a:ext cx="261518" cy="261518"/>
          </a:xfrm>
          <a:prstGeom prst="rect">
            <a:avLst/>
          </a:prstGeom>
        </p:spPr>
      </p:pic>
      <p:sp>
        <p:nvSpPr>
          <p:cNvPr id="23" name="Text 17"/>
          <p:cNvSpPr txBox="1"/>
          <p:nvPr/>
        </p:nvSpPr>
        <p:spPr>
          <a:xfrm>
            <a:off x="6940296" y="3785616"/>
            <a:ext cx="4718304"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Signos de cronicidad</a:t>
            </a:r>
            <a:endParaRPr lang="en-US" sz="1250" dirty="0"/>
          </a:p>
        </p:txBody>
      </p:sp>
      <p:sp>
        <p:nvSpPr>
          <p:cNvPr id="24" name="Text 18"/>
          <p:cNvSpPr txBox="1"/>
          <p:nvPr/>
        </p:nvSpPr>
        <p:spPr>
          <a:xfrm>
            <a:off x="6940296" y="4050792"/>
            <a:ext cx="4718304"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Tórax en tonel, cianosis, dedos en palillo de tambor, uso de oxígeno suplementario.</a:t>
            </a:r>
            <a:endParaRPr lang="en-US" sz="1100" dirty="0"/>
          </a:p>
        </p:txBody>
      </p:sp>
      <p:sp>
        <p:nvSpPr>
          <p:cNvPr id="25" name="Shape 19"/>
          <p:cNvSpPr/>
          <p:nvPr/>
        </p:nvSpPr>
        <p:spPr>
          <a:xfrm>
            <a:off x="6263640" y="4846320"/>
            <a:ext cx="5394960" cy="1143000"/>
          </a:xfrm>
          <a:prstGeom prst="roundRect">
            <a:avLst>
              <a:gd name="adj" fmla="val 6400"/>
            </a:avLst>
          </a:prstGeom>
          <a:solidFill>
            <a:srgbClr val="EFF7F7"/>
          </a:solidFill>
          <a:ln/>
        </p:spPr>
      </p:sp>
      <p:sp>
        <p:nvSpPr>
          <p:cNvPr id="26" name="Shape 20"/>
          <p:cNvSpPr/>
          <p:nvPr/>
        </p:nvSpPr>
        <p:spPr>
          <a:xfrm>
            <a:off x="6464808" y="5180076"/>
            <a:ext cx="475488" cy="475488"/>
          </a:xfrm>
          <a:prstGeom prst="ellipse">
            <a:avLst/>
          </a:prstGeom>
          <a:solidFill>
            <a:srgbClr val="00A896"/>
          </a:solidFill>
          <a:ln/>
        </p:spPr>
      </p:sp>
      <p:pic>
        <p:nvPicPr>
          <p:cNvPr id="27" name="Image 4" descr="/tmp/claude-0/-home-user-gpa-academy1/adc6e4aa-3b77-57c1-ba92-a8d4ee625c84/scratchpad/pptx_ch3/icons/warning_white.png">    </p:cNvPr>
          <p:cNvPicPr>
            <a:picLocks noChangeAspect="1"/>
          </p:cNvPicPr>
          <p:nvPr/>
        </p:nvPicPr>
        <p:blipFill>
          <a:blip r:embed="rId5"/>
          <a:stretch>
            <a:fillRect/>
          </a:stretch>
        </p:blipFill>
        <p:spPr>
          <a:xfrm>
            <a:off x="6569415" y="5284683"/>
            <a:ext cx="266273" cy="266273"/>
          </a:xfrm>
          <a:prstGeom prst="rect">
            <a:avLst/>
          </a:prstGeom>
        </p:spPr>
      </p:pic>
      <p:sp>
        <p:nvSpPr>
          <p:cNvPr id="28" name="Text 21"/>
          <p:cNvSpPr txBox="1"/>
          <p:nvPr/>
        </p:nvSpPr>
        <p:spPr>
          <a:xfrm>
            <a:off x="7086600" y="4974336"/>
            <a:ext cx="438912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Regla práctica</a:t>
            </a:r>
            <a:endParaRPr lang="en-US" sz="1350" dirty="0"/>
          </a:p>
        </p:txBody>
      </p:sp>
      <p:sp>
        <p:nvSpPr>
          <p:cNvPr id="29" name="Text 22"/>
          <p:cNvSpPr txBox="1"/>
          <p:nvPr/>
        </p:nvSpPr>
        <p:spPr>
          <a:xfrm>
            <a:off x="7086600" y="5248656"/>
            <a:ext cx="4389120" cy="64008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Una infección respiratoria alta activa, incluso leve, incrementa el riesgo de laringoespasmo y broncoespasmo perioperatorio; en cirugía electiva se recomienda posponer 2-4 semanas tras la resolución de síntomas.</a:t>
            </a:r>
            <a:endParaRPr lang="en-US" sz="1150" dirty="0"/>
          </a:p>
        </p:txBody>
      </p:sp>
      <p:sp>
        <p:nvSpPr>
          <p:cNvPr id="30" name="Text 23"/>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1" name="Text 24"/>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EVALUACIÓN POR SISTEMAS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Pruebas de función pulmonar: indicaciones en la evaluación preanestésica</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spirometry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36192"/>
            <a:ext cx="11064240" cy="548640"/>
          </a:xfrm>
          <a:prstGeom prst="rect">
            <a:avLst/>
          </a:prstGeom>
          <a:noFill/>
          <a:ln/>
        </p:spPr>
        <p:txBody>
          <a:bodyPr wrap="square" lIns="0" tIns="0" rIns="0" bIns="0" rtlCol="0" anchor="ctr"/>
          <a:lstStyle/>
          <a:p>
            <a:pPr indent="0" marL="0">
              <a:lnSpc>
                <a:spcPct val="115000"/>
              </a:lnSpc>
              <a:buNone/>
            </a:pPr>
            <a:r>
              <a:rPr lang="en-US" sz="1300" b="1" dirty="0">
                <a:solidFill>
                  <a:srgbClr val="013A40"/>
                </a:solidFill>
                <a:latin typeface="Calibri" pitchFamily="34" charset="0"/>
                <a:ea typeface="Calibri" pitchFamily="34" charset="-122"/>
                <a:cs typeface="Calibri" pitchFamily="34" charset="-120"/>
              </a:rPr>
              <a:t>La espirometría y otras pruebas de función pulmonar NO se solicitan de forma rutinaria: su utilidad se limita a situaciones donde el resultado modificará el manejo anestésico o quirúrgico.</a:t>
            </a:r>
            <a:endParaRPr lang="en-US" sz="1300" dirty="0"/>
          </a:p>
        </p:txBody>
      </p:sp>
      <p:sp>
        <p:nvSpPr>
          <p:cNvPr id="7" name="Text 4"/>
          <p:cNvSpPr txBox="1"/>
          <p:nvPr/>
        </p:nvSpPr>
        <p:spPr>
          <a:xfrm>
            <a:off x="548640" y="2286000"/>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INDICACIONES RAZONABLES</a:t>
            </a:r>
            <a:endParaRPr lang="en-US" sz="1300" dirty="0"/>
          </a:p>
        </p:txBody>
      </p:sp>
      <p:sp>
        <p:nvSpPr>
          <p:cNvPr id="8" name="Text 5"/>
          <p:cNvSpPr txBox="1"/>
          <p:nvPr/>
        </p:nvSpPr>
        <p:spPr>
          <a:xfrm>
            <a:off x="548640" y="2615184"/>
            <a:ext cx="5394960" cy="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Cirugía de resección pulmonar (evaluación de reserva funcional postoperatoria).</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EPOC o asma con síntomas mal controlados o exacerbación reciente sin causa clara.</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Disnea de origen no aclarado tras la evaluación clínica inicial.</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Cirugía torácica o abdominal alta en pacientes con enfermedad pulmonar conocida.</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Sospecha de enfermedad pulmonar restrictiva no caracterizada.</a:t>
            </a:r>
            <a:endParaRPr lang="en-US" sz="1200" dirty="0"/>
          </a:p>
        </p:txBody>
      </p:sp>
      <p:sp>
        <p:nvSpPr>
          <p:cNvPr id="9" name="Text 6"/>
          <p:cNvSpPr txBox="1"/>
          <p:nvPr/>
        </p:nvSpPr>
        <p:spPr>
          <a:xfrm>
            <a:off x="6263640" y="2286000"/>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NO INDICADA DE RUTINA EN</a:t>
            </a:r>
            <a:endParaRPr lang="en-US" sz="1300" dirty="0"/>
          </a:p>
        </p:txBody>
      </p:sp>
      <p:sp>
        <p:nvSpPr>
          <p:cNvPr id="10" name="Text 7"/>
          <p:cNvSpPr txBox="1"/>
          <p:nvPr/>
        </p:nvSpPr>
        <p:spPr>
          <a:xfrm>
            <a:off x="6263640" y="2615184"/>
            <a:ext cx="5394960" cy="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Pacientes sanos sin síntomas respiratorios, independientemente del tipo de cirugía.</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Asma o EPOC estables y bien controlados, sin cambios recientes.</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Como tamizaje generalizado en fumadores asintomáticos.</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Cirugía de bajo riesgo (ambulatoria, superficial) sin datos clínicos de alarma.</a:t>
            </a:r>
            <a:endParaRPr lang="en-US" sz="1200" dirty="0"/>
          </a:p>
        </p:txBody>
      </p:sp>
      <p:sp>
        <p:nvSpPr>
          <p:cNvPr id="11" name="Shape 8"/>
          <p:cNvSpPr/>
          <p:nvPr/>
        </p:nvSpPr>
        <p:spPr>
          <a:xfrm>
            <a:off x="548640" y="4709160"/>
            <a:ext cx="11064240" cy="1234440"/>
          </a:xfrm>
          <a:prstGeom prst="roundRect">
            <a:avLst>
              <a:gd name="adj" fmla="val 5926"/>
            </a:avLst>
          </a:prstGeom>
          <a:solidFill>
            <a:srgbClr val="EFF7F7"/>
          </a:solidFill>
          <a:ln/>
        </p:spPr>
      </p:sp>
      <p:sp>
        <p:nvSpPr>
          <p:cNvPr id="12" name="Shape 9"/>
          <p:cNvSpPr/>
          <p:nvPr/>
        </p:nvSpPr>
        <p:spPr>
          <a:xfrm>
            <a:off x="749808" y="5088636"/>
            <a:ext cx="475488" cy="475488"/>
          </a:xfrm>
          <a:prstGeom prst="ellipse">
            <a:avLst/>
          </a:prstGeom>
          <a:solidFill>
            <a:srgbClr val="028090"/>
          </a:solidFill>
          <a:ln/>
        </p:spPr>
      </p:sp>
      <p:pic>
        <p:nvPicPr>
          <p:cNvPr id="13" name="Image 1" descr="/tmp/claude-0/-home-user-gpa-academy1/adc6e4aa-3b77-57c1-ba92-a8d4ee625c84/scratchpad/pptx_ch3/icons/checklist_white.png">    </p:cNvPr>
          <p:cNvPicPr>
            <a:picLocks noChangeAspect="1"/>
          </p:cNvPicPr>
          <p:nvPr/>
        </p:nvPicPr>
        <p:blipFill>
          <a:blip r:embed="rId2"/>
          <a:stretch>
            <a:fillRect/>
          </a:stretch>
        </p:blipFill>
        <p:spPr>
          <a:xfrm>
            <a:off x="854415" y="5193243"/>
            <a:ext cx="266273" cy="266273"/>
          </a:xfrm>
          <a:prstGeom prst="rect">
            <a:avLst/>
          </a:prstGeom>
        </p:spPr>
      </p:pic>
      <p:sp>
        <p:nvSpPr>
          <p:cNvPr id="14" name="Text 10"/>
          <p:cNvSpPr txBox="1"/>
          <p:nvPr/>
        </p:nvSpPr>
        <p:spPr>
          <a:xfrm>
            <a:off x="1371600" y="4837176"/>
            <a:ext cx="10058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Principio general de estudios preoperatorios</a:t>
            </a:r>
            <a:endParaRPr lang="en-US" sz="1350" dirty="0"/>
          </a:p>
        </p:txBody>
      </p:sp>
      <p:sp>
        <p:nvSpPr>
          <p:cNvPr id="15" name="Text 11"/>
          <p:cNvSpPr txBox="1"/>
          <p:nvPr/>
        </p:nvSpPr>
        <p:spPr>
          <a:xfrm>
            <a:off x="1371600" y="5111496"/>
            <a:ext cx="10058400" cy="73152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La solicitud de cualquier estudio complementario debe responder a una pregunta clínica concreta surgida de la historia clínica o el examen físico, no aplicarse como protocolo fijo por tipo de cirugía o edad. Este principio se retoma de forma extensa en el apartado de estudios de laboratorio y gabinete preoperatorios.</a:t>
            </a:r>
            <a:endParaRPr lang="en-US" sz="1150" dirty="0"/>
          </a:p>
        </p:txBody>
      </p:sp>
      <p:sp>
        <p:nvSpPr>
          <p:cNvPr id="16" name="Text 12"/>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7" name="Text 13"/>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EVALUACIÓN POR SISTEMAS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Evaluación cardiovascular: historia y examen cardiaco dirigido</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heart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ANAMNESIS CARDIOVASCULAR DIRIGIDA</a:t>
            </a:r>
            <a:endParaRPr lang="en-US" sz="1300" dirty="0"/>
          </a:p>
        </p:txBody>
      </p:sp>
      <p:sp>
        <p:nvSpPr>
          <p:cNvPr id="7" name="Text 4"/>
          <p:cNvSpPr txBox="1"/>
          <p:nvPr/>
        </p:nvSpPr>
        <p:spPr>
          <a:xfrm>
            <a:off x="548640" y="1901952"/>
            <a:ext cx="5394960" cy="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Capacidad funcional: expresada en equivalentes metabólicos (METs); &lt; 4 METs se asocia a mayor riesgo perioperatorio.</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Angina, disnea de esfuerzo, ortopnea, disnea paroxística nocturna o edema de miembros inferiores.</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Antecedente de infarto de miocardio, insuficiencia cardiaca, arritmias o valvulopatía.</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Presencia de marcapasos o cardiodesfibrilador implantable.</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Antihipertensivos, antiarrítmicos y control actual de la presión arterial.</a:t>
            </a:r>
            <a:endParaRPr lang="en-US" sz="1200" dirty="0"/>
          </a:p>
        </p:txBody>
      </p:sp>
      <p:sp>
        <p:nvSpPr>
          <p:cNvPr id="8" name="Shape 5"/>
          <p:cNvSpPr/>
          <p:nvPr/>
        </p:nvSpPr>
        <p:spPr>
          <a:xfrm>
            <a:off x="548640" y="4709160"/>
            <a:ext cx="5394960" cy="1417320"/>
          </a:xfrm>
          <a:prstGeom prst="roundRect">
            <a:avLst>
              <a:gd name="adj" fmla="val 5161"/>
            </a:avLst>
          </a:prstGeom>
          <a:solidFill>
            <a:srgbClr val="EFF7F7"/>
          </a:solidFill>
          <a:ln/>
        </p:spPr>
      </p:sp>
      <p:sp>
        <p:nvSpPr>
          <p:cNvPr id="9" name="Shape 6"/>
          <p:cNvSpPr/>
          <p:nvPr/>
        </p:nvSpPr>
        <p:spPr>
          <a:xfrm>
            <a:off x="749808" y="5180076"/>
            <a:ext cx="475488" cy="475488"/>
          </a:xfrm>
          <a:prstGeom prst="ellipse">
            <a:avLst/>
          </a:prstGeom>
          <a:solidFill>
            <a:srgbClr val="028090"/>
          </a:solidFill>
          <a:ln/>
        </p:spPr>
      </p:sp>
      <p:pic>
        <p:nvPicPr>
          <p:cNvPr id="10" name="Image 1" descr="/tmp/claude-0/-home-user-gpa-academy1/adc6e4aa-3b77-57c1-ba92-a8d4ee625c84/scratchpad/pptx_ch3/icons/checklist_white.png">    </p:cNvPr>
          <p:cNvPicPr>
            <a:picLocks noChangeAspect="1"/>
          </p:cNvPicPr>
          <p:nvPr/>
        </p:nvPicPr>
        <p:blipFill>
          <a:blip r:embed="rId2"/>
          <a:stretch>
            <a:fillRect/>
          </a:stretch>
        </p:blipFill>
        <p:spPr>
          <a:xfrm>
            <a:off x="854415" y="5284683"/>
            <a:ext cx="266273" cy="266273"/>
          </a:xfrm>
          <a:prstGeom prst="rect">
            <a:avLst/>
          </a:prstGeom>
        </p:spPr>
      </p:pic>
      <p:sp>
        <p:nvSpPr>
          <p:cNvPr id="11" name="Text 7"/>
          <p:cNvSpPr txBox="1"/>
          <p:nvPr/>
        </p:nvSpPr>
        <p:spPr>
          <a:xfrm>
            <a:off x="1371600" y="4837176"/>
            <a:ext cx="438912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Equivalentes metabólicos de referencia</a:t>
            </a:r>
            <a:endParaRPr lang="en-US" sz="1350" dirty="0"/>
          </a:p>
        </p:txBody>
      </p:sp>
      <p:sp>
        <p:nvSpPr>
          <p:cNvPr id="12" name="Text 8"/>
          <p:cNvSpPr txBox="1"/>
          <p:nvPr/>
        </p:nvSpPr>
        <p:spPr>
          <a:xfrm>
            <a:off x="1371600" y="5111496"/>
            <a:ext cx="4389120" cy="91440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1 MET: actividades básicas de autocuidado.  4 METs: subir un piso de escaleras o caminar rápido en plano.  ≥10 METs: deportes extenuantes. Preguntar siempre en términos concretos de esfuerzo diario.</a:t>
            </a:r>
            <a:endParaRPr lang="en-US" sz="1150" dirty="0"/>
          </a:p>
        </p:txBody>
      </p:sp>
      <p:sp>
        <p:nvSpPr>
          <p:cNvPr id="13" name="Text 9"/>
          <p:cNvSpPr txBox="1"/>
          <p:nvPr/>
        </p:nvSpPr>
        <p:spPr>
          <a:xfrm>
            <a:off x="6263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HALLAZGOS CLAVE DEL EXAMEN CARDIACO</a:t>
            </a:r>
            <a:endParaRPr lang="en-US" sz="1300" dirty="0"/>
          </a:p>
        </p:txBody>
      </p:sp>
      <p:sp>
        <p:nvSpPr>
          <p:cNvPr id="14" name="Shape 10"/>
          <p:cNvSpPr/>
          <p:nvPr/>
        </p:nvSpPr>
        <p:spPr>
          <a:xfrm>
            <a:off x="6263640" y="1901952"/>
            <a:ext cx="475488" cy="475488"/>
          </a:xfrm>
          <a:prstGeom prst="ellipse">
            <a:avLst/>
          </a:prstGeom>
          <a:solidFill>
            <a:srgbClr val="028090"/>
          </a:solidFill>
          <a:ln/>
        </p:spPr>
      </p:sp>
      <p:pic>
        <p:nvPicPr>
          <p:cNvPr id="15" name="Image 2" descr="/tmp/claude-0/-home-user-gpa-academy1/adc6e4aa-3b77-57c1-ba92-a8d4ee625c84/scratchpad/pptx_ch3/icons/heart_white.png">    </p:cNvPr>
          <p:cNvPicPr>
            <a:picLocks noChangeAspect="1"/>
          </p:cNvPicPr>
          <p:nvPr/>
        </p:nvPicPr>
        <p:blipFill>
          <a:blip r:embed="rId3"/>
          <a:stretch>
            <a:fillRect/>
          </a:stretch>
        </p:blipFill>
        <p:spPr>
          <a:xfrm>
            <a:off x="6370625" y="2008937"/>
            <a:ext cx="261518" cy="261518"/>
          </a:xfrm>
          <a:prstGeom prst="rect">
            <a:avLst/>
          </a:prstGeom>
        </p:spPr>
      </p:pic>
      <p:sp>
        <p:nvSpPr>
          <p:cNvPr id="16" name="Text 11"/>
          <p:cNvSpPr txBox="1"/>
          <p:nvPr/>
        </p:nvSpPr>
        <p:spPr>
          <a:xfrm>
            <a:off x="6940296" y="1865376"/>
            <a:ext cx="4718304"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Auscultación cardiaca</a:t>
            </a:r>
            <a:endParaRPr lang="en-US" sz="1250" dirty="0"/>
          </a:p>
        </p:txBody>
      </p:sp>
      <p:sp>
        <p:nvSpPr>
          <p:cNvPr id="17" name="Text 12"/>
          <p:cNvSpPr txBox="1"/>
          <p:nvPr/>
        </p:nvSpPr>
        <p:spPr>
          <a:xfrm>
            <a:off x="6940296" y="2130552"/>
            <a:ext cx="4718304"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Soplos, ritmo irregular, tercer o cuarto ruido; sugieren valvulopatía o disfunción ventricular.</a:t>
            </a:r>
            <a:endParaRPr lang="en-US" sz="1100" dirty="0"/>
          </a:p>
        </p:txBody>
      </p:sp>
      <p:sp>
        <p:nvSpPr>
          <p:cNvPr id="18" name="Shape 13"/>
          <p:cNvSpPr/>
          <p:nvPr/>
        </p:nvSpPr>
        <p:spPr>
          <a:xfrm>
            <a:off x="6263640" y="2862072"/>
            <a:ext cx="475488" cy="475488"/>
          </a:xfrm>
          <a:prstGeom prst="ellipse">
            <a:avLst/>
          </a:prstGeom>
          <a:solidFill>
            <a:srgbClr val="00A896"/>
          </a:solidFill>
          <a:ln/>
        </p:spPr>
      </p:sp>
      <p:pic>
        <p:nvPicPr>
          <p:cNvPr id="19" name="Image 3" descr="/tmp/claude-0/-home-user-gpa-academy1/adc6e4aa-3b77-57c1-ba92-a8d4ee625c84/scratchpad/pptx_ch3/icons/bp_white.png">    </p:cNvPr>
          <p:cNvPicPr>
            <a:picLocks noChangeAspect="1"/>
          </p:cNvPicPr>
          <p:nvPr/>
        </p:nvPicPr>
        <p:blipFill>
          <a:blip r:embed="rId4"/>
          <a:stretch>
            <a:fillRect/>
          </a:stretch>
        </p:blipFill>
        <p:spPr>
          <a:xfrm>
            <a:off x="6370625" y="2969057"/>
            <a:ext cx="261518" cy="261518"/>
          </a:xfrm>
          <a:prstGeom prst="rect">
            <a:avLst/>
          </a:prstGeom>
        </p:spPr>
      </p:pic>
      <p:sp>
        <p:nvSpPr>
          <p:cNvPr id="20" name="Text 14"/>
          <p:cNvSpPr txBox="1"/>
          <p:nvPr/>
        </p:nvSpPr>
        <p:spPr>
          <a:xfrm>
            <a:off x="6940296" y="2825496"/>
            <a:ext cx="4718304"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Presión arterial y pulsos</a:t>
            </a:r>
            <a:endParaRPr lang="en-US" sz="1250" dirty="0"/>
          </a:p>
        </p:txBody>
      </p:sp>
      <p:sp>
        <p:nvSpPr>
          <p:cNvPr id="21" name="Text 15"/>
          <p:cNvSpPr txBox="1"/>
          <p:nvPr/>
        </p:nvSpPr>
        <p:spPr>
          <a:xfrm>
            <a:off x="6940296" y="3090672"/>
            <a:ext cx="4718304"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Presión arterial en ambos brazos, simetría y amplitud de pulsos periféricos.</a:t>
            </a:r>
            <a:endParaRPr lang="en-US" sz="1100" dirty="0"/>
          </a:p>
        </p:txBody>
      </p:sp>
      <p:sp>
        <p:nvSpPr>
          <p:cNvPr id="22" name="Shape 16"/>
          <p:cNvSpPr/>
          <p:nvPr/>
        </p:nvSpPr>
        <p:spPr>
          <a:xfrm>
            <a:off x="6263640" y="3822192"/>
            <a:ext cx="475488" cy="475488"/>
          </a:xfrm>
          <a:prstGeom prst="ellipse">
            <a:avLst/>
          </a:prstGeom>
          <a:solidFill>
            <a:srgbClr val="02C39A"/>
          </a:solidFill>
          <a:ln/>
        </p:spPr>
      </p:sp>
      <p:pic>
        <p:nvPicPr>
          <p:cNvPr id="23" name="Image 4" descr="/tmp/claude-0/-home-user-gpa-academy1/adc6e4aa-3b77-57c1-ba92-a8d4ee625c84/scratchpad/pptx_ch3/icons/examBody_white.png">    </p:cNvPr>
          <p:cNvPicPr>
            <a:picLocks noChangeAspect="1"/>
          </p:cNvPicPr>
          <p:nvPr/>
        </p:nvPicPr>
        <p:blipFill>
          <a:blip r:embed="rId5"/>
          <a:stretch>
            <a:fillRect/>
          </a:stretch>
        </p:blipFill>
        <p:spPr>
          <a:xfrm>
            <a:off x="6370625" y="3929177"/>
            <a:ext cx="261518" cy="261518"/>
          </a:xfrm>
          <a:prstGeom prst="rect">
            <a:avLst/>
          </a:prstGeom>
        </p:spPr>
      </p:pic>
      <p:sp>
        <p:nvSpPr>
          <p:cNvPr id="24" name="Text 17"/>
          <p:cNvSpPr txBox="1"/>
          <p:nvPr/>
        </p:nvSpPr>
        <p:spPr>
          <a:xfrm>
            <a:off x="6940296" y="3785616"/>
            <a:ext cx="4718304" cy="256032"/>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Signos de insuficiencia cardiaca</a:t>
            </a:r>
            <a:endParaRPr lang="en-US" sz="1250" dirty="0"/>
          </a:p>
        </p:txBody>
      </p:sp>
      <p:sp>
        <p:nvSpPr>
          <p:cNvPr id="25" name="Text 18"/>
          <p:cNvSpPr txBox="1"/>
          <p:nvPr/>
        </p:nvSpPr>
        <p:spPr>
          <a:xfrm>
            <a:off x="6940296" y="4050792"/>
            <a:ext cx="4718304" cy="822960"/>
          </a:xfrm>
          <a:prstGeom prst="rect">
            <a:avLst/>
          </a:prstGeom>
          <a:noFill/>
          <a:ln/>
        </p:spPr>
        <p:txBody>
          <a:bodyPr wrap="square" lIns="0" tIns="0" rIns="0" bIns="0" rtlCol="0" anchor="t"/>
          <a:lstStyle/>
          <a:p>
            <a:pPr indent="0" marL="0">
              <a:lnSpc>
                <a:spcPct val="110000"/>
              </a:lnSpc>
              <a:buNone/>
            </a:pPr>
            <a:r>
              <a:rPr lang="en-US" sz="1100" dirty="0">
                <a:solidFill>
                  <a:srgbClr val="52696C"/>
                </a:solidFill>
                <a:latin typeface="Calibri" pitchFamily="34" charset="0"/>
                <a:ea typeface="Calibri" pitchFamily="34" charset="-122"/>
                <a:cs typeface="Calibri" pitchFamily="34" charset="-120"/>
              </a:rPr>
              <a:t>Ingurgitación yugular, edema, hepatomegalia, crépitos basales.</a:t>
            </a:r>
            <a:endParaRPr lang="en-US" sz="1100" dirty="0"/>
          </a:p>
        </p:txBody>
      </p:sp>
      <p:sp>
        <p:nvSpPr>
          <p:cNvPr id="26" name="Shape 19"/>
          <p:cNvSpPr/>
          <p:nvPr/>
        </p:nvSpPr>
        <p:spPr>
          <a:xfrm>
            <a:off x="6263640" y="4709160"/>
            <a:ext cx="5394960" cy="1417320"/>
          </a:xfrm>
          <a:prstGeom prst="roundRect">
            <a:avLst>
              <a:gd name="adj" fmla="val 5161"/>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7" name="Text 20"/>
          <p:cNvSpPr txBox="1"/>
          <p:nvPr/>
        </p:nvSpPr>
        <p:spPr>
          <a:xfrm>
            <a:off x="6400800" y="4800600"/>
            <a:ext cx="5120640" cy="566928"/>
          </a:xfrm>
          <a:prstGeom prst="rect">
            <a:avLst/>
          </a:prstGeom>
          <a:noFill/>
          <a:ln/>
        </p:spPr>
        <p:txBody>
          <a:bodyPr wrap="square" lIns="0" tIns="0" rIns="0" bIns="0" rtlCol="0" anchor="b"/>
          <a:lstStyle/>
          <a:p>
            <a:pPr algn="ctr" indent="0" marL="0">
              <a:buNone/>
            </a:pPr>
            <a:r>
              <a:rPr lang="en-US" sz="2600" b="1" dirty="0">
                <a:solidFill>
                  <a:srgbClr val="028090"/>
                </a:solidFill>
                <a:latin typeface="Cambria" pitchFamily="34" charset="0"/>
                <a:ea typeface="Cambria" pitchFamily="34" charset="-122"/>
                <a:cs typeface="Cambria" pitchFamily="34" charset="-120"/>
              </a:rPr>
              <a:t>&lt; 4 METs</a:t>
            </a:r>
            <a:endParaRPr lang="en-US" sz="2600" dirty="0"/>
          </a:p>
        </p:txBody>
      </p:sp>
      <p:sp>
        <p:nvSpPr>
          <p:cNvPr id="28" name="Text 21"/>
          <p:cNvSpPr txBox="1"/>
          <p:nvPr/>
        </p:nvSpPr>
        <p:spPr>
          <a:xfrm>
            <a:off x="6400800" y="5422392"/>
            <a:ext cx="5120640" cy="256032"/>
          </a:xfrm>
          <a:prstGeom prst="rect">
            <a:avLst/>
          </a:prstGeom>
          <a:noFill/>
          <a:ln/>
        </p:spPr>
        <p:txBody>
          <a:bodyPr wrap="square" lIns="0" tIns="0" rIns="0" bIns="0" rtlCol="0" anchor="ctr"/>
          <a:lstStyle/>
          <a:p>
            <a:pPr algn="ctr" indent="0" marL="0">
              <a:buNone/>
            </a:pPr>
            <a:r>
              <a:rPr lang="en-US" sz="1150" b="1" dirty="0">
                <a:solidFill>
                  <a:srgbClr val="013A40"/>
                </a:solidFill>
                <a:latin typeface="Calibri" pitchFamily="34" charset="0"/>
                <a:ea typeface="Calibri" pitchFamily="34" charset="-122"/>
                <a:cs typeface="Calibri" pitchFamily="34" charset="-120"/>
              </a:rPr>
              <a:t>Capacidad funcional reducida</a:t>
            </a:r>
            <a:endParaRPr lang="en-US" sz="1150" dirty="0"/>
          </a:p>
        </p:txBody>
      </p:sp>
      <p:sp>
        <p:nvSpPr>
          <p:cNvPr id="29" name="Text 22"/>
          <p:cNvSpPr txBox="1"/>
          <p:nvPr/>
        </p:nvSpPr>
        <p:spPr>
          <a:xfrm>
            <a:off x="6400800" y="5696712"/>
            <a:ext cx="5120640" cy="301752"/>
          </a:xfrm>
          <a:prstGeom prst="rect">
            <a:avLst/>
          </a:prstGeom>
          <a:noFill/>
          <a:ln/>
        </p:spPr>
        <p:txBody>
          <a:bodyPr wrap="square" lIns="0" tIns="0" rIns="0" bIns="0" rtlCol="0" anchor="t"/>
          <a:lstStyle/>
          <a:p>
            <a:pPr algn="ctr" indent="0" marL="0">
              <a:lnSpc>
                <a:spcPct val="105000"/>
              </a:lnSpc>
              <a:buNone/>
            </a:pPr>
            <a:r>
              <a:rPr lang="en-US" sz="950" dirty="0">
                <a:solidFill>
                  <a:srgbClr val="52696C"/>
                </a:solidFill>
                <a:latin typeface="Calibri" pitchFamily="34" charset="0"/>
                <a:ea typeface="Calibri" pitchFamily="34" charset="-122"/>
                <a:cs typeface="Calibri" pitchFamily="34" charset="-120"/>
              </a:rPr>
              <a:t>Equivale a no poder subir un piso de escaleras sin detenerse: marcador de mayor riesgo perioperatorio</a:t>
            </a:r>
            <a:endParaRPr lang="en-US" sz="950" dirty="0"/>
          </a:p>
        </p:txBody>
      </p:sp>
      <p:sp>
        <p:nvSpPr>
          <p:cNvPr id="30" name="Text 23"/>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1" name="Text 24"/>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EVALUACIÓN POR SISTEMAS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400" b="1" dirty="0">
                <a:solidFill>
                  <a:srgbClr val="013A40"/>
                </a:solidFill>
                <a:latin typeface="Cambria" pitchFamily="34" charset="0"/>
                <a:ea typeface="Cambria" pitchFamily="34" charset="-122"/>
                <a:cs typeface="Cambria" pitchFamily="34" charset="-120"/>
              </a:rPr>
              <a:t>Clasificación de riesgo cardiovascular perioperatorio: índice de riesgo cardiaco revisado</a:t>
            </a:r>
            <a:endParaRPr lang="en-US" sz="24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heartTrend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627632"/>
            <a:ext cx="6035040" cy="274320"/>
          </a:xfrm>
          <a:prstGeom prst="rect">
            <a:avLst/>
          </a:prstGeom>
          <a:noFill/>
          <a:ln/>
        </p:spPr>
        <p:txBody>
          <a:bodyPr wrap="square" lIns="0" tIns="0" rIns="0" bIns="0" rtlCol="0" anchor="ctr"/>
          <a:lstStyle/>
          <a:p>
            <a:pPr indent="0" marL="0">
              <a:buNone/>
            </a:pPr>
            <a:r>
              <a:rPr lang="en-US" sz="1250" b="1" spc="50" kern="0" dirty="0">
                <a:solidFill>
                  <a:srgbClr val="028090"/>
                </a:solidFill>
                <a:latin typeface="Calibri" pitchFamily="34" charset="0"/>
                <a:ea typeface="Calibri" pitchFamily="34" charset="-122"/>
                <a:cs typeface="Calibri" pitchFamily="34" charset="-120"/>
              </a:rPr>
              <a:t>ÍNDICE DE RIESGO CARDIACO REVISADO (LEE, RCRI): 6 CRITERIOS</a:t>
            </a:r>
            <a:endParaRPr lang="en-US" sz="1250" dirty="0"/>
          </a:p>
        </p:txBody>
      </p:sp>
      <p:sp>
        <p:nvSpPr>
          <p:cNvPr id="7" name="Shape 4"/>
          <p:cNvSpPr/>
          <p:nvPr/>
        </p:nvSpPr>
        <p:spPr>
          <a:xfrm>
            <a:off x="548640" y="1965960"/>
            <a:ext cx="292608" cy="292608"/>
          </a:xfrm>
          <a:prstGeom prst="ellipse">
            <a:avLst/>
          </a:prstGeom>
          <a:solidFill>
            <a:srgbClr val="028090"/>
          </a:solidFill>
          <a:ln/>
        </p:spPr>
      </p:sp>
      <p:sp>
        <p:nvSpPr>
          <p:cNvPr id="8" name="Text 5"/>
          <p:cNvSpPr txBox="1"/>
          <p:nvPr/>
        </p:nvSpPr>
        <p:spPr>
          <a:xfrm>
            <a:off x="548640" y="19659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960120" y="1929384"/>
            <a:ext cx="5577840" cy="384048"/>
          </a:xfrm>
          <a:prstGeom prst="rect">
            <a:avLst/>
          </a:prstGeom>
          <a:noFill/>
          <a:ln/>
        </p:spPr>
        <p:txBody>
          <a:bodyPr wrap="square" lIns="0" tIns="0" rIns="0" bIns="0" rtlCol="0" anchor="ctr"/>
          <a:lstStyle/>
          <a:p>
            <a:pPr indent="0" marL="0">
              <a:lnSpc>
                <a:spcPct val="102000"/>
              </a:lnSpc>
              <a:buNone/>
            </a:pPr>
            <a:r>
              <a:rPr lang="en-US" sz="1130" dirty="0">
                <a:solidFill>
                  <a:srgbClr val="1B2E30"/>
                </a:solidFill>
                <a:latin typeface="Calibri" pitchFamily="34" charset="0"/>
                <a:ea typeface="Calibri" pitchFamily="34" charset="-122"/>
                <a:cs typeface="Calibri" pitchFamily="34" charset="-120"/>
              </a:rPr>
              <a:t>Cirugía de alto riesgo (intraperitoneal, intratorácica o vascular suprainguinal)</a:t>
            </a:r>
            <a:endParaRPr lang="en-US" sz="1130" dirty="0"/>
          </a:p>
        </p:txBody>
      </p:sp>
      <p:sp>
        <p:nvSpPr>
          <p:cNvPr id="10" name="Shape 7"/>
          <p:cNvSpPr/>
          <p:nvPr/>
        </p:nvSpPr>
        <p:spPr>
          <a:xfrm>
            <a:off x="548640" y="2423160"/>
            <a:ext cx="292608" cy="292608"/>
          </a:xfrm>
          <a:prstGeom prst="ellipse">
            <a:avLst/>
          </a:prstGeom>
          <a:solidFill>
            <a:srgbClr val="028090"/>
          </a:solidFill>
          <a:ln/>
        </p:spPr>
      </p:sp>
      <p:sp>
        <p:nvSpPr>
          <p:cNvPr id="11" name="Text 8"/>
          <p:cNvSpPr txBox="1"/>
          <p:nvPr/>
        </p:nvSpPr>
        <p:spPr>
          <a:xfrm>
            <a:off x="548640" y="2423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960120" y="2386584"/>
            <a:ext cx="5577840" cy="384048"/>
          </a:xfrm>
          <a:prstGeom prst="rect">
            <a:avLst/>
          </a:prstGeom>
          <a:noFill/>
          <a:ln/>
        </p:spPr>
        <p:txBody>
          <a:bodyPr wrap="square" lIns="0" tIns="0" rIns="0" bIns="0" rtlCol="0" anchor="ctr"/>
          <a:lstStyle/>
          <a:p>
            <a:pPr indent="0" marL="0">
              <a:lnSpc>
                <a:spcPct val="102000"/>
              </a:lnSpc>
              <a:buNone/>
            </a:pPr>
            <a:r>
              <a:rPr lang="en-US" sz="1130" dirty="0">
                <a:solidFill>
                  <a:srgbClr val="1B2E30"/>
                </a:solidFill>
                <a:latin typeface="Calibri" pitchFamily="34" charset="0"/>
                <a:ea typeface="Calibri" pitchFamily="34" charset="-122"/>
                <a:cs typeface="Calibri" pitchFamily="34" charset="-120"/>
              </a:rPr>
              <a:t>Cardiopatía isquémica (antecedente de infarto o prueba de esfuerzo positiva)</a:t>
            </a:r>
            <a:endParaRPr lang="en-US" sz="1130" dirty="0"/>
          </a:p>
        </p:txBody>
      </p:sp>
      <p:sp>
        <p:nvSpPr>
          <p:cNvPr id="13" name="Shape 10"/>
          <p:cNvSpPr/>
          <p:nvPr/>
        </p:nvSpPr>
        <p:spPr>
          <a:xfrm>
            <a:off x="548640" y="2880360"/>
            <a:ext cx="292608" cy="292608"/>
          </a:xfrm>
          <a:prstGeom prst="ellipse">
            <a:avLst/>
          </a:prstGeom>
          <a:solidFill>
            <a:srgbClr val="028090"/>
          </a:solidFill>
          <a:ln/>
        </p:spPr>
      </p:sp>
      <p:sp>
        <p:nvSpPr>
          <p:cNvPr id="14" name="Text 11"/>
          <p:cNvSpPr txBox="1"/>
          <p:nvPr/>
        </p:nvSpPr>
        <p:spPr>
          <a:xfrm>
            <a:off x="548640" y="28803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960120" y="2843784"/>
            <a:ext cx="5577840" cy="384048"/>
          </a:xfrm>
          <a:prstGeom prst="rect">
            <a:avLst/>
          </a:prstGeom>
          <a:noFill/>
          <a:ln/>
        </p:spPr>
        <p:txBody>
          <a:bodyPr wrap="square" lIns="0" tIns="0" rIns="0" bIns="0" rtlCol="0" anchor="ctr"/>
          <a:lstStyle/>
          <a:p>
            <a:pPr indent="0" marL="0">
              <a:lnSpc>
                <a:spcPct val="102000"/>
              </a:lnSpc>
              <a:buNone/>
            </a:pPr>
            <a:r>
              <a:rPr lang="en-US" sz="1130" dirty="0">
                <a:solidFill>
                  <a:srgbClr val="1B2E30"/>
                </a:solidFill>
                <a:latin typeface="Calibri" pitchFamily="34" charset="0"/>
                <a:ea typeface="Calibri" pitchFamily="34" charset="-122"/>
                <a:cs typeface="Calibri" pitchFamily="34" charset="-120"/>
              </a:rPr>
              <a:t>Antecedente de insuficiencia cardiaca congestiva</a:t>
            </a:r>
            <a:endParaRPr lang="en-US" sz="1130" dirty="0"/>
          </a:p>
        </p:txBody>
      </p:sp>
      <p:sp>
        <p:nvSpPr>
          <p:cNvPr id="16" name="Shape 13"/>
          <p:cNvSpPr/>
          <p:nvPr/>
        </p:nvSpPr>
        <p:spPr>
          <a:xfrm>
            <a:off x="548640" y="3337560"/>
            <a:ext cx="292608" cy="292608"/>
          </a:xfrm>
          <a:prstGeom prst="ellipse">
            <a:avLst/>
          </a:prstGeom>
          <a:solidFill>
            <a:srgbClr val="028090"/>
          </a:solidFill>
          <a:ln/>
        </p:spPr>
      </p:sp>
      <p:sp>
        <p:nvSpPr>
          <p:cNvPr id="17" name="Text 14"/>
          <p:cNvSpPr txBox="1"/>
          <p:nvPr/>
        </p:nvSpPr>
        <p:spPr>
          <a:xfrm>
            <a:off x="548640"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5"/>
          <p:cNvSpPr txBox="1"/>
          <p:nvPr/>
        </p:nvSpPr>
        <p:spPr>
          <a:xfrm>
            <a:off x="960120" y="3300984"/>
            <a:ext cx="5577840" cy="384048"/>
          </a:xfrm>
          <a:prstGeom prst="rect">
            <a:avLst/>
          </a:prstGeom>
          <a:noFill/>
          <a:ln/>
        </p:spPr>
        <p:txBody>
          <a:bodyPr wrap="square" lIns="0" tIns="0" rIns="0" bIns="0" rtlCol="0" anchor="ctr"/>
          <a:lstStyle/>
          <a:p>
            <a:pPr indent="0" marL="0">
              <a:lnSpc>
                <a:spcPct val="102000"/>
              </a:lnSpc>
              <a:buNone/>
            </a:pPr>
            <a:r>
              <a:rPr lang="en-US" sz="1130" dirty="0">
                <a:solidFill>
                  <a:srgbClr val="1B2E30"/>
                </a:solidFill>
                <a:latin typeface="Calibri" pitchFamily="34" charset="0"/>
                <a:ea typeface="Calibri" pitchFamily="34" charset="-122"/>
                <a:cs typeface="Calibri" pitchFamily="34" charset="-120"/>
              </a:rPr>
              <a:t>Antecedente de enfermedad cerebrovascular</a:t>
            </a:r>
            <a:endParaRPr lang="en-US" sz="1130" dirty="0"/>
          </a:p>
        </p:txBody>
      </p:sp>
      <p:sp>
        <p:nvSpPr>
          <p:cNvPr id="19" name="Shape 16"/>
          <p:cNvSpPr/>
          <p:nvPr/>
        </p:nvSpPr>
        <p:spPr>
          <a:xfrm>
            <a:off x="548640" y="3794760"/>
            <a:ext cx="292608" cy="292608"/>
          </a:xfrm>
          <a:prstGeom prst="ellipse">
            <a:avLst/>
          </a:prstGeom>
          <a:solidFill>
            <a:srgbClr val="028090"/>
          </a:solidFill>
          <a:ln/>
        </p:spPr>
      </p:sp>
      <p:sp>
        <p:nvSpPr>
          <p:cNvPr id="20" name="Text 17"/>
          <p:cNvSpPr txBox="1"/>
          <p:nvPr/>
        </p:nvSpPr>
        <p:spPr>
          <a:xfrm>
            <a:off x="548640" y="37947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8"/>
          <p:cNvSpPr txBox="1"/>
          <p:nvPr/>
        </p:nvSpPr>
        <p:spPr>
          <a:xfrm>
            <a:off x="960120" y="3758184"/>
            <a:ext cx="5577840" cy="384048"/>
          </a:xfrm>
          <a:prstGeom prst="rect">
            <a:avLst/>
          </a:prstGeom>
          <a:noFill/>
          <a:ln/>
        </p:spPr>
        <p:txBody>
          <a:bodyPr wrap="square" lIns="0" tIns="0" rIns="0" bIns="0" rtlCol="0" anchor="ctr"/>
          <a:lstStyle/>
          <a:p>
            <a:pPr indent="0" marL="0">
              <a:lnSpc>
                <a:spcPct val="102000"/>
              </a:lnSpc>
              <a:buNone/>
            </a:pPr>
            <a:r>
              <a:rPr lang="en-US" sz="1130" dirty="0">
                <a:solidFill>
                  <a:srgbClr val="1B2E30"/>
                </a:solidFill>
                <a:latin typeface="Calibri" pitchFamily="34" charset="0"/>
                <a:ea typeface="Calibri" pitchFamily="34" charset="-122"/>
                <a:cs typeface="Calibri" pitchFamily="34" charset="-120"/>
              </a:rPr>
              <a:t>Diabetes mellitus en tratamiento con insulina</a:t>
            </a:r>
            <a:endParaRPr lang="en-US" sz="1130" dirty="0"/>
          </a:p>
        </p:txBody>
      </p:sp>
      <p:sp>
        <p:nvSpPr>
          <p:cNvPr id="22" name="Shape 19"/>
          <p:cNvSpPr/>
          <p:nvPr/>
        </p:nvSpPr>
        <p:spPr>
          <a:xfrm>
            <a:off x="548640" y="4251960"/>
            <a:ext cx="292608" cy="292608"/>
          </a:xfrm>
          <a:prstGeom prst="ellipse">
            <a:avLst/>
          </a:prstGeom>
          <a:solidFill>
            <a:srgbClr val="028090"/>
          </a:solidFill>
          <a:ln/>
        </p:spPr>
      </p:sp>
      <p:sp>
        <p:nvSpPr>
          <p:cNvPr id="23" name="Text 20"/>
          <p:cNvSpPr txBox="1"/>
          <p:nvPr/>
        </p:nvSpPr>
        <p:spPr>
          <a:xfrm>
            <a:off x="548640" y="42519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4" name="Text 21"/>
          <p:cNvSpPr txBox="1"/>
          <p:nvPr/>
        </p:nvSpPr>
        <p:spPr>
          <a:xfrm>
            <a:off x="960120" y="4215384"/>
            <a:ext cx="5577840" cy="384048"/>
          </a:xfrm>
          <a:prstGeom prst="rect">
            <a:avLst/>
          </a:prstGeom>
          <a:noFill/>
          <a:ln/>
        </p:spPr>
        <p:txBody>
          <a:bodyPr wrap="square" lIns="0" tIns="0" rIns="0" bIns="0" rtlCol="0" anchor="ctr"/>
          <a:lstStyle/>
          <a:p>
            <a:pPr indent="0" marL="0">
              <a:lnSpc>
                <a:spcPct val="102000"/>
              </a:lnSpc>
              <a:buNone/>
            </a:pPr>
            <a:r>
              <a:rPr lang="en-US" sz="1130" dirty="0">
                <a:solidFill>
                  <a:srgbClr val="1B2E30"/>
                </a:solidFill>
                <a:latin typeface="Calibri" pitchFamily="34" charset="0"/>
                <a:ea typeface="Calibri" pitchFamily="34" charset="-122"/>
                <a:cs typeface="Calibri" pitchFamily="34" charset="-120"/>
              </a:rPr>
              <a:t>Creatinina sérica preoperatoria &gt; 2.0 mg/dL</a:t>
            </a:r>
            <a:endParaRPr lang="en-US" sz="1130" dirty="0"/>
          </a:p>
        </p:txBody>
      </p:sp>
      <p:sp>
        <p:nvSpPr>
          <p:cNvPr id="25" name="Shape 22"/>
          <p:cNvSpPr/>
          <p:nvPr/>
        </p:nvSpPr>
        <p:spPr>
          <a:xfrm>
            <a:off x="548640" y="5074920"/>
            <a:ext cx="6035040" cy="960120"/>
          </a:xfrm>
          <a:prstGeom prst="roundRect">
            <a:avLst>
              <a:gd name="adj" fmla="val 7619"/>
            </a:avLst>
          </a:prstGeom>
          <a:solidFill>
            <a:srgbClr val="EFF7F7"/>
          </a:solidFill>
          <a:ln/>
        </p:spPr>
      </p:sp>
      <p:sp>
        <p:nvSpPr>
          <p:cNvPr id="26" name="Shape 23"/>
          <p:cNvSpPr/>
          <p:nvPr/>
        </p:nvSpPr>
        <p:spPr>
          <a:xfrm>
            <a:off x="749808" y="5317236"/>
            <a:ext cx="475488" cy="475488"/>
          </a:xfrm>
          <a:prstGeom prst="ellipse">
            <a:avLst/>
          </a:prstGeom>
          <a:solidFill>
            <a:srgbClr val="00A896"/>
          </a:solidFill>
          <a:ln/>
        </p:spPr>
      </p:sp>
      <p:pic>
        <p:nvPicPr>
          <p:cNvPr id="27" name="Image 1" descr="/tmp/claude-0/-home-user-gpa-academy1/adc6e4aa-3b77-57c1-ba92-a8d4ee625c84/scratchpad/pptx_ch3/icons/checklist_white.png">    </p:cNvPr>
          <p:cNvPicPr>
            <a:picLocks noChangeAspect="1"/>
          </p:cNvPicPr>
          <p:nvPr/>
        </p:nvPicPr>
        <p:blipFill>
          <a:blip r:embed="rId2"/>
          <a:stretch>
            <a:fillRect/>
          </a:stretch>
        </p:blipFill>
        <p:spPr>
          <a:xfrm>
            <a:off x="854415" y="5421843"/>
            <a:ext cx="266273" cy="266273"/>
          </a:xfrm>
          <a:prstGeom prst="rect">
            <a:avLst/>
          </a:prstGeom>
        </p:spPr>
      </p:pic>
      <p:sp>
        <p:nvSpPr>
          <p:cNvPr id="28" name="Text 24"/>
          <p:cNvSpPr txBox="1"/>
          <p:nvPr/>
        </p:nvSpPr>
        <p:spPr>
          <a:xfrm>
            <a:off x="1371600" y="5202936"/>
            <a:ext cx="50292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Cada criterio suma 1 punto</a:t>
            </a:r>
            <a:endParaRPr lang="en-US" sz="1350" dirty="0"/>
          </a:p>
        </p:txBody>
      </p:sp>
      <p:sp>
        <p:nvSpPr>
          <p:cNvPr id="29" name="Text 25"/>
          <p:cNvSpPr txBox="1"/>
          <p:nvPr/>
        </p:nvSpPr>
        <p:spPr>
          <a:xfrm>
            <a:off x="1371600" y="5477256"/>
            <a:ext cx="5029200" cy="45720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El puntaje total (0 a 6) se combina con la capacidad funcional y el riesgo del procedimiento para decidir estudios cardiológicos adicionales.</a:t>
            </a:r>
            <a:endParaRPr lang="en-US" sz="1150" dirty="0"/>
          </a:p>
        </p:txBody>
      </p:sp>
      <p:sp>
        <p:nvSpPr>
          <p:cNvPr id="30" name="Shape 26"/>
          <p:cNvSpPr/>
          <p:nvPr/>
        </p:nvSpPr>
        <p:spPr>
          <a:xfrm>
            <a:off x="6720840" y="1627632"/>
            <a:ext cx="4937760" cy="4434840"/>
          </a:xfrm>
          <a:prstGeom prst="roundRect">
            <a:avLst>
              <a:gd name="adj" fmla="val 1649"/>
            </a:avLst>
          </a:prstGeom>
          <a:solidFill>
            <a:srgbClr val="FFFFFF"/>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31" name="Text 27"/>
          <p:cNvSpPr txBox="1"/>
          <p:nvPr/>
        </p:nvSpPr>
        <p:spPr>
          <a:xfrm>
            <a:off x="6949440" y="1783080"/>
            <a:ext cx="4480560" cy="292608"/>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Riesgo estimado de evento cardiaco mayor</a:t>
            </a:r>
            <a:endParaRPr lang="en-US" sz="13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949440" y="2121408"/>
          <a:ext cx="4480560" cy="914400"/>
        </p:xfrm>
        <a:graphic>
          <a:graphicData uri="http://schemas.openxmlformats.org/drawingml/2006/table">
            <a:tbl>
              <a:tblPr/>
              <a:tblGrid>
                <a:gridCol w="1188720"/>
                <a:gridCol w="1280160"/>
                <a:gridCol w="201168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Puntos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Clase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Riesgo aprox.</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45720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~0.4 %</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5720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~1.0 %</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III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~2.4 %</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5720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IV</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~5.4 % o más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bl>
          </a:graphicData>
        </a:graphic>
      </p:graphicFrame>
      <p:sp>
        <p:nvSpPr>
          <p:cNvPr id="33" name="Text 28"/>
          <p:cNvSpPr txBox="1"/>
          <p:nvPr/>
        </p:nvSpPr>
        <p:spPr>
          <a:xfrm>
            <a:off x="6949440" y="4553712"/>
            <a:ext cx="4480560" cy="1371600"/>
          </a:xfrm>
          <a:prstGeom prst="rect">
            <a:avLst/>
          </a:prstGeom>
          <a:noFill/>
          <a:ln/>
        </p:spPr>
        <p:txBody>
          <a:bodyPr wrap="square" lIns="0" tIns="0" rIns="0" bIns="0" rtlCol="0" anchor="t"/>
          <a:lstStyle/>
          <a:p>
            <a:pPr indent="0" marL="0">
              <a:lnSpc>
                <a:spcPct val="115000"/>
              </a:lnSpc>
              <a:buNone/>
            </a:pPr>
            <a:r>
              <a:rPr lang="en-US" sz="1100" dirty="0">
                <a:solidFill>
                  <a:srgbClr val="52696C"/>
                </a:solidFill>
                <a:latin typeface="Calibri" pitchFamily="34" charset="0"/>
                <a:ea typeface="Calibri" pitchFamily="34" charset="-122"/>
                <a:cs typeface="Calibri" pitchFamily="34" charset="-120"/>
              </a:rPr>
              <a:t>Un puntaje ≥ 2 orienta a considerar biomarcadores cardiacos perioperatorios y vigilancia postoperatoria estrecha, según el riesgo del procedimiento y la capacidad funcional del paciente.</a:t>
            </a:r>
            <a:endParaRPr lang="en-US" sz="1100" dirty="0"/>
          </a:p>
        </p:txBody>
      </p:sp>
      <p:sp>
        <p:nvSpPr>
          <p:cNvPr id="34" name="Text 29"/>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5" name="Text 30"/>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EVALUACIÓN POR SISTEMAS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500" b="1" dirty="0">
                <a:solidFill>
                  <a:srgbClr val="013A40"/>
                </a:solidFill>
                <a:latin typeface="Cambria" pitchFamily="34" charset="0"/>
                <a:ea typeface="Cambria" pitchFamily="34" charset="-122"/>
                <a:cs typeface="Cambria" pitchFamily="34" charset="-120"/>
              </a:rPr>
              <a:t>Evaluación hepática: pruebas de función hepática y clasificación de Child-Pugh</a:t>
            </a:r>
            <a:endParaRPr lang="en-US" sz="25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liver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CLASIFICACIÓN DE CHILD-PUGH</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6675120" cy="914400"/>
        </p:xfrm>
        <a:graphic>
          <a:graphicData uri="http://schemas.openxmlformats.org/drawingml/2006/table">
            <a:tbl>
              <a:tblPr/>
              <a:tblGrid>
                <a:gridCol w="2194560"/>
                <a:gridCol w="1463040"/>
                <a:gridCol w="1463040"/>
                <a:gridCol w="1554480"/>
              </a:tblGrid>
              <a:tr h="43891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Parámetro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1 punto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2 puntos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3 puntos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438912">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Bilirrubina (mg/dL)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&lt; 2</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2 - 3</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&gt; 3</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38912">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Albúmina (g/dL)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&gt; 3.5</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2.8 - 3.5</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&lt; 2.8</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38912">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INR</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&lt; 1.7</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1.7 - 2.3</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&gt; 2.3</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38912">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Ascitis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Ausente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Leve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 tensión</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38912">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Encefalopatía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Ausente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Grado I-II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Grado III-IV</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bl>
          </a:graphicData>
        </a:graphic>
      </p:graphicFrame>
      <p:sp>
        <p:nvSpPr>
          <p:cNvPr id="8" name="Text 4"/>
          <p:cNvSpPr txBox="1"/>
          <p:nvPr/>
        </p:nvSpPr>
        <p:spPr>
          <a:xfrm>
            <a:off x="548640" y="4617720"/>
            <a:ext cx="6675120" cy="457200"/>
          </a:xfrm>
          <a:prstGeom prst="rect">
            <a:avLst/>
          </a:prstGeom>
          <a:noFill/>
          <a:ln/>
        </p:spPr>
        <p:txBody>
          <a:bodyPr wrap="square" lIns="0" tIns="0" rIns="0" bIns="0" rtlCol="0" anchor="ctr"/>
          <a:lstStyle/>
          <a:p>
            <a:pPr indent="0" marL="0">
              <a:lnSpc>
                <a:spcPct val="110000"/>
              </a:lnSpc>
              <a:buNone/>
            </a:pPr>
            <a:r>
              <a:rPr lang="en-US" sz="1050" b="1" dirty="0">
                <a:solidFill>
                  <a:srgbClr val="013A40"/>
                </a:solidFill>
                <a:latin typeface="Calibri" pitchFamily="34" charset="0"/>
                <a:ea typeface="Calibri" pitchFamily="34" charset="-122"/>
                <a:cs typeface="Calibri" pitchFamily="34" charset="-120"/>
              </a:rPr>
              <a:t>Clase A: 5-6 pts (bajo riesgo)   ·   Clase B: 7-9 pts (riesgo intermedio)   ·   Clase C: 10-15 pts (alto riesgo quirúrgico)</a:t>
            </a:r>
            <a:endParaRPr lang="en-US" sz="1050" dirty="0"/>
          </a:p>
        </p:txBody>
      </p:sp>
      <p:sp>
        <p:nvSpPr>
          <p:cNvPr id="9" name="Shape 5"/>
          <p:cNvSpPr/>
          <p:nvPr/>
        </p:nvSpPr>
        <p:spPr>
          <a:xfrm>
            <a:off x="548640" y="5166360"/>
            <a:ext cx="6675120" cy="914400"/>
          </a:xfrm>
          <a:prstGeom prst="roundRect">
            <a:avLst>
              <a:gd name="adj" fmla="val 8000"/>
            </a:avLst>
          </a:prstGeom>
          <a:solidFill>
            <a:srgbClr val="EFF7F7"/>
          </a:solidFill>
          <a:ln/>
        </p:spPr>
      </p:sp>
      <p:sp>
        <p:nvSpPr>
          <p:cNvPr id="10" name="Shape 6"/>
          <p:cNvSpPr/>
          <p:nvPr/>
        </p:nvSpPr>
        <p:spPr>
          <a:xfrm>
            <a:off x="749808" y="5385816"/>
            <a:ext cx="475488" cy="475488"/>
          </a:xfrm>
          <a:prstGeom prst="ellipse">
            <a:avLst/>
          </a:prstGeom>
          <a:solidFill>
            <a:srgbClr val="00A896"/>
          </a:solidFill>
          <a:ln/>
        </p:spPr>
      </p:sp>
      <p:pic>
        <p:nvPicPr>
          <p:cNvPr id="11" name="Image 1" descr="/tmp/claude-0/-home-user-gpa-academy1/adc6e4aa-3b77-57c1-ba92-a8d4ee625c84/scratchpad/pptx_ch3/icons/warning_white.png">    </p:cNvPr>
          <p:cNvPicPr>
            <a:picLocks noChangeAspect="1"/>
          </p:cNvPicPr>
          <p:nvPr/>
        </p:nvPicPr>
        <p:blipFill>
          <a:blip r:embed="rId2"/>
          <a:stretch>
            <a:fillRect/>
          </a:stretch>
        </p:blipFill>
        <p:spPr>
          <a:xfrm>
            <a:off x="854415" y="5490423"/>
            <a:ext cx="266273" cy="266273"/>
          </a:xfrm>
          <a:prstGeom prst="rect">
            <a:avLst/>
          </a:prstGeom>
        </p:spPr>
      </p:pic>
      <p:sp>
        <p:nvSpPr>
          <p:cNvPr id="12" name="Text 7"/>
          <p:cNvSpPr txBox="1"/>
          <p:nvPr/>
        </p:nvSpPr>
        <p:spPr>
          <a:xfrm>
            <a:off x="1371600" y="5294376"/>
            <a:ext cx="566928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Score MELD</a:t>
            </a:r>
            <a:endParaRPr lang="en-US" sz="1350" dirty="0"/>
          </a:p>
        </p:txBody>
      </p:sp>
      <p:sp>
        <p:nvSpPr>
          <p:cNvPr id="13" name="Text 8"/>
          <p:cNvSpPr txBox="1"/>
          <p:nvPr/>
        </p:nvSpPr>
        <p:spPr>
          <a:xfrm>
            <a:off x="1371600" y="5568696"/>
            <a:ext cx="5669280" cy="41148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En candidatos a trasplante o cirugía de muy alto riesgo, el score MELD (bilirrubina, INR, creatinina) complementa a Child-Pugh con mayor precisión pronóstica.</a:t>
            </a:r>
            <a:endParaRPr lang="en-US" sz="1150" dirty="0"/>
          </a:p>
        </p:txBody>
      </p:sp>
      <p:sp>
        <p:nvSpPr>
          <p:cNvPr id="14" name="Shape 9"/>
          <p:cNvSpPr/>
          <p:nvPr/>
        </p:nvSpPr>
        <p:spPr>
          <a:xfrm>
            <a:off x="7452360" y="1572768"/>
            <a:ext cx="4160520" cy="4434840"/>
          </a:xfrm>
          <a:prstGeom prst="roundRect">
            <a:avLst>
              <a:gd name="adj" fmla="val 175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5" name="Text 10"/>
          <p:cNvSpPr txBox="1"/>
          <p:nvPr/>
        </p:nvSpPr>
        <p:spPr>
          <a:xfrm>
            <a:off x="7680960" y="1755648"/>
            <a:ext cx="3703320" cy="45720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Implicaciones anestésicas de la hepatopatía</a:t>
            </a:r>
            <a:endParaRPr lang="en-US" sz="1250" dirty="0"/>
          </a:p>
        </p:txBody>
      </p:sp>
      <p:sp>
        <p:nvSpPr>
          <p:cNvPr id="16" name="Text 11"/>
          <p:cNvSpPr txBox="1"/>
          <p:nvPr/>
        </p:nvSpPr>
        <p:spPr>
          <a:xfrm>
            <a:off x="7680960" y="2240280"/>
            <a:ext cx="3703320" cy="0"/>
          </a:xfrm>
          <a:prstGeom prst="rect">
            <a:avLst/>
          </a:prstGeom>
          <a:noFill/>
          <a:ln/>
        </p:spPr>
        <p:txBody>
          <a:bodyPr wrap="square" lIns="0" tIns="0" rIns="0" bIns="0" rtlCol="0" anchor="t"/>
          <a:lstStyle/>
          <a:p>
            <a:pPr marL="342900" indent="-342900">
              <a:spcAft>
                <a:spcPts val="800"/>
              </a:spcAft>
              <a:buSzPct val="100000"/>
              <a:buChar char="•"/>
            </a:pPr>
            <a:r>
              <a:rPr lang="en-US" sz="1080" dirty="0">
                <a:solidFill>
                  <a:srgbClr val="1B2E30"/>
                </a:solidFill>
                <a:latin typeface="Calibri" pitchFamily="34" charset="0"/>
                <a:ea typeface="Calibri" pitchFamily="34" charset="-122"/>
                <a:cs typeface="Calibri" pitchFamily="34" charset="-120"/>
              </a:rPr>
              <a:t>Alteración del metabolismo de fármacos con eliminación hepática (benzodiacepinas, opioides).</a:t>
            </a:r>
            <a:endParaRPr lang="en-US" sz="1080" dirty="0"/>
          </a:p>
          <a:p>
            <a:pPr marL="342900" indent="-342900">
              <a:spcAft>
                <a:spcPts val="800"/>
              </a:spcAft>
              <a:buSzPct val="100000"/>
              <a:buChar char="•"/>
            </a:pPr>
            <a:r>
              <a:rPr lang="en-US" sz="1080" dirty="0">
                <a:solidFill>
                  <a:srgbClr val="1B2E30"/>
                </a:solidFill>
                <a:latin typeface="Calibri" pitchFamily="34" charset="0"/>
                <a:ea typeface="Calibri" pitchFamily="34" charset="-122"/>
                <a:cs typeface="Calibri" pitchFamily="34" charset="-120"/>
              </a:rPr>
              <a:t>Coagulopatía por déficit de factores de síntesis hepática.</a:t>
            </a:r>
            <a:endParaRPr lang="en-US" sz="1080" dirty="0"/>
          </a:p>
          <a:p>
            <a:pPr marL="342900" indent="-342900">
              <a:spcAft>
                <a:spcPts val="800"/>
              </a:spcAft>
              <a:buSzPct val="100000"/>
              <a:buChar char="•"/>
            </a:pPr>
            <a:r>
              <a:rPr lang="en-US" sz="1080" dirty="0">
                <a:solidFill>
                  <a:srgbClr val="1B2E30"/>
                </a:solidFill>
                <a:latin typeface="Calibri" pitchFamily="34" charset="0"/>
                <a:ea typeface="Calibri" pitchFamily="34" charset="-122"/>
                <a:cs typeface="Calibri" pitchFamily="34" charset="-120"/>
              </a:rPr>
              <a:t>Hipoalbuminemia: aumenta la fracción libre de fármacos altamente unidos a proteínas.</a:t>
            </a:r>
            <a:endParaRPr lang="en-US" sz="1080" dirty="0"/>
          </a:p>
          <a:p>
            <a:pPr marL="342900" indent="-342900">
              <a:spcAft>
                <a:spcPts val="800"/>
              </a:spcAft>
              <a:buSzPct val="100000"/>
              <a:buChar char="•"/>
            </a:pPr>
            <a:r>
              <a:rPr lang="en-US" sz="1080" dirty="0">
                <a:solidFill>
                  <a:srgbClr val="1B2E30"/>
                </a:solidFill>
                <a:latin typeface="Calibri" pitchFamily="34" charset="0"/>
                <a:ea typeface="Calibri" pitchFamily="34" charset="-122"/>
                <a:cs typeface="Calibri" pitchFamily="34" charset="-120"/>
              </a:rPr>
              <a:t>Riesgo de encefalopatía hepática precipitada por sedantes o hipovolemia.</a:t>
            </a:r>
            <a:endParaRPr lang="en-US" sz="1080" dirty="0"/>
          </a:p>
          <a:p>
            <a:pPr marL="342900" indent="-342900">
              <a:buSzPct val="100000"/>
              <a:buChar char="•"/>
            </a:pPr>
            <a:r>
              <a:rPr lang="en-US" sz="1080" b="1" dirty="0">
                <a:solidFill>
                  <a:srgbClr val="028090"/>
                </a:solidFill>
                <a:latin typeface="Calibri" pitchFamily="34" charset="0"/>
                <a:ea typeface="Calibri" pitchFamily="34" charset="-122"/>
                <a:cs typeface="Calibri" pitchFamily="34" charset="-120"/>
              </a:rPr>
              <a:t>Child-Pugh C se asocia a mortalidad quirúrgica significativamente mayor: valorar riesgo-beneficio de la cirugía electiva.</a:t>
            </a:r>
            <a:endParaRPr lang="en-US" sz="1080" dirty="0"/>
          </a:p>
        </p:txBody>
      </p:sp>
      <p:sp>
        <p:nvSpPr>
          <p:cNvPr id="17" name="Text 12"/>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8" name="Text 13"/>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EVALUACIÓN POR SISTEMAS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Evaluación renal: función renal y ajuste de dosis de fármacos anestésicos</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kidney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ANAMNESIS Y DATOS A VALORAR</a:t>
            </a:r>
            <a:endParaRPr lang="en-US" sz="1300" dirty="0"/>
          </a:p>
        </p:txBody>
      </p:sp>
      <p:sp>
        <p:nvSpPr>
          <p:cNvPr id="7" name="Text 4"/>
          <p:cNvSpPr txBox="1"/>
          <p:nvPr/>
        </p:nvSpPr>
        <p:spPr>
          <a:xfrm>
            <a:off x="548640" y="1901952"/>
            <a:ext cx="5394960" cy="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Antecedente de enfermedad renal crónica, su etiología y estadio actual (tasa de filtrado glomerular).</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Diálisis: modalidad, frecuencia y fecha de la última sesión.</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Diuresis habitual, edema, y balance hídrico reciente.</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Trastornos electrolíticos frecuentes: hiperpotasemia, acidosis metabólica.</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Comorbilidades asociadas: diabetes e hipertensión como causas frecuentes de nefropatía.</a:t>
            </a:r>
            <a:endParaRPr lang="en-US" sz="1200" dirty="0"/>
          </a:p>
        </p:txBody>
      </p:sp>
      <p:sp>
        <p:nvSpPr>
          <p:cNvPr id="8" name="Text 5"/>
          <p:cNvSpPr txBox="1"/>
          <p:nvPr/>
        </p:nvSpPr>
        <p:spPr>
          <a:xfrm>
            <a:off x="6263640" y="1572768"/>
            <a:ext cx="54864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IMPACTO EN EL MANEJO ANESTÉSICO</a:t>
            </a:r>
            <a:endParaRPr lang="en-US" sz="1300" dirty="0"/>
          </a:p>
        </p:txBody>
      </p:sp>
      <p:sp>
        <p:nvSpPr>
          <p:cNvPr id="9" name="Text 6"/>
          <p:cNvSpPr txBox="1"/>
          <p:nvPr/>
        </p:nvSpPr>
        <p:spPr>
          <a:xfrm>
            <a:off x="6263640" y="1901952"/>
            <a:ext cx="5394960" cy="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Ajustar dosis de fármacos con eliminación renal significativa (algunos relajantes musculares, opioides activos metabólicamente).</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Preferir agentes con metabolismo independiente de la función renal cuando sea posible.</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Evitar o ajustar fármacos nefrotóxicos y medios de contraste yodado si no son imprescindibles.</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Vigilar estrictamente el balance hídrico y evitar sobrecarga de volumen.</a:t>
            </a:r>
            <a:endParaRPr lang="en-US" sz="1200" dirty="0"/>
          </a:p>
          <a:p>
            <a:pPr marL="342900" indent="-342900">
              <a:spcAft>
                <a:spcPts val="1000"/>
              </a:spcAft>
              <a:buSzPct val="100000"/>
              <a:buChar char="•"/>
            </a:pPr>
            <a:r>
              <a:rPr lang="en-US" sz="1200" dirty="0">
                <a:solidFill>
                  <a:srgbClr val="1B2E30"/>
                </a:solidFill>
                <a:latin typeface="Calibri" pitchFamily="34" charset="0"/>
                <a:ea typeface="Calibri" pitchFamily="34" charset="-122"/>
                <a:cs typeface="Calibri" pitchFamily="34" charset="-120"/>
              </a:rPr>
              <a:t>Programar cirugía electiva del paciente en diálisis preferentemente el día posterior a la sesión.</a:t>
            </a:r>
            <a:endParaRPr lang="en-US" sz="1200" dirty="0"/>
          </a:p>
        </p:txBody>
      </p:sp>
      <p:sp>
        <p:nvSpPr>
          <p:cNvPr id="10" name="Shape 7"/>
          <p:cNvSpPr/>
          <p:nvPr/>
        </p:nvSpPr>
        <p:spPr>
          <a:xfrm>
            <a:off x="548640" y="4709160"/>
            <a:ext cx="11064240" cy="1234440"/>
          </a:xfrm>
          <a:prstGeom prst="roundRect">
            <a:avLst>
              <a:gd name="adj" fmla="val 5926"/>
            </a:avLst>
          </a:prstGeom>
          <a:solidFill>
            <a:srgbClr val="EFF7F7"/>
          </a:solidFill>
          <a:ln/>
        </p:spPr>
      </p:sp>
      <p:sp>
        <p:nvSpPr>
          <p:cNvPr id="11" name="Shape 8"/>
          <p:cNvSpPr/>
          <p:nvPr/>
        </p:nvSpPr>
        <p:spPr>
          <a:xfrm>
            <a:off x="749808" y="5088636"/>
            <a:ext cx="475488" cy="475488"/>
          </a:xfrm>
          <a:prstGeom prst="ellipse">
            <a:avLst/>
          </a:prstGeom>
          <a:solidFill>
            <a:srgbClr val="00A896"/>
          </a:solidFill>
          <a:ln/>
        </p:spPr>
      </p:sp>
      <p:pic>
        <p:nvPicPr>
          <p:cNvPr id="12" name="Image 1" descr="/tmp/claude-0/-home-user-gpa-academy1/adc6e4aa-3b77-57c1-ba92-a8d4ee625c84/scratchpad/pptx_ch3/icons/warning_white.png">    </p:cNvPr>
          <p:cNvPicPr>
            <a:picLocks noChangeAspect="1"/>
          </p:cNvPicPr>
          <p:nvPr/>
        </p:nvPicPr>
        <p:blipFill>
          <a:blip r:embed="rId2"/>
          <a:stretch>
            <a:fillRect/>
          </a:stretch>
        </p:blipFill>
        <p:spPr>
          <a:xfrm>
            <a:off x="854415" y="5193243"/>
            <a:ext cx="266273" cy="266273"/>
          </a:xfrm>
          <a:prstGeom prst="rect">
            <a:avLst/>
          </a:prstGeom>
        </p:spPr>
      </p:pic>
      <p:sp>
        <p:nvSpPr>
          <p:cNvPr id="13" name="Text 9"/>
          <p:cNvSpPr txBox="1"/>
          <p:nvPr/>
        </p:nvSpPr>
        <p:spPr>
          <a:xfrm>
            <a:off x="1371600" y="4837176"/>
            <a:ext cx="10058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Punto clave</a:t>
            </a:r>
            <a:endParaRPr lang="en-US" sz="1350" dirty="0"/>
          </a:p>
        </p:txBody>
      </p:sp>
      <p:sp>
        <p:nvSpPr>
          <p:cNvPr id="14" name="Text 10"/>
          <p:cNvSpPr txBox="1"/>
          <p:nvPr/>
        </p:nvSpPr>
        <p:spPr>
          <a:xfrm>
            <a:off x="1371600" y="5111496"/>
            <a:ext cx="10058400" cy="73152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La hiperpotasemia preoperatoria no corregida es una causa evitable de arritmia grave y paro cardiaco intraoperatorio. Todo paciente con enfermedad renal avanzada debe contar con electrolitos séricos vigentes antes de cirugía electiva, y valorar la conveniencia de succinilcolina según el nivel de potasio.</a:t>
            </a:r>
            <a:endParaRPr lang="en-US" sz="1150" dirty="0"/>
          </a:p>
        </p:txBody>
      </p:sp>
      <p:sp>
        <p:nvSpPr>
          <p:cNvPr id="15" name="Text 11"/>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6" name="Text 12"/>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EVALUACIÓN POR SISTEMAS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Sistema urinario: consideraciones perioperatorias</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urinary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Shape 3"/>
          <p:cNvSpPr/>
          <p:nvPr/>
        </p:nvSpPr>
        <p:spPr>
          <a:xfrm>
            <a:off x="548640" y="1691640"/>
            <a:ext cx="53492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7" name="Shape 4"/>
          <p:cNvSpPr/>
          <p:nvPr/>
        </p:nvSpPr>
        <p:spPr>
          <a:xfrm>
            <a:off x="749808" y="1874520"/>
            <a:ext cx="457200" cy="457200"/>
          </a:xfrm>
          <a:prstGeom prst="ellipse">
            <a:avLst/>
          </a:prstGeom>
          <a:solidFill>
            <a:srgbClr val="028090"/>
          </a:solidFill>
          <a:ln/>
        </p:spPr>
      </p:sp>
      <p:pic>
        <p:nvPicPr>
          <p:cNvPr id="8" name="Image 1" descr="/tmp/claude-0/-home-user-gpa-academy1/adc6e4aa-3b77-57c1-ba92-a8d4ee625c84/scratchpad/pptx_ch3/icons/examBody_white.png">    </p:cNvPr>
          <p:cNvPicPr>
            <a:picLocks noChangeAspect="1"/>
          </p:cNvPicPr>
          <p:nvPr/>
        </p:nvPicPr>
        <p:blipFill>
          <a:blip r:embed="rId2"/>
          <a:stretch>
            <a:fillRect/>
          </a:stretch>
        </p:blipFill>
        <p:spPr>
          <a:xfrm>
            <a:off x="852678" y="1977390"/>
            <a:ext cx="251460" cy="251460"/>
          </a:xfrm>
          <a:prstGeom prst="rect">
            <a:avLst/>
          </a:prstGeom>
        </p:spPr>
      </p:pic>
      <p:sp>
        <p:nvSpPr>
          <p:cNvPr id="9" name="Text 5"/>
          <p:cNvSpPr txBox="1"/>
          <p:nvPr/>
        </p:nvSpPr>
        <p:spPr>
          <a:xfrm>
            <a:off x="1335024" y="1856232"/>
            <a:ext cx="429768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Patología prostática</a:t>
            </a:r>
            <a:endParaRPr lang="en-US" sz="1250" dirty="0"/>
          </a:p>
        </p:txBody>
      </p:sp>
      <p:sp>
        <p:nvSpPr>
          <p:cNvPr id="10" name="Text 6"/>
          <p:cNvSpPr txBox="1"/>
          <p:nvPr/>
        </p:nvSpPr>
        <p:spPr>
          <a:xfrm>
            <a:off x="1335024" y="2130552"/>
            <a:ext cx="4297680" cy="960120"/>
          </a:xfrm>
          <a:prstGeom prst="rect">
            <a:avLst/>
          </a:prstGeom>
          <a:noFill/>
          <a:ln/>
        </p:spPr>
        <p:txBody>
          <a:bodyPr wrap="square" lIns="0" tIns="0" rIns="0" bIns="0" rtlCol="0" anchor="t"/>
          <a:lstStyle/>
          <a:p>
            <a:pPr indent="0" marL="0">
              <a:lnSpc>
                <a:spcPct val="112000"/>
              </a:lnSpc>
              <a:buNone/>
            </a:pPr>
            <a:r>
              <a:rPr lang="en-US" sz="1060" dirty="0">
                <a:solidFill>
                  <a:srgbClr val="52696C"/>
                </a:solidFill>
                <a:latin typeface="Calibri" pitchFamily="34" charset="0"/>
                <a:ea typeface="Calibri" pitchFamily="34" charset="-122"/>
                <a:cs typeface="Calibri" pitchFamily="34" charset="-120"/>
              </a:rPr>
              <a:t>La hipertrofia prostática benigna aumenta el riesgo de retención urinaria postoperatoria, especialmente con anestesia neuroaxial y opioides.</a:t>
            </a:r>
            <a:endParaRPr lang="en-US" sz="1060" dirty="0"/>
          </a:p>
        </p:txBody>
      </p:sp>
      <p:sp>
        <p:nvSpPr>
          <p:cNvPr id="11" name="Shape 7"/>
          <p:cNvSpPr/>
          <p:nvPr/>
        </p:nvSpPr>
        <p:spPr>
          <a:xfrm>
            <a:off x="6126480" y="1691640"/>
            <a:ext cx="53492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2" name="Shape 8"/>
          <p:cNvSpPr/>
          <p:nvPr/>
        </p:nvSpPr>
        <p:spPr>
          <a:xfrm>
            <a:off x="6327648" y="1874520"/>
            <a:ext cx="457200" cy="457200"/>
          </a:xfrm>
          <a:prstGeom prst="ellipse">
            <a:avLst/>
          </a:prstGeom>
          <a:solidFill>
            <a:srgbClr val="00A896"/>
          </a:solidFill>
          <a:ln/>
        </p:spPr>
      </p:sp>
      <p:pic>
        <p:nvPicPr>
          <p:cNvPr id="13" name="Image 2" descr="/tmp/claude-0/-home-user-gpa-academy1/adc6e4aa-3b77-57c1-ba92-a8d4ee625c84/scratchpad/pptx_ch3/icons/vial_white.png">    </p:cNvPr>
          <p:cNvPicPr>
            <a:picLocks noChangeAspect="1"/>
          </p:cNvPicPr>
          <p:nvPr/>
        </p:nvPicPr>
        <p:blipFill>
          <a:blip r:embed="rId3"/>
          <a:stretch>
            <a:fillRect/>
          </a:stretch>
        </p:blipFill>
        <p:spPr>
          <a:xfrm>
            <a:off x="6430518" y="1977390"/>
            <a:ext cx="251460" cy="251460"/>
          </a:xfrm>
          <a:prstGeom prst="rect">
            <a:avLst/>
          </a:prstGeom>
        </p:spPr>
      </p:pic>
      <p:sp>
        <p:nvSpPr>
          <p:cNvPr id="14" name="Text 9"/>
          <p:cNvSpPr txBox="1"/>
          <p:nvPr/>
        </p:nvSpPr>
        <p:spPr>
          <a:xfrm>
            <a:off x="6912864" y="1856232"/>
            <a:ext cx="429768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Infección de vías urinarias</a:t>
            </a:r>
            <a:endParaRPr lang="en-US" sz="1250" dirty="0"/>
          </a:p>
        </p:txBody>
      </p:sp>
      <p:sp>
        <p:nvSpPr>
          <p:cNvPr id="15" name="Text 10"/>
          <p:cNvSpPr txBox="1"/>
          <p:nvPr/>
        </p:nvSpPr>
        <p:spPr>
          <a:xfrm>
            <a:off x="6912864" y="2130552"/>
            <a:ext cx="4297680" cy="960120"/>
          </a:xfrm>
          <a:prstGeom prst="rect">
            <a:avLst/>
          </a:prstGeom>
          <a:noFill/>
          <a:ln/>
        </p:spPr>
        <p:txBody>
          <a:bodyPr wrap="square" lIns="0" tIns="0" rIns="0" bIns="0" rtlCol="0" anchor="t"/>
          <a:lstStyle/>
          <a:p>
            <a:pPr indent="0" marL="0">
              <a:lnSpc>
                <a:spcPct val="112000"/>
              </a:lnSpc>
              <a:buNone/>
            </a:pPr>
            <a:r>
              <a:rPr lang="en-US" sz="1060" dirty="0">
                <a:solidFill>
                  <a:srgbClr val="52696C"/>
                </a:solidFill>
                <a:latin typeface="Calibri" pitchFamily="34" charset="0"/>
                <a:ea typeface="Calibri" pitchFamily="34" charset="-122"/>
                <a:cs typeface="Calibri" pitchFamily="34" charset="-120"/>
              </a:rPr>
              <a:t>Descartar y tratar infección activa antes de cirugía electiva, en particular si se planea instrumentación urológica.</a:t>
            </a:r>
            <a:endParaRPr lang="en-US" sz="1060" dirty="0"/>
          </a:p>
        </p:txBody>
      </p:sp>
      <p:sp>
        <p:nvSpPr>
          <p:cNvPr id="16" name="Shape 11"/>
          <p:cNvSpPr/>
          <p:nvPr/>
        </p:nvSpPr>
        <p:spPr>
          <a:xfrm>
            <a:off x="548640" y="3383280"/>
            <a:ext cx="53492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17" name="Shape 12"/>
          <p:cNvSpPr/>
          <p:nvPr/>
        </p:nvSpPr>
        <p:spPr>
          <a:xfrm>
            <a:off x="749808" y="3566160"/>
            <a:ext cx="457200" cy="457200"/>
          </a:xfrm>
          <a:prstGeom prst="ellipse">
            <a:avLst/>
          </a:prstGeom>
          <a:solidFill>
            <a:srgbClr val="02C39A"/>
          </a:solidFill>
          <a:ln/>
        </p:spPr>
      </p:sp>
      <p:pic>
        <p:nvPicPr>
          <p:cNvPr id="18" name="Image 3" descr="/tmp/claude-0/-home-user-gpa-academy1/adc6e4aa-3b77-57c1-ba92-a8d4ee625c84/scratchpad/pptx_ch3/icons/clock_white.png">    </p:cNvPr>
          <p:cNvPicPr>
            <a:picLocks noChangeAspect="1"/>
          </p:cNvPicPr>
          <p:nvPr/>
        </p:nvPicPr>
        <p:blipFill>
          <a:blip r:embed="rId4"/>
          <a:stretch>
            <a:fillRect/>
          </a:stretch>
        </p:blipFill>
        <p:spPr>
          <a:xfrm>
            <a:off x="852678" y="3669030"/>
            <a:ext cx="251460" cy="251460"/>
          </a:xfrm>
          <a:prstGeom prst="rect">
            <a:avLst/>
          </a:prstGeom>
        </p:spPr>
      </p:pic>
      <p:sp>
        <p:nvSpPr>
          <p:cNvPr id="19" name="Text 13"/>
          <p:cNvSpPr txBox="1"/>
          <p:nvPr/>
        </p:nvSpPr>
        <p:spPr>
          <a:xfrm>
            <a:off x="1335024" y="3547872"/>
            <a:ext cx="429768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Sondaje vesical</a:t>
            </a:r>
            <a:endParaRPr lang="en-US" sz="1250" dirty="0"/>
          </a:p>
        </p:txBody>
      </p:sp>
      <p:sp>
        <p:nvSpPr>
          <p:cNvPr id="20" name="Text 14"/>
          <p:cNvSpPr txBox="1"/>
          <p:nvPr/>
        </p:nvSpPr>
        <p:spPr>
          <a:xfrm>
            <a:off x="1335024" y="3822192"/>
            <a:ext cx="4297680" cy="960120"/>
          </a:xfrm>
          <a:prstGeom prst="rect">
            <a:avLst/>
          </a:prstGeom>
          <a:noFill/>
          <a:ln/>
        </p:spPr>
        <p:txBody>
          <a:bodyPr wrap="square" lIns="0" tIns="0" rIns="0" bIns="0" rtlCol="0" anchor="t"/>
          <a:lstStyle/>
          <a:p>
            <a:pPr indent="0" marL="0">
              <a:lnSpc>
                <a:spcPct val="112000"/>
              </a:lnSpc>
              <a:buNone/>
            </a:pPr>
            <a:r>
              <a:rPr lang="en-US" sz="1060" dirty="0">
                <a:solidFill>
                  <a:srgbClr val="52696C"/>
                </a:solidFill>
                <a:latin typeface="Calibri" pitchFamily="34" charset="0"/>
                <a:ea typeface="Calibri" pitchFamily="34" charset="-122"/>
                <a:cs typeface="Calibri" pitchFamily="34" charset="-120"/>
              </a:rPr>
              <a:t>Indicado en cirugías prolongadas, procedimientos pélvicos, o cuando se requiere monitoreo estrecho de diuresis; valorar riesgo de infección asociada.</a:t>
            </a:r>
            <a:endParaRPr lang="en-US" sz="1060" dirty="0"/>
          </a:p>
        </p:txBody>
      </p:sp>
      <p:sp>
        <p:nvSpPr>
          <p:cNvPr id="21" name="Shape 15"/>
          <p:cNvSpPr/>
          <p:nvPr/>
        </p:nvSpPr>
        <p:spPr>
          <a:xfrm>
            <a:off x="6126480" y="3383280"/>
            <a:ext cx="5349240" cy="1508760"/>
          </a:xfrm>
          <a:prstGeom prst="roundRect">
            <a:avLst>
              <a:gd name="adj" fmla="val 4848"/>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2" name="Shape 16"/>
          <p:cNvSpPr/>
          <p:nvPr/>
        </p:nvSpPr>
        <p:spPr>
          <a:xfrm>
            <a:off x="6327648" y="3566160"/>
            <a:ext cx="457200" cy="457200"/>
          </a:xfrm>
          <a:prstGeom prst="ellipse">
            <a:avLst/>
          </a:prstGeom>
          <a:solidFill>
            <a:srgbClr val="028090"/>
          </a:solidFill>
          <a:ln/>
        </p:spPr>
      </p:sp>
      <p:pic>
        <p:nvPicPr>
          <p:cNvPr id="23" name="Image 4" descr="/tmp/claude-0/-home-user-gpa-academy1/adc6e4aa-3b77-57c1-ba92-a8d4ee625c84/scratchpad/pptx_ch3/icons/kidney_white.png">    </p:cNvPr>
          <p:cNvPicPr>
            <a:picLocks noChangeAspect="1"/>
          </p:cNvPicPr>
          <p:nvPr/>
        </p:nvPicPr>
        <p:blipFill>
          <a:blip r:embed="rId5"/>
          <a:stretch>
            <a:fillRect/>
          </a:stretch>
        </p:blipFill>
        <p:spPr>
          <a:xfrm>
            <a:off x="6430518" y="3669030"/>
            <a:ext cx="251460" cy="251460"/>
          </a:xfrm>
          <a:prstGeom prst="rect">
            <a:avLst/>
          </a:prstGeom>
        </p:spPr>
      </p:pic>
      <p:sp>
        <p:nvSpPr>
          <p:cNvPr id="24" name="Text 17"/>
          <p:cNvSpPr txBox="1"/>
          <p:nvPr/>
        </p:nvSpPr>
        <p:spPr>
          <a:xfrm>
            <a:off x="6912864" y="3547872"/>
            <a:ext cx="4297680" cy="27432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Patología genitourinaria estructural</a:t>
            </a:r>
            <a:endParaRPr lang="en-US" sz="1250" dirty="0"/>
          </a:p>
        </p:txBody>
      </p:sp>
      <p:sp>
        <p:nvSpPr>
          <p:cNvPr id="25" name="Text 18"/>
          <p:cNvSpPr txBox="1"/>
          <p:nvPr/>
        </p:nvSpPr>
        <p:spPr>
          <a:xfrm>
            <a:off x="6912864" y="3822192"/>
            <a:ext cx="4297680" cy="960120"/>
          </a:xfrm>
          <a:prstGeom prst="rect">
            <a:avLst/>
          </a:prstGeom>
          <a:noFill/>
          <a:ln/>
        </p:spPr>
        <p:txBody>
          <a:bodyPr wrap="square" lIns="0" tIns="0" rIns="0" bIns="0" rtlCol="0" anchor="t"/>
          <a:lstStyle/>
          <a:p>
            <a:pPr indent="0" marL="0">
              <a:lnSpc>
                <a:spcPct val="112000"/>
              </a:lnSpc>
              <a:buNone/>
            </a:pPr>
            <a:r>
              <a:rPr lang="en-US" sz="1060" dirty="0">
                <a:solidFill>
                  <a:srgbClr val="52696C"/>
                </a:solidFill>
                <a:latin typeface="Calibri" pitchFamily="34" charset="0"/>
                <a:ea typeface="Calibri" pitchFamily="34" charset="-122"/>
                <a:cs typeface="Calibri" pitchFamily="34" charset="-120"/>
              </a:rPr>
              <a:t>Litiasis, tumores o malformaciones que puedan modificar el abordaje quirúrgico o el riesgo de sangrado.</a:t>
            </a:r>
            <a:endParaRPr lang="en-US" sz="1060" dirty="0"/>
          </a:p>
        </p:txBody>
      </p:sp>
      <p:sp>
        <p:nvSpPr>
          <p:cNvPr id="26" name="Shape 19"/>
          <p:cNvSpPr/>
          <p:nvPr/>
        </p:nvSpPr>
        <p:spPr>
          <a:xfrm>
            <a:off x="548640" y="5257800"/>
            <a:ext cx="11064240" cy="960120"/>
          </a:xfrm>
          <a:prstGeom prst="roundRect">
            <a:avLst>
              <a:gd name="adj" fmla="val 7619"/>
            </a:avLst>
          </a:prstGeom>
          <a:solidFill>
            <a:srgbClr val="EFF7F7"/>
          </a:solidFill>
          <a:ln/>
        </p:spPr>
      </p:sp>
      <p:sp>
        <p:nvSpPr>
          <p:cNvPr id="27" name="Shape 20"/>
          <p:cNvSpPr/>
          <p:nvPr/>
        </p:nvSpPr>
        <p:spPr>
          <a:xfrm>
            <a:off x="749808" y="5500116"/>
            <a:ext cx="475488" cy="475488"/>
          </a:xfrm>
          <a:prstGeom prst="ellipse">
            <a:avLst/>
          </a:prstGeom>
          <a:solidFill>
            <a:srgbClr val="028090"/>
          </a:solidFill>
          <a:ln/>
        </p:spPr>
      </p:sp>
      <p:pic>
        <p:nvPicPr>
          <p:cNvPr id="28" name="Image 5" descr="/tmp/claude-0/-home-user-gpa-academy1/adc6e4aa-3b77-57c1-ba92-a8d4ee625c84/scratchpad/pptx_ch3/icons/checklist_white.png">    </p:cNvPr>
          <p:cNvPicPr>
            <a:picLocks noChangeAspect="1"/>
          </p:cNvPicPr>
          <p:nvPr/>
        </p:nvPicPr>
        <p:blipFill>
          <a:blip r:embed="rId6"/>
          <a:stretch>
            <a:fillRect/>
          </a:stretch>
        </p:blipFill>
        <p:spPr>
          <a:xfrm>
            <a:off x="854415" y="5604723"/>
            <a:ext cx="266273" cy="266273"/>
          </a:xfrm>
          <a:prstGeom prst="rect">
            <a:avLst/>
          </a:prstGeom>
        </p:spPr>
      </p:pic>
      <p:sp>
        <p:nvSpPr>
          <p:cNvPr id="29" name="Text 21"/>
          <p:cNvSpPr txBox="1"/>
          <p:nvPr/>
        </p:nvSpPr>
        <p:spPr>
          <a:xfrm>
            <a:off x="1371600" y="5385816"/>
            <a:ext cx="10058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Prevención de la retención urinaria postoperatoria</a:t>
            </a:r>
            <a:endParaRPr lang="en-US" sz="1350" dirty="0"/>
          </a:p>
        </p:txBody>
      </p:sp>
      <p:sp>
        <p:nvSpPr>
          <p:cNvPr id="30" name="Text 22"/>
          <p:cNvSpPr txBox="1"/>
          <p:nvPr/>
        </p:nvSpPr>
        <p:spPr>
          <a:xfrm>
            <a:off x="1371600" y="5660136"/>
            <a:ext cx="10058400" cy="45720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Limitar la fluidoterapia excesiva, favorecer la deambulación temprana y considerar sondaje profiláctico en procedimientos de alto riesgo (pélvicos, neuroaxiales prolongados), retirando el catéter tan pronto sea posible.</a:t>
            </a:r>
            <a:endParaRPr lang="en-US" sz="1150" dirty="0"/>
          </a:p>
        </p:txBody>
      </p:sp>
      <p:sp>
        <p:nvSpPr>
          <p:cNvPr id="31" name="Text 23"/>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32" name="Text 24"/>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ESTRATIFICACIÓN DE RIESGO</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Enfermedades y condiciones que contraindican la cirugía electiva</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block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9144000" cy="274320"/>
          </a:xfrm>
          <a:prstGeom prst="rect">
            <a:avLst/>
          </a:prstGeom>
          <a:noFill/>
          <a:ln/>
        </p:spPr>
        <p:txBody>
          <a:bodyPr wrap="square" lIns="0" tIns="0" rIns="0" bIns="0" rtlCol="0" anchor="ctr"/>
          <a:lstStyle/>
          <a:p>
            <a:pPr indent="0" marL="0">
              <a:buNone/>
            </a:pPr>
            <a:r>
              <a:rPr lang="en-US" sz="1300" b="1" spc="50" kern="0" dirty="0">
                <a:solidFill>
                  <a:srgbClr val="028090"/>
                </a:solidFill>
                <a:latin typeface="Calibri" pitchFamily="34" charset="0"/>
                <a:ea typeface="Calibri" pitchFamily="34" charset="-122"/>
                <a:cs typeface="Calibri" pitchFamily="34" charset="-120"/>
              </a:rPr>
              <a:t>CONTRAINDICACIONES ABSOLUTAS (DIFERIR HASTA RESOLUCIÓN U OPTIMIZACIÓN)</a:t>
            </a:r>
            <a:endParaRPr lang="en-US" sz="1300" dirty="0"/>
          </a:p>
        </p:txBody>
      </p:sp>
      <p:sp>
        <p:nvSpPr>
          <p:cNvPr id="7" name="Text 4"/>
          <p:cNvSpPr txBox="1"/>
          <p:nvPr/>
        </p:nvSpPr>
        <p:spPr>
          <a:xfrm>
            <a:off x="548640" y="1920240"/>
            <a:ext cx="10881360" cy="0"/>
          </a:xfrm>
          <a:prstGeom prst="rect">
            <a:avLst/>
          </a:prstGeom>
          <a:noFill/>
          <a:ln/>
        </p:spPr>
        <p:txBody>
          <a:bodyPr wrap="square" lIns="0" tIns="0" rIns="0" bIns="0" rtlCol="0" anchor="t"/>
          <a:lstStyle/>
          <a:p>
            <a:pPr marL="342900" indent="-342900">
              <a:spcAft>
                <a:spcPts val="1000"/>
              </a:spcAft>
              <a:buSzPct val="100000"/>
              <a:buChar char="•"/>
            </a:pPr>
            <a:r>
              <a:rPr lang="en-US" sz="1230" dirty="0">
                <a:solidFill>
                  <a:srgbClr val="1B2E30"/>
                </a:solidFill>
                <a:latin typeface="Calibri" pitchFamily="34" charset="0"/>
                <a:ea typeface="Calibri" pitchFamily="34" charset="-122"/>
                <a:cs typeface="Calibri" pitchFamily="34" charset="-120"/>
              </a:rPr>
              <a:t>Infarto agudo de miocardio reciente (idealmente diferir al menos 60 días salvo cirugía de urgencia).</a:t>
            </a:r>
            <a:endParaRPr lang="en-US" sz="1230" dirty="0"/>
          </a:p>
          <a:p>
            <a:pPr marL="342900" indent="-342900">
              <a:spcAft>
                <a:spcPts val="1000"/>
              </a:spcAft>
              <a:buSzPct val="100000"/>
              <a:buChar char="•"/>
            </a:pPr>
            <a:r>
              <a:rPr lang="en-US" sz="1230" dirty="0">
                <a:solidFill>
                  <a:srgbClr val="1B2E30"/>
                </a:solidFill>
                <a:latin typeface="Calibri" pitchFamily="34" charset="0"/>
                <a:ea typeface="Calibri" pitchFamily="34" charset="-122"/>
                <a:cs typeface="Calibri" pitchFamily="34" charset="-120"/>
              </a:rPr>
              <a:t>Insuficiencia cardiaca descompensada o arritmia con inestabilidad hemodinámica no controlada.</a:t>
            </a:r>
            <a:endParaRPr lang="en-US" sz="1230" dirty="0"/>
          </a:p>
          <a:p>
            <a:pPr marL="342900" indent="-342900">
              <a:spcAft>
                <a:spcPts val="1000"/>
              </a:spcAft>
              <a:buSzPct val="100000"/>
              <a:buChar char="•"/>
            </a:pPr>
            <a:r>
              <a:rPr lang="en-US" sz="1230" dirty="0">
                <a:solidFill>
                  <a:srgbClr val="1B2E30"/>
                </a:solidFill>
                <a:latin typeface="Calibri" pitchFamily="34" charset="0"/>
                <a:ea typeface="Calibri" pitchFamily="34" charset="-122"/>
                <a:cs typeface="Calibri" pitchFamily="34" charset="-120"/>
              </a:rPr>
              <a:t>Infección aguda no controlada, sepsis activa o infección respiratoria alta reciente sintomática.</a:t>
            </a:r>
            <a:endParaRPr lang="en-US" sz="1230" dirty="0"/>
          </a:p>
          <a:p>
            <a:pPr marL="342900" indent="-342900">
              <a:spcAft>
                <a:spcPts val="1000"/>
              </a:spcAft>
              <a:buSzPct val="100000"/>
              <a:buChar char="•"/>
            </a:pPr>
            <a:r>
              <a:rPr lang="en-US" sz="1230" dirty="0">
                <a:solidFill>
                  <a:srgbClr val="1B2E30"/>
                </a:solidFill>
                <a:latin typeface="Calibri" pitchFamily="34" charset="0"/>
                <a:ea typeface="Calibri" pitchFamily="34" charset="-122"/>
                <a:cs typeface="Calibri" pitchFamily="34" charset="-120"/>
              </a:rPr>
              <a:t>Trastornos de la coagulación no corregidos con riesgo hemorrágico significativo.</a:t>
            </a:r>
            <a:endParaRPr lang="en-US" sz="1230" dirty="0"/>
          </a:p>
          <a:p>
            <a:pPr marL="342900" indent="-342900">
              <a:spcAft>
                <a:spcPts val="1000"/>
              </a:spcAft>
              <a:buSzPct val="100000"/>
              <a:buChar char="•"/>
            </a:pPr>
            <a:r>
              <a:rPr lang="en-US" sz="1230" dirty="0">
                <a:solidFill>
                  <a:srgbClr val="1B2E30"/>
                </a:solidFill>
                <a:latin typeface="Calibri" pitchFamily="34" charset="0"/>
                <a:ea typeface="Calibri" pitchFamily="34" charset="-122"/>
                <a:cs typeface="Calibri" pitchFamily="34" charset="-120"/>
              </a:rPr>
              <a:t>Descompensación metabólica aguda: cetoacidosis diabética, crisis tiroidea, insuficiencia suprarrenal aguda.</a:t>
            </a:r>
            <a:endParaRPr lang="en-US" sz="1230" dirty="0"/>
          </a:p>
          <a:p>
            <a:pPr marL="342900" indent="-342900">
              <a:spcAft>
                <a:spcPts val="1000"/>
              </a:spcAft>
              <a:buSzPct val="100000"/>
              <a:buChar char="•"/>
            </a:pPr>
            <a:r>
              <a:rPr lang="en-US" sz="1230" dirty="0">
                <a:solidFill>
                  <a:srgbClr val="1B2E30"/>
                </a:solidFill>
                <a:latin typeface="Calibri" pitchFamily="34" charset="0"/>
                <a:ea typeface="Calibri" pitchFamily="34" charset="-122"/>
                <a:cs typeface="Calibri" pitchFamily="34" charset="-120"/>
              </a:rPr>
              <a:t>Ayuno preoperatorio no cumplido, salvo cirugía de urgencia con manejo de vía aérea de secuencia rápida.</a:t>
            </a:r>
            <a:endParaRPr lang="en-US" sz="1230" dirty="0"/>
          </a:p>
        </p:txBody>
      </p:sp>
      <p:sp>
        <p:nvSpPr>
          <p:cNvPr id="8" name="Shape 5"/>
          <p:cNvSpPr/>
          <p:nvPr/>
        </p:nvSpPr>
        <p:spPr>
          <a:xfrm>
            <a:off x="548640" y="4343400"/>
            <a:ext cx="11064240" cy="1600200"/>
          </a:xfrm>
          <a:prstGeom prst="roundRect">
            <a:avLst>
              <a:gd name="adj" fmla="val 4571"/>
            </a:avLst>
          </a:prstGeom>
          <a:solidFill>
            <a:srgbClr val="EFF7F7"/>
          </a:solidFill>
          <a:ln/>
        </p:spPr>
      </p:sp>
      <p:sp>
        <p:nvSpPr>
          <p:cNvPr id="9" name="Shape 6"/>
          <p:cNvSpPr/>
          <p:nvPr/>
        </p:nvSpPr>
        <p:spPr>
          <a:xfrm>
            <a:off x="749808" y="4905756"/>
            <a:ext cx="475488" cy="475488"/>
          </a:xfrm>
          <a:prstGeom prst="ellipse">
            <a:avLst/>
          </a:prstGeom>
          <a:solidFill>
            <a:srgbClr val="00A896"/>
          </a:solidFill>
          <a:ln/>
        </p:spPr>
      </p:sp>
      <p:pic>
        <p:nvPicPr>
          <p:cNvPr id="10" name="Image 1" descr="/tmp/claude-0/-home-user-gpa-academy1/adc6e4aa-3b77-57c1-ba92-a8d4ee625c84/scratchpad/pptx_ch3/icons/checklist_white.png">    </p:cNvPr>
          <p:cNvPicPr>
            <a:picLocks noChangeAspect="1"/>
          </p:cNvPicPr>
          <p:nvPr/>
        </p:nvPicPr>
        <p:blipFill>
          <a:blip r:embed="rId2"/>
          <a:stretch>
            <a:fillRect/>
          </a:stretch>
        </p:blipFill>
        <p:spPr>
          <a:xfrm>
            <a:off x="854415" y="5010363"/>
            <a:ext cx="266273" cy="266273"/>
          </a:xfrm>
          <a:prstGeom prst="rect">
            <a:avLst/>
          </a:prstGeom>
        </p:spPr>
      </p:pic>
      <p:sp>
        <p:nvSpPr>
          <p:cNvPr id="11" name="Text 7"/>
          <p:cNvSpPr txBox="1"/>
          <p:nvPr/>
        </p:nvSpPr>
        <p:spPr>
          <a:xfrm>
            <a:off x="1371600" y="4471416"/>
            <a:ext cx="10058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Principio de decisión clínica</a:t>
            </a:r>
            <a:endParaRPr lang="en-US" sz="1350" dirty="0"/>
          </a:p>
        </p:txBody>
      </p:sp>
      <p:sp>
        <p:nvSpPr>
          <p:cNvPr id="12" name="Text 8"/>
          <p:cNvSpPr txBox="1"/>
          <p:nvPr/>
        </p:nvSpPr>
        <p:spPr>
          <a:xfrm>
            <a:off x="1371600" y="4745736"/>
            <a:ext cx="10058400" cy="109728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La suspensión de una cirugía electiva no es un fracaso de la consulta preanestésica, sino su función protectora esencial: identificar un riesgo modificable antes de que se materialice en el quirófano. La decisión de proceder, optimizar o diferir siempre debe consensuarse entre anestesiología, cirugía y, cuando corresponda, la especialidad tratante de la comorbilidad.</a:t>
            </a:r>
            <a:endParaRPr lang="en-US" sz="1150" dirty="0"/>
          </a:p>
        </p:txBody>
      </p:sp>
      <p:sp>
        <p:nvSpPr>
          <p:cNvPr id="13" name="Text 9"/>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4" name="Text 10"/>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ESTRATIFICACIÓN DE RIESGO</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500" b="1" dirty="0">
                <a:solidFill>
                  <a:srgbClr val="013A40"/>
                </a:solidFill>
                <a:latin typeface="Cambria" pitchFamily="34" charset="0"/>
                <a:ea typeface="Cambria" pitchFamily="34" charset="-122"/>
                <a:cs typeface="Cambria" pitchFamily="34" charset="-120"/>
              </a:rPr>
              <a:t>Clasificación del estado físico ASA: herramienta de estratificación de riesgo</a:t>
            </a:r>
            <a:endParaRPr lang="en-US" sz="25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bars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Shape 3"/>
          <p:cNvSpPr/>
          <p:nvPr/>
        </p:nvSpPr>
        <p:spPr>
          <a:xfrm>
            <a:off x="548640" y="1627632"/>
            <a:ext cx="777240" cy="530352"/>
          </a:xfrm>
          <a:prstGeom prst="roundRect">
            <a:avLst>
              <a:gd name="adj" fmla="val 10345"/>
            </a:avLst>
          </a:prstGeom>
          <a:solidFill>
            <a:srgbClr val="028090"/>
          </a:solidFill>
          <a:ln/>
        </p:spPr>
      </p:sp>
      <p:sp>
        <p:nvSpPr>
          <p:cNvPr id="7" name="Text 4"/>
          <p:cNvSpPr txBox="1"/>
          <p:nvPr/>
        </p:nvSpPr>
        <p:spPr>
          <a:xfrm>
            <a:off x="548640" y="1627632"/>
            <a:ext cx="77724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ASA I</a:t>
            </a:r>
            <a:endParaRPr lang="en-US" sz="1300" dirty="0"/>
          </a:p>
        </p:txBody>
      </p:sp>
      <p:sp>
        <p:nvSpPr>
          <p:cNvPr id="8" name="Text 5"/>
          <p:cNvSpPr txBox="1"/>
          <p:nvPr/>
        </p:nvSpPr>
        <p:spPr>
          <a:xfrm>
            <a:off x="1463040" y="1627632"/>
            <a:ext cx="4937760" cy="530352"/>
          </a:xfrm>
          <a:prstGeom prst="rect">
            <a:avLst/>
          </a:prstGeom>
          <a:noFill/>
          <a:ln/>
        </p:spPr>
        <p:txBody>
          <a:bodyPr wrap="square" lIns="0" tIns="0" rIns="0" bIns="0" rtlCol="0" anchor="ctr"/>
          <a:lstStyle/>
          <a:p>
            <a:pPr indent="0" marL="0">
              <a:lnSpc>
                <a:spcPct val="102000"/>
              </a:lnSpc>
              <a:buNone/>
            </a:pPr>
            <a:r>
              <a:rPr lang="en-US" sz="1080" dirty="0">
                <a:solidFill>
                  <a:srgbClr val="1B2E30"/>
                </a:solidFill>
                <a:latin typeface="Calibri" pitchFamily="34" charset="0"/>
                <a:ea typeface="Calibri" pitchFamily="34" charset="-122"/>
                <a:cs typeface="Calibri" pitchFamily="34" charset="-120"/>
              </a:rPr>
              <a:t>Paciente sano, sin alteraciones orgánicas, fisiológicas o psiquiátricas</a:t>
            </a:r>
            <a:endParaRPr lang="en-US" sz="1080" dirty="0"/>
          </a:p>
        </p:txBody>
      </p:sp>
      <p:sp>
        <p:nvSpPr>
          <p:cNvPr id="9" name="Shape 6"/>
          <p:cNvSpPr/>
          <p:nvPr/>
        </p:nvSpPr>
        <p:spPr>
          <a:xfrm>
            <a:off x="548640" y="2231136"/>
            <a:ext cx="777240" cy="530352"/>
          </a:xfrm>
          <a:prstGeom prst="roundRect">
            <a:avLst>
              <a:gd name="adj" fmla="val 10345"/>
            </a:avLst>
          </a:prstGeom>
          <a:solidFill>
            <a:srgbClr val="028090"/>
          </a:solidFill>
          <a:ln/>
        </p:spPr>
      </p:sp>
      <p:sp>
        <p:nvSpPr>
          <p:cNvPr id="10" name="Text 7"/>
          <p:cNvSpPr txBox="1"/>
          <p:nvPr/>
        </p:nvSpPr>
        <p:spPr>
          <a:xfrm>
            <a:off x="548640" y="2231136"/>
            <a:ext cx="77724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ASA II</a:t>
            </a:r>
            <a:endParaRPr lang="en-US" sz="1300" dirty="0"/>
          </a:p>
        </p:txBody>
      </p:sp>
      <p:sp>
        <p:nvSpPr>
          <p:cNvPr id="11" name="Text 8"/>
          <p:cNvSpPr txBox="1"/>
          <p:nvPr/>
        </p:nvSpPr>
        <p:spPr>
          <a:xfrm>
            <a:off x="1463040" y="2231136"/>
            <a:ext cx="4937760" cy="530352"/>
          </a:xfrm>
          <a:prstGeom prst="rect">
            <a:avLst/>
          </a:prstGeom>
          <a:noFill/>
          <a:ln/>
        </p:spPr>
        <p:txBody>
          <a:bodyPr wrap="square" lIns="0" tIns="0" rIns="0" bIns="0" rtlCol="0" anchor="ctr"/>
          <a:lstStyle/>
          <a:p>
            <a:pPr indent="0" marL="0">
              <a:lnSpc>
                <a:spcPct val="102000"/>
              </a:lnSpc>
              <a:buNone/>
            </a:pPr>
            <a:r>
              <a:rPr lang="en-US" sz="1080" dirty="0">
                <a:solidFill>
                  <a:srgbClr val="1B2E30"/>
                </a:solidFill>
                <a:latin typeface="Calibri" pitchFamily="34" charset="0"/>
                <a:ea typeface="Calibri" pitchFamily="34" charset="-122"/>
                <a:cs typeface="Calibri" pitchFamily="34" charset="-120"/>
              </a:rPr>
              <a:t>Enfermedad sistémica leve, sin limitación funcional (ej. HTA controlada)</a:t>
            </a:r>
            <a:endParaRPr lang="en-US" sz="1080" dirty="0"/>
          </a:p>
        </p:txBody>
      </p:sp>
      <p:sp>
        <p:nvSpPr>
          <p:cNvPr id="12" name="Shape 9"/>
          <p:cNvSpPr/>
          <p:nvPr/>
        </p:nvSpPr>
        <p:spPr>
          <a:xfrm>
            <a:off x="548640" y="2834640"/>
            <a:ext cx="777240" cy="530352"/>
          </a:xfrm>
          <a:prstGeom prst="roundRect">
            <a:avLst>
              <a:gd name="adj" fmla="val 10345"/>
            </a:avLst>
          </a:prstGeom>
          <a:solidFill>
            <a:srgbClr val="00A896"/>
          </a:solidFill>
          <a:ln/>
        </p:spPr>
      </p:sp>
      <p:sp>
        <p:nvSpPr>
          <p:cNvPr id="13" name="Text 10"/>
          <p:cNvSpPr txBox="1"/>
          <p:nvPr/>
        </p:nvSpPr>
        <p:spPr>
          <a:xfrm>
            <a:off x="548640" y="2834640"/>
            <a:ext cx="77724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ASA III</a:t>
            </a:r>
            <a:endParaRPr lang="en-US" sz="1300" dirty="0"/>
          </a:p>
        </p:txBody>
      </p:sp>
      <p:sp>
        <p:nvSpPr>
          <p:cNvPr id="14" name="Text 11"/>
          <p:cNvSpPr txBox="1"/>
          <p:nvPr/>
        </p:nvSpPr>
        <p:spPr>
          <a:xfrm>
            <a:off x="1463040" y="2834640"/>
            <a:ext cx="4937760" cy="530352"/>
          </a:xfrm>
          <a:prstGeom prst="rect">
            <a:avLst/>
          </a:prstGeom>
          <a:noFill/>
          <a:ln/>
        </p:spPr>
        <p:txBody>
          <a:bodyPr wrap="square" lIns="0" tIns="0" rIns="0" bIns="0" rtlCol="0" anchor="ctr"/>
          <a:lstStyle/>
          <a:p>
            <a:pPr indent="0" marL="0">
              <a:lnSpc>
                <a:spcPct val="102000"/>
              </a:lnSpc>
              <a:buNone/>
            </a:pPr>
            <a:r>
              <a:rPr lang="en-US" sz="1080" dirty="0">
                <a:solidFill>
                  <a:srgbClr val="1B2E30"/>
                </a:solidFill>
                <a:latin typeface="Calibri" pitchFamily="34" charset="0"/>
                <a:ea typeface="Calibri" pitchFamily="34" charset="-122"/>
                <a:cs typeface="Calibri" pitchFamily="34" charset="-120"/>
              </a:rPr>
              <a:t>Enfermedad sistémica grave, con limitación funcional (ej. diabetes con complicaciones)</a:t>
            </a:r>
            <a:endParaRPr lang="en-US" sz="1080" dirty="0"/>
          </a:p>
        </p:txBody>
      </p:sp>
      <p:sp>
        <p:nvSpPr>
          <p:cNvPr id="15" name="Shape 12"/>
          <p:cNvSpPr/>
          <p:nvPr/>
        </p:nvSpPr>
        <p:spPr>
          <a:xfrm>
            <a:off x="548640" y="3438144"/>
            <a:ext cx="777240" cy="530352"/>
          </a:xfrm>
          <a:prstGeom prst="roundRect">
            <a:avLst>
              <a:gd name="adj" fmla="val 10345"/>
            </a:avLst>
          </a:prstGeom>
          <a:solidFill>
            <a:srgbClr val="00A896"/>
          </a:solidFill>
          <a:ln/>
        </p:spPr>
      </p:sp>
      <p:sp>
        <p:nvSpPr>
          <p:cNvPr id="16" name="Text 13"/>
          <p:cNvSpPr txBox="1"/>
          <p:nvPr/>
        </p:nvSpPr>
        <p:spPr>
          <a:xfrm>
            <a:off x="548640" y="3438144"/>
            <a:ext cx="77724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ASA IV</a:t>
            </a:r>
            <a:endParaRPr lang="en-US" sz="1300" dirty="0"/>
          </a:p>
        </p:txBody>
      </p:sp>
      <p:sp>
        <p:nvSpPr>
          <p:cNvPr id="17" name="Text 14"/>
          <p:cNvSpPr txBox="1"/>
          <p:nvPr/>
        </p:nvSpPr>
        <p:spPr>
          <a:xfrm>
            <a:off x="1463040" y="3438144"/>
            <a:ext cx="4937760" cy="530352"/>
          </a:xfrm>
          <a:prstGeom prst="rect">
            <a:avLst/>
          </a:prstGeom>
          <a:noFill/>
          <a:ln/>
        </p:spPr>
        <p:txBody>
          <a:bodyPr wrap="square" lIns="0" tIns="0" rIns="0" bIns="0" rtlCol="0" anchor="ctr"/>
          <a:lstStyle/>
          <a:p>
            <a:pPr indent="0" marL="0">
              <a:lnSpc>
                <a:spcPct val="102000"/>
              </a:lnSpc>
              <a:buNone/>
            </a:pPr>
            <a:r>
              <a:rPr lang="en-US" sz="1080" dirty="0">
                <a:solidFill>
                  <a:srgbClr val="1B2E30"/>
                </a:solidFill>
                <a:latin typeface="Calibri" pitchFamily="34" charset="0"/>
                <a:ea typeface="Calibri" pitchFamily="34" charset="-122"/>
                <a:cs typeface="Calibri" pitchFamily="34" charset="-120"/>
              </a:rPr>
              <a:t>Enfermedad sistémica grave que representa amenaza constante para la vida</a:t>
            </a:r>
            <a:endParaRPr lang="en-US" sz="1080" dirty="0"/>
          </a:p>
        </p:txBody>
      </p:sp>
      <p:sp>
        <p:nvSpPr>
          <p:cNvPr id="18" name="Shape 15"/>
          <p:cNvSpPr/>
          <p:nvPr/>
        </p:nvSpPr>
        <p:spPr>
          <a:xfrm>
            <a:off x="548640" y="4041648"/>
            <a:ext cx="777240" cy="530352"/>
          </a:xfrm>
          <a:prstGeom prst="roundRect">
            <a:avLst>
              <a:gd name="adj" fmla="val 10345"/>
            </a:avLst>
          </a:prstGeom>
          <a:solidFill>
            <a:srgbClr val="02C39A"/>
          </a:solidFill>
          <a:ln/>
        </p:spPr>
      </p:sp>
      <p:sp>
        <p:nvSpPr>
          <p:cNvPr id="19" name="Text 16"/>
          <p:cNvSpPr txBox="1"/>
          <p:nvPr/>
        </p:nvSpPr>
        <p:spPr>
          <a:xfrm>
            <a:off x="548640" y="4041648"/>
            <a:ext cx="77724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ASA V</a:t>
            </a:r>
            <a:endParaRPr lang="en-US" sz="1300" dirty="0"/>
          </a:p>
        </p:txBody>
      </p:sp>
      <p:sp>
        <p:nvSpPr>
          <p:cNvPr id="20" name="Text 17"/>
          <p:cNvSpPr txBox="1"/>
          <p:nvPr/>
        </p:nvSpPr>
        <p:spPr>
          <a:xfrm>
            <a:off x="1463040" y="4041648"/>
            <a:ext cx="4937760" cy="530352"/>
          </a:xfrm>
          <a:prstGeom prst="rect">
            <a:avLst/>
          </a:prstGeom>
          <a:noFill/>
          <a:ln/>
        </p:spPr>
        <p:txBody>
          <a:bodyPr wrap="square" lIns="0" tIns="0" rIns="0" bIns="0" rtlCol="0" anchor="ctr"/>
          <a:lstStyle/>
          <a:p>
            <a:pPr indent="0" marL="0">
              <a:lnSpc>
                <a:spcPct val="102000"/>
              </a:lnSpc>
              <a:buNone/>
            </a:pPr>
            <a:r>
              <a:rPr lang="en-US" sz="1080" dirty="0">
                <a:solidFill>
                  <a:srgbClr val="1B2E30"/>
                </a:solidFill>
                <a:latin typeface="Calibri" pitchFamily="34" charset="0"/>
                <a:ea typeface="Calibri" pitchFamily="34" charset="-122"/>
                <a:cs typeface="Calibri" pitchFamily="34" charset="-120"/>
              </a:rPr>
              <a:t>Paciente moribundo: no se espera que sobreviva sin la cirugía</a:t>
            </a:r>
            <a:endParaRPr lang="en-US" sz="1080" dirty="0"/>
          </a:p>
        </p:txBody>
      </p:sp>
      <p:sp>
        <p:nvSpPr>
          <p:cNvPr id="21" name="Shape 18"/>
          <p:cNvSpPr/>
          <p:nvPr/>
        </p:nvSpPr>
        <p:spPr>
          <a:xfrm>
            <a:off x="548640" y="4645152"/>
            <a:ext cx="777240" cy="530352"/>
          </a:xfrm>
          <a:prstGeom prst="roundRect">
            <a:avLst>
              <a:gd name="adj" fmla="val 10345"/>
            </a:avLst>
          </a:prstGeom>
          <a:solidFill>
            <a:srgbClr val="013A40"/>
          </a:solidFill>
          <a:ln/>
        </p:spPr>
      </p:sp>
      <p:sp>
        <p:nvSpPr>
          <p:cNvPr id="22" name="Text 19"/>
          <p:cNvSpPr txBox="1"/>
          <p:nvPr/>
        </p:nvSpPr>
        <p:spPr>
          <a:xfrm>
            <a:off x="548640" y="4645152"/>
            <a:ext cx="77724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ASA VI</a:t>
            </a:r>
            <a:endParaRPr lang="en-US" sz="1300" dirty="0"/>
          </a:p>
        </p:txBody>
      </p:sp>
      <p:sp>
        <p:nvSpPr>
          <p:cNvPr id="23" name="Text 20"/>
          <p:cNvSpPr txBox="1"/>
          <p:nvPr/>
        </p:nvSpPr>
        <p:spPr>
          <a:xfrm>
            <a:off x="1463040" y="4645152"/>
            <a:ext cx="4937760" cy="530352"/>
          </a:xfrm>
          <a:prstGeom prst="rect">
            <a:avLst/>
          </a:prstGeom>
          <a:noFill/>
          <a:ln/>
        </p:spPr>
        <p:txBody>
          <a:bodyPr wrap="square" lIns="0" tIns="0" rIns="0" bIns="0" rtlCol="0" anchor="ctr"/>
          <a:lstStyle/>
          <a:p>
            <a:pPr indent="0" marL="0">
              <a:lnSpc>
                <a:spcPct val="102000"/>
              </a:lnSpc>
              <a:buNone/>
            </a:pPr>
            <a:r>
              <a:rPr lang="en-US" sz="1080" dirty="0">
                <a:solidFill>
                  <a:srgbClr val="1B2E30"/>
                </a:solidFill>
                <a:latin typeface="Calibri" pitchFamily="34" charset="0"/>
                <a:ea typeface="Calibri" pitchFamily="34" charset="-122"/>
                <a:cs typeface="Calibri" pitchFamily="34" charset="-120"/>
              </a:rPr>
              <a:t>Paciente con muerte cerebral declarada, para donación de órganos</a:t>
            </a:r>
            <a:endParaRPr lang="en-US" sz="1080" dirty="0"/>
          </a:p>
        </p:txBody>
      </p:sp>
      <p:sp>
        <p:nvSpPr>
          <p:cNvPr id="24" name="Text 21"/>
          <p:cNvSpPr txBox="1"/>
          <p:nvPr/>
        </p:nvSpPr>
        <p:spPr>
          <a:xfrm>
            <a:off x="548640" y="5294376"/>
            <a:ext cx="6035040" cy="274320"/>
          </a:xfrm>
          <a:prstGeom prst="rect">
            <a:avLst/>
          </a:prstGeom>
          <a:noFill/>
          <a:ln/>
        </p:spPr>
        <p:txBody>
          <a:bodyPr wrap="square" lIns="0" tIns="0" rIns="0" bIns="0" rtlCol="0" anchor="ctr"/>
          <a:lstStyle/>
          <a:p>
            <a:pPr indent="0" marL="0">
              <a:buNone/>
            </a:pPr>
            <a:r>
              <a:rPr lang="en-US" sz="1000" i="1" dirty="0">
                <a:solidFill>
                  <a:srgbClr val="52696C"/>
                </a:solidFill>
                <a:latin typeface="Calibri" pitchFamily="34" charset="0"/>
                <a:ea typeface="Calibri" pitchFamily="34" charset="-122"/>
                <a:cs typeface="Calibri" pitchFamily="34" charset="-120"/>
              </a:rPr>
              <a:t>El sufijo "E" se añade cuando el procedimiento es de urgencia (ej. ASA IIIE).</a:t>
            </a:r>
            <a:endParaRPr lang="en-US" sz="1000" dirty="0"/>
          </a:p>
        </p:txBody>
      </p:sp>
      <p:sp>
        <p:nvSpPr>
          <p:cNvPr id="25" name="Shape 22"/>
          <p:cNvSpPr/>
          <p:nvPr/>
        </p:nvSpPr>
        <p:spPr>
          <a:xfrm>
            <a:off x="6858000" y="1627632"/>
            <a:ext cx="4754880" cy="4434840"/>
          </a:xfrm>
          <a:prstGeom prst="roundRect">
            <a:avLst>
              <a:gd name="adj" fmla="val 1649"/>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26" name="Text 23"/>
          <p:cNvSpPr txBox="1"/>
          <p:nvPr/>
        </p:nvSpPr>
        <p:spPr>
          <a:xfrm>
            <a:off x="7086600" y="1810512"/>
            <a:ext cx="4297680" cy="320040"/>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Utilidad y límites de la escala ASA</a:t>
            </a:r>
            <a:endParaRPr lang="en-US" sz="1350" dirty="0"/>
          </a:p>
        </p:txBody>
      </p:sp>
      <p:sp>
        <p:nvSpPr>
          <p:cNvPr id="27" name="Text 24"/>
          <p:cNvSpPr txBox="1"/>
          <p:nvPr/>
        </p:nvSpPr>
        <p:spPr>
          <a:xfrm>
            <a:off x="7086600" y="2194560"/>
            <a:ext cx="4297680" cy="0"/>
          </a:xfrm>
          <a:prstGeom prst="rect">
            <a:avLst/>
          </a:prstGeom>
          <a:noFill/>
          <a:ln/>
        </p:spPr>
        <p:txBody>
          <a:bodyPr wrap="square" lIns="0" tIns="0" rIns="0" bIns="0" rtlCol="0" anchor="t"/>
          <a:lstStyle/>
          <a:p>
            <a:pPr marL="342900" indent="-342900">
              <a:spcAft>
                <a:spcPts val="900"/>
              </a:spcAft>
              <a:buSzPct val="100000"/>
              <a:buChar char="•"/>
            </a:pPr>
            <a:r>
              <a:rPr lang="en-US" sz="1100" dirty="0">
                <a:solidFill>
                  <a:srgbClr val="1B2E30"/>
                </a:solidFill>
                <a:latin typeface="Calibri" pitchFamily="34" charset="0"/>
                <a:ea typeface="Calibri" pitchFamily="34" charset="-122"/>
                <a:cs typeface="Calibri" pitchFamily="34" charset="-120"/>
              </a:rPr>
              <a:t>Correlaciona de forma consistente con morbimortalidad perioperatoria en múltiples estudios poblacionales.</a:t>
            </a:r>
            <a:endParaRPr lang="en-US" sz="1100" dirty="0"/>
          </a:p>
          <a:p>
            <a:pPr marL="342900" indent="-342900">
              <a:spcAft>
                <a:spcPts val="900"/>
              </a:spcAft>
              <a:buSzPct val="100000"/>
              <a:buChar char="•"/>
            </a:pPr>
            <a:r>
              <a:rPr lang="en-US" sz="1100" dirty="0">
                <a:solidFill>
                  <a:srgbClr val="1B2E30"/>
                </a:solidFill>
                <a:latin typeface="Calibri" pitchFamily="34" charset="0"/>
                <a:ea typeface="Calibri" pitchFamily="34" charset="-122"/>
                <a:cs typeface="Calibri" pitchFamily="34" charset="-120"/>
              </a:rPr>
              <a:t>Es un lenguaje universal entre anestesiología, cirugía y administración hospitalaria.</a:t>
            </a:r>
            <a:endParaRPr lang="en-US" sz="1100" dirty="0"/>
          </a:p>
          <a:p>
            <a:pPr marL="342900" indent="-342900">
              <a:spcAft>
                <a:spcPts val="900"/>
              </a:spcAft>
              <a:buSzPct val="100000"/>
              <a:buChar char="•"/>
            </a:pPr>
            <a:r>
              <a:rPr lang="en-US" sz="1100" dirty="0">
                <a:solidFill>
                  <a:srgbClr val="1B2E30"/>
                </a:solidFill>
                <a:latin typeface="Calibri" pitchFamily="34" charset="0"/>
                <a:ea typeface="Calibri" pitchFamily="34" charset="-122"/>
                <a:cs typeface="Calibri" pitchFamily="34" charset="-120"/>
              </a:rPr>
              <a:t>No es un instrumento de riesgo quirúrgico específico ni sustituye escalas dirigidas como el RCRI.</a:t>
            </a:r>
            <a:endParaRPr lang="en-US" sz="1100" dirty="0"/>
          </a:p>
          <a:p>
            <a:pPr marL="342900" indent="-342900">
              <a:spcAft>
                <a:spcPts val="900"/>
              </a:spcAft>
              <a:buSzPct val="100000"/>
              <a:buChar char="•"/>
            </a:pPr>
            <a:r>
              <a:rPr lang="en-US" sz="1100" dirty="0">
                <a:solidFill>
                  <a:srgbClr val="1B2E30"/>
                </a:solidFill>
                <a:latin typeface="Calibri" pitchFamily="34" charset="0"/>
                <a:ea typeface="Calibri" pitchFamily="34" charset="-122"/>
                <a:cs typeface="Calibri" pitchFamily="34" charset="-120"/>
              </a:rPr>
              <a:t>Presenta variabilidad interobservador: debe asignarse según el juicio clínico global del anestesiólogo evaluador.</a:t>
            </a:r>
            <a:endParaRPr lang="en-US" sz="1100" dirty="0"/>
          </a:p>
          <a:p>
            <a:pPr marL="342900" indent="-342900">
              <a:buSzPct val="100000"/>
              <a:buChar char="•"/>
            </a:pPr>
            <a:r>
              <a:rPr lang="en-US" sz="1100" dirty="0">
                <a:solidFill>
                  <a:srgbClr val="1B2E30"/>
                </a:solidFill>
                <a:latin typeface="Calibri" pitchFamily="34" charset="0"/>
                <a:ea typeface="Calibri" pitchFamily="34" charset="-122"/>
                <a:cs typeface="Calibri" pitchFamily="34" charset="-120"/>
              </a:rPr>
              <a:t>No considera el tipo de cirugía ni la complejidad técnica del procedimiento.</a:t>
            </a:r>
            <a:endParaRPr lang="en-US" sz="1100" dirty="0"/>
          </a:p>
        </p:txBody>
      </p:sp>
      <p:sp>
        <p:nvSpPr>
          <p:cNvPr id="28" name="Text 25"/>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29" name="Text 26"/>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ESTUDIOS COMPLEMENTARIOS</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Estudios de laboratorio y gabinete preoperatorios: indicaciones racionales</a:t>
            </a:r>
            <a:endParaRPr lang="en-US" sz="2700" dirty="0"/>
          </a:p>
        </p:txBody>
      </p:sp>
      <p:sp>
        <p:nvSpPr>
          <p:cNvPr id="4" name="Shape 2"/>
          <p:cNvSpPr/>
          <p:nvPr/>
        </p:nvSpPr>
        <p:spPr>
          <a:xfrm>
            <a:off x="11064240" y="384048"/>
            <a:ext cx="713232" cy="713232"/>
          </a:xfrm>
          <a:prstGeom prst="ellipse">
            <a:avLst/>
          </a:prstGeom>
          <a:solidFill>
            <a:srgbClr val="028090"/>
          </a:solidFill>
          <a:ln/>
        </p:spPr>
      </p:sp>
      <p:pic>
        <p:nvPicPr>
          <p:cNvPr id="5" name="Image 0" descr="/tmp/claude-0/-home-user-gpa-academy1/adc6e4aa-3b77-57c1-ba92-a8d4ee625c84/scratchpad/pptx_ch3/icons/labs_white.png">    </p:cNvPr>
          <p:cNvPicPr>
            <a:picLocks noChangeAspect="1"/>
          </p:cNvPicPr>
          <p:nvPr/>
        </p:nvPicPr>
        <p:blipFill>
          <a:blip r:embed="rId1"/>
          <a:stretch>
            <a:fillRect/>
          </a:stretch>
        </p:blipFill>
        <p:spPr>
          <a:xfrm>
            <a:off x="11224717" y="544525"/>
            <a:ext cx="392278" cy="392278"/>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2834640"/>
                <a:gridCol w="4480560"/>
                <a:gridCol w="3749040"/>
              </a:tblGrid>
              <a:tr h="54864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Estudio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Indicación racional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No indicado de rutina si</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54864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Biometría hemática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Anemia sospechada, cirugía con sangrado esperado, neoplasia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Paciente sano, cirugía menor</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54864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Pruebas de coagulación</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Hepatopatía, anticoagulación, sangrado anormal referido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Sin antecedente de sangrado ni hepatopatía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Glucosa / HbA1c</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Diabetes conocida o factores de riesgo metabólico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Paciente sano sin factores de riesgo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54864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Función renal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Enfermedad renal, edad avanzada, fármacos nefrotóxicos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Joven sano sin comorbilidad</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Electrocardiograma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Cardiopatía conocida, edad avanzada con factores de riesgo, cirugía de riesgo intermedio-alto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Joven sano, cirugía de bajo riesgo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54864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Radiografía de tórax</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Enfermedad cardiopulmonar activa o sospechada clínicamente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Tamizaje rutinario sin sospecha clínica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Pruebas de embarazo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Mujeres en edad fértil según protocolo institucional</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bl>
          </a:graphicData>
        </a:graphic>
      </p:graphicFrame>
      <p:sp>
        <p:nvSpPr>
          <p:cNvPr id="7" name="Text 3"/>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8" name="Text 4"/>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987552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CIERRE DE LA CONSULTA</a:t>
            </a:r>
            <a:endParaRPr lang="en-US" sz="1100" dirty="0"/>
          </a:p>
        </p:txBody>
      </p:sp>
      <p:sp>
        <p:nvSpPr>
          <p:cNvPr id="3" name="Text 1"/>
          <p:cNvSpPr txBox="1"/>
          <p:nvPr/>
        </p:nvSpPr>
        <p:spPr>
          <a:xfrm>
            <a:off x="548640" y="566928"/>
            <a:ext cx="10149840" cy="868680"/>
          </a:xfrm>
          <a:prstGeom prst="rect">
            <a:avLst/>
          </a:prstGeom>
          <a:noFill/>
          <a:ln/>
        </p:spPr>
        <p:txBody>
          <a:bodyPr wrap="square" lIns="0" tIns="0" rIns="0" bIns="0" rtlCol="0" anchor="t"/>
          <a:lstStyle/>
          <a:p>
            <a:pPr indent="0" marL="0">
              <a:lnSpc>
                <a:spcPct val="102000"/>
              </a:lnSpc>
              <a:buNone/>
            </a:pPr>
            <a:r>
              <a:rPr lang="en-US" sz="2700" b="1" dirty="0">
                <a:solidFill>
                  <a:srgbClr val="013A40"/>
                </a:solidFill>
                <a:latin typeface="Cambria" pitchFamily="34" charset="0"/>
                <a:ea typeface="Cambria" pitchFamily="34" charset="-122"/>
                <a:cs typeface="Cambria" pitchFamily="34" charset="-120"/>
              </a:rPr>
              <a:t>Consideraciones finales: ayuno preoperatorio y consentimiento informado</a:t>
            </a:r>
            <a:endParaRPr lang="en-US" sz="2700" dirty="0"/>
          </a:p>
        </p:txBody>
      </p:sp>
      <p:sp>
        <p:nvSpPr>
          <p:cNvPr id="4" name="Shape 2"/>
          <p:cNvSpPr/>
          <p:nvPr/>
        </p:nvSpPr>
        <p:spPr>
          <a:xfrm>
            <a:off x="11064240" y="384048"/>
            <a:ext cx="713232" cy="713232"/>
          </a:xfrm>
          <a:prstGeom prst="ellipse">
            <a:avLst/>
          </a:prstGeom>
          <a:solidFill>
            <a:srgbClr val="00A896"/>
          </a:solidFill>
          <a:ln/>
        </p:spPr>
      </p:sp>
      <p:pic>
        <p:nvPicPr>
          <p:cNvPr id="5" name="Image 0" descr="/tmp/claude-0/-home-user-gpa-academy1/adc6e4aa-3b77-57c1-ba92-a8d4ee625c84/scratchpad/pptx_ch3/icons/fasting_white.png">    </p:cNvPr>
          <p:cNvPicPr>
            <a:picLocks noChangeAspect="1"/>
          </p:cNvPicPr>
          <p:nvPr/>
        </p:nvPicPr>
        <p:blipFill>
          <a:blip r:embed="rId1"/>
          <a:stretch>
            <a:fillRect/>
          </a:stretch>
        </p:blipFill>
        <p:spPr>
          <a:xfrm>
            <a:off x="11224717" y="544525"/>
            <a:ext cx="392278" cy="392278"/>
          </a:xfrm>
          <a:prstGeom prst="rect">
            <a:avLst/>
          </a:prstGeom>
        </p:spPr>
      </p:pic>
      <p:sp>
        <p:nvSpPr>
          <p:cNvPr id="6" name="Text 3"/>
          <p:cNvSpPr txBox="1"/>
          <p:nvPr/>
        </p:nvSpPr>
        <p:spPr>
          <a:xfrm>
            <a:off x="548640" y="1572768"/>
            <a:ext cx="6217920" cy="274320"/>
          </a:xfrm>
          <a:prstGeom prst="rect">
            <a:avLst/>
          </a:prstGeom>
          <a:noFill/>
          <a:ln/>
        </p:spPr>
        <p:txBody>
          <a:bodyPr wrap="square" lIns="0" tIns="0" rIns="0" bIns="0" rtlCol="0" anchor="ctr"/>
          <a:lstStyle/>
          <a:p>
            <a:pPr indent="0" marL="0">
              <a:buNone/>
            </a:pPr>
            <a:r>
              <a:rPr lang="en-US" sz="1250" b="1" spc="50" kern="0" dirty="0">
                <a:solidFill>
                  <a:srgbClr val="028090"/>
                </a:solidFill>
                <a:latin typeface="Calibri" pitchFamily="34" charset="0"/>
                <a:ea typeface="Calibri" pitchFamily="34" charset="-122"/>
                <a:cs typeface="Calibri" pitchFamily="34" charset="-120"/>
              </a:rPr>
              <a:t>GUÍA DE AYUNO PREOPERATORIO (PACIENTE SANO)</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6217920" cy="914400"/>
        </p:xfrm>
        <a:graphic>
          <a:graphicData uri="http://schemas.openxmlformats.org/drawingml/2006/table">
            <a:tbl>
              <a:tblPr/>
              <a:tblGrid>
                <a:gridCol w="3291840"/>
                <a:gridCol w="2926080"/>
              </a:tblGrid>
              <a:tr h="47548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Tipo de ingesta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Tiempo mínimo de ayuno</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028090"/>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Líquidos claros (agua, té sin leche)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2 horas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Leche materna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4 horas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Fórmula infantil / leche no humana</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6 horas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Comida ligera / sólidos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6 horas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FFFFFF"/>
                    </a:solidFill>
                  </a:tcPr>
                </a:tc>
              </a:tr>
              <a:tr h="475488">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Comida con grasa o carne</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c>
                  <a:txBody>
                    <a:bodyPr/>
                    <a:lstStyle/>
                    <a:p>
                      <a:pPr algn="l" indent="0" marL="0">
                        <a:buNone/>
                      </a:pPr>
                      <a:r>
                        <a:rPr lang="en-US" sz="1150" dirty="0">
                          <a:solidFill>
                            <a:srgbClr val="1B2E30"/>
                          </a:solidFill>
                          <a:latin typeface="Calibri" pitchFamily="34" charset="0"/>
                          <a:ea typeface="Calibri" pitchFamily="34" charset="-122"/>
                          <a:cs typeface="Calibri" pitchFamily="34" charset="-120"/>
                        </a:rPr>
                        <a:t>8 horas o más</a:t>
                      </a:r>
                      <a:endParaRPr lang="en-US" sz="1150" dirty="0">
                        <a:latin typeface="Calibri" charset="0"/>
                        <a:ea typeface="Calibri" charset="0"/>
                        <a:cs typeface="Calibri" charset="0"/>
                      </a:endParaRPr>
                    </a:p>
                  </a:txBody>
                  <a:tcPr marL="101600" marR="101600" marT="50800" marB="50800" anchor="ctr">
                    <a:lnL w="9525" cap="flat" cmpd="sng" algn="ctr">
                      <a:solidFill>
                        <a:srgbClr val="D9E9E8"/>
                      </a:solidFill>
                      <a:prstDash val="solid"/>
                      <a:round/>
                      <a:headEnd type="none" w="med" len="med"/>
                      <a:tailEnd type="none" w="med" len="med"/>
                    </a:lnL>
                    <a:lnR w="9525" cap="flat" cmpd="sng" algn="ctr">
                      <a:solidFill>
                        <a:srgbClr val="D9E9E8"/>
                      </a:solidFill>
                      <a:prstDash val="solid"/>
                      <a:round/>
                      <a:headEnd type="none" w="med" len="med"/>
                      <a:tailEnd type="none" w="med" len="med"/>
                    </a:lnR>
                    <a:lnT w="9525" cap="flat" cmpd="sng" algn="ctr">
                      <a:solidFill>
                        <a:srgbClr val="D9E9E8"/>
                      </a:solidFill>
                      <a:prstDash val="solid"/>
                      <a:round/>
                      <a:headEnd type="none" w="med" len="med"/>
                      <a:tailEnd type="none" w="med" len="med"/>
                    </a:lnT>
                    <a:lnB w="9525" cap="flat" cmpd="sng" algn="ctr">
                      <a:solidFill>
                        <a:srgbClr val="D9E9E8"/>
                      </a:solidFill>
                      <a:prstDash val="solid"/>
                      <a:round/>
                      <a:headEnd type="none" w="med" len="med"/>
                      <a:tailEnd type="none" w="med" len="med"/>
                    </a:lnB>
                    <a:solidFill>
                      <a:srgbClr val="EFF7F7"/>
                    </a:solidFill>
                  </a:tcPr>
                </a:tc>
              </a:tr>
            </a:tbl>
          </a:graphicData>
        </a:graphic>
      </p:graphicFrame>
      <p:sp>
        <p:nvSpPr>
          <p:cNvPr id="8" name="Shape 4"/>
          <p:cNvSpPr/>
          <p:nvPr/>
        </p:nvSpPr>
        <p:spPr>
          <a:xfrm>
            <a:off x="6949440" y="1572768"/>
            <a:ext cx="4663440" cy="2880360"/>
          </a:xfrm>
          <a:prstGeom prst="roundRect">
            <a:avLst>
              <a:gd name="adj" fmla="val 2540"/>
            </a:avLst>
          </a:prstGeom>
          <a:solidFill>
            <a:srgbClr val="F5FBFA"/>
          </a:solidFill>
          <a:ln w="12700">
            <a:solidFill>
              <a:srgbClr val="D9E9E8"/>
            </a:solidFill>
            <a:prstDash val="solid"/>
          </a:ln>
          <a:effectLst>
            <a:outerShdw sx="100000" sy="100000" kx="0" ky="0" algn="bl" rotWithShape="0" blurRad="76200" dist="25400" dir="5400000">
              <a:srgbClr val="1B2E30">
                <a:alpha val="10000"/>
              </a:srgbClr>
            </a:outerShdw>
          </a:effectLst>
        </p:spPr>
      </p:sp>
      <p:sp>
        <p:nvSpPr>
          <p:cNvPr id="9" name="Shape 5"/>
          <p:cNvSpPr/>
          <p:nvPr/>
        </p:nvSpPr>
        <p:spPr>
          <a:xfrm>
            <a:off x="7178040" y="1755648"/>
            <a:ext cx="457200" cy="457200"/>
          </a:xfrm>
          <a:prstGeom prst="ellipse">
            <a:avLst/>
          </a:prstGeom>
          <a:solidFill>
            <a:srgbClr val="028090"/>
          </a:solidFill>
          <a:ln/>
        </p:spPr>
      </p:sp>
      <p:pic>
        <p:nvPicPr>
          <p:cNvPr id="10" name="Image 1" descr="/tmp/claude-0/-home-user-gpa-academy1/adc6e4aa-3b77-57c1-ba92-a8d4ee625c84/scratchpad/pptx_ch3/icons/consent_white.png">    </p:cNvPr>
          <p:cNvPicPr>
            <a:picLocks noChangeAspect="1"/>
          </p:cNvPicPr>
          <p:nvPr/>
        </p:nvPicPr>
        <p:blipFill>
          <a:blip r:embed="rId2"/>
          <a:stretch>
            <a:fillRect/>
          </a:stretch>
        </p:blipFill>
        <p:spPr>
          <a:xfrm>
            <a:off x="7280910" y="1858518"/>
            <a:ext cx="251460" cy="251460"/>
          </a:xfrm>
          <a:prstGeom prst="rect">
            <a:avLst/>
          </a:prstGeom>
        </p:spPr>
      </p:pic>
      <p:sp>
        <p:nvSpPr>
          <p:cNvPr id="11" name="Text 6"/>
          <p:cNvSpPr txBox="1"/>
          <p:nvPr/>
        </p:nvSpPr>
        <p:spPr>
          <a:xfrm>
            <a:off x="7772400" y="1783080"/>
            <a:ext cx="3749040" cy="411480"/>
          </a:xfrm>
          <a:prstGeom prst="rect">
            <a:avLst/>
          </a:prstGeom>
          <a:noFill/>
          <a:ln/>
        </p:spPr>
        <p:txBody>
          <a:bodyPr wrap="square" lIns="0" tIns="0" rIns="0" bIns="0" rtlCol="0" anchor="ctr"/>
          <a:lstStyle/>
          <a:p>
            <a:pPr indent="0" marL="0">
              <a:buNone/>
            </a:pPr>
            <a:r>
              <a:rPr lang="en-US" sz="1250" b="1" dirty="0">
                <a:solidFill>
                  <a:srgbClr val="013A40"/>
                </a:solidFill>
                <a:latin typeface="Cambria" pitchFamily="34" charset="0"/>
                <a:ea typeface="Cambria" pitchFamily="34" charset="-122"/>
                <a:cs typeface="Cambria" pitchFamily="34" charset="-120"/>
              </a:rPr>
              <a:t>Elementos del consentimiento informado</a:t>
            </a:r>
            <a:endParaRPr lang="en-US" sz="1250" dirty="0"/>
          </a:p>
        </p:txBody>
      </p:sp>
      <p:sp>
        <p:nvSpPr>
          <p:cNvPr id="12" name="Text 7"/>
          <p:cNvSpPr txBox="1"/>
          <p:nvPr/>
        </p:nvSpPr>
        <p:spPr>
          <a:xfrm>
            <a:off x="7178040" y="2331720"/>
            <a:ext cx="4206240" cy="0"/>
          </a:xfrm>
          <a:prstGeom prst="rect">
            <a:avLst/>
          </a:prstGeom>
          <a:noFill/>
          <a:ln/>
        </p:spPr>
        <p:txBody>
          <a:bodyPr wrap="square" lIns="0" tIns="0" rIns="0" bIns="0" rtlCol="0" anchor="t"/>
          <a:lstStyle/>
          <a:p>
            <a:pPr marL="342900" indent="-342900">
              <a:spcAft>
                <a:spcPts val="700"/>
              </a:spcAft>
              <a:buSzPct val="100000"/>
              <a:buChar char="•"/>
            </a:pPr>
            <a:r>
              <a:rPr lang="en-US" sz="1060" dirty="0">
                <a:solidFill>
                  <a:srgbClr val="1B2E30"/>
                </a:solidFill>
                <a:latin typeface="Calibri" pitchFamily="34" charset="0"/>
                <a:ea typeface="Calibri" pitchFamily="34" charset="-122"/>
                <a:cs typeface="Calibri" pitchFamily="34" charset="-120"/>
              </a:rPr>
              <a:t>Explicación de la técnica anestésica propuesta en lenguaje comprensible.</a:t>
            </a:r>
            <a:endParaRPr lang="en-US" sz="1060" dirty="0"/>
          </a:p>
          <a:p>
            <a:pPr marL="342900" indent="-342900">
              <a:spcAft>
                <a:spcPts val="700"/>
              </a:spcAft>
              <a:buSzPct val="100000"/>
              <a:buChar char="•"/>
            </a:pPr>
            <a:r>
              <a:rPr lang="en-US" sz="1060" dirty="0">
                <a:solidFill>
                  <a:srgbClr val="1B2E30"/>
                </a:solidFill>
                <a:latin typeface="Calibri" pitchFamily="34" charset="0"/>
                <a:ea typeface="Calibri" pitchFamily="34" charset="-122"/>
                <a:cs typeface="Calibri" pitchFamily="34" charset="-120"/>
              </a:rPr>
              <a:t>Riesgos generales y específicos según comorbilidades del paciente.</a:t>
            </a:r>
            <a:endParaRPr lang="en-US" sz="1060" dirty="0"/>
          </a:p>
          <a:p>
            <a:pPr marL="342900" indent="-342900">
              <a:spcAft>
                <a:spcPts val="700"/>
              </a:spcAft>
              <a:buSzPct val="100000"/>
              <a:buChar char="•"/>
            </a:pPr>
            <a:r>
              <a:rPr lang="en-US" sz="1060" dirty="0">
                <a:solidFill>
                  <a:srgbClr val="1B2E30"/>
                </a:solidFill>
                <a:latin typeface="Calibri" pitchFamily="34" charset="0"/>
                <a:ea typeface="Calibri" pitchFamily="34" charset="-122"/>
                <a:cs typeface="Calibri" pitchFamily="34" charset="-120"/>
              </a:rPr>
              <a:t>Alternativas anestésicas disponibles y sus implicaciones.</a:t>
            </a:r>
            <a:endParaRPr lang="en-US" sz="1060" dirty="0"/>
          </a:p>
          <a:p>
            <a:pPr marL="342900" indent="-342900">
              <a:spcAft>
                <a:spcPts val="700"/>
              </a:spcAft>
              <a:buSzPct val="100000"/>
              <a:buChar char="•"/>
            </a:pPr>
            <a:r>
              <a:rPr lang="en-US" sz="1060" dirty="0">
                <a:solidFill>
                  <a:srgbClr val="1B2E30"/>
                </a:solidFill>
                <a:latin typeface="Calibri" pitchFamily="34" charset="0"/>
                <a:ea typeface="Calibri" pitchFamily="34" charset="-122"/>
                <a:cs typeface="Calibri" pitchFamily="34" charset="-120"/>
              </a:rPr>
              <a:t>Oportunidad de resolver dudas antes de firmar.</a:t>
            </a:r>
            <a:endParaRPr lang="en-US" sz="1060" dirty="0"/>
          </a:p>
          <a:p>
            <a:pPr marL="342900" indent="-342900">
              <a:buSzPct val="100000"/>
              <a:buChar char="•"/>
            </a:pPr>
            <a:r>
              <a:rPr lang="en-US" sz="1060" dirty="0">
                <a:solidFill>
                  <a:srgbClr val="1B2E30"/>
                </a:solidFill>
                <a:latin typeface="Calibri" pitchFamily="34" charset="0"/>
                <a:ea typeface="Calibri" pitchFamily="34" charset="-122"/>
                <a:cs typeface="Calibri" pitchFamily="34" charset="-120"/>
              </a:rPr>
              <a:t>Documentación escrita, fechada y firmada por el paciente o su representante legal.</a:t>
            </a:r>
            <a:endParaRPr lang="en-US" sz="1060" dirty="0"/>
          </a:p>
        </p:txBody>
      </p:sp>
      <p:sp>
        <p:nvSpPr>
          <p:cNvPr id="13" name="Shape 8"/>
          <p:cNvSpPr/>
          <p:nvPr/>
        </p:nvSpPr>
        <p:spPr>
          <a:xfrm>
            <a:off x="548640" y="4892040"/>
            <a:ext cx="11064240" cy="1188720"/>
          </a:xfrm>
          <a:prstGeom prst="roundRect">
            <a:avLst>
              <a:gd name="adj" fmla="val 6154"/>
            </a:avLst>
          </a:prstGeom>
          <a:solidFill>
            <a:srgbClr val="EFF7F7"/>
          </a:solidFill>
          <a:ln/>
        </p:spPr>
      </p:sp>
      <p:sp>
        <p:nvSpPr>
          <p:cNvPr id="14" name="Shape 9"/>
          <p:cNvSpPr/>
          <p:nvPr/>
        </p:nvSpPr>
        <p:spPr>
          <a:xfrm>
            <a:off x="749808" y="5248656"/>
            <a:ext cx="475488" cy="475488"/>
          </a:xfrm>
          <a:prstGeom prst="ellipse">
            <a:avLst/>
          </a:prstGeom>
          <a:solidFill>
            <a:srgbClr val="00A896"/>
          </a:solidFill>
          <a:ln/>
        </p:spPr>
      </p:sp>
      <p:pic>
        <p:nvPicPr>
          <p:cNvPr id="15" name="Image 2" descr="/tmp/claude-0/-home-user-gpa-academy1/adc6e4aa-3b77-57c1-ba92-a8d4ee625c84/scratchpad/pptx_ch3/icons/warning_white.png">    </p:cNvPr>
          <p:cNvPicPr>
            <a:picLocks noChangeAspect="1"/>
          </p:cNvPicPr>
          <p:nvPr/>
        </p:nvPicPr>
        <p:blipFill>
          <a:blip r:embed="rId3"/>
          <a:stretch>
            <a:fillRect/>
          </a:stretch>
        </p:blipFill>
        <p:spPr>
          <a:xfrm>
            <a:off x="854415" y="5353263"/>
            <a:ext cx="266273" cy="266273"/>
          </a:xfrm>
          <a:prstGeom prst="rect">
            <a:avLst/>
          </a:prstGeom>
        </p:spPr>
      </p:pic>
      <p:sp>
        <p:nvSpPr>
          <p:cNvPr id="16" name="Text 10"/>
          <p:cNvSpPr txBox="1"/>
          <p:nvPr/>
        </p:nvSpPr>
        <p:spPr>
          <a:xfrm>
            <a:off x="1371600" y="5020056"/>
            <a:ext cx="10058400" cy="256032"/>
          </a:xfrm>
          <a:prstGeom prst="rect">
            <a:avLst/>
          </a:prstGeom>
          <a:noFill/>
          <a:ln/>
        </p:spPr>
        <p:txBody>
          <a:bodyPr wrap="square" lIns="0" tIns="0" rIns="0" bIns="0" rtlCol="0" anchor="ctr"/>
          <a:lstStyle/>
          <a:p>
            <a:pPr indent="0" marL="0">
              <a:buNone/>
            </a:pPr>
            <a:r>
              <a:rPr lang="en-US" sz="1350" b="1" dirty="0">
                <a:solidFill>
                  <a:srgbClr val="013A40"/>
                </a:solidFill>
                <a:latin typeface="Cambria" pitchFamily="34" charset="0"/>
                <a:ea typeface="Cambria" pitchFamily="34" charset="-122"/>
                <a:cs typeface="Cambria" pitchFamily="34" charset="-120"/>
              </a:rPr>
              <a:t>Cierre estandarizado de la consulta</a:t>
            </a:r>
            <a:endParaRPr lang="en-US" sz="1350" dirty="0"/>
          </a:p>
        </p:txBody>
      </p:sp>
      <p:sp>
        <p:nvSpPr>
          <p:cNvPr id="17" name="Text 11"/>
          <p:cNvSpPr txBox="1"/>
          <p:nvPr/>
        </p:nvSpPr>
        <p:spPr>
          <a:xfrm>
            <a:off x="1371600" y="5294376"/>
            <a:ext cx="10058400" cy="685800"/>
          </a:xfrm>
          <a:prstGeom prst="rect">
            <a:avLst/>
          </a:prstGeom>
          <a:noFill/>
          <a:ln/>
        </p:spPr>
        <p:txBody>
          <a:bodyPr wrap="square" lIns="0" tIns="0" rIns="0" bIns="0" rtlCol="0" anchor="t"/>
          <a:lstStyle/>
          <a:p>
            <a:pPr indent="0" marL="0">
              <a:lnSpc>
                <a:spcPct val="112000"/>
              </a:lnSpc>
              <a:buNone/>
            </a:pPr>
            <a:r>
              <a:rPr lang="en-US" sz="1150" dirty="0">
                <a:solidFill>
                  <a:srgbClr val="013A40"/>
                </a:solidFill>
                <a:latin typeface="Calibri" pitchFamily="34" charset="0"/>
                <a:ea typeface="Calibri" pitchFamily="34" charset="-122"/>
                <a:cs typeface="Calibri" pitchFamily="34" charset="-120"/>
              </a:rPr>
              <a:t>Toda consulta preanestésica debe concluir con un plan documentado: clasificación ASA asignada, técnica anestésica propuesta, estudios pendientes si los hubiera, indicaciones de ayuno explicadas al paciente y consentimiento informado firmado. Este cierre estructurado reduce errores de comunicación en la transición hacia el quirófano.</a:t>
            </a:r>
            <a:endParaRPr lang="en-US" sz="1150" dirty="0"/>
          </a:p>
        </p:txBody>
      </p:sp>
      <p:sp>
        <p:nvSpPr>
          <p:cNvPr id="18" name="Text 12"/>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90A5A7"/>
                </a:solidFill>
                <a:latin typeface="Calibri" pitchFamily="34" charset="0"/>
                <a:ea typeface="Calibri" pitchFamily="34" charset="-122"/>
                <a:cs typeface="Calibri" pitchFamily="34" charset="-120"/>
              </a:rPr>
              <a:t>Capítulo III  ·  Evaluación Preanestésica</a:t>
            </a:r>
            <a:endParaRPr lang="en-US" sz="900" dirty="0"/>
          </a:p>
        </p:txBody>
      </p:sp>
      <p:sp>
        <p:nvSpPr>
          <p:cNvPr id="19" name="Text 13"/>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90A5A7"/>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13A40"/>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CIERRE DEL CAPÍTULO</a:t>
            </a:r>
            <a:endParaRPr lang="en-US" sz="1200" dirty="0"/>
          </a:p>
        </p:txBody>
      </p:sp>
      <p:sp>
        <p:nvSpPr>
          <p:cNvPr id="3" name="Text 1"/>
          <p:cNvSpPr txBox="1"/>
          <p:nvPr/>
        </p:nvSpPr>
        <p:spPr>
          <a:xfrm>
            <a:off x="640080" y="822960"/>
            <a:ext cx="105156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Resumen del capítulo: puntos clave</a:t>
            </a:r>
            <a:endParaRPr lang="en-US" sz="3200" dirty="0"/>
          </a:p>
        </p:txBody>
      </p:sp>
      <p:sp>
        <p:nvSpPr>
          <p:cNvPr id="4" name="Shape 2"/>
          <p:cNvSpPr/>
          <p:nvPr/>
        </p:nvSpPr>
        <p:spPr>
          <a:xfrm>
            <a:off x="640080" y="1783080"/>
            <a:ext cx="457200" cy="457200"/>
          </a:xfrm>
          <a:prstGeom prst="ellipse">
            <a:avLst/>
          </a:prstGeom>
          <a:solidFill>
            <a:srgbClr val="028090"/>
          </a:solidFill>
          <a:ln/>
        </p:spPr>
      </p:sp>
      <p:pic>
        <p:nvPicPr>
          <p:cNvPr id="5" name="Image 0" descr="/tmp/claude-0/-home-user-gpa-academy1/adc6e4aa-3b77-57c1-ba92-a8d4ee625c84/scratchpad/pptx_ch3/icons/clipboard_white.png">    </p:cNvPr>
          <p:cNvPicPr>
            <a:picLocks noChangeAspect="1"/>
          </p:cNvPicPr>
          <p:nvPr/>
        </p:nvPicPr>
        <p:blipFill>
          <a:blip r:embed="rId1"/>
          <a:stretch>
            <a:fillRect/>
          </a:stretch>
        </p:blipFill>
        <p:spPr>
          <a:xfrm>
            <a:off x="742950" y="1885950"/>
            <a:ext cx="251460" cy="251460"/>
          </a:xfrm>
          <a:prstGeom prst="rect">
            <a:avLst/>
          </a:prstGeom>
        </p:spPr>
      </p:pic>
      <p:sp>
        <p:nvSpPr>
          <p:cNvPr id="6" name="Text 3"/>
          <p:cNvSpPr txBox="1"/>
          <p:nvPr/>
        </p:nvSpPr>
        <p:spPr>
          <a:xfrm>
            <a:off x="640080" y="235000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La evaluación preanestésica es un proceso sistemático (historia, examen físico, estudios dirigidos) que estratifica el riesgo perioperatorio.</a:t>
            </a:r>
            <a:endParaRPr lang="en-US" sz="1030" dirty="0"/>
          </a:p>
        </p:txBody>
      </p:sp>
      <p:sp>
        <p:nvSpPr>
          <p:cNvPr id="7" name="Shape 4"/>
          <p:cNvSpPr/>
          <p:nvPr/>
        </p:nvSpPr>
        <p:spPr>
          <a:xfrm>
            <a:off x="4251960" y="1783080"/>
            <a:ext cx="457200" cy="457200"/>
          </a:xfrm>
          <a:prstGeom prst="ellipse">
            <a:avLst/>
          </a:prstGeom>
          <a:solidFill>
            <a:srgbClr val="028090"/>
          </a:solidFill>
          <a:ln/>
        </p:spPr>
      </p:sp>
      <p:pic>
        <p:nvPicPr>
          <p:cNvPr id="8" name="Image 1" descr="/tmp/claude-0/-home-user-gpa-academy1/adc6e4aa-3b77-57c1-ba92-a8d4ee625c84/scratchpad/pptx_ch3/icons/history_white.png">    </p:cNvPr>
          <p:cNvPicPr>
            <a:picLocks noChangeAspect="1"/>
          </p:cNvPicPr>
          <p:nvPr/>
        </p:nvPicPr>
        <p:blipFill>
          <a:blip r:embed="rId2"/>
          <a:stretch>
            <a:fillRect/>
          </a:stretch>
        </p:blipFill>
        <p:spPr>
          <a:xfrm>
            <a:off x="4354830" y="1885950"/>
            <a:ext cx="251460" cy="251460"/>
          </a:xfrm>
          <a:prstGeom prst="rect">
            <a:avLst/>
          </a:prstGeom>
        </p:spPr>
      </p:pic>
      <p:sp>
        <p:nvSpPr>
          <p:cNvPr id="9" name="Text 5"/>
          <p:cNvSpPr txBox="1"/>
          <p:nvPr/>
        </p:nvSpPr>
        <p:spPr>
          <a:xfrm>
            <a:off x="4251960" y="235000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Antecedentes anestésicos y familiares (hipertermia maligna) son datos con alto valor predictivo de complicaciones.</a:t>
            </a:r>
            <a:endParaRPr lang="en-US" sz="1030" dirty="0"/>
          </a:p>
        </p:txBody>
      </p:sp>
      <p:sp>
        <p:nvSpPr>
          <p:cNvPr id="10" name="Shape 6"/>
          <p:cNvSpPr/>
          <p:nvPr/>
        </p:nvSpPr>
        <p:spPr>
          <a:xfrm>
            <a:off x="7863840" y="1783080"/>
            <a:ext cx="457200" cy="457200"/>
          </a:xfrm>
          <a:prstGeom prst="ellipse">
            <a:avLst/>
          </a:prstGeom>
          <a:solidFill>
            <a:srgbClr val="028090"/>
          </a:solidFill>
          <a:ln/>
        </p:spPr>
      </p:sp>
      <p:pic>
        <p:nvPicPr>
          <p:cNvPr id="11" name="Image 2" descr="/tmp/claude-0/-home-user-gpa-academy1/adc6e4aa-3b77-57c1-ba92-a8d4ee625c84/scratchpad/pptx_ch3/icons/allergyWarning_white.png">    </p:cNvPr>
          <p:cNvPicPr>
            <a:picLocks noChangeAspect="1"/>
          </p:cNvPicPr>
          <p:nvPr/>
        </p:nvPicPr>
        <p:blipFill>
          <a:blip r:embed="rId3"/>
          <a:stretch>
            <a:fillRect/>
          </a:stretch>
        </p:blipFill>
        <p:spPr>
          <a:xfrm>
            <a:off x="7966710" y="1885950"/>
            <a:ext cx="251460" cy="251460"/>
          </a:xfrm>
          <a:prstGeom prst="rect">
            <a:avLst/>
          </a:prstGeom>
        </p:spPr>
      </p:pic>
      <p:sp>
        <p:nvSpPr>
          <p:cNvPr id="12" name="Text 7"/>
          <p:cNvSpPr txBox="1"/>
          <p:nvPr/>
        </p:nvSpPr>
        <p:spPr>
          <a:xfrm>
            <a:off x="7863840" y="235000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Diferenciar alergia verdadera de intolerancia; reconocer signos de anafilaxia bajo anestesia general.</a:t>
            </a:r>
            <a:endParaRPr lang="en-US" sz="1030" dirty="0"/>
          </a:p>
        </p:txBody>
      </p:sp>
      <p:sp>
        <p:nvSpPr>
          <p:cNvPr id="13" name="Shape 8"/>
          <p:cNvSpPr/>
          <p:nvPr/>
        </p:nvSpPr>
        <p:spPr>
          <a:xfrm>
            <a:off x="640080" y="3291840"/>
            <a:ext cx="457200" cy="457200"/>
          </a:xfrm>
          <a:prstGeom prst="ellipse">
            <a:avLst/>
          </a:prstGeom>
          <a:solidFill>
            <a:srgbClr val="028090"/>
          </a:solidFill>
          <a:ln/>
        </p:spPr>
      </p:sp>
      <p:pic>
        <p:nvPicPr>
          <p:cNvPr id="14" name="Image 3" descr="/tmp/claude-0/-home-user-gpa-academy1/adc6e4aa-3b77-57c1-ba92-a8d4ee625c84/scratchpad/pptx_ch3/icons/smoking_white.png">    </p:cNvPr>
          <p:cNvPicPr>
            <a:picLocks noChangeAspect="1"/>
          </p:cNvPicPr>
          <p:nvPr/>
        </p:nvPicPr>
        <p:blipFill>
          <a:blip r:embed="rId4"/>
          <a:stretch>
            <a:fillRect/>
          </a:stretch>
        </p:blipFill>
        <p:spPr>
          <a:xfrm>
            <a:off x="742950" y="3394710"/>
            <a:ext cx="251460" cy="251460"/>
          </a:xfrm>
          <a:prstGeom prst="rect">
            <a:avLst/>
          </a:prstGeom>
        </p:spPr>
      </p:pic>
      <p:sp>
        <p:nvSpPr>
          <p:cNvPr id="15" name="Text 9"/>
          <p:cNvSpPr txBox="1"/>
          <p:nvPr/>
        </p:nvSpPr>
        <p:spPr>
          <a:xfrm>
            <a:off x="640080" y="385876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Hábitos tóxicos modifican farmacocinética y riesgo de complicaciones; el cese, aun tardío, siempre beneficia.</a:t>
            </a:r>
            <a:endParaRPr lang="en-US" sz="1030" dirty="0"/>
          </a:p>
        </p:txBody>
      </p:sp>
      <p:sp>
        <p:nvSpPr>
          <p:cNvPr id="16" name="Shape 10"/>
          <p:cNvSpPr/>
          <p:nvPr/>
        </p:nvSpPr>
        <p:spPr>
          <a:xfrm>
            <a:off x="4251960" y="3291840"/>
            <a:ext cx="457200" cy="457200"/>
          </a:xfrm>
          <a:prstGeom prst="ellipse">
            <a:avLst/>
          </a:prstGeom>
          <a:solidFill>
            <a:srgbClr val="028090"/>
          </a:solidFill>
          <a:ln/>
        </p:spPr>
      </p:sp>
      <p:pic>
        <p:nvPicPr>
          <p:cNvPr id="17" name="Image 4" descr="/tmp/claude-0/-home-user-gpa-academy1/adc6e4aa-3b77-57c1-ba92-a8d4ee625c84/scratchpad/pptx_ch3/icons/pharmacy_white.png">    </p:cNvPr>
          <p:cNvPicPr>
            <a:picLocks noChangeAspect="1"/>
          </p:cNvPicPr>
          <p:nvPr/>
        </p:nvPicPr>
        <p:blipFill>
          <a:blip r:embed="rId5"/>
          <a:stretch>
            <a:fillRect/>
          </a:stretch>
        </p:blipFill>
        <p:spPr>
          <a:xfrm>
            <a:off x="4354830" y="3394710"/>
            <a:ext cx="251460" cy="251460"/>
          </a:xfrm>
          <a:prstGeom prst="rect">
            <a:avLst/>
          </a:prstGeom>
        </p:spPr>
      </p:pic>
      <p:sp>
        <p:nvSpPr>
          <p:cNvPr id="18" name="Text 11"/>
          <p:cNvSpPr txBox="1"/>
          <p:nvPr/>
        </p:nvSpPr>
        <p:spPr>
          <a:xfrm>
            <a:off x="4251960" y="385876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La reconciliación farmacológica determina qué continuar, ajustar o suspender antes de la cirugía.</a:t>
            </a:r>
            <a:endParaRPr lang="en-US" sz="1030" dirty="0"/>
          </a:p>
        </p:txBody>
      </p:sp>
      <p:sp>
        <p:nvSpPr>
          <p:cNvPr id="19" name="Shape 12"/>
          <p:cNvSpPr/>
          <p:nvPr/>
        </p:nvSpPr>
        <p:spPr>
          <a:xfrm>
            <a:off x="7863840" y="3291840"/>
            <a:ext cx="457200" cy="457200"/>
          </a:xfrm>
          <a:prstGeom prst="ellipse">
            <a:avLst/>
          </a:prstGeom>
          <a:solidFill>
            <a:srgbClr val="028090"/>
          </a:solidFill>
          <a:ln/>
        </p:spPr>
      </p:sp>
      <p:pic>
        <p:nvPicPr>
          <p:cNvPr id="20" name="Image 5" descr="/tmp/claude-0/-home-user-gpa-academy1/adc6e4aa-3b77-57c1-ba92-a8d4ee625c84/scratchpad/pptx_ch3/icons/airway_white.png">    </p:cNvPr>
          <p:cNvPicPr>
            <a:picLocks noChangeAspect="1"/>
          </p:cNvPicPr>
          <p:nvPr/>
        </p:nvPicPr>
        <p:blipFill>
          <a:blip r:embed="rId6"/>
          <a:stretch>
            <a:fillRect/>
          </a:stretch>
        </p:blipFill>
        <p:spPr>
          <a:xfrm>
            <a:off x="7966710" y="3394710"/>
            <a:ext cx="251460" cy="251460"/>
          </a:xfrm>
          <a:prstGeom prst="rect">
            <a:avLst/>
          </a:prstGeom>
        </p:spPr>
      </p:pic>
      <p:sp>
        <p:nvSpPr>
          <p:cNvPr id="21" name="Text 13"/>
          <p:cNvSpPr txBox="1"/>
          <p:nvPr/>
        </p:nvSpPr>
        <p:spPr>
          <a:xfrm>
            <a:off x="7863840" y="385876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La vía aérea se evalúa combinando múltiples predictores clínicos, ninguno suficiente por sí solo.</a:t>
            </a:r>
            <a:endParaRPr lang="en-US" sz="1030" dirty="0"/>
          </a:p>
        </p:txBody>
      </p:sp>
      <p:sp>
        <p:nvSpPr>
          <p:cNvPr id="22" name="Shape 14"/>
          <p:cNvSpPr/>
          <p:nvPr/>
        </p:nvSpPr>
        <p:spPr>
          <a:xfrm>
            <a:off x="640080" y="4800600"/>
            <a:ext cx="457200" cy="457200"/>
          </a:xfrm>
          <a:prstGeom prst="ellipse">
            <a:avLst/>
          </a:prstGeom>
          <a:solidFill>
            <a:srgbClr val="028090"/>
          </a:solidFill>
          <a:ln/>
        </p:spPr>
      </p:sp>
      <p:pic>
        <p:nvPicPr>
          <p:cNvPr id="23" name="Image 6" descr="/tmp/claude-0/-home-user-gpa-academy1/adc6e4aa-3b77-57c1-ba92-a8d4ee625c84/scratchpad/pptx_ch3/icons/heartTrend_white.png">    </p:cNvPr>
          <p:cNvPicPr>
            <a:picLocks noChangeAspect="1"/>
          </p:cNvPicPr>
          <p:nvPr/>
        </p:nvPicPr>
        <p:blipFill>
          <a:blip r:embed="rId7"/>
          <a:stretch>
            <a:fillRect/>
          </a:stretch>
        </p:blipFill>
        <p:spPr>
          <a:xfrm>
            <a:off x="742950" y="4903470"/>
            <a:ext cx="251460" cy="251460"/>
          </a:xfrm>
          <a:prstGeom prst="rect">
            <a:avLst/>
          </a:prstGeom>
        </p:spPr>
      </p:pic>
      <p:sp>
        <p:nvSpPr>
          <p:cNvPr id="24" name="Text 15"/>
          <p:cNvSpPr txBox="1"/>
          <p:nvPr/>
        </p:nvSpPr>
        <p:spPr>
          <a:xfrm>
            <a:off x="640080" y="536752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RCRI, Child-Pugh y función renal permiten estratificar el riesgo por sistema de forma objetiva.</a:t>
            </a:r>
            <a:endParaRPr lang="en-US" sz="1030" dirty="0"/>
          </a:p>
        </p:txBody>
      </p:sp>
      <p:sp>
        <p:nvSpPr>
          <p:cNvPr id="25" name="Shape 16"/>
          <p:cNvSpPr/>
          <p:nvPr/>
        </p:nvSpPr>
        <p:spPr>
          <a:xfrm>
            <a:off x="4251960" y="4800600"/>
            <a:ext cx="457200" cy="457200"/>
          </a:xfrm>
          <a:prstGeom prst="ellipse">
            <a:avLst/>
          </a:prstGeom>
          <a:solidFill>
            <a:srgbClr val="028090"/>
          </a:solidFill>
          <a:ln/>
        </p:spPr>
      </p:sp>
      <p:pic>
        <p:nvPicPr>
          <p:cNvPr id="26" name="Image 7" descr="/tmp/claude-0/-home-user-gpa-academy1/adc6e4aa-3b77-57c1-ba92-a8d4ee625c84/scratchpad/pptx_ch3/icons/bars_white.png">    </p:cNvPr>
          <p:cNvPicPr>
            <a:picLocks noChangeAspect="1"/>
          </p:cNvPicPr>
          <p:nvPr/>
        </p:nvPicPr>
        <p:blipFill>
          <a:blip r:embed="rId8"/>
          <a:stretch>
            <a:fillRect/>
          </a:stretch>
        </p:blipFill>
        <p:spPr>
          <a:xfrm>
            <a:off x="4354830" y="4903470"/>
            <a:ext cx="251460" cy="251460"/>
          </a:xfrm>
          <a:prstGeom prst="rect">
            <a:avLst/>
          </a:prstGeom>
        </p:spPr>
      </p:pic>
      <p:sp>
        <p:nvSpPr>
          <p:cNvPr id="27" name="Text 17"/>
          <p:cNvSpPr txBox="1"/>
          <p:nvPr/>
        </p:nvSpPr>
        <p:spPr>
          <a:xfrm>
            <a:off x="4251960" y="536752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La clasificación ASA es el lenguaje común de riesgo perioperatorio, aunque no sustituye escalas específicas.</a:t>
            </a:r>
            <a:endParaRPr lang="en-US" sz="1030" dirty="0"/>
          </a:p>
        </p:txBody>
      </p:sp>
      <p:sp>
        <p:nvSpPr>
          <p:cNvPr id="28" name="Shape 18"/>
          <p:cNvSpPr/>
          <p:nvPr/>
        </p:nvSpPr>
        <p:spPr>
          <a:xfrm>
            <a:off x="7863840" y="4800600"/>
            <a:ext cx="457200" cy="457200"/>
          </a:xfrm>
          <a:prstGeom prst="ellipse">
            <a:avLst/>
          </a:prstGeom>
          <a:solidFill>
            <a:srgbClr val="028090"/>
          </a:solidFill>
          <a:ln/>
        </p:spPr>
      </p:sp>
      <p:pic>
        <p:nvPicPr>
          <p:cNvPr id="29" name="Image 8" descr="/tmp/claude-0/-home-user-gpa-academy1/adc6e4aa-3b77-57c1-ba92-a8d4ee625c84/scratchpad/pptx_ch3/icons/labs_white.png">    </p:cNvPr>
          <p:cNvPicPr>
            <a:picLocks noChangeAspect="1"/>
          </p:cNvPicPr>
          <p:nvPr/>
        </p:nvPicPr>
        <p:blipFill>
          <a:blip r:embed="rId9"/>
          <a:stretch>
            <a:fillRect/>
          </a:stretch>
        </p:blipFill>
        <p:spPr>
          <a:xfrm>
            <a:off x="7966710" y="4903470"/>
            <a:ext cx="251460" cy="251460"/>
          </a:xfrm>
          <a:prstGeom prst="rect">
            <a:avLst/>
          </a:prstGeom>
        </p:spPr>
      </p:pic>
      <p:sp>
        <p:nvSpPr>
          <p:cNvPr id="30" name="Text 19"/>
          <p:cNvSpPr txBox="1"/>
          <p:nvPr/>
        </p:nvSpPr>
        <p:spPr>
          <a:xfrm>
            <a:off x="7863840" y="5367528"/>
            <a:ext cx="3429000" cy="868680"/>
          </a:xfrm>
          <a:prstGeom prst="rect">
            <a:avLst/>
          </a:prstGeom>
          <a:noFill/>
          <a:ln/>
        </p:spPr>
        <p:txBody>
          <a:bodyPr wrap="square" lIns="0" tIns="0" rIns="0" bIns="0" rtlCol="0" anchor="t"/>
          <a:lstStyle/>
          <a:p>
            <a:pPr indent="0" marL="0">
              <a:lnSpc>
                <a:spcPct val="114000"/>
              </a:lnSpc>
              <a:buNone/>
            </a:pPr>
            <a:r>
              <a:rPr lang="en-US" sz="1030" dirty="0">
                <a:solidFill>
                  <a:srgbClr val="D7EEEF"/>
                </a:solidFill>
                <a:latin typeface="Calibri" pitchFamily="34" charset="0"/>
                <a:ea typeface="Calibri" pitchFamily="34" charset="-122"/>
                <a:cs typeface="Calibri" pitchFamily="34" charset="-120"/>
              </a:rPr>
              <a:t>Los estudios complementarios deben solicitarse de forma racional y dirigida, nunca por rutina fija.</a:t>
            </a:r>
            <a:endParaRPr lang="en-US" sz="1030" dirty="0"/>
          </a:p>
        </p:txBody>
      </p:sp>
      <p:sp>
        <p:nvSpPr>
          <p:cNvPr id="31" name="Text 20"/>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6FA9AE"/>
                </a:solidFill>
                <a:latin typeface="Calibri" pitchFamily="34" charset="0"/>
                <a:ea typeface="Calibri" pitchFamily="34" charset="-122"/>
                <a:cs typeface="Calibri" pitchFamily="34" charset="-120"/>
              </a:rPr>
              <a:t>Capítulo III  ·  Evaluación Preanestésica</a:t>
            </a:r>
            <a:endParaRPr lang="en-US" sz="900" dirty="0"/>
          </a:p>
        </p:txBody>
      </p:sp>
      <p:sp>
        <p:nvSpPr>
          <p:cNvPr id="32" name="Text 21"/>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6FA9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13A40"/>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REFERENCIAS</a:t>
            </a:r>
            <a:endParaRPr lang="en-US" sz="1200" dirty="0"/>
          </a:p>
        </p:txBody>
      </p:sp>
      <p:sp>
        <p:nvSpPr>
          <p:cNvPr id="3" name="Text 1"/>
          <p:cNvSpPr txBox="1"/>
          <p:nvPr/>
        </p:nvSpPr>
        <p:spPr>
          <a:xfrm>
            <a:off x="640080" y="822960"/>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Referencias bibliográficas</a:t>
            </a:r>
            <a:endParaRPr lang="en-US" sz="3200" dirty="0"/>
          </a:p>
        </p:txBody>
      </p:sp>
      <p:sp>
        <p:nvSpPr>
          <p:cNvPr id="4" name="Shape 2"/>
          <p:cNvSpPr/>
          <p:nvPr/>
        </p:nvSpPr>
        <p:spPr>
          <a:xfrm>
            <a:off x="11018520" y="502920"/>
            <a:ext cx="621792" cy="621792"/>
          </a:xfrm>
          <a:prstGeom prst="ellipse">
            <a:avLst/>
          </a:prstGeom>
          <a:solidFill>
            <a:srgbClr val="028090"/>
          </a:solidFill>
          <a:ln/>
        </p:spPr>
      </p:sp>
      <p:pic>
        <p:nvPicPr>
          <p:cNvPr id="5" name="Image 0" descr="/tmp/claude-0/-home-user-gpa-academy1/adc6e4aa-3b77-57c1-ba92-a8d4ee625c84/scratchpad/pptx_ch3/icons/books_white.png">    </p:cNvPr>
          <p:cNvPicPr>
            <a:picLocks noChangeAspect="1"/>
          </p:cNvPicPr>
          <p:nvPr/>
        </p:nvPicPr>
        <p:blipFill>
          <a:blip r:embed="rId1"/>
          <a:stretch>
            <a:fillRect/>
          </a:stretch>
        </p:blipFill>
        <p:spPr>
          <a:xfrm>
            <a:off x="11158423" y="642823"/>
            <a:ext cx="341986" cy="341986"/>
          </a:xfrm>
          <a:prstGeom prst="rect">
            <a:avLst/>
          </a:prstGeom>
        </p:spPr>
      </p:pic>
      <p:sp>
        <p:nvSpPr>
          <p:cNvPr id="6" name="Text 3"/>
          <p:cNvSpPr txBox="1"/>
          <p:nvPr/>
        </p:nvSpPr>
        <p:spPr>
          <a:xfrm>
            <a:off x="685800" y="1691640"/>
            <a:ext cx="10789920" cy="448056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Miller RD, Gropper MA. Miller’s Anesthesia. 9.ª edición. Filadelfia: Elsevier; 2020.</a:t>
            </a:r>
            <a:endParaRPr lang="en-US" sz="1250" dirty="0"/>
          </a:p>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Butterworth JF, Mackey DC, Wasnick JD. Morgan &amp; Mikhail’s Clinical Anesthesiology. 7.ª edición. Nueva York: McGraw-Hill; 2022.</a:t>
            </a:r>
            <a:endParaRPr lang="en-US" sz="1250" dirty="0"/>
          </a:p>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Barash PG, Cullen BF, Stoelting RK, et al. Clinical Anesthesia. 9.ª edición. Filadelfia: Wolters Kluwer; 2021.</a:t>
            </a:r>
            <a:endParaRPr lang="en-US" sz="1250" dirty="0"/>
          </a:p>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American Society of Anesthesiologists. Practice Advisory for Preanesthesia Evaluation. Anesthesiology. Comité de normas y parámetros de práctica, actualización vigente.</a:t>
            </a:r>
            <a:endParaRPr lang="en-US" sz="1250" dirty="0"/>
          </a:p>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Fleisher LA, et al. Guías de valoración y manejo cardiovascular perioperatorio en cirugía no cardiaca. American College of Cardiology / American Heart Association.</a:t>
            </a:r>
            <a:endParaRPr lang="en-US" sz="1250" dirty="0"/>
          </a:p>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Apfelbaum JL, et al. Practice Guidelines for Preoperative Fasting. American Society of Anesthesiologists Task Force.</a:t>
            </a:r>
            <a:endParaRPr lang="en-US" sz="1250" dirty="0"/>
          </a:p>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Hines RL, Marschall KE. Stoelting’s Anesthesia and Co-Existing Disease. 8.ª edición. Filadelfia: Elsevier; 2022.</a:t>
            </a:r>
            <a:endParaRPr lang="en-US" sz="1250" dirty="0"/>
          </a:p>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Child CG, Turcotte JG. Surgery and portal hypertension. Clasificación de Child-Pugh, referencia clásica y actualizaciones posteriores.</a:t>
            </a:r>
            <a:endParaRPr lang="en-US" sz="1250" dirty="0"/>
          </a:p>
          <a:p>
            <a:pPr marL="342900" indent="-342900">
              <a:spcAft>
                <a:spcPts val="1200"/>
              </a:spcAft>
              <a:buSzPct val="100000"/>
              <a:buChar char="•"/>
            </a:pPr>
            <a:r>
              <a:rPr lang="en-US" sz="1250" dirty="0">
                <a:solidFill>
                  <a:srgbClr val="D7EEEF"/>
                </a:solidFill>
                <a:latin typeface="Calibri" pitchFamily="34" charset="0"/>
                <a:ea typeface="Calibri" pitchFamily="34" charset="-122"/>
                <a:cs typeface="Calibri" pitchFamily="34" charset="-120"/>
              </a:rPr>
              <a:t>Sociedades nacionales e internacionales de anestesiología: guías vigentes de valoración preanestésica y manejo de vía aérea difícil.</a:t>
            </a:r>
            <a:endParaRPr lang="en-US" sz="1250" dirty="0"/>
          </a:p>
        </p:txBody>
      </p:sp>
      <p:sp>
        <p:nvSpPr>
          <p:cNvPr id="7" name="Text 4"/>
          <p:cNvSpPr txBox="1"/>
          <p:nvPr/>
        </p:nvSpPr>
        <p:spPr>
          <a:xfrm>
            <a:off x="548640" y="6528816"/>
            <a:ext cx="6400800" cy="256032"/>
          </a:xfrm>
          <a:prstGeom prst="rect">
            <a:avLst/>
          </a:prstGeom>
          <a:noFill/>
          <a:ln/>
        </p:spPr>
        <p:txBody>
          <a:bodyPr wrap="square" lIns="0" tIns="0" rIns="0" bIns="0" rtlCol="0" anchor="ctr"/>
          <a:lstStyle/>
          <a:p>
            <a:pPr indent="0" marL="0">
              <a:buNone/>
            </a:pPr>
            <a:r>
              <a:rPr lang="en-US" sz="900" dirty="0">
                <a:solidFill>
                  <a:srgbClr val="6FA9AE"/>
                </a:solidFill>
                <a:latin typeface="Calibri" pitchFamily="34" charset="0"/>
                <a:ea typeface="Calibri" pitchFamily="34" charset="-122"/>
                <a:cs typeface="Calibri" pitchFamily="34" charset="-120"/>
              </a:rPr>
              <a:t>Capítulo III  ·  Evaluación Preanestésica</a:t>
            </a:r>
            <a:endParaRPr lang="en-US" sz="900" dirty="0"/>
          </a:p>
        </p:txBody>
      </p:sp>
      <p:sp>
        <p:nvSpPr>
          <p:cNvPr id="8" name="Text 5"/>
          <p:cNvSpPr txBox="1"/>
          <p:nvPr/>
        </p:nvSpPr>
        <p:spPr>
          <a:xfrm>
            <a:off x="11292840" y="6528816"/>
            <a:ext cx="457200" cy="256032"/>
          </a:xfrm>
          <a:prstGeom prst="rect">
            <a:avLst/>
          </a:prstGeom>
          <a:noFill/>
          <a:ln/>
        </p:spPr>
        <p:txBody>
          <a:bodyPr wrap="square" lIns="0" tIns="0" rIns="0" bIns="0" rtlCol="0" anchor="ctr"/>
          <a:lstStyle/>
          <a:p>
            <a:pPr algn="r" indent="0" marL="0">
              <a:buNone/>
            </a:pPr>
            <a:r>
              <a:rPr lang="en-US" sz="900" dirty="0">
                <a:solidFill>
                  <a:srgbClr val="6FA9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2026-08-26T23:17:02Z</dcterms:created>
  <dcterms:modified xsi:type="dcterms:W3CDTF">2026-08-26T23:17:02Z</dcterms:modified>
</cp:coreProperties>
</file>