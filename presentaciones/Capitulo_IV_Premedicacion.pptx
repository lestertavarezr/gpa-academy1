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Bienvenida al Capítulo IV del curso de postgrado en anestesiología. Este capítulo aborda la premedicación anestésica: su fundamento fisiológico, las familias farmacológicas empleadas y su aplicación práctica en distintos escenarios clínicos. Se recomienda revisar previamente los capítulos de farmacología general de hipnóticos e historia clínica preanestésica.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agenda agrupa las 33 secciones del capítulo en diez bloques temáticos. La lógica pedagógica avanza de lo general (objetivos, selección, vías) a lo específico (cada familia farmacológica), cerrando con la integración práctica en un protocolo institucional y un resumen de puntos clave.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Enfatizar que la premedicación moderna se aleja de la sedación profunda uniforme y se orienta a protocolos individualizados dentro de programas de recuperación acelerada (ERAS). El residente debe entender la premedicación como parte de un continuo que inicia en la consulta preanestésica y culmina en el quirófano.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Estos cinco objetivos no son mutuamente excluyentes: un mismo fármaco (p. ej. midazolam) puede lograr ansiolisis y amnesia simultáneamente, mientras que la profilaxis de aspiración suele requerir combinar antieméticos y antiácidos. Se debe priorizar según el perfil de riesgo del paciente.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existe un fármaco premedicante universal: la selección es un ejercicio de individualización clínica. Insistir en que la comorbilidad respiratoria y la edad extrema son los factores que con mayor frecuencia obligan a modificar dosis o evitar ciertas clases farmacológicas.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vía intranasal ha ganado terreno en anestesia pediátrica por evitar la punción venosa previa a la inducción, aunque genera ardor local transitorio. La vía intramuscular ha caído en desuso relativo por su absorción errática y el dolor asociado a la inyección.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panorama funciona como mapa mental del capítulo: cada una de estas seis familias se desarrollará en profundidad en las siguientes secciones, con su mecanismo de acción, indicaciones, dosis y efectos adversos específicos.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Situar a los sedantes como la clase más prescrita en premedicación moderna. El residente debe recordar que, aunque los barbitúricos son históricamente relevantes, hoy prácticamente no se usan en premedicación fuera de contextos muy específicos; el foco práctico está en benzodiacepinas.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clasificación por duración de acción depende de la liposolubilidad y la velocidad de redistribución desde el SNC hacia tejidos periféricos, no solo de la vida media de eliminación. Los agentes de acción ultracorta como el tiopental se reservan para inducción IV, no para premedicación oral.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punto clave farmacológico es la diferencia mecanística con las benzodiacepinas: los barbitúricos prolongan la apertura del canal de cloro y a dosis altas pueden abrirlo directamente, lo que elimina el 'techo' de depresión del SNC y explica su estrecho margen terapéutico y mayor letalidad en sobredosis.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contraindicación en porfiria aguda intermitente es un punto de examen clásico: los barbitúricos inducen la enzima ácido delta-aminolevulínico sintetasa, aumentando la síntesis de porfirinas y precipitando una crisis porfírica potencialmente letal. Por este perfil de riesgo, su uso en premedicación es hoy anecdótico.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midazolam es hoy el sedante de elección en premedicación por su inicio rápido, vida media corta y disponibilidad de antagonista. El diazepam, con metabolitos activos de vida media prolongada, se reserva para sedación nocturna la noche previa a la cirugía cuando se busca un efecto más sostenido.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diferencia de los sedantes, los opioides no se consideran premedicación de rutina en cirugía ambulatoria de bajo riesgo, dado su perfil de efectos adversos. Su uso se reserva para situaciones con dolor anticipado o procedimientos invasivos previos a la inducción, como la colocación de bloqueos regionales.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efecto analgésico clínicamente más relevante en anestesiología proviene de la activación del receptor mu. Es importante que el residente relacione el mecanismo molecular (Gi/o, hiperpolarización, inhibición del calcio presináptico) con los efectos adversos: la misma vía en el tronco encefálico explica la depresión respiratoria y la del tracto gastrointestinal explica el íleo y el estreñimiento.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meperidina ha caído en desuso por su metabolito activo, la normeperidina, con potencial neuroexcitador (mioclonías, convulsiones) que se acumula en insuficiencia renal, y por su interacción grave con inhibidores de la MAO. El fentanilo domina la práctica moderna por su perfil farmacocinético favorable.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rigidez de pared torácica ('chest wall rigidity') es una complicación poco frecuente pero temida con opioides muy potentes administrados en bolo rápido; su manejo incluye bloqueo neuromuscular o naloxona en casos severos. La depresión respiratoria es dosis-dependiente y se potencia notablemente al combinarse con benzodiacepinas.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nomenclatura clásica 'tranquilizantes mayores/menores' es histórica: los 'menores' equivalen a las benzodiacepinas y los 'mayores' a los antiguos neurolépticos. Es importante distinguir el mecanismo (GABA-A vs. antagonismo dopaminérgico D2), pues determina su perfil de efectos adversos.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propiedad fisicoquímica del midazolam —anillo diazepínico abierto en solución ácida (hidrosoluble) que se cierra a pH fisiológico (liposoluble)— explica tanto su inyección indolora como su rápido paso a través de la barrera hematoencefálica, lo que lo distingue del diazepam formulado en propilenglicol, doloroso a la inyección.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droperidol recibió una alerta de 'caja negra' de la FDA por prolongación del QTc, lo que restringió su uso rutinario y favoreció el ascenso del ondansetrón como antiemético de primera línea. Hoy los tranquilizantes mayores prácticamente no se emplean como ansiolíticos preoperatorios, salvo indicaciones antieméticas puntuales a dosis bajas.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distinción farmacocinética clave es la capacidad de cruzar la barrera hematoencefálica: la escopolamina y la atropina (aminas terciarias) pueden producir sedación, amnesia o delirio central, mientras que el glicopirrolato (amina cuaternaria) carece de efectos centrales, lo que lo hace preferible en adultos mayores.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glicopirrolato es hoy el anticolinérgico de elección para reducir secreciones sin efectos centrales, especialmente junto a neostigmina en la reversión del bloqueo neuromuscular. La escopinamina se reserva por su efecto sedante-amnésico marcado y su asociación con delirio postoperatorio, particularmente en adultos mayores.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la práctica actual, el uso rutinario de anticolinérgicos como premedicación sistemática se ha reducido; se reservan para situaciones específicas de alto riesgo vagal o para procedimientos de vía aérea que requieren un campo seco, más que como práctica universal.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síndrome anticolinérgico central es un diagnóstico diferencial importante de emergencia de la anestesia o delirio postoperatorio; la fisostigmina, un inhibidor de la acetilcolinesterasa que cruza la barrera hematoencefálica, es su antídoto específico, a diferencia de la neostigmina que no la atraviesa.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Comprender las múltiples vías convergentes hacia el centro del vómito bulbar explica por qué la profilaxis multimodal (combinando antagonistas de receptores distintos) es más eficaz que la monoterapia. Los factores de riesgo de Apfel —sexo femenino, no fumador, antecedente de NVPO/cinetosis y uso de opioides postoperatorios— guían la intensidad de la profilaxis.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estrategia recomendada actualmente por las guías de consenso para NVPO es la profilaxis combinada: asociar fármacos de distinto mecanismo (típicamente un antagonista 5-HT3 más dexametasona) potencia la eficacia con perfiles de efectos adversos complementarios y minimiza la dosis de cada agente individual.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momento de administración importa: la dexametasona tiene un inicio de acción más lento y se administra idealmente al inicio de la cirugía, mientras que el ondansetrón, de acción más rápida, es más eficaz administrado cerca del final del procedimiento, cerca de la extubación.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trabajo original de Mendelson en gestantes obstétricas estableció los umbrales clásicos de riesgo (pH menor a 2.5 y volumen mayor a 25 mL), aunque investigaciones posteriores matizan que el riesgo es un continuo y no un punto de corte absoluto. Estos valores siguen siendo útiles como referencia docente.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antiácidos particulados (hidróxido de aluminio/magnesio) se evitan en profilaxis de aspiración porque, si son aspirados, las partículas mismas producen daño pulmonar mecánico; por ello el citrato de sodio, no particulado, es la opción de elección cuando se requiere neutralización inmediata del ácido ya presente en el estómago.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Ningún fármaco aislado elimina el riesgo de aspiración; la combinación de medidas farmacológicas con una técnica de inducción de secuencia rápida constituye el estándar de manejo en el paciente de alto riesgo. La presión cricoidea (maniobra de Sellick) es objeto de debate actual sobre su eficacia real y se aplica según protocolo institucional y criterio clínico.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pediatría, la premedicación cumple además una función psicológica central: facilitar una inducción tranquila reduce el trauma psicológico y la incidencia de delirio de emergencia. En el adulto mayor, el principio general es 'start low, go slow', dado el riesgo de delirio postoperatorio asociado a sedantes y anticolinérgicos centrales.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esquema es un ejemplo institucional de referencia; cada servicio de anestesiología adapta sus protocolos según la evidencia local, la disponibilidad de fármacos y el perfil de su población quirúrgica. Se recomienda que el residente conozca el protocolo vigente de su propia institución y su justificación fisiopatológica.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resumen debe servir como lista de verificación mental antes de prescribir premedicación en la práctica clínica diaria: identificar objetivos, elegir la familia farmacológica adecuada al riesgo del paciente y anticipar los efectos adversos más frecuentes de cada grupo.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Estas referencias corresponden a textos clásicos y guías de consenso vigentes en la enseñanza de la farmacología anestésica de postgrado. Se recomienda a los residentes contrastar los esquemas de dosificación presentados en este capítulo con los protocolos vigentes de su institución y la literatura primaria actualizada.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slideLayout" Target="../slideLayouts/slideLayout1.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1.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slideLayout" Target="../slideLayouts/slideLayout1.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slideLayout" Target="../slideLayouts/slideLayout1.xml"/><Relationship Id="rId7"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slideLayout" Target="../slideLayouts/slideLayout1.xml"/><Relationship Id="rId7"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slideLayout" Target="../slideLayouts/slideLayout1.xml"/><Relationship Id="rId7"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slideLayout" Target="../slideLayouts/slideLayout1.xml"/><Relationship Id="rId6"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slideLayout" Target="../slideLayouts/slideLayout1.xml"/><Relationship Id="rId6"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image" Target="../media/image-32-5.png"/><Relationship Id="rId6" Type="http://schemas.openxmlformats.org/officeDocument/2006/relationships/image" Target="../media/image-32-6.png"/><Relationship Id="rId7" Type="http://schemas.openxmlformats.org/officeDocument/2006/relationships/image" Target="../media/image-32-7.png"/><Relationship Id="rId8" Type="http://schemas.openxmlformats.org/officeDocument/2006/relationships/slideLayout" Target="../slideLayouts/slideLayout1.xml"/><Relationship Id="rId9"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A1729"/>
        </a:solidFill>
      </p:bgPr>
    </p:bg>
    <p:spTree>
      <p:nvGrpSpPr>
        <p:cNvPr id="1" name=""/>
        <p:cNvGrpSpPr/>
        <p:nvPr/>
      </p:nvGrpSpPr>
      <p:grpSpPr>
        <a:xfrm>
          <a:off x="0" y="0"/>
          <a:ext cx="0" cy="0"/>
          <a:chOff x="0" y="0"/>
          <a:chExt cx="0" cy="0"/>
        </a:xfrm>
      </p:grpSpPr>
      <p:sp>
        <p:nvSpPr>
          <p:cNvPr id="2" name="Shape 0"/>
          <p:cNvSpPr/>
          <p:nvPr/>
        </p:nvSpPr>
        <p:spPr>
          <a:xfrm>
            <a:off x="8778240" y="-1463040"/>
            <a:ext cx="4937760" cy="4937760"/>
          </a:xfrm>
          <a:prstGeom prst="ellipse">
            <a:avLst/>
          </a:prstGeom>
          <a:solidFill>
            <a:srgbClr val="4A2545"/>
          </a:solidFill>
          <a:ln/>
        </p:spPr>
      </p:sp>
      <p:sp>
        <p:nvSpPr>
          <p:cNvPr id="3" name="Shape 1"/>
          <p:cNvSpPr/>
          <p:nvPr/>
        </p:nvSpPr>
        <p:spPr>
          <a:xfrm>
            <a:off x="-1463040" y="4206240"/>
            <a:ext cx="4206240" cy="4206240"/>
          </a:xfrm>
          <a:prstGeom prst="ellipse">
            <a:avLst/>
          </a:prstGeom>
          <a:solidFill>
            <a:srgbClr val="4A2545"/>
          </a:solidFill>
          <a:ln/>
        </p:spPr>
      </p:sp>
      <p:sp>
        <p:nvSpPr>
          <p:cNvPr id="4" name="Shape 2"/>
          <p:cNvSpPr/>
          <p:nvPr/>
        </p:nvSpPr>
        <p:spPr>
          <a:xfrm>
            <a:off x="5410048" y="1051560"/>
            <a:ext cx="1371600" cy="1371600"/>
          </a:xfrm>
          <a:prstGeom prst="ellipse">
            <a:avLst/>
          </a:prstGeom>
          <a:solidFill>
            <a:srgbClr val="E0A458"/>
          </a:solidFill>
          <a:ln/>
        </p:spPr>
      </p:sp>
      <p:pic>
        <p:nvPicPr>
          <p:cNvPr id="5" name="Image 0" descr="preencoded.png">    </p:cNvPr>
          <p:cNvPicPr>
            <a:picLocks noChangeAspect="1"/>
          </p:cNvPicPr>
          <p:nvPr/>
        </p:nvPicPr>
        <p:blipFill>
          <a:blip r:embed="rId1"/>
          <a:stretch>
            <a:fillRect/>
          </a:stretch>
        </p:blipFill>
        <p:spPr>
          <a:xfrm>
            <a:off x="5718658" y="1360170"/>
            <a:ext cx="754380" cy="754380"/>
          </a:xfrm>
          <a:prstGeom prst="rect">
            <a:avLst/>
          </a:prstGeom>
        </p:spPr>
      </p:pic>
      <p:sp>
        <p:nvSpPr>
          <p:cNvPr id="6" name="Text 3"/>
          <p:cNvSpPr txBox="1"/>
          <p:nvPr/>
        </p:nvSpPr>
        <p:spPr>
          <a:xfrm>
            <a:off x="914400" y="2788920"/>
            <a:ext cx="10362895" cy="365760"/>
          </a:xfrm>
          <a:prstGeom prst="rect">
            <a:avLst/>
          </a:prstGeom>
          <a:noFill/>
          <a:ln/>
        </p:spPr>
        <p:txBody>
          <a:bodyPr wrap="square" lIns="0" tIns="0" rIns="0" bIns="0" rtlCol="0" anchor="ctr"/>
          <a:lstStyle/>
          <a:p>
            <a:pPr algn="ctr" indent="0" marL="0">
              <a:buNone/>
            </a:pPr>
            <a:r>
              <a:rPr lang="en-US" sz="1300" b="1" spc="200" kern="0" dirty="0">
                <a:solidFill>
                  <a:srgbClr val="E0A458"/>
                </a:solidFill>
                <a:latin typeface="Calibri" pitchFamily="34" charset="0"/>
                <a:ea typeface="Calibri" pitchFamily="34" charset="-122"/>
                <a:cs typeface="Calibri" pitchFamily="34" charset="-120"/>
              </a:rPr>
              <a:t>PROGRAMA DE EDUCACIÓN MÉDICA DE POSTGRADO EN ANESTESIOLOGÍA</a:t>
            </a:r>
            <a:endParaRPr lang="en-US" sz="1300" dirty="0"/>
          </a:p>
        </p:txBody>
      </p:sp>
      <p:sp>
        <p:nvSpPr>
          <p:cNvPr id="7" name="Text 4"/>
          <p:cNvSpPr txBox="1"/>
          <p:nvPr/>
        </p:nvSpPr>
        <p:spPr>
          <a:xfrm>
            <a:off x="914400" y="3200400"/>
            <a:ext cx="10362895" cy="685800"/>
          </a:xfrm>
          <a:prstGeom prst="rect">
            <a:avLst/>
          </a:prstGeom>
          <a:noFill/>
          <a:ln/>
        </p:spPr>
        <p:txBody>
          <a:bodyPr wrap="square" lIns="0" tIns="0" rIns="0" bIns="0" rtlCol="0" anchor="ctr"/>
          <a:lstStyle/>
          <a:p>
            <a:pPr algn="ctr" indent="0" marL="0">
              <a:buNone/>
            </a:pPr>
            <a:r>
              <a:rPr lang="en-US" sz="3000" dirty="0">
                <a:solidFill>
                  <a:srgbClr val="D9C6D4"/>
                </a:solidFill>
                <a:latin typeface="Cambria" pitchFamily="34" charset="0"/>
                <a:ea typeface="Cambria" pitchFamily="34" charset="-122"/>
                <a:cs typeface="Cambria" pitchFamily="34" charset="-120"/>
              </a:rPr>
              <a:t>Capítulo IV</a:t>
            </a:r>
            <a:endParaRPr lang="en-US" sz="3000" dirty="0"/>
          </a:p>
        </p:txBody>
      </p:sp>
      <p:sp>
        <p:nvSpPr>
          <p:cNvPr id="8" name="Text 5"/>
          <p:cNvSpPr txBox="1"/>
          <p:nvPr/>
        </p:nvSpPr>
        <p:spPr>
          <a:xfrm>
            <a:off x="914400" y="3840480"/>
            <a:ext cx="10362895" cy="1005840"/>
          </a:xfrm>
          <a:prstGeom prst="rect">
            <a:avLst/>
          </a:prstGeom>
          <a:noFill/>
          <a:ln/>
        </p:spPr>
        <p:txBody>
          <a:bodyPr wrap="square" lIns="0" tIns="0" rIns="0" bIns="0" rtlCol="0" anchor="ctr"/>
          <a:lstStyle/>
          <a:p>
            <a:pPr algn="ctr" indent="0" marL="0">
              <a:buNone/>
            </a:pPr>
            <a:r>
              <a:rPr lang="en-US" sz="5400" b="1" dirty="0">
                <a:solidFill>
                  <a:srgbClr val="FFFFFF"/>
                </a:solidFill>
                <a:latin typeface="Cambria" pitchFamily="34" charset="0"/>
                <a:ea typeface="Cambria" pitchFamily="34" charset="-122"/>
                <a:cs typeface="Cambria" pitchFamily="34" charset="-120"/>
              </a:rPr>
              <a:t>Premedicación</a:t>
            </a:r>
            <a:endParaRPr lang="en-US" sz="5400" dirty="0"/>
          </a:p>
        </p:txBody>
      </p:sp>
      <p:sp>
        <p:nvSpPr>
          <p:cNvPr id="9" name="Text 6"/>
          <p:cNvSpPr txBox="1"/>
          <p:nvPr/>
        </p:nvSpPr>
        <p:spPr>
          <a:xfrm>
            <a:off x="1463040" y="4892040"/>
            <a:ext cx="9265615" cy="640080"/>
          </a:xfrm>
          <a:prstGeom prst="rect">
            <a:avLst/>
          </a:prstGeom>
          <a:noFill/>
          <a:ln/>
        </p:spPr>
        <p:txBody>
          <a:bodyPr wrap="square" lIns="0" tIns="0" rIns="0" bIns="0" rtlCol="0" anchor="ctr"/>
          <a:lstStyle/>
          <a:p>
            <a:pPr algn="ctr" indent="0" marL="0">
              <a:buNone/>
            </a:pPr>
            <a:r>
              <a:rPr lang="en-US" sz="1350" i="1" dirty="0">
                <a:solidFill>
                  <a:srgbClr val="C9B9C6"/>
                </a:solidFill>
                <a:latin typeface="Calibri" pitchFamily="34" charset="0"/>
                <a:ea typeface="Calibri" pitchFamily="34" charset="-122"/>
                <a:cs typeface="Calibri" pitchFamily="34" charset="-120"/>
              </a:rPr>
              <a:t>Farmacología aplicada a la preparación del paciente quirúrgico: sedantes, opioides, tranquilizantes, anticolinérgicos, antieméticos y antiácidos</a:t>
            </a:r>
            <a:endParaRPr lang="en-US" sz="1350" dirty="0"/>
          </a:p>
        </p:txBody>
      </p:sp>
      <p:sp>
        <p:nvSpPr>
          <p:cNvPr id="10" name="Text 7"/>
          <p:cNvSpPr txBox="1"/>
          <p:nvPr/>
        </p:nvSpPr>
        <p:spPr>
          <a:xfrm>
            <a:off x="914400" y="6080760"/>
            <a:ext cx="10362895" cy="320040"/>
          </a:xfrm>
          <a:prstGeom prst="rect">
            <a:avLst/>
          </a:prstGeom>
          <a:noFill/>
          <a:ln/>
        </p:spPr>
        <p:txBody>
          <a:bodyPr wrap="square" lIns="0" tIns="0" rIns="0" bIns="0" rtlCol="0" anchor="ctr"/>
          <a:lstStyle/>
          <a:p>
            <a:pPr algn="ctr" indent="0" marL="0">
              <a:buNone/>
            </a:pPr>
            <a:r>
              <a:rPr lang="en-US" sz="1100" dirty="0">
                <a:solidFill>
                  <a:srgbClr val="8E6C88"/>
                </a:solidFill>
                <a:latin typeface="Calibri" pitchFamily="34" charset="0"/>
                <a:ea typeface="Calibri" pitchFamily="34" charset="-122"/>
                <a:cs typeface="Calibri" pitchFamily="34" charset="-120"/>
              </a:rPr>
              <a:t>Serie de 4 capítulos  ·  Módulo de Farmacología Anestésica</a:t>
            </a:r>
            <a:endParaRPr lang="en-US" sz="1100" dirty="0"/>
          </a:p>
        </p:txBody>
      </p:sp>
      <p:sp>
        <p:nvSpPr>
          <p:cNvPr id="11" name="Text 8"/>
          <p:cNvSpPr txBox="1"/>
          <p:nvPr/>
        </p:nvSpPr>
        <p:spPr>
          <a:xfrm>
            <a:off x="457200" y="6473952"/>
            <a:ext cx="6400800" cy="292608"/>
          </a:xfrm>
          <a:prstGeom prst="rect">
            <a:avLst/>
          </a:prstGeom>
          <a:noFill/>
          <a:ln/>
        </p:spPr>
        <p:txBody>
          <a:bodyPr wrap="square" lIns="0" tIns="0" rIns="0" bIns="0" rtlCol="0" anchor="ctr"/>
          <a:lstStyle/>
          <a:p>
            <a:pPr indent="0" marL="0">
              <a:buNone/>
            </a:pPr>
            <a:r>
              <a:rPr lang="en-US" sz="900" i="1" dirty="0">
                <a:solidFill>
                  <a:srgbClr val="C9B9C6"/>
                </a:solidFill>
                <a:latin typeface="Calibri" pitchFamily="34" charset="0"/>
                <a:ea typeface="Calibri" pitchFamily="34" charset="-122"/>
                <a:cs typeface="Calibri" pitchFamily="34" charset="-120"/>
              </a:rPr>
              <a:t>Capítulo IV — Premedicación</a:t>
            </a:r>
            <a:endParaRPr lang="en-US" sz="900" dirty="0"/>
          </a:p>
        </p:txBody>
      </p:sp>
      <p:sp>
        <p:nvSpPr>
          <p:cNvPr id="12" name="Text 9"/>
          <p:cNvSpPr txBox="1"/>
          <p:nvPr/>
        </p:nvSpPr>
        <p:spPr>
          <a:xfrm>
            <a:off x="10362895" y="6473952"/>
            <a:ext cx="1371600" cy="292608"/>
          </a:xfrm>
          <a:prstGeom prst="rect">
            <a:avLst/>
          </a:prstGeom>
          <a:noFill/>
          <a:ln/>
        </p:spPr>
        <p:txBody>
          <a:bodyPr wrap="square" lIns="0" tIns="0" rIns="0" bIns="0" rtlCol="0" anchor="ctr"/>
          <a:lstStyle/>
          <a:p>
            <a:pPr algn="r" indent="0" marL="0">
              <a:buNone/>
            </a:pPr>
            <a:r>
              <a:rPr lang="en-US" sz="900" dirty="0">
                <a:solidFill>
                  <a:srgbClr val="C9B9C6"/>
                </a:solidFill>
                <a:latin typeface="Calibri" pitchFamily="34" charset="0"/>
                <a:ea typeface="Calibri" pitchFamily="34" charset="-122"/>
                <a:cs typeface="Calibri" pitchFamily="34" charset="-120"/>
              </a:rPr>
              <a:t>1 / 33</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658368" cy="658368"/>
          </a:xfrm>
          <a:prstGeom prst="ellipse">
            <a:avLst/>
          </a:prstGeom>
          <a:solidFill>
            <a:srgbClr val="4A2545"/>
          </a:solidFill>
          <a:ln/>
        </p:spPr>
      </p:sp>
      <p:pic>
        <p:nvPicPr>
          <p:cNvPr id="3" name="Image 0" descr="preencoded.png">    </p:cNvPr>
          <p:cNvPicPr>
            <a:picLocks noChangeAspect="1"/>
          </p:cNvPicPr>
          <p:nvPr/>
        </p:nvPicPr>
        <p:blipFill>
          <a:blip r:embed="rId1"/>
          <a:stretch>
            <a:fillRect/>
          </a:stretch>
        </p:blipFill>
        <p:spPr>
          <a:xfrm>
            <a:off x="602041" y="556321"/>
            <a:ext cx="368686" cy="368686"/>
          </a:xfrm>
          <a:prstGeom prst="rect">
            <a:avLst/>
          </a:prstGeom>
        </p:spPr>
      </p:pic>
      <p:sp>
        <p:nvSpPr>
          <p:cNvPr id="4" name="Text 1"/>
          <p:cNvSpPr txBox="1"/>
          <p:nvPr/>
        </p:nvSpPr>
        <p:spPr>
          <a:xfrm>
            <a:off x="1298448" y="384048"/>
            <a:ext cx="9601200" cy="256032"/>
          </a:xfrm>
          <a:prstGeom prst="rect">
            <a:avLst/>
          </a:prstGeom>
          <a:noFill/>
          <a:ln/>
        </p:spPr>
        <p:txBody>
          <a:bodyPr wrap="square" lIns="0" tIns="0" rIns="0" bIns="0" rtlCol="0" anchor="ctr"/>
          <a:lstStyle/>
          <a:p>
            <a:pPr indent="0" marL="0">
              <a:buNone/>
            </a:pPr>
            <a:r>
              <a:rPr lang="en-US" sz="1150" b="1" spc="150" kern="0" dirty="0">
                <a:solidFill>
                  <a:srgbClr val="E0A458"/>
                </a:solidFill>
                <a:latin typeface="Calibri" pitchFamily="34" charset="0"/>
                <a:ea typeface="Calibri" pitchFamily="34" charset="-122"/>
                <a:cs typeface="Calibri" pitchFamily="34" charset="-120"/>
              </a:rPr>
              <a:t>AGENDA</a:t>
            </a:r>
            <a:endParaRPr lang="en-US" sz="1150" dirty="0"/>
          </a:p>
        </p:txBody>
      </p:sp>
      <p:sp>
        <p:nvSpPr>
          <p:cNvPr id="5" name="Text 2"/>
          <p:cNvSpPr txBox="1"/>
          <p:nvPr/>
        </p:nvSpPr>
        <p:spPr>
          <a:xfrm>
            <a:off x="1298448" y="621792"/>
            <a:ext cx="10058400" cy="502920"/>
          </a:xfrm>
          <a:prstGeom prst="rect">
            <a:avLst/>
          </a:prstGeom>
          <a:noFill/>
          <a:ln/>
        </p:spPr>
        <p:txBody>
          <a:bodyPr wrap="square" lIns="0" tIns="0" rIns="0" bIns="0" rtlCol="0" anchor="ctr"/>
          <a:lstStyle/>
          <a:p>
            <a:pPr indent="0" marL="0">
              <a:buNone/>
            </a:pPr>
            <a:r>
              <a:rPr lang="en-US" sz="2500" b="1" dirty="0">
                <a:solidFill>
                  <a:srgbClr val="4A2545"/>
                </a:solidFill>
                <a:latin typeface="Cambria" pitchFamily="34" charset="0"/>
                <a:ea typeface="Cambria" pitchFamily="34" charset="-122"/>
                <a:cs typeface="Cambria" pitchFamily="34" charset="-120"/>
              </a:rPr>
              <a:t>Contenido del capítulo</a:t>
            </a:r>
            <a:endParaRPr lang="en-US" sz="2500" dirty="0"/>
          </a:p>
        </p:txBody>
      </p:sp>
      <p:sp>
        <p:nvSpPr>
          <p:cNvPr id="6" name="Shape 3"/>
          <p:cNvSpPr/>
          <p:nvPr/>
        </p:nvSpPr>
        <p:spPr>
          <a:xfrm>
            <a:off x="457200" y="1508760"/>
            <a:ext cx="5410048" cy="749808"/>
          </a:xfrm>
          <a:prstGeom prst="roundRect">
            <a:avLst>
              <a:gd name="adj" fmla="val 8537"/>
            </a:avLst>
          </a:prstGeom>
          <a:solidFill>
            <a:srgbClr val="F4EEF2"/>
          </a:solidFill>
          <a:ln w="9525">
            <a:solidFill>
              <a:srgbClr val="E1D3DB"/>
            </a:solidFill>
            <a:prstDash val="solid"/>
          </a:ln>
        </p:spPr>
      </p:sp>
      <p:sp>
        <p:nvSpPr>
          <p:cNvPr id="7" name="Text 4"/>
          <p:cNvSpPr txBox="1"/>
          <p:nvPr/>
        </p:nvSpPr>
        <p:spPr>
          <a:xfrm>
            <a:off x="594360" y="1508760"/>
            <a:ext cx="640080" cy="749808"/>
          </a:xfrm>
          <a:prstGeom prst="rect">
            <a:avLst/>
          </a:prstGeom>
          <a:noFill/>
          <a:ln/>
        </p:spPr>
        <p:txBody>
          <a:bodyPr wrap="square" lIns="0" tIns="0" rIns="0" bIns="0" rtlCol="0" anchor="ctr"/>
          <a:lstStyle/>
          <a:p>
            <a:pPr algn="ctr" indent="0" marL="0">
              <a:buNone/>
            </a:pPr>
            <a:r>
              <a:rPr lang="en-US" sz="2400" b="1" dirty="0">
                <a:solidFill>
                  <a:srgbClr val="E0A458"/>
                </a:solidFill>
                <a:latin typeface="Cambria" pitchFamily="34" charset="0"/>
                <a:ea typeface="Cambria" pitchFamily="34" charset="-122"/>
                <a:cs typeface="Cambria" pitchFamily="34" charset="-120"/>
              </a:rPr>
              <a:t>01</a:t>
            </a:r>
            <a:endParaRPr lang="en-US" sz="2400" dirty="0"/>
          </a:p>
        </p:txBody>
      </p:sp>
      <p:sp>
        <p:nvSpPr>
          <p:cNvPr id="8" name="Text 5"/>
          <p:cNvSpPr txBox="1"/>
          <p:nvPr/>
        </p:nvSpPr>
        <p:spPr>
          <a:xfrm>
            <a:off x="1325880" y="1563624"/>
            <a:ext cx="4404208" cy="640080"/>
          </a:xfrm>
          <a:prstGeom prst="rect">
            <a:avLst/>
          </a:prstGeom>
          <a:noFill/>
          <a:ln/>
        </p:spPr>
        <p:txBody>
          <a:bodyPr wrap="square" lIns="0" tIns="0" rIns="0" bIns="0" rtlCol="0" anchor="ctr"/>
          <a:lstStyle/>
          <a:p>
            <a:pPr indent="0" marL="0">
              <a:buNone/>
            </a:pPr>
            <a:r>
              <a:rPr lang="en-US" sz="1300" dirty="0">
                <a:solidFill>
                  <a:srgbClr val="3A2A35"/>
                </a:solidFill>
                <a:latin typeface="Calibri" pitchFamily="34" charset="0"/>
                <a:ea typeface="Calibri" pitchFamily="34" charset="-122"/>
                <a:cs typeface="Calibri" pitchFamily="34" charset="-120"/>
              </a:rPr>
              <a:t>Introducción y objetivos de la premedicación</a:t>
            </a:r>
            <a:endParaRPr lang="en-US" sz="1300" dirty="0"/>
          </a:p>
        </p:txBody>
      </p:sp>
      <p:sp>
        <p:nvSpPr>
          <p:cNvPr id="9" name="Shape 6"/>
          <p:cNvSpPr/>
          <p:nvPr/>
        </p:nvSpPr>
        <p:spPr>
          <a:xfrm>
            <a:off x="457200" y="2404872"/>
            <a:ext cx="5410048" cy="749808"/>
          </a:xfrm>
          <a:prstGeom prst="roundRect">
            <a:avLst>
              <a:gd name="adj" fmla="val 8537"/>
            </a:avLst>
          </a:prstGeom>
          <a:solidFill>
            <a:srgbClr val="FFFFFF"/>
          </a:solidFill>
          <a:ln w="9525">
            <a:solidFill>
              <a:srgbClr val="E1D3DB"/>
            </a:solidFill>
            <a:prstDash val="solid"/>
          </a:ln>
        </p:spPr>
      </p:sp>
      <p:sp>
        <p:nvSpPr>
          <p:cNvPr id="10" name="Text 7"/>
          <p:cNvSpPr txBox="1"/>
          <p:nvPr/>
        </p:nvSpPr>
        <p:spPr>
          <a:xfrm>
            <a:off x="594360" y="2404872"/>
            <a:ext cx="640080" cy="749808"/>
          </a:xfrm>
          <a:prstGeom prst="rect">
            <a:avLst/>
          </a:prstGeom>
          <a:noFill/>
          <a:ln/>
        </p:spPr>
        <p:txBody>
          <a:bodyPr wrap="square" lIns="0" tIns="0" rIns="0" bIns="0" rtlCol="0" anchor="ctr"/>
          <a:lstStyle/>
          <a:p>
            <a:pPr algn="ctr" indent="0" marL="0">
              <a:buNone/>
            </a:pPr>
            <a:r>
              <a:rPr lang="en-US" sz="2400" b="1" dirty="0">
                <a:solidFill>
                  <a:srgbClr val="E0A458"/>
                </a:solidFill>
                <a:latin typeface="Cambria" pitchFamily="34" charset="0"/>
                <a:ea typeface="Cambria" pitchFamily="34" charset="-122"/>
                <a:cs typeface="Cambria" pitchFamily="34" charset="-120"/>
              </a:rPr>
              <a:t>02</a:t>
            </a:r>
            <a:endParaRPr lang="en-US" sz="2400" dirty="0"/>
          </a:p>
        </p:txBody>
      </p:sp>
      <p:sp>
        <p:nvSpPr>
          <p:cNvPr id="11" name="Text 8"/>
          <p:cNvSpPr txBox="1"/>
          <p:nvPr/>
        </p:nvSpPr>
        <p:spPr>
          <a:xfrm>
            <a:off x="1325880" y="2459736"/>
            <a:ext cx="4404208" cy="640080"/>
          </a:xfrm>
          <a:prstGeom prst="rect">
            <a:avLst/>
          </a:prstGeom>
          <a:noFill/>
          <a:ln/>
        </p:spPr>
        <p:txBody>
          <a:bodyPr wrap="square" lIns="0" tIns="0" rIns="0" bIns="0" rtlCol="0" anchor="ctr"/>
          <a:lstStyle/>
          <a:p>
            <a:pPr indent="0" marL="0">
              <a:buNone/>
            </a:pPr>
            <a:r>
              <a:rPr lang="en-US" sz="1300" dirty="0">
                <a:solidFill>
                  <a:srgbClr val="3A2A35"/>
                </a:solidFill>
                <a:latin typeface="Calibri" pitchFamily="34" charset="0"/>
                <a:ea typeface="Calibri" pitchFamily="34" charset="-122"/>
                <a:cs typeface="Calibri" pitchFamily="34" charset="-120"/>
              </a:rPr>
              <a:t>Selección del fármaco y vías de administración</a:t>
            </a:r>
            <a:endParaRPr lang="en-US" sz="1300" dirty="0"/>
          </a:p>
        </p:txBody>
      </p:sp>
      <p:sp>
        <p:nvSpPr>
          <p:cNvPr id="12" name="Shape 9"/>
          <p:cNvSpPr/>
          <p:nvPr/>
        </p:nvSpPr>
        <p:spPr>
          <a:xfrm>
            <a:off x="457200" y="3300984"/>
            <a:ext cx="5410048" cy="749808"/>
          </a:xfrm>
          <a:prstGeom prst="roundRect">
            <a:avLst>
              <a:gd name="adj" fmla="val 8537"/>
            </a:avLst>
          </a:prstGeom>
          <a:solidFill>
            <a:srgbClr val="F4EEF2"/>
          </a:solidFill>
          <a:ln w="9525">
            <a:solidFill>
              <a:srgbClr val="E1D3DB"/>
            </a:solidFill>
            <a:prstDash val="solid"/>
          </a:ln>
        </p:spPr>
      </p:sp>
      <p:sp>
        <p:nvSpPr>
          <p:cNvPr id="13" name="Text 10"/>
          <p:cNvSpPr txBox="1"/>
          <p:nvPr/>
        </p:nvSpPr>
        <p:spPr>
          <a:xfrm>
            <a:off x="594360" y="3300984"/>
            <a:ext cx="640080" cy="749808"/>
          </a:xfrm>
          <a:prstGeom prst="rect">
            <a:avLst/>
          </a:prstGeom>
          <a:noFill/>
          <a:ln/>
        </p:spPr>
        <p:txBody>
          <a:bodyPr wrap="square" lIns="0" tIns="0" rIns="0" bIns="0" rtlCol="0" anchor="ctr"/>
          <a:lstStyle/>
          <a:p>
            <a:pPr algn="ctr" indent="0" marL="0">
              <a:buNone/>
            </a:pPr>
            <a:r>
              <a:rPr lang="en-US" sz="2400" b="1" dirty="0">
                <a:solidFill>
                  <a:srgbClr val="E0A458"/>
                </a:solidFill>
                <a:latin typeface="Cambria" pitchFamily="34" charset="0"/>
                <a:ea typeface="Cambria" pitchFamily="34" charset="-122"/>
                <a:cs typeface="Cambria" pitchFamily="34" charset="-120"/>
              </a:rPr>
              <a:t>03</a:t>
            </a:r>
            <a:endParaRPr lang="en-US" sz="2400" dirty="0"/>
          </a:p>
        </p:txBody>
      </p:sp>
      <p:sp>
        <p:nvSpPr>
          <p:cNvPr id="14" name="Text 11"/>
          <p:cNvSpPr txBox="1"/>
          <p:nvPr/>
        </p:nvSpPr>
        <p:spPr>
          <a:xfrm>
            <a:off x="1325880" y="3355848"/>
            <a:ext cx="4404208" cy="640080"/>
          </a:xfrm>
          <a:prstGeom prst="rect">
            <a:avLst/>
          </a:prstGeom>
          <a:noFill/>
          <a:ln/>
        </p:spPr>
        <p:txBody>
          <a:bodyPr wrap="square" lIns="0" tIns="0" rIns="0" bIns="0" rtlCol="0" anchor="ctr"/>
          <a:lstStyle/>
          <a:p>
            <a:pPr indent="0" marL="0">
              <a:buNone/>
            </a:pPr>
            <a:r>
              <a:rPr lang="en-US" sz="1300" dirty="0">
                <a:solidFill>
                  <a:srgbClr val="3A2A35"/>
                </a:solidFill>
                <a:latin typeface="Calibri" pitchFamily="34" charset="0"/>
                <a:ea typeface="Calibri" pitchFamily="34" charset="-122"/>
                <a:cs typeface="Calibri" pitchFamily="34" charset="-120"/>
              </a:rPr>
              <a:t>Panorama de la clasificación general</a:t>
            </a:r>
            <a:endParaRPr lang="en-US" sz="1300" dirty="0"/>
          </a:p>
        </p:txBody>
      </p:sp>
      <p:sp>
        <p:nvSpPr>
          <p:cNvPr id="15" name="Shape 12"/>
          <p:cNvSpPr/>
          <p:nvPr/>
        </p:nvSpPr>
        <p:spPr>
          <a:xfrm>
            <a:off x="457200" y="4197096"/>
            <a:ext cx="5410048" cy="749808"/>
          </a:xfrm>
          <a:prstGeom prst="roundRect">
            <a:avLst>
              <a:gd name="adj" fmla="val 8537"/>
            </a:avLst>
          </a:prstGeom>
          <a:solidFill>
            <a:srgbClr val="FFFFFF"/>
          </a:solidFill>
          <a:ln w="9525">
            <a:solidFill>
              <a:srgbClr val="E1D3DB"/>
            </a:solidFill>
            <a:prstDash val="solid"/>
          </a:ln>
        </p:spPr>
      </p:sp>
      <p:sp>
        <p:nvSpPr>
          <p:cNvPr id="16" name="Text 13"/>
          <p:cNvSpPr txBox="1"/>
          <p:nvPr/>
        </p:nvSpPr>
        <p:spPr>
          <a:xfrm>
            <a:off x="594360" y="4197096"/>
            <a:ext cx="640080" cy="749808"/>
          </a:xfrm>
          <a:prstGeom prst="rect">
            <a:avLst/>
          </a:prstGeom>
          <a:noFill/>
          <a:ln/>
        </p:spPr>
        <p:txBody>
          <a:bodyPr wrap="square" lIns="0" tIns="0" rIns="0" bIns="0" rtlCol="0" anchor="ctr"/>
          <a:lstStyle/>
          <a:p>
            <a:pPr algn="ctr" indent="0" marL="0">
              <a:buNone/>
            </a:pPr>
            <a:r>
              <a:rPr lang="en-US" sz="2400" b="1" dirty="0">
                <a:solidFill>
                  <a:srgbClr val="E0A458"/>
                </a:solidFill>
                <a:latin typeface="Cambria" pitchFamily="34" charset="0"/>
                <a:ea typeface="Cambria" pitchFamily="34" charset="-122"/>
                <a:cs typeface="Cambria" pitchFamily="34" charset="-120"/>
              </a:rPr>
              <a:t>04</a:t>
            </a:r>
            <a:endParaRPr lang="en-US" sz="2400" dirty="0"/>
          </a:p>
        </p:txBody>
      </p:sp>
      <p:sp>
        <p:nvSpPr>
          <p:cNvPr id="17" name="Text 14"/>
          <p:cNvSpPr txBox="1"/>
          <p:nvPr/>
        </p:nvSpPr>
        <p:spPr>
          <a:xfrm>
            <a:off x="1325880" y="4251960"/>
            <a:ext cx="4404208" cy="640080"/>
          </a:xfrm>
          <a:prstGeom prst="rect">
            <a:avLst/>
          </a:prstGeom>
          <a:noFill/>
          <a:ln/>
        </p:spPr>
        <p:txBody>
          <a:bodyPr wrap="square" lIns="0" tIns="0" rIns="0" bIns="0" rtlCol="0" anchor="ctr"/>
          <a:lstStyle/>
          <a:p>
            <a:pPr indent="0" marL="0">
              <a:buNone/>
            </a:pPr>
            <a:r>
              <a:rPr lang="en-US" sz="1300" dirty="0">
                <a:solidFill>
                  <a:srgbClr val="3A2A35"/>
                </a:solidFill>
                <a:latin typeface="Calibri" pitchFamily="34" charset="0"/>
                <a:ea typeface="Calibri" pitchFamily="34" charset="-122"/>
                <a:cs typeface="Calibri" pitchFamily="34" charset="-120"/>
              </a:rPr>
              <a:t>Sedantes: barbitúricos y benzodiacepinas</a:t>
            </a:r>
            <a:endParaRPr lang="en-US" sz="1300" dirty="0"/>
          </a:p>
        </p:txBody>
      </p:sp>
      <p:sp>
        <p:nvSpPr>
          <p:cNvPr id="18" name="Shape 15"/>
          <p:cNvSpPr/>
          <p:nvPr/>
        </p:nvSpPr>
        <p:spPr>
          <a:xfrm>
            <a:off x="457200" y="5093208"/>
            <a:ext cx="5410048" cy="749808"/>
          </a:xfrm>
          <a:prstGeom prst="roundRect">
            <a:avLst>
              <a:gd name="adj" fmla="val 8537"/>
            </a:avLst>
          </a:prstGeom>
          <a:solidFill>
            <a:srgbClr val="F4EEF2"/>
          </a:solidFill>
          <a:ln w="9525">
            <a:solidFill>
              <a:srgbClr val="E1D3DB"/>
            </a:solidFill>
            <a:prstDash val="solid"/>
          </a:ln>
        </p:spPr>
      </p:sp>
      <p:sp>
        <p:nvSpPr>
          <p:cNvPr id="19" name="Text 16"/>
          <p:cNvSpPr txBox="1"/>
          <p:nvPr/>
        </p:nvSpPr>
        <p:spPr>
          <a:xfrm>
            <a:off x="594360" y="5093208"/>
            <a:ext cx="640080" cy="749808"/>
          </a:xfrm>
          <a:prstGeom prst="rect">
            <a:avLst/>
          </a:prstGeom>
          <a:noFill/>
          <a:ln/>
        </p:spPr>
        <p:txBody>
          <a:bodyPr wrap="square" lIns="0" tIns="0" rIns="0" bIns="0" rtlCol="0" anchor="ctr"/>
          <a:lstStyle/>
          <a:p>
            <a:pPr algn="ctr" indent="0" marL="0">
              <a:buNone/>
            </a:pPr>
            <a:r>
              <a:rPr lang="en-US" sz="2400" b="1" dirty="0">
                <a:solidFill>
                  <a:srgbClr val="E0A458"/>
                </a:solidFill>
                <a:latin typeface="Cambria" pitchFamily="34" charset="0"/>
                <a:ea typeface="Cambria" pitchFamily="34" charset="-122"/>
                <a:cs typeface="Cambria" pitchFamily="34" charset="-120"/>
              </a:rPr>
              <a:t>05</a:t>
            </a:r>
            <a:endParaRPr lang="en-US" sz="2400" dirty="0"/>
          </a:p>
        </p:txBody>
      </p:sp>
      <p:sp>
        <p:nvSpPr>
          <p:cNvPr id="20" name="Text 17"/>
          <p:cNvSpPr txBox="1"/>
          <p:nvPr/>
        </p:nvSpPr>
        <p:spPr>
          <a:xfrm>
            <a:off x="1325880" y="5148072"/>
            <a:ext cx="4404208" cy="640080"/>
          </a:xfrm>
          <a:prstGeom prst="rect">
            <a:avLst/>
          </a:prstGeom>
          <a:noFill/>
          <a:ln/>
        </p:spPr>
        <p:txBody>
          <a:bodyPr wrap="square" lIns="0" tIns="0" rIns="0" bIns="0" rtlCol="0" anchor="ctr"/>
          <a:lstStyle/>
          <a:p>
            <a:pPr indent="0" marL="0">
              <a:buNone/>
            </a:pPr>
            <a:r>
              <a:rPr lang="en-US" sz="1300" dirty="0">
                <a:solidFill>
                  <a:srgbClr val="3A2A35"/>
                </a:solidFill>
                <a:latin typeface="Calibri" pitchFamily="34" charset="0"/>
                <a:ea typeface="Calibri" pitchFamily="34" charset="-122"/>
                <a:cs typeface="Calibri" pitchFamily="34" charset="-120"/>
              </a:rPr>
              <a:t>Narcóticos (opioides)</a:t>
            </a:r>
            <a:endParaRPr lang="en-US" sz="1300" dirty="0"/>
          </a:p>
        </p:txBody>
      </p:sp>
      <p:sp>
        <p:nvSpPr>
          <p:cNvPr id="21" name="Shape 18"/>
          <p:cNvSpPr/>
          <p:nvPr/>
        </p:nvSpPr>
        <p:spPr>
          <a:xfrm>
            <a:off x="6324448" y="1508760"/>
            <a:ext cx="5410048" cy="749808"/>
          </a:xfrm>
          <a:prstGeom prst="roundRect">
            <a:avLst>
              <a:gd name="adj" fmla="val 8537"/>
            </a:avLst>
          </a:prstGeom>
          <a:solidFill>
            <a:srgbClr val="F4EEF2"/>
          </a:solidFill>
          <a:ln w="9525">
            <a:solidFill>
              <a:srgbClr val="E1D3DB"/>
            </a:solidFill>
            <a:prstDash val="solid"/>
          </a:ln>
        </p:spPr>
      </p:sp>
      <p:sp>
        <p:nvSpPr>
          <p:cNvPr id="22" name="Text 19"/>
          <p:cNvSpPr txBox="1"/>
          <p:nvPr/>
        </p:nvSpPr>
        <p:spPr>
          <a:xfrm>
            <a:off x="6461608" y="1508760"/>
            <a:ext cx="640080" cy="749808"/>
          </a:xfrm>
          <a:prstGeom prst="rect">
            <a:avLst/>
          </a:prstGeom>
          <a:noFill/>
          <a:ln/>
        </p:spPr>
        <p:txBody>
          <a:bodyPr wrap="square" lIns="0" tIns="0" rIns="0" bIns="0" rtlCol="0" anchor="ctr"/>
          <a:lstStyle/>
          <a:p>
            <a:pPr algn="ctr" indent="0" marL="0">
              <a:buNone/>
            </a:pPr>
            <a:r>
              <a:rPr lang="en-US" sz="2400" b="1" dirty="0">
                <a:solidFill>
                  <a:srgbClr val="E0A458"/>
                </a:solidFill>
                <a:latin typeface="Cambria" pitchFamily="34" charset="0"/>
                <a:ea typeface="Cambria" pitchFamily="34" charset="-122"/>
                <a:cs typeface="Cambria" pitchFamily="34" charset="-120"/>
              </a:rPr>
              <a:t>06</a:t>
            </a:r>
            <a:endParaRPr lang="en-US" sz="2400" dirty="0"/>
          </a:p>
        </p:txBody>
      </p:sp>
      <p:sp>
        <p:nvSpPr>
          <p:cNvPr id="23" name="Text 20"/>
          <p:cNvSpPr txBox="1"/>
          <p:nvPr/>
        </p:nvSpPr>
        <p:spPr>
          <a:xfrm>
            <a:off x="7193128" y="1563624"/>
            <a:ext cx="4404208" cy="640080"/>
          </a:xfrm>
          <a:prstGeom prst="rect">
            <a:avLst/>
          </a:prstGeom>
          <a:noFill/>
          <a:ln/>
        </p:spPr>
        <p:txBody>
          <a:bodyPr wrap="square" lIns="0" tIns="0" rIns="0" bIns="0" rtlCol="0" anchor="ctr"/>
          <a:lstStyle/>
          <a:p>
            <a:pPr indent="0" marL="0">
              <a:buNone/>
            </a:pPr>
            <a:r>
              <a:rPr lang="en-US" sz="1300" dirty="0">
                <a:solidFill>
                  <a:srgbClr val="3A2A35"/>
                </a:solidFill>
                <a:latin typeface="Calibri" pitchFamily="34" charset="0"/>
                <a:ea typeface="Calibri" pitchFamily="34" charset="-122"/>
                <a:cs typeface="Calibri" pitchFamily="34" charset="-120"/>
              </a:rPr>
              <a:t>Tranquilizantes mayores y menores</a:t>
            </a:r>
            <a:endParaRPr lang="en-US" sz="1300" dirty="0"/>
          </a:p>
        </p:txBody>
      </p:sp>
      <p:sp>
        <p:nvSpPr>
          <p:cNvPr id="24" name="Shape 21"/>
          <p:cNvSpPr/>
          <p:nvPr/>
        </p:nvSpPr>
        <p:spPr>
          <a:xfrm>
            <a:off x="6324448" y="2404872"/>
            <a:ext cx="5410048" cy="749808"/>
          </a:xfrm>
          <a:prstGeom prst="roundRect">
            <a:avLst>
              <a:gd name="adj" fmla="val 8537"/>
            </a:avLst>
          </a:prstGeom>
          <a:solidFill>
            <a:srgbClr val="FFFFFF"/>
          </a:solidFill>
          <a:ln w="9525">
            <a:solidFill>
              <a:srgbClr val="E1D3DB"/>
            </a:solidFill>
            <a:prstDash val="solid"/>
          </a:ln>
        </p:spPr>
      </p:sp>
      <p:sp>
        <p:nvSpPr>
          <p:cNvPr id="25" name="Text 22"/>
          <p:cNvSpPr txBox="1"/>
          <p:nvPr/>
        </p:nvSpPr>
        <p:spPr>
          <a:xfrm>
            <a:off x="6461608" y="2404872"/>
            <a:ext cx="640080" cy="749808"/>
          </a:xfrm>
          <a:prstGeom prst="rect">
            <a:avLst/>
          </a:prstGeom>
          <a:noFill/>
          <a:ln/>
        </p:spPr>
        <p:txBody>
          <a:bodyPr wrap="square" lIns="0" tIns="0" rIns="0" bIns="0" rtlCol="0" anchor="ctr"/>
          <a:lstStyle/>
          <a:p>
            <a:pPr algn="ctr" indent="0" marL="0">
              <a:buNone/>
            </a:pPr>
            <a:r>
              <a:rPr lang="en-US" sz="2400" b="1" dirty="0">
                <a:solidFill>
                  <a:srgbClr val="E0A458"/>
                </a:solidFill>
                <a:latin typeface="Cambria" pitchFamily="34" charset="0"/>
                <a:ea typeface="Cambria" pitchFamily="34" charset="-122"/>
                <a:cs typeface="Cambria" pitchFamily="34" charset="-120"/>
              </a:rPr>
              <a:t>07</a:t>
            </a:r>
            <a:endParaRPr lang="en-US" sz="2400" dirty="0"/>
          </a:p>
        </p:txBody>
      </p:sp>
      <p:sp>
        <p:nvSpPr>
          <p:cNvPr id="26" name="Text 23"/>
          <p:cNvSpPr txBox="1"/>
          <p:nvPr/>
        </p:nvSpPr>
        <p:spPr>
          <a:xfrm>
            <a:off x="7193128" y="2459736"/>
            <a:ext cx="4404208" cy="640080"/>
          </a:xfrm>
          <a:prstGeom prst="rect">
            <a:avLst/>
          </a:prstGeom>
          <a:noFill/>
          <a:ln/>
        </p:spPr>
        <p:txBody>
          <a:bodyPr wrap="square" lIns="0" tIns="0" rIns="0" bIns="0" rtlCol="0" anchor="ctr"/>
          <a:lstStyle/>
          <a:p>
            <a:pPr indent="0" marL="0">
              <a:buNone/>
            </a:pPr>
            <a:r>
              <a:rPr lang="en-US" sz="1300" dirty="0">
                <a:solidFill>
                  <a:srgbClr val="3A2A35"/>
                </a:solidFill>
                <a:latin typeface="Calibri" pitchFamily="34" charset="0"/>
                <a:ea typeface="Calibri" pitchFamily="34" charset="-122"/>
                <a:cs typeface="Calibri" pitchFamily="34" charset="-120"/>
              </a:rPr>
              <a:t>Anticolinérgicos</a:t>
            </a:r>
            <a:endParaRPr lang="en-US" sz="1300" dirty="0"/>
          </a:p>
        </p:txBody>
      </p:sp>
      <p:sp>
        <p:nvSpPr>
          <p:cNvPr id="27" name="Shape 24"/>
          <p:cNvSpPr/>
          <p:nvPr/>
        </p:nvSpPr>
        <p:spPr>
          <a:xfrm>
            <a:off x="6324448" y="3300984"/>
            <a:ext cx="5410048" cy="749808"/>
          </a:xfrm>
          <a:prstGeom prst="roundRect">
            <a:avLst>
              <a:gd name="adj" fmla="val 8537"/>
            </a:avLst>
          </a:prstGeom>
          <a:solidFill>
            <a:srgbClr val="F4EEF2"/>
          </a:solidFill>
          <a:ln w="9525">
            <a:solidFill>
              <a:srgbClr val="E1D3DB"/>
            </a:solidFill>
            <a:prstDash val="solid"/>
          </a:ln>
        </p:spPr>
      </p:sp>
      <p:sp>
        <p:nvSpPr>
          <p:cNvPr id="28" name="Text 25"/>
          <p:cNvSpPr txBox="1"/>
          <p:nvPr/>
        </p:nvSpPr>
        <p:spPr>
          <a:xfrm>
            <a:off x="6461608" y="3300984"/>
            <a:ext cx="640080" cy="749808"/>
          </a:xfrm>
          <a:prstGeom prst="rect">
            <a:avLst/>
          </a:prstGeom>
          <a:noFill/>
          <a:ln/>
        </p:spPr>
        <p:txBody>
          <a:bodyPr wrap="square" lIns="0" tIns="0" rIns="0" bIns="0" rtlCol="0" anchor="ctr"/>
          <a:lstStyle/>
          <a:p>
            <a:pPr algn="ctr" indent="0" marL="0">
              <a:buNone/>
            </a:pPr>
            <a:r>
              <a:rPr lang="en-US" sz="2400" b="1" dirty="0">
                <a:solidFill>
                  <a:srgbClr val="E0A458"/>
                </a:solidFill>
                <a:latin typeface="Cambria" pitchFamily="34" charset="0"/>
                <a:ea typeface="Cambria" pitchFamily="34" charset="-122"/>
                <a:cs typeface="Cambria" pitchFamily="34" charset="-120"/>
              </a:rPr>
              <a:t>08</a:t>
            </a:r>
            <a:endParaRPr lang="en-US" sz="2400" dirty="0"/>
          </a:p>
        </p:txBody>
      </p:sp>
      <p:sp>
        <p:nvSpPr>
          <p:cNvPr id="29" name="Text 26"/>
          <p:cNvSpPr txBox="1"/>
          <p:nvPr/>
        </p:nvSpPr>
        <p:spPr>
          <a:xfrm>
            <a:off x="7193128" y="3355848"/>
            <a:ext cx="4404208" cy="640080"/>
          </a:xfrm>
          <a:prstGeom prst="rect">
            <a:avLst/>
          </a:prstGeom>
          <a:noFill/>
          <a:ln/>
        </p:spPr>
        <p:txBody>
          <a:bodyPr wrap="square" lIns="0" tIns="0" rIns="0" bIns="0" rtlCol="0" anchor="ctr"/>
          <a:lstStyle/>
          <a:p>
            <a:pPr indent="0" marL="0">
              <a:buNone/>
            </a:pPr>
            <a:r>
              <a:rPr lang="en-US" sz="1300" dirty="0">
                <a:solidFill>
                  <a:srgbClr val="3A2A35"/>
                </a:solidFill>
                <a:latin typeface="Calibri" pitchFamily="34" charset="0"/>
                <a:ea typeface="Calibri" pitchFamily="34" charset="-122"/>
                <a:cs typeface="Calibri" pitchFamily="34" charset="-120"/>
              </a:rPr>
              <a:t>Antieméticos</a:t>
            </a:r>
            <a:endParaRPr lang="en-US" sz="1300" dirty="0"/>
          </a:p>
        </p:txBody>
      </p:sp>
      <p:sp>
        <p:nvSpPr>
          <p:cNvPr id="30" name="Shape 27"/>
          <p:cNvSpPr/>
          <p:nvPr/>
        </p:nvSpPr>
        <p:spPr>
          <a:xfrm>
            <a:off x="6324448" y="4197096"/>
            <a:ext cx="5410048" cy="749808"/>
          </a:xfrm>
          <a:prstGeom prst="roundRect">
            <a:avLst>
              <a:gd name="adj" fmla="val 8537"/>
            </a:avLst>
          </a:prstGeom>
          <a:solidFill>
            <a:srgbClr val="FFFFFF"/>
          </a:solidFill>
          <a:ln w="9525">
            <a:solidFill>
              <a:srgbClr val="E1D3DB"/>
            </a:solidFill>
            <a:prstDash val="solid"/>
          </a:ln>
        </p:spPr>
      </p:sp>
      <p:sp>
        <p:nvSpPr>
          <p:cNvPr id="31" name="Text 28"/>
          <p:cNvSpPr txBox="1"/>
          <p:nvPr/>
        </p:nvSpPr>
        <p:spPr>
          <a:xfrm>
            <a:off x="6461608" y="4197096"/>
            <a:ext cx="640080" cy="749808"/>
          </a:xfrm>
          <a:prstGeom prst="rect">
            <a:avLst/>
          </a:prstGeom>
          <a:noFill/>
          <a:ln/>
        </p:spPr>
        <p:txBody>
          <a:bodyPr wrap="square" lIns="0" tIns="0" rIns="0" bIns="0" rtlCol="0" anchor="ctr"/>
          <a:lstStyle/>
          <a:p>
            <a:pPr algn="ctr" indent="0" marL="0">
              <a:buNone/>
            </a:pPr>
            <a:r>
              <a:rPr lang="en-US" sz="2400" b="1" dirty="0">
                <a:solidFill>
                  <a:srgbClr val="E0A458"/>
                </a:solidFill>
                <a:latin typeface="Cambria" pitchFamily="34" charset="0"/>
                <a:ea typeface="Cambria" pitchFamily="34" charset="-122"/>
                <a:cs typeface="Cambria" pitchFamily="34" charset="-120"/>
              </a:rPr>
              <a:t>09</a:t>
            </a:r>
            <a:endParaRPr lang="en-US" sz="2400" dirty="0"/>
          </a:p>
        </p:txBody>
      </p:sp>
      <p:sp>
        <p:nvSpPr>
          <p:cNvPr id="32" name="Text 29"/>
          <p:cNvSpPr txBox="1"/>
          <p:nvPr/>
        </p:nvSpPr>
        <p:spPr>
          <a:xfrm>
            <a:off x="7193128" y="4251960"/>
            <a:ext cx="4404208" cy="640080"/>
          </a:xfrm>
          <a:prstGeom prst="rect">
            <a:avLst/>
          </a:prstGeom>
          <a:noFill/>
          <a:ln/>
        </p:spPr>
        <p:txBody>
          <a:bodyPr wrap="square" lIns="0" tIns="0" rIns="0" bIns="0" rtlCol="0" anchor="ctr"/>
          <a:lstStyle/>
          <a:p>
            <a:pPr indent="0" marL="0">
              <a:buNone/>
            </a:pPr>
            <a:r>
              <a:rPr lang="en-US" sz="1300" dirty="0">
                <a:solidFill>
                  <a:srgbClr val="3A2A35"/>
                </a:solidFill>
                <a:latin typeface="Calibri" pitchFamily="34" charset="0"/>
                <a:ea typeface="Calibri" pitchFamily="34" charset="-122"/>
                <a:cs typeface="Calibri" pitchFamily="34" charset="-120"/>
              </a:rPr>
              <a:t>Antiácidos y profilaxis de aspiración</a:t>
            </a:r>
            <a:endParaRPr lang="en-US" sz="1300" dirty="0"/>
          </a:p>
        </p:txBody>
      </p:sp>
      <p:sp>
        <p:nvSpPr>
          <p:cNvPr id="33" name="Shape 30"/>
          <p:cNvSpPr/>
          <p:nvPr/>
        </p:nvSpPr>
        <p:spPr>
          <a:xfrm>
            <a:off x="6324448" y="5093208"/>
            <a:ext cx="5410048" cy="749808"/>
          </a:xfrm>
          <a:prstGeom prst="roundRect">
            <a:avLst>
              <a:gd name="adj" fmla="val 8537"/>
            </a:avLst>
          </a:prstGeom>
          <a:solidFill>
            <a:srgbClr val="F4EEF2"/>
          </a:solidFill>
          <a:ln w="9525">
            <a:solidFill>
              <a:srgbClr val="E1D3DB"/>
            </a:solidFill>
            <a:prstDash val="solid"/>
          </a:ln>
        </p:spPr>
      </p:sp>
      <p:sp>
        <p:nvSpPr>
          <p:cNvPr id="34" name="Text 31"/>
          <p:cNvSpPr txBox="1"/>
          <p:nvPr/>
        </p:nvSpPr>
        <p:spPr>
          <a:xfrm>
            <a:off x="6461608" y="5093208"/>
            <a:ext cx="640080" cy="749808"/>
          </a:xfrm>
          <a:prstGeom prst="rect">
            <a:avLst/>
          </a:prstGeom>
          <a:noFill/>
          <a:ln/>
        </p:spPr>
        <p:txBody>
          <a:bodyPr wrap="square" lIns="0" tIns="0" rIns="0" bIns="0" rtlCol="0" anchor="ctr"/>
          <a:lstStyle/>
          <a:p>
            <a:pPr algn="ctr" indent="0" marL="0">
              <a:buNone/>
            </a:pPr>
            <a:r>
              <a:rPr lang="en-US" sz="2400" b="1" dirty="0">
                <a:solidFill>
                  <a:srgbClr val="E0A458"/>
                </a:solidFill>
                <a:latin typeface="Cambria" pitchFamily="34" charset="0"/>
                <a:ea typeface="Cambria" pitchFamily="34" charset="-122"/>
                <a:cs typeface="Cambria" pitchFamily="34" charset="-120"/>
              </a:rPr>
              <a:t>10</a:t>
            </a:r>
            <a:endParaRPr lang="en-US" sz="2400" dirty="0"/>
          </a:p>
        </p:txBody>
      </p:sp>
      <p:sp>
        <p:nvSpPr>
          <p:cNvPr id="35" name="Text 32"/>
          <p:cNvSpPr txBox="1"/>
          <p:nvPr/>
        </p:nvSpPr>
        <p:spPr>
          <a:xfrm>
            <a:off x="7193128" y="5148072"/>
            <a:ext cx="4404208" cy="640080"/>
          </a:xfrm>
          <a:prstGeom prst="rect">
            <a:avLst/>
          </a:prstGeom>
          <a:noFill/>
          <a:ln/>
        </p:spPr>
        <p:txBody>
          <a:bodyPr wrap="square" lIns="0" tIns="0" rIns="0" bIns="0" rtlCol="0" anchor="ctr"/>
          <a:lstStyle/>
          <a:p>
            <a:pPr indent="0" marL="0">
              <a:buNone/>
            </a:pPr>
            <a:r>
              <a:rPr lang="en-US" sz="1300" dirty="0">
                <a:solidFill>
                  <a:srgbClr val="3A2A35"/>
                </a:solidFill>
                <a:latin typeface="Calibri" pitchFamily="34" charset="0"/>
                <a:ea typeface="Calibri" pitchFamily="34" charset="-122"/>
                <a:cs typeface="Calibri" pitchFamily="34" charset="-120"/>
              </a:rPr>
              <a:t>Poblaciones especiales, protocolo práctico y resumen</a:t>
            </a:r>
            <a:endParaRPr lang="en-US" sz="1300" dirty="0"/>
          </a:p>
        </p:txBody>
      </p:sp>
      <p:sp>
        <p:nvSpPr>
          <p:cNvPr id="36" name="Text 33"/>
          <p:cNvSpPr txBox="1"/>
          <p:nvPr/>
        </p:nvSpPr>
        <p:spPr>
          <a:xfrm>
            <a:off x="457200" y="6473952"/>
            <a:ext cx="6400800" cy="292608"/>
          </a:xfrm>
          <a:prstGeom prst="rect">
            <a:avLst/>
          </a:prstGeom>
          <a:noFill/>
          <a:ln/>
        </p:spPr>
        <p:txBody>
          <a:bodyPr wrap="square" lIns="0" tIns="0" rIns="0" bIns="0" rtlCol="0" anchor="ctr"/>
          <a:lstStyle/>
          <a:p>
            <a:pPr indent="0" marL="0">
              <a:buNone/>
            </a:pPr>
            <a:r>
              <a:rPr lang="en-US" sz="900" i="1" dirty="0">
                <a:solidFill>
                  <a:srgbClr val="77606F"/>
                </a:solidFill>
                <a:latin typeface="Calibri" pitchFamily="34" charset="0"/>
                <a:ea typeface="Calibri" pitchFamily="34" charset="-122"/>
                <a:cs typeface="Calibri" pitchFamily="34" charset="-120"/>
              </a:rPr>
              <a:t>Capítulo IV — Premedicación</a:t>
            </a:r>
            <a:endParaRPr lang="en-US" sz="900" dirty="0"/>
          </a:p>
        </p:txBody>
      </p:sp>
      <p:sp>
        <p:nvSpPr>
          <p:cNvPr id="37" name="Text 34"/>
          <p:cNvSpPr txBox="1"/>
          <p:nvPr/>
        </p:nvSpPr>
        <p:spPr>
          <a:xfrm>
            <a:off x="10362895" y="6473952"/>
            <a:ext cx="1371600" cy="292608"/>
          </a:xfrm>
          <a:prstGeom prst="rect">
            <a:avLst/>
          </a:prstGeom>
          <a:noFill/>
          <a:ln/>
        </p:spPr>
        <p:txBody>
          <a:bodyPr wrap="square" lIns="0" tIns="0" rIns="0" bIns="0" rtlCol="0" anchor="ctr"/>
          <a:lstStyle/>
          <a:p>
            <a:pPr algn="r" indent="0" marL="0">
              <a:buNone/>
            </a:pPr>
            <a:r>
              <a:rPr lang="en-US" sz="900" dirty="0">
                <a:solidFill>
                  <a:srgbClr val="77606F"/>
                </a:solidFill>
                <a:latin typeface="Calibri" pitchFamily="34" charset="0"/>
                <a:ea typeface="Calibri" pitchFamily="34" charset="-122"/>
                <a:cs typeface="Calibri" pitchFamily="34" charset="-120"/>
              </a:rPr>
              <a:t>2 / 33</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658368" cy="658368"/>
          </a:xfrm>
          <a:prstGeom prst="ellipse">
            <a:avLst/>
          </a:prstGeom>
          <a:solidFill>
            <a:srgbClr val="4A2545"/>
          </a:solidFill>
          <a:ln/>
        </p:spPr>
      </p:sp>
      <p:pic>
        <p:nvPicPr>
          <p:cNvPr id="3" name="Image 0" descr="preencoded.png">    </p:cNvPr>
          <p:cNvPicPr>
            <a:picLocks noChangeAspect="1"/>
          </p:cNvPicPr>
          <p:nvPr/>
        </p:nvPicPr>
        <p:blipFill>
          <a:blip r:embed="rId1"/>
          <a:stretch>
            <a:fillRect/>
          </a:stretch>
        </p:blipFill>
        <p:spPr>
          <a:xfrm>
            <a:off x="602041" y="556321"/>
            <a:ext cx="368686" cy="368686"/>
          </a:xfrm>
          <a:prstGeom prst="rect">
            <a:avLst/>
          </a:prstGeom>
        </p:spPr>
      </p:pic>
      <p:sp>
        <p:nvSpPr>
          <p:cNvPr id="4" name="Text 1"/>
          <p:cNvSpPr txBox="1"/>
          <p:nvPr/>
        </p:nvSpPr>
        <p:spPr>
          <a:xfrm>
            <a:off x="1298448" y="384048"/>
            <a:ext cx="9601200" cy="256032"/>
          </a:xfrm>
          <a:prstGeom prst="rect">
            <a:avLst/>
          </a:prstGeom>
          <a:noFill/>
          <a:ln/>
        </p:spPr>
        <p:txBody>
          <a:bodyPr wrap="square" lIns="0" tIns="0" rIns="0" bIns="0" rtlCol="0" anchor="ctr"/>
          <a:lstStyle/>
          <a:p>
            <a:pPr indent="0" marL="0">
              <a:buNone/>
            </a:pPr>
            <a:r>
              <a:rPr lang="en-US" sz="1150" b="1" spc="150" kern="0" dirty="0">
                <a:solidFill>
                  <a:srgbClr val="E0A458"/>
                </a:solidFill>
                <a:latin typeface="Calibri" pitchFamily="34" charset="0"/>
                <a:ea typeface="Calibri" pitchFamily="34" charset="-122"/>
                <a:cs typeface="Calibri" pitchFamily="34" charset="-120"/>
              </a:rPr>
              <a:t>FUNDAMENTOS</a:t>
            </a:r>
            <a:endParaRPr lang="en-US" sz="1150" dirty="0"/>
          </a:p>
        </p:txBody>
      </p:sp>
      <p:sp>
        <p:nvSpPr>
          <p:cNvPr id="5" name="Text 2"/>
          <p:cNvSpPr txBox="1"/>
          <p:nvPr/>
        </p:nvSpPr>
        <p:spPr>
          <a:xfrm>
            <a:off x="1298448" y="621792"/>
            <a:ext cx="10058400" cy="502920"/>
          </a:xfrm>
          <a:prstGeom prst="rect">
            <a:avLst/>
          </a:prstGeom>
          <a:noFill/>
          <a:ln/>
        </p:spPr>
        <p:txBody>
          <a:bodyPr wrap="square" lIns="0" tIns="0" rIns="0" bIns="0" rtlCol="0" anchor="ctr"/>
          <a:lstStyle/>
          <a:p>
            <a:pPr indent="0" marL="0">
              <a:buNone/>
            </a:pPr>
            <a:r>
              <a:rPr lang="en-US" sz="2500" b="1" dirty="0">
                <a:solidFill>
                  <a:srgbClr val="4A2545"/>
                </a:solidFill>
                <a:latin typeface="Cambria" pitchFamily="34" charset="0"/>
                <a:ea typeface="Cambria" pitchFamily="34" charset="-122"/>
                <a:cs typeface="Cambria" pitchFamily="34" charset="-120"/>
              </a:rPr>
              <a:t>Introducción a la premedicación anestésica</a:t>
            </a:r>
            <a:endParaRPr lang="en-US" sz="2500" dirty="0"/>
          </a:p>
        </p:txBody>
      </p:sp>
      <p:sp>
        <p:nvSpPr>
          <p:cNvPr id="6" name="Shape 3"/>
          <p:cNvSpPr/>
          <p:nvPr/>
        </p:nvSpPr>
        <p:spPr>
          <a:xfrm>
            <a:off x="457200" y="1417320"/>
            <a:ext cx="5455768" cy="4480560"/>
          </a:xfrm>
          <a:prstGeom prst="roundRect">
            <a:avLst>
              <a:gd name="adj" fmla="val 1633"/>
            </a:avLst>
          </a:prstGeom>
          <a:solidFill>
            <a:srgbClr val="F4EEF2"/>
          </a:solidFill>
          <a:ln/>
          <a:effectLst>
            <a:outerShdw sx="100000" sy="100000" kx="0" ky="0" algn="bl" rotWithShape="0" blurRad="76200" dist="25400" dir="5400000">
              <a:srgbClr val="2A1729">
                <a:alpha val="18000"/>
              </a:srgbClr>
            </a:outerShdw>
          </a:effectLst>
        </p:spPr>
      </p:sp>
      <p:sp>
        <p:nvSpPr>
          <p:cNvPr id="7" name="Text 4"/>
          <p:cNvSpPr txBox="1"/>
          <p:nvPr/>
        </p:nvSpPr>
        <p:spPr>
          <a:xfrm>
            <a:off x="749808" y="1636776"/>
            <a:ext cx="4870552" cy="457200"/>
          </a:xfrm>
          <a:prstGeom prst="rect">
            <a:avLst/>
          </a:prstGeom>
          <a:noFill/>
          <a:ln/>
        </p:spPr>
        <p:txBody>
          <a:bodyPr wrap="square" lIns="0" tIns="0" rIns="0" bIns="0" rtlCol="0" anchor="ctr"/>
          <a:lstStyle/>
          <a:p>
            <a:pPr indent="0" marL="0">
              <a:buNone/>
            </a:pPr>
            <a:r>
              <a:rPr lang="en-US" sz="1650" b="1" dirty="0">
                <a:solidFill>
                  <a:srgbClr val="4A2545"/>
                </a:solidFill>
                <a:latin typeface="Cambria" pitchFamily="34" charset="0"/>
                <a:ea typeface="Cambria" pitchFamily="34" charset="-122"/>
                <a:cs typeface="Cambria" pitchFamily="34" charset="-120"/>
              </a:rPr>
              <a:t>Definición</a:t>
            </a:r>
            <a:endParaRPr lang="en-US" sz="1650" dirty="0"/>
          </a:p>
        </p:txBody>
      </p:sp>
      <p:sp>
        <p:nvSpPr>
          <p:cNvPr id="8" name="Text 5"/>
          <p:cNvSpPr txBox="1"/>
          <p:nvPr/>
        </p:nvSpPr>
        <p:spPr>
          <a:xfrm>
            <a:off x="749808" y="2194560"/>
            <a:ext cx="4870552" cy="3474720"/>
          </a:xfrm>
          <a:prstGeom prst="rect">
            <a:avLst/>
          </a:prstGeom>
          <a:noFill/>
          <a:ln/>
        </p:spPr>
        <p:txBody>
          <a:bodyPr wrap="square" lIns="0" tIns="0" rIns="0" bIns="0" rtlCol="0" anchor="t"/>
          <a:lstStyle/>
          <a:p>
            <a:pPr marL="177800" indent="-177800">
              <a:lnSpc>
                <a:spcPct val="108000"/>
              </a:lnSpc>
              <a:spcAft>
                <a:spcPts val="900"/>
              </a:spcAft>
              <a:buSzPct val="100000"/>
              <a:buChar char="•"/>
            </a:pPr>
            <a:r>
              <a:rPr lang="en-US" sz="1250" dirty="0">
                <a:solidFill>
                  <a:srgbClr val="3A2A35"/>
                </a:solidFill>
                <a:latin typeface="Calibri" pitchFamily="34" charset="0"/>
                <a:ea typeface="Calibri" pitchFamily="34" charset="-122"/>
                <a:cs typeface="Calibri" pitchFamily="34" charset="-120"/>
              </a:rPr>
              <a:t>Conjunto de medidas farmacológicas y no farmacológicas administradas antes de la inducción anestésica.</a:t>
            </a:r>
            <a:endParaRPr lang="en-US" sz="1250" dirty="0"/>
          </a:p>
          <a:p>
            <a:pPr marL="177800" indent="-177800">
              <a:lnSpc>
                <a:spcPct val="108000"/>
              </a:lnSpc>
              <a:spcAft>
                <a:spcPts val="900"/>
              </a:spcAft>
              <a:buSzPct val="100000"/>
              <a:buChar char="•"/>
            </a:pPr>
            <a:r>
              <a:rPr lang="en-US" sz="1250" dirty="0">
                <a:solidFill>
                  <a:srgbClr val="3A2A35"/>
                </a:solidFill>
                <a:latin typeface="Calibri" pitchFamily="34" charset="0"/>
                <a:ea typeface="Calibri" pitchFamily="34" charset="-122"/>
                <a:cs typeface="Calibri" pitchFamily="34" charset="-120"/>
              </a:rPr>
              <a:t>Busca preparar física y psicológicamente al paciente para el acto quirúrgico.</a:t>
            </a:r>
            <a:endParaRPr lang="en-US" sz="1250" dirty="0"/>
          </a:p>
          <a:p>
            <a:pPr marL="177800" indent="-177800">
              <a:lnSpc>
                <a:spcPct val="108000"/>
              </a:lnSpc>
              <a:spcAft>
                <a:spcPts val="900"/>
              </a:spcAft>
              <a:buSzPct val="100000"/>
              <a:buChar char="•"/>
            </a:pPr>
            <a:r>
              <a:rPr lang="en-US" sz="1250" dirty="0">
                <a:solidFill>
                  <a:srgbClr val="3A2A35"/>
                </a:solidFill>
                <a:latin typeface="Calibri" pitchFamily="34" charset="0"/>
                <a:ea typeface="Calibri" pitchFamily="34" charset="-122"/>
                <a:cs typeface="Calibri" pitchFamily="34" charset="-120"/>
              </a:rPr>
              <a:t>Forma parte integral de la evaluación preanestésica, no un acto aislado.</a:t>
            </a:r>
            <a:endParaRPr lang="en-US" sz="1250" dirty="0"/>
          </a:p>
          <a:p>
            <a:pPr marL="177800" indent="-177800">
              <a:lnSpc>
                <a:spcPct val="108000"/>
              </a:lnSpc>
              <a:spcAft>
                <a:spcPts val="900"/>
              </a:spcAft>
              <a:buSzPct val="100000"/>
              <a:buChar char="•"/>
            </a:pPr>
            <a:r>
              <a:rPr lang="en-US" sz="1250" dirty="0">
                <a:solidFill>
                  <a:srgbClr val="3A2A35"/>
                </a:solidFill>
                <a:latin typeface="Calibri" pitchFamily="34" charset="0"/>
                <a:ea typeface="Calibri" pitchFamily="34" charset="-122"/>
                <a:cs typeface="Calibri" pitchFamily="34" charset="-120"/>
              </a:rPr>
              <a:t>Se individualiza según edad, comorbilidad, tipo de cirugía y experiencia previa con anestesia.</a:t>
            </a:r>
            <a:endParaRPr lang="en-US" sz="1250" dirty="0"/>
          </a:p>
        </p:txBody>
      </p:sp>
      <p:sp>
        <p:nvSpPr>
          <p:cNvPr id="9" name="Shape 6"/>
          <p:cNvSpPr/>
          <p:nvPr/>
        </p:nvSpPr>
        <p:spPr>
          <a:xfrm>
            <a:off x="6278728" y="1417320"/>
            <a:ext cx="5455768" cy="4480560"/>
          </a:xfrm>
          <a:prstGeom prst="roundRect">
            <a:avLst>
              <a:gd name="adj" fmla="val 1633"/>
            </a:avLst>
          </a:prstGeom>
          <a:solidFill>
            <a:srgbClr val="FBF3E7"/>
          </a:solidFill>
          <a:ln/>
          <a:effectLst>
            <a:outerShdw sx="100000" sy="100000" kx="0" ky="0" algn="bl" rotWithShape="0" blurRad="76200" dist="25400" dir="5400000">
              <a:srgbClr val="2A1729">
                <a:alpha val="18000"/>
              </a:srgbClr>
            </a:outerShdw>
          </a:effectLst>
        </p:spPr>
      </p:sp>
      <p:sp>
        <p:nvSpPr>
          <p:cNvPr id="10" name="Text 7"/>
          <p:cNvSpPr txBox="1"/>
          <p:nvPr/>
        </p:nvSpPr>
        <p:spPr>
          <a:xfrm>
            <a:off x="6571336" y="1636776"/>
            <a:ext cx="4870552" cy="457200"/>
          </a:xfrm>
          <a:prstGeom prst="rect">
            <a:avLst/>
          </a:prstGeom>
          <a:noFill/>
          <a:ln/>
        </p:spPr>
        <p:txBody>
          <a:bodyPr wrap="square" lIns="0" tIns="0" rIns="0" bIns="0" rtlCol="0" anchor="ctr"/>
          <a:lstStyle/>
          <a:p>
            <a:pPr indent="0" marL="0">
              <a:buNone/>
            </a:pPr>
            <a:r>
              <a:rPr lang="en-US" sz="1650" b="1" dirty="0">
                <a:solidFill>
                  <a:srgbClr val="4A2545"/>
                </a:solidFill>
                <a:latin typeface="Cambria" pitchFamily="34" charset="0"/>
                <a:ea typeface="Cambria" pitchFamily="34" charset="-122"/>
                <a:cs typeface="Cambria" pitchFamily="34" charset="-120"/>
              </a:rPr>
              <a:t>Evolución del concepto</a:t>
            </a:r>
            <a:endParaRPr lang="en-US" sz="1650" dirty="0"/>
          </a:p>
        </p:txBody>
      </p:sp>
      <p:sp>
        <p:nvSpPr>
          <p:cNvPr id="11" name="Text 8"/>
          <p:cNvSpPr txBox="1"/>
          <p:nvPr/>
        </p:nvSpPr>
        <p:spPr>
          <a:xfrm>
            <a:off x="6571336" y="2194560"/>
            <a:ext cx="4870552" cy="3474720"/>
          </a:xfrm>
          <a:prstGeom prst="rect">
            <a:avLst/>
          </a:prstGeom>
          <a:noFill/>
          <a:ln/>
        </p:spPr>
        <p:txBody>
          <a:bodyPr wrap="square" lIns="0" tIns="0" rIns="0" bIns="0" rtlCol="0" anchor="t"/>
          <a:lstStyle/>
          <a:p>
            <a:pPr marL="177800" indent="-177800">
              <a:lnSpc>
                <a:spcPct val="108000"/>
              </a:lnSpc>
              <a:spcAft>
                <a:spcPts val="900"/>
              </a:spcAft>
              <a:buSzPct val="100000"/>
              <a:buChar char="•"/>
            </a:pPr>
            <a:r>
              <a:rPr lang="en-US" sz="1250" dirty="0">
                <a:solidFill>
                  <a:srgbClr val="3A2A35"/>
                </a:solidFill>
                <a:latin typeface="Calibri" pitchFamily="34" charset="0"/>
                <a:ea typeface="Calibri" pitchFamily="34" charset="-122"/>
                <a:cs typeface="Calibri" pitchFamily="34" charset="-120"/>
              </a:rPr>
              <a:t>Históricamente centrada en sedación profunda (morfina-escopolamina).</a:t>
            </a:r>
            <a:endParaRPr lang="en-US" sz="1250" dirty="0"/>
          </a:p>
          <a:p>
            <a:pPr marL="177800" indent="-177800">
              <a:lnSpc>
                <a:spcPct val="108000"/>
              </a:lnSpc>
              <a:spcAft>
                <a:spcPts val="900"/>
              </a:spcAft>
              <a:buSzPct val="100000"/>
              <a:buChar char="•"/>
            </a:pPr>
            <a:r>
              <a:rPr lang="en-US" sz="1250" dirty="0">
                <a:solidFill>
                  <a:srgbClr val="3A2A35"/>
                </a:solidFill>
                <a:latin typeface="Calibri" pitchFamily="34" charset="0"/>
                <a:ea typeface="Calibri" pitchFamily="34" charset="-122"/>
                <a:cs typeface="Calibri" pitchFamily="34" charset="-120"/>
              </a:rPr>
              <a:t>Hoy prioriza ansiolisis ligera, cooperación y recuperación temprana (ERAS).</a:t>
            </a:r>
            <a:endParaRPr lang="en-US" sz="1250" dirty="0"/>
          </a:p>
          <a:p>
            <a:pPr marL="177800" indent="-177800">
              <a:lnSpc>
                <a:spcPct val="108000"/>
              </a:lnSpc>
              <a:spcAft>
                <a:spcPts val="900"/>
              </a:spcAft>
              <a:buSzPct val="100000"/>
              <a:buChar char="•"/>
            </a:pPr>
            <a:r>
              <a:rPr lang="en-US" sz="1250" dirty="0">
                <a:solidFill>
                  <a:srgbClr val="3A2A35"/>
                </a:solidFill>
                <a:latin typeface="Calibri" pitchFamily="34" charset="0"/>
                <a:ea typeface="Calibri" pitchFamily="34" charset="-122"/>
                <a:cs typeface="Calibri" pitchFamily="34" charset="-120"/>
              </a:rPr>
              <a:t>Incorpora protocolos multimodales: ansiolisis + antiemesis + profilaxis de aspiración.</a:t>
            </a:r>
            <a:endParaRPr lang="en-US" sz="1250" dirty="0"/>
          </a:p>
          <a:p>
            <a:pPr marL="177800" indent="-177800">
              <a:lnSpc>
                <a:spcPct val="108000"/>
              </a:lnSpc>
              <a:spcAft>
                <a:spcPts val="900"/>
              </a:spcAft>
              <a:buSzPct val="100000"/>
              <a:buChar char="•"/>
            </a:pPr>
            <a:r>
              <a:rPr lang="en-US" sz="1250" dirty="0">
                <a:solidFill>
                  <a:srgbClr val="3A2A35"/>
                </a:solidFill>
                <a:latin typeface="Calibri" pitchFamily="34" charset="0"/>
                <a:ea typeface="Calibri" pitchFamily="34" charset="-122"/>
                <a:cs typeface="Calibri" pitchFamily="34" charset="-120"/>
              </a:rPr>
              <a:t>La vía oral y la titulación cuidadosa han desplazado a los esquemas intramusculares rígidos.</a:t>
            </a:r>
            <a:endParaRPr lang="en-US" sz="1250" dirty="0"/>
          </a:p>
        </p:txBody>
      </p:sp>
      <p:sp>
        <p:nvSpPr>
          <p:cNvPr id="12" name="Text 9"/>
          <p:cNvSpPr txBox="1"/>
          <p:nvPr/>
        </p:nvSpPr>
        <p:spPr>
          <a:xfrm>
            <a:off x="457200" y="6473952"/>
            <a:ext cx="6400800" cy="292608"/>
          </a:xfrm>
          <a:prstGeom prst="rect">
            <a:avLst/>
          </a:prstGeom>
          <a:noFill/>
          <a:ln/>
        </p:spPr>
        <p:txBody>
          <a:bodyPr wrap="square" lIns="0" tIns="0" rIns="0" bIns="0" rtlCol="0" anchor="ctr"/>
          <a:lstStyle/>
          <a:p>
            <a:pPr indent="0" marL="0">
              <a:buNone/>
            </a:pPr>
            <a:r>
              <a:rPr lang="en-US" sz="900" i="1" dirty="0">
                <a:solidFill>
                  <a:srgbClr val="77606F"/>
                </a:solidFill>
                <a:latin typeface="Calibri" pitchFamily="34" charset="0"/>
                <a:ea typeface="Calibri" pitchFamily="34" charset="-122"/>
                <a:cs typeface="Calibri" pitchFamily="34" charset="-120"/>
              </a:rPr>
              <a:t>Capítulo IV — Premedicación</a:t>
            </a:r>
            <a:endParaRPr lang="en-US" sz="900" dirty="0"/>
          </a:p>
        </p:txBody>
      </p:sp>
      <p:sp>
        <p:nvSpPr>
          <p:cNvPr id="13" name="Text 10"/>
          <p:cNvSpPr txBox="1"/>
          <p:nvPr/>
        </p:nvSpPr>
        <p:spPr>
          <a:xfrm>
            <a:off x="10362895" y="6473952"/>
            <a:ext cx="1371600" cy="292608"/>
          </a:xfrm>
          <a:prstGeom prst="rect">
            <a:avLst/>
          </a:prstGeom>
          <a:noFill/>
          <a:ln/>
        </p:spPr>
        <p:txBody>
          <a:bodyPr wrap="square" lIns="0" tIns="0" rIns="0" bIns="0" rtlCol="0" anchor="ctr"/>
          <a:lstStyle/>
          <a:p>
            <a:pPr algn="r" indent="0" marL="0">
              <a:buNone/>
            </a:pPr>
            <a:r>
              <a:rPr lang="en-US" sz="900" dirty="0">
                <a:solidFill>
                  <a:srgbClr val="77606F"/>
                </a:solidFill>
                <a:latin typeface="Calibri" pitchFamily="34" charset="0"/>
                <a:ea typeface="Calibri" pitchFamily="34" charset="-122"/>
                <a:cs typeface="Calibri" pitchFamily="34" charset="-120"/>
              </a:rPr>
              <a:t>3 / 33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658368" cy="658368"/>
          </a:xfrm>
          <a:prstGeom prst="ellipse">
            <a:avLst/>
          </a:prstGeom>
          <a:solidFill>
            <a:srgbClr val="4A2545"/>
          </a:solidFill>
          <a:ln/>
        </p:spPr>
      </p:sp>
      <p:pic>
        <p:nvPicPr>
          <p:cNvPr id="3" name="Image 0" descr="preencoded.png">    </p:cNvPr>
          <p:cNvPicPr>
            <a:picLocks noChangeAspect="1"/>
          </p:cNvPicPr>
          <p:nvPr/>
        </p:nvPicPr>
        <p:blipFill>
          <a:blip r:embed="rId1"/>
          <a:stretch>
            <a:fillRect/>
          </a:stretch>
        </p:blipFill>
        <p:spPr>
          <a:xfrm>
            <a:off x="602041" y="556321"/>
            <a:ext cx="368686" cy="368686"/>
          </a:xfrm>
          <a:prstGeom prst="rect">
            <a:avLst/>
          </a:prstGeom>
        </p:spPr>
      </p:pic>
      <p:sp>
        <p:nvSpPr>
          <p:cNvPr id="4" name="Text 1"/>
          <p:cNvSpPr txBox="1"/>
          <p:nvPr/>
        </p:nvSpPr>
        <p:spPr>
          <a:xfrm>
            <a:off x="1298448" y="384048"/>
            <a:ext cx="9601200" cy="256032"/>
          </a:xfrm>
          <a:prstGeom prst="rect">
            <a:avLst/>
          </a:prstGeom>
          <a:noFill/>
          <a:ln/>
        </p:spPr>
        <p:txBody>
          <a:bodyPr wrap="square" lIns="0" tIns="0" rIns="0" bIns="0" rtlCol="0" anchor="ctr"/>
          <a:lstStyle/>
          <a:p>
            <a:pPr indent="0" marL="0">
              <a:buNone/>
            </a:pPr>
            <a:r>
              <a:rPr lang="en-US" sz="1150" b="1" spc="150" kern="0" dirty="0">
                <a:solidFill>
                  <a:srgbClr val="E0A458"/>
                </a:solidFill>
                <a:latin typeface="Calibri" pitchFamily="34" charset="0"/>
                <a:ea typeface="Calibri" pitchFamily="34" charset="-122"/>
                <a:cs typeface="Calibri" pitchFamily="34" charset="-120"/>
              </a:rPr>
              <a:t>METAS TERAPÉUTICAS</a:t>
            </a:r>
            <a:endParaRPr lang="en-US" sz="1150" dirty="0"/>
          </a:p>
        </p:txBody>
      </p:sp>
      <p:sp>
        <p:nvSpPr>
          <p:cNvPr id="5" name="Text 2"/>
          <p:cNvSpPr txBox="1"/>
          <p:nvPr/>
        </p:nvSpPr>
        <p:spPr>
          <a:xfrm>
            <a:off x="1298448" y="621792"/>
            <a:ext cx="10058400" cy="502920"/>
          </a:xfrm>
          <a:prstGeom prst="rect">
            <a:avLst/>
          </a:prstGeom>
          <a:noFill/>
          <a:ln/>
        </p:spPr>
        <p:txBody>
          <a:bodyPr wrap="square" lIns="0" tIns="0" rIns="0" bIns="0" rtlCol="0" anchor="ctr"/>
          <a:lstStyle/>
          <a:p>
            <a:pPr indent="0" marL="0">
              <a:buNone/>
            </a:pPr>
            <a:r>
              <a:rPr lang="en-US" sz="2500" b="1" dirty="0">
                <a:solidFill>
                  <a:srgbClr val="4A2545"/>
                </a:solidFill>
                <a:latin typeface="Cambria" pitchFamily="34" charset="0"/>
                <a:ea typeface="Cambria" pitchFamily="34" charset="-122"/>
                <a:cs typeface="Cambria" pitchFamily="34" charset="-120"/>
              </a:rPr>
              <a:t>Objetivos de la premedicación</a:t>
            </a:r>
            <a:endParaRPr lang="en-US" sz="2500" dirty="0"/>
          </a:p>
        </p:txBody>
      </p:sp>
      <p:sp>
        <p:nvSpPr>
          <p:cNvPr id="6" name="Shape 3"/>
          <p:cNvSpPr/>
          <p:nvPr/>
        </p:nvSpPr>
        <p:spPr>
          <a:xfrm>
            <a:off x="457200" y="1444752"/>
            <a:ext cx="512064" cy="512064"/>
          </a:xfrm>
          <a:prstGeom prst="ellipse">
            <a:avLst/>
          </a:prstGeom>
          <a:solidFill>
            <a:srgbClr val="4A2545"/>
          </a:solidFill>
          <a:ln/>
        </p:spPr>
      </p:sp>
      <p:pic>
        <p:nvPicPr>
          <p:cNvPr id="7" name="Image 1" descr="preencoded.png">    </p:cNvPr>
          <p:cNvPicPr>
            <a:picLocks noChangeAspect="1"/>
          </p:cNvPicPr>
          <p:nvPr/>
        </p:nvPicPr>
        <p:blipFill>
          <a:blip r:embed="rId2"/>
          <a:stretch>
            <a:fillRect/>
          </a:stretch>
        </p:blipFill>
        <p:spPr>
          <a:xfrm>
            <a:off x="564733" y="1552285"/>
            <a:ext cx="296997" cy="296997"/>
          </a:xfrm>
          <a:prstGeom prst="rect">
            <a:avLst/>
          </a:prstGeom>
        </p:spPr>
      </p:pic>
      <p:sp>
        <p:nvSpPr>
          <p:cNvPr id="8" name="Text 4"/>
          <p:cNvSpPr txBox="1"/>
          <p:nvPr/>
        </p:nvSpPr>
        <p:spPr>
          <a:xfrm>
            <a:off x="1170432" y="1389888"/>
            <a:ext cx="10353751" cy="310896"/>
          </a:xfrm>
          <a:prstGeom prst="rect">
            <a:avLst/>
          </a:prstGeom>
          <a:noFill/>
          <a:ln/>
        </p:spPr>
        <p:txBody>
          <a:bodyPr wrap="square" lIns="0" tIns="0" rIns="0" bIns="0" rtlCol="0" anchor="ctr"/>
          <a:lstStyle/>
          <a:p>
            <a:pPr indent="0" marL="0">
              <a:buNone/>
            </a:pPr>
            <a:r>
              <a:rPr lang="en-US" sz="1450" b="1" dirty="0">
                <a:solidFill>
                  <a:srgbClr val="4A2545"/>
                </a:solidFill>
                <a:latin typeface="Cambria" pitchFamily="34" charset="0"/>
                <a:ea typeface="Cambria" pitchFamily="34" charset="-122"/>
                <a:cs typeface="Cambria" pitchFamily="34" charset="-120"/>
              </a:rPr>
              <a:t>Ansiolisis</a:t>
            </a:r>
            <a:endParaRPr lang="en-US" sz="1450" dirty="0"/>
          </a:p>
        </p:txBody>
      </p:sp>
      <p:sp>
        <p:nvSpPr>
          <p:cNvPr id="9" name="Text 5"/>
          <p:cNvSpPr txBox="1"/>
          <p:nvPr/>
        </p:nvSpPr>
        <p:spPr>
          <a:xfrm>
            <a:off x="1170432" y="1682496"/>
            <a:ext cx="10353751" cy="566928"/>
          </a:xfrm>
          <a:prstGeom prst="rect">
            <a:avLst/>
          </a:prstGeom>
          <a:noFill/>
          <a:ln/>
        </p:spPr>
        <p:txBody>
          <a:bodyPr wrap="square" lIns="0" tIns="0" rIns="0" bIns="0" rtlCol="0" anchor="t"/>
          <a:lstStyle/>
          <a:p>
            <a:pPr indent="0" marL="0">
              <a:lnSpc>
                <a:spcPct val="105000"/>
              </a:lnSpc>
              <a:buNone/>
            </a:pPr>
            <a:r>
              <a:rPr lang="en-US" sz="1150" dirty="0">
                <a:solidFill>
                  <a:srgbClr val="3A2A35"/>
                </a:solidFill>
                <a:latin typeface="Calibri" pitchFamily="34" charset="0"/>
                <a:ea typeface="Calibri" pitchFamily="34" charset="-122"/>
                <a:cs typeface="Calibri" pitchFamily="34" charset="-120"/>
              </a:rPr>
              <a:t>Reducir la ansiedad anticipatoria sin producir sedación excesiva ni retraso en el alta.</a:t>
            </a:r>
            <a:endParaRPr lang="en-US" sz="1150" dirty="0"/>
          </a:p>
        </p:txBody>
      </p:sp>
      <p:sp>
        <p:nvSpPr>
          <p:cNvPr id="10" name="Shape 6"/>
          <p:cNvSpPr/>
          <p:nvPr/>
        </p:nvSpPr>
        <p:spPr>
          <a:xfrm>
            <a:off x="457200" y="2340864"/>
            <a:ext cx="512064" cy="512064"/>
          </a:xfrm>
          <a:prstGeom prst="ellipse">
            <a:avLst/>
          </a:prstGeom>
          <a:solidFill>
            <a:srgbClr val="8E6C88"/>
          </a:solidFill>
          <a:ln/>
        </p:spPr>
      </p:sp>
      <p:pic>
        <p:nvPicPr>
          <p:cNvPr id="11" name="Image 2" descr="preencoded.png">    </p:cNvPr>
          <p:cNvPicPr>
            <a:picLocks noChangeAspect="1"/>
          </p:cNvPicPr>
          <p:nvPr/>
        </p:nvPicPr>
        <p:blipFill>
          <a:blip r:embed="rId3"/>
          <a:stretch>
            <a:fillRect/>
          </a:stretch>
        </p:blipFill>
        <p:spPr>
          <a:xfrm>
            <a:off x="564733" y="2448397"/>
            <a:ext cx="296997" cy="296997"/>
          </a:xfrm>
          <a:prstGeom prst="rect">
            <a:avLst/>
          </a:prstGeom>
        </p:spPr>
      </p:pic>
      <p:sp>
        <p:nvSpPr>
          <p:cNvPr id="12" name="Text 7"/>
          <p:cNvSpPr txBox="1"/>
          <p:nvPr/>
        </p:nvSpPr>
        <p:spPr>
          <a:xfrm>
            <a:off x="1170432" y="2286000"/>
            <a:ext cx="10353751" cy="310896"/>
          </a:xfrm>
          <a:prstGeom prst="rect">
            <a:avLst/>
          </a:prstGeom>
          <a:noFill/>
          <a:ln/>
        </p:spPr>
        <p:txBody>
          <a:bodyPr wrap="square" lIns="0" tIns="0" rIns="0" bIns="0" rtlCol="0" anchor="ctr"/>
          <a:lstStyle/>
          <a:p>
            <a:pPr indent="0" marL="0">
              <a:buNone/>
            </a:pPr>
            <a:r>
              <a:rPr lang="en-US" sz="1450" b="1" dirty="0">
                <a:solidFill>
                  <a:srgbClr val="4A2545"/>
                </a:solidFill>
                <a:latin typeface="Cambria" pitchFamily="34" charset="0"/>
                <a:ea typeface="Cambria" pitchFamily="34" charset="-122"/>
                <a:cs typeface="Cambria" pitchFamily="34" charset="-120"/>
              </a:rPr>
              <a:t>Amnesia</a:t>
            </a:r>
            <a:endParaRPr lang="en-US" sz="1450" dirty="0"/>
          </a:p>
        </p:txBody>
      </p:sp>
      <p:sp>
        <p:nvSpPr>
          <p:cNvPr id="13" name="Text 8"/>
          <p:cNvSpPr txBox="1"/>
          <p:nvPr/>
        </p:nvSpPr>
        <p:spPr>
          <a:xfrm>
            <a:off x="1170432" y="2578608"/>
            <a:ext cx="10353751" cy="566928"/>
          </a:xfrm>
          <a:prstGeom prst="rect">
            <a:avLst/>
          </a:prstGeom>
          <a:noFill/>
          <a:ln/>
        </p:spPr>
        <p:txBody>
          <a:bodyPr wrap="square" lIns="0" tIns="0" rIns="0" bIns="0" rtlCol="0" anchor="t"/>
          <a:lstStyle/>
          <a:p>
            <a:pPr indent="0" marL="0">
              <a:lnSpc>
                <a:spcPct val="105000"/>
              </a:lnSpc>
              <a:buNone/>
            </a:pPr>
            <a:r>
              <a:rPr lang="en-US" sz="1150" dirty="0">
                <a:solidFill>
                  <a:srgbClr val="3A2A35"/>
                </a:solidFill>
                <a:latin typeface="Calibri" pitchFamily="34" charset="0"/>
                <a:ea typeface="Calibri" pitchFamily="34" charset="-122"/>
                <a:cs typeface="Calibri" pitchFamily="34" charset="-120"/>
              </a:rPr>
              <a:t>Atenuar el recuerdo de eventos perioperatorios desagradables (útil en pediatría y cirugía ambulatoria).</a:t>
            </a:r>
            <a:endParaRPr lang="en-US" sz="1150" dirty="0"/>
          </a:p>
        </p:txBody>
      </p:sp>
      <p:sp>
        <p:nvSpPr>
          <p:cNvPr id="14" name="Shape 9"/>
          <p:cNvSpPr/>
          <p:nvPr/>
        </p:nvSpPr>
        <p:spPr>
          <a:xfrm>
            <a:off x="457200" y="3236976"/>
            <a:ext cx="512064" cy="512064"/>
          </a:xfrm>
          <a:prstGeom prst="ellipse">
            <a:avLst/>
          </a:prstGeom>
          <a:solidFill>
            <a:srgbClr val="4A2545"/>
          </a:solidFill>
          <a:ln/>
        </p:spPr>
      </p:sp>
      <p:pic>
        <p:nvPicPr>
          <p:cNvPr id="15" name="Image 3" descr="preencoded.png">    </p:cNvPr>
          <p:cNvPicPr>
            <a:picLocks noChangeAspect="1"/>
          </p:cNvPicPr>
          <p:nvPr/>
        </p:nvPicPr>
        <p:blipFill>
          <a:blip r:embed="rId4"/>
          <a:stretch>
            <a:fillRect/>
          </a:stretch>
        </p:blipFill>
        <p:spPr>
          <a:xfrm>
            <a:off x="564733" y="3344509"/>
            <a:ext cx="296997" cy="296997"/>
          </a:xfrm>
          <a:prstGeom prst="rect">
            <a:avLst/>
          </a:prstGeom>
        </p:spPr>
      </p:pic>
      <p:sp>
        <p:nvSpPr>
          <p:cNvPr id="16" name="Text 10"/>
          <p:cNvSpPr txBox="1"/>
          <p:nvPr/>
        </p:nvSpPr>
        <p:spPr>
          <a:xfrm>
            <a:off x="1170432" y="3182112"/>
            <a:ext cx="10353751" cy="310896"/>
          </a:xfrm>
          <a:prstGeom prst="rect">
            <a:avLst/>
          </a:prstGeom>
          <a:noFill/>
          <a:ln/>
        </p:spPr>
        <p:txBody>
          <a:bodyPr wrap="square" lIns="0" tIns="0" rIns="0" bIns="0" rtlCol="0" anchor="ctr"/>
          <a:lstStyle/>
          <a:p>
            <a:pPr indent="0" marL="0">
              <a:buNone/>
            </a:pPr>
            <a:r>
              <a:rPr lang="en-US" sz="1450" b="1" dirty="0">
                <a:solidFill>
                  <a:srgbClr val="4A2545"/>
                </a:solidFill>
                <a:latin typeface="Cambria" pitchFamily="34" charset="0"/>
                <a:ea typeface="Cambria" pitchFamily="34" charset="-122"/>
                <a:cs typeface="Cambria" pitchFamily="34" charset="-120"/>
              </a:rPr>
              <a:t>Analgesia</a:t>
            </a:r>
            <a:endParaRPr lang="en-US" sz="1450" dirty="0"/>
          </a:p>
        </p:txBody>
      </p:sp>
      <p:sp>
        <p:nvSpPr>
          <p:cNvPr id="17" name="Text 11"/>
          <p:cNvSpPr txBox="1"/>
          <p:nvPr/>
        </p:nvSpPr>
        <p:spPr>
          <a:xfrm>
            <a:off x="1170432" y="3474720"/>
            <a:ext cx="10353751" cy="566928"/>
          </a:xfrm>
          <a:prstGeom prst="rect">
            <a:avLst/>
          </a:prstGeom>
          <a:noFill/>
          <a:ln/>
        </p:spPr>
        <p:txBody>
          <a:bodyPr wrap="square" lIns="0" tIns="0" rIns="0" bIns="0" rtlCol="0" anchor="t"/>
          <a:lstStyle/>
          <a:p>
            <a:pPr indent="0" marL="0">
              <a:lnSpc>
                <a:spcPct val="105000"/>
              </a:lnSpc>
              <a:buNone/>
            </a:pPr>
            <a:r>
              <a:rPr lang="en-US" sz="1150" dirty="0">
                <a:solidFill>
                  <a:srgbClr val="3A2A35"/>
                </a:solidFill>
                <a:latin typeface="Calibri" pitchFamily="34" charset="0"/>
                <a:ea typeface="Calibri" pitchFamily="34" charset="-122"/>
                <a:cs typeface="Calibri" pitchFamily="34" charset="-120"/>
              </a:rPr>
              <a:t>Iniciar control del dolor preoperatorio y reducir requerimientos anestésicos (efecto ahorrador).</a:t>
            </a:r>
            <a:endParaRPr lang="en-US" sz="1150" dirty="0"/>
          </a:p>
        </p:txBody>
      </p:sp>
      <p:sp>
        <p:nvSpPr>
          <p:cNvPr id="18" name="Shape 12"/>
          <p:cNvSpPr/>
          <p:nvPr/>
        </p:nvSpPr>
        <p:spPr>
          <a:xfrm>
            <a:off x="457200" y="4270248"/>
            <a:ext cx="512064" cy="512064"/>
          </a:xfrm>
          <a:prstGeom prst="ellipse">
            <a:avLst/>
          </a:prstGeom>
          <a:solidFill>
            <a:srgbClr val="8E6C88"/>
          </a:solidFill>
          <a:ln/>
        </p:spPr>
      </p:sp>
      <p:pic>
        <p:nvPicPr>
          <p:cNvPr id="19" name="Image 4" descr="preencoded.png">    </p:cNvPr>
          <p:cNvPicPr>
            <a:picLocks noChangeAspect="1"/>
          </p:cNvPicPr>
          <p:nvPr/>
        </p:nvPicPr>
        <p:blipFill>
          <a:blip r:embed="rId5"/>
          <a:stretch>
            <a:fillRect/>
          </a:stretch>
        </p:blipFill>
        <p:spPr>
          <a:xfrm>
            <a:off x="564733" y="4377781"/>
            <a:ext cx="296997" cy="296997"/>
          </a:xfrm>
          <a:prstGeom prst="rect">
            <a:avLst/>
          </a:prstGeom>
        </p:spPr>
      </p:pic>
      <p:sp>
        <p:nvSpPr>
          <p:cNvPr id="20" name="Text 13"/>
          <p:cNvSpPr txBox="1"/>
          <p:nvPr/>
        </p:nvSpPr>
        <p:spPr>
          <a:xfrm>
            <a:off x="1170432" y="4215384"/>
            <a:ext cx="10353751" cy="310896"/>
          </a:xfrm>
          <a:prstGeom prst="rect">
            <a:avLst/>
          </a:prstGeom>
          <a:noFill/>
          <a:ln/>
        </p:spPr>
        <p:txBody>
          <a:bodyPr wrap="square" lIns="0" tIns="0" rIns="0" bIns="0" rtlCol="0" anchor="ctr"/>
          <a:lstStyle/>
          <a:p>
            <a:pPr indent="0" marL="0">
              <a:buNone/>
            </a:pPr>
            <a:r>
              <a:rPr lang="en-US" sz="1450" b="1" dirty="0">
                <a:solidFill>
                  <a:srgbClr val="4A2545"/>
                </a:solidFill>
                <a:latin typeface="Cambria" pitchFamily="34" charset="0"/>
                <a:ea typeface="Cambria" pitchFamily="34" charset="-122"/>
                <a:cs typeface="Cambria" pitchFamily="34" charset="-120"/>
              </a:rPr>
              <a:t>Prevención de reflejos vagales</a:t>
            </a:r>
            <a:endParaRPr lang="en-US" sz="1450" dirty="0"/>
          </a:p>
        </p:txBody>
      </p:sp>
      <p:sp>
        <p:nvSpPr>
          <p:cNvPr id="21" name="Text 14"/>
          <p:cNvSpPr txBox="1"/>
          <p:nvPr/>
        </p:nvSpPr>
        <p:spPr>
          <a:xfrm>
            <a:off x="1170432" y="4507992"/>
            <a:ext cx="10353751" cy="566928"/>
          </a:xfrm>
          <a:prstGeom prst="rect">
            <a:avLst/>
          </a:prstGeom>
          <a:noFill/>
          <a:ln/>
        </p:spPr>
        <p:txBody>
          <a:bodyPr wrap="square" lIns="0" tIns="0" rIns="0" bIns="0" rtlCol="0" anchor="t"/>
          <a:lstStyle/>
          <a:p>
            <a:pPr indent="0" marL="0">
              <a:lnSpc>
                <a:spcPct val="105000"/>
              </a:lnSpc>
              <a:buNone/>
            </a:pPr>
            <a:r>
              <a:rPr lang="en-US" sz="1150" dirty="0">
                <a:solidFill>
                  <a:srgbClr val="3A2A35"/>
                </a:solidFill>
                <a:latin typeface="Calibri" pitchFamily="34" charset="0"/>
                <a:ea typeface="Calibri" pitchFamily="34" charset="-122"/>
                <a:cs typeface="Calibri" pitchFamily="34" charset="-120"/>
              </a:rPr>
              <a:t>Atenuar bradicardia refleja ante laringoscopia, tracción visceral o estimulación vagal.</a:t>
            </a:r>
            <a:endParaRPr lang="en-US" sz="1150" dirty="0"/>
          </a:p>
        </p:txBody>
      </p:sp>
      <p:sp>
        <p:nvSpPr>
          <p:cNvPr id="22" name="Shape 15"/>
          <p:cNvSpPr/>
          <p:nvPr/>
        </p:nvSpPr>
        <p:spPr>
          <a:xfrm>
            <a:off x="457200" y="5166360"/>
            <a:ext cx="512064" cy="512064"/>
          </a:xfrm>
          <a:prstGeom prst="ellipse">
            <a:avLst/>
          </a:prstGeom>
          <a:solidFill>
            <a:srgbClr val="4A2545"/>
          </a:solidFill>
          <a:ln/>
        </p:spPr>
      </p:sp>
      <p:pic>
        <p:nvPicPr>
          <p:cNvPr id="23" name="Image 5" descr="preencoded.png">    </p:cNvPr>
          <p:cNvPicPr>
            <a:picLocks noChangeAspect="1"/>
          </p:cNvPicPr>
          <p:nvPr/>
        </p:nvPicPr>
        <p:blipFill>
          <a:blip r:embed="rId6"/>
          <a:stretch>
            <a:fillRect/>
          </a:stretch>
        </p:blipFill>
        <p:spPr>
          <a:xfrm>
            <a:off x="564733" y="5273893"/>
            <a:ext cx="296997" cy="296997"/>
          </a:xfrm>
          <a:prstGeom prst="rect">
            <a:avLst/>
          </a:prstGeom>
        </p:spPr>
      </p:pic>
      <p:sp>
        <p:nvSpPr>
          <p:cNvPr id="24" name="Text 16"/>
          <p:cNvSpPr txBox="1"/>
          <p:nvPr/>
        </p:nvSpPr>
        <p:spPr>
          <a:xfrm>
            <a:off x="1170432" y="5111496"/>
            <a:ext cx="10353751" cy="310896"/>
          </a:xfrm>
          <a:prstGeom prst="rect">
            <a:avLst/>
          </a:prstGeom>
          <a:noFill/>
          <a:ln/>
        </p:spPr>
        <p:txBody>
          <a:bodyPr wrap="square" lIns="0" tIns="0" rIns="0" bIns="0" rtlCol="0" anchor="ctr"/>
          <a:lstStyle/>
          <a:p>
            <a:pPr indent="0" marL="0">
              <a:buNone/>
            </a:pPr>
            <a:r>
              <a:rPr lang="en-US" sz="1450" b="1" dirty="0">
                <a:solidFill>
                  <a:srgbClr val="4A2545"/>
                </a:solidFill>
                <a:latin typeface="Cambria" pitchFamily="34" charset="0"/>
                <a:ea typeface="Cambria" pitchFamily="34" charset="-122"/>
                <a:cs typeface="Cambria" pitchFamily="34" charset="-120"/>
              </a:rPr>
              <a:t>Profilaxis de aspiración</a:t>
            </a:r>
            <a:endParaRPr lang="en-US" sz="1450" dirty="0"/>
          </a:p>
        </p:txBody>
      </p:sp>
      <p:sp>
        <p:nvSpPr>
          <p:cNvPr id="25" name="Text 17"/>
          <p:cNvSpPr txBox="1"/>
          <p:nvPr/>
        </p:nvSpPr>
        <p:spPr>
          <a:xfrm>
            <a:off x="1170432" y="5404104"/>
            <a:ext cx="10353751" cy="566928"/>
          </a:xfrm>
          <a:prstGeom prst="rect">
            <a:avLst/>
          </a:prstGeom>
          <a:noFill/>
          <a:ln/>
        </p:spPr>
        <p:txBody>
          <a:bodyPr wrap="square" lIns="0" tIns="0" rIns="0" bIns="0" rtlCol="0" anchor="t"/>
          <a:lstStyle/>
          <a:p>
            <a:pPr indent="0" marL="0">
              <a:lnSpc>
                <a:spcPct val="105000"/>
              </a:lnSpc>
              <a:buNone/>
            </a:pPr>
            <a:r>
              <a:rPr lang="en-US" sz="1150" dirty="0">
                <a:solidFill>
                  <a:srgbClr val="3A2A35"/>
                </a:solidFill>
                <a:latin typeface="Calibri" pitchFamily="34" charset="0"/>
                <a:ea typeface="Calibri" pitchFamily="34" charset="-122"/>
                <a:cs typeface="Calibri" pitchFamily="34" charset="-120"/>
              </a:rPr>
              <a:t>Disminuir volumen y acidez gástrica, y el riesgo de broncoaspiración del contenido gástrico.</a:t>
            </a:r>
            <a:endParaRPr lang="en-US" sz="1150" dirty="0"/>
          </a:p>
        </p:txBody>
      </p:sp>
      <p:sp>
        <p:nvSpPr>
          <p:cNvPr id="26" name="Text 18"/>
          <p:cNvSpPr txBox="1"/>
          <p:nvPr/>
        </p:nvSpPr>
        <p:spPr>
          <a:xfrm>
            <a:off x="457200" y="6473952"/>
            <a:ext cx="6400800" cy="292608"/>
          </a:xfrm>
          <a:prstGeom prst="rect">
            <a:avLst/>
          </a:prstGeom>
          <a:noFill/>
          <a:ln/>
        </p:spPr>
        <p:txBody>
          <a:bodyPr wrap="square" lIns="0" tIns="0" rIns="0" bIns="0" rtlCol="0" anchor="ctr"/>
          <a:lstStyle/>
          <a:p>
            <a:pPr indent="0" marL="0">
              <a:buNone/>
            </a:pPr>
            <a:r>
              <a:rPr lang="en-US" sz="900" i="1" dirty="0">
                <a:solidFill>
                  <a:srgbClr val="77606F"/>
                </a:solidFill>
                <a:latin typeface="Calibri" pitchFamily="34" charset="0"/>
                <a:ea typeface="Calibri" pitchFamily="34" charset="-122"/>
                <a:cs typeface="Calibri" pitchFamily="34" charset="-120"/>
              </a:rPr>
              <a:t>Capítulo IV — Premedicación</a:t>
            </a:r>
            <a:endParaRPr lang="en-US" sz="900" dirty="0"/>
          </a:p>
        </p:txBody>
      </p:sp>
      <p:sp>
        <p:nvSpPr>
          <p:cNvPr id="27" name="Text 19"/>
          <p:cNvSpPr txBox="1"/>
          <p:nvPr/>
        </p:nvSpPr>
        <p:spPr>
          <a:xfrm>
            <a:off x="10362895" y="6473952"/>
            <a:ext cx="1371600" cy="292608"/>
          </a:xfrm>
          <a:prstGeom prst="rect">
            <a:avLst/>
          </a:prstGeom>
          <a:noFill/>
          <a:ln/>
        </p:spPr>
        <p:txBody>
          <a:bodyPr wrap="square" lIns="0" tIns="0" rIns="0" bIns="0" rtlCol="0" anchor="ctr"/>
          <a:lstStyle/>
          <a:p>
            <a:pPr algn="r" indent="0" marL="0">
              <a:buNone/>
            </a:pPr>
            <a:r>
              <a:rPr lang="en-US" sz="900" dirty="0">
                <a:solidFill>
                  <a:srgbClr val="77606F"/>
                </a:solidFill>
                <a:latin typeface="Calibri" pitchFamily="34" charset="0"/>
                <a:ea typeface="Calibri" pitchFamily="34" charset="-122"/>
                <a:cs typeface="Calibri" pitchFamily="34" charset="-120"/>
              </a:rPr>
              <a:t>4 / 33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658368" cy="658368"/>
          </a:xfrm>
          <a:prstGeom prst="ellipse">
            <a:avLst/>
          </a:prstGeom>
          <a:solidFill>
            <a:srgbClr val="4A2545"/>
          </a:solidFill>
          <a:ln/>
        </p:spPr>
      </p:sp>
      <p:pic>
        <p:nvPicPr>
          <p:cNvPr id="3" name="Image 0" descr="preencoded.png">    </p:cNvPr>
          <p:cNvPicPr>
            <a:picLocks noChangeAspect="1"/>
          </p:cNvPicPr>
          <p:nvPr/>
        </p:nvPicPr>
        <p:blipFill>
          <a:blip r:embed="rId1"/>
          <a:stretch>
            <a:fillRect/>
          </a:stretch>
        </p:blipFill>
        <p:spPr>
          <a:xfrm>
            <a:off x="602041" y="556321"/>
            <a:ext cx="368686" cy="368686"/>
          </a:xfrm>
          <a:prstGeom prst="rect">
            <a:avLst/>
          </a:prstGeom>
        </p:spPr>
      </p:pic>
      <p:sp>
        <p:nvSpPr>
          <p:cNvPr id="4" name="Text 1"/>
          <p:cNvSpPr txBox="1"/>
          <p:nvPr/>
        </p:nvSpPr>
        <p:spPr>
          <a:xfrm>
            <a:off x="1298448" y="384048"/>
            <a:ext cx="9601200" cy="256032"/>
          </a:xfrm>
          <a:prstGeom prst="rect">
            <a:avLst/>
          </a:prstGeom>
          <a:noFill/>
          <a:ln/>
        </p:spPr>
        <p:txBody>
          <a:bodyPr wrap="square" lIns="0" tIns="0" rIns="0" bIns="0" rtlCol="0" anchor="ctr"/>
          <a:lstStyle/>
          <a:p>
            <a:pPr indent="0" marL="0">
              <a:buNone/>
            </a:pPr>
            <a:r>
              <a:rPr lang="en-US" sz="1150" b="1" spc="150" kern="0" dirty="0">
                <a:solidFill>
                  <a:srgbClr val="E0A458"/>
                </a:solidFill>
                <a:latin typeface="Calibri" pitchFamily="34" charset="0"/>
                <a:ea typeface="Calibri" pitchFamily="34" charset="-122"/>
                <a:cs typeface="Calibri" pitchFamily="34" charset="-120"/>
              </a:rPr>
              <a:t>FACTORES A CONSIDERAR</a:t>
            </a:r>
            <a:endParaRPr lang="en-US" sz="1150" dirty="0"/>
          </a:p>
        </p:txBody>
      </p:sp>
      <p:sp>
        <p:nvSpPr>
          <p:cNvPr id="5" name="Text 2"/>
          <p:cNvSpPr txBox="1"/>
          <p:nvPr/>
        </p:nvSpPr>
        <p:spPr>
          <a:xfrm>
            <a:off x="1298448" y="621792"/>
            <a:ext cx="10058400" cy="502920"/>
          </a:xfrm>
          <a:prstGeom prst="rect">
            <a:avLst/>
          </a:prstGeom>
          <a:noFill/>
          <a:ln/>
        </p:spPr>
        <p:txBody>
          <a:bodyPr wrap="square" lIns="0" tIns="0" rIns="0" bIns="0" rtlCol="0" anchor="ctr"/>
          <a:lstStyle/>
          <a:p>
            <a:pPr indent="0" marL="0">
              <a:buNone/>
            </a:pPr>
            <a:r>
              <a:rPr lang="en-US" sz="2500" b="1" dirty="0">
                <a:solidFill>
                  <a:srgbClr val="4A2545"/>
                </a:solidFill>
                <a:latin typeface="Cambria" pitchFamily="34" charset="0"/>
                <a:ea typeface="Cambria" pitchFamily="34" charset="-122"/>
                <a:cs typeface="Cambria" pitchFamily="34" charset="-120"/>
              </a:rPr>
              <a:t>Selección del fármaco premedicante</a:t>
            </a:r>
            <a:endParaRPr lang="en-US" sz="2500" dirty="0"/>
          </a:p>
        </p:txBody>
      </p:sp>
      <p:sp>
        <p:nvSpPr>
          <p:cNvPr id="6" name="Shape 3"/>
          <p:cNvSpPr/>
          <p:nvPr/>
        </p:nvSpPr>
        <p:spPr>
          <a:xfrm>
            <a:off x="457200" y="1417320"/>
            <a:ext cx="3588410" cy="2148840"/>
          </a:xfrm>
          <a:prstGeom prst="roundRect">
            <a:avLst>
              <a:gd name="adj" fmla="val 3404"/>
            </a:avLst>
          </a:prstGeom>
          <a:solidFill>
            <a:srgbClr val="F4EEF2"/>
          </a:solidFill>
          <a:ln/>
          <a:effectLst>
            <a:outerShdw sx="100000" sy="100000" kx="0" ky="0" algn="bl" rotWithShape="0" blurRad="76200" dist="25400" dir="5400000">
              <a:srgbClr val="2A1729">
                <a:alpha val="18000"/>
              </a:srgbClr>
            </a:outerShdw>
          </a:effectLst>
        </p:spPr>
      </p:sp>
      <p:sp>
        <p:nvSpPr>
          <p:cNvPr id="7" name="Shape 4"/>
          <p:cNvSpPr/>
          <p:nvPr/>
        </p:nvSpPr>
        <p:spPr>
          <a:xfrm>
            <a:off x="1977085" y="1600200"/>
            <a:ext cx="548640" cy="548640"/>
          </a:xfrm>
          <a:prstGeom prst="ellipse">
            <a:avLst/>
          </a:prstGeom>
          <a:solidFill>
            <a:srgbClr val="4A2545"/>
          </a:solidFill>
          <a:ln/>
        </p:spPr>
      </p:sp>
      <p:pic>
        <p:nvPicPr>
          <p:cNvPr id="8" name="Image 1" descr="preencoded.png">    </p:cNvPr>
          <p:cNvPicPr>
            <a:picLocks noChangeAspect="1"/>
          </p:cNvPicPr>
          <p:nvPr/>
        </p:nvPicPr>
        <p:blipFill>
          <a:blip r:embed="rId2"/>
          <a:stretch>
            <a:fillRect/>
          </a:stretch>
        </p:blipFill>
        <p:spPr>
          <a:xfrm>
            <a:off x="2097786" y="1720901"/>
            <a:ext cx="307238" cy="307238"/>
          </a:xfrm>
          <a:prstGeom prst="rect">
            <a:avLst/>
          </a:prstGeom>
        </p:spPr>
      </p:pic>
      <p:sp>
        <p:nvSpPr>
          <p:cNvPr id="9" name="Text 5"/>
          <p:cNvSpPr txBox="1"/>
          <p:nvPr/>
        </p:nvSpPr>
        <p:spPr>
          <a:xfrm>
            <a:off x="566928" y="2221992"/>
            <a:ext cx="3368954" cy="512064"/>
          </a:xfrm>
          <a:prstGeom prst="rect">
            <a:avLst/>
          </a:prstGeom>
          <a:noFill/>
          <a:ln/>
        </p:spPr>
        <p:txBody>
          <a:bodyPr wrap="square" lIns="0" tIns="0" rIns="0" bIns="0" rtlCol="0" anchor="t"/>
          <a:lstStyle/>
          <a:p>
            <a:pPr algn="ctr" indent="0" marL="0">
              <a:buNone/>
            </a:pPr>
            <a:r>
              <a:rPr lang="en-US" sz="1400" b="1" dirty="0">
                <a:solidFill>
                  <a:srgbClr val="4A2545"/>
                </a:solidFill>
                <a:latin typeface="Cambria" pitchFamily="34" charset="0"/>
                <a:ea typeface="Cambria" pitchFamily="34" charset="-122"/>
                <a:cs typeface="Cambria" pitchFamily="34" charset="-120"/>
              </a:rPr>
              <a:t>Edad</a:t>
            </a:r>
            <a:endParaRPr lang="en-US" sz="1400" dirty="0"/>
          </a:p>
        </p:txBody>
      </p:sp>
      <p:sp>
        <p:nvSpPr>
          <p:cNvPr id="10" name="Text 6"/>
          <p:cNvSpPr txBox="1"/>
          <p:nvPr/>
        </p:nvSpPr>
        <p:spPr>
          <a:xfrm>
            <a:off x="621792" y="2770632"/>
            <a:ext cx="3259226" cy="704088"/>
          </a:xfrm>
          <a:prstGeom prst="rect">
            <a:avLst/>
          </a:prstGeom>
          <a:noFill/>
          <a:ln/>
        </p:spPr>
        <p:txBody>
          <a:bodyPr wrap="square" lIns="0" tIns="0" rIns="0" bIns="0" rtlCol="0" anchor="t"/>
          <a:lstStyle/>
          <a:p>
            <a:pPr algn="ctr" indent="0" marL="0">
              <a:lnSpc>
                <a:spcPct val="105000"/>
              </a:lnSpc>
              <a:buNone/>
            </a:pPr>
            <a:r>
              <a:rPr lang="en-US" sz="1050" dirty="0">
                <a:solidFill>
                  <a:srgbClr val="3A2A35"/>
                </a:solidFill>
                <a:latin typeface="Calibri" pitchFamily="34" charset="0"/>
                <a:ea typeface="Calibri" pitchFamily="34" charset="-122"/>
                <a:cs typeface="Calibri" pitchFamily="34" charset="-120"/>
              </a:rPr>
              <a:t>Neonatos y adultos mayores requieren dosis reducidas por farmacocinética alterada y mayor sensibilidad del SNC.</a:t>
            </a:r>
            <a:endParaRPr lang="en-US" sz="1050" dirty="0"/>
          </a:p>
        </p:txBody>
      </p:sp>
      <p:sp>
        <p:nvSpPr>
          <p:cNvPr id="11" name="Shape 7"/>
          <p:cNvSpPr/>
          <p:nvPr/>
        </p:nvSpPr>
        <p:spPr>
          <a:xfrm>
            <a:off x="4301642" y="1417320"/>
            <a:ext cx="3588410" cy="2148840"/>
          </a:xfrm>
          <a:prstGeom prst="roundRect">
            <a:avLst>
              <a:gd name="adj" fmla="val 3404"/>
            </a:avLst>
          </a:prstGeom>
          <a:solidFill>
            <a:srgbClr val="F4EEF2"/>
          </a:solidFill>
          <a:ln/>
          <a:effectLst>
            <a:outerShdw sx="100000" sy="100000" kx="0" ky="0" algn="bl" rotWithShape="0" blurRad="76200" dist="25400" dir="5400000">
              <a:srgbClr val="2A1729">
                <a:alpha val="18000"/>
              </a:srgbClr>
            </a:outerShdw>
          </a:effectLst>
        </p:spPr>
      </p:sp>
      <p:sp>
        <p:nvSpPr>
          <p:cNvPr id="12" name="Shape 8"/>
          <p:cNvSpPr/>
          <p:nvPr/>
        </p:nvSpPr>
        <p:spPr>
          <a:xfrm>
            <a:off x="5821528" y="1600200"/>
            <a:ext cx="548640" cy="548640"/>
          </a:xfrm>
          <a:prstGeom prst="ellipse">
            <a:avLst/>
          </a:prstGeom>
          <a:solidFill>
            <a:srgbClr val="8E6C88"/>
          </a:solidFill>
          <a:ln/>
        </p:spPr>
      </p:sp>
      <p:pic>
        <p:nvPicPr>
          <p:cNvPr id="13" name="Image 2" descr="preencoded.png">    </p:cNvPr>
          <p:cNvPicPr>
            <a:picLocks noChangeAspect="1"/>
          </p:cNvPicPr>
          <p:nvPr/>
        </p:nvPicPr>
        <p:blipFill>
          <a:blip r:embed="rId3"/>
          <a:stretch>
            <a:fillRect/>
          </a:stretch>
        </p:blipFill>
        <p:spPr>
          <a:xfrm>
            <a:off x="5942228" y="1720901"/>
            <a:ext cx="307238" cy="307238"/>
          </a:xfrm>
          <a:prstGeom prst="rect">
            <a:avLst/>
          </a:prstGeom>
        </p:spPr>
      </p:pic>
      <p:sp>
        <p:nvSpPr>
          <p:cNvPr id="14" name="Text 9"/>
          <p:cNvSpPr txBox="1"/>
          <p:nvPr/>
        </p:nvSpPr>
        <p:spPr>
          <a:xfrm>
            <a:off x="4411370" y="2221992"/>
            <a:ext cx="3368954" cy="512064"/>
          </a:xfrm>
          <a:prstGeom prst="rect">
            <a:avLst/>
          </a:prstGeom>
          <a:noFill/>
          <a:ln/>
        </p:spPr>
        <p:txBody>
          <a:bodyPr wrap="square" lIns="0" tIns="0" rIns="0" bIns="0" rtlCol="0" anchor="t"/>
          <a:lstStyle/>
          <a:p>
            <a:pPr algn="ctr" indent="0" marL="0">
              <a:buNone/>
            </a:pPr>
            <a:r>
              <a:rPr lang="en-US" sz="1400" b="1" dirty="0">
                <a:solidFill>
                  <a:srgbClr val="4A2545"/>
                </a:solidFill>
                <a:latin typeface="Cambria" pitchFamily="34" charset="0"/>
                <a:ea typeface="Cambria" pitchFamily="34" charset="-122"/>
                <a:cs typeface="Cambria" pitchFamily="34" charset="-120"/>
              </a:rPr>
              <a:t>Comorbilidad</a:t>
            </a:r>
            <a:endParaRPr lang="en-US" sz="1400" dirty="0"/>
          </a:p>
        </p:txBody>
      </p:sp>
      <p:sp>
        <p:nvSpPr>
          <p:cNvPr id="15" name="Text 10"/>
          <p:cNvSpPr txBox="1"/>
          <p:nvPr/>
        </p:nvSpPr>
        <p:spPr>
          <a:xfrm>
            <a:off x="4466234" y="2770632"/>
            <a:ext cx="3259226" cy="704088"/>
          </a:xfrm>
          <a:prstGeom prst="rect">
            <a:avLst/>
          </a:prstGeom>
          <a:noFill/>
          <a:ln/>
        </p:spPr>
        <p:txBody>
          <a:bodyPr wrap="square" lIns="0" tIns="0" rIns="0" bIns="0" rtlCol="0" anchor="t"/>
          <a:lstStyle/>
          <a:p>
            <a:pPr algn="ctr" indent="0" marL="0">
              <a:lnSpc>
                <a:spcPct val="105000"/>
              </a:lnSpc>
              <a:buNone/>
            </a:pPr>
            <a:r>
              <a:rPr lang="en-US" sz="1050" dirty="0">
                <a:solidFill>
                  <a:srgbClr val="3A2A35"/>
                </a:solidFill>
                <a:latin typeface="Calibri" pitchFamily="34" charset="0"/>
                <a:ea typeface="Calibri" pitchFamily="34" charset="-122"/>
                <a:cs typeface="Calibri" pitchFamily="34" charset="-120"/>
              </a:rPr>
              <a:t>EPOC, apnea del sueño, hepatopatía o insuficiencia renal condicionan el fármaco y la dosis.</a:t>
            </a:r>
            <a:endParaRPr lang="en-US" sz="1050" dirty="0"/>
          </a:p>
        </p:txBody>
      </p:sp>
      <p:sp>
        <p:nvSpPr>
          <p:cNvPr id="16" name="Shape 11"/>
          <p:cNvSpPr/>
          <p:nvPr/>
        </p:nvSpPr>
        <p:spPr>
          <a:xfrm>
            <a:off x="8146085" y="1417320"/>
            <a:ext cx="3588410" cy="2148840"/>
          </a:xfrm>
          <a:prstGeom prst="roundRect">
            <a:avLst>
              <a:gd name="adj" fmla="val 3404"/>
            </a:avLst>
          </a:prstGeom>
          <a:solidFill>
            <a:srgbClr val="F4EEF2"/>
          </a:solidFill>
          <a:ln/>
          <a:effectLst>
            <a:outerShdw sx="100000" sy="100000" kx="0" ky="0" algn="bl" rotWithShape="0" blurRad="76200" dist="25400" dir="5400000">
              <a:srgbClr val="2A1729">
                <a:alpha val="18000"/>
              </a:srgbClr>
            </a:outerShdw>
          </a:effectLst>
        </p:spPr>
      </p:sp>
      <p:sp>
        <p:nvSpPr>
          <p:cNvPr id="17" name="Shape 12"/>
          <p:cNvSpPr/>
          <p:nvPr/>
        </p:nvSpPr>
        <p:spPr>
          <a:xfrm>
            <a:off x="9665970" y="1600200"/>
            <a:ext cx="548640" cy="548640"/>
          </a:xfrm>
          <a:prstGeom prst="ellipse">
            <a:avLst/>
          </a:prstGeom>
          <a:solidFill>
            <a:srgbClr val="4A2545"/>
          </a:solidFill>
          <a:ln/>
        </p:spPr>
      </p:sp>
      <p:pic>
        <p:nvPicPr>
          <p:cNvPr id="18" name="Image 3" descr="preencoded.png">    </p:cNvPr>
          <p:cNvPicPr>
            <a:picLocks noChangeAspect="1"/>
          </p:cNvPicPr>
          <p:nvPr/>
        </p:nvPicPr>
        <p:blipFill>
          <a:blip r:embed="rId4"/>
          <a:stretch>
            <a:fillRect/>
          </a:stretch>
        </p:blipFill>
        <p:spPr>
          <a:xfrm>
            <a:off x="9786671" y="1720901"/>
            <a:ext cx="307238" cy="307238"/>
          </a:xfrm>
          <a:prstGeom prst="rect">
            <a:avLst/>
          </a:prstGeom>
        </p:spPr>
      </p:pic>
      <p:sp>
        <p:nvSpPr>
          <p:cNvPr id="19" name="Text 13"/>
          <p:cNvSpPr txBox="1"/>
          <p:nvPr/>
        </p:nvSpPr>
        <p:spPr>
          <a:xfrm>
            <a:off x="8255813" y="2221992"/>
            <a:ext cx="3368954" cy="512064"/>
          </a:xfrm>
          <a:prstGeom prst="rect">
            <a:avLst/>
          </a:prstGeom>
          <a:noFill/>
          <a:ln/>
        </p:spPr>
        <p:txBody>
          <a:bodyPr wrap="square" lIns="0" tIns="0" rIns="0" bIns="0" rtlCol="0" anchor="t"/>
          <a:lstStyle/>
          <a:p>
            <a:pPr algn="ctr" indent="0" marL="0">
              <a:buNone/>
            </a:pPr>
            <a:r>
              <a:rPr lang="en-US" sz="1400" b="1" dirty="0">
                <a:solidFill>
                  <a:srgbClr val="4A2545"/>
                </a:solidFill>
                <a:latin typeface="Cambria" pitchFamily="34" charset="0"/>
                <a:ea typeface="Cambria" pitchFamily="34" charset="-122"/>
                <a:cs typeface="Cambria" pitchFamily="34" charset="-120"/>
              </a:rPr>
              <a:t>Tipo de cirugía</a:t>
            </a:r>
            <a:endParaRPr lang="en-US" sz="1400" dirty="0"/>
          </a:p>
        </p:txBody>
      </p:sp>
      <p:sp>
        <p:nvSpPr>
          <p:cNvPr id="20" name="Text 14"/>
          <p:cNvSpPr txBox="1"/>
          <p:nvPr/>
        </p:nvSpPr>
        <p:spPr>
          <a:xfrm>
            <a:off x="8310677" y="2770632"/>
            <a:ext cx="3259226" cy="704088"/>
          </a:xfrm>
          <a:prstGeom prst="rect">
            <a:avLst/>
          </a:prstGeom>
          <a:noFill/>
          <a:ln/>
        </p:spPr>
        <p:txBody>
          <a:bodyPr wrap="square" lIns="0" tIns="0" rIns="0" bIns="0" rtlCol="0" anchor="t"/>
          <a:lstStyle/>
          <a:p>
            <a:pPr algn="ctr" indent="0" marL="0">
              <a:lnSpc>
                <a:spcPct val="105000"/>
              </a:lnSpc>
              <a:buNone/>
            </a:pPr>
            <a:r>
              <a:rPr lang="en-US" sz="1050" dirty="0">
                <a:solidFill>
                  <a:srgbClr val="3A2A35"/>
                </a:solidFill>
                <a:latin typeface="Calibri" pitchFamily="34" charset="0"/>
                <a:ea typeface="Calibri" pitchFamily="34" charset="-122"/>
                <a:cs typeface="Calibri" pitchFamily="34" charset="-120"/>
              </a:rPr>
              <a:t>Cirugía ambulatoria favorece fármacos de acción corta; cirugía mayor permite esquemas más sedantes.</a:t>
            </a:r>
            <a:endParaRPr lang="en-US" sz="1050" dirty="0"/>
          </a:p>
        </p:txBody>
      </p:sp>
      <p:sp>
        <p:nvSpPr>
          <p:cNvPr id="21" name="Shape 15"/>
          <p:cNvSpPr/>
          <p:nvPr/>
        </p:nvSpPr>
        <p:spPr>
          <a:xfrm>
            <a:off x="457200" y="3822192"/>
            <a:ext cx="3588410" cy="2148840"/>
          </a:xfrm>
          <a:prstGeom prst="roundRect">
            <a:avLst>
              <a:gd name="adj" fmla="val 3404"/>
            </a:avLst>
          </a:prstGeom>
          <a:solidFill>
            <a:srgbClr val="F4EEF2"/>
          </a:solidFill>
          <a:ln/>
          <a:effectLst>
            <a:outerShdw sx="100000" sy="100000" kx="0" ky="0" algn="bl" rotWithShape="0" blurRad="76200" dist="25400" dir="5400000">
              <a:srgbClr val="2A1729">
                <a:alpha val="18000"/>
              </a:srgbClr>
            </a:outerShdw>
          </a:effectLst>
        </p:spPr>
      </p:sp>
      <p:sp>
        <p:nvSpPr>
          <p:cNvPr id="22" name="Shape 16"/>
          <p:cNvSpPr/>
          <p:nvPr/>
        </p:nvSpPr>
        <p:spPr>
          <a:xfrm>
            <a:off x="1977085" y="4005072"/>
            <a:ext cx="548640" cy="548640"/>
          </a:xfrm>
          <a:prstGeom prst="ellipse">
            <a:avLst/>
          </a:prstGeom>
          <a:solidFill>
            <a:srgbClr val="8E6C88"/>
          </a:solidFill>
          <a:ln/>
        </p:spPr>
      </p:sp>
      <p:pic>
        <p:nvPicPr>
          <p:cNvPr id="23" name="Image 4" descr="preencoded.png">    </p:cNvPr>
          <p:cNvPicPr>
            <a:picLocks noChangeAspect="1"/>
          </p:cNvPicPr>
          <p:nvPr/>
        </p:nvPicPr>
        <p:blipFill>
          <a:blip r:embed="rId5"/>
          <a:stretch>
            <a:fillRect/>
          </a:stretch>
        </p:blipFill>
        <p:spPr>
          <a:xfrm>
            <a:off x="2097786" y="4125773"/>
            <a:ext cx="307238" cy="307238"/>
          </a:xfrm>
          <a:prstGeom prst="rect">
            <a:avLst/>
          </a:prstGeom>
        </p:spPr>
      </p:pic>
      <p:sp>
        <p:nvSpPr>
          <p:cNvPr id="24" name="Text 17"/>
          <p:cNvSpPr txBox="1"/>
          <p:nvPr/>
        </p:nvSpPr>
        <p:spPr>
          <a:xfrm>
            <a:off x="566928" y="4626864"/>
            <a:ext cx="3368954" cy="512064"/>
          </a:xfrm>
          <a:prstGeom prst="rect">
            <a:avLst/>
          </a:prstGeom>
          <a:noFill/>
          <a:ln/>
        </p:spPr>
        <p:txBody>
          <a:bodyPr wrap="square" lIns="0" tIns="0" rIns="0" bIns="0" rtlCol="0" anchor="t"/>
          <a:lstStyle/>
          <a:p>
            <a:pPr algn="ctr" indent="0" marL="0">
              <a:buNone/>
            </a:pPr>
            <a:r>
              <a:rPr lang="en-US" sz="1400" b="1" dirty="0">
                <a:solidFill>
                  <a:srgbClr val="4A2545"/>
                </a:solidFill>
                <a:latin typeface="Cambria" pitchFamily="34" charset="0"/>
                <a:ea typeface="Cambria" pitchFamily="34" charset="-122"/>
                <a:cs typeface="Cambria" pitchFamily="34" charset="-120"/>
              </a:rPr>
              <a:t>Vía de administración</a:t>
            </a:r>
            <a:endParaRPr lang="en-US" sz="1400" dirty="0"/>
          </a:p>
        </p:txBody>
      </p:sp>
      <p:sp>
        <p:nvSpPr>
          <p:cNvPr id="25" name="Text 18"/>
          <p:cNvSpPr txBox="1"/>
          <p:nvPr/>
        </p:nvSpPr>
        <p:spPr>
          <a:xfrm>
            <a:off x="621792" y="5175504"/>
            <a:ext cx="3259226" cy="704088"/>
          </a:xfrm>
          <a:prstGeom prst="rect">
            <a:avLst/>
          </a:prstGeom>
          <a:noFill/>
          <a:ln/>
        </p:spPr>
        <p:txBody>
          <a:bodyPr wrap="square" lIns="0" tIns="0" rIns="0" bIns="0" rtlCol="0" anchor="t"/>
          <a:lstStyle/>
          <a:p>
            <a:pPr algn="ctr" indent="0" marL="0">
              <a:lnSpc>
                <a:spcPct val="105000"/>
              </a:lnSpc>
              <a:buNone/>
            </a:pPr>
            <a:r>
              <a:rPr lang="en-US" sz="1050" dirty="0">
                <a:solidFill>
                  <a:srgbClr val="3A2A35"/>
                </a:solidFill>
                <a:latin typeface="Calibri" pitchFamily="34" charset="0"/>
                <a:ea typeface="Calibri" pitchFamily="34" charset="-122"/>
                <a:cs typeface="Calibri" pitchFamily="34" charset="-120"/>
              </a:rPr>
              <a:t>Disponibilidad de acceso IV, cooperación del paciente y tiempo hasta la cirugía determinan la vía.</a:t>
            </a:r>
            <a:endParaRPr lang="en-US" sz="1050" dirty="0"/>
          </a:p>
        </p:txBody>
      </p:sp>
      <p:sp>
        <p:nvSpPr>
          <p:cNvPr id="26" name="Shape 19"/>
          <p:cNvSpPr/>
          <p:nvPr/>
        </p:nvSpPr>
        <p:spPr>
          <a:xfrm>
            <a:off x="4301642" y="3822192"/>
            <a:ext cx="3588410" cy="2148840"/>
          </a:xfrm>
          <a:prstGeom prst="roundRect">
            <a:avLst>
              <a:gd name="adj" fmla="val 3404"/>
            </a:avLst>
          </a:prstGeom>
          <a:solidFill>
            <a:srgbClr val="F4EEF2"/>
          </a:solidFill>
          <a:ln/>
          <a:effectLst>
            <a:outerShdw sx="100000" sy="100000" kx="0" ky="0" algn="bl" rotWithShape="0" blurRad="76200" dist="25400" dir="5400000">
              <a:srgbClr val="2A1729">
                <a:alpha val="18000"/>
              </a:srgbClr>
            </a:outerShdw>
          </a:effectLst>
        </p:spPr>
      </p:sp>
      <p:sp>
        <p:nvSpPr>
          <p:cNvPr id="27" name="Shape 20"/>
          <p:cNvSpPr/>
          <p:nvPr/>
        </p:nvSpPr>
        <p:spPr>
          <a:xfrm>
            <a:off x="5821528" y="4005072"/>
            <a:ext cx="548640" cy="548640"/>
          </a:xfrm>
          <a:prstGeom prst="ellipse">
            <a:avLst/>
          </a:prstGeom>
          <a:solidFill>
            <a:srgbClr val="4A2545"/>
          </a:solidFill>
          <a:ln/>
        </p:spPr>
      </p:sp>
      <p:pic>
        <p:nvPicPr>
          <p:cNvPr id="28" name="Image 5" descr="preencoded.png">    </p:cNvPr>
          <p:cNvPicPr>
            <a:picLocks noChangeAspect="1"/>
          </p:cNvPicPr>
          <p:nvPr/>
        </p:nvPicPr>
        <p:blipFill>
          <a:blip r:embed="rId6"/>
          <a:stretch>
            <a:fillRect/>
          </a:stretch>
        </p:blipFill>
        <p:spPr>
          <a:xfrm>
            <a:off x="5942228" y="4125773"/>
            <a:ext cx="307238" cy="307238"/>
          </a:xfrm>
          <a:prstGeom prst="rect">
            <a:avLst/>
          </a:prstGeom>
        </p:spPr>
      </p:pic>
      <p:sp>
        <p:nvSpPr>
          <p:cNvPr id="29" name="Text 21"/>
          <p:cNvSpPr txBox="1"/>
          <p:nvPr/>
        </p:nvSpPr>
        <p:spPr>
          <a:xfrm>
            <a:off x="4411370" y="4626864"/>
            <a:ext cx="3368954" cy="512064"/>
          </a:xfrm>
          <a:prstGeom prst="rect">
            <a:avLst/>
          </a:prstGeom>
          <a:noFill/>
          <a:ln/>
        </p:spPr>
        <p:txBody>
          <a:bodyPr wrap="square" lIns="0" tIns="0" rIns="0" bIns="0" rtlCol="0" anchor="t"/>
          <a:lstStyle/>
          <a:p>
            <a:pPr algn="ctr" indent="0" marL="0">
              <a:buNone/>
            </a:pPr>
            <a:r>
              <a:rPr lang="en-US" sz="1400" b="1" dirty="0">
                <a:solidFill>
                  <a:srgbClr val="4A2545"/>
                </a:solidFill>
                <a:latin typeface="Cambria" pitchFamily="34" charset="0"/>
                <a:ea typeface="Cambria" pitchFamily="34" charset="-122"/>
                <a:cs typeface="Cambria" pitchFamily="34" charset="-120"/>
              </a:rPr>
              <a:t>Tiempo disponible</a:t>
            </a:r>
            <a:endParaRPr lang="en-US" sz="1400" dirty="0"/>
          </a:p>
        </p:txBody>
      </p:sp>
      <p:sp>
        <p:nvSpPr>
          <p:cNvPr id="30" name="Text 22"/>
          <p:cNvSpPr txBox="1"/>
          <p:nvPr/>
        </p:nvSpPr>
        <p:spPr>
          <a:xfrm>
            <a:off x="4466234" y="5175504"/>
            <a:ext cx="3259226" cy="704088"/>
          </a:xfrm>
          <a:prstGeom prst="rect">
            <a:avLst/>
          </a:prstGeom>
          <a:noFill/>
          <a:ln/>
        </p:spPr>
        <p:txBody>
          <a:bodyPr wrap="square" lIns="0" tIns="0" rIns="0" bIns="0" rtlCol="0" anchor="t"/>
          <a:lstStyle/>
          <a:p>
            <a:pPr algn="ctr" indent="0" marL="0">
              <a:lnSpc>
                <a:spcPct val="105000"/>
              </a:lnSpc>
              <a:buNone/>
            </a:pPr>
            <a:r>
              <a:rPr lang="en-US" sz="1050" dirty="0">
                <a:solidFill>
                  <a:srgbClr val="3A2A35"/>
                </a:solidFill>
                <a:latin typeface="Calibri" pitchFamily="34" charset="0"/>
                <a:ea typeface="Calibri" pitchFamily="34" charset="-122"/>
                <a:cs typeface="Calibri" pitchFamily="34" charset="-120"/>
              </a:rPr>
              <a:t>El intervalo entre la premedicación y la inducción debe permitir el inicio de acción del fármaco elegido.</a:t>
            </a:r>
            <a:endParaRPr lang="en-US" sz="1050" dirty="0"/>
          </a:p>
        </p:txBody>
      </p:sp>
      <p:sp>
        <p:nvSpPr>
          <p:cNvPr id="31" name="Shape 23"/>
          <p:cNvSpPr/>
          <p:nvPr/>
        </p:nvSpPr>
        <p:spPr>
          <a:xfrm>
            <a:off x="8146085" y="3822192"/>
            <a:ext cx="3588410" cy="2148840"/>
          </a:xfrm>
          <a:prstGeom prst="roundRect">
            <a:avLst>
              <a:gd name="adj" fmla="val 3404"/>
            </a:avLst>
          </a:prstGeom>
          <a:solidFill>
            <a:srgbClr val="F4EEF2"/>
          </a:solidFill>
          <a:ln/>
          <a:effectLst>
            <a:outerShdw sx="100000" sy="100000" kx="0" ky="0" algn="bl" rotWithShape="0" blurRad="76200" dist="25400" dir="5400000">
              <a:srgbClr val="2A1729">
                <a:alpha val="18000"/>
              </a:srgbClr>
            </a:outerShdw>
          </a:effectLst>
        </p:spPr>
      </p:sp>
      <p:sp>
        <p:nvSpPr>
          <p:cNvPr id="32" name="Shape 24"/>
          <p:cNvSpPr/>
          <p:nvPr/>
        </p:nvSpPr>
        <p:spPr>
          <a:xfrm>
            <a:off x="9665970" y="4005072"/>
            <a:ext cx="548640" cy="548640"/>
          </a:xfrm>
          <a:prstGeom prst="ellipse">
            <a:avLst/>
          </a:prstGeom>
          <a:solidFill>
            <a:srgbClr val="8E6C88"/>
          </a:solidFill>
          <a:ln/>
        </p:spPr>
      </p:sp>
      <p:pic>
        <p:nvPicPr>
          <p:cNvPr id="33" name="Image 6" descr="preencoded.png">    </p:cNvPr>
          <p:cNvPicPr>
            <a:picLocks noChangeAspect="1"/>
          </p:cNvPicPr>
          <p:nvPr/>
        </p:nvPicPr>
        <p:blipFill>
          <a:blip r:embed="rId7"/>
          <a:stretch>
            <a:fillRect/>
          </a:stretch>
        </p:blipFill>
        <p:spPr>
          <a:xfrm>
            <a:off x="9786671" y="4125773"/>
            <a:ext cx="307238" cy="307238"/>
          </a:xfrm>
          <a:prstGeom prst="rect">
            <a:avLst/>
          </a:prstGeom>
        </p:spPr>
      </p:pic>
      <p:sp>
        <p:nvSpPr>
          <p:cNvPr id="34" name="Text 25"/>
          <p:cNvSpPr txBox="1"/>
          <p:nvPr/>
        </p:nvSpPr>
        <p:spPr>
          <a:xfrm>
            <a:off x="8255813" y="4626864"/>
            <a:ext cx="3368954" cy="512064"/>
          </a:xfrm>
          <a:prstGeom prst="rect">
            <a:avLst/>
          </a:prstGeom>
          <a:noFill/>
          <a:ln/>
        </p:spPr>
        <p:txBody>
          <a:bodyPr wrap="square" lIns="0" tIns="0" rIns="0" bIns="0" rtlCol="0" anchor="t"/>
          <a:lstStyle/>
          <a:p>
            <a:pPr algn="ctr" indent="0" marL="0">
              <a:buNone/>
            </a:pPr>
            <a:r>
              <a:rPr lang="en-US" sz="1400" b="1" dirty="0">
                <a:solidFill>
                  <a:srgbClr val="4A2545"/>
                </a:solidFill>
                <a:latin typeface="Cambria" pitchFamily="34" charset="0"/>
                <a:ea typeface="Cambria" pitchFamily="34" charset="-122"/>
                <a:cs typeface="Cambria" pitchFamily="34" charset="-120"/>
              </a:rPr>
              <a:t>Preferencia y experiencia previa</a:t>
            </a:r>
            <a:endParaRPr lang="en-US" sz="1400" dirty="0"/>
          </a:p>
        </p:txBody>
      </p:sp>
      <p:sp>
        <p:nvSpPr>
          <p:cNvPr id="35" name="Text 26"/>
          <p:cNvSpPr txBox="1"/>
          <p:nvPr/>
        </p:nvSpPr>
        <p:spPr>
          <a:xfrm>
            <a:off x="8310677" y="5175504"/>
            <a:ext cx="3259226" cy="704088"/>
          </a:xfrm>
          <a:prstGeom prst="rect">
            <a:avLst/>
          </a:prstGeom>
          <a:noFill/>
          <a:ln/>
        </p:spPr>
        <p:txBody>
          <a:bodyPr wrap="square" lIns="0" tIns="0" rIns="0" bIns="0" rtlCol="0" anchor="t"/>
          <a:lstStyle/>
          <a:p>
            <a:pPr algn="ctr" indent="0" marL="0">
              <a:lnSpc>
                <a:spcPct val="105000"/>
              </a:lnSpc>
              <a:buNone/>
            </a:pPr>
            <a:r>
              <a:rPr lang="en-US" sz="1050" dirty="0">
                <a:solidFill>
                  <a:srgbClr val="3A2A35"/>
                </a:solidFill>
                <a:latin typeface="Calibri" pitchFamily="34" charset="0"/>
                <a:ea typeface="Calibri" pitchFamily="34" charset="-122"/>
                <a:cs typeface="Calibri" pitchFamily="34" charset="-120"/>
              </a:rPr>
              <a:t>Ansiedad basal, cirugías previas y reacciones adversas conocidas orientan la elección individual.</a:t>
            </a:r>
            <a:endParaRPr lang="en-US" sz="1050" dirty="0"/>
          </a:p>
        </p:txBody>
      </p:sp>
      <p:sp>
        <p:nvSpPr>
          <p:cNvPr id="36" name="Text 27"/>
          <p:cNvSpPr txBox="1"/>
          <p:nvPr/>
        </p:nvSpPr>
        <p:spPr>
          <a:xfrm>
            <a:off x="457200" y="6473952"/>
            <a:ext cx="6400800" cy="292608"/>
          </a:xfrm>
          <a:prstGeom prst="rect">
            <a:avLst/>
          </a:prstGeom>
          <a:noFill/>
          <a:ln/>
        </p:spPr>
        <p:txBody>
          <a:bodyPr wrap="square" lIns="0" tIns="0" rIns="0" bIns="0" rtlCol="0" anchor="ctr"/>
          <a:lstStyle/>
          <a:p>
            <a:pPr indent="0" marL="0">
              <a:buNone/>
            </a:pPr>
            <a:r>
              <a:rPr lang="en-US" sz="900" i="1" dirty="0">
                <a:solidFill>
                  <a:srgbClr val="77606F"/>
                </a:solidFill>
                <a:latin typeface="Calibri" pitchFamily="34" charset="0"/>
                <a:ea typeface="Calibri" pitchFamily="34" charset="-122"/>
                <a:cs typeface="Calibri" pitchFamily="34" charset="-120"/>
              </a:rPr>
              <a:t>Capítulo IV — Premedicación</a:t>
            </a:r>
            <a:endParaRPr lang="en-US" sz="900" dirty="0"/>
          </a:p>
        </p:txBody>
      </p:sp>
      <p:sp>
        <p:nvSpPr>
          <p:cNvPr id="37" name="Text 28"/>
          <p:cNvSpPr txBox="1"/>
          <p:nvPr/>
        </p:nvSpPr>
        <p:spPr>
          <a:xfrm>
            <a:off x="10362895" y="6473952"/>
            <a:ext cx="1371600" cy="292608"/>
          </a:xfrm>
          <a:prstGeom prst="rect">
            <a:avLst/>
          </a:prstGeom>
          <a:noFill/>
          <a:ln/>
        </p:spPr>
        <p:txBody>
          <a:bodyPr wrap="square" lIns="0" tIns="0" rIns="0" bIns="0" rtlCol="0" anchor="ctr"/>
          <a:lstStyle/>
          <a:p>
            <a:pPr algn="r" indent="0" marL="0">
              <a:buNone/>
            </a:pPr>
            <a:r>
              <a:rPr lang="en-US" sz="900" dirty="0">
                <a:solidFill>
                  <a:srgbClr val="77606F"/>
                </a:solidFill>
                <a:latin typeface="Calibri" pitchFamily="34" charset="0"/>
                <a:ea typeface="Calibri" pitchFamily="34" charset="-122"/>
                <a:cs typeface="Calibri" pitchFamily="34" charset="-120"/>
              </a:rPr>
              <a:t>5 / 33</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658368" cy="658368"/>
          </a:xfrm>
          <a:prstGeom prst="ellipse">
            <a:avLst/>
          </a:prstGeom>
          <a:solidFill>
            <a:srgbClr val="4A2545"/>
          </a:solidFill>
          <a:ln/>
        </p:spPr>
      </p:sp>
      <p:pic>
        <p:nvPicPr>
          <p:cNvPr id="3" name="Image 0" descr="preencoded.png">    </p:cNvPr>
          <p:cNvPicPr>
            <a:picLocks noChangeAspect="1"/>
          </p:cNvPicPr>
          <p:nvPr/>
        </p:nvPicPr>
        <p:blipFill>
          <a:blip r:embed="rId1"/>
          <a:stretch>
            <a:fillRect/>
          </a:stretch>
        </p:blipFill>
        <p:spPr>
          <a:xfrm>
            <a:off x="602041" y="556321"/>
            <a:ext cx="368686" cy="368686"/>
          </a:xfrm>
          <a:prstGeom prst="rect">
            <a:avLst/>
          </a:prstGeom>
        </p:spPr>
      </p:pic>
      <p:sp>
        <p:nvSpPr>
          <p:cNvPr id="4" name="Text 1"/>
          <p:cNvSpPr txBox="1"/>
          <p:nvPr/>
        </p:nvSpPr>
        <p:spPr>
          <a:xfrm>
            <a:off x="1298448" y="384048"/>
            <a:ext cx="9601200" cy="256032"/>
          </a:xfrm>
          <a:prstGeom prst="rect">
            <a:avLst/>
          </a:prstGeom>
          <a:noFill/>
          <a:ln/>
        </p:spPr>
        <p:txBody>
          <a:bodyPr wrap="square" lIns="0" tIns="0" rIns="0" bIns="0" rtlCol="0" anchor="ctr"/>
          <a:lstStyle/>
          <a:p>
            <a:pPr indent="0" marL="0">
              <a:buNone/>
            </a:pPr>
            <a:r>
              <a:rPr lang="en-US" sz="1150" b="1" spc="150" kern="0" dirty="0">
                <a:solidFill>
                  <a:srgbClr val="E0A458"/>
                </a:solidFill>
                <a:latin typeface="Calibri" pitchFamily="34" charset="0"/>
                <a:ea typeface="Calibri" pitchFamily="34" charset="-122"/>
                <a:cs typeface="Calibri" pitchFamily="34" charset="-120"/>
              </a:rPr>
              <a:t>OPCIONES CLÍNICAS</a:t>
            </a:r>
            <a:endParaRPr lang="en-US" sz="1150" dirty="0"/>
          </a:p>
        </p:txBody>
      </p:sp>
      <p:sp>
        <p:nvSpPr>
          <p:cNvPr id="5" name="Text 2"/>
          <p:cNvSpPr txBox="1"/>
          <p:nvPr/>
        </p:nvSpPr>
        <p:spPr>
          <a:xfrm>
            <a:off x="1298448" y="621792"/>
            <a:ext cx="10058400" cy="502920"/>
          </a:xfrm>
          <a:prstGeom prst="rect">
            <a:avLst/>
          </a:prstGeom>
          <a:noFill/>
          <a:ln/>
        </p:spPr>
        <p:txBody>
          <a:bodyPr wrap="square" lIns="0" tIns="0" rIns="0" bIns="0" rtlCol="0" anchor="ctr"/>
          <a:lstStyle/>
          <a:p>
            <a:pPr indent="0" marL="0">
              <a:buNone/>
            </a:pPr>
            <a:r>
              <a:rPr lang="en-US" sz="2500" b="1" dirty="0">
                <a:solidFill>
                  <a:srgbClr val="4A2545"/>
                </a:solidFill>
                <a:latin typeface="Cambria" pitchFamily="34" charset="0"/>
                <a:ea typeface="Cambria" pitchFamily="34" charset="-122"/>
                <a:cs typeface="Cambria" pitchFamily="34" charset="-120"/>
              </a:rPr>
              <a:t>Vías de administración de la premedicación</a:t>
            </a:r>
            <a:endParaRPr lang="en-US" sz="2500" dirty="0"/>
          </a:p>
        </p:txBody>
      </p:sp>
      <p:sp>
        <p:nvSpPr>
          <p:cNvPr id="6" name="Shape 3"/>
          <p:cNvSpPr/>
          <p:nvPr/>
        </p:nvSpPr>
        <p:spPr>
          <a:xfrm>
            <a:off x="457200" y="1463040"/>
            <a:ext cx="2627300" cy="2103120"/>
          </a:xfrm>
          <a:prstGeom prst="roundRect">
            <a:avLst>
              <a:gd name="adj" fmla="val 3478"/>
            </a:avLst>
          </a:prstGeom>
          <a:solidFill>
            <a:srgbClr val="F4EEF2"/>
          </a:solidFill>
          <a:ln/>
          <a:effectLst>
            <a:outerShdw sx="100000" sy="100000" kx="0" ky="0" algn="bl" rotWithShape="0" blurRad="76200" dist="25400" dir="5400000">
              <a:srgbClr val="2A1729">
                <a:alpha val="18000"/>
              </a:srgbClr>
            </a:outerShdw>
          </a:effectLst>
        </p:spPr>
      </p:sp>
      <p:sp>
        <p:nvSpPr>
          <p:cNvPr id="7" name="Shape 4"/>
          <p:cNvSpPr/>
          <p:nvPr/>
        </p:nvSpPr>
        <p:spPr>
          <a:xfrm>
            <a:off x="1496530" y="1645920"/>
            <a:ext cx="548640" cy="548640"/>
          </a:xfrm>
          <a:prstGeom prst="ellipse">
            <a:avLst/>
          </a:prstGeom>
          <a:solidFill>
            <a:srgbClr val="4A2545"/>
          </a:solidFill>
          <a:ln/>
        </p:spPr>
      </p:sp>
      <p:pic>
        <p:nvPicPr>
          <p:cNvPr id="8" name="Image 1" descr="preencoded.png">    </p:cNvPr>
          <p:cNvPicPr>
            <a:picLocks noChangeAspect="1"/>
          </p:cNvPicPr>
          <p:nvPr/>
        </p:nvPicPr>
        <p:blipFill>
          <a:blip r:embed="rId2"/>
          <a:stretch>
            <a:fillRect/>
          </a:stretch>
        </p:blipFill>
        <p:spPr>
          <a:xfrm>
            <a:off x="1617231" y="1766621"/>
            <a:ext cx="307238" cy="307238"/>
          </a:xfrm>
          <a:prstGeom prst="rect">
            <a:avLst/>
          </a:prstGeom>
        </p:spPr>
      </p:pic>
      <p:sp>
        <p:nvSpPr>
          <p:cNvPr id="9" name="Text 5"/>
          <p:cNvSpPr txBox="1"/>
          <p:nvPr/>
        </p:nvSpPr>
        <p:spPr>
          <a:xfrm>
            <a:off x="566928" y="2267712"/>
            <a:ext cx="2407844" cy="512064"/>
          </a:xfrm>
          <a:prstGeom prst="rect">
            <a:avLst/>
          </a:prstGeom>
          <a:noFill/>
          <a:ln/>
        </p:spPr>
        <p:txBody>
          <a:bodyPr wrap="square" lIns="0" tIns="0" rIns="0" bIns="0" rtlCol="0" anchor="t"/>
          <a:lstStyle/>
          <a:p>
            <a:pPr algn="ctr" indent="0" marL="0">
              <a:buNone/>
            </a:pPr>
            <a:r>
              <a:rPr lang="en-US" sz="1400" b="1" dirty="0">
                <a:solidFill>
                  <a:srgbClr val="4A2545"/>
                </a:solidFill>
                <a:latin typeface="Cambria" pitchFamily="34" charset="0"/>
                <a:ea typeface="Cambria" pitchFamily="34" charset="-122"/>
                <a:cs typeface="Cambria" pitchFamily="34" charset="-120"/>
              </a:rPr>
              <a:t>Oral</a:t>
            </a:r>
            <a:endParaRPr lang="en-US" sz="1400" dirty="0"/>
          </a:p>
        </p:txBody>
      </p:sp>
      <p:sp>
        <p:nvSpPr>
          <p:cNvPr id="10" name="Text 6"/>
          <p:cNvSpPr txBox="1"/>
          <p:nvPr/>
        </p:nvSpPr>
        <p:spPr>
          <a:xfrm>
            <a:off x="621792" y="2816352"/>
            <a:ext cx="2298116" cy="658368"/>
          </a:xfrm>
          <a:prstGeom prst="rect">
            <a:avLst/>
          </a:prstGeom>
          <a:noFill/>
          <a:ln/>
        </p:spPr>
        <p:txBody>
          <a:bodyPr wrap="square" lIns="0" tIns="0" rIns="0" bIns="0" rtlCol="0" anchor="t"/>
          <a:lstStyle/>
          <a:p>
            <a:pPr algn="ctr" indent="0" marL="0">
              <a:lnSpc>
                <a:spcPct val="105000"/>
              </a:lnSpc>
              <a:buNone/>
            </a:pPr>
            <a:r>
              <a:rPr lang="en-US" sz="1050" dirty="0">
                <a:solidFill>
                  <a:srgbClr val="3A2A35"/>
                </a:solidFill>
                <a:latin typeface="Calibri" pitchFamily="34" charset="0"/>
                <a:ea typeface="Calibri" pitchFamily="34" charset="-122"/>
                <a:cs typeface="Calibri" pitchFamily="34" charset="-120"/>
              </a:rPr>
              <a:t>Vía más usada y mejor tolerada. Inicio 30-60 min. Requiere ayuno compatible y cooperación.</a:t>
            </a:r>
            <a:endParaRPr lang="en-US" sz="1050" dirty="0"/>
          </a:p>
        </p:txBody>
      </p:sp>
      <p:sp>
        <p:nvSpPr>
          <p:cNvPr id="11" name="Shape 7"/>
          <p:cNvSpPr/>
          <p:nvPr/>
        </p:nvSpPr>
        <p:spPr>
          <a:xfrm>
            <a:off x="3340532" y="1463040"/>
            <a:ext cx="2627300" cy="2103120"/>
          </a:xfrm>
          <a:prstGeom prst="roundRect">
            <a:avLst>
              <a:gd name="adj" fmla="val 3478"/>
            </a:avLst>
          </a:prstGeom>
          <a:solidFill>
            <a:srgbClr val="F4EEF2"/>
          </a:solidFill>
          <a:ln/>
          <a:effectLst>
            <a:outerShdw sx="100000" sy="100000" kx="0" ky="0" algn="bl" rotWithShape="0" blurRad="76200" dist="25400" dir="5400000">
              <a:srgbClr val="2A1729">
                <a:alpha val="18000"/>
              </a:srgbClr>
            </a:outerShdw>
          </a:effectLst>
        </p:spPr>
      </p:sp>
      <p:sp>
        <p:nvSpPr>
          <p:cNvPr id="12" name="Shape 8"/>
          <p:cNvSpPr/>
          <p:nvPr/>
        </p:nvSpPr>
        <p:spPr>
          <a:xfrm>
            <a:off x="4379862" y="1645920"/>
            <a:ext cx="548640" cy="548640"/>
          </a:xfrm>
          <a:prstGeom prst="ellipse">
            <a:avLst/>
          </a:prstGeom>
          <a:solidFill>
            <a:srgbClr val="8E6C88"/>
          </a:solidFill>
          <a:ln/>
        </p:spPr>
      </p:sp>
      <p:pic>
        <p:nvPicPr>
          <p:cNvPr id="13" name="Image 2" descr="preencoded.png">    </p:cNvPr>
          <p:cNvPicPr>
            <a:picLocks noChangeAspect="1"/>
          </p:cNvPicPr>
          <p:nvPr/>
        </p:nvPicPr>
        <p:blipFill>
          <a:blip r:embed="rId3"/>
          <a:stretch>
            <a:fillRect/>
          </a:stretch>
        </p:blipFill>
        <p:spPr>
          <a:xfrm>
            <a:off x="4500563" y="1766621"/>
            <a:ext cx="307238" cy="307238"/>
          </a:xfrm>
          <a:prstGeom prst="rect">
            <a:avLst/>
          </a:prstGeom>
        </p:spPr>
      </p:pic>
      <p:sp>
        <p:nvSpPr>
          <p:cNvPr id="14" name="Text 9"/>
          <p:cNvSpPr txBox="1"/>
          <p:nvPr/>
        </p:nvSpPr>
        <p:spPr>
          <a:xfrm>
            <a:off x="3450260" y="2267712"/>
            <a:ext cx="2407844" cy="512064"/>
          </a:xfrm>
          <a:prstGeom prst="rect">
            <a:avLst/>
          </a:prstGeom>
          <a:noFill/>
          <a:ln/>
        </p:spPr>
        <p:txBody>
          <a:bodyPr wrap="square" lIns="0" tIns="0" rIns="0" bIns="0" rtlCol="0" anchor="t"/>
          <a:lstStyle/>
          <a:p>
            <a:pPr algn="ctr" indent="0" marL="0">
              <a:buNone/>
            </a:pPr>
            <a:r>
              <a:rPr lang="en-US" sz="1400" b="1" dirty="0">
                <a:solidFill>
                  <a:srgbClr val="4A2545"/>
                </a:solidFill>
                <a:latin typeface="Cambria" pitchFamily="34" charset="0"/>
                <a:ea typeface="Cambria" pitchFamily="34" charset="-122"/>
                <a:cs typeface="Cambria" pitchFamily="34" charset="-120"/>
              </a:rPr>
              <a:t>Intramuscular</a:t>
            </a:r>
            <a:endParaRPr lang="en-US" sz="1400" dirty="0"/>
          </a:p>
        </p:txBody>
      </p:sp>
      <p:sp>
        <p:nvSpPr>
          <p:cNvPr id="15" name="Text 10"/>
          <p:cNvSpPr txBox="1"/>
          <p:nvPr/>
        </p:nvSpPr>
        <p:spPr>
          <a:xfrm>
            <a:off x="3505124" y="2816352"/>
            <a:ext cx="2298116" cy="658368"/>
          </a:xfrm>
          <a:prstGeom prst="rect">
            <a:avLst/>
          </a:prstGeom>
          <a:noFill/>
          <a:ln/>
        </p:spPr>
        <p:txBody>
          <a:bodyPr wrap="square" lIns="0" tIns="0" rIns="0" bIns="0" rtlCol="0" anchor="t"/>
          <a:lstStyle/>
          <a:p>
            <a:pPr algn="ctr" indent="0" marL="0">
              <a:lnSpc>
                <a:spcPct val="105000"/>
              </a:lnSpc>
              <a:buNone/>
            </a:pPr>
            <a:r>
              <a:rPr lang="en-US" sz="1050" dirty="0">
                <a:solidFill>
                  <a:srgbClr val="3A2A35"/>
                </a:solidFill>
                <a:latin typeface="Calibri" pitchFamily="34" charset="0"/>
                <a:ea typeface="Calibri" pitchFamily="34" charset="-122"/>
                <a:cs typeface="Calibri" pitchFamily="34" charset="-120"/>
              </a:rPr>
              <a:t>Absorción variable y dolorosa; útil cuando no hay vía IV disponible ni cooperación oral.</a:t>
            </a:r>
            <a:endParaRPr lang="en-US" sz="1050" dirty="0"/>
          </a:p>
        </p:txBody>
      </p:sp>
      <p:sp>
        <p:nvSpPr>
          <p:cNvPr id="16" name="Shape 11"/>
          <p:cNvSpPr/>
          <p:nvPr/>
        </p:nvSpPr>
        <p:spPr>
          <a:xfrm>
            <a:off x="6223864" y="1463040"/>
            <a:ext cx="2627300" cy="2103120"/>
          </a:xfrm>
          <a:prstGeom prst="roundRect">
            <a:avLst>
              <a:gd name="adj" fmla="val 3478"/>
            </a:avLst>
          </a:prstGeom>
          <a:solidFill>
            <a:srgbClr val="F4EEF2"/>
          </a:solidFill>
          <a:ln/>
          <a:effectLst>
            <a:outerShdw sx="100000" sy="100000" kx="0" ky="0" algn="bl" rotWithShape="0" blurRad="76200" dist="25400" dir="5400000">
              <a:srgbClr val="2A1729">
                <a:alpha val="18000"/>
              </a:srgbClr>
            </a:outerShdw>
          </a:effectLst>
        </p:spPr>
      </p:sp>
      <p:sp>
        <p:nvSpPr>
          <p:cNvPr id="17" name="Shape 12"/>
          <p:cNvSpPr/>
          <p:nvPr/>
        </p:nvSpPr>
        <p:spPr>
          <a:xfrm>
            <a:off x="7263193" y="1645920"/>
            <a:ext cx="548640" cy="548640"/>
          </a:xfrm>
          <a:prstGeom prst="ellipse">
            <a:avLst/>
          </a:prstGeom>
          <a:solidFill>
            <a:srgbClr val="4A2545"/>
          </a:solidFill>
          <a:ln/>
        </p:spPr>
      </p:sp>
      <p:pic>
        <p:nvPicPr>
          <p:cNvPr id="18" name="Image 3" descr="preencoded.png">    </p:cNvPr>
          <p:cNvPicPr>
            <a:picLocks noChangeAspect="1"/>
          </p:cNvPicPr>
          <p:nvPr/>
        </p:nvPicPr>
        <p:blipFill>
          <a:blip r:embed="rId4"/>
          <a:stretch>
            <a:fillRect/>
          </a:stretch>
        </p:blipFill>
        <p:spPr>
          <a:xfrm>
            <a:off x="7383894" y="1766621"/>
            <a:ext cx="307238" cy="307238"/>
          </a:xfrm>
          <a:prstGeom prst="rect">
            <a:avLst/>
          </a:prstGeom>
        </p:spPr>
      </p:pic>
      <p:sp>
        <p:nvSpPr>
          <p:cNvPr id="19" name="Text 13"/>
          <p:cNvSpPr txBox="1"/>
          <p:nvPr/>
        </p:nvSpPr>
        <p:spPr>
          <a:xfrm>
            <a:off x="6333592" y="2267712"/>
            <a:ext cx="2407844" cy="512064"/>
          </a:xfrm>
          <a:prstGeom prst="rect">
            <a:avLst/>
          </a:prstGeom>
          <a:noFill/>
          <a:ln/>
        </p:spPr>
        <p:txBody>
          <a:bodyPr wrap="square" lIns="0" tIns="0" rIns="0" bIns="0" rtlCol="0" anchor="t"/>
          <a:lstStyle/>
          <a:p>
            <a:pPr algn="ctr" indent="0" marL="0">
              <a:buNone/>
            </a:pPr>
            <a:r>
              <a:rPr lang="en-US" sz="1400" b="1" dirty="0">
                <a:solidFill>
                  <a:srgbClr val="4A2545"/>
                </a:solidFill>
                <a:latin typeface="Cambria" pitchFamily="34" charset="0"/>
                <a:ea typeface="Cambria" pitchFamily="34" charset="-122"/>
                <a:cs typeface="Cambria" pitchFamily="34" charset="-120"/>
              </a:rPr>
              <a:t>Intravenosa</a:t>
            </a:r>
            <a:endParaRPr lang="en-US" sz="1400" dirty="0"/>
          </a:p>
        </p:txBody>
      </p:sp>
      <p:sp>
        <p:nvSpPr>
          <p:cNvPr id="20" name="Text 14"/>
          <p:cNvSpPr txBox="1"/>
          <p:nvPr/>
        </p:nvSpPr>
        <p:spPr>
          <a:xfrm>
            <a:off x="6388456" y="2816352"/>
            <a:ext cx="2298116" cy="658368"/>
          </a:xfrm>
          <a:prstGeom prst="rect">
            <a:avLst/>
          </a:prstGeom>
          <a:noFill/>
          <a:ln/>
        </p:spPr>
        <p:txBody>
          <a:bodyPr wrap="square" lIns="0" tIns="0" rIns="0" bIns="0" rtlCol="0" anchor="t"/>
          <a:lstStyle/>
          <a:p>
            <a:pPr algn="ctr" indent="0" marL="0">
              <a:lnSpc>
                <a:spcPct val="105000"/>
              </a:lnSpc>
              <a:buNone/>
            </a:pPr>
            <a:r>
              <a:rPr lang="en-US" sz="1050" dirty="0">
                <a:solidFill>
                  <a:srgbClr val="3A2A35"/>
                </a:solidFill>
                <a:latin typeface="Calibri" pitchFamily="34" charset="0"/>
                <a:ea typeface="Calibri" pitchFamily="34" charset="-122"/>
                <a:cs typeface="Calibri" pitchFamily="34" charset="-120"/>
              </a:rPr>
              <a:t>Inicio inmediato y titulable; de elección cuando ya existe acceso venoso periférico.</a:t>
            </a:r>
            <a:endParaRPr lang="en-US" sz="1050" dirty="0"/>
          </a:p>
        </p:txBody>
      </p:sp>
      <p:sp>
        <p:nvSpPr>
          <p:cNvPr id="21" name="Shape 15"/>
          <p:cNvSpPr/>
          <p:nvPr/>
        </p:nvSpPr>
        <p:spPr>
          <a:xfrm>
            <a:off x="9107195" y="1463040"/>
            <a:ext cx="2627300" cy="2103120"/>
          </a:xfrm>
          <a:prstGeom prst="roundRect">
            <a:avLst>
              <a:gd name="adj" fmla="val 3478"/>
            </a:avLst>
          </a:prstGeom>
          <a:solidFill>
            <a:srgbClr val="F4EEF2"/>
          </a:solidFill>
          <a:ln/>
          <a:effectLst>
            <a:outerShdw sx="100000" sy="100000" kx="0" ky="0" algn="bl" rotWithShape="0" blurRad="76200" dist="25400" dir="5400000">
              <a:srgbClr val="2A1729">
                <a:alpha val="18000"/>
              </a:srgbClr>
            </a:outerShdw>
          </a:effectLst>
        </p:spPr>
      </p:sp>
      <p:sp>
        <p:nvSpPr>
          <p:cNvPr id="22" name="Shape 16"/>
          <p:cNvSpPr/>
          <p:nvPr/>
        </p:nvSpPr>
        <p:spPr>
          <a:xfrm>
            <a:off x="10146525" y="1645920"/>
            <a:ext cx="548640" cy="548640"/>
          </a:xfrm>
          <a:prstGeom prst="ellipse">
            <a:avLst/>
          </a:prstGeom>
          <a:solidFill>
            <a:srgbClr val="8E6C88"/>
          </a:solidFill>
          <a:ln/>
        </p:spPr>
      </p:sp>
      <p:pic>
        <p:nvPicPr>
          <p:cNvPr id="23" name="Image 4" descr="preencoded.png">    </p:cNvPr>
          <p:cNvPicPr>
            <a:picLocks noChangeAspect="1"/>
          </p:cNvPicPr>
          <p:nvPr/>
        </p:nvPicPr>
        <p:blipFill>
          <a:blip r:embed="rId5"/>
          <a:stretch>
            <a:fillRect/>
          </a:stretch>
        </p:blipFill>
        <p:spPr>
          <a:xfrm>
            <a:off x="10267226" y="1766621"/>
            <a:ext cx="307238" cy="307238"/>
          </a:xfrm>
          <a:prstGeom prst="rect">
            <a:avLst/>
          </a:prstGeom>
        </p:spPr>
      </p:pic>
      <p:sp>
        <p:nvSpPr>
          <p:cNvPr id="24" name="Text 17"/>
          <p:cNvSpPr txBox="1"/>
          <p:nvPr/>
        </p:nvSpPr>
        <p:spPr>
          <a:xfrm>
            <a:off x="9216923" y="2267712"/>
            <a:ext cx="2407844" cy="512064"/>
          </a:xfrm>
          <a:prstGeom prst="rect">
            <a:avLst/>
          </a:prstGeom>
          <a:noFill/>
          <a:ln/>
        </p:spPr>
        <p:txBody>
          <a:bodyPr wrap="square" lIns="0" tIns="0" rIns="0" bIns="0" rtlCol="0" anchor="t"/>
          <a:lstStyle/>
          <a:p>
            <a:pPr algn="ctr" indent="0" marL="0">
              <a:buNone/>
            </a:pPr>
            <a:r>
              <a:rPr lang="en-US" sz="1400" b="1" dirty="0">
                <a:solidFill>
                  <a:srgbClr val="4A2545"/>
                </a:solidFill>
                <a:latin typeface="Cambria" pitchFamily="34" charset="0"/>
                <a:ea typeface="Cambria" pitchFamily="34" charset="-122"/>
                <a:cs typeface="Cambria" pitchFamily="34" charset="-120"/>
              </a:rPr>
              <a:t>Intranasal</a:t>
            </a:r>
            <a:endParaRPr lang="en-US" sz="1400" dirty="0"/>
          </a:p>
        </p:txBody>
      </p:sp>
      <p:sp>
        <p:nvSpPr>
          <p:cNvPr id="25" name="Text 18"/>
          <p:cNvSpPr txBox="1"/>
          <p:nvPr/>
        </p:nvSpPr>
        <p:spPr>
          <a:xfrm>
            <a:off x="9271787" y="2816352"/>
            <a:ext cx="2298116" cy="658368"/>
          </a:xfrm>
          <a:prstGeom prst="rect">
            <a:avLst/>
          </a:prstGeom>
          <a:noFill/>
          <a:ln/>
        </p:spPr>
        <p:txBody>
          <a:bodyPr wrap="square" lIns="0" tIns="0" rIns="0" bIns="0" rtlCol="0" anchor="t"/>
          <a:lstStyle/>
          <a:p>
            <a:pPr algn="ctr" indent="0" marL="0">
              <a:lnSpc>
                <a:spcPct val="105000"/>
              </a:lnSpc>
              <a:buNone/>
            </a:pPr>
            <a:r>
              <a:rPr lang="en-US" sz="1050" dirty="0">
                <a:solidFill>
                  <a:srgbClr val="3A2A35"/>
                </a:solidFill>
                <a:latin typeface="Calibri" pitchFamily="34" charset="0"/>
                <a:ea typeface="Calibri" pitchFamily="34" charset="-122"/>
                <a:cs typeface="Calibri" pitchFamily="34" charset="-120"/>
              </a:rPr>
              <a:t>Excelente en pediatría (midazolam); absorción rápida evitando el primer paso hepático.</a:t>
            </a:r>
            <a:endParaRPr lang="en-US" sz="1050" dirty="0"/>
          </a:p>
        </p:txBody>
      </p:sp>
      <p:sp>
        <p:nvSpPr>
          <p:cNvPr id="26" name="Text 19"/>
          <p:cNvSpPr txBox="1"/>
          <p:nvPr/>
        </p:nvSpPr>
        <p:spPr>
          <a:xfrm>
            <a:off x="457200" y="6473952"/>
            <a:ext cx="6400800" cy="292608"/>
          </a:xfrm>
          <a:prstGeom prst="rect">
            <a:avLst/>
          </a:prstGeom>
          <a:noFill/>
          <a:ln/>
        </p:spPr>
        <p:txBody>
          <a:bodyPr wrap="square" lIns="0" tIns="0" rIns="0" bIns="0" rtlCol="0" anchor="ctr"/>
          <a:lstStyle/>
          <a:p>
            <a:pPr indent="0" marL="0">
              <a:buNone/>
            </a:pPr>
            <a:r>
              <a:rPr lang="en-US" sz="900" i="1" dirty="0">
                <a:solidFill>
                  <a:srgbClr val="77606F"/>
                </a:solidFill>
                <a:latin typeface="Calibri" pitchFamily="34" charset="0"/>
                <a:ea typeface="Calibri" pitchFamily="34" charset="-122"/>
                <a:cs typeface="Calibri" pitchFamily="34" charset="-120"/>
              </a:rPr>
              <a:t>Capítulo IV — Premedicación</a:t>
            </a:r>
            <a:endParaRPr lang="en-US" sz="900" dirty="0"/>
          </a:p>
        </p:txBody>
      </p:sp>
      <p:sp>
        <p:nvSpPr>
          <p:cNvPr id="27" name="Text 20"/>
          <p:cNvSpPr txBox="1"/>
          <p:nvPr/>
        </p:nvSpPr>
        <p:spPr>
          <a:xfrm>
            <a:off x="10362895" y="6473952"/>
            <a:ext cx="1371600" cy="292608"/>
          </a:xfrm>
          <a:prstGeom prst="rect">
            <a:avLst/>
          </a:prstGeom>
          <a:noFill/>
          <a:ln/>
        </p:spPr>
        <p:txBody>
          <a:bodyPr wrap="square" lIns="0" tIns="0" rIns="0" bIns="0" rtlCol="0" anchor="ctr"/>
          <a:lstStyle/>
          <a:p>
            <a:pPr algn="r" indent="0" marL="0">
              <a:buNone/>
            </a:pPr>
            <a:r>
              <a:rPr lang="en-US" sz="900" dirty="0">
                <a:solidFill>
                  <a:srgbClr val="77606F"/>
                </a:solidFill>
                <a:latin typeface="Calibri" pitchFamily="34" charset="0"/>
                <a:ea typeface="Calibri" pitchFamily="34" charset="-122"/>
                <a:cs typeface="Calibri" pitchFamily="34" charset="-120"/>
              </a:rPr>
              <a:t>6 / 33</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658368" cy="658368"/>
          </a:xfrm>
          <a:prstGeom prst="ellipse">
            <a:avLst/>
          </a:prstGeom>
          <a:solidFill>
            <a:srgbClr val="4A2545"/>
          </a:solidFill>
          <a:ln/>
        </p:spPr>
      </p:sp>
      <p:pic>
        <p:nvPicPr>
          <p:cNvPr id="3" name="Image 0" descr="preencoded.png">    </p:cNvPr>
          <p:cNvPicPr>
            <a:picLocks noChangeAspect="1"/>
          </p:cNvPicPr>
          <p:nvPr/>
        </p:nvPicPr>
        <p:blipFill>
          <a:blip r:embed="rId1"/>
          <a:stretch>
            <a:fillRect/>
          </a:stretch>
        </p:blipFill>
        <p:spPr>
          <a:xfrm>
            <a:off x="602041" y="556321"/>
            <a:ext cx="368686" cy="368686"/>
          </a:xfrm>
          <a:prstGeom prst="rect">
            <a:avLst/>
          </a:prstGeom>
        </p:spPr>
      </p:pic>
      <p:sp>
        <p:nvSpPr>
          <p:cNvPr id="4" name="Text 1"/>
          <p:cNvSpPr txBox="1"/>
          <p:nvPr/>
        </p:nvSpPr>
        <p:spPr>
          <a:xfrm>
            <a:off x="1298448" y="384048"/>
            <a:ext cx="9601200" cy="256032"/>
          </a:xfrm>
          <a:prstGeom prst="rect">
            <a:avLst/>
          </a:prstGeom>
          <a:noFill/>
          <a:ln/>
        </p:spPr>
        <p:txBody>
          <a:bodyPr wrap="square" lIns="0" tIns="0" rIns="0" bIns="0" rtlCol="0" anchor="ctr"/>
          <a:lstStyle/>
          <a:p>
            <a:pPr indent="0" marL="0">
              <a:buNone/>
            </a:pPr>
            <a:r>
              <a:rPr lang="en-US" sz="1150" b="1" spc="150" kern="0" dirty="0">
                <a:solidFill>
                  <a:srgbClr val="E0A458"/>
                </a:solidFill>
                <a:latin typeface="Calibri" pitchFamily="34" charset="0"/>
                <a:ea typeface="Calibri" pitchFamily="34" charset="-122"/>
                <a:cs typeface="Calibri" pitchFamily="34" charset="-120"/>
              </a:rPr>
              <a:t>PANORAMA</a:t>
            </a:r>
            <a:endParaRPr lang="en-US" sz="1150" dirty="0"/>
          </a:p>
        </p:txBody>
      </p:sp>
      <p:sp>
        <p:nvSpPr>
          <p:cNvPr id="5" name="Text 2"/>
          <p:cNvSpPr txBox="1"/>
          <p:nvPr/>
        </p:nvSpPr>
        <p:spPr>
          <a:xfrm>
            <a:off x="1298448" y="621792"/>
            <a:ext cx="10058400" cy="502920"/>
          </a:xfrm>
          <a:prstGeom prst="rect">
            <a:avLst/>
          </a:prstGeom>
          <a:noFill/>
          <a:ln/>
        </p:spPr>
        <p:txBody>
          <a:bodyPr wrap="square" lIns="0" tIns="0" rIns="0" bIns="0" rtlCol="0" anchor="ctr"/>
          <a:lstStyle/>
          <a:p>
            <a:pPr indent="0" marL="0">
              <a:buNone/>
            </a:pPr>
            <a:r>
              <a:rPr lang="en-US" sz="2500" b="1" dirty="0">
                <a:solidFill>
                  <a:srgbClr val="4A2545"/>
                </a:solidFill>
                <a:latin typeface="Cambria" pitchFamily="34" charset="0"/>
                <a:ea typeface="Cambria" pitchFamily="34" charset="-122"/>
                <a:cs typeface="Cambria" pitchFamily="34" charset="-120"/>
              </a:rPr>
              <a:t>Clasificación general de los fármacos</a:t>
            </a:r>
            <a:endParaRPr lang="en-US" sz="2500" dirty="0"/>
          </a:p>
        </p:txBody>
      </p:sp>
      <p:sp>
        <p:nvSpPr>
          <p:cNvPr id="6" name="Shape 3"/>
          <p:cNvSpPr/>
          <p:nvPr/>
        </p:nvSpPr>
        <p:spPr>
          <a:xfrm>
            <a:off x="457200" y="1417320"/>
            <a:ext cx="3588410" cy="2148840"/>
          </a:xfrm>
          <a:prstGeom prst="roundRect">
            <a:avLst>
              <a:gd name="adj" fmla="val 3404"/>
            </a:avLst>
          </a:prstGeom>
          <a:solidFill>
            <a:srgbClr val="F4EEF2"/>
          </a:solidFill>
          <a:ln/>
          <a:effectLst>
            <a:outerShdw sx="100000" sy="100000" kx="0" ky="0" algn="bl" rotWithShape="0" blurRad="76200" dist="25400" dir="5400000">
              <a:srgbClr val="2A1729">
                <a:alpha val="18000"/>
              </a:srgbClr>
            </a:outerShdw>
          </a:effectLst>
        </p:spPr>
      </p:sp>
      <p:sp>
        <p:nvSpPr>
          <p:cNvPr id="7" name="Shape 4"/>
          <p:cNvSpPr/>
          <p:nvPr/>
        </p:nvSpPr>
        <p:spPr>
          <a:xfrm>
            <a:off x="1977085" y="1600200"/>
            <a:ext cx="548640" cy="548640"/>
          </a:xfrm>
          <a:prstGeom prst="ellipse">
            <a:avLst/>
          </a:prstGeom>
          <a:solidFill>
            <a:srgbClr val="4A2545"/>
          </a:solidFill>
          <a:ln/>
        </p:spPr>
      </p:sp>
      <p:pic>
        <p:nvPicPr>
          <p:cNvPr id="8" name="Image 1" descr="preencoded.png">    </p:cNvPr>
          <p:cNvPicPr>
            <a:picLocks noChangeAspect="1"/>
          </p:cNvPicPr>
          <p:nvPr/>
        </p:nvPicPr>
        <p:blipFill>
          <a:blip r:embed="rId2"/>
          <a:stretch>
            <a:fillRect/>
          </a:stretch>
        </p:blipFill>
        <p:spPr>
          <a:xfrm>
            <a:off x="2097786" y="1720901"/>
            <a:ext cx="307238" cy="307238"/>
          </a:xfrm>
          <a:prstGeom prst="rect">
            <a:avLst/>
          </a:prstGeom>
        </p:spPr>
      </p:pic>
      <p:sp>
        <p:nvSpPr>
          <p:cNvPr id="9" name="Text 5"/>
          <p:cNvSpPr txBox="1"/>
          <p:nvPr/>
        </p:nvSpPr>
        <p:spPr>
          <a:xfrm>
            <a:off x="566928" y="2221992"/>
            <a:ext cx="3368954" cy="512064"/>
          </a:xfrm>
          <a:prstGeom prst="rect">
            <a:avLst/>
          </a:prstGeom>
          <a:noFill/>
          <a:ln/>
        </p:spPr>
        <p:txBody>
          <a:bodyPr wrap="square" lIns="0" tIns="0" rIns="0" bIns="0" rtlCol="0" anchor="t"/>
          <a:lstStyle/>
          <a:p>
            <a:pPr algn="ctr" indent="0" marL="0">
              <a:buNone/>
            </a:pPr>
            <a:r>
              <a:rPr lang="en-US" sz="1400" b="1" dirty="0">
                <a:solidFill>
                  <a:srgbClr val="4A2545"/>
                </a:solidFill>
                <a:latin typeface="Cambria" pitchFamily="34" charset="0"/>
                <a:ea typeface="Cambria" pitchFamily="34" charset="-122"/>
                <a:cs typeface="Cambria" pitchFamily="34" charset="-120"/>
              </a:rPr>
              <a:t>Sedantes</a:t>
            </a:r>
            <a:endParaRPr lang="en-US" sz="1400" dirty="0"/>
          </a:p>
        </p:txBody>
      </p:sp>
      <p:sp>
        <p:nvSpPr>
          <p:cNvPr id="10" name="Text 6"/>
          <p:cNvSpPr txBox="1"/>
          <p:nvPr/>
        </p:nvSpPr>
        <p:spPr>
          <a:xfrm>
            <a:off x="621792" y="2770632"/>
            <a:ext cx="3259226" cy="704088"/>
          </a:xfrm>
          <a:prstGeom prst="rect">
            <a:avLst/>
          </a:prstGeom>
          <a:noFill/>
          <a:ln/>
        </p:spPr>
        <p:txBody>
          <a:bodyPr wrap="square" lIns="0" tIns="0" rIns="0" bIns="0" rtlCol="0" anchor="t"/>
          <a:lstStyle/>
          <a:p>
            <a:pPr algn="ctr" indent="0" marL="0">
              <a:lnSpc>
                <a:spcPct val="105000"/>
              </a:lnSpc>
              <a:buNone/>
            </a:pPr>
            <a:r>
              <a:rPr lang="en-US" sz="1050" dirty="0">
                <a:solidFill>
                  <a:srgbClr val="3A2A35"/>
                </a:solidFill>
                <a:latin typeface="Calibri" pitchFamily="34" charset="0"/>
                <a:ea typeface="Calibri" pitchFamily="34" charset="-122"/>
                <a:cs typeface="Calibri" pitchFamily="34" charset="-120"/>
              </a:rPr>
              <a:t>Barbitúricos y benzodiacepinas: ansiolisis, sedación y amnesia.</a:t>
            </a:r>
            <a:endParaRPr lang="en-US" sz="1050" dirty="0"/>
          </a:p>
        </p:txBody>
      </p:sp>
      <p:sp>
        <p:nvSpPr>
          <p:cNvPr id="11" name="Shape 7"/>
          <p:cNvSpPr/>
          <p:nvPr/>
        </p:nvSpPr>
        <p:spPr>
          <a:xfrm>
            <a:off x="4301642" y="1417320"/>
            <a:ext cx="3588410" cy="2148840"/>
          </a:xfrm>
          <a:prstGeom prst="roundRect">
            <a:avLst>
              <a:gd name="adj" fmla="val 3404"/>
            </a:avLst>
          </a:prstGeom>
          <a:solidFill>
            <a:srgbClr val="F4EEF2"/>
          </a:solidFill>
          <a:ln/>
          <a:effectLst>
            <a:outerShdw sx="100000" sy="100000" kx="0" ky="0" algn="bl" rotWithShape="0" blurRad="76200" dist="25400" dir="5400000">
              <a:srgbClr val="2A1729">
                <a:alpha val="18000"/>
              </a:srgbClr>
            </a:outerShdw>
          </a:effectLst>
        </p:spPr>
      </p:sp>
      <p:sp>
        <p:nvSpPr>
          <p:cNvPr id="12" name="Shape 8"/>
          <p:cNvSpPr/>
          <p:nvPr/>
        </p:nvSpPr>
        <p:spPr>
          <a:xfrm>
            <a:off x="5821528" y="1600200"/>
            <a:ext cx="548640" cy="548640"/>
          </a:xfrm>
          <a:prstGeom prst="ellipse">
            <a:avLst/>
          </a:prstGeom>
          <a:solidFill>
            <a:srgbClr val="8E6C88"/>
          </a:solidFill>
          <a:ln/>
        </p:spPr>
      </p:sp>
      <p:pic>
        <p:nvPicPr>
          <p:cNvPr id="13" name="Image 2" descr="preencoded.png">    </p:cNvPr>
          <p:cNvPicPr>
            <a:picLocks noChangeAspect="1"/>
          </p:cNvPicPr>
          <p:nvPr/>
        </p:nvPicPr>
        <p:blipFill>
          <a:blip r:embed="rId3"/>
          <a:stretch>
            <a:fillRect/>
          </a:stretch>
        </p:blipFill>
        <p:spPr>
          <a:xfrm>
            <a:off x="5942228" y="1720901"/>
            <a:ext cx="307238" cy="307238"/>
          </a:xfrm>
          <a:prstGeom prst="rect">
            <a:avLst/>
          </a:prstGeom>
        </p:spPr>
      </p:pic>
      <p:sp>
        <p:nvSpPr>
          <p:cNvPr id="14" name="Text 9"/>
          <p:cNvSpPr txBox="1"/>
          <p:nvPr/>
        </p:nvSpPr>
        <p:spPr>
          <a:xfrm>
            <a:off x="4411370" y="2221992"/>
            <a:ext cx="3368954" cy="512064"/>
          </a:xfrm>
          <a:prstGeom prst="rect">
            <a:avLst/>
          </a:prstGeom>
          <a:noFill/>
          <a:ln/>
        </p:spPr>
        <p:txBody>
          <a:bodyPr wrap="square" lIns="0" tIns="0" rIns="0" bIns="0" rtlCol="0" anchor="t"/>
          <a:lstStyle/>
          <a:p>
            <a:pPr algn="ctr" indent="0" marL="0">
              <a:buNone/>
            </a:pPr>
            <a:r>
              <a:rPr lang="en-US" sz="1400" b="1" dirty="0">
                <a:solidFill>
                  <a:srgbClr val="4A2545"/>
                </a:solidFill>
                <a:latin typeface="Cambria" pitchFamily="34" charset="0"/>
                <a:ea typeface="Cambria" pitchFamily="34" charset="-122"/>
                <a:cs typeface="Cambria" pitchFamily="34" charset="-120"/>
              </a:rPr>
              <a:t>Narcóticos</a:t>
            </a:r>
            <a:endParaRPr lang="en-US" sz="1400" dirty="0"/>
          </a:p>
        </p:txBody>
      </p:sp>
      <p:sp>
        <p:nvSpPr>
          <p:cNvPr id="15" name="Text 10"/>
          <p:cNvSpPr txBox="1"/>
          <p:nvPr/>
        </p:nvSpPr>
        <p:spPr>
          <a:xfrm>
            <a:off x="4466234" y="2770632"/>
            <a:ext cx="3259226" cy="704088"/>
          </a:xfrm>
          <a:prstGeom prst="rect">
            <a:avLst/>
          </a:prstGeom>
          <a:noFill/>
          <a:ln/>
        </p:spPr>
        <p:txBody>
          <a:bodyPr wrap="square" lIns="0" tIns="0" rIns="0" bIns="0" rtlCol="0" anchor="t"/>
          <a:lstStyle/>
          <a:p>
            <a:pPr algn="ctr" indent="0" marL="0">
              <a:lnSpc>
                <a:spcPct val="105000"/>
              </a:lnSpc>
              <a:buNone/>
            </a:pPr>
            <a:r>
              <a:rPr lang="en-US" sz="1050" dirty="0">
                <a:solidFill>
                  <a:srgbClr val="3A2A35"/>
                </a:solidFill>
                <a:latin typeface="Calibri" pitchFamily="34" charset="0"/>
                <a:ea typeface="Calibri" pitchFamily="34" charset="-122"/>
                <a:cs typeface="Calibri" pitchFamily="34" charset="-120"/>
              </a:rPr>
              <a:t>Opioides: analgesia preventiva y atenuación de la respuesta simpática.</a:t>
            </a:r>
            <a:endParaRPr lang="en-US" sz="1050" dirty="0"/>
          </a:p>
        </p:txBody>
      </p:sp>
      <p:sp>
        <p:nvSpPr>
          <p:cNvPr id="16" name="Shape 11"/>
          <p:cNvSpPr/>
          <p:nvPr/>
        </p:nvSpPr>
        <p:spPr>
          <a:xfrm>
            <a:off x="8146085" y="1417320"/>
            <a:ext cx="3588410" cy="2148840"/>
          </a:xfrm>
          <a:prstGeom prst="roundRect">
            <a:avLst>
              <a:gd name="adj" fmla="val 3404"/>
            </a:avLst>
          </a:prstGeom>
          <a:solidFill>
            <a:srgbClr val="F4EEF2"/>
          </a:solidFill>
          <a:ln/>
          <a:effectLst>
            <a:outerShdw sx="100000" sy="100000" kx="0" ky="0" algn="bl" rotWithShape="0" blurRad="76200" dist="25400" dir="5400000">
              <a:srgbClr val="2A1729">
                <a:alpha val="18000"/>
              </a:srgbClr>
            </a:outerShdw>
          </a:effectLst>
        </p:spPr>
      </p:sp>
      <p:sp>
        <p:nvSpPr>
          <p:cNvPr id="17" name="Shape 12"/>
          <p:cNvSpPr/>
          <p:nvPr/>
        </p:nvSpPr>
        <p:spPr>
          <a:xfrm>
            <a:off x="9665970" y="1600200"/>
            <a:ext cx="548640" cy="548640"/>
          </a:xfrm>
          <a:prstGeom prst="ellipse">
            <a:avLst/>
          </a:prstGeom>
          <a:solidFill>
            <a:srgbClr val="4A2545"/>
          </a:solidFill>
          <a:ln/>
        </p:spPr>
      </p:sp>
      <p:pic>
        <p:nvPicPr>
          <p:cNvPr id="18" name="Image 3" descr="preencoded.png">    </p:cNvPr>
          <p:cNvPicPr>
            <a:picLocks noChangeAspect="1"/>
          </p:cNvPicPr>
          <p:nvPr/>
        </p:nvPicPr>
        <p:blipFill>
          <a:blip r:embed="rId4"/>
          <a:stretch>
            <a:fillRect/>
          </a:stretch>
        </p:blipFill>
        <p:spPr>
          <a:xfrm>
            <a:off x="9786671" y="1720901"/>
            <a:ext cx="307238" cy="307238"/>
          </a:xfrm>
          <a:prstGeom prst="rect">
            <a:avLst/>
          </a:prstGeom>
        </p:spPr>
      </p:pic>
      <p:sp>
        <p:nvSpPr>
          <p:cNvPr id="19" name="Text 13"/>
          <p:cNvSpPr txBox="1"/>
          <p:nvPr/>
        </p:nvSpPr>
        <p:spPr>
          <a:xfrm>
            <a:off x="8255813" y="2221992"/>
            <a:ext cx="3368954" cy="512064"/>
          </a:xfrm>
          <a:prstGeom prst="rect">
            <a:avLst/>
          </a:prstGeom>
          <a:noFill/>
          <a:ln/>
        </p:spPr>
        <p:txBody>
          <a:bodyPr wrap="square" lIns="0" tIns="0" rIns="0" bIns="0" rtlCol="0" anchor="t"/>
          <a:lstStyle/>
          <a:p>
            <a:pPr algn="ctr" indent="0" marL="0">
              <a:buNone/>
            </a:pPr>
            <a:r>
              <a:rPr lang="en-US" sz="1400" b="1" dirty="0">
                <a:solidFill>
                  <a:srgbClr val="4A2545"/>
                </a:solidFill>
                <a:latin typeface="Cambria" pitchFamily="34" charset="0"/>
                <a:ea typeface="Cambria" pitchFamily="34" charset="-122"/>
                <a:cs typeface="Cambria" pitchFamily="34" charset="-120"/>
              </a:rPr>
              <a:t>Tranquilizantes</a:t>
            </a:r>
            <a:endParaRPr lang="en-US" sz="1400" dirty="0"/>
          </a:p>
        </p:txBody>
      </p:sp>
      <p:sp>
        <p:nvSpPr>
          <p:cNvPr id="20" name="Text 14"/>
          <p:cNvSpPr txBox="1"/>
          <p:nvPr/>
        </p:nvSpPr>
        <p:spPr>
          <a:xfrm>
            <a:off x="8310677" y="2770632"/>
            <a:ext cx="3259226" cy="704088"/>
          </a:xfrm>
          <a:prstGeom prst="rect">
            <a:avLst/>
          </a:prstGeom>
          <a:noFill/>
          <a:ln/>
        </p:spPr>
        <p:txBody>
          <a:bodyPr wrap="square" lIns="0" tIns="0" rIns="0" bIns="0" rtlCol="0" anchor="t"/>
          <a:lstStyle/>
          <a:p>
            <a:pPr algn="ctr" indent="0" marL="0">
              <a:lnSpc>
                <a:spcPct val="105000"/>
              </a:lnSpc>
              <a:buNone/>
            </a:pPr>
            <a:r>
              <a:rPr lang="en-US" sz="1050" dirty="0">
                <a:solidFill>
                  <a:srgbClr val="3A2A35"/>
                </a:solidFill>
                <a:latin typeface="Calibri" pitchFamily="34" charset="0"/>
                <a:ea typeface="Calibri" pitchFamily="34" charset="-122"/>
                <a:cs typeface="Calibri" pitchFamily="34" charset="-120"/>
              </a:rPr>
              <a:t>Mayores y menores: control de ansiedad y potenciación sedante.</a:t>
            </a:r>
            <a:endParaRPr lang="en-US" sz="1050" dirty="0"/>
          </a:p>
        </p:txBody>
      </p:sp>
      <p:sp>
        <p:nvSpPr>
          <p:cNvPr id="21" name="Shape 15"/>
          <p:cNvSpPr/>
          <p:nvPr/>
        </p:nvSpPr>
        <p:spPr>
          <a:xfrm>
            <a:off x="457200" y="3822192"/>
            <a:ext cx="3588410" cy="2148840"/>
          </a:xfrm>
          <a:prstGeom prst="roundRect">
            <a:avLst>
              <a:gd name="adj" fmla="val 3404"/>
            </a:avLst>
          </a:prstGeom>
          <a:solidFill>
            <a:srgbClr val="F4EEF2"/>
          </a:solidFill>
          <a:ln/>
          <a:effectLst>
            <a:outerShdw sx="100000" sy="100000" kx="0" ky="0" algn="bl" rotWithShape="0" blurRad="76200" dist="25400" dir="5400000">
              <a:srgbClr val="2A1729">
                <a:alpha val="18000"/>
              </a:srgbClr>
            </a:outerShdw>
          </a:effectLst>
        </p:spPr>
      </p:sp>
      <p:sp>
        <p:nvSpPr>
          <p:cNvPr id="22" name="Shape 16"/>
          <p:cNvSpPr/>
          <p:nvPr/>
        </p:nvSpPr>
        <p:spPr>
          <a:xfrm>
            <a:off x="1977085" y="4005072"/>
            <a:ext cx="548640" cy="548640"/>
          </a:xfrm>
          <a:prstGeom prst="ellipse">
            <a:avLst/>
          </a:prstGeom>
          <a:solidFill>
            <a:srgbClr val="8E6C88"/>
          </a:solidFill>
          <a:ln/>
        </p:spPr>
      </p:sp>
      <p:pic>
        <p:nvPicPr>
          <p:cNvPr id="23" name="Image 4" descr="preencoded.png">    </p:cNvPr>
          <p:cNvPicPr>
            <a:picLocks noChangeAspect="1"/>
          </p:cNvPicPr>
          <p:nvPr/>
        </p:nvPicPr>
        <p:blipFill>
          <a:blip r:embed="rId5"/>
          <a:stretch>
            <a:fillRect/>
          </a:stretch>
        </p:blipFill>
        <p:spPr>
          <a:xfrm>
            <a:off x="2097786" y="4125773"/>
            <a:ext cx="307238" cy="307238"/>
          </a:xfrm>
          <a:prstGeom prst="rect">
            <a:avLst/>
          </a:prstGeom>
        </p:spPr>
      </p:pic>
      <p:sp>
        <p:nvSpPr>
          <p:cNvPr id="24" name="Text 17"/>
          <p:cNvSpPr txBox="1"/>
          <p:nvPr/>
        </p:nvSpPr>
        <p:spPr>
          <a:xfrm>
            <a:off x="566928" y="4626864"/>
            <a:ext cx="3368954" cy="512064"/>
          </a:xfrm>
          <a:prstGeom prst="rect">
            <a:avLst/>
          </a:prstGeom>
          <a:noFill/>
          <a:ln/>
        </p:spPr>
        <p:txBody>
          <a:bodyPr wrap="square" lIns="0" tIns="0" rIns="0" bIns="0" rtlCol="0" anchor="t"/>
          <a:lstStyle/>
          <a:p>
            <a:pPr algn="ctr" indent="0" marL="0">
              <a:buNone/>
            </a:pPr>
            <a:r>
              <a:rPr lang="en-US" sz="1400" b="1" dirty="0">
                <a:solidFill>
                  <a:srgbClr val="4A2545"/>
                </a:solidFill>
                <a:latin typeface="Cambria" pitchFamily="34" charset="0"/>
                <a:ea typeface="Cambria" pitchFamily="34" charset="-122"/>
                <a:cs typeface="Cambria" pitchFamily="34" charset="-120"/>
              </a:rPr>
              <a:t>Anticolinérgicos</a:t>
            </a:r>
            <a:endParaRPr lang="en-US" sz="1400" dirty="0"/>
          </a:p>
        </p:txBody>
      </p:sp>
      <p:sp>
        <p:nvSpPr>
          <p:cNvPr id="25" name="Text 18"/>
          <p:cNvSpPr txBox="1"/>
          <p:nvPr/>
        </p:nvSpPr>
        <p:spPr>
          <a:xfrm>
            <a:off x="621792" y="5175504"/>
            <a:ext cx="3259226" cy="704088"/>
          </a:xfrm>
          <a:prstGeom prst="rect">
            <a:avLst/>
          </a:prstGeom>
          <a:noFill/>
          <a:ln/>
        </p:spPr>
        <p:txBody>
          <a:bodyPr wrap="square" lIns="0" tIns="0" rIns="0" bIns="0" rtlCol="0" anchor="t"/>
          <a:lstStyle/>
          <a:p>
            <a:pPr algn="ctr" indent="0" marL="0">
              <a:lnSpc>
                <a:spcPct val="105000"/>
              </a:lnSpc>
              <a:buNone/>
            </a:pPr>
            <a:r>
              <a:rPr lang="en-US" sz="1050" dirty="0">
                <a:solidFill>
                  <a:srgbClr val="3A2A35"/>
                </a:solidFill>
                <a:latin typeface="Calibri" pitchFamily="34" charset="0"/>
                <a:ea typeface="Calibri" pitchFamily="34" charset="-122"/>
                <a:cs typeface="Calibri" pitchFamily="34" charset="-120"/>
              </a:rPr>
              <a:t>Atropina y afines: control vagal y de secreciones.</a:t>
            </a:r>
            <a:endParaRPr lang="en-US" sz="1050" dirty="0"/>
          </a:p>
        </p:txBody>
      </p:sp>
      <p:sp>
        <p:nvSpPr>
          <p:cNvPr id="26" name="Shape 19"/>
          <p:cNvSpPr/>
          <p:nvPr/>
        </p:nvSpPr>
        <p:spPr>
          <a:xfrm>
            <a:off x="4301642" y="3822192"/>
            <a:ext cx="3588410" cy="2148840"/>
          </a:xfrm>
          <a:prstGeom prst="roundRect">
            <a:avLst>
              <a:gd name="adj" fmla="val 3404"/>
            </a:avLst>
          </a:prstGeom>
          <a:solidFill>
            <a:srgbClr val="F4EEF2"/>
          </a:solidFill>
          <a:ln/>
          <a:effectLst>
            <a:outerShdw sx="100000" sy="100000" kx="0" ky="0" algn="bl" rotWithShape="0" blurRad="76200" dist="25400" dir="5400000">
              <a:srgbClr val="2A1729">
                <a:alpha val="18000"/>
              </a:srgbClr>
            </a:outerShdw>
          </a:effectLst>
        </p:spPr>
      </p:sp>
      <p:sp>
        <p:nvSpPr>
          <p:cNvPr id="27" name="Shape 20"/>
          <p:cNvSpPr/>
          <p:nvPr/>
        </p:nvSpPr>
        <p:spPr>
          <a:xfrm>
            <a:off x="5821528" y="4005072"/>
            <a:ext cx="548640" cy="548640"/>
          </a:xfrm>
          <a:prstGeom prst="ellipse">
            <a:avLst/>
          </a:prstGeom>
          <a:solidFill>
            <a:srgbClr val="4A2545"/>
          </a:solidFill>
          <a:ln/>
        </p:spPr>
      </p:sp>
      <p:pic>
        <p:nvPicPr>
          <p:cNvPr id="28" name="Image 5" descr="preencoded.png">    </p:cNvPr>
          <p:cNvPicPr>
            <a:picLocks noChangeAspect="1"/>
          </p:cNvPicPr>
          <p:nvPr/>
        </p:nvPicPr>
        <p:blipFill>
          <a:blip r:embed="rId6"/>
          <a:stretch>
            <a:fillRect/>
          </a:stretch>
        </p:blipFill>
        <p:spPr>
          <a:xfrm>
            <a:off x="5942228" y="4125773"/>
            <a:ext cx="307238" cy="307238"/>
          </a:xfrm>
          <a:prstGeom prst="rect">
            <a:avLst/>
          </a:prstGeom>
        </p:spPr>
      </p:pic>
      <p:sp>
        <p:nvSpPr>
          <p:cNvPr id="29" name="Text 21"/>
          <p:cNvSpPr txBox="1"/>
          <p:nvPr/>
        </p:nvSpPr>
        <p:spPr>
          <a:xfrm>
            <a:off x="4411370" y="4626864"/>
            <a:ext cx="3368954" cy="512064"/>
          </a:xfrm>
          <a:prstGeom prst="rect">
            <a:avLst/>
          </a:prstGeom>
          <a:noFill/>
          <a:ln/>
        </p:spPr>
        <p:txBody>
          <a:bodyPr wrap="square" lIns="0" tIns="0" rIns="0" bIns="0" rtlCol="0" anchor="t"/>
          <a:lstStyle/>
          <a:p>
            <a:pPr algn="ctr" indent="0" marL="0">
              <a:buNone/>
            </a:pPr>
            <a:r>
              <a:rPr lang="en-US" sz="1400" b="1" dirty="0">
                <a:solidFill>
                  <a:srgbClr val="4A2545"/>
                </a:solidFill>
                <a:latin typeface="Cambria" pitchFamily="34" charset="0"/>
                <a:ea typeface="Cambria" pitchFamily="34" charset="-122"/>
                <a:cs typeface="Cambria" pitchFamily="34" charset="-120"/>
              </a:rPr>
              <a:t>Antieméticos</a:t>
            </a:r>
            <a:endParaRPr lang="en-US" sz="1400" dirty="0"/>
          </a:p>
        </p:txBody>
      </p:sp>
      <p:sp>
        <p:nvSpPr>
          <p:cNvPr id="30" name="Text 22"/>
          <p:cNvSpPr txBox="1"/>
          <p:nvPr/>
        </p:nvSpPr>
        <p:spPr>
          <a:xfrm>
            <a:off x="4466234" y="5175504"/>
            <a:ext cx="3259226" cy="704088"/>
          </a:xfrm>
          <a:prstGeom prst="rect">
            <a:avLst/>
          </a:prstGeom>
          <a:noFill/>
          <a:ln/>
        </p:spPr>
        <p:txBody>
          <a:bodyPr wrap="square" lIns="0" tIns="0" rIns="0" bIns="0" rtlCol="0" anchor="t"/>
          <a:lstStyle/>
          <a:p>
            <a:pPr algn="ctr" indent="0" marL="0">
              <a:lnSpc>
                <a:spcPct val="105000"/>
              </a:lnSpc>
              <a:buNone/>
            </a:pPr>
            <a:r>
              <a:rPr lang="en-US" sz="1050" dirty="0">
                <a:solidFill>
                  <a:srgbClr val="3A2A35"/>
                </a:solidFill>
                <a:latin typeface="Calibri" pitchFamily="34" charset="0"/>
                <a:ea typeface="Calibri" pitchFamily="34" charset="-122"/>
                <a:cs typeface="Calibri" pitchFamily="34" charset="-120"/>
              </a:rPr>
              <a:t>Profilaxis de náusea y vómito postoperatorio (NVPO).</a:t>
            </a:r>
            <a:endParaRPr lang="en-US" sz="1050" dirty="0"/>
          </a:p>
        </p:txBody>
      </p:sp>
      <p:sp>
        <p:nvSpPr>
          <p:cNvPr id="31" name="Shape 23"/>
          <p:cNvSpPr/>
          <p:nvPr/>
        </p:nvSpPr>
        <p:spPr>
          <a:xfrm>
            <a:off x="8146085" y="3822192"/>
            <a:ext cx="3588410" cy="2148840"/>
          </a:xfrm>
          <a:prstGeom prst="roundRect">
            <a:avLst>
              <a:gd name="adj" fmla="val 3404"/>
            </a:avLst>
          </a:prstGeom>
          <a:solidFill>
            <a:srgbClr val="F4EEF2"/>
          </a:solidFill>
          <a:ln/>
          <a:effectLst>
            <a:outerShdw sx="100000" sy="100000" kx="0" ky="0" algn="bl" rotWithShape="0" blurRad="76200" dist="25400" dir="5400000">
              <a:srgbClr val="2A1729">
                <a:alpha val="18000"/>
              </a:srgbClr>
            </a:outerShdw>
          </a:effectLst>
        </p:spPr>
      </p:sp>
      <p:sp>
        <p:nvSpPr>
          <p:cNvPr id="32" name="Shape 24"/>
          <p:cNvSpPr/>
          <p:nvPr/>
        </p:nvSpPr>
        <p:spPr>
          <a:xfrm>
            <a:off x="9665970" y="4005072"/>
            <a:ext cx="548640" cy="548640"/>
          </a:xfrm>
          <a:prstGeom prst="ellipse">
            <a:avLst/>
          </a:prstGeom>
          <a:solidFill>
            <a:srgbClr val="8E6C88"/>
          </a:solidFill>
          <a:ln/>
        </p:spPr>
      </p:sp>
      <p:pic>
        <p:nvPicPr>
          <p:cNvPr id="33" name="Image 6" descr="preencoded.png">    </p:cNvPr>
          <p:cNvPicPr>
            <a:picLocks noChangeAspect="1"/>
          </p:cNvPicPr>
          <p:nvPr/>
        </p:nvPicPr>
        <p:blipFill>
          <a:blip r:embed="rId7"/>
          <a:stretch>
            <a:fillRect/>
          </a:stretch>
        </p:blipFill>
        <p:spPr>
          <a:xfrm>
            <a:off x="9786671" y="4125773"/>
            <a:ext cx="307238" cy="307238"/>
          </a:xfrm>
          <a:prstGeom prst="rect">
            <a:avLst/>
          </a:prstGeom>
        </p:spPr>
      </p:pic>
      <p:sp>
        <p:nvSpPr>
          <p:cNvPr id="34" name="Text 25"/>
          <p:cNvSpPr txBox="1"/>
          <p:nvPr/>
        </p:nvSpPr>
        <p:spPr>
          <a:xfrm>
            <a:off x="8255813" y="4626864"/>
            <a:ext cx="3368954" cy="512064"/>
          </a:xfrm>
          <a:prstGeom prst="rect">
            <a:avLst/>
          </a:prstGeom>
          <a:noFill/>
          <a:ln/>
        </p:spPr>
        <p:txBody>
          <a:bodyPr wrap="square" lIns="0" tIns="0" rIns="0" bIns="0" rtlCol="0" anchor="t"/>
          <a:lstStyle/>
          <a:p>
            <a:pPr algn="ctr" indent="0" marL="0">
              <a:buNone/>
            </a:pPr>
            <a:r>
              <a:rPr lang="en-US" sz="1400" b="1" dirty="0">
                <a:solidFill>
                  <a:srgbClr val="4A2545"/>
                </a:solidFill>
                <a:latin typeface="Cambria" pitchFamily="34" charset="0"/>
                <a:ea typeface="Cambria" pitchFamily="34" charset="-122"/>
                <a:cs typeface="Cambria" pitchFamily="34" charset="-120"/>
              </a:rPr>
              <a:t>Antiácidos</a:t>
            </a:r>
            <a:endParaRPr lang="en-US" sz="1400" dirty="0"/>
          </a:p>
        </p:txBody>
      </p:sp>
      <p:sp>
        <p:nvSpPr>
          <p:cNvPr id="35" name="Text 26"/>
          <p:cNvSpPr txBox="1"/>
          <p:nvPr/>
        </p:nvSpPr>
        <p:spPr>
          <a:xfrm>
            <a:off x="8310677" y="5175504"/>
            <a:ext cx="3259226" cy="704088"/>
          </a:xfrm>
          <a:prstGeom prst="rect">
            <a:avLst/>
          </a:prstGeom>
          <a:noFill/>
          <a:ln/>
        </p:spPr>
        <p:txBody>
          <a:bodyPr wrap="square" lIns="0" tIns="0" rIns="0" bIns="0" rtlCol="0" anchor="t"/>
          <a:lstStyle/>
          <a:p>
            <a:pPr algn="ctr" indent="0" marL="0">
              <a:lnSpc>
                <a:spcPct val="105000"/>
              </a:lnSpc>
              <a:buNone/>
            </a:pPr>
            <a:r>
              <a:rPr lang="en-US" sz="1050" dirty="0">
                <a:solidFill>
                  <a:srgbClr val="3A2A35"/>
                </a:solidFill>
                <a:latin typeface="Calibri" pitchFamily="34" charset="0"/>
                <a:ea typeface="Calibri" pitchFamily="34" charset="-122"/>
                <a:cs typeface="Calibri" pitchFamily="34" charset="-120"/>
              </a:rPr>
              <a:t>Prevención del síndrome de aspiración ácida (Mendelson).</a:t>
            </a:r>
            <a:endParaRPr lang="en-US" sz="1050" dirty="0"/>
          </a:p>
        </p:txBody>
      </p:sp>
      <p:sp>
        <p:nvSpPr>
          <p:cNvPr id="36" name="Text 27"/>
          <p:cNvSpPr txBox="1"/>
          <p:nvPr/>
        </p:nvSpPr>
        <p:spPr>
          <a:xfrm>
            <a:off x="457200" y="6473952"/>
            <a:ext cx="6400800" cy="292608"/>
          </a:xfrm>
          <a:prstGeom prst="rect">
            <a:avLst/>
          </a:prstGeom>
          <a:noFill/>
          <a:ln/>
        </p:spPr>
        <p:txBody>
          <a:bodyPr wrap="square" lIns="0" tIns="0" rIns="0" bIns="0" rtlCol="0" anchor="ctr"/>
          <a:lstStyle/>
          <a:p>
            <a:pPr indent="0" marL="0">
              <a:buNone/>
            </a:pPr>
            <a:r>
              <a:rPr lang="en-US" sz="900" i="1" dirty="0">
                <a:solidFill>
                  <a:srgbClr val="77606F"/>
                </a:solidFill>
                <a:latin typeface="Calibri" pitchFamily="34" charset="0"/>
                <a:ea typeface="Calibri" pitchFamily="34" charset="-122"/>
                <a:cs typeface="Calibri" pitchFamily="34" charset="-120"/>
              </a:rPr>
              <a:t>Capítulo IV — Premedicación</a:t>
            </a:r>
            <a:endParaRPr lang="en-US" sz="900" dirty="0"/>
          </a:p>
        </p:txBody>
      </p:sp>
      <p:sp>
        <p:nvSpPr>
          <p:cNvPr id="37" name="Text 28"/>
          <p:cNvSpPr txBox="1"/>
          <p:nvPr/>
        </p:nvSpPr>
        <p:spPr>
          <a:xfrm>
            <a:off x="10362895" y="6473952"/>
            <a:ext cx="1371600" cy="292608"/>
          </a:xfrm>
          <a:prstGeom prst="rect">
            <a:avLst/>
          </a:prstGeom>
          <a:noFill/>
          <a:ln/>
        </p:spPr>
        <p:txBody>
          <a:bodyPr wrap="square" lIns="0" tIns="0" rIns="0" bIns="0" rtlCol="0" anchor="ctr"/>
          <a:lstStyle/>
          <a:p>
            <a:pPr algn="r" indent="0" marL="0">
              <a:buNone/>
            </a:pPr>
            <a:r>
              <a:rPr lang="en-US" sz="900" dirty="0">
                <a:solidFill>
                  <a:srgbClr val="77606F"/>
                </a:solidFill>
                <a:latin typeface="Calibri" pitchFamily="34" charset="0"/>
                <a:ea typeface="Calibri" pitchFamily="34" charset="-122"/>
                <a:cs typeface="Calibri" pitchFamily="34" charset="-120"/>
              </a:rPr>
              <a:t>7 / 33</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658368" cy="658368"/>
          </a:xfrm>
          <a:prstGeom prst="ellipse">
            <a:avLst/>
          </a:prstGeom>
          <a:solidFill>
            <a:srgbClr val="4A2545"/>
          </a:solidFill>
          <a:ln/>
        </p:spPr>
      </p:sp>
      <p:pic>
        <p:nvPicPr>
          <p:cNvPr id="3" name="Image 0" descr="preencoded.png">    </p:cNvPr>
          <p:cNvPicPr>
            <a:picLocks noChangeAspect="1"/>
          </p:cNvPicPr>
          <p:nvPr/>
        </p:nvPicPr>
        <p:blipFill>
          <a:blip r:embed="rId1"/>
          <a:stretch>
            <a:fillRect/>
          </a:stretch>
        </p:blipFill>
        <p:spPr>
          <a:xfrm>
            <a:off x="602041" y="556321"/>
            <a:ext cx="368686" cy="368686"/>
          </a:xfrm>
          <a:prstGeom prst="rect">
            <a:avLst/>
          </a:prstGeom>
        </p:spPr>
      </p:pic>
      <p:sp>
        <p:nvSpPr>
          <p:cNvPr id="4" name="Text 1"/>
          <p:cNvSpPr txBox="1"/>
          <p:nvPr/>
        </p:nvSpPr>
        <p:spPr>
          <a:xfrm>
            <a:off x="1298448" y="384048"/>
            <a:ext cx="9601200" cy="256032"/>
          </a:xfrm>
          <a:prstGeom prst="rect">
            <a:avLst/>
          </a:prstGeom>
          <a:noFill/>
          <a:ln/>
        </p:spPr>
        <p:txBody>
          <a:bodyPr wrap="square" lIns="0" tIns="0" rIns="0" bIns="0" rtlCol="0" anchor="ctr"/>
          <a:lstStyle/>
          <a:p>
            <a:pPr indent="0" marL="0">
              <a:buNone/>
            </a:pPr>
            <a:r>
              <a:rPr lang="en-US" sz="1150" b="1" spc="150" kern="0" dirty="0">
                <a:solidFill>
                  <a:srgbClr val="E0A458"/>
                </a:solidFill>
                <a:latin typeface="Calibri" pitchFamily="34" charset="0"/>
                <a:ea typeface="Calibri" pitchFamily="34" charset="-122"/>
                <a:cs typeface="Calibri" pitchFamily="34" charset="-120"/>
              </a:rPr>
              <a:t>SEDANTES</a:t>
            </a:r>
            <a:endParaRPr lang="en-US" sz="1150" dirty="0"/>
          </a:p>
        </p:txBody>
      </p:sp>
      <p:sp>
        <p:nvSpPr>
          <p:cNvPr id="5" name="Text 2"/>
          <p:cNvSpPr txBox="1"/>
          <p:nvPr/>
        </p:nvSpPr>
        <p:spPr>
          <a:xfrm>
            <a:off x="1298448" y="621792"/>
            <a:ext cx="10058400" cy="502920"/>
          </a:xfrm>
          <a:prstGeom prst="rect">
            <a:avLst/>
          </a:prstGeom>
          <a:noFill/>
          <a:ln/>
        </p:spPr>
        <p:txBody>
          <a:bodyPr wrap="square" lIns="0" tIns="0" rIns="0" bIns="0" rtlCol="0" anchor="ctr"/>
          <a:lstStyle/>
          <a:p>
            <a:pPr indent="0" marL="0">
              <a:buNone/>
            </a:pPr>
            <a:r>
              <a:rPr lang="en-US" sz="2500" b="1" dirty="0">
                <a:solidFill>
                  <a:srgbClr val="4A2545"/>
                </a:solidFill>
                <a:latin typeface="Cambria" pitchFamily="34" charset="0"/>
                <a:ea typeface="Cambria" pitchFamily="34" charset="-122"/>
                <a:cs typeface="Cambria" pitchFamily="34" charset="-120"/>
              </a:rPr>
              <a:t>Sedantes: introducción y rol en la premedicación</a:t>
            </a:r>
            <a:endParaRPr lang="en-US" sz="2500" dirty="0"/>
          </a:p>
        </p:txBody>
      </p:sp>
      <p:sp>
        <p:nvSpPr>
          <p:cNvPr id="6" name="Shape 3"/>
          <p:cNvSpPr/>
          <p:nvPr/>
        </p:nvSpPr>
        <p:spPr>
          <a:xfrm>
            <a:off x="457200" y="1417320"/>
            <a:ext cx="5455768" cy="4480560"/>
          </a:xfrm>
          <a:prstGeom prst="roundRect">
            <a:avLst>
              <a:gd name="adj" fmla="val 1633"/>
            </a:avLst>
          </a:prstGeom>
          <a:solidFill>
            <a:srgbClr val="F4EEF2"/>
          </a:solidFill>
          <a:ln/>
          <a:effectLst>
            <a:outerShdw sx="100000" sy="100000" kx="0" ky="0" algn="bl" rotWithShape="0" blurRad="76200" dist="25400" dir="5400000">
              <a:srgbClr val="2A1729">
                <a:alpha val="18000"/>
              </a:srgbClr>
            </a:outerShdw>
          </a:effectLst>
        </p:spPr>
      </p:sp>
      <p:sp>
        <p:nvSpPr>
          <p:cNvPr id="7" name="Text 4"/>
          <p:cNvSpPr txBox="1"/>
          <p:nvPr/>
        </p:nvSpPr>
        <p:spPr>
          <a:xfrm>
            <a:off x="749808" y="1636776"/>
            <a:ext cx="4870552" cy="457200"/>
          </a:xfrm>
          <a:prstGeom prst="rect">
            <a:avLst/>
          </a:prstGeom>
          <a:noFill/>
          <a:ln/>
        </p:spPr>
        <p:txBody>
          <a:bodyPr wrap="square" lIns="0" tIns="0" rIns="0" bIns="0" rtlCol="0" anchor="ctr"/>
          <a:lstStyle/>
          <a:p>
            <a:pPr indent="0" marL="0">
              <a:buNone/>
            </a:pPr>
            <a:r>
              <a:rPr lang="en-US" sz="1650" b="1" dirty="0">
                <a:solidFill>
                  <a:srgbClr val="4A2545"/>
                </a:solidFill>
                <a:latin typeface="Cambria" pitchFamily="34" charset="0"/>
                <a:ea typeface="Cambria" pitchFamily="34" charset="-122"/>
                <a:cs typeface="Cambria" pitchFamily="34" charset="-120"/>
              </a:rPr>
              <a:t>Rol clínico</a:t>
            </a:r>
            <a:endParaRPr lang="en-US" sz="1650" dirty="0"/>
          </a:p>
        </p:txBody>
      </p:sp>
      <p:sp>
        <p:nvSpPr>
          <p:cNvPr id="8" name="Text 5"/>
          <p:cNvSpPr txBox="1"/>
          <p:nvPr/>
        </p:nvSpPr>
        <p:spPr>
          <a:xfrm>
            <a:off x="749808" y="2194560"/>
            <a:ext cx="4870552" cy="3474720"/>
          </a:xfrm>
          <a:prstGeom prst="rect">
            <a:avLst/>
          </a:prstGeom>
          <a:noFill/>
          <a:ln/>
        </p:spPr>
        <p:txBody>
          <a:bodyPr wrap="square" lIns="0" tIns="0" rIns="0" bIns="0" rtlCol="0" anchor="t"/>
          <a:lstStyle/>
          <a:p>
            <a:pPr marL="177800" indent="-177800">
              <a:lnSpc>
                <a:spcPct val="108000"/>
              </a:lnSpc>
              <a:spcAft>
                <a:spcPts val="900"/>
              </a:spcAft>
              <a:buSzPct val="100000"/>
              <a:buChar char="•"/>
            </a:pPr>
            <a:r>
              <a:rPr lang="en-US" sz="1250" dirty="0">
                <a:solidFill>
                  <a:srgbClr val="3A2A35"/>
                </a:solidFill>
                <a:latin typeface="Calibri" pitchFamily="34" charset="0"/>
                <a:ea typeface="Calibri" pitchFamily="34" charset="-122"/>
                <a:cs typeface="Calibri" pitchFamily="34" charset="-120"/>
              </a:rPr>
              <a:t>Constituyen la piedra angular de la ansiolisis preoperatoria.</a:t>
            </a:r>
            <a:endParaRPr lang="en-US" sz="1250" dirty="0"/>
          </a:p>
          <a:p>
            <a:pPr marL="177800" indent="-177800">
              <a:lnSpc>
                <a:spcPct val="108000"/>
              </a:lnSpc>
              <a:spcAft>
                <a:spcPts val="900"/>
              </a:spcAft>
              <a:buSzPct val="100000"/>
              <a:buChar char="•"/>
            </a:pPr>
            <a:r>
              <a:rPr lang="en-US" sz="1250" dirty="0">
                <a:solidFill>
                  <a:srgbClr val="3A2A35"/>
                </a:solidFill>
                <a:latin typeface="Calibri" pitchFamily="34" charset="0"/>
                <a:ea typeface="Calibri" pitchFamily="34" charset="-122"/>
                <a:cs typeface="Calibri" pitchFamily="34" charset="-120"/>
              </a:rPr>
              <a:t>Incluyen principalmente barbitúricos (uso hoy limitado) y benzodiacepinas (primera línea actual).</a:t>
            </a:r>
            <a:endParaRPr lang="en-US" sz="1250" dirty="0"/>
          </a:p>
          <a:p>
            <a:pPr marL="177800" indent="-177800">
              <a:lnSpc>
                <a:spcPct val="108000"/>
              </a:lnSpc>
              <a:spcAft>
                <a:spcPts val="900"/>
              </a:spcAft>
              <a:buSzPct val="100000"/>
              <a:buChar char="•"/>
            </a:pPr>
            <a:r>
              <a:rPr lang="en-US" sz="1250" dirty="0">
                <a:solidFill>
                  <a:srgbClr val="3A2A35"/>
                </a:solidFill>
                <a:latin typeface="Calibri" pitchFamily="34" charset="0"/>
                <a:ea typeface="Calibri" pitchFamily="34" charset="-122"/>
                <a:cs typeface="Calibri" pitchFamily="34" charset="-120"/>
              </a:rPr>
              <a:t>Actúan potenciando la neurotransmisión inhibitoria mediada por GABA-A.</a:t>
            </a:r>
            <a:endParaRPr lang="en-US" sz="1250" dirty="0"/>
          </a:p>
          <a:p>
            <a:pPr marL="177800" indent="-177800">
              <a:lnSpc>
                <a:spcPct val="108000"/>
              </a:lnSpc>
              <a:spcAft>
                <a:spcPts val="900"/>
              </a:spcAft>
              <a:buSzPct val="100000"/>
              <a:buChar char="•"/>
            </a:pPr>
            <a:r>
              <a:rPr lang="en-US" sz="1250" dirty="0">
                <a:solidFill>
                  <a:srgbClr val="3A2A35"/>
                </a:solidFill>
                <a:latin typeface="Calibri" pitchFamily="34" charset="0"/>
                <a:ea typeface="Calibri" pitchFamily="34" charset="-122"/>
                <a:cs typeface="Calibri" pitchFamily="34" charset="-120"/>
              </a:rPr>
              <a:t>Su efecto es dosis-dependiente: de ansiolisis leve a sedación profunda.</a:t>
            </a:r>
            <a:endParaRPr lang="en-US" sz="1250" dirty="0"/>
          </a:p>
        </p:txBody>
      </p:sp>
      <p:sp>
        <p:nvSpPr>
          <p:cNvPr id="9" name="Shape 6"/>
          <p:cNvSpPr/>
          <p:nvPr/>
        </p:nvSpPr>
        <p:spPr>
          <a:xfrm>
            <a:off x="6278728" y="1417320"/>
            <a:ext cx="5455768" cy="4480560"/>
          </a:xfrm>
          <a:prstGeom prst="roundRect">
            <a:avLst>
              <a:gd name="adj" fmla="val 1633"/>
            </a:avLst>
          </a:prstGeom>
          <a:solidFill>
            <a:srgbClr val="FBF3E7"/>
          </a:solidFill>
          <a:ln/>
          <a:effectLst>
            <a:outerShdw sx="100000" sy="100000" kx="0" ky="0" algn="bl" rotWithShape="0" blurRad="76200" dist="25400" dir="5400000">
              <a:srgbClr val="2A1729">
                <a:alpha val="18000"/>
              </a:srgbClr>
            </a:outerShdw>
          </a:effectLst>
        </p:spPr>
      </p:sp>
      <p:sp>
        <p:nvSpPr>
          <p:cNvPr id="10" name="Text 7"/>
          <p:cNvSpPr txBox="1"/>
          <p:nvPr/>
        </p:nvSpPr>
        <p:spPr>
          <a:xfrm>
            <a:off x="6571336" y="1636776"/>
            <a:ext cx="4870552" cy="457200"/>
          </a:xfrm>
          <a:prstGeom prst="rect">
            <a:avLst/>
          </a:prstGeom>
          <a:noFill/>
          <a:ln/>
        </p:spPr>
        <p:txBody>
          <a:bodyPr wrap="square" lIns="0" tIns="0" rIns="0" bIns="0" rtlCol="0" anchor="ctr"/>
          <a:lstStyle/>
          <a:p>
            <a:pPr indent="0" marL="0">
              <a:buNone/>
            </a:pPr>
            <a:r>
              <a:rPr lang="en-US" sz="1650" b="1" dirty="0">
                <a:solidFill>
                  <a:srgbClr val="4A2545"/>
                </a:solidFill>
                <a:latin typeface="Cambria" pitchFamily="34" charset="0"/>
                <a:ea typeface="Cambria" pitchFamily="34" charset="-122"/>
                <a:cs typeface="Cambria" pitchFamily="34" charset="-120"/>
              </a:rPr>
              <a:t>Consideraciones generales</a:t>
            </a:r>
            <a:endParaRPr lang="en-US" sz="1650" dirty="0"/>
          </a:p>
        </p:txBody>
      </p:sp>
      <p:sp>
        <p:nvSpPr>
          <p:cNvPr id="11" name="Text 8"/>
          <p:cNvSpPr txBox="1"/>
          <p:nvPr/>
        </p:nvSpPr>
        <p:spPr>
          <a:xfrm>
            <a:off x="6571336" y="2194560"/>
            <a:ext cx="4870552" cy="3474720"/>
          </a:xfrm>
          <a:prstGeom prst="rect">
            <a:avLst/>
          </a:prstGeom>
          <a:noFill/>
          <a:ln/>
        </p:spPr>
        <p:txBody>
          <a:bodyPr wrap="square" lIns="0" tIns="0" rIns="0" bIns="0" rtlCol="0" anchor="t"/>
          <a:lstStyle/>
          <a:p>
            <a:pPr marL="177800" indent="-177800">
              <a:lnSpc>
                <a:spcPct val="108000"/>
              </a:lnSpc>
              <a:spcAft>
                <a:spcPts val="900"/>
              </a:spcAft>
              <a:buSzPct val="100000"/>
              <a:buChar char="•"/>
            </a:pPr>
            <a:r>
              <a:rPr lang="en-US" sz="1250" dirty="0">
                <a:solidFill>
                  <a:srgbClr val="3A2A35"/>
                </a:solidFill>
                <a:latin typeface="Calibri" pitchFamily="34" charset="0"/>
                <a:ea typeface="Calibri" pitchFamily="34" charset="-122"/>
                <a:cs typeface="Calibri" pitchFamily="34" charset="-120"/>
              </a:rPr>
              <a:t>Todos deprimen el sistema nervioso central de forma dosis-dependiente.</a:t>
            </a:r>
            <a:endParaRPr lang="en-US" sz="1250" dirty="0"/>
          </a:p>
          <a:p>
            <a:pPr marL="177800" indent="-177800">
              <a:lnSpc>
                <a:spcPct val="108000"/>
              </a:lnSpc>
              <a:spcAft>
                <a:spcPts val="900"/>
              </a:spcAft>
              <a:buSzPct val="100000"/>
              <a:buChar char="•"/>
            </a:pPr>
            <a:r>
              <a:rPr lang="en-US" sz="1250" dirty="0">
                <a:solidFill>
                  <a:srgbClr val="3A2A35"/>
                </a:solidFill>
                <a:latin typeface="Calibri" pitchFamily="34" charset="0"/>
                <a:ea typeface="Calibri" pitchFamily="34" charset="-122"/>
                <a:cs typeface="Calibri" pitchFamily="34" charset="-120"/>
              </a:rPr>
              <a:t>Potencian la depresión respiratoria de opioides administrados de forma concomitante.</a:t>
            </a:r>
            <a:endParaRPr lang="en-US" sz="1250" dirty="0"/>
          </a:p>
          <a:p>
            <a:pPr marL="177800" indent="-177800">
              <a:lnSpc>
                <a:spcPct val="108000"/>
              </a:lnSpc>
              <a:spcAft>
                <a:spcPts val="900"/>
              </a:spcAft>
              <a:buSzPct val="100000"/>
              <a:buChar char="•"/>
            </a:pPr>
            <a:r>
              <a:rPr lang="en-US" sz="1250" dirty="0">
                <a:solidFill>
                  <a:srgbClr val="3A2A35"/>
                </a:solidFill>
                <a:latin typeface="Calibri" pitchFamily="34" charset="0"/>
                <a:ea typeface="Calibri" pitchFamily="34" charset="-122"/>
                <a:cs typeface="Calibri" pitchFamily="34" charset="-120"/>
              </a:rPr>
              <a:t>Requieren ajuste en adultos mayores, hepatópatas y pacientes con apnea obstructiva del sueño.</a:t>
            </a:r>
            <a:endParaRPr lang="en-US" sz="1250" dirty="0"/>
          </a:p>
          <a:p>
            <a:pPr marL="177800" indent="-177800">
              <a:lnSpc>
                <a:spcPct val="108000"/>
              </a:lnSpc>
              <a:spcAft>
                <a:spcPts val="900"/>
              </a:spcAft>
              <a:buSzPct val="100000"/>
              <a:buChar char="•"/>
            </a:pPr>
            <a:r>
              <a:rPr lang="en-US" sz="1250" dirty="0">
                <a:solidFill>
                  <a:srgbClr val="3A2A35"/>
                </a:solidFill>
                <a:latin typeface="Calibri" pitchFamily="34" charset="0"/>
                <a:ea typeface="Calibri" pitchFamily="34" charset="-122"/>
                <a:cs typeface="Calibri" pitchFamily="34" charset="-120"/>
              </a:rPr>
              <a:t>La benzodiacepina desplazó al barbitúrico por su mayor margen de seguridad y reversibilidad (flumazenil).</a:t>
            </a:r>
            <a:endParaRPr lang="en-US" sz="1250" dirty="0"/>
          </a:p>
        </p:txBody>
      </p:sp>
      <p:sp>
        <p:nvSpPr>
          <p:cNvPr id="12" name="Text 9"/>
          <p:cNvSpPr txBox="1"/>
          <p:nvPr/>
        </p:nvSpPr>
        <p:spPr>
          <a:xfrm>
            <a:off x="457200" y="6473952"/>
            <a:ext cx="6400800" cy="292608"/>
          </a:xfrm>
          <a:prstGeom prst="rect">
            <a:avLst/>
          </a:prstGeom>
          <a:noFill/>
          <a:ln/>
        </p:spPr>
        <p:txBody>
          <a:bodyPr wrap="square" lIns="0" tIns="0" rIns="0" bIns="0" rtlCol="0" anchor="ctr"/>
          <a:lstStyle/>
          <a:p>
            <a:pPr indent="0" marL="0">
              <a:buNone/>
            </a:pPr>
            <a:r>
              <a:rPr lang="en-US" sz="900" i="1" dirty="0">
                <a:solidFill>
                  <a:srgbClr val="77606F"/>
                </a:solidFill>
                <a:latin typeface="Calibri" pitchFamily="34" charset="0"/>
                <a:ea typeface="Calibri" pitchFamily="34" charset="-122"/>
                <a:cs typeface="Calibri" pitchFamily="34" charset="-120"/>
              </a:rPr>
              <a:t>Capítulo IV — Premedicación</a:t>
            </a:r>
            <a:endParaRPr lang="en-US" sz="900" dirty="0"/>
          </a:p>
        </p:txBody>
      </p:sp>
      <p:sp>
        <p:nvSpPr>
          <p:cNvPr id="13" name="Text 10"/>
          <p:cNvSpPr txBox="1"/>
          <p:nvPr/>
        </p:nvSpPr>
        <p:spPr>
          <a:xfrm>
            <a:off x="10362895" y="6473952"/>
            <a:ext cx="1371600" cy="292608"/>
          </a:xfrm>
          <a:prstGeom prst="rect">
            <a:avLst/>
          </a:prstGeom>
          <a:noFill/>
          <a:ln/>
        </p:spPr>
        <p:txBody>
          <a:bodyPr wrap="square" lIns="0" tIns="0" rIns="0" bIns="0" rtlCol="0" anchor="ctr"/>
          <a:lstStyle/>
          <a:p>
            <a:pPr algn="r" indent="0" marL="0">
              <a:buNone/>
            </a:pPr>
            <a:r>
              <a:rPr lang="en-US" sz="900" dirty="0">
                <a:solidFill>
                  <a:srgbClr val="77606F"/>
                </a:solidFill>
                <a:latin typeface="Calibri" pitchFamily="34" charset="0"/>
                <a:ea typeface="Calibri" pitchFamily="34" charset="-122"/>
                <a:cs typeface="Calibri" pitchFamily="34" charset="-120"/>
              </a:rPr>
              <a:t>8 / 33</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658368" cy="658368"/>
          </a:xfrm>
          <a:prstGeom prst="ellipse">
            <a:avLst/>
          </a:prstGeom>
          <a:solidFill>
            <a:srgbClr val="4A2545"/>
          </a:solidFill>
          <a:ln/>
        </p:spPr>
      </p:sp>
      <p:pic>
        <p:nvPicPr>
          <p:cNvPr id="3" name="Image 0" descr="preencoded.png">    </p:cNvPr>
          <p:cNvPicPr>
            <a:picLocks noChangeAspect="1"/>
          </p:cNvPicPr>
          <p:nvPr/>
        </p:nvPicPr>
        <p:blipFill>
          <a:blip r:embed="rId1"/>
          <a:stretch>
            <a:fillRect/>
          </a:stretch>
        </p:blipFill>
        <p:spPr>
          <a:xfrm>
            <a:off x="602041" y="556321"/>
            <a:ext cx="368686" cy="368686"/>
          </a:xfrm>
          <a:prstGeom prst="rect">
            <a:avLst/>
          </a:prstGeom>
        </p:spPr>
      </p:pic>
      <p:sp>
        <p:nvSpPr>
          <p:cNvPr id="4" name="Text 1"/>
          <p:cNvSpPr txBox="1"/>
          <p:nvPr/>
        </p:nvSpPr>
        <p:spPr>
          <a:xfrm>
            <a:off x="1298448" y="384048"/>
            <a:ext cx="9601200" cy="256032"/>
          </a:xfrm>
          <a:prstGeom prst="rect">
            <a:avLst/>
          </a:prstGeom>
          <a:noFill/>
          <a:ln/>
        </p:spPr>
        <p:txBody>
          <a:bodyPr wrap="square" lIns="0" tIns="0" rIns="0" bIns="0" rtlCol="0" anchor="ctr"/>
          <a:lstStyle/>
          <a:p>
            <a:pPr indent="0" marL="0">
              <a:buNone/>
            </a:pPr>
            <a:r>
              <a:rPr lang="en-US" sz="1150" b="1" spc="150" kern="0" dirty="0">
                <a:solidFill>
                  <a:srgbClr val="E0A458"/>
                </a:solidFill>
                <a:latin typeface="Calibri" pitchFamily="34" charset="0"/>
                <a:ea typeface="Calibri" pitchFamily="34" charset="-122"/>
                <a:cs typeface="Calibri" pitchFamily="34" charset="-120"/>
              </a:rPr>
              <a:t>BARBITÚRICOS</a:t>
            </a:r>
            <a:endParaRPr lang="en-US" sz="1150" dirty="0"/>
          </a:p>
        </p:txBody>
      </p:sp>
      <p:sp>
        <p:nvSpPr>
          <p:cNvPr id="5" name="Text 2"/>
          <p:cNvSpPr txBox="1"/>
          <p:nvPr/>
        </p:nvSpPr>
        <p:spPr>
          <a:xfrm>
            <a:off x="1298448" y="621792"/>
            <a:ext cx="10058400" cy="502920"/>
          </a:xfrm>
          <a:prstGeom prst="rect">
            <a:avLst/>
          </a:prstGeom>
          <a:noFill/>
          <a:ln/>
        </p:spPr>
        <p:txBody>
          <a:bodyPr wrap="square" lIns="0" tIns="0" rIns="0" bIns="0" rtlCol="0" anchor="ctr"/>
          <a:lstStyle/>
          <a:p>
            <a:pPr indent="0" marL="0">
              <a:buNone/>
            </a:pPr>
            <a:r>
              <a:rPr lang="en-US" sz="2500" b="1" dirty="0">
                <a:solidFill>
                  <a:srgbClr val="4A2545"/>
                </a:solidFill>
                <a:latin typeface="Cambria" pitchFamily="34" charset="0"/>
                <a:ea typeface="Cambria" pitchFamily="34" charset="-122"/>
                <a:cs typeface="Cambria" pitchFamily="34" charset="-120"/>
              </a:rPr>
              <a:t>Barbitúricos: farmacología y clasificación</a:t>
            </a:r>
            <a:endParaRPr lang="en-US" sz="25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508760"/>
          <a:ext cx="11277295" cy="914400"/>
        </p:xfrm>
        <a:graphic>
          <a:graphicData uri="http://schemas.openxmlformats.org/drawingml/2006/table">
            <a:tbl>
              <a:tblPr/>
              <a:tblGrid>
                <a:gridCol w="2377440"/>
                <a:gridCol w="2743200"/>
                <a:gridCol w="2560320"/>
                <a:gridCol w="3566160"/>
              </a:tblGrid>
              <a:tr h="502920">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Duración</a:t>
                      </a:r>
                      <a:endParaRPr lang="en-US" sz="115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4A2545"/>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Ejemplos</a:t>
                      </a:r>
                      <a:endParaRPr lang="en-US" sz="115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4A2545"/>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Inicio / duración</a:t>
                      </a:r>
                      <a:endParaRPr lang="en-US" sz="115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4A2545"/>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Uso clínico</a:t>
                      </a:r>
                      <a:endParaRPr lang="en-US" sz="115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4A2545"/>
                    </a:solidFill>
                  </a:tcPr>
                </a:tc>
              </a:tr>
              <a:tr h="713232">
                <a:tc>
                  <a:txBody>
                    <a:bodyPr/>
                    <a:lstStyle/>
                    <a:p>
                      <a:pPr algn="l" indent="0" marL="0">
                        <a:buNone/>
                      </a:pPr>
                      <a:r>
                        <a:rPr lang="en-US" sz="1100" b="1" dirty="0">
                          <a:solidFill>
                            <a:srgbClr val="3A2A35"/>
                          </a:solidFill>
                          <a:latin typeface="Calibri" pitchFamily="34" charset="0"/>
                          <a:ea typeface="Calibri" pitchFamily="34" charset="-122"/>
                          <a:cs typeface="Calibri" pitchFamily="34" charset="-120"/>
                        </a:rPr>
                        <a:t>Acción ultracorta</a:t>
                      </a:r>
                      <a:endParaRPr lang="en-US" sz="110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A2A35"/>
                          </a:solidFill>
                          <a:latin typeface="Calibri" pitchFamily="34" charset="0"/>
                          <a:ea typeface="Calibri" pitchFamily="34" charset="-122"/>
                          <a:cs typeface="Calibri" pitchFamily="34" charset="-120"/>
                        </a:rPr>
                        <a:t>Tiopental sódico</a:t>
                      </a:r>
                      <a:endParaRPr lang="en-US" sz="110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A2A35"/>
                          </a:solidFill>
                          <a:latin typeface="Calibri" pitchFamily="34" charset="0"/>
                          <a:ea typeface="Calibri" pitchFamily="34" charset="-122"/>
                          <a:cs typeface="Calibri" pitchFamily="34" charset="-120"/>
                        </a:rPr>
                        <a:t>Segundos / 5-10 min</a:t>
                      </a:r>
                      <a:endParaRPr lang="en-US" sz="110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A2A35"/>
                          </a:solidFill>
                          <a:latin typeface="Calibri" pitchFamily="34" charset="0"/>
                          <a:ea typeface="Calibri" pitchFamily="34" charset="-122"/>
                          <a:cs typeface="Calibri" pitchFamily="34" charset="-120"/>
                        </a:rPr>
                        <a:t>Inducción IV (histórico), no premedicación</a:t>
                      </a:r>
                      <a:endParaRPr lang="en-US" sz="110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FFFFFF"/>
                    </a:solidFill>
                  </a:tcPr>
                </a:tc>
              </a:tr>
              <a:tr h="713232">
                <a:tc>
                  <a:txBody>
                    <a:bodyPr/>
                    <a:lstStyle/>
                    <a:p>
                      <a:pPr algn="l" indent="0" marL="0">
                        <a:buNone/>
                      </a:pPr>
                      <a:r>
                        <a:rPr lang="en-US" sz="1100" b="1" dirty="0">
                          <a:solidFill>
                            <a:srgbClr val="3A2A35"/>
                          </a:solidFill>
                          <a:latin typeface="Calibri" pitchFamily="34" charset="0"/>
                          <a:ea typeface="Calibri" pitchFamily="34" charset="-122"/>
                          <a:cs typeface="Calibri" pitchFamily="34" charset="-120"/>
                        </a:rPr>
                        <a:t>Acción corta</a:t>
                      </a:r>
                      <a:endParaRPr lang="en-US" sz="110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F4EEF2"/>
                    </a:solidFill>
                  </a:tcPr>
                </a:tc>
                <a:tc>
                  <a:txBody>
                    <a:bodyPr/>
                    <a:lstStyle/>
                    <a:p>
                      <a:pPr algn="ctr" indent="0" marL="0">
                        <a:buNone/>
                      </a:pPr>
                      <a:r>
                        <a:rPr lang="en-US" sz="1100" dirty="0">
                          <a:solidFill>
                            <a:srgbClr val="3A2A35"/>
                          </a:solidFill>
                          <a:latin typeface="Calibri" pitchFamily="34" charset="0"/>
                          <a:ea typeface="Calibri" pitchFamily="34" charset="-122"/>
                          <a:cs typeface="Calibri" pitchFamily="34" charset="-120"/>
                        </a:rPr>
                        <a:t>Secobarbital, pentobarbital</a:t>
                      </a:r>
                      <a:endParaRPr lang="en-US" sz="110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F4EEF2"/>
                    </a:solidFill>
                  </a:tcPr>
                </a:tc>
                <a:tc>
                  <a:txBody>
                    <a:bodyPr/>
                    <a:lstStyle/>
                    <a:p>
                      <a:pPr algn="ctr" indent="0" marL="0">
                        <a:buNone/>
                      </a:pPr>
                      <a:r>
                        <a:rPr lang="en-US" sz="1100" dirty="0">
                          <a:solidFill>
                            <a:srgbClr val="3A2A35"/>
                          </a:solidFill>
                          <a:latin typeface="Calibri" pitchFamily="34" charset="0"/>
                          <a:ea typeface="Calibri" pitchFamily="34" charset="-122"/>
                          <a:cs typeface="Calibri" pitchFamily="34" charset="-120"/>
                        </a:rPr>
                        <a:t>15-30 min / 3-4 h</a:t>
                      </a:r>
                      <a:endParaRPr lang="en-US" sz="110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F4EEF2"/>
                    </a:solidFill>
                  </a:tcPr>
                </a:tc>
                <a:tc>
                  <a:txBody>
                    <a:bodyPr/>
                    <a:lstStyle/>
                    <a:p>
                      <a:pPr algn="ctr" indent="0" marL="0">
                        <a:buNone/>
                      </a:pPr>
                      <a:r>
                        <a:rPr lang="en-US" sz="1100" dirty="0">
                          <a:solidFill>
                            <a:srgbClr val="3A2A35"/>
                          </a:solidFill>
                          <a:latin typeface="Calibri" pitchFamily="34" charset="0"/>
                          <a:ea typeface="Calibri" pitchFamily="34" charset="-122"/>
                          <a:cs typeface="Calibri" pitchFamily="34" charset="-120"/>
                        </a:rPr>
                        <a:t>Sedación e hipnosis preoperatoria oral</a:t>
                      </a:r>
                      <a:endParaRPr lang="en-US" sz="110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F4EEF2"/>
                    </a:solidFill>
                  </a:tcPr>
                </a:tc>
              </a:tr>
              <a:tr h="713232">
                <a:tc>
                  <a:txBody>
                    <a:bodyPr/>
                    <a:lstStyle/>
                    <a:p>
                      <a:pPr algn="l" indent="0" marL="0">
                        <a:buNone/>
                      </a:pPr>
                      <a:r>
                        <a:rPr lang="en-US" sz="1100" b="1" dirty="0">
                          <a:solidFill>
                            <a:srgbClr val="3A2A35"/>
                          </a:solidFill>
                          <a:latin typeface="Calibri" pitchFamily="34" charset="0"/>
                          <a:ea typeface="Calibri" pitchFamily="34" charset="-122"/>
                          <a:cs typeface="Calibri" pitchFamily="34" charset="-120"/>
                        </a:rPr>
                        <a:t>Acción intermedia</a:t>
                      </a:r>
                      <a:endParaRPr lang="en-US" sz="110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A2A35"/>
                          </a:solidFill>
                          <a:latin typeface="Calibri" pitchFamily="34" charset="0"/>
                          <a:ea typeface="Calibri" pitchFamily="34" charset="-122"/>
                          <a:cs typeface="Calibri" pitchFamily="34" charset="-120"/>
                        </a:rPr>
                        <a:t>Amobarbital, butabarbital</a:t>
                      </a:r>
                      <a:endParaRPr lang="en-US" sz="110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A2A35"/>
                          </a:solidFill>
                          <a:latin typeface="Calibri" pitchFamily="34" charset="0"/>
                          <a:ea typeface="Calibri" pitchFamily="34" charset="-122"/>
                          <a:cs typeface="Calibri" pitchFamily="34" charset="-120"/>
                        </a:rPr>
                        <a:t>45-60 min / 6-8 h</a:t>
                      </a:r>
                      <a:endParaRPr lang="en-US" sz="110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A2A35"/>
                          </a:solidFill>
                          <a:latin typeface="Calibri" pitchFamily="34" charset="0"/>
                          <a:ea typeface="Calibri" pitchFamily="34" charset="-122"/>
                          <a:cs typeface="Calibri" pitchFamily="34" charset="-120"/>
                        </a:rPr>
                        <a:t>Sedación nocturna prequirúrgica</a:t>
                      </a:r>
                      <a:endParaRPr lang="en-US" sz="110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FFFFFF"/>
                    </a:solidFill>
                  </a:tcPr>
                </a:tc>
              </a:tr>
              <a:tr h="713232">
                <a:tc>
                  <a:txBody>
                    <a:bodyPr/>
                    <a:lstStyle/>
                    <a:p>
                      <a:pPr algn="l" indent="0" marL="0">
                        <a:buNone/>
                      </a:pPr>
                      <a:r>
                        <a:rPr lang="en-US" sz="1100" b="1" dirty="0">
                          <a:solidFill>
                            <a:srgbClr val="3A2A35"/>
                          </a:solidFill>
                          <a:latin typeface="Calibri" pitchFamily="34" charset="0"/>
                          <a:ea typeface="Calibri" pitchFamily="34" charset="-122"/>
                          <a:cs typeface="Calibri" pitchFamily="34" charset="-120"/>
                        </a:rPr>
                        <a:t>Acción prolongada</a:t>
                      </a:r>
                      <a:endParaRPr lang="en-US" sz="110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F4EEF2"/>
                    </a:solidFill>
                  </a:tcPr>
                </a:tc>
                <a:tc>
                  <a:txBody>
                    <a:bodyPr/>
                    <a:lstStyle/>
                    <a:p>
                      <a:pPr algn="ctr" indent="0" marL="0">
                        <a:buNone/>
                      </a:pPr>
                      <a:r>
                        <a:rPr lang="en-US" sz="1100" dirty="0">
                          <a:solidFill>
                            <a:srgbClr val="3A2A35"/>
                          </a:solidFill>
                          <a:latin typeface="Calibri" pitchFamily="34" charset="0"/>
                          <a:ea typeface="Calibri" pitchFamily="34" charset="-122"/>
                          <a:cs typeface="Calibri" pitchFamily="34" charset="-120"/>
                        </a:rPr>
                        <a:t>Fenobarbital</a:t>
                      </a:r>
                      <a:endParaRPr lang="en-US" sz="110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F4EEF2"/>
                    </a:solidFill>
                  </a:tcPr>
                </a:tc>
                <a:tc>
                  <a:txBody>
                    <a:bodyPr/>
                    <a:lstStyle/>
                    <a:p>
                      <a:pPr algn="ctr" indent="0" marL="0">
                        <a:buNone/>
                      </a:pPr>
                      <a:r>
                        <a:rPr lang="en-US" sz="1100" dirty="0">
                          <a:solidFill>
                            <a:srgbClr val="3A2A35"/>
                          </a:solidFill>
                          <a:latin typeface="Calibri" pitchFamily="34" charset="0"/>
                          <a:ea typeface="Calibri" pitchFamily="34" charset="-122"/>
                          <a:cs typeface="Calibri" pitchFamily="34" charset="-120"/>
                        </a:rPr>
                        <a:t>60 min / 10-12 h</a:t>
                      </a:r>
                      <a:endParaRPr lang="en-US" sz="110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F4EEF2"/>
                    </a:solidFill>
                  </a:tcPr>
                </a:tc>
                <a:tc>
                  <a:txBody>
                    <a:bodyPr/>
                    <a:lstStyle/>
                    <a:p>
                      <a:pPr algn="ctr" indent="0" marL="0">
                        <a:buNone/>
                      </a:pPr>
                      <a:r>
                        <a:rPr lang="en-US" sz="1100" dirty="0">
                          <a:solidFill>
                            <a:srgbClr val="3A2A35"/>
                          </a:solidFill>
                          <a:latin typeface="Calibri" pitchFamily="34" charset="0"/>
                          <a:ea typeface="Calibri" pitchFamily="34" charset="-122"/>
                          <a:cs typeface="Calibri" pitchFamily="34" charset="-120"/>
                        </a:rPr>
                        <a:t>Anticonvulsivante; premedicación en desuso</a:t>
                      </a:r>
                      <a:endParaRPr lang="en-US" sz="110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F4EEF2"/>
                    </a:solidFill>
                  </a:tcPr>
                </a:tc>
              </a:tr>
            </a:tbl>
          </a:graphicData>
        </a:graphic>
      </p:graphicFrame>
      <p:sp>
        <p:nvSpPr>
          <p:cNvPr id="7" name="Text 3"/>
          <p:cNvSpPr txBox="1"/>
          <p:nvPr/>
        </p:nvSpPr>
        <p:spPr>
          <a:xfrm>
            <a:off x="457200" y="5349240"/>
            <a:ext cx="11277295" cy="822960"/>
          </a:xfrm>
          <a:prstGeom prst="rect">
            <a:avLst/>
          </a:prstGeom>
          <a:noFill/>
          <a:ln/>
        </p:spPr>
        <p:txBody>
          <a:bodyPr wrap="square" lIns="0" tIns="0" rIns="0" bIns="0" rtlCol="0" anchor="t"/>
          <a:lstStyle/>
          <a:p>
            <a:pPr indent="0" marL="0">
              <a:buNone/>
            </a:pPr>
            <a:r>
              <a:rPr lang="en-US" sz="1200" i="1" dirty="0">
                <a:solidFill>
                  <a:srgbClr val="77606F"/>
                </a:solidFill>
                <a:latin typeface="Calibri" pitchFamily="34" charset="0"/>
                <a:ea typeface="Calibri" pitchFamily="34" charset="-122"/>
                <a:cs typeface="Calibri" pitchFamily="34" charset="-120"/>
              </a:rPr>
              <a:t>Clasificación química: ácido barbitúrico sustituido en C5; la liposolubilidad del sustituyente determina la velocidad de inicio y la duración del efecto.</a:t>
            </a:r>
            <a:endParaRPr lang="en-US" sz="1200" dirty="0"/>
          </a:p>
        </p:txBody>
      </p:sp>
      <p:sp>
        <p:nvSpPr>
          <p:cNvPr id="8" name="Text 4"/>
          <p:cNvSpPr txBox="1"/>
          <p:nvPr/>
        </p:nvSpPr>
        <p:spPr>
          <a:xfrm>
            <a:off x="457200" y="6473952"/>
            <a:ext cx="6400800" cy="292608"/>
          </a:xfrm>
          <a:prstGeom prst="rect">
            <a:avLst/>
          </a:prstGeom>
          <a:noFill/>
          <a:ln/>
        </p:spPr>
        <p:txBody>
          <a:bodyPr wrap="square" lIns="0" tIns="0" rIns="0" bIns="0" rtlCol="0" anchor="ctr"/>
          <a:lstStyle/>
          <a:p>
            <a:pPr indent="0" marL="0">
              <a:buNone/>
            </a:pPr>
            <a:r>
              <a:rPr lang="en-US" sz="900" i="1" dirty="0">
                <a:solidFill>
                  <a:srgbClr val="77606F"/>
                </a:solidFill>
                <a:latin typeface="Calibri" pitchFamily="34" charset="0"/>
                <a:ea typeface="Calibri" pitchFamily="34" charset="-122"/>
                <a:cs typeface="Calibri" pitchFamily="34" charset="-120"/>
              </a:rPr>
              <a:t>Capítulo IV — Premedicación</a:t>
            </a:r>
            <a:endParaRPr lang="en-US" sz="900" dirty="0"/>
          </a:p>
        </p:txBody>
      </p:sp>
      <p:sp>
        <p:nvSpPr>
          <p:cNvPr id="9" name="Text 5"/>
          <p:cNvSpPr txBox="1"/>
          <p:nvPr/>
        </p:nvSpPr>
        <p:spPr>
          <a:xfrm>
            <a:off x="10362895" y="6473952"/>
            <a:ext cx="1371600" cy="292608"/>
          </a:xfrm>
          <a:prstGeom prst="rect">
            <a:avLst/>
          </a:prstGeom>
          <a:noFill/>
          <a:ln/>
        </p:spPr>
        <p:txBody>
          <a:bodyPr wrap="square" lIns="0" tIns="0" rIns="0" bIns="0" rtlCol="0" anchor="ctr"/>
          <a:lstStyle/>
          <a:p>
            <a:pPr algn="r" indent="0" marL="0">
              <a:buNone/>
            </a:pPr>
            <a:r>
              <a:rPr lang="en-US" sz="900" dirty="0">
                <a:solidFill>
                  <a:srgbClr val="77606F"/>
                </a:solidFill>
                <a:latin typeface="Calibri" pitchFamily="34" charset="0"/>
                <a:ea typeface="Calibri" pitchFamily="34" charset="-122"/>
                <a:cs typeface="Calibri" pitchFamily="34" charset="-120"/>
              </a:rPr>
              <a:t>9 / 33</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658368" cy="658368"/>
          </a:xfrm>
          <a:prstGeom prst="ellipse">
            <a:avLst/>
          </a:prstGeom>
          <a:solidFill>
            <a:srgbClr val="4A2545"/>
          </a:solidFill>
          <a:ln/>
        </p:spPr>
      </p:sp>
      <p:pic>
        <p:nvPicPr>
          <p:cNvPr id="3" name="Image 0" descr="preencoded.png">    </p:cNvPr>
          <p:cNvPicPr>
            <a:picLocks noChangeAspect="1"/>
          </p:cNvPicPr>
          <p:nvPr/>
        </p:nvPicPr>
        <p:blipFill>
          <a:blip r:embed="rId1"/>
          <a:stretch>
            <a:fillRect/>
          </a:stretch>
        </p:blipFill>
        <p:spPr>
          <a:xfrm>
            <a:off x="602041" y="556321"/>
            <a:ext cx="368686" cy="368686"/>
          </a:xfrm>
          <a:prstGeom prst="rect">
            <a:avLst/>
          </a:prstGeom>
        </p:spPr>
      </p:pic>
      <p:sp>
        <p:nvSpPr>
          <p:cNvPr id="4" name="Text 1"/>
          <p:cNvSpPr txBox="1"/>
          <p:nvPr/>
        </p:nvSpPr>
        <p:spPr>
          <a:xfrm>
            <a:off x="1298448" y="384048"/>
            <a:ext cx="9601200" cy="256032"/>
          </a:xfrm>
          <a:prstGeom prst="rect">
            <a:avLst/>
          </a:prstGeom>
          <a:noFill/>
          <a:ln/>
        </p:spPr>
        <p:txBody>
          <a:bodyPr wrap="square" lIns="0" tIns="0" rIns="0" bIns="0" rtlCol="0" anchor="ctr"/>
          <a:lstStyle/>
          <a:p>
            <a:pPr indent="0" marL="0">
              <a:buNone/>
            </a:pPr>
            <a:r>
              <a:rPr lang="en-US" sz="1150" b="1" spc="150" kern="0" dirty="0">
                <a:solidFill>
                  <a:srgbClr val="E0A458"/>
                </a:solidFill>
                <a:latin typeface="Calibri" pitchFamily="34" charset="0"/>
                <a:ea typeface="Calibri" pitchFamily="34" charset="-122"/>
                <a:cs typeface="Calibri" pitchFamily="34" charset="-120"/>
              </a:rPr>
              <a:t>FARMACODINAMIA</a:t>
            </a:r>
            <a:endParaRPr lang="en-US" sz="1150" dirty="0"/>
          </a:p>
        </p:txBody>
      </p:sp>
      <p:sp>
        <p:nvSpPr>
          <p:cNvPr id="5" name="Text 2"/>
          <p:cNvSpPr txBox="1"/>
          <p:nvPr/>
        </p:nvSpPr>
        <p:spPr>
          <a:xfrm>
            <a:off x="1298448" y="621792"/>
            <a:ext cx="10058400" cy="502920"/>
          </a:xfrm>
          <a:prstGeom prst="rect">
            <a:avLst/>
          </a:prstGeom>
          <a:noFill/>
          <a:ln/>
        </p:spPr>
        <p:txBody>
          <a:bodyPr wrap="square" lIns="0" tIns="0" rIns="0" bIns="0" rtlCol="0" anchor="ctr"/>
          <a:lstStyle/>
          <a:p>
            <a:pPr indent="0" marL="0">
              <a:buNone/>
            </a:pPr>
            <a:r>
              <a:rPr lang="en-US" sz="2500" b="1" dirty="0">
                <a:solidFill>
                  <a:srgbClr val="4A2545"/>
                </a:solidFill>
                <a:latin typeface="Cambria" pitchFamily="34" charset="0"/>
                <a:ea typeface="Cambria" pitchFamily="34" charset="-122"/>
                <a:cs typeface="Cambria" pitchFamily="34" charset="-120"/>
              </a:rPr>
              <a:t>Barbitúricos: mecanismo de acción sobre GABA-A</a:t>
            </a:r>
            <a:endParaRPr lang="en-US" sz="2500" dirty="0"/>
          </a:p>
        </p:txBody>
      </p:sp>
      <p:sp>
        <p:nvSpPr>
          <p:cNvPr id="6" name="Shape 3"/>
          <p:cNvSpPr/>
          <p:nvPr/>
        </p:nvSpPr>
        <p:spPr>
          <a:xfrm>
            <a:off x="457200" y="1417320"/>
            <a:ext cx="5455768" cy="4480560"/>
          </a:xfrm>
          <a:prstGeom prst="roundRect">
            <a:avLst>
              <a:gd name="adj" fmla="val 1633"/>
            </a:avLst>
          </a:prstGeom>
          <a:solidFill>
            <a:srgbClr val="F4EEF2"/>
          </a:solidFill>
          <a:ln/>
          <a:effectLst>
            <a:outerShdw sx="100000" sy="100000" kx="0" ky="0" algn="bl" rotWithShape="0" blurRad="76200" dist="25400" dir="5400000">
              <a:srgbClr val="2A1729">
                <a:alpha val="18000"/>
              </a:srgbClr>
            </a:outerShdw>
          </a:effectLst>
        </p:spPr>
      </p:sp>
      <p:sp>
        <p:nvSpPr>
          <p:cNvPr id="7" name="Text 4"/>
          <p:cNvSpPr txBox="1"/>
          <p:nvPr/>
        </p:nvSpPr>
        <p:spPr>
          <a:xfrm>
            <a:off x="749808" y="1636776"/>
            <a:ext cx="4870552" cy="457200"/>
          </a:xfrm>
          <a:prstGeom prst="rect">
            <a:avLst/>
          </a:prstGeom>
          <a:noFill/>
          <a:ln/>
        </p:spPr>
        <p:txBody>
          <a:bodyPr wrap="square" lIns="0" tIns="0" rIns="0" bIns="0" rtlCol="0" anchor="ctr"/>
          <a:lstStyle/>
          <a:p>
            <a:pPr indent="0" marL="0">
              <a:buNone/>
            </a:pPr>
            <a:r>
              <a:rPr lang="en-US" sz="1650" b="1" dirty="0">
                <a:solidFill>
                  <a:srgbClr val="4A2545"/>
                </a:solidFill>
                <a:latin typeface="Cambria" pitchFamily="34" charset="0"/>
                <a:ea typeface="Cambria" pitchFamily="34" charset="-122"/>
                <a:cs typeface="Cambria" pitchFamily="34" charset="-120"/>
              </a:rPr>
              <a:t>Sitio y efecto molecular</a:t>
            </a:r>
            <a:endParaRPr lang="en-US" sz="1650" dirty="0"/>
          </a:p>
        </p:txBody>
      </p:sp>
      <p:sp>
        <p:nvSpPr>
          <p:cNvPr id="8" name="Text 5"/>
          <p:cNvSpPr txBox="1"/>
          <p:nvPr/>
        </p:nvSpPr>
        <p:spPr>
          <a:xfrm>
            <a:off x="749808" y="2194560"/>
            <a:ext cx="4870552" cy="3474720"/>
          </a:xfrm>
          <a:prstGeom prst="rect">
            <a:avLst/>
          </a:prstGeom>
          <a:noFill/>
          <a:ln/>
        </p:spPr>
        <p:txBody>
          <a:bodyPr wrap="square" lIns="0" tIns="0" rIns="0" bIns="0" rtlCol="0" anchor="t"/>
          <a:lstStyle/>
          <a:p>
            <a:pPr marL="177800" indent="-177800">
              <a:lnSpc>
                <a:spcPct val="108000"/>
              </a:lnSpc>
              <a:spcAft>
                <a:spcPts val="900"/>
              </a:spcAft>
              <a:buSzPct val="100000"/>
              <a:buChar char="•"/>
            </a:pPr>
            <a:r>
              <a:rPr lang="en-US" sz="1250" dirty="0">
                <a:solidFill>
                  <a:srgbClr val="3A2A35"/>
                </a:solidFill>
                <a:latin typeface="Calibri" pitchFamily="34" charset="0"/>
                <a:ea typeface="Calibri" pitchFamily="34" charset="-122"/>
                <a:cs typeface="Calibri" pitchFamily="34" charset="-120"/>
              </a:rPr>
              <a:t>Se unen a un sitio alostérico distinto al del GABA en el receptor GABA-A (canal de cloro).</a:t>
            </a:r>
            <a:endParaRPr lang="en-US" sz="1250" dirty="0"/>
          </a:p>
          <a:p>
            <a:pPr marL="177800" indent="-177800">
              <a:lnSpc>
                <a:spcPct val="108000"/>
              </a:lnSpc>
              <a:spcAft>
                <a:spcPts val="900"/>
              </a:spcAft>
              <a:buSzPct val="100000"/>
              <a:buChar char="•"/>
            </a:pPr>
            <a:r>
              <a:rPr lang="en-US" sz="1250" dirty="0">
                <a:solidFill>
                  <a:srgbClr val="3A2A35"/>
                </a:solidFill>
                <a:latin typeface="Calibri" pitchFamily="34" charset="0"/>
                <a:ea typeface="Calibri" pitchFamily="34" charset="-122"/>
                <a:cs typeface="Calibri" pitchFamily="34" charset="-120"/>
              </a:rPr>
              <a:t>Aumentan la duración de apertura del canal de cloro (a diferencia de las benzodiacepinas, que aumentan la frecuencia de apertura).</a:t>
            </a:r>
            <a:endParaRPr lang="en-US" sz="1250" dirty="0"/>
          </a:p>
          <a:p>
            <a:pPr marL="177800" indent="-177800">
              <a:lnSpc>
                <a:spcPct val="108000"/>
              </a:lnSpc>
              <a:spcAft>
                <a:spcPts val="900"/>
              </a:spcAft>
              <a:buSzPct val="100000"/>
              <a:buChar char="•"/>
            </a:pPr>
            <a:r>
              <a:rPr lang="en-US" sz="1250" dirty="0">
                <a:solidFill>
                  <a:srgbClr val="3A2A35"/>
                </a:solidFill>
                <a:latin typeface="Calibri" pitchFamily="34" charset="0"/>
                <a:ea typeface="Calibri" pitchFamily="34" charset="-122"/>
                <a:cs typeface="Calibri" pitchFamily="34" charset="-120"/>
              </a:rPr>
              <a:t>A dosis altas actúan como agonistas directos del canal, incluso sin GABA presente.</a:t>
            </a:r>
            <a:endParaRPr lang="en-US" sz="1250" dirty="0"/>
          </a:p>
          <a:p>
            <a:pPr marL="177800" indent="-177800">
              <a:lnSpc>
                <a:spcPct val="108000"/>
              </a:lnSpc>
              <a:spcAft>
                <a:spcPts val="900"/>
              </a:spcAft>
              <a:buSzPct val="100000"/>
              <a:buChar char="•"/>
            </a:pPr>
            <a:r>
              <a:rPr lang="en-US" sz="1250" dirty="0">
                <a:solidFill>
                  <a:srgbClr val="3A2A35"/>
                </a:solidFill>
                <a:latin typeface="Calibri" pitchFamily="34" charset="0"/>
                <a:ea typeface="Calibri" pitchFamily="34" charset="-122"/>
                <a:cs typeface="Calibri" pitchFamily="34" charset="-120"/>
              </a:rPr>
              <a:t>Este efecto directo explica su menor margen de seguridad frente a las benzodiacepinas.</a:t>
            </a:r>
            <a:endParaRPr lang="en-US" sz="1250" dirty="0"/>
          </a:p>
        </p:txBody>
      </p:sp>
      <p:sp>
        <p:nvSpPr>
          <p:cNvPr id="9" name="Shape 6"/>
          <p:cNvSpPr/>
          <p:nvPr/>
        </p:nvSpPr>
        <p:spPr>
          <a:xfrm>
            <a:off x="6278728" y="1417320"/>
            <a:ext cx="5455768" cy="4480560"/>
          </a:xfrm>
          <a:prstGeom prst="roundRect">
            <a:avLst>
              <a:gd name="adj" fmla="val 1633"/>
            </a:avLst>
          </a:prstGeom>
          <a:solidFill>
            <a:srgbClr val="FBF3E7"/>
          </a:solidFill>
          <a:ln/>
          <a:effectLst>
            <a:outerShdw sx="100000" sy="100000" kx="0" ky="0" algn="bl" rotWithShape="0" blurRad="76200" dist="25400" dir="5400000">
              <a:srgbClr val="2A1729">
                <a:alpha val="18000"/>
              </a:srgbClr>
            </a:outerShdw>
          </a:effectLst>
        </p:spPr>
      </p:sp>
      <p:sp>
        <p:nvSpPr>
          <p:cNvPr id="10" name="Text 7"/>
          <p:cNvSpPr txBox="1"/>
          <p:nvPr/>
        </p:nvSpPr>
        <p:spPr>
          <a:xfrm>
            <a:off x="6571336" y="1636776"/>
            <a:ext cx="4870552" cy="457200"/>
          </a:xfrm>
          <a:prstGeom prst="rect">
            <a:avLst/>
          </a:prstGeom>
          <a:noFill/>
          <a:ln/>
        </p:spPr>
        <p:txBody>
          <a:bodyPr wrap="square" lIns="0" tIns="0" rIns="0" bIns="0" rtlCol="0" anchor="ctr"/>
          <a:lstStyle/>
          <a:p>
            <a:pPr indent="0" marL="0">
              <a:buNone/>
            </a:pPr>
            <a:r>
              <a:rPr lang="en-US" sz="1650" b="1" dirty="0">
                <a:solidFill>
                  <a:srgbClr val="4A2545"/>
                </a:solidFill>
                <a:latin typeface="Cambria" pitchFamily="34" charset="0"/>
                <a:ea typeface="Cambria" pitchFamily="34" charset="-122"/>
                <a:cs typeface="Cambria" pitchFamily="34" charset="-120"/>
              </a:rPr>
              <a:t>Consecuencias clínicas</a:t>
            </a:r>
            <a:endParaRPr lang="en-US" sz="1650" dirty="0"/>
          </a:p>
        </p:txBody>
      </p:sp>
      <p:sp>
        <p:nvSpPr>
          <p:cNvPr id="11" name="Text 8"/>
          <p:cNvSpPr txBox="1"/>
          <p:nvPr/>
        </p:nvSpPr>
        <p:spPr>
          <a:xfrm>
            <a:off x="6571336" y="2194560"/>
            <a:ext cx="4870552" cy="3474720"/>
          </a:xfrm>
          <a:prstGeom prst="rect">
            <a:avLst/>
          </a:prstGeom>
          <a:noFill/>
          <a:ln/>
        </p:spPr>
        <p:txBody>
          <a:bodyPr wrap="square" lIns="0" tIns="0" rIns="0" bIns="0" rtlCol="0" anchor="t"/>
          <a:lstStyle/>
          <a:p>
            <a:pPr marL="177800" indent="-177800">
              <a:lnSpc>
                <a:spcPct val="108000"/>
              </a:lnSpc>
              <a:spcAft>
                <a:spcPts val="900"/>
              </a:spcAft>
              <a:buSzPct val="100000"/>
              <a:buChar char="•"/>
            </a:pPr>
            <a:r>
              <a:rPr lang="en-US" sz="1250" dirty="0">
                <a:solidFill>
                  <a:srgbClr val="3A2A35"/>
                </a:solidFill>
                <a:latin typeface="Calibri" pitchFamily="34" charset="0"/>
                <a:ea typeface="Calibri" pitchFamily="34" charset="-122"/>
                <a:cs typeface="Calibri" pitchFamily="34" charset="-120"/>
              </a:rPr>
              <a:t>Hiperpolarización neuronal → depresión dosis-dependiente del SNC sin techo terapéutico claro.</a:t>
            </a:r>
            <a:endParaRPr lang="en-US" sz="1250" dirty="0"/>
          </a:p>
          <a:p>
            <a:pPr marL="177800" indent="-177800">
              <a:lnSpc>
                <a:spcPct val="108000"/>
              </a:lnSpc>
              <a:spcAft>
                <a:spcPts val="900"/>
              </a:spcAft>
              <a:buSzPct val="100000"/>
              <a:buChar char="•"/>
            </a:pPr>
            <a:r>
              <a:rPr lang="en-US" sz="1250" dirty="0">
                <a:solidFill>
                  <a:srgbClr val="3A2A35"/>
                </a:solidFill>
                <a:latin typeface="Calibri" pitchFamily="34" charset="0"/>
                <a:ea typeface="Calibri" pitchFamily="34" charset="-122"/>
                <a:cs typeface="Calibri" pitchFamily="34" charset="-120"/>
              </a:rPr>
              <a:t>Depresión respiratoria y cardiovascular más marcada que las benzodiacepinas.</a:t>
            </a:r>
            <a:endParaRPr lang="en-US" sz="1250" dirty="0"/>
          </a:p>
          <a:p>
            <a:pPr marL="177800" indent="-177800">
              <a:lnSpc>
                <a:spcPct val="108000"/>
              </a:lnSpc>
              <a:spcAft>
                <a:spcPts val="900"/>
              </a:spcAft>
              <a:buSzPct val="100000"/>
              <a:buChar char="•"/>
            </a:pPr>
            <a:r>
              <a:rPr lang="en-US" sz="1250" dirty="0">
                <a:solidFill>
                  <a:srgbClr val="3A2A35"/>
                </a:solidFill>
                <a:latin typeface="Calibri" pitchFamily="34" charset="0"/>
                <a:ea typeface="Calibri" pitchFamily="34" charset="-122"/>
                <a:cs typeface="Calibri" pitchFamily="34" charset="-120"/>
              </a:rPr>
              <a:t>Ausencia de antagonista específico (a diferencia del flumazenil para benzodiacepinas).</a:t>
            </a:r>
            <a:endParaRPr lang="en-US" sz="1250" dirty="0"/>
          </a:p>
          <a:p>
            <a:pPr marL="177800" indent="-177800">
              <a:lnSpc>
                <a:spcPct val="108000"/>
              </a:lnSpc>
              <a:spcAft>
                <a:spcPts val="900"/>
              </a:spcAft>
              <a:buSzPct val="100000"/>
              <a:buChar char="•"/>
            </a:pPr>
            <a:r>
              <a:rPr lang="en-US" sz="1250" dirty="0">
                <a:solidFill>
                  <a:srgbClr val="3A2A35"/>
                </a:solidFill>
                <a:latin typeface="Calibri" pitchFamily="34" charset="0"/>
                <a:ea typeface="Calibri" pitchFamily="34" charset="-122"/>
                <a:cs typeface="Calibri" pitchFamily="34" charset="-120"/>
              </a:rPr>
              <a:t>Inducen enzimas del citocromo P450, generando interacciones farmacológicas relevantes.</a:t>
            </a:r>
            <a:endParaRPr lang="en-US" sz="1250" dirty="0"/>
          </a:p>
        </p:txBody>
      </p:sp>
      <p:sp>
        <p:nvSpPr>
          <p:cNvPr id="12" name="Text 9"/>
          <p:cNvSpPr txBox="1"/>
          <p:nvPr/>
        </p:nvSpPr>
        <p:spPr>
          <a:xfrm>
            <a:off x="457200" y="6473952"/>
            <a:ext cx="6400800" cy="292608"/>
          </a:xfrm>
          <a:prstGeom prst="rect">
            <a:avLst/>
          </a:prstGeom>
          <a:noFill/>
          <a:ln/>
        </p:spPr>
        <p:txBody>
          <a:bodyPr wrap="square" lIns="0" tIns="0" rIns="0" bIns="0" rtlCol="0" anchor="ctr"/>
          <a:lstStyle/>
          <a:p>
            <a:pPr indent="0" marL="0">
              <a:buNone/>
            </a:pPr>
            <a:r>
              <a:rPr lang="en-US" sz="900" i="1" dirty="0">
                <a:solidFill>
                  <a:srgbClr val="77606F"/>
                </a:solidFill>
                <a:latin typeface="Calibri" pitchFamily="34" charset="0"/>
                <a:ea typeface="Calibri" pitchFamily="34" charset="-122"/>
                <a:cs typeface="Calibri" pitchFamily="34" charset="-120"/>
              </a:rPr>
              <a:t>Capítulo IV — Premedicación</a:t>
            </a:r>
            <a:endParaRPr lang="en-US" sz="900" dirty="0"/>
          </a:p>
        </p:txBody>
      </p:sp>
      <p:sp>
        <p:nvSpPr>
          <p:cNvPr id="13" name="Text 10"/>
          <p:cNvSpPr txBox="1"/>
          <p:nvPr/>
        </p:nvSpPr>
        <p:spPr>
          <a:xfrm>
            <a:off x="10362895" y="6473952"/>
            <a:ext cx="1371600" cy="292608"/>
          </a:xfrm>
          <a:prstGeom prst="rect">
            <a:avLst/>
          </a:prstGeom>
          <a:noFill/>
          <a:ln/>
        </p:spPr>
        <p:txBody>
          <a:bodyPr wrap="square" lIns="0" tIns="0" rIns="0" bIns="0" rtlCol="0" anchor="ctr"/>
          <a:lstStyle/>
          <a:p>
            <a:pPr algn="r" indent="0" marL="0">
              <a:buNone/>
            </a:pPr>
            <a:r>
              <a:rPr lang="en-US" sz="900" dirty="0">
                <a:solidFill>
                  <a:srgbClr val="77606F"/>
                </a:solidFill>
                <a:latin typeface="Calibri" pitchFamily="34" charset="0"/>
                <a:ea typeface="Calibri" pitchFamily="34" charset="-122"/>
                <a:cs typeface="Calibri" pitchFamily="34" charset="-120"/>
              </a:rPr>
              <a:t>10 / 33</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658368" cy="658368"/>
          </a:xfrm>
          <a:prstGeom prst="ellipse">
            <a:avLst/>
          </a:prstGeom>
          <a:solidFill>
            <a:srgbClr val="4A2545"/>
          </a:solidFill>
          <a:ln/>
        </p:spPr>
      </p:sp>
      <p:pic>
        <p:nvPicPr>
          <p:cNvPr id="3" name="Image 0" descr="preencoded.png">    </p:cNvPr>
          <p:cNvPicPr>
            <a:picLocks noChangeAspect="1"/>
          </p:cNvPicPr>
          <p:nvPr/>
        </p:nvPicPr>
        <p:blipFill>
          <a:blip r:embed="rId1"/>
          <a:stretch>
            <a:fillRect/>
          </a:stretch>
        </p:blipFill>
        <p:spPr>
          <a:xfrm>
            <a:off x="602041" y="556321"/>
            <a:ext cx="368686" cy="368686"/>
          </a:xfrm>
          <a:prstGeom prst="rect">
            <a:avLst/>
          </a:prstGeom>
        </p:spPr>
      </p:pic>
      <p:sp>
        <p:nvSpPr>
          <p:cNvPr id="4" name="Text 1"/>
          <p:cNvSpPr txBox="1"/>
          <p:nvPr/>
        </p:nvSpPr>
        <p:spPr>
          <a:xfrm>
            <a:off x="1298448" y="384048"/>
            <a:ext cx="9601200" cy="256032"/>
          </a:xfrm>
          <a:prstGeom prst="rect">
            <a:avLst/>
          </a:prstGeom>
          <a:noFill/>
          <a:ln/>
        </p:spPr>
        <p:txBody>
          <a:bodyPr wrap="square" lIns="0" tIns="0" rIns="0" bIns="0" rtlCol="0" anchor="ctr"/>
          <a:lstStyle/>
          <a:p>
            <a:pPr indent="0" marL="0">
              <a:buNone/>
            </a:pPr>
            <a:r>
              <a:rPr lang="en-US" sz="1150" b="1" spc="150" kern="0" dirty="0">
                <a:solidFill>
                  <a:srgbClr val="E0A458"/>
                </a:solidFill>
                <a:latin typeface="Calibri" pitchFamily="34" charset="0"/>
                <a:ea typeface="Calibri" pitchFamily="34" charset="-122"/>
                <a:cs typeface="Calibri" pitchFamily="34" charset="-120"/>
              </a:rPr>
              <a:t>SEGURIDAD CLÍNICA</a:t>
            </a:r>
            <a:endParaRPr lang="en-US" sz="1150" dirty="0"/>
          </a:p>
        </p:txBody>
      </p:sp>
      <p:sp>
        <p:nvSpPr>
          <p:cNvPr id="5" name="Text 2"/>
          <p:cNvSpPr txBox="1"/>
          <p:nvPr/>
        </p:nvSpPr>
        <p:spPr>
          <a:xfrm>
            <a:off x="1298448" y="621792"/>
            <a:ext cx="10058400" cy="502920"/>
          </a:xfrm>
          <a:prstGeom prst="rect">
            <a:avLst/>
          </a:prstGeom>
          <a:noFill/>
          <a:ln/>
        </p:spPr>
        <p:txBody>
          <a:bodyPr wrap="square" lIns="0" tIns="0" rIns="0" bIns="0" rtlCol="0" anchor="ctr"/>
          <a:lstStyle/>
          <a:p>
            <a:pPr indent="0" marL="0">
              <a:buNone/>
            </a:pPr>
            <a:r>
              <a:rPr lang="en-US" sz="2500" b="1" dirty="0">
                <a:solidFill>
                  <a:srgbClr val="4A2545"/>
                </a:solidFill>
                <a:latin typeface="Cambria" pitchFamily="34" charset="0"/>
                <a:ea typeface="Cambria" pitchFamily="34" charset="-122"/>
                <a:cs typeface="Cambria" pitchFamily="34" charset="-120"/>
              </a:rPr>
              <a:t>Barbitúricos: uso, efectos adversos y contraindicaciones</a:t>
            </a:r>
            <a:endParaRPr lang="en-US" sz="2500" dirty="0"/>
          </a:p>
        </p:txBody>
      </p:sp>
      <p:sp>
        <p:nvSpPr>
          <p:cNvPr id="6" name="Shape 3"/>
          <p:cNvSpPr/>
          <p:nvPr/>
        </p:nvSpPr>
        <p:spPr>
          <a:xfrm>
            <a:off x="457200" y="1417320"/>
            <a:ext cx="5455768" cy="4480560"/>
          </a:xfrm>
          <a:prstGeom prst="roundRect">
            <a:avLst>
              <a:gd name="adj" fmla="val 1633"/>
            </a:avLst>
          </a:prstGeom>
          <a:solidFill>
            <a:srgbClr val="EFF7F1"/>
          </a:solidFill>
          <a:ln/>
          <a:effectLst>
            <a:outerShdw sx="100000" sy="100000" kx="0" ky="0" algn="bl" rotWithShape="0" blurRad="76200" dist="25400" dir="5400000">
              <a:srgbClr val="2A1729">
                <a:alpha val="18000"/>
              </a:srgbClr>
            </a:outerShdw>
          </a:effectLst>
        </p:spPr>
      </p:sp>
      <p:sp>
        <p:nvSpPr>
          <p:cNvPr id="7" name="Shape 4"/>
          <p:cNvSpPr/>
          <p:nvPr/>
        </p:nvSpPr>
        <p:spPr>
          <a:xfrm>
            <a:off x="6278728" y="1417320"/>
            <a:ext cx="5455768" cy="4480560"/>
          </a:xfrm>
          <a:prstGeom prst="roundRect">
            <a:avLst>
              <a:gd name="adj" fmla="val 1633"/>
            </a:avLst>
          </a:prstGeom>
          <a:solidFill>
            <a:srgbClr val="FBEDEC"/>
          </a:solidFill>
          <a:ln/>
          <a:effectLst>
            <a:outerShdw sx="100000" sy="100000" kx="0" ky="0" algn="bl" rotWithShape="0" blurRad="76200" dist="25400" dir="5400000">
              <a:srgbClr val="2A1729">
                <a:alpha val="18000"/>
              </a:srgbClr>
            </a:outerShdw>
          </a:effectLst>
        </p:spPr>
      </p:sp>
      <p:sp>
        <p:nvSpPr>
          <p:cNvPr id="8" name="Shape 5"/>
          <p:cNvSpPr/>
          <p:nvPr/>
        </p:nvSpPr>
        <p:spPr>
          <a:xfrm>
            <a:off x="713232" y="1673352"/>
            <a:ext cx="457200" cy="457200"/>
          </a:xfrm>
          <a:prstGeom prst="ellipse">
            <a:avLst/>
          </a:prstGeom>
          <a:solidFill>
            <a:srgbClr val="3F7A54"/>
          </a:solidFill>
          <a:ln/>
        </p:spPr>
      </p:sp>
      <p:pic>
        <p:nvPicPr>
          <p:cNvPr id="9" name="Image 1" descr="preencoded.png">    </p:cNvPr>
          <p:cNvPicPr>
            <a:picLocks noChangeAspect="1"/>
          </p:cNvPicPr>
          <p:nvPr/>
        </p:nvPicPr>
        <p:blipFill>
          <a:blip r:embed="rId2"/>
          <a:stretch>
            <a:fillRect/>
          </a:stretch>
        </p:blipFill>
        <p:spPr>
          <a:xfrm>
            <a:off x="804672" y="1764792"/>
            <a:ext cx="274320" cy="274320"/>
          </a:xfrm>
          <a:prstGeom prst="rect">
            <a:avLst/>
          </a:prstGeom>
        </p:spPr>
      </p:pic>
      <p:sp>
        <p:nvSpPr>
          <p:cNvPr id="10" name="Shape 6"/>
          <p:cNvSpPr/>
          <p:nvPr/>
        </p:nvSpPr>
        <p:spPr>
          <a:xfrm>
            <a:off x="6534760" y="1673352"/>
            <a:ext cx="457200" cy="457200"/>
          </a:xfrm>
          <a:prstGeom prst="ellipse">
            <a:avLst/>
          </a:prstGeom>
          <a:solidFill>
            <a:srgbClr val="A3413B"/>
          </a:solidFill>
          <a:ln/>
        </p:spPr>
      </p:sp>
      <p:pic>
        <p:nvPicPr>
          <p:cNvPr id="11" name="Image 2" descr="preencoded.png">    </p:cNvPr>
          <p:cNvPicPr>
            <a:picLocks noChangeAspect="1"/>
          </p:cNvPicPr>
          <p:nvPr/>
        </p:nvPicPr>
        <p:blipFill>
          <a:blip r:embed="rId3"/>
          <a:stretch>
            <a:fillRect/>
          </a:stretch>
        </p:blipFill>
        <p:spPr>
          <a:xfrm>
            <a:off x="6626200" y="1764792"/>
            <a:ext cx="274320" cy="274320"/>
          </a:xfrm>
          <a:prstGeom prst="rect">
            <a:avLst/>
          </a:prstGeom>
        </p:spPr>
      </p:pic>
      <p:sp>
        <p:nvSpPr>
          <p:cNvPr id="12" name="Text 7"/>
          <p:cNvSpPr txBox="1"/>
          <p:nvPr/>
        </p:nvSpPr>
        <p:spPr>
          <a:xfrm>
            <a:off x="1298448" y="1691640"/>
            <a:ext cx="4358488" cy="420624"/>
          </a:xfrm>
          <a:prstGeom prst="rect">
            <a:avLst/>
          </a:prstGeom>
          <a:noFill/>
          <a:ln/>
        </p:spPr>
        <p:txBody>
          <a:bodyPr wrap="square" lIns="0" tIns="0" rIns="0" bIns="0" rtlCol="0" anchor="ctr"/>
          <a:lstStyle/>
          <a:p>
            <a:pPr indent="0" marL="0">
              <a:buNone/>
            </a:pPr>
            <a:r>
              <a:rPr lang="en-US" sz="1700" b="1" dirty="0">
                <a:solidFill>
                  <a:srgbClr val="2C5D3C"/>
                </a:solidFill>
                <a:latin typeface="Cambria" pitchFamily="34" charset="0"/>
                <a:ea typeface="Cambria" pitchFamily="34" charset="-122"/>
                <a:cs typeface="Cambria" pitchFamily="34" charset="-120"/>
              </a:rPr>
              <a:t>Uso en premedicación</a:t>
            </a:r>
            <a:endParaRPr lang="en-US" sz="1700" dirty="0"/>
          </a:p>
        </p:txBody>
      </p:sp>
      <p:sp>
        <p:nvSpPr>
          <p:cNvPr id="13" name="Text 8"/>
          <p:cNvSpPr txBox="1"/>
          <p:nvPr/>
        </p:nvSpPr>
        <p:spPr>
          <a:xfrm>
            <a:off x="7119976" y="1691640"/>
            <a:ext cx="4358488" cy="420624"/>
          </a:xfrm>
          <a:prstGeom prst="rect">
            <a:avLst/>
          </a:prstGeom>
          <a:noFill/>
          <a:ln/>
        </p:spPr>
        <p:txBody>
          <a:bodyPr wrap="square" lIns="0" tIns="0" rIns="0" bIns="0" rtlCol="0" anchor="ctr"/>
          <a:lstStyle/>
          <a:p>
            <a:pPr indent="0" marL="0">
              <a:buNone/>
            </a:pPr>
            <a:r>
              <a:rPr lang="en-US" sz="1700" b="1" dirty="0">
                <a:solidFill>
                  <a:srgbClr val="8A2E28"/>
                </a:solidFill>
                <a:latin typeface="Cambria" pitchFamily="34" charset="0"/>
                <a:ea typeface="Cambria" pitchFamily="34" charset="-122"/>
                <a:cs typeface="Cambria" pitchFamily="34" charset="-120"/>
              </a:rPr>
              <a:t>Efectos adversos y contraindicaciones</a:t>
            </a:r>
            <a:endParaRPr lang="en-US" sz="1700" dirty="0"/>
          </a:p>
        </p:txBody>
      </p:sp>
      <p:sp>
        <p:nvSpPr>
          <p:cNvPr id="14" name="Text 9"/>
          <p:cNvSpPr txBox="1"/>
          <p:nvPr/>
        </p:nvSpPr>
        <p:spPr>
          <a:xfrm>
            <a:off x="777240" y="2286000"/>
            <a:ext cx="4815688" cy="3383280"/>
          </a:xfrm>
          <a:prstGeom prst="rect">
            <a:avLst/>
          </a:prstGeom>
          <a:noFill/>
          <a:ln/>
        </p:spPr>
        <p:txBody>
          <a:bodyPr wrap="square" lIns="0" tIns="0" rIns="0" bIns="0" rtlCol="0" anchor="t"/>
          <a:lstStyle/>
          <a:p>
            <a:pPr marL="177800" indent="-177800">
              <a:lnSpc>
                <a:spcPct val="108000"/>
              </a:lnSpc>
              <a:spcAft>
                <a:spcPts val="1000"/>
              </a:spcAft>
              <a:buSzPct val="100000"/>
              <a:buChar char="•"/>
            </a:pPr>
            <a:r>
              <a:rPr lang="en-US" sz="1250" dirty="0">
                <a:solidFill>
                  <a:srgbClr val="3A2A35"/>
                </a:solidFill>
                <a:latin typeface="Calibri" pitchFamily="34" charset="0"/>
                <a:ea typeface="Calibri" pitchFamily="34" charset="-122"/>
                <a:cs typeface="Calibri" pitchFamily="34" charset="-120"/>
              </a:rPr>
              <a:t>Sedación nocturna prequirúrgica para favorecer el descanso.</a:t>
            </a:r>
            <a:endParaRPr lang="en-US" sz="1250" dirty="0"/>
          </a:p>
          <a:p>
            <a:pPr marL="177800" indent="-177800">
              <a:lnSpc>
                <a:spcPct val="108000"/>
              </a:lnSpc>
              <a:spcAft>
                <a:spcPts val="1000"/>
              </a:spcAft>
              <a:buSzPct val="100000"/>
              <a:buChar char="•"/>
            </a:pPr>
            <a:r>
              <a:rPr lang="en-US" sz="1250" dirty="0">
                <a:solidFill>
                  <a:srgbClr val="3A2A35"/>
                </a:solidFill>
                <a:latin typeface="Calibri" pitchFamily="34" charset="0"/>
                <a:ea typeface="Calibri" pitchFamily="34" charset="-122"/>
                <a:cs typeface="Calibri" pitchFamily="34" charset="-120"/>
              </a:rPr>
              <a:t>Alternativa histórica cuando las benzodiacepinas no están disponibles.</a:t>
            </a:r>
            <a:endParaRPr lang="en-US" sz="1250" dirty="0"/>
          </a:p>
          <a:p>
            <a:pPr marL="177800" indent="-177800">
              <a:lnSpc>
                <a:spcPct val="108000"/>
              </a:lnSpc>
              <a:spcAft>
                <a:spcPts val="1000"/>
              </a:spcAft>
              <a:buSzPct val="100000"/>
              <a:buChar char="•"/>
            </a:pPr>
            <a:r>
              <a:rPr lang="en-US" sz="1250" dirty="0">
                <a:solidFill>
                  <a:srgbClr val="3A2A35"/>
                </a:solidFill>
                <a:latin typeface="Calibri" pitchFamily="34" charset="0"/>
                <a:ea typeface="Calibri" pitchFamily="34" charset="-122"/>
                <a:cs typeface="Calibri" pitchFamily="34" charset="-120"/>
              </a:rPr>
              <a:t>Efecto anticonvulsivante útil en pacientes epilépticos seleccionados.</a:t>
            </a:r>
            <a:endParaRPr lang="en-US" sz="1250" dirty="0"/>
          </a:p>
          <a:p>
            <a:pPr marL="177800" indent="-177800">
              <a:lnSpc>
                <a:spcPct val="108000"/>
              </a:lnSpc>
              <a:spcAft>
                <a:spcPts val="1000"/>
              </a:spcAft>
              <a:buSzPct val="100000"/>
              <a:buChar char="•"/>
            </a:pPr>
            <a:r>
              <a:rPr lang="en-US" sz="1250" dirty="0">
                <a:solidFill>
                  <a:srgbClr val="3A2A35"/>
                </a:solidFill>
                <a:latin typeface="Calibri" pitchFamily="34" charset="0"/>
                <a:ea typeface="Calibri" pitchFamily="34" charset="-122"/>
                <a:cs typeface="Calibri" pitchFamily="34" charset="-120"/>
              </a:rPr>
              <a:t>Costo bajo en algunos contextos de recursos limitados.</a:t>
            </a:r>
            <a:endParaRPr lang="en-US" sz="1250" dirty="0"/>
          </a:p>
        </p:txBody>
      </p:sp>
      <p:sp>
        <p:nvSpPr>
          <p:cNvPr id="15" name="Text 10"/>
          <p:cNvSpPr txBox="1"/>
          <p:nvPr/>
        </p:nvSpPr>
        <p:spPr>
          <a:xfrm>
            <a:off x="6598768" y="2286000"/>
            <a:ext cx="4815688" cy="3383280"/>
          </a:xfrm>
          <a:prstGeom prst="rect">
            <a:avLst/>
          </a:prstGeom>
          <a:noFill/>
          <a:ln/>
        </p:spPr>
        <p:txBody>
          <a:bodyPr wrap="square" lIns="0" tIns="0" rIns="0" bIns="0" rtlCol="0" anchor="t"/>
          <a:lstStyle/>
          <a:p>
            <a:pPr marL="177800" indent="-177800">
              <a:lnSpc>
                <a:spcPct val="108000"/>
              </a:lnSpc>
              <a:spcAft>
                <a:spcPts val="1000"/>
              </a:spcAft>
              <a:buSzPct val="100000"/>
              <a:buChar char="•"/>
            </a:pPr>
            <a:r>
              <a:rPr lang="en-US" sz="1250" dirty="0">
                <a:solidFill>
                  <a:srgbClr val="3A2A35"/>
                </a:solidFill>
                <a:latin typeface="Calibri" pitchFamily="34" charset="0"/>
                <a:ea typeface="Calibri" pitchFamily="34" charset="-122"/>
                <a:cs typeface="Calibri" pitchFamily="34" charset="-120"/>
              </a:rPr>
              <a:t>Depresión respiratoria y cardiovascular dosis-dependiente sin antagonista.</a:t>
            </a:r>
            <a:endParaRPr lang="en-US" sz="1250" dirty="0"/>
          </a:p>
          <a:p>
            <a:pPr marL="177800" indent="-177800">
              <a:lnSpc>
                <a:spcPct val="108000"/>
              </a:lnSpc>
              <a:spcAft>
                <a:spcPts val="1000"/>
              </a:spcAft>
              <a:buSzPct val="100000"/>
              <a:buChar char="•"/>
            </a:pPr>
            <a:r>
              <a:rPr lang="en-US" sz="1250" dirty="0">
                <a:solidFill>
                  <a:srgbClr val="3A2A35"/>
                </a:solidFill>
                <a:latin typeface="Calibri" pitchFamily="34" charset="0"/>
                <a:ea typeface="Calibri" pitchFamily="34" charset="-122"/>
                <a:cs typeface="Calibri" pitchFamily="34" charset="-120"/>
              </a:rPr>
              <a:t>Contraindicados en porfiria aguda intermitente: inducen la ALA-sintetasa y precipitan crisis.</a:t>
            </a:r>
            <a:endParaRPr lang="en-US" sz="1250" dirty="0"/>
          </a:p>
          <a:p>
            <a:pPr marL="177800" indent="-177800">
              <a:lnSpc>
                <a:spcPct val="108000"/>
              </a:lnSpc>
              <a:spcAft>
                <a:spcPts val="1000"/>
              </a:spcAft>
              <a:buSzPct val="100000"/>
              <a:buChar char="•"/>
            </a:pPr>
            <a:r>
              <a:rPr lang="en-US" sz="1250" dirty="0">
                <a:solidFill>
                  <a:srgbClr val="3A2A35"/>
                </a:solidFill>
                <a:latin typeface="Calibri" pitchFamily="34" charset="0"/>
                <a:ea typeface="Calibri" pitchFamily="34" charset="-122"/>
                <a:cs typeface="Calibri" pitchFamily="34" charset="-120"/>
              </a:rPr>
              <a:t>Riesgo de dependencia física y síndrome de abstinencia.</a:t>
            </a:r>
            <a:endParaRPr lang="en-US" sz="1250" dirty="0"/>
          </a:p>
          <a:p>
            <a:pPr marL="177800" indent="-177800">
              <a:lnSpc>
                <a:spcPct val="108000"/>
              </a:lnSpc>
              <a:spcAft>
                <a:spcPts val="1000"/>
              </a:spcAft>
              <a:buSzPct val="100000"/>
              <a:buChar char="•"/>
            </a:pPr>
            <a:r>
              <a:rPr lang="en-US" sz="1250" dirty="0">
                <a:solidFill>
                  <a:srgbClr val="3A2A35"/>
                </a:solidFill>
                <a:latin typeface="Calibri" pitchFamily="34" charset="0"/>
                <a:ea typeface="Calibri" pitchFamily="34" charset="-122"/>
                <a:cs typeface="Calibri" pitchFamily="34" charset="-120"/>
              </a:rPr>
              <a:t>Interacciones por inducción enzimática hepática (anticoagulantes, anticonvulsivantes).</a:t>
            </a:r>
            <a:endParaRPr lang="en-US" sz="1250" dirty="0"/>
          </a:p>
        </p:txBody>
      </p:sp>
      <p:sp>
        <p:nvSpPr>
          <p:cNvPr id="16" name="Text 11"/>
          <p:cNvSpPr txBox="1"/>
          <p:nvPr/>
        </p:nvSpPr>
        <p:spPr>
          <a:xfrm>
            <a:off x="457200" y="6473952"/>
            <a:ext cx="6400800" cy="292608"/>
          </a:xfrm>
          <a:prstGeom prst="rect">
            <a:avLst/>
          </a:prstGeom>
          <a:noFill/>
          <a:ln/>
        </p:spPr>
        <p:txBody>
          <a:bodyPr wrap="square" lIns="0" tIns="0" rIns="0" bIns="0" rtlCol="0" anchor="ctr"/>
          <a:lstStyle/>
          <a:p>
            <a:pPr indent="0" marL="0">
              <a:buNone/>
            </a:pPr>
            <a:r>
              <a:rPr lang="en-US" sz="900" i="1" dirty="0">
                <a:solidFill>
                  <a:srgbClr val="77606F"/>
                </a:solidFill>
                <a:latin typeface="Calibri" pitchFamily="34" charset="0"/>
                <a:ea typeface="Calibri" pitchFamily="34" charset="-122"/>
                <a:cs typeface="Calibri" pitchFamily="34" charset="-120"/>
              </a:rPr>
              <a:t>Capítulo IV — Premedicación</a:t>
            </a:r>
            <a:endParaRPr lang="en-US" sz="900" dirty="0"/>
          </a:p>
        </p:txBody>
      </p:sp>
      <p:sp>
        <p:nvSpPr>
          <p:cNvPr id="17" name="Text 12"/>
          <p:cNvSpPr txBox="1"/>
          <p:nvPr/>
        </p:nvSpPr>
        <p:spPr>
          <a:xfrm>
            <a:off x="10362895" y="6473952"/>
            <a:ext cx="1371600" cy="292608"/>
          </a:xfrm>
          <a:prstGeom prst="rect">
            <a:avLst/>
          </a:prstGeom>
          <a:noFill/>
          <a:ln/>
        </p:spPr>
        <p:txBody>
          <a:bodyPr wrap="square" lIns="0" tIns="0" rIns="0" bIns="0" rtlCol="0" anchor="ctr"/>
          <a:lstStyle/>
          <a:p>
            <a:pPr algn="r" indent="0" marL="0">
              <a:buNone/>
            </a:pPr>
            <a:r>
              <a:rPr lang="en-US" sz="900" dirty="0">
                <a:solidFill>
                  <a:srgbClr val="77606F"/>
                </a:solidFill>
                <a:latin typeface="Calibri" pitchFamily="34" charset="0"/>
                <a:ea typeface="Calibri" pitchFamily="34" charset="-122"/>
                <a:cs typeface="Calibri" pitchFamily="34" charset="-120"/>
              </a:rPr>
              <a:t>11 / 33</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658368" cy="658368"/>
          </a:xfrm>
          <a:prstGeom prst="ellipse">
            <a:avLst/>
          </a:prstGeom>
          <a:solidFill>
            <a:srgbClr val="4A2545"/>
          </a:solidFill>
          <a:ln/>
        </p:spPr>
      </p:sp>
      <p:pic>
        <p:nvPicPr>
          <p:cNvPr id="3" name="Image 0" descr="preencoded.png">    </p:cNvPr>
          <p:cNvPicPr>
            <a:picLocks noChangeAspect="1"/>
          </p:cNvPicPr>
          <p:nvPr/>
        </p:nvPicPr>
        <p:blipFill>
          <a:blip r:embed="rId1"/>
          <a:stretch>
            <a:fillRect/>
          </a:stretch>
        </p:blipFill>
        <p:spPr>
          <a:xfrm>
            <a:off x="602041" y="556321"/>
            <a:ext cx="368686" cy="368686"/>
          </a:xfrm>
          <a:prstGeom prst="rect">
            <a:avLst/>
          </a:prstGeom>
        </p:spPr>
      </p:pic>
      <p:sp>
        <p:nvSpPr>
          <p:cNvPr id="4" name="Text 1"/>
          <p:cNvSpPr txBox="1"/>
          <p:nvPr/>
        </p:nvSpPr>
        <p:spPr>
          <a:xfrm>
            <a:off x="1298448" y="384048"/>
            <a:ext cx="9601200" cy="256032"/>
          </a:xfrm>
          <a:prstGeom prst="rect">
            <a:avLst/>
          </a:prstGeom>
          <a:noFill/>
          <a:ln/>
        </p:spPr>
        <p:txBody>
          <a:bodyPr wrap="square" lIns="0" tIns="0" rIns="0" bIns="0" rtlCol="0" anchor="ctr"/>
          <a:lstStyle/>
          <a:p>
            <a:pPr indent="0" marL="0">
              <a:buNone/>
            </a:pPr>
            <a:r>
              <a:rPr lang="en-US" sz="1150" b="1" spc="150" kern="0" dirty="0">
                <a:solidFill>
                  <a:srgbClr val="E0A458"/>
                </a:solidFill>
                <a:latin typeface="Calibri" pitchFamily="34" charset="0"/>
                <a:ea typeface="Calibri" pitchFamily="34" charset="-122"/>
                <a:cs typeface="Calibri" pitchFamily="34" charset="-120"/>
              </a:rPr>
              <a:t>MIDAZOLAM Y DIAZEPAM</a:t>
            </a:r>
            <a:endParaRPr lang="en-US" sz="1150" dirty="0"/>
          </a:p>
        </p:txBody>
      </p:sp>
      <p:sp>
        <p:nvSpPr>
          <p:cNvPr id="5" name="Text 2"/>
          <p:cNvSpPr txBox="1"/>
          <p:nvPr/>
        </p:nvSpPr>
        <p:spPr>
          <a:xfrm>
            <a:off x="1298448" y="621792"/>
            <a:ext cx="10058400" cy="502920"/>
          </a:xfrm>
          <a:prstGeom prst="rect">
            <a:avLst/>
          </a:prstGeom>
          <a:noFill/>
          <a:ln/>
        </p:spPr>
        <p:txBody>
          <a:bodyPr wrap="square" lIns="0" tIns="0" rIns="0" bIns="0" rtlCol="0" anchor="ctr"/>
          <a:lstStyle/>
          <a:p>
            <a:pPr indent="0" marL="0">
              <a:buNone/>
            </a:pPr>
            <a:r>
              <a:rPr lang="en-US" sz="2500" b="1" dirty="0">
                <a:solidFill>
                  <a:srgbClr val="4A2545"/>
                </a:solidFill>
                <a:latin typeface="Cambria" pitchFamily="34" charset="0"/>
                <a:ea typeface="Cambria" pitchFamily="34" charset="-122"/>
                <a:cs typeface="Cambria" pitchFamily="34" charset="-120"/>
              </a:rPr>
              <a:t>Benzodiacepinas como sedantes: comparación</a:t>
            </a:r>
            <a:endParaRPr lang="en-US" sz="25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11277295" cy="914400"/>
        </p:xfrm>
        <a:graphic>
          <a:graphicData uri="http://schemas.openxmlformats.org/drawingml/2006/table">
            <a:tbl>
              <a:tblPr/>
              <a:tblGrid>
                <a:gridCol w="2743200"/>
                <a:gridCol w="4114800"/>
                <a:gridCol w="4416552"/>
              </a:tblGrid>
              <a:tr h="548640">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Característica</a:t>
                      </a:r>
                      <a:endParaRPr lang="en-US" sz="110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4A2545"/>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Barbitúricos</a:t>
                      </a:r>
                      <a:endParaRPr lang="en-US" sz="110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4A2545"/>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Benzodiacepinas (midazolam / diazepam)</a:t>
                      </a:r>
                      <a:endParaRPr lang="en-US" sz="110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4A2545"/>
                    </a:solidFill>
                  </a:tcPr>
                </a:tc>
              </a:tr>
              <a:tr h="658368">
                <a:tc>
                  <a:txBody>
                    <a:bodyPr/>
                    <a:lstStyle/>
                    <a:p>
                      <a:pPr algn="l" indent="0" marL="0">
                        <a:buNone/>
                      </a:pPr>
                      <a:r>
                        <a:rPr lang="en-US" sz="1050" b="1" dirty="0">
                          <a:solidFill>
                            <a:srgbClr val="3A2A35"/>
                          </a:solidFill>
                          <a:latin typeface="Calibri" pitchFamily="34" charset="0"/>
                          <a:ea typeface="Calibri" pitchFamily="34" charset="-122"/>
                          <a:cs typeface="Calibri" pitchFamily="34" charset="-120"/>
                        </a:rPr>
                        <a:t>Mecanismo en GABA-A</a:t>
                      </a:r>
                      <a:endParaRPr lang="en-US" sz="105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A2A35"/>
                          </a:solidFill>
                          <a:latin typeface="Calibri" pitchFamily="34" charset="0"/>
                          <a:ea typeface="Calibri" pitchFamily="34" charset="-122"/>
                          <a:cs typeface="Calibri" pitchFamily="34" charset="-120"/>
                        </a:rPr>
                        <a:t>↑ duración de apertura del canal; agonismo directo a dosis altas</a:t>
                      </a:r>
                      <a:endParaRPr lang="en-US" sz="105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A2A35"/>
                          </a:solidFill>
                          <a:latin typeface="Calibri" pitchFamily="34" charset="0"/>
                          <a:ea typeface="Calibri" pitchFamily="34" charset="-122"/>
                          <a:cs typeface="Calibri" pitchFamily="34" charset="-120"/>
                        </a:rPr>
                        <a:t>↑ frecuencia de apertura; requiere presencia de GABA</a:t>
                      </a:r>
                      <a:endParaRPr lang="en-US" sz="105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FFFFFF"/>
                    </a:solidFill>
                  </a:tcPr>
                </a:tc>
              </a:tr>
              <a:tr h="658368">
                <a:tc>
                  <a:txBody>
                    <a:bodyPr/>
                    <a:lstStyle/>
                    <a:p>
                      <a:pPr algn="l" indent="0" marL="0">
                        <a:buNone/>
                      </a:pPr>
                      <a:r>
                        <a:rPr lang="en-US" sz="1050" b="1" dirty="0">
                          <a:solidFill>
                            <a:srgbClr val="3A2A35"/>
                          </a:solidFill>
                          <a:latin typeface="Calibri" pitchFamily="34" charset="0"/>
                          <a:ea typeface="Calibri" pitchFamily="34" charset="-122"/>
                          <a:cs typeface="Calibri" pitchFamily="34" charset="-120"/>
                        </a:rPr>
                        <a:t>Margen de seguridad</a:t>
                      </a:r>
                      <a:endParaRPr lang="en-US" sz="105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F4EEF2"/>
                    </a:solidFill>
                  </a:tcPr>
                </a:tc>
                <a:tc>
                  <a:txBody>
                    <a:bodyPr/>
                    <a:lstStyle/>
                    <a:p>
                      <a:pPr algn="ctr" indent="0" marL="0">
                        <a:buNone/>
                      </a:pPr>
                      <a:r>
                        <a:rPr lang="en-US" sz="1050" dirty="0">
                          <a:solidFill>
                            <a:srgbClr val="3A2A35"/>
                          </a:solidFill>
                          <a:latin typeface="Calibri" pitchFamily="34" charset="0"/>
                          <a:ea typeface="Calibri" pitchFamily="34" charset="-122"/>
                          <a:cs typeface="Calibri" pitchFamily="34" charset="-120"/>
                        </a:rPr>
                        <a:t>Estrecho, sin techo de depresión del SNC</a:t>
                      </a:r>
                      <a:endParaRPr lang="en-US" sz="105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F4EEF2"/>
                    </a:solidFill>
                  </a:tcPr>
                </a:tc>
                <a:tc>
                  <a:txBody>
                    <a:bodyPr/>
                    <a:lstStyle/>
                    <a:p>
                      <a:pPr algn="ctr" indent="0" marL="0">
                        <a:buNone/>
                      </a:pPr>
                      <a:r>
                        <a:rPr lang="en-US" sz="1050" dirty="0">
                          <a:solidFill>
                            <a:srgbClr val="3A2A35"/>
                          </a:solidFill>
                          <a:latin typeface="Calibri" pitchFamily="34" charset="0"/>
                          <a:ea typeface="Calibri" pitchFamily="34" charset="-122"/>
                          <a:cs typeface="Calibri" pitchFamily="34" charset="-120"/>
                        </a:rPr>
                        <a:t>Amplio, efecto techo relativo</a:t>
                      </a:r>
                      <a:endParaRPr lang="en-US" sz="105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F4EEF2"/>
                    </a:solidFill>
                  </a:tcPr>
                </a:tc>
              </a:tr>
              <a:tr h="658368">
                <a:tc>
                  <a:txBody>
                    <a:bodyPr/>
                    <a:lstStyle/>
                    <a:p>
                      <a:pPr algn="l" indent="0" marL="0">
                        <a:buNone/>
                      </a:pPr>
                      <a:r>
                        <a:rPr lang="en-US" sz="1050" b="1" dirty="0">
                          <a:solidFill>
                            <a:srgbClr val="3A2A35"/>
                          </a:solidFill>
                          <a:latin typeface="Calibri" pitchFamily="34" charset="0"/>
                          <a:ea typeface="Calibri" pitchFamily="34" charset="-122"/>
                          <a:cs typeface="Calibri" pitchFamily="34" charset="-120"/>
                        </a:rPr>
                        <a:t>Antagonista específico</a:t>
                      </a:r>
                      <a:endParaRPr lang="en-US" sz="105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A2A35"/>
                          </a:solidFill>
                          <a:latin typeface="Calibri" pitchFamily="34" charset="0"/>
                          <a:ea typeface="Calibri" pitchFamily="34" charset="-122"/>
                          <a:cs typeface="Calibri" pitchFamily="34" charset="-120"/>
                        </a:rPr>
                        <a:t>No disponible</a:t>
                      </a:r>
                      <a:endParaRPr lang="en-US" sz="105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A2A35"/>
                          </a:solidFill>
                          <a:latin typeface="Calibri" pitchFamily="34" charset="0"/>
                          <a:ea typeface="Calibri" pitchFamily="34" charset="-122"/>
                          <a:cs typeface="Calibri" pitchFamily="34" charset="-120"/>
                        </a:rPr>
                        <a:t>Flumazenil</a:t>
                      </a:r>
                      <a:endParaRPr lang="en-US" sz="105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FFFFFF"/>
                    </a:solidFill>
                  </a:tcPr>
                </a:tc>
              </a:tr>
              <a:tr h="658368">
                <a:tc>
                  <a:txBody>
                    <a:bodyPr/>
                    <a:lstStyle/>
                    <a:p>
                      <a:pPr algn="l" indent="0" marL="0">
                        <a:buNone/>
                      </a:pPr>
                      <a:r>
                        <a:rPr lang="en-US" sz="1050" b="1" dirty="0">
                          <a:solidFill>
                            <a:srgbClr val="3A2A35"/>
                          </a:solidFill>
                          <a:latin typeface="Calibri" pitchFamily="34" charset="0"/>
                          <a:ea typeface="Calibri" pitchFamily="34" charset="-122"/>
                          <a:cs typeface="Calibri" pitchFamily="34" charset="-120"/>
                        </a:rPr>
                        <a:t>Efecto amnésico</a:t>
                      </a:r>
                      <a:endParaRPr lang="en-US" sz="105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F4EEF2"/>
                    </a:solidFill>
                  </a:tcPr>
                </a:tc>
                <a:tc>
                  <a:txBody>
                    <a:bodyPr/>
                    <a:lstStyle/>
                    <a:p>
                      <a:pPr algn="ctr" indent="0" marL="0">
                        <a:buNone/>
                      </a:pPr>
                      <a:r>
                        <a:rPr lang="en-US" sz="1050" dirty="0">
                          <a:solidFill>
                            <a:srgbClr val="3A2A35"/>
                          </a:solidFill>
                          <a:latin typeface="Calibri" pitchFamily="34" charset="0"/>
                          <a:ea typeface="Calibri" pitchFamily="34" charset="-122"/>
                          <a:cs typeface="Calibri" pitchFamily="34" charset="-120"/>
                        </a:rPr>
                        <a:t>Escaso y poco predecible</a:t>
                      </a:r>
                      <a:endParaRPr lang="en-US" sz="105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F4EEF2"/>
                    </a:solidFill>
                  </a:tcPr>
                </a:tc>
                <a:tc>
                  <a:txBody>
                    <a:bodyPr/>
                    <a:lstStyle/>
                    <a:p>
                      <a:pPr algn="ctr" indent="0" marL="0">
                        <a:buNone/>
                      </a:pPr>
                      <a:r>
                        <a:rPr lang="en-US" sz="1050" dirty="0">
                          <a:solidFill>
                            <a:srgbClr val="3A2A35"/>
                          </a:solidFill>
                          <a:latin typeface="Calibri" pitchFamily="34" charset="0"/>
                          <a:ea typeface="Calibri" pitchFamily="34" charset="-122"/>
                          <a:cs typeface="Calibri" pitchFamily="34" charset="-120"/>
                        </a:rPr>
                        <a:t>Amnesia anterógrada marcada (especialmente midazolam)</a:t>
                      </a:r>
                      <a:endParaRPr lang="en-US" sz="105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F4EEF2"/>
                    </a:solidFill>
                  </a:tcPr>
                </a:tc>
              </a:tr>
              <a:tr h="658368">
                <a:tc>
                  <a:txBody>
                    <a:bodyPr/>
                    <a:lstStyle/>
                    <a:p>
                      <a:pPr algn="l" indent="0" marL="0">
                        <a:buNone/>
                      </a:pPr>
                      <a:r>
                        <a:rPr lang="en-US" sz="1050" b="1" dirty="0">
                          <a:solidFill>
                            <a:srgbClr val="3A2A35"/>
                          </a:solidFill>
                          <a:latin typeface="Calibri" pitchFamily="34" charset="0"/>
                          <a:ea typeface="Calibri" pitchFamily="34" charset="-122"/>
                          <a:cs typeface="Calibri" pitchFamily="34" charset="-120"/>
                        </a:rPr>
                        <a:t>Uso actual en premedicación</a:t>
                      </a:r>
                      <a:endParaRPr lang="en-US" sz="105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A2A35"/>
                          </a:solidFill>
                          <a:latin typeface="Calibri" pitchFamily="34" charset="0"/>
                          <a:ea typeface="Calibri" pitchFamily="34" charset="-122"/>
                          <a:cs typeface="Calibri" pitchFamily="34" charset="-120"/>
                        </a:rPr>
                        <a:t>Prácticamente en desuso</a:t>
                      </a:r>
                      <a:endParaRPr lang="en-US" sz="105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A2A35"/>
                          </a:solidFill>
                          <a:latin typeface="Calibri" pitchFamily="34" charset="0"/>
                          <a:ea typeface="Calibri" pitchFamily="34" charset="-122"/>
                          <a:cs typeface="Calibri" pitchFamily="34" charset="-120"/>
                        </a:rPr>
                        <a:t>Fármaco de elección (midazolam oral/IV; diazepam oral)</a:t>
                      </a:r>
                      <a:endParaRPr lang="en-US" sz="105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FFFFFF"/>
                    </a:solidFill>
                  </a:tcPr>
                </a:tc>
              </a:tr>
            </a:tbl>
          </a:graphicData>
        </a:graphic>
      </p:graphicFrame>
      <p:sp>
        <p:nvSpPr>
          <p:cNvPr id="7" name="Text 3"/>
          <p:cNvSpPr txBox="1"/>
          <p:nvPr/>
        </p:nvSpPr>
        <p:spPr>
          <a:xfrm>
            <a:off x="457200" y="6473952"/>
            <a:ext cx="6400800" cy="292608"/>
          </a:xfrm>
          <a:prstGeom prst="rect">
            <a:avLst/>
          </a:prstGeom>
          <a:noFill/>
          <a:ln/>
        </p:spPr>
        <p:txBody>
          <a:bodyPr wrap="square" lIns="0" tIns="0" rIns="0" bIns="0" rtlCol="0" anchor="ctr"/>
          <a:lstStyle/>
          <a:p>
            <a:pPr indent="0" marL="0">
              <a:buNone/>
            </a:pPr>
            <a:r>
              <a:rPr lang="en-US" sz="900" i="1" dirty="0">
                <a:solidFill>
                  <a:srgbClr val="77606F"/>
                </a:solidFill>
                <a:latin typeface="Calibri" pitchFamily="34" charset="0"/>
                <a:ea typeface="Calibri" pitchFamily="34" charset="-122"/>
                <a:cs typeface="Calibri" pitchFamily="34" charset="-120"/>
              </a:rPr>
              <a:t>Capítulo IV — Premedicación</a:t>
            </a:r>
            <a:endParaRPr lang="en-US" sz="900" dirty="0"/>
          </a:p>
        </p:txBody>
      </p:sp>
      <p:sp>
        <p:nvSpPr>
          <p:cNvPr id="8" name="Text 4"/>
          <p:cNvSpPr txBox="1"/>
          <p:nvPr/>
        </p:nvSpPr>
        <p:spPr>
          <a:xfrm>
            <a:off x="10362895" y="6473952"/>
            <a:ext cx="1371600" cy="292608"/>
          </a:xfrm>
          <a:prstGeom prst="rect">
            <a:avLst/>
          </a:prstGeom>
          <a:noFill/>
          <a:ln/>
        </p:spPr>
        <p:txBody>
          <a:bodyPr wrap="square" lIns="0" tIns="0" rIns="0" bIns="0" rtlCol="0" anchor="ctr"/>
          <a:lstStyle/>
          <a:p>
            <a:pPr algn="r" indent="0" marL="0">
              <a:buNone/>
            </a:pPr>
            <a:r>
              <a:rPr lang="en-US" sz="900" dirty="0">
                <a:solidFill>
                  <a:srgbClr val="77606F"/>
                </a:solidFill>
                <a:latin typeface="Calibri" pitchFamily="34" charset="0"/>
                <a:ea typeface="Calibri" pitchFamily="34" charset="-122"/>
                <a:cs typeface="Calibri" pitchFamily="34" charset="-120"/>
              </a:rPr>
              <a:t>12 / 33</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658368" cy="658368"/>
          </a:xfrm>
          <a:prstGeom prst="ellipse">
            <a:avLst/>
          </a:prstGeom>
          <a:solidFill>
            <a:srgbClr val="4A2545"/>
          </a:solidFill>
          <a:ln/>
        </p:spPr>
      </p:sp>
      <p:pic>
        <p:nvPicPr>
          <p:cNvPr id="3" name="Image 0" descr="preencoded.png">    </p:cNvPr>
          <p:cNvPicPr>
            <a:picLocks noChangeAspect="1"/>
          </p:cNvPicPr>
          <p:nvPr/>
        </p:nvPicPr>
        <p:blipFill>
          <a:blip r:embed="rId1"/>
          <a:stretch>
            <a:fillRect/>
          </a:stretch>
        </p:blipFill>
        <p:spPr>
          <a:xfrm>
            <a:off x="602041" y="556321"/>
            <a:ext cx="368686" cy="368686"/>
          </a:xfrm>
          <a:prstGeom prst="rect">
            <a:avLst/>
          </a:prstGeom>
        </p:spPr>
      </p:pic>
      <p:sp>
        <p:nvSpPr>
          <p:cNvPr id="4" name="Text 1"/>
          <p:cNvSpPr txBox="1"/>
          <p:nvPr/>
        </p:nvSpPr>
        <p:spPr>
          <a:xfrm>
            <a:off x="1298448" y="384048"/>
            <a:ext cx="9601200" cy="256032"/>
          </a:xfrm>
          <a:prstGeom prst="rect">
            <a:avLst/>
          </a:prstGeom>
          <a:noFill/>
          <a:ln/>
        </p:spPr>
        <p:txBody>
          <a:bodyPr wrap="square" lIns="0" tIns="0" rIns="0" bIns="0" rtlCol="0" anchor="ctr"/>
          <a:lstStyle/>
          <a:p>
            <a:pPr indent="0" marL="0">
              <a:buNone/>
            </a:pPr>
            <a:r>
              <a:rPr lang="en-US" sz="1150" b="1" spc="150" kern="0" dirty="0">
                <a:solidFill>
                  <a:srgbClr val="E0A458"/>
                </a:solidFill>
                <a:latin typeface="Calibri" pitchFamily="34" charset="0"/>
                <a:ea typeface="Calibri" pitchFamily="34" charset="-122"/>
                <a:cs typeface="Calibri" pitchFamily="34" charset="-120"/>
              </a:rPr>
              <a:t>OPIOIDES</a:t>
            </a:r>
            <a:endParaRPr lang="en-US" sz="1150" dirty="0"/>
          </a:p>
        </p:txBody>
      </p:sp>
      <p:sp>
        <p:nvSpPr>
          <p:cNvPr id="5" name="Text 2"/>
          <p:cNvSpPr txBox="1"/>
          <p:nvPr/>
        </p:nvSpPr>
        <p:spPr>
          <a:xfrm>
            <a:off x="1298448" y="621792"/>
            <a:ext cx="10058400" cy="502920"/>
          </a:xfrm>
          <a:prstGeom prst="rect">
            <a:avLst/>
          </a:prstGeom>
          <a:noFill/>
          <a:ln/>
        </p:spPr>
        <p:txBody>
          <a:bodyPr wrap="square" lIns="0" tIns="0" rIns="0" bIns="0" rtlCol="0" anchor="ctr"/>
          <a:lstStyle/>
          <a:p>
            <a:pPr indent="0" marL="0">
              <a:buNone/>
            </a:pPr>
            <a:r>
              <a:rPr lang="en-US" sz="2500" b="1" dirty="0">
                <a:solidFill>
                  <a:srgbClr val="4A2545"/>
                </a:solidFill>
                <a:latin typeface="Cambria" pitchFamily="34" charset="0"/>
                <a:ea typeface="Cambria" pitchFamily="34" charset="-122"/>
                <a:cs typeface="Cambria" pitchFamily="34" charset="-120"/>
              </a:rPr>
              <a:t>Narcóticos (opioides): introducción y rol</a:t>
            </a:r>
            <a:endParaRPr lang="en-US" sz="2500" dirty="0"/>
          </a:p>
        </p:txBody>
      </p:sp>
      <p:sp>
        <p:nvSpPr>
          <p:cNvPr id="6" name="Shape 3"/>
          <p:cNvSpPr/>
          <p:nvPr/>
        </p:nvSpPr>
        <p:spPr>
          <a:xfrm>
            <a:off x="457200" y="1417320"/>
            <a:ext cx="5455768" cy="4480560"/>
          </a:xfrm>
          <a:prstGeom prst="roundRect">
            <a:avLst>
              <a:gd name="adj" fmla="val 1633"/>
            </a:avLst>
          </a:prstGeom>
          <a:solidFill>
            <a:srgbClr val="F4EEF2"/>
          </a:solidFill>
          <a:ln/>
          <a:effectLst>
            <a:outerShdw sx="100000" sy="100000" kx="0" ky="0" algn="bl" rotWithShape="0" blurRad="76200" dist="25400" dir="5400000">
              <a:srgbClr val="2A1729">
                <a:alpha val="18000"/>
              </a:srgbClr>
            </a:outerShdw>
          </a:effectLst>
        </p:spPr>
      </p:sp>
      <p:sp>
        <p:nvSpPr>
          <p:cNvPr id="7" name="Text 4"/>
          <p:cNvSpPr txBox="1"/>
          <p:nvPr/>
        </p:nvSpPr>
        <p:spPr>
          <a:xfrm>
            <a:off x="749808" y="1636776"/>
            <a:ext cx="4870552" cy="457200"/>
          </a:xfrm>
          <a:prstGeom prst="rect">
            <a:avLst/>
          </a:prstGeom>
          <a:noFill/>
          <a:ln/>
        </p:spPr>
        <p:txBody>
          <a:bodyPr wrap="square" lIns="0" tIns="0" rIns="0" bIns="0" rtlCol="0" anchor="ctr"/>
          <a:lstStyle/>
          <a:p>
            <a:pPr indent="0" marL="0">
              <a:buNone/>
            </a:pPr>
            <a:r>
              <a:rPr lang="en-US" sz="1650" b="1" dirty="0">
                <a:solidFill>
                  <a:srgbClr val="4A2545"/>
                </a:solidFill>
                <a:latin typeface="Cambria" pitchFamily="34" charset="0"/>
                <a:ea typeface="Cambria" pitchFamily="34" charset="-122"/>
                <a:cs typeface="Cambria" pitchFamily="34" charset="-120"/>
              </a:rPr>
              <a:t>Rol en la premedicación</a:t>
            </a:r>
            <a:endParaRPr lang="en-US" sz="1650" dirty="0"/>
          </a:p>
        </p:txBody>
      </p:sp>
      <p:sp>
        <p:nvSpPr>
          <p:cNvPr id="8" name="Text 5"/>
          <p:cNvSpPr txBox="1"/>
          <p:nvPr/>
        </p:nvSpPr>
        <p:spPr>
          <a:xfrm>
            <a:off x="749808" y="2194560"/>
            <a:ext cx="4870552" cy="3474720"/>
          </a:xfrm>
          <a:prstGeom prst="rect">
            <a:avLst/>
          </a:prstGeom>
          <a:noFill/>
          <a:ln/>
        </p:spPr>
        <p:txBody>
          <a:bodyPr wrap="square" lIns="0" tIns="0" rIns="0" bIns="0" rtlCol="0" anchor="t"/>
          <a:lstStyle/>
          <a:p>
            <a:pPr marL="177800" indent="-177800">
              <a:lnSpc>
                <a:spcPct val="108000"/>
              </a:lnSpc>
              <a:spcAft>
                <a:spcPts val="900"/>
              </a:spcAft>
              <a:buSzPct val="100000"/>
              <a:buChar char="•"/>
            </a:pPr>
            <a:r>
              <a:rPr lang="en-US" sz="1250" dirty="0">
                <a:solidFill>
                  <a:srgbClr val="3A2A35"/>
                </a:solidFill>
                <a:latin typeface="Calibri" pitchFamily="34" charset="0"/>
                <a:ea typeface="Calibri" pitchFamily="34" charset="-122"/>
                <a:cs typeface="Calibri" pitchFamily="34" charset="-120"/>
              </a:rPr>
              <a:t>Aportan analgesia preventiva antes de estímulos dolorosos (venopunción, bloqueos, intubación).</a:t>
            </a:r>
            <a:endParaRPr lang="en-US" sz="1250" dirty="0"/>
          </a:p>
          <a:p>
            <a:pPr marL="177800" indent="-177800">
              <a:lnSpc>
                <a:spcPct val="108000"/>
              </a:lnSpc>
              <a:spcAft>
                <a:spcPts val="900"/>
              </a:spcAft>
              <a:buSzPct val="100000"/>
              <a:buChar char="•"/>
            </a:pPr>
            <a:r>
              <a:rPr lang="en-US" sz="1250" dirty="0">
                <a:solidFill>
                  <a:srgbClr val="3A2A35"/>
                </a:solidFill>
                <a:latin typeface="Calibri" pitchFamily="34" charset="0"/>
                <a:ea typeface="Calibri" pitchFamily="34" charset="-122"/>
                <a:cs typeface="Calibri" pitchFamily="34" charset="-120"/>
              </a:rPr>
              <a:t>Atenúan la respuesta simpática a la laringoscopia e intubación.</a:t>
            </a:r>
            <a:endParaRPr lang="en-US" sz="1250" dirty="0"/>
          </a:p>
          <a:p>
            <a:pPr marL="177800" indent="-177800">
              <a:lnSpc>
                <a:spcPct val="108000"/>
              </a:lnSpc>
              <a:spcAft>
                <a:spcPts val="900"/>
              </a:spcAft>
              <a:buSzPct val="100000"/>
              <a:buChar char="•"/>
            </a:pPr>
            <a:r>
              <a:rPr lang="en-US" sz="1250" dirty="0">
                <a:solidFill>
                  <a:srgbClr val="3A2A35"/>
                </a:solidFill>
                <a:latin typeface="Calibri" pitchFamily="34" charset="0"/>
                <a:ea typeface="Calibri" pitchFamily="34" charset="-122"/>
                <a:cs typeface="Calibri" pitchFamily="34" charset="-120"/>
              </a:rPr>
              <a:t>Reducen los requerimientos de agentes anestésicos generales (efecto ahorrador).</a:t>
            </a:r>
            <a:endParaRPr lang="en-US" sz="1250" dirty="0"/>
          </a:p>
          <a:p>
            <a:pPr marL="177800" indent="-177800">
              <a:lnSpc>
                <a:spcPct val="108000"/>
              </a:lnSpc>
              <a:spcAft>
                <a:spcPts val="900"/>
              </a:spcAft>
              <a:buSzPct val="100000"/>
              <a:buChar char="•"/>
            </a:pPr>
            <a:r>
              <a:rPr lang="en-US" sz="1250" dirty="0">
                <a:solidFill>
                  <a:srgbClr val="3A2A35"/>
                </a:solidFill>
                <a:latin typeface="Calibri" pitchFamily="34" charset="0"/>
                <a:ea typeface="Calibri" pitchFamily="34" charset="-122"/>
                <a:cs typeface="Calibri" pitchFamily="34" charset="-120"/>
              </a:rPr>
              <a:t>Producen cierto grado de sedación y ansiolisis, aunque no son su indicación primaria.</a:t>
            </a:r>
            <a:endParaRPr lang="en-US" sz="1250" dirty="0"/>
          </a:p>
        </p:txBody>
      </p:sp>
      <p:sp>
        <p:nvSpPr>
          <p:cNvPr id="9" name="Shape 6"/>
          <p:cNvSpPr/>
          <p:nvPr/>
        </p:nvSpPr>
        <p:spPr>
          <a:xfrm>
            <a:off x="6278728" y="1417320"/>
            <a:ext cx="5455768" cy="4480560"/>
          </a:xfrm>
          <a:prstGeom prst="roundRect">
            <a:avLst>
              <a:gd name="adj" fmla="val 1633"/>
            </a:avLst>
          </a:prstGeom>
          <a:solidFill>
            <a:srgbClr val="FBF3E7"/>
          </a:solidFill>
          <a:ln/>
          <a:effectLst>
            <a:outerShdw sx="100000" sy="100000" kx="0" ky="0" algn="bl" rotWithShape="0" blurRad="76200" dist="25400" dir="5400000">
              <a:srgbClr val="2A1729">
                <a:alpha val="18000"/>
              </a:srgbClr>
            </a:outerShdw>
          </a:effectLst>
        </p:spPr>
      </p:sp>
      <p:sp>
        <p:nvSpPr>
          <p:cNvPr id="10" name="Text 7"/>
          <p:cNvSpPr txBox="1"/>
          <p:nvPr/>
        </p:nvSpPr>
        <p:spPr>
          <a:xfrm>
            <a:off x="6571336" y="1636776"/>
            <a:ext cx="4870552" cy="457200"/>
          </a:xfrm>
          <a:prstGeom prst="rect">
            <a:avLst/>
          </a:prstGeom>
          <a:noFill/>
          <a:ln/>
        </p:spPr>
        <p:txBody>
          <a:bodyPr wrap="square" lIns="0" tIns="0" rIns="0" bIns="0" rtlCol="0" anchor="ctr"/>
          <a:lstStyle/>
          <a:p>
            <a:pPr indent="0" marL="0">
              <a:buNone/>
            </a:pPr>
            <a:r>
              <a:rPr lang="en-US" sz="1650" b="1" dirty="0">
                <a:solidFill>
                  <a:srgbClr val="4A2545"/>
                </a:solidFill>
                <a:latin typeface="Cambria" pitchFamily="34" charset="0"/>
                <a:ea typeface="Cambria" pitchFamily="34" charset="-122"/>
                <a:cs typeface="Cambria" pitchFamily="34" charset="-120"/>
              </a:rPr>
              <a:t>Perfil general</a:t>
            </a:r>
            <a:endParaRPr lang="en-US" sz="1650" dirty="0"/>
          </a:p>
        </p:txBody>
      </p:sp>
      <p:sp>
        <p:nvSpPr>
          <p:cNvPr id="11" name="Text 8"/>
          <p:cNvSpPr txBox="1"/>
          <p:nvPr/>
        </p:nvSpPr>
        <p:spPr>
          <a:xfrm>
            <a:off x="6571336" y="2194560"/>
            <a:ext cx="4870552" cy="3474720"/>
          </a:xfrm>
          <a:prstGeom prst="rect">
            <a:avLst/>
          </a:prstGeom>
          <a:noFill/>
          <a:ln/>
        </p:spPr>
        <p:txBody>
          <a:bodyPr wrap="square" lIns="0" tIns="0" rIns="0" bIns="0" rtlCol="0" anchor="t"/>
          <a:lstStyle/>
          <a:p>
            <a:pPr marL="177800" indent="-177800">
              <a:lnSpc>
                <a:spcPct val="108000"/>
              </a:lnSpc>
              <a:spcAft>
                <a:spcPts val="900"/>
              </a:spcAft>
              <a:buSzPct val="100000"/>
              <a:buChar char="•"/>
            </a:pPr>
            <a:r>
              <a:rPr lang="en-US" sz="1250" dirty="0">
                <a:solidFill>
                  <a:srgbClr val="3A2A35"/>
                </a:solidFill>
                <a:latin typeface="Calibri" pitchFamily="34" charset="0"/>
                <a:ea typeface="Calibri" pitchFamily="34" charset="-122"/>
                <a:cs typeface="Calibri" pitchFamily="34" charset="-120"/>
              </a:rPr>
              <a:t>Actúan sobre receptores opioides acoplados a proteína G (mu, kappa, delta).</a:t>
            </a:r>
            <a:endParaRPr lang="en-US" sz="1250" dirty="0"/>
          </a:p>
          <a:p>
            <a:pPr marL="177800" indent="-177800">
              <a:lnSpc>
                <a:spcPct val="108000"/>
              </a:lnSpc>
              <a:spcAft>
                <a:spcPts val="900"/>
              </a:spcAft>
              <a:buSzPct val="100000"/>
              <a:buChar char="•"/>
            </a:pPr>
            <a:r>
              <a:rPr lang="en-US" sz="1250" dirty="0">
                <a:solidFill>
                  <a:srgbClr val="3A2A35"/>
                </a:solidFill>
                <a:latin typeface="Calibri" pitchFamily="34" charset="0"/>
                <a:ea typeface="Calibri" pitchFamily="34" charset="-122"/>
                <a:cs typeface="Calibri" pitchFamily="34" charset="-120"/>
              </a:rPr>
              <a:t>Su uso rutinario como premedicación única ha disminuido por el riesgo de depresión respiratoria.</a:t>
            </a:r>
            <a:endParaRPr lang="en-US" sz="1250" dirty="0"/>
          </a:p>
          <a:p>
            <a:pPr marL="177800" indent="-177800">
              <a:lnSpc>
                <a:spcPct val="108000"/>
              </a:lnSpc>
              <a:spcAft>
                <a:spcPts val="900"/>
              </a:spcAft>
              <a:buSzPct val="100000"/>
              <a:buChar char="•"/>
            </a:pPr>
            <a:r>
              <a:rPr lang="en-US" sz="1250" dirty="0">
                <a:solidFill>
                  <a:srgbClr val="3A2A35"/>
                </a:solidFill>
                <a:latin typeface="Calibri" pitchFamily="34" charset="0"/>
                <a:ea typeface="Calibri" pitchFamily="34" charset="-122"/>
                <a:cs typeface="Calibri" pitchFamily="34" charset="-120"/>
              </a:rPr>
              <a:t>Se prefieren en dolor preexistente, procedimientos invasivos o colocación de catéteres/bloqueos.</a:t>
            </a:r>
            <a:endParaRPr lang="en-US" sz="1250" dirty="0"/>
          </a:p>
          <a:p>
            <a:pPr marL="177800" indent="-177800">
              <a:lnSpc>
                <a:spcPct val="108000"/>
              </a:lnSpc>
              <a:spcAft>
                <a:spcPts val="900"/>
              </a:spcAft>
              <a:buSzPct val="100000"/>
              <a:buChar char="•"/>
            </a:pPr>
            <a:r>
              <a:rPr lang="en-US" sz="1250" dirty="0">
                <a:solidFill>
                  <a:srgbClr val="3A2A35"/>
                </a:solidFill>
                <a:latin typeface="Calibri" pitchFamily="34" charset="0"/>
                <a:ea typeface="Calibri" pitchFamily="34" charset="-122"/>
                <a:cs typeface="Calibri" pitchFamily="34" charset="-120"/>
              </a:rPr>
              <a:t>Combinados con benzodiacepinas potencian sedación y depresión respiratoria: requieren monitorización.</a:t>
            </a:r>
            <a:endParaRPr lang="en-US" sz="1250" dirty="0"/>
          </a:p>
        </p:txBody>
      </p:sp>
      <p:sp>
        <p:nvSpPr>
          <p:cNvPr id="12" name="Text 9"/>
          <p:cNvSpPr txBox="1"/>
          <p:nvPr/>
        </p:nvSpPr>
        <p:spPr>
          <a:xfrm>
            <a:off x="457200" y="6473952"/>
            <a:ext cx="6400800" cy="292608"/>
          </a:xfrm>
          <a:prstGeom prst="rect">
            <a:avLst/>
          </a:prstGeom>
          <a:noFill/>
          <a:ln/>
        </p:spPr>
        <p:txBody>
          <a:bodyPr wrap="square" lIns="0" tIns="0" rIns="0" bIns="0" rtlCol="0" anchor="ctr"/>
          <a:lstStyle/>
          <a:p>
            <a:pPr indent="0" marL="0">
              <a:buNone/>
            </a:pPr>
            <a:r>
              <a:rPr lang="en-US" sz="900" i="1" dirty="0">
                <a:solidFill>
                  <a:srgbClr val="77606F"/>
                </a:solidFill>
                <a:latin typeface="Calibri" pitchFamily="34" charset="0"/>
                <a:ea typeface="Calibri" pitchFamily="34" charset="-122"/>
                <a:cs typeface="Calibri" pitchFamily="34" charset="-120"/>
              </a:rPr>
              <a:t>Capítulo IV — Premedicación</a:t>
            </a:r>
            <a:endParaRPr lang="en-US" sz="900" dirty="0"/>
          </a:p>
        </p:txBody>
      </p:sp>
      <p:sp>
        <p:nvSpPr>
          <p:cNvPr id="13" name="Text 10"/>
          <p:cNvSpPr txBox="1"/>
          <p:nvPr/>
        </p:nvSpPr>
        <p:spPr>
          <a:xfrm>
            <a:off x="10362895" y="6473952"/>
            <a:ext cx="1371600" cy="292608"/>
          </a:xfrm>
          <a:prstGeom prst="rect">
            <a:avLst/>
          </a:prstGeom>
          <a:noFill/>
          <a:ln/>
        </p:spPr>
        <p:txBody>
          <a:bodyPr wrap="square" lIns="0" tIns="0" rIns="0" bIns="0" rtlCol="0" anchor="ctr"/>
          <a:lstStyle/>
          <a:p>
            <a:pPr algn="r" indent="0" marL="0">
              <a:buNone/>
            </a:pPr>
            <a:r>
              <a:rPr lang="en-US" sz="900" dirty="0">
                <a:solidFill>
                  <a:srgbClr val="77606F"/>
                </a:solidFill>
                <a:latin typeface="Calibri" pitchFamily="34" charset="0"/>
                <a:ea typeface="Calibri" pitchFamily="34" charset="-122"/>
                <a:cs typeface="Calibri" pitchFamily="34" charset="-120"/>
              </a:rPr>
              <a:t>13 / 33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658368" cy="658368"/>
          </a:xfrm>
          <a:prstGeom prst="ellipse">
            <a:avLst/>
          </a:prstGeom>
          <a:solidFill>
            <a:srgbClr val="4A2545"/>
          </a:solidFill>
          <a:ln/>
        </p:spPr>
      </p:sp>
      <p:pic>
        <p:nvPicPr>
          <p:cNvPr id="3" name="Image 0" descr="preencoded.png">    </p:cNvPr>
          <p:cNvPicPr>
            <a:picLocks noChangeAspect="1"/>
          </p:cNvPicPr>
          <p:nvPr/>
        </p:nvPicPr>
        <p:blipFill>
          <a:blip r:embed="rId1"/>
          <a:stretch>
            <a:fillRect/>
          </a:stretch>
        </p:blipFill>
        <p:spPr>
          <a:xfrm>
            <a:off x="602041" y="556321"/>
            <a:ext cx="368686" cy="368686"/>
          </a:xfrm>
          <a:prstGeom prst="rect">
            <a:avLst/>
          </a:prstGeom>
        </p:spPr>
      </p:pic>
      <p:sp>
        <p:nvSpPr>
          <p:cNvPr id="4" name="Text 1"/>
          <p:cNvSpPr txBox="1"/>
          <p:nvPr/>
        </p:nvSpPr>
        <p:spPr>
          <a:xfrm>
            <a:off x="1298448" y="384048"/>
            <a:ext cx="9601200" cy="256032"/>
          </a:xfrm>
          <a:prstGeom prst="rect">
            <a:avLst/>
          </a:prstGeom>
          <a:noFill/>
          <a:ln/>
        </p:spPr>
        <p:txBody>
          <a:bodyPr wrap="square" lIns="0" tIns="0" rIns="0" bIns="0" rtlCol="0" anchor="ctr"/>
          <a:lstStyle/>
          <a:p>
            <a:pPr indent="0" marL="0">
              <a:buNone/>
            </a:pPr>
            <a:r>
              <a:rPr lang="en-US" sz="1150" b="1" spc="150" kern="0" dirty="0">
                <a:solidFill>
                  <a:srgbClr val="E0A458"/>
                </a:solidFill>
                <a:latin typeface="Calibri" pitchFamily="34" charset="0"/>
                <a:ea typeface="Calibri" pitchFamily="34" charset="-122"/>
                <a:cs typeface="Calibri" pitchFamily="34" charset="-120"/>
              </a:rPr>
              <a:t>FARMACODINAMIA</a:t>
            </a:r>
            <a:endParaRPr lang="en-US" sz="1150" dirty="0"/>
          </a:p>
        </p:txBody>
      </p:sp>
      <p:sp>
        <p:nvSpPr>
          <p:cNvPr id="5" name="Text 2"/>
          <p:cNvSpPr txBox="1"/>
          <p:nvPr/>
        </p:nvSpPr>
        <p:spPr>
          <a:xfrm>
            <a:off x="1298448" y="621792"/>
            <a:ext cx="10058400" cy="502920"/>
          </a:xfrm>
          <a:prstGeom prst="rect">
            <a:avLst/>
          </a:prstGeom>
          <a:noFill/>
          <a:ln/>
        </p:spPr>
        <p:txBody>
          <a:bodyPr wrap="square" lIns="0" tIns="0" rIns="0" bIns="0" rtlCol="0" anchor="ctr"/>
          <a:lstStyle/>
          <a:p>
            <a:pPr indent="0" marL="0">
              <a:buNone/>
            </a:pPr>
            <a:r>
              <a:rPr lang="en-US" sz="2500" b="1" dirty="0">
                <a:solidFill>
                  <a:srgbClr val="4A2545"/>
                </a:solidFill>
                <a:latin typeface="Cambria" pitchFamily="34" charset="0"/>
                <a:ea typeface="Cambria" pitchFamily="34" charset="-122"/>
                <a:cs typeface="Cambria" pitchFamily="34" charset="-120"/>
              </a:rPr>
              <a:t>Opioides: mecanismo en receptores mu, kappa y delta</a:t>
            </a:r>
            <a:endParaRPr lang="en-US" sz="25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508760"/>
          <a:ext cx="11277295" cy="914400"/>
        </p:xfrm>
        <a:graphic>
          <a:graphicData uri="http://schemas.openxmlformats.org/drawingml/2006/table">
            <a:tbl>
              <a:tblPr/>
              <a:tblGrid>
                <a:gridCol w="2743200"/>
                <a:gridCol w="3657600"/>
                <a:gridCol w="4873752"/>
              </a:tblGrid>
              <a:tr h="548640">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Receptor</a:t>
                      </a:r>
                      <a:endParaRPr lang="en-US" sz="115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4A2545"/>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Efecto principal</a:t>
                      </a:r>
                      <a:endParaRPr lang="en-US" sz="115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4A2545"/>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Efectos asociados</a:t>
                      </a:r>
                      <a:endParaRPr lang="en-US" sz="115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4A2545"/>
                    </a:solidFill>
                  </a:tcPr>
                </a:tc>
              </a:tr>
              <a:tr h="868680">
                <a:tc>
                  <a:txBody>
                    <a:bodyPr/>
                    <a:lstStyle/>
                    <a:p>
                      <a:pPr algn="l" indent="0" marL="0">
                        <a:buNone/>
                      </a:pPr>
                      <a:r>
                        <a:rPr lang="en-US" sz="1100" b="1" dirty="0">
                          <a:solidFill>
                            <a:srgbClr val="3A2A35"/>
                          </a:solidFill>
                          <a:latin typeface="Calibri" pitchFamily="34" charset="0"/>
                          <a:ea typeface="Calibri" pitchFamily="34" charset="-122"/>
                          <a:cs typeface="Calibri" pitchFamily="34" charset="-120"/>
                        </a:rPr>
                        <a:t>Mu (μ) — MOR</a:t>
                      </a:r>
                      <a:endParaRPr lang="en-US" sz="110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A2A35"/>
                          </a:solidFill>
                          <a:latin typeface="Calibri" pitchFamily="34" charset="0"/>
                          <a:ea typeface="Calibri" pitchFamily="34" charset="-122"/>
                          <a:cs typeface="Calibri" pitchFamily="34" charset="-120"/>
                        </a:rPr>
                        <a:t>Analgesia supraespinal potente</a:t>
                      </a:r>
                      <a:endParaRPr lang="en-US" sz="110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A2A35"/>
                          </a:solidFill>
                          <a:latin typeface="Calibri" pitchFamily="34" charset="0"/>
                          <a:ea typeface="Calibri" pitchFamily="34" charset="-122"/>
                          <a:cs typeface="Calibri" pitchFamily="34" charset="-120"/>
                        </a:rPr>
                        <a:t>Depresión respiratoria, euforia, dependencia, estreñimiento</a:t>
                      </a:r>
                      <a:endParaRPr lang="en-US" sz="110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FFFFFF"/>
                    </a:solidFill>
                  </a:tcPr>
                </a:tc>
              </a:tr>
              <a:tr h="868680">
                <a:tc>
                  <a:txBody>
                    <a:bodyPr/>
                    <a:lstStyle/>
                    <a:p>
                      <a:pPr algn="l" indent="0" marL="0">
                        <a:buNone/>
                      </a:pPr>
                      <a:r>
                        <a:rPr lang="en-US" sz="1100" b="1" dirty="0">
                          <a:solidFill>
                            <a:srgbClr val="3A2A35"/>
                          </a:solidFill>
                          <a:latin typeface="Calibri" pitchFamily="34" charset="0"/>
                          <a:ea typeface="Calibri" pitchFamily="34" charset="-122"/>
                          <a:cs typeface="Calibri" pitchFamily="34" charset="-120"/>
                        </a:rPr>
                        <a:t>Kappa (κ) — KOR</a:t>
                      </a:r>
                      <a:endParaRPr lang="en-US" sz="110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F4EEF2"/>
                    </a:solidFill>
                  </a:tcPr>
                </a:tc>
                <a:tc>
                  <a:txBody>
                    <a:bodyPr/>
                    <a:lstStyle/>
                    <a:p>
                      <a:pPr algn="ctr" indent="0" marL="0">
                        <a:buNone/>
                      </a:pPr>
                      <a:r>
                        <a:rPr lang="en-US" sz="1100" dirty="0">
                          <a:solidFill>
                            <a:srgbClr val="3A2A35"/>
                          </a:solidFill>
                          <a:latin typeface="Calibri" pitchFamily="34" charset="0"/>
                          <a:ea typeface="Calibri" pitchFamily="34" charset="-122"/>
                          <a:cs typeface="Calibri" pitchFamily="34" charset="-120"/>
                        </a:rPr>
                        <a:t>Analgesia espinal</a:t>
                      </a:r>
                      <a:endParaRPr lang="en-US" sz="110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F4EEF2"/>
                    </a:solidFill>
                  </a:tcPr>
                </a:tc>
                <a:tc>
                  <a:txBody>
                    <a:bodyPr/>
                    <a:lstStyle/>
                    <a:p>
                      <a:pPr algn="ctr" indent="0" marL="0">
                        <a:buNone/>
                      </a:pPr>
                      <a:r>
                        <a:rPr lang="en-US" sz="1100" dirty="0">
                          <a:solidFill>
                            <a:srgbClr val="3A2A35"/>
                          </a:solidFill>
                          <a:latin typeface="Calibri" pitchFamily="34" charset="0"/>
                          <a:ea typeface="Calibri" pitchFamily="34" charset="-122"/>
                          <a:cs typeface="Calibri" pitchFamily="34" charset="-120"/>
                        </a:rPr>
                        <a:t>Sedación, disforia, efecto psicomimético, menor depresión respiratoria</a:t>
                      </a:r>
                      <a:endParaRPr lang="en-US" sz="110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F4EEF2"/>
                    </a:solidFill>
                  </a:tcPr>
                </a:tc>
              </a:tr>
              <a:tr h="868680">
                <a:tc>
                  <a:txBody>
                    <a:bodyPr/>
                    <a:lstStyle/>
                    <a:p>
                      <a:pPr algn="l" indent="0" marL="0">
                        <a:buNone/>
                      </a:pPr>
                      <a:r>
                        <a:rPr lang="en-US" sz="1100" b="1" dirty="0">
                          <a:solidFill>
                            <a:srgbClr val="3A2A35"/>
                          </a:solidFill>
                          <a:latin typeface="Calibri" pitchFamily="34" charset="0"/>
                          <a:ea typeface="Calibri" pitchFamily="34" charset="-122"/>
                          <a:cs typeface="Calibri" pitchFamily="34" charset="-120"/>
                        </a:rPr>
                        <a:t>Delta (δ) — DOR</a:t>
                      </a:r>
                      <a:endParaRPr lang="en-US" sz="110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A2A35"/>
                          </a:solidFill>
                          <a:latin typeface="Calibri" pitchFamily="34" charset="0"/>
                          <a:ea typeface="Calibri" pitchFamily="34" charset="-122"/>
                          <a:cs typeface="Calibri" pitchFamily="34" charset="-120"/>
                        </a:rPr>
                        <a:t>Analgesia moduladora</a:t>
                      </a:r>
                      <a:endParaRPr lang="en-US" sz="110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A2A35"/>
                          </a:solidFill>
                          <a:latin typeface="Calibri" pitchFamily="34" charset="0"/>
                          <a:ea typeface="Calibri" pitchFamily="34" charset="-122"/>
                          <a:cs typeface="Calibri" pitchFamily="34" charset="-120"/>
                        </a:rPr>
                        <a:t>Efectos antidepresivos/ansiolíticos descritos; menor rol clínico actual</a:t>
                      </a:r>
                      <a:endParaRPr lang="en-US" sz="110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FFFFFF"/>
                    </a:solidFill>
                  </a:tcPr>
                </a:tc>
              </a:tr>
            </a:tbl>
          </a:graphicData>
        </a:graphic>
      </p:graphicFrame>
      <p:sp>
        <p:nvSpPr>
          <p:cNvPr id="7" name="Text 3"/>
          <p:cNvSpPr txBox="1"/>
          <p:nvPr/>
        </p:nvSpPr>
        <p:spPr>
          <a:xfrm>
            <a:off x="457200" y="4709160"/>
            <a:ext cx="11277295" cy="1371600"/>
          </a:xfrm>
          <a:prstGeom prst="rect">
            <a:avLst/>
          </a:prstGeom>
          <a:noFill/>
          <a:ln/>
        </p:spPr>
        <p:txBody>
          <a:bodyPr wrap="square" lIns="0" tIns="0" rIns="0" bIns="0" rtlCol="0" anchor="t"/>
          <a:lstStyle/>
          <a:p>
            <a:pPr indent="0" marL="0">
              <a:lnSpc>
                <a:spcPct val="115000"/>
              </a:lnSpc>
              <a:buNone/>
            </a:pPr>
            <a:r>
              <a:rPr lang="en-US" sz="1250" dirty="0">
                <a:solidFill>
                  <a:srgbClr val="3A2A35"/>
                </a:solidFill>
                <a:latin typeface="Calibri" pitchFamily="34" charset="0"/>
                <a:ea typeface="Calibri" pitchFamily="34" charset="-122"/>
                <a:cs typeface="Calibri" pitchFamily="34" charset="-120"/>
              </a:rPr>
              <a:t>Todos son receptores acoplados a proteína Gi/o: su activación inhibe la adenilato ciclasa, abre canales de K+ (hiperpolarización) y cierra canales de Ca2+ voltaje-dependientes, reduciendo la liberación de neurotransmisores excitatorios y la transmisión nociceptiva.</a:t>
            </a:r>
            <a:endParaRPr lang="en-US" sz="1250" dirty="0"/>
          </a:p>
        </p:txBody>
      </p:sp>
      <p:sp>
        <p:nvSpPr>
          <p:cNvPr id="8" name="Text 4"/>
          <p:cNvSpPr txBox="1"/>
          <p:nvPr/>
        </p:nvSpPr>
        <p:spPr>
          <a:xfrm>
            <a:off x="457200" y="6473952"/>
            <a:ext cx="6400800" cy="292608"/>
          </a:xfrm>
          <a:prstGeom prst="rect">
            <a:avLst/>
          </a:prstGeom>
          <a:noFill/>
          <a:ln/>
        </p:spPr>
        <p:txBody>
          <a:bodyPr wrap="square" lIns="0" tIns="0" rIns="0" bIns="0" rtlCol="0" anchor="ctr"/>
          <a:lstStyle/>
          <a:p>
            <a:pPr indent="0" marL="0">
              <a:buNone/>
            </a:pPr>
            <a:r>
              <a:rPr lang="en-US" sz="900" i="1" dirty="0">
                <a:solidFill>
                  <a:srgbClr val="77606F"/>
                </a:solidFill>
                <a:latin typeface="Calibri" pitchFamily="34" charset="0"/>
                <a:ea typeface="Calibri" pitchFamily="34" charset="-122"/>
                <a:cs typeface="Calibri" pitchFamily="34" charset="-120"/>
              </a:rPr>
              <a:t>Capítulo IV — Premedicación</a:t>
            </a:r>
            <a:endParaRPr lang="en-US" sz="900" dirty="0"/>
          </a:p>
        </p:txBody>
      </p:sp>
      <p:sp>
        <p:nvSpPr>
          <p:cNvPr id="9" name="Text 5"/>
          <p:cNvSpPr txBox="1"/>
          <p:nvPr/>
        </p:nvSpPr>
        <p:spPr>
          <a:xfrm>
            <a:off x="10362895" y="6473952"/>
            <a:ext cx="1371600" cy="292608"/>
          </a:xfrm>
          <a:prstGeom prst="rect">
            <a:avLst/>
          </a:prstGeom>
          <a:noFill/>
          <a:ln/>
        </p:spPr>
        <p:txBody>
          <a:bodyPr wrap="square" lIns="0" tIns="0" rIns="0" bIns="0" rtlCol="0" anchor="ctr"/>
          <a:lstStyle/>
          <a:p>
            <a:pPr algn="r" indent="0" marL="0">
              <a:buNone/>
            </a:pPr>
            <a:r>
              <a:rPr lang="en-US" sz="900" dirty="0">
                <a:solidFill>
                  <a:srgbClr val="77606F"/>
                </a:solidFill>
                <a:latin typeface="Calibri" pitchFamily="34" charset="0"/>
                <a:ea typeface="Calibri" pitchFamily="34" charset="-122"/>
                <a:cs typeface="Calibri" pitchFamily="34" charset="-120"/>
              </a:rPr>
              <a:t>14 / 33</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658368" cy="658368"/>
          </a:xfrm>
          <a:prstGeom prst="ellipse">
            <a:avLst/>
          </a:prstGeom>
          <a:solidFill>
            <a:srgbClr val="4A2545"/>
          </a:solidFill>
          <a:ln/>
        </p:spPr>
      </p:sp>
      <p:pic>
        <p:nvPicPr>
          <p:cNvPr id="3" name="Image 0" descr="preencoded.png">    </p:cNvPr>
          <p:cNvPicPr>
            <a:picLocks noChangeAspect="1"/>
          </p:cNvPicPr>
          <p:nvPr/>
        </p:nvPicPr>
        <p:blipFill>
          <a:blip r:embed="rId1"/>
          <a:stretch>
            <a:fillRect/>
          </a:stretch>
        </p:blipFill>
        <p:spPr>
          <a:xfrm>
            <a:off x="602041" y="556321"/>
            <a:ext cx="368686" cy="368686"/>
          </a:xfrm>
          <a:prstGeom prst="rect">
            <a:avLst/>
          </a:prstGeom>
        </p:spPr>
      </p:pic>
      <p:sp>
        <p:nvSpPr>
          <p:cNvPr id="4" name="Text 1"/>
          <p:cNvSpPr txBox="1"/>
          <p:nvPr/>
        </p:nvSpPr>
        <p:spPr>
          <a:xfrm>
            <a:off x="1298448" y="384048"/>
            <a:ext cx="9601200" cy="256032"/>
          </a:xfrm>
          <a:prstGeom prst="rect">
            <a:avLst/>
          </a:prstGeom>
          <a:noFill/>
          <a:ln/>
        </p:spPr>
        <p:txBody>
          <a:bodyPr wrap="square" lIns="0" tIns="0" rIns="0" bIns="0" rtlCol="0" anchor="ctr"/>
          <a:lstStyle/>
          <a:p>
            <a:pPr indent="0" marL="0">
              <a:buNone/>
            </a:pPr>
            <a:r>
              <a:rPr lang="en-US" sz="1150" b="1" spc="150" kern="0" dirty="0">
                <a:solidFill>
                  <a:srgbClr val="E0A458"/>
                </a:solidFill>
                <a:latin typeface="Calibri" pitchFamily="34" charset="0"/>
                <a:ea typeface="Calibri" pitchFamily="34" charset="-122"/>
                <a:cs typeface="Calibri" pitchFamily="34" charset="-120"/>
              </a:rPr>
              <a:t>MORFINA, FENTANILO, MEPERIDINA</a:t>
            </a:r>
            <a:endParaRPr lang="en-US" sz="1150" dirty="0"/>
          </a:p>
        </p:txBody>
      </p:sp>
      <p:sp>
        <p:nvSpPr>
          <p:cNvPr id="5" name="Text 2"/>
          <p:cNvSpPr txBox="1"/>
          <p:nvPr/>
        </p:nvSpPr>
        <p:spPr>
          <a:xfrm>
            <a:off x="1298448" y="621792"/>
            <a:ext cx="10058400" cy="502920"/>
          </a:xfrm>
          <a:prstGeom prst="rect">
            <a:avLst/>
          </a:prstGeom>
          <a:noFill/>
          <a:ln/>
        </p:spPr>
        <p:txBody>
          <a:bodyPr wrap="square" lIns="0" tIns="0" rIns="0" bIns="0" rtlCol="0" anchor="ctr"/>
          <a:lstStyle/>
          <a:p>
            <a:pPr indent="0" marL="0">
              <a:buNone/>
            </a:pPr>
            <a:r>
              <a:rPr lang="en-US" sz="2500" b="1" dirty="0">
                <a:solidFill>
                  <a:srgbClr val="4A2545"/>
                </a:solidFill>
                <a:latin typeface="Cambria" pitchFamily="34" charset="0"/>
                <a:ea typeface="Cambria" pitchFamily="34" charset="-122"/>
                <a:cs typeface="Cambria" pitchFamily="34" charset="-120"/>
              </a:rPr>
              <a:t>Opioides más usados en premedicación</a:t>
            </a:r>
            <a:endParaRPr lang="en-US" sz="25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1508760"/>
          <a:ext cx="11277295" cy="914400"/>
        </p:xfrm>
        <a:graphic>
          <a:graphicData uri="http://schemas.openxmlformats.org/drawingml/2006/table">
            <a:tbl>
              <a:tblPr/>
              <a:tblGrid>
                <a:gridCol w="2377440"/>
                <a:gridCol w="2560320"/>
                <a:gridCol w="2834640"/>
                <a:gridCol w="3502152"/>
              </a:tblGrid>
              <a:tr h="548640">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Fármaco</a:t>
                      </a:r>
                      <a:endParaRPr lang="en-US" sz="110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4A2545"/>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Potencia relativa</a:t>
                      </a:r>
                      <a:endParaRPr lang="en-US" sz="110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4A2545"/>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Inicio / duración</a:t>
                      </a:r>
                      <a:endParaRPr lang="en-US" sz="110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4A2545"/>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Notas clínicas</a:t>
                      </a:r>
                      <a:endParaRPr lang="en-US" sz="110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4A2545"/>
                    </a:solidFill>
                  </a:tcPr>
                </a:tc>
              </a:tr>
              <a:tr h="868680">
                <a:tc>
                  <a:txBody>
                    <a:bodyPr/>
                    <a:lstStyle/>
                    <a:p>
                      <a:pPr algn="l" indent="0" marL="0">
                        <a:buNone/>
                      </a:pPr>
                      <a:r>
                        <a:rPr lang="en-US" sz="1050" b="1" dirty="0">
                          <a:solidFill>
                            <a:srgbClr val="3A2A35"/>
                          </a:solidFill>
                          <a:latin typeface="Calibri" pitchFamily="34" charset="0"/>
                          <a:ea typeface="Calibri" pitchFamily="34" charset="-122"/>
                          <a:cs typeface="Calibri" pitchFamily="34" charset="-120"/>
                        </a:rPr>
                        <a:t>Morfina</a:t>
                      </a:r>
                      <a:endParaRPr lang="en-US" sz="105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A2A35"/>
                          </a:solidFill>
                          <a:latin typeface="Calibri" pitchFamily="34" charset="0"/>
                          <a:ea typeface="Calibri" pitchFamily="34" charset="-122"/>
                          <a:cs typeface="Calibri" pitchFamily="34" charset="-120"/>
                        </a:rPr>
                        <a:t>1 (referencia)</a:t>
                      </a:r>
                      <a:endParaRPr lang="en-US" sz="105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A2A35"/>
                          </a:solidFill>
                          <a:latin typeface="Calibri" pitchFamily="34" charset="0"/>
                          <a:ea typeface="Calibri" pitchFamily="34" charset="-122"/>
                          <a:cs typeface="Calibri" pitchFamily="34" charset="-120"/>
                        </a:rPr>
                        <a:t>IV 5-10 min / 3-4 h</a:t>
                      </a:r>
                      <a:endParaRPr lang="en-US" sz="105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A2A35"/>
                          </a:solidFill>
                          <a:latin typeface="Calibri" pitchFamily="34" charset="0"/>
                          <a:ea typeface="Calibri" pitchFamily="34" charset="-122"/>
                          <a:cs typeface="Calibri" pitchFamily="34" charset="-120"/>
                        </a:rPr>
                        <a:t>Libera histamina; precaución en asma y broncoespasmo</a:t>
                      </a:r>
                      <a:endParaRPr lang="en-US" sz="105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FFFFFF"/>
                    </a:solidFill>
                  </a:tcPr>
                </a:tc>
              </a:tr>
              <a:tr h="868680">
                <a:tc>
                  <a:txBody>
                    <a:bodyPr/>
                    <a:lstStyle/>
                    <a:p>
                      <a:pPr algn="l" indent="0" marL="0">
                        <a:buNone/>
                      </a:pPr>
                      <a:r>
                        <a:rPr lang="en-US" sz="1050" b="1" dirty="0">
                          <a:solidFill>
                            <a:srgbClr val="3A2A35"/>
                          </a:solidFill>
                          <a:latin typeface="Calibri" pitchFamily="34" charset="0"/>
                          <a:ea typeface="Calibri" pitchFamily="34" charset="-122"/>
                          <a:cs typeface="Calibri" pitchFamily="34" charset="-120"/>
                        </a:rPr>
                        <a:t>Fentanilo</a:t>
                      </a:r>
                      <a:endParaRPr lang="en-US" sz="105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F4EEF2"/>
                    </a:solidFill>
                  </a:tcPr>
                </a:tc>
                <a:tc>
                  <a:txBody>
                    <a:bodyPr/>
                    <a:lstStyle/>
                    <a:p>
                      <a:pPr algn="ctr" indent="0" marL="0">
                        <a:buNone/>
                      </a:pPr>
                      <a:r>
                        <a:rPr lang="en-US" sz="1050" dirty="0">
                          <a:solidFill>
                            <a:srgbClr val="3A2A35"/>
                          </a:solidFill>
                          <a:latin typeface="Calibri" pitchFamily="34" charset="0"/>
                          <a:ea typeface="Calibri" pitchFamily="34" charset="-122"/>
                          <a:cs typeface="Calibri" pitchFamily="34" charset="-120"/>
                        </a:rPr>
                        <a:t>~100x morfina</a:t>
                      </a:r>
                      <a:endParaRPr lang="en-US" sz="105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F4EEF2"/>
                    </a:solidFill>
                  </a:tcPr>
                </a:tc>
                <a:tc>
                  <a:txBody>
                    <a:bodyPr/>
                    <a:lstStyle/>
                    <a:p>
                      <a:pPr algn="ctr" indent="0" marL="0">
                        <a:buNone/>
                      </a:pPr>
                      <a:r>
                        <a:rPr lang="en-US" sz="1050" dirty="0">
                          <a:solidFill>
                            <a:srgbClr val="3A2A35"/>
                          </a:solidFill>
                          <a:latin typeface="Calibri" pitchFamily="34" charset="0"/>
                          <a:ea typeface="Calibri" pitchFamily="34" charset="-122"/>
                          <a:cs typeface="Calibri" pitchFamily="34" charset="-120"/>
                        </a:rPr>
                        <a:t>IV 2-3 min / 30-60 min</a:t>
                      </a:r>
                      <a:endParaRPr lang="en-US" sz="105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F4EEF2"/>
                    </a:solidFill>
                  </a:tcPr>
                </a:tc>
                <a:tc>
                  <a:txBody>
                    <a:bodyPr/>
                    <a:lstStyle/>
                    <a:p>
                      <a:pPr algn="ctr" indent="0" marL="0">
                        <a:buNone/>
                      </a:pPr>
                      <a:r>
                        <a:rPr lang="en-US" sz="1050" dirty="0">
                          <a:solidFill>
                            <a:srgbClr val="3A2A35"/>
                          </a:solidFill>
                          <a:latin typeface="Calibri" pitchFamily="34" charset="0"/>
                          <a:ea typeface="Calibri" pitchFamily="34" charset="-122"/>
                          <a:cs typeface="Calibri" pitchFamily="34" charset="-120"/>
                        </a:rPr>
                        <a:t>Mínima liberación de histamina; ideal para titulación rápida</a:t>
                      </a:r>
                      <a:endParaRPr lang="en-US" sz="105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F4EEF2"/>
                    </a:solidFill>
                  </a:tcPr>
                </a:tc>
              </a:tr>
              <a:tr h="868680">
                <a:tc>
                  <a:txBody>
                    <a:bodyPr/>
                    <a:lstStyle/>
                    <a:p>
                      <a:pPr algn="l" indent="0" marL="0">
                        <a:buNone/>
                      </a:pPr>
                      <a:r>
                        <a:rPr lang="en-US" sz="1050" b="1" dirty="0">
                          <a:solidFill>
                            <a:srgbClr val="3A2A35"/>
                          </a:solidFill>
                          <a:latin typeface="Calibri" pitchFamily="34" charset="0"/>
                          <a:ea typeface="Calibri" pitchFamily="34" charset="-122"/>
                          <a:cs typeface="Calibri" pitchFamily="34" charset="-120"/>
                        </a:rPr>
                        <a:t>Meperidina</a:t>
                      </a:r>
                      <a:endParaRPr lang="en-US" sz="105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A2A35"/>
                          </a:solidFill>
                          <a:latin typeface="Calibri" pitchFamily="34" charset="0"/>
                          <a:ea typeface="Calibri" pitchFamily="34" charset="-122"/>
                          <a:cs typeface="Calibri" pitchFamily="34" charset="-120"/>
                        </a:rPr>
                        <a:t>~0.1x morfina</a:t>
                      </a:r>
                      <a:endParaRPr lang="en-US" sz="105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A2A35"/>
                          </a:solidFill>
                          <a:latin typeface="Calibri" pitchFamily="34" charset="0"/>
                          <a:ea typeface="Calibri" pitchFamily="34" charset="-122"/>
                          <a:cs typeface="Calibri" pitchFamily="34" charset="-120"/>
                        </a:rPr>
                        <a:t>IV 5 min / 2-3 h</a:t>
                      </a:r>
                      <a:endParaRPr lang="en-US" sz="105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A2A35"/>
                          </a:solidFill>
                          <a:latin typeface="Calibri" pitchFamily="34" charset="0"/>
                          <a:ea typeface="Calibri" pitchFamily="34" charset="-122"/>
                          <a:cs typeface="Calibri" pitchFamily="34" charset="-120"/>
                        </a:rPr>
                        <a:t>Efecto antiescalofríos; metabolito neurotóxico (normeperidina); evitar en IMAO</a:t>
                      </a:r>
                      <a:endParaRPr lang="en-US" sz="105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FFFFFF"/>
                    </a:solidFill>
                  </a:tcPr>
                </a:tc>
              </a:tr>
            </a:tbl>
          </a:graphicData>
        </a:graphic>
      </p:graphicFrame>
      <p:sp>
        <p:nvSpPr>
          <p:cNvPr id="7" name="Text 3"/>
          <p:cNvSpPr txBox="1"/>
          <p:nvPr/>
        </p:nvSpPr>
        <p:spPr>
          <a:xfrm>
            <a:off x="457200" y="4892040"/>
            <a:ext cx="11277295" cy="1188720"/>
          </a:xfrm>
          <a:prstGeom prst="rect">
            <a:avLst/>
          </a:prstGeom>
          <a:noFill/>
          <a:ln/>
        </p:spPr>
        <p:txBody>
          <a:bodyPr wrap="square" lIns="0" tIns="0" rIns="0" bIns="0" rtlCol="0" anchor="t"/>
          <a:lstStyle/>
          <a:p>
            <a:pPr indent="0" marL="0">
              <a:lnSpc>
                <a:spcPct val="110000"/>
              </a:lnSpc>
              <a:buNone/>
            </a:pPr>
            <a:r>
              <a:rPr lang="en-US" sz="1200" i="1" dirty="0">
                <a:solidFill>
                  <a:srgbClr val="77606F"/>
                </a:solidFill>
                <a:latin typeface="Calibri" pitchFamily="34" charset="0"/>
                <a:ea typeface="Calibri" pitchFamily="34" charset="-122"/>
                <a:cs typeface="Calibri" pitchFamily="34" charset="-120"/>
              </a:rPr>
              <a:t>Perla clínica: el fentanilo es hoy el opioide de elección para premedicación/coinducción por su rápido inicio, ausencia de liberación relevante de histamina y fácil titulación; la meperidina se reserva casi exclusivamente para el manejo de escalofríos postoperatorios.</a:t>
            </a:r>
            <a:endParaRPr lang="en-US" sz="1200" dirty="0"/>
          </a:p>
        </p:txBody>
      </p:sp>
      <p:sp>
        <p:nvSpPr>
          <p:cNvPr id="8" name="Text 4"/>
          <p:cNvSpPr txBox="1"/>
          <p:nvPr/>
        </p:nvSpPr>
        <p:spPr>
          <a:xfrm>
            <a:off x="457200" y="6473952"/>
            <a:ext cx="6400800" cy="292608"/>
          </a:xfrm>
          <a:prstGeom prst="rect">
            <a:avLst/>
          </a:prstGeom>
          <a:noFill/>
          <a:ln/>
        </p:spPr>
        <p:txBody>
          <a:bodyPr wrap="square" lIns="0" tIns="0" rIns="0" bIns="0" rtlCol="0" anchor="ctr"/>
          <a:lstStyle/>
          <a:p>
            <a:pPr indent="0" marL="0">
              <a:buNone/>
            </a:pPr>
            <a:r>
              <a:rPr lang="en-US" sz="900" i="1" dirty="0">
                <a:solidFill>
                  <a:srgbClr val="77606F"/>
                </a:solidFill>
                <a:latin typeface="Calibri" pitchFamily="34" charset="0"/>
                <a:ea typeface="Calibri" pitchFamily="34" charset="-122"/>
                <a:cs typeface="Calibri" pitchFamily="34" charset="-120"/>
              </a:rPr>
              <a:t>Capítulo IV — Premedicación</a:t>
            </a:r>
            <a:endParaRPr lang="en-US" sz="900" dirty="0"/>
          </a:p>
        </p:txBody>
      </p:sp>
      <p:sp>
        <p:nvSpPr>
          <p:cNvPr id="9" name="Text 5"/>
          <p:cNvSpPr txBox="1"/>
          <p:nvPr/>
        </p:nvSpPr>
        <p:spPr>
          <a:xfrm>
            <a:off x="10362895" y="6473952"/>
            <a:ext cx="1371600" cy="292608"/>
          </a:xfrm>
          <a:prstGeom prst="rect">
            <a:avLst/>
          </a:prstGeom>
          <a:noFill/>
          <a:ln/>
        </p:spPr>
        <p:txBody>
          <a:bodyPr wrap="square" lIns="0" tIns="0" rIns="0" bIns="0" rtlCol="0" anchor="ctr"/>
          <a:lstStyle/>
          <a:p>
            <a:pPr algn="r" indent="0" marL="0">
              <a:buNone/>
            </a:pPr>
            <a:r>
              <a:rPr lang="en-US" sz="900" dirty="0">
                <a:solidFill>
                  <a:srgbClr val="77606F"/>
                </a:solidFill>
                <a:latin typeface="Calibri" pitchFamily="34" charset="0"/>
                <a:ea typeface="Calibri" pitchFamily="34" charset="-122"/>
                <a:cs typeface="Calibri" pitchFamily="34" charset="-120"/>
              </a:rPr>
              <a:t>15 / 33</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658368" cy="658368"/>
          </a:xfrm>
          <a:prstGeom prst="ellipse">
            <a:avLst/>
          </a:prstGeom>
          <a:solidFill>
            <a:srgbClr val="4A2545"/>
          </a:solidFill>
          <a:ln/>
        </p:spPr>
      </p:sp>
      <p:pic>
        <p:nvPicPr>
          <p:cNvPr id="3" name="Image 0" descr="preencoded.png">    </p:cNvPr>
          <p:cNvPicPr>
            <a:picLocks noChangeAspect="1"/>
          </p:cNvPicPr>
          <p:nvPr/>
        </p:nvPicPr>
        <p:blipFill>
          <a:blip r:embed="rId1"/>
          <a:stretch>
            <a:fillRect/>
          </a:stretch>
        </p:blipFill>
        <p:spPr>
          <a:xfrm>
            <a:off x="602041" y="556321"/>
            <a:ext cx="368686" cy="368686"/>
          </a:xfrm>
          <a:prstGeom prst="rect">
            <a:avLst/>
          </a:prstGeom>
        </p:spPr>
      </p:pic>
      <p:sp>
        <p:nvSpPr>
          <p:cNvPr id="4" name="Text 1"/>
          <p:cNvSpPr txBox="1"/>
          <p:nvPr/>
        </p:nvSpPr>
        <p:spPr>
          <a:xfrm>
            <a:off x="1298448" y="384048"/>
            <a:ext cx="9601200" cy="256032"/>
          </a:xfrm>
          <a:prstGeom prst="rect">
            <a:avLst/>
          </a:prstGeom>
          <a:noFill/>
          <a:ln/>
        </p:spPr>
        <p:txBody>
          <a:bodyPr wrap="square" lIns="0" tIns="0" rIns="0" bIns="0" rtlCol="0" anchor="ctr"/>
          <a:lstStyle/>
          <a:p>
            <a:pPr indent="0" marL="0">
              <a:buNone/>
            </a:pPr>
            <a:r>
              <a:rPr lang="en-US" sz="1150" b="1" spc="150" kern="0" dirty="0">
                <a:solidFill>
                  <a:srgbClr val="E0A458"/>
                </a:solidFill>
                <a:latin typeface="Calibri" pitchFamily="34" charset="0"/>
                <a:ea typeface="Calibri" pitchFamily="34" charset="-122"/>
                <a:cs typeface="Calibri" pitchFamily="34" charset="-120"/>
              </a:rPr>
              <a:t>SEGURIDAD</a:t>
            </a:r>
            <a:endParaRPr lang="en-US" sz="1150" dirty="0"/>
          </a:p>
        </p:txBody>
      </p:sp>
      <p:sp>
        <p:nvSpPr>
          <p:cNvPr id="5" name="Text 2"/>
          <p:cNvSpPr txBox="1"/>
          <p:nvPr/>
        </p:nvSpPr>
        <p:spPr>
          <a:xfrm>
            <a:off x="1298448" y="621792"/>
            <a:ext cx="10058400" cy="502920"/>
          </a:xfrm>
          <a:prstGeom prst="rect">
            <a:avLst/>
          </a:prstGeom>
          <a:noFill/>
          <a:ln/>
        </p:spPr>
        <p:txBody>
          <a:bodyPr wrap="square" lIns="0" tIns="0" rIns="0" bIns="0" rtlCol="0" anchor="ctr"/>
          <a:lstStyle/>
          <a:p>
            <a:pPr indent="0" marL="0">
              <a:buNone/>
            </a:pPr>
            <a:r>
              <a:rPr lang="en-US" sz="2500" b="1" dirty="0">
                <a:solidFill>
                  <a:srgbClr val="4A2545"/>
                </a:solidFill>
                <a:latin typeface="Cambria" pitchFamily="34" charset="0"/>
                <a:ea typeface="Cambria" pitchFamily="34" charset="-122"/>
                <a:cs typeface="Cambria" pitchFamily="34" charset="-120"/>
              </a:rPr>
              <a:t>Efectos adversos de los opioides</a:t>
            </a:r>
            <a:endParaRPr lang="en-US" sz="2500" dirty="0"/>
          </a:p>
        </p:txBody>
      </p:sp>
      <p:sp>
        <p:nvSpPr>
          <p:cNvPr id="6" name="Shape 3"/>
          <p:cNvSpPr/>
          <p:nvPr/>
        </p:nvSpPr>
        <p:spPr>
          <a:xfrm>
            <a:off x="457200" y="1536192"/>
            <a:ext cx="512064" cy="512064"/>
          </a:xfrm>
          <a:prstGeom prst="ellipse">
            <a:avLst/>
          </a:prstGeom>
          <a:solidFill>
            <a:srgbClr val="4A2545"/>
          </a:solidFill>
          <a:ln/>
        </p:spPr>
      </p:sp>
      <p:pic>
        <p:nvPicPr>
          <p:cNvPr id="7" name="Image 1" descr="preencoded.png">    </p:cNvPr>
          <p:cNvPicPr>
            <a:picLocks noChangeAspect="1"/>
          </p:cNvPicPr>
          <p:nvPr/>
        </p:nvPicPr>
        <p:blipFill>
          <a:blip r:embed="rId2"/>
          <a:stretch>
            <a:fillRect/>
          </a:stretch>
        </p:blipFill>
        <p:spPr>
          <a:xfrm>
            <a:off x="564733" y="1643725"/>
            <a:ext cx="296997" cy="296997"/>
          </a:xfrm>
          <a:prstGeom prst="rect">
            <a:avLst/>
          </a:prstGeom>
        </p:spPr>
      </p:pic>
      <p:sp>
        <p:nvSpPr>
          <p:cNvPr id="8" name="Text 4"/>
          <p:cNvSpPr txBox="1"/>
          <p:nvPr/>
        </p:nvSpPr>
        <p:spPr>
          <a:xfrm>
            <a:off x="1170432" y="1481328"/>
            <a:ext cx="10353751" cy="310896"/>
          </a:xfrm>
          <a:prstGeom prst="rect">
            <a:avLst/>
          </a:prstGeom>
          <a:noFill/>
          <a:ln/>
        </p:spPr>
        <p:txBody>
          <a:bodyPr wrap="square" lIns="0" tIns="0" rIns="0" bIns="0" rtlCol="0" anchor="ctr"/>
          <a:lstStyle/>
          <a:p>
            <a:pPr indent="0" marL="0">
              <a:buNone/>
            </a:pPr>
            <a:r>
              <a:rPr lang="en-US" sz="1450" b="1" dirty="0">
                <a:solidFill>
                  <a:srgbClr val="4A2545"/>
                </a:solidFill>
                <a:latin typeface="Cambria" pitchFamily="34" charset="0"/>
                <a:ea typeface="Cambria" pitchFamily="34" charset="-122"/>
                <a:cs typeface="Cambria" pitchFamily="34" charset="-120"/>
              </a:rPr>
              <a:t>Depresión respiratoria</a:t>
            </a:r>
            <a:endParaRPr lang="en-US" sz="1450" dirty="0"/>
          </a:p>
        </p:txBody>
      </p:sp>
      <p:sp>
        <p:nvSpPr>
          <p:cNvPr id="9" name="Text 5"/>
          <p:cNvSpPr txBox="1"/>
          <p:nvPr/>
        </p:nvSpPr>
        <p:spPr>
          <a:xfrm>
            <a:off x="1170432" y="1773936"/>
            <a:ext cx="10353751" cy="749808"/>
          </a:xfrm>
          <a:prstGeom prst="rect">
            <a:avLst/>
          </a:prstGeom>
          <a:noFill/>
          <a:ln/>
        </p:spPr>
        <p:txBody>
          <a:bodyPr wrap="square" lIns="0" tIns="0" rIns="0" bIns="0" rtlCol="0" anchor="t"/>
          <a:lstStyle/>
          <a:p>
            <a:pPr indent="0" marL="0">
              <a:lnSpc>
                <a:spcPct val="105000"/>
              </a:lnSpc>
              <a:buNone/>
            </a:pPr>
            <a:r>
              <a:rPr lang="en-US" sz="1150" dirty="0">
                <a:solidFill>
                  <a:srgbClr val="3A2A35"/>
                </a:solidFill>
                <a:latin typeface="Calibri" pitchFamily="34" charset="0"/>
                <a:ea typeface="Calibri" pitchFamily="34" charset="-122"/>
                <a:cs typeface="Calibri" pitchFamily="34" charset="-120"/>
              </a:rPr>
              <a:t>Reducción de la respuesta ventilatoria al CO2 mediada por receptores mu en el tronco encefálico; principal causa de morbimortalidad asociada.</a:t>
            </a:r>
            <a:endParaRPr lang="en-US" sz="1150" dirty="0"/>
          </a:p>
        </p:txBody>
      </p:sp>
      <p:sp>
        <p:nvSpPr>
          <p:cNvPr id="10" name="Shape 6"/>
          <p:cNvSpPr/>
          <p:nvPr/>
        </p:nvSpPr>
        <p:spPr>
          <a:xfrm>
            <a:off x="457200" y="2615184"/>
            <a:ext cx="512064" cy="512064"/>
          </a:xfrm>
          <a:prstGeom prst="ellipse">
            <a:avLst/>
          </a:prstGeom>
          <a:solidFill>
            <a:srgbClr val="8E6C88"/>
          </a:solidFill>
          <a:ln/>
        </p:spPr>
      </p:sp>
      <p:pic>
        <p:nvPicPr>
          <p:cNvPr id="11" name="Image 2" descr="preencoded.png">    </p:cNvPr>
          <p:cNvPicPr>
            <a:picLocks noChangeAspect="1"/>
          </p:cNvPicPr>
          <p:nvPr/>
        </p:nvPicPr>
        <p:blipFill>
          <a:blip r:embed="rId3"/>
          <a:stretch>
            <a:fillRect/>
          </a:stretch>
        </p:blipFill>
        <p:spPr>
          <a:xfrm>
            <a:off x="564733" y="2722717"/>
            <a:ext cx="296997" cy="296997"/>
          </a:xfrm>
          <a:prstGeom prst="rect">
            <a:avLst/>
          </a:prstGeom>
        </p:spPr>
      </p:pic>
      <p:sp>
        <p:nvSpPr>
          <p:cNvPr id="12" name="Text 7"/>
          <p:cNvSpPr txBox="1"/>
          <p:nvPr/>
        </p:nvSpPr>
        <p:spPr>
          <a:xfrm>
            <a:off x="1170432" y="2560320"/>
            <a:ext cx="10353751" cy="310896"/>
          </a:xfrm>
          <a:prstGeom prst="rect">
            <a:avLst/>
          </a:prstGeom>
          <a:noFill/>
          <a:ln/>
        </p:spPr>
        <p:txBody>
          <a:bodyPr wrap="square" lIns="0" tIns="0" rIns="0" bIns="0" rtlCol="0" anchor="ctr"/>
          <a:lstStyle/>
          <a:p>
            <a:pPr indent="0" marL="0">
              <a:buNone/>
            </a:pPr>
            <a:r>
              <a:rPr lang="en-US" sz="1450" b="1" dirty="0">
                <a:solidFill>
                  <a:srgbClr val="4A2545"/>
                </a:solidFill>
                <a:latin typeface="Cambria" pitchFamily="34" charset="0"/>
                <a:ea typeface="Cambria" pitchFamily="34" charset="-122"/>
                <a:cs typeface="Cambria" pitchFamily="34" charset="-120"/>
              </a:rPr>
              <a:t>Náusea y vómito</a:t>
            </a:r>
            <a:endParaRPr lang="en-US" sz="1450" dirty="0"/>
          </a:p>
        </p:txBody>
      </p:sp>
      <p:sp>
        <p:nvSpPr>
          <p:cNvPr id="13" name="Text 8"/>
          <p:cNvSpPr txBox="1"/>
          <p:nvPr/>
        </p:nvSpPr>
        <p:spPr>
          <a:xfrm>
            <a:off x="1170432" y="2852928"/>
            <a:ext cx="10353751" cy="749808"/>
          </a:xfrm>
          <a:prstGeom prst="rect">
            <a:avLst/>
          </a:prstGeom>
          <a:noFill/>
          <a:ln/>
        </p:spPr>
        <p:txBody>
          <a:bodyPr wrap="square" lIns="0" tIns="0" rIns="0" bIns="0" rtlCol="0" anchor="t"/>
          <a:lstStyle/>
          <a:p>
            <a:pPr indent="0" marL="0">
              <a:lnSpc>
                <a:spcPct val="105000"/>
              </a:lnSpc>
              <a:buNone/>
            </a:pPr>
            <a:r>
              <a:rPr lang="en-US" sz="1150" dirty="0">
                <a:solidFill>
                  <a:srgbClr val="3A2A35"/>
                </a:solidFill>
                <a:latin typeface="Calibri" pitchFamily="34" charset="0"/>
                <a:ea typeface="Calibri" pitchFamily="34" charset="-122"/>
                <a:cs typeface="Calibri" pitchFamily="34" charset="-120"/>
              </a:rPr>
              <a:t>Estimulación directa de la zona gatillo quimiorreceptora (CTZ) en el área postrema.</a:t>
            </a:r>
            <a:endParaRPr lang="en-US" sz="1150" dirty="0"/>
          </a:p>
        </p:txBody>
      </p:sp>
      <p:sp>
        <p:nvSpPr>
          <p:cNvPr id="14" name="Shape 9"/>
          <p:cNvSpPr/>
          <p:nvPr/>
        </p:nvSpPr>
        <p:spPr>
          <a:xfrm>
            <a:off x="457200" y="3694176"/>
            <a:ext cx="512064" cy="512064"/>
          </a:xfrm>
          <a:prstGeom prst="ellipse">
            <a:avLst/>
          </a:prstGeom>
          <a:solidFill>
            <a:srgbClr val="4A2545"/>
          </a:solidFill>
          <a:ln/>
        </p:spPr>
      </p:sp>
      <p:pic>
        <p:nvPicPr>
          <p:cNvPr id="15" name="Image 3" descr="preencoded.png">    </p:cNvPr>
          <p:cNvPicPr>
            <a:picLocks noChangeAspect="1"/>
          </p:cNvPicPr>
          <p:nvPr/>
        </p:nvPicPr>
        <p:blipFill>
          <a:blip r:embed="rId4"/>
          <a:stretch>
            <a:fillRect/>
          </a:stretch>
        </p:blipFill>
        <p:spPr>
          <a:xfrm>
            <a:off x="564733" y="3801709"/>
            <a:ext cx="296997" cy="296997"/>
          </a:xfrm>
          <a:prstGeom prst="rect">
            <a:avLst/>
          </a:prstGeom>
        </p:spPr>
      </p:pic>
      <p:sp>
        <p:nvSpPr>
          <p:cNvPr id="16" name="Text 10"/>
          <p:cNvSpPr txBox="1"/>
          <p:nvPr/>
        </p:nvSpPr>
        <p:spPr>
          <a:xfrm>
            <a:off x="1170432" y="3639312"/>
            <a:ext cx="10353751" cy="310896"/>
          </a:xfrm>
          <a:prstGeom prst="rect">
            <a:avLst/>
          </a:prstGeom>
          <a:noFill/>
          <a:ln/>
        </p:spPr>
        <p:txBody>
          <a:bodyPr wrap="square" lIns="0" tIns="0" rIns="0" bIns="0" rtlCol="0" anchor="ctr"/>
          <a:lstStyle/>
          <a:p>
            <a:pPr indent="0" marL="0">
              <a:buNone/>
            </a:pPr>
            <a:r>
              <a:rPr lang="en-US" sz="1450" b="1" dirty="0">
                <a:solidFill>
                  <a:srgbClr val="4A2545"/>
                </a:solidFill>
                <a:latin typeface="Cambria" pitchFamily="34" charset="0"/>
                <a:ea typeface="Cambria" pitchFamily="34" charset="-122"/>
                <a:cs typeface="Cambria" pitchFamily="34" charset="-120"/>
              </a:rPr>
              <a:t>Prurito</a:t>
            </a:r>
            <a:endParaRPr lang="en-US" sz="1450" dirty="0"/>
          </a:p>
        </p:txBody>
      </p:sp>
      <p:sp>
        <p:nvSpPr>
          <p:cNvPr id="17" name="Text 11"/>
          <p:cNvSpPr txBox="1"/>
          <p:nvPr/>
        </p:nvSpPr>
        <p:spPr>
          <a:xfrm>
            <a:off x="1170432" y="3931920"/>
            <a:ext cx="10353751" cy="749808"/>
          </a:xfrm>
          <a:prstGeom prst="rect">
            <a:avLst/>
          </a:prstGeom>
          <a:noFill/>
          <a:ln/>
        </p:spPr>
        <p:txBody>
          <a:bodyPr wrap="square" lIns="0" tIns="0" rIns="0" bIns="0" rtlCol="0" anchor="t"/>
          <a:lstStyle/>
          <a:p>
            <a:pPr indent="0" marL="0">
              <a:lnSpc>
                <a:spcPct val="105000"/>
              </a:lnSpc>
              <a:buNone/>
            </a:pPr>
            <a:r>
              <a:rPr lang="en-US" sz="1150" dirty="0">
                <a:solidFill>
                  <a:srgbClr val="3A2A35"/>
                </a:solidFill>
                <a:latin typeface="Calibri" pitchFamily="34" charset="0"/>
                <a:ea typeface="Calibri" pitchFamily="34" charset="-122"/>
                <a:cs typeface="Calibri" pitchFamily="34" charset="-120"/>
              </a:rPr>
              <a:t>Liberación de histamina (morfina, meperidina) y activación de receptores mu centrales; no siempre es alergia verdadera.</a:t>
            </a:r>
            <a:endParaRPr lang="en-US" sz="1150" dirty="0"/>
          </a:p>
        </p:txBody>
      </p:sp>
      <p:sp>
        <p:nvSpPr>
          <p:cNvPr id="18" name="Shape 12"/>
          <p:cNvSpPr/>
          <p:nvPr/>
        </p:nvSpPr>
        <p:spPr>
          <a:xfrm>
            <a:off x="457200" y="4773168"/>
            <a:ext cx="512064" cy="512064"/>
          </a:xfrm>
          <a:prstGeom prst="ellipse">
            <a:avLst/>
          </a:prstGeom>
          <a:solidFill>
            <a:srgbClr val="8E6C88"/>
          </a:solidFill>
          <a:ln/>
        </p:spPr>
      </p:sp>
      <p:pic>
        <p:nvPicPr>
          <p:cNvPr id="19" name="Image 4" descr="preencoded.png">    </p:cNvPr>
          <p:cNvPicPr>
            <a:picLocks noChangeAspect="1"/>
          </p:cNvPicPr>
          <p:nvPr/>
        </p:nvPicPr>
        <p:blipFill>
          <a:blip r:embed="rId5"/>
          <a:stretch>
            <a:fillRect/>
          </a:stretch>
        </p:blipFill>
        <p:spPr>
          <a:xfrm>
            <a:off x="564733" y="4880701"/>
            <a:ext cx="296997" cy="296997"/>
          </a:xfrm>
          <a:prstGeom prst="rect">
            <a:avLst/>
          </a:prstGeom>
        </p:spPr>
      </p:pic>
      <p:sp>
        <p:nvSpPr>
          <p:cNvPr id="20" name="Text 13"/>
          <p:cNvSpPr txBox="1"/>
          <p:nvPr/>
        </p:nvSpPr>
        <p:spPr>
          <a:xfrm>
            <a:off x="1170432" y="4718304"/>
            <a:ext cx="10353751" cy="310896"/>
          </a:xfrm>
          <a:prstGeom prst="rect">
            <a:avLst/>
          </a:prstGeom>
          <a:noFill/>
          <a:ln/>
        </p:spPr>
        <p:txBody>
          <a:bodyPr wrap="square" lIns="0" tIns="0" rIns="0" bIns="0" rtlCol="0" anchor="ctr"/>
          <a:lstStyle/>
          <a:p>
            <a:pPr indent="0" marL="0">
              <a:buNone/>
            </a:pPr>
            <a:r>
              <a:rPr lang="en-US" sz="1450" b="1" dirty="0">
                <a:solidFill>
                  <a:srgbClr val="4A2545"/>
                </a:solidFill>
                <a:latin typeface="Cambria" pitchFamily="34" charset="0"/>
                <a:ea typeface="Cambria" pitchFamily="34" charset="-122"/>
                <a:cs typeface="Cambria" pitchFamily="34" charset="-120"/>
              </a:rPr>
              <a:t>Rigidez torácica</a:t>
            </a:r>
            <a:endParaRPr lang="en-US" sz="1450" dirty="0"/>
          </a:p>
        </p:txBody>
      </p:sp>
      <p:sp>
        <p:nvSpPr>
          <p:cNvPr id="21" name="Text 14"/>
          <p:cNvSpPr txBox="1"/>
          <p:nvPr/>
        </p:nvSpPr>
        <p:spPr>
          <a:xfrm>
            <a:off x="1170432" y="5010912"/>
            <a:ext cx="10353751" cy="749808"/>
          </a:xfrm>
          <a:prstGeom prst="rect">
            <a:avLst/>
          </a:prstGeom>
          <a:noFill/>
          <a:ln/>
        </p:spPr>
        <p:txBody>
          <a:bodyPr wrap="square" lIns="0" tIns="0" rIns="0" bIns="0" rtlCol="0" anchor="t"/>
          <a:lstStyle/>
          <a:p>
            <a:pPr indent="0" marL="0">
              <a:lnSpc>
                <a:spcPct val="105000"/>
              </a:lnSpc>
              <a:buNone/>
            </a:pPr>
            <a:r>
              <a:rPr lang="en-US" sz="1150" dirty="0">
                <a:solidFill>
                  <a:srgbClr val="3A2A35"/>
                </a:solidFill>
                <a:latin typeface="Calibri" pitchFamily="34" charset="0"/>
                <a:ea typeface="Calibri" pitchFamily="34" charset="-122"/>
                <a:cs typeface="Calibri" pitchFamily="34" charset="-120"/>
              </a:rPr>
              <a:t>Con opioides potentes de administración rápida (fentanilo IV en bolo); puede dificultar la ventilación con mascarilla.</a:t>
            </a:r>
            <a:endParaRPr lang="en-US" sz="1150" dirty="0"/>
          </a:p>
        </p:txBody>
      </p:sp>
      <p:sp>
        <p:nvSpPr>
          <p:cNvPr id="22" name="Text 15"/>
          <p:cNvSpPr txBox="1"/>
          <p:nvPr/>
        </p:nvSpPr>
        <p:spPr>
          <a:xfrm>
            <a:off x="457200" y="6473952"/>
            <a:ext cx="6400800" cy="292608"/>
          </a:xfrm>
          <a:prstGeom prst="rect">
            <a:avLst/>
          </a:prstGeom>
          <a:noFill/>
          <a:ln/>
        </p:spPr>
        <p:txBody>
          <a:bodyPr wrap="square" lIns="0" tIns="0" rIns="0" bIns="0" rtlCol="0" anchor="ctr"/>
          <a:lstStyle/>
          <a:p>
            <a:pPr indent="0" marL="0">
              <a:buNone/>
            </a:pPr>
            <a:r>
              <a:rPr lang="en-US" sz="900" i="1" dirty="0">
                <a:solidFill>
                  <a:srgbClr val="77606F"/>
                </a:solidFill>
                <a:latin typeface="Calibri" pitchFamily="34" charset="0"/>
                <a:ea typeface="Calibri" pitchFamily="34" charset="-122"/>
                <a:cs typeface="Calibri" pitchFamily="34" charset="-120"/>
              </a:rPr>
              <a:t>Capítulo IV — Premedicación</a:t>
            </a:r>
            <a:endParaRPr lang="en-US" sz="900" dirty="0"/>
          </a:p>
        </p:txBody>
      </p:sp>
      <p:sp>
        <p:nvSpPr>
          <p:cNvPr id="23" name="Text 16"/>
          <p:cNvSpPr txBox="1"/>
          <p:nvPr/>
        </p:nvSpPr>
        <p:spPr>
          <a:xfrm>
            <a:off x="10362895" y="6473952"/>
            <a:ext cx="1371600" cy="292608"/>
          </a:xfrm>
          <a:prstGeom prst="rect">
            <a:avLst/>
          </a:prstGeom>
          <a:noFill/>
          <a:ln/>
        </p:spPr>
        <p:txBody>
          <a:bodyPr wrap="square" lIns="0" tIns="0" rIns="0" bIns="0" rtlCol="0" anchor="ctr"/>
          <a:lstStyle/>
          <a:p>
            <a:pPr algn="r" indent="0" marL="0">
              <a:buNone/>
            </a:pPr>
            <a:r>
              <a:rPr lang="en-US" sz="900" dirty="0">
                <a:solidFill>
                  <a:srgbClr val="77606F"/>
                </a:solidFill>
                <a:latin typeface="Calibri" pitchFamily="34" charset="0"/>
                <a:ea typeface="Calibri" pitchFamily="34" charset="-122"/>
                <a:cs typeface="Calibri" pitchFamily="34" charset="-120"/>
              </a:rPr>
              <a:t>16 / 33</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658368" cy="658368"/>
          </a:xfrm>
          <a:prstGeom prst="ellipse">
            <a:avLst/>
          </a:prstGeom>
          <a:solidFill>
            <a:srgbClr val="4A2545"/>
          </a:solidFill>
          <a:ln/>
        </p:spPr>
      </p:sp>
      <p:pic>
        <p:nvPicPr>
          <p:cNvPr id="3" name="Image 0" descr="preencoded.png">    </p:cNvPr>
          <p:cNvPicPr>
            <a:picLocks noChangeAspect="1"/>
          </p:cNvPicPr>
          <p:nvPr/>
        </p:nvPicPr>
        <p:blipFill>
          <a:blip r:embed="rId1"/>
          <a:stretch>
            <a:fillRect/>
          </a:stretch>
        </p:blipFill>
        <p:spPr>
          <a:xfrm>
            <a:off x="602041" y="556321"/>
            <a:ext cx="368686" cy="368686"/>
          </a:xfrm>
          <a:prstGeom prst="rect">
            <a:avLst/>
          </a:prstGeom>
        </p:spPr>
      </p:pic>
      <p:sp>
        <p:nvSpPr>
          <p:cNvPr id="4" name="Text 1"/>
          <p:cNvSpPr txBox="1"/>
          <p:nvPr/>
        </p:nvSpPr>
        <p:spPr>
          <a:xfrm>
            <a:off x="1298448" y="384048"/>
            <a:ext cx="9601200" cy="256032"/>
          </a:xfrm>
          <a:prstGeom prst="rect">
            <a:avLst/>
          </a:prstGeom>
          <a:noFill/>
          <a:ln/>
        </p:spPr>
        <p:txBody>
          <a:bodyPr wrap="square" lIns="0" tIns="0" rIns="0" bIns="0" rtlCol="0" anchor="ctr"/>
          <a:lstStyle/>
          <a:p>
            <a:pPr indent="0" marL="0">
              <a:buNone/>
            </a:pPr>
            <a:r>
              <a:rPr lang="en-US" sz="1150" b="1" spc="150" kern="0" dirty="0">
                <a:solidFill>
                  <a:srgbClr val="E0A458"/>
                </a:solidFill>
                <a:latin typeface="Calibri" pitchFamily="34" charset="0"/>
                <a:ea typeface="Calibri" pitchFamily="34" charset="-122"/>
                <a:cs typeface="Calibri" pitchFamily="34" charset="-120"/>
              </a:rPr>
              <a:t>MAYORES Y MENORES</a:t>
            </a:r>
            <a:endParaRPr lang="en-US" sz="1150" dirty="0"/>
          </a:p>
        </p:txBody>
      </p:sp>
      <p:sp>
        <p:nvSpPr>
          <p:cNvPr id="5" name="Text 2"/>
          <p:cNvSpPr txBox="1"/>
          <p:nvPr/>
        </p:nvSpPr>
        <p:spPr>
          <a:xfrm>
            <a:off x="1298448" y="621792"/>
            <a:ext cx="10058400" cy="502920"/>
          </a:xfrm>
          <a:prstGeom prst="rect">
            <a:avLst/>
          </a:prstGeom>
          <a:noFill/>
          <a:ln/>
        </p:spPr>
        <p:txBody>
          <a:bodyPr wrap="square" lIns="0" tIns="0" rIns="0" bIns="0" rtlCol="0" anchor="ctr"/>
          <a:lstStyle/>
          <a:p>
            <a:pPr indent="0" marL="0">
              <a:buNone/>
            </a:pPr>
            <a:r>
              <a:rPr lang="en-US" sz="2500" b="1" dirty="0">
                <a:solidFill>
                  <a:srgbClr val="4A2545"/>
                </a:solidFill>
                <a:latin typeface="Cambria" pitchFamily="34" charset="0"/>
                <a:ea typeface="Cambria" pitchFamily="34" charset="-122"/>
                <a:cs typeface="Cambria" pitchFamily="34" charset="-120"/>
              </a:rPr>
              <a:t>Tranquilizantes: clasificación general</a:t>
            </a:r>
            <a:endParaRPr lang="en-US" sz="2500" dirty="0"/>
          </a:p>
        </p:txBody>
      </p:sp>
      <p:sp>
        <p:nvSpPr>
          <p:cNvPr id="6" name="Shape 3"/>
          <p:cNvSpPr/>
          <p:nvPr/>
        </p:nvSpPr>
        <p:spPr>
          <a:xfrm>
            <a:off x="457200" y="1417320"/>
            <a:ext cx="5455768" cy="4480560"/>
          </a:xfrm>
          <a:prstGeom prst="roundRect">
            <a:avLst>
              <a:gd name="adj" fmla="val 1633"/>
            </a:avLst>
          </a:prstGeom>
          <a:solidFill>
            <a:srgbClr val="F4EEF2"/>
          </a:solidFill>
          <a:ln/>
          <a:effectLst>
            <a:outerShdw sx="100000" sy="100000" kx="0" ky="0" algn="bl" rotWithShape="0" blurRad="76200" dist="25400" dir="5400000">
              <a:srgbClr val="2A1729">
                <a:alpha val="18000"/>
              </a:srgbClr>
            </a:outerShdw>
          </a:effectLst>
        </p:spPr>
      </p:sp>
      <p:sp>
        <p:nvSpPr>
          <p:cNvPr id="7" name="Text 4"/>
          <p:cNvSpPr txBox="1"/>
          <p:nvPr/>
        </p:nvSpPr>
        <p:spPr>
          <a:xfrm>
            <a:off x="749808" y="1636776"/>
            <a:ext cx="4870552" cy="457200"/>
          </a:xfrm>
          <a:prstGeom prst="rect">
            <a:avLst/>
          </a:prstGeom>
          <a:noFill/>
          <a:ln/>
        </p:spPr>
        <p:txBody>
          <a:bodyPr wrap="square" lIns="0" tIns="0" rIns="0" bIns="0" rtlCol="0" anchor="ctr"/>
          <a:lstStyle/>
          <a:p>
            <a:pPr indent="0" marL="0">
              <a:buNone/>
            </a:pPr>
            <a:r>
              <a:rPr lang="en-US" sz="1650" b="1" dirty="0">
                <a:solidFill>
                  <a:srgbClr val="4A2545"/>
                </a:solidFill>
                <a:latin typeface="Cambria" pitchFamily="34" charset="0"/>
                <a:ea typeface="Cambria" pitchFamily="34" charset="-122"/>
                <a:cs typeface="Cambria" pitchFamily="34" charset="-120"/>
              </a:rPr>
              <a:t>Tranquilizantes menores</a:t>
            </a:r>
            <a:endParaRPr lang="en-US" sz="1650" dirty="0"/>
          </a:p>
        </p:txBody>
      </p:sp>
      <p:sp>
        <p:nvSpPr>
          <p:cNvPr id="8" name="Text 5"/>
          <p:cNvSpPr txBox="1"/>
          <p:nvPr/>
        </p:nvSpPr>
        <p:spPr>
          <a:xfrm>
            <a:off x="749808" y="2194560"/>
            <a:ext cx="4870552" cy="3474720"/>
          </a:xfrm>
          <a:prstGeom prst="rect">
            <a:avLst/>
          </a:prstGeom>
          <a:noFill/>
          <a:ln/>
        </p:spPr>
        <p:txBody>
          <a:bodyPr wrap="square" lIns="0" tIns="0" rIns="0" bIns="0" rtlCol="0" anchor="t"/>
          <a:lstStyle/>
          <a:p>
            <a:pPr marL="177800" indent="-177800">
              <a:lnSpc>
                <a:spcPct val="108000"/>
              </a:lnSpc>
              <a:spcAft>
                <a:spcPts val="900"/>
              </a:spcAft>
              <a:buSzPct val="100000"/>
              <a:buChar char="•"/>
            </a:pPr>
            <a:r>
              <a:rPr lang="en-US" sz="1250" dirty="0">
                <a:solidFill>
                  <a:srgbClr val="3A2A35"/>
                </a:solidFill>
                <a:latin typeface="Calibri" pitchFamily="34" charset="0"/>
                <a:ea typeface="Calibri" pitchFamily="34" charset="-122"/>
                <a:cs typeface="Calibri" pitchFamily="34" charset="-120"/>
              </a:rPr>
              <a:t>Corresponden fundamentalmente a las benzodiacepinas (midazolam, diazepam, lorazepam).</a:t>
            </a:r>
            <a:endParaRPr lang="en-US" sz="1250" dirty="0"/>
          </a:p>
          <a:p>
            <a:pPr marL="177800" indent="-177800">
              <a:lnSpc>
                <a:spcPct val="108000"/>
              </a:lnSpc>
              <a:spcAft>
                <a:spcPts val="900"/>
              </a:spcAft>
              <a:buSzPct val="100000"/>
              <a:buChar char="•"/>
            </a:pPr>
            <a:r>
              <a:rPr lang="en-US" sz="1250" dirty="0">
                <a:solidFill>
                  <a:srgbClr val="3A2A35"/>
                </a:solidFill>
                <a:latin typeface="Calibri" pitchFamily="34" charset="0"/>
                <a:ea typeface="Calibri" pitchFamily="34" charset="-122"/>
                <a:cs typeface="Calibri" pitchFamily="34" charset="-120"/>
              </a:rPr>
              <a:t>Producen ansiolisis sin antagonizar receptores dopaminérgicos.</a:t>
            </a:r>
            <a:endParaRPr lang="en-US" sz="1250" dirty="0"/>
          </a:p>
          <a:p>
            <a:pPr marL="177800" indent="-177800">
              <a:lnSpc>
                <a:spcPct val="108000"/>
              </a:lnSpc>
              <a:spcAft>
                <a:spcPts val="900"/>
              </a:spcAft>
              <a:buSzPct val="100000"/>
              <a:buChar char="•"/>
            </a:pPr>
            <a:r>
              <a:rPr lang="en-US" sz="1250" dirty="0">
                <a:solidFill>
                  <a:srgbClr val="3A2A35"/>
                </a:solidFill>
                <a:latin typeface="Calibri" pitchFamily="34" charset="0"/>
                <a:ea typeface="Calibri" pitchFamily="34" charset="-122"/>
                <a:cs typeface="Calibri" pitchFamily="34" charset="-120"/>
              </a:rPr>
              <a:t>Amplio margen de seguridad; antagonista específico disponible (flumazenil).</a:t>
            </a:r>
            <a:endParaRPr lang="en-US" sz="1250" dirty="0"/>
          </a:p>
          <a:p>
            <a:pPr marL="177800" indent="-177800">
              <a:lnSpc>
                <a:spcPct val="108000"/>
              </a:lnSpc>
              <a:spcAft>
                <a:spcPts val="900"/>
              </a:spcAft>
              <a:buSzPct val="100000"/>
              <a:buChar char="•"/>
            </a:pPr>
            <a:r>
              <a:rPr lang="en-US" sz="1250" dirty="0">
                <a:solidFill>
                  <a:srgbClr val="3A2A35"/>
                </a:solidFill>
                <a:latin typeface="Calibri" pitchFamily="34" charset="0"/>
                <a:ea typeface="Calibri" pitchFamily="34" charset="-122"/>
                <a:cs typeface="Calibri" pitchFamily="34" charset="-120"/>
              </a:rPr>
              <a:t>Constituyen la primera línea actual de premedicación ansiolítica.</a:t>
            </a:r>
            <a:endParaRPr lang="en-US" sz="1250" dirty="0"/>
          </a:p>
        </p:txBody>
      </p:sp>
      <p:sp>
        <p:nvSpPr>
          <p:cNvPr id="9" name="Shape 6"/>
          <p:cNvSpPr/>
          <p:nvPr/>
        </p:nvSpPr>
        <p:spPr>
          <a:xfrm>
            <a:off x="6278728" y="1417320"/>
            <a:ext cx="5455768" cy="4480560"/>
          </a:xfrm>
          <a:prstGeom prst="roundRect">
            <a:avLst>
              <a:gd name="adj" fmla="val 1633"/>
            </a:avLst>
          </a:prstGeom>
          <a:solidFill>
            <a:srgbClr val="FBF3E7"/>
          </a:solidFill>
          <a:ln/>
          <a:effectLst>
            <a:outerShdw sx="100000" sy="100000" kx="0" ky="0" algn="bl" rotWithShape="0" blurRad="76200" dist="25400" dir="5400000">
              <a:srgbClr val="2A1729">
                <a:alpha val="18000"/>
              </a:srgbClr>
            </a:outerShdw>
          </a:effectLst>
        </p:spPr>
      </p:sp>
      <p:sp>
        <p:nvSpPr>
          <p:cNvPr id="10" name="Text 7"/>
          <p:cNvSpPr txBox="1"/>
          <p:nvPr/>
        </p:nvSpPr>
        <p:spPr>
          <a:xfrm>
            <a:off x="6571336" y="1636776"/>
            <a:ext cx="4870552" cy="457200"/>
          </a:xfrm>
          <a:prstGeom prst="rect">
            <a:avLst/>
          </a:prstGeom>
          <a:noFill/>
          <a:ln/>
        </p:spPr>
        <p:txBody>
          <a:bodyPr wrap="square" lIns="0" tIns="0" rIns="0" bIns="0" rtlCol="0" anchor="ctr"/>
          <a:lstStyle/>
          <a:p>
            <a:pPr indent="0" marL="0">
              <a:buNone/>
            </a:pPr>
            <a:r>
              <a:rPr lang="en-US" sz="1650" b="1" dirty="0">
                <a:solidFill>
                  <a:srgbClr val="4A2545"/>
                </a:solidFill>
                <a:latin typeface="Cambria" pitchFamily="34" charset="0"/>
                <a:ea typeface="Cambria" pitchFamily="34" charset="-122"/>
                <a:cs typeface="Cambria" pitchFamily="34" charset="-120"/>
              </a:rPr>
              <a:t>Tranquilizantes mayores</a:t>
            </a:r>
            <a:endParaRPr lang="en-US" sz="1650" dirty="0"/>
          </a:p>
        </p:txBody>
      </p:sp>
      <p:sp>
        <p:nvSpPr>
          <p:cNvPr id="11" name="Text 8"/>
          <p:cNvSpPr txBox="1"/>
          <p:nvPr/>
        </p:nvSpPr>
        <p:spPr>
          <a:xfrm>
            <a:off x="6571336" y="2194560"/>
            <a:ext cx="4870552" cy="3474720"/>
          </a:xfrm>
          <a:prstGeom prst="rect">
            <a:avLst/>
          </a:prstGeom>
          <a:noFill/>
          <a:ln/>
        </p:spPr>
        <p:txBody>
          <a:bodyPr wrap="square" lIns="0" tIns="0" rIns="0" bIns="0" rtlCol="0" anchor="t"/>
          <a:lstStyle/>
          <a:p>
            <a:pPr marL="177800" indent="-177800">
              <a:lnSpc>
                <a:spcPct val="108000"/>
              </a:lnSpc>
              <a:spcAft>
                <a:spcPts val="900"/>
              </a:spcAft>
              <a:buSzPct val="100000"/>
              <a:buChar char="•"/>
            </a:pPr>
            <a:r>
              <a:rPr lang="en-US" sz="1250" dirty="0">
                <a:solidFill>
                  <a:srgbClr val="3A2A35"/>
                </a:solidFill>
                <a:latin typeface="Calibri" pitchFamily="34" charset="0"/>
                <a:ea typeface="Calibri" pitchFamily="34" charset="-122"/>
                <a:cs typeface="Calibri" pitchFamily="34" charset="-120"/>
              </a:rPr>
              <a:t>Incluyen fenotiazinas (clorpromazina, prometazina) y butirofenonas (droperidol, haloperidol).</a:t>
            </a:r>
            <a:endParaRPr lang="en-US" sz="1250" dirty="0"/>
          </a:p>
          <a:p>
            <a:pPr marL="177800" indent="-177800">
              <a:lnSpc>
                <a:spcPct val="108000"/>
              </a:lnSpc>
              <a:spcAft>
                <a:spcPts val="900"/>
              </a:spcAft>
              <a:buSzPct val="100000"/>
              <a:buChar char="•"/>
            </a:pPr>
            <a:r>
              <a:rPr lang="en-US" sz="1250" dirty="0">
                <a:solidFill>
                  <a:srgbClr val="3A2A35"/>
                </a:solidFill>
                <a:latin typeface="Calibri" pitchFamily="34" charset="0"/>
                <a:ea typeface="Calibri" pitchFamily="34" charset="-122"/>
                <a:cs typeface="Calibri" pitchFamily="34" charset="-120"/>
              </a:rPr>
              <a:t>Antagonizan receptores dopaminérgicos D2 centrales; efecto antipsicótico y antiemético.</a:t>
            </a:r>
            <a:endParaRPr lang="en-US" sz="1250" dirty="0"/>
          </a:p>
          <a:p>
            <a:pPr marL="177800" indent="-177800">
              <a:lnSpc>
                <a:spcPct val="108000"/>
              </a:lnSpc>
              <a:spcAft>
                <a:spcPts val="900"/>
              </a:spcAft>
              <a:buSzPct val="100000"/>
              <a:buChar char="•"/>
            </a:pPr>
            <a:r>
              <a:rPr lang="en-US" sz="1250" dirty="0">
                <a:solidFill>
                  <a:srgbClr val="3A2A35"/>
                </a:solidFill>
                <a:latin typeface="Calibri" pitchFamily="34" charset="0"/>
                <a:ea typeface="Calibri" pitchFamily="34" charset="-122"/>
                <a:cs typeface="Calibri" pitchFamily="34" charset="-120"/>
              </a:rPr>
              <a:t>Uso en premedicación limitado por efectos extrapiramidales y cardiovasculares.</a:t>
            </a:r>
            <a:endParaRPr lang="en-US" sz="1250" dirty="0"/>
          </a:p>
          <a:p>
            <a:pPr marL="177800" indent="-177800">
              <a:lnSpc>
                <a:spcPct val="108000"/>
              </a:lnSpc>
              <a:spcAft>
                <a:spcPts val="900"/>
              </a:spcAft>
              <a:buSzPct val="100000"/>
              <a:buChar char="•"/>
            </a:pPr>
            <a:r>
              <a:rPr lang="en-US" sz="1250" dirty="0">
                <a:solidFill>
                  <a:srgbClr val="3A2A35"/>
                </a:solidFill>
                <a:latin typeface="Calibri" pitchFamily="34" charset="0"/>
                <a:ea typeface="Calibri" pitchFamily="34" charset="-122"/>
                <a:cs typeface="Calibri" pitchFamily="34" charset="-120"/>
              </a:rPr>
              <a:t>Hoy se emplean sobre todo por su efecto antiemético a dosis bajas, no como ansiolíticos.</a:t>
            </a:r>
            <a:endParaRPr lang="en-US" sz="1250" dirty="0"/>
          </a:p>
        </p:txBody>
      </p:sp>
      <p:sp>
        <p:nvSpPr>
          <p:cNvPr id="12" name="Text 9"/>
          <p:cNvSpPr txBox="1"/>
          <p:nvPr/>
        </p:nvSpPr>
        <p:spPr>
          <a:xfrm>
            <a:off x="457200" y="6473952"/>
            <a:ext cx="6400800" cy="292608"/>
          </a:xfrm>
          <a:prstGeom prst="rect">
            <a:avLst/>
          </a:prstGeom>
          <a:noFill/>
          <a:ln/>
        </p:spPr>
        <p:txBody>
          <a:bodyPr wrap="square" lIns="0" tIns="0" rIns="0" bIns="0" rtlCol="0" anchor="ctr"/>
          <a:lstStyle/>
          <a:p>
            <a:pPr indent="0" marL="0">
              <a:buNone/>
            </a:pPr>
            <a:r>
              <a:rPr lang="en-US" sz="900" i="1" dirty="0">
                <a:solidFill>
                  <a:srgbClr val="77606F"/>
                </a:solidFill>
                <a:latin typeface="Calibri" pitchFamily="34" charset="0"/>
                <a:ea typeface="Calibri" pitchFamily="34" charset="-122"/>
                <a:cs typeface="Calibri" pitchFamily="34" charset="-120"/>
              </a:rPr>
              <a:t>Capítulo IV — Premedicación</a:t>
            </a:r>
            <a:endParaRPr lang="en-US" sz="900" dirty="0"/>
          </a:p>
        </p:txBody>
      </p:sp>
      <p:sp>
        <p:nvSpPr>
          <p:cNvPr id="13" name="Text 10"/>
          <p:cNvSpPr txBox="1"/>
          <p:nvPr/>
        </p:nvSpPr>
        <p:spPr>
          <a:xfrm>
            <a:off x="10362895" y="6473952"/>
            <a:ext cx="1371600" cy="292608"/>
          </a:xfrm>
          <a:prstGeom prst="rect">
            <a:avLst/>
          </a:prstGeom>
          <a:noFill/>
          <a:ln/>
        </p:spPr>
        <p:txBody>
          <a:bodyPr wrap="square" lIns="0" tIns="0" rIns="0" bIns="0" rtlCol="0" anchor="ctr"/>
          <a:lstStyle/>
          <a:p>
            <a:pPr algn="r" indent="0" marL="0">
              <a:buNone/>
            </a:pPr>
            <a:r>
              <a:rPr lang="en-US" sz="900" dirty="0">
                <a:solidFill>
                  <a:srgbClr val="77606F"/>
                </a:solidFill>
                <a:latin typeface="Calibri" pitchFamily="34" charset="0"/>
                <a:ea typeface="Calibri" pitchFamily="34" charset="-122"/>
                <a:cs typeface="Calibri" pitchFamily="34" charset="-120"/>
              </a:rPr>
              <a:t>17 / 33</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658368" cy="658368"/>
          </a:xfrm>
          <a:prstGeom prst="ellipse">
            <a:avLst/>
          </a:prstGeom>
          <a:solidFill>
            <a:srgbClr val="4A2545"/>
          </a:solidFill>
          <a:ln/>
        </p:spPr>
      </p:sp>
      <p:pic>
        <p:nvPicPr>
          <p:cNvPr id="3" name="Image 0" descr="preencoded.png">    </p:cNvPr>
          <p:cNvPicPr>
            <a:picLocks noChangeAspect="1"/>
          </p:cNvPicPr>
          <p:nvPr/>
        </p:nvPicPr>
        <p:blipFill>
          <a:blip r:embed="rId1"/>
          <a:stretch>
            <a:fillRect/>
          </a:stretch>
        </p:blipFill>
        <p:spPr>
          <a:xfrm>
            <a:off x="602041" y="556321"/>
            <a:ext cx="368686" cy="368686"/>
          </a:xfrm>
          <a:prstGeom prst="rect">
            <a:avLst/>
          </a:prstGeom>
        </p:spPr>
      </p:pic>
      <p:sp>
        <p:nvSpPr>
          <p:cNvPr id="4" name="Text 1"/>
          <p:cNvSpPr txBox="1"/>
          <p:nvPr/>
        </p:nvSpPr>
        <p:spPr>
          <a:xfrm>
            <a:off x="1298448" y="384048"/>
            <a:ext cx="9601200" cy="256032"/>
          </a:xfrm>
          <a:prstGeom prst="rect">
            <a:avLst/>
          </a:prstGeom>
          <a:noFill/>
          <a:ln/>
        </p:spPr>
        <p:txBody>
          <a:bodyPr wrap="square" lIns="0" tIns="0" rIns="0" bIns="0" rtlCol="0" anchor="ctr"/>
          <a:lstStyle/>
          <a:p>
            <a:pPr indent="0" marL="0">
              <a:buNone/>
            </a:pPr>
            <a:r>
              <a:rPr lang="en-US" sz="1150" b="1" spc="150" kern="0" dirty="0">
                <a:solidFill>
                  <a:srgbClr val="E0A458"/>
                </a:solidFill>
                <a:latin typeface="Calibri" pitchFamily="34" charset="0"/>
                <a:ea typeface="Calibri" pitchFamily="34" charset="-122"/>
                <a:cs typeface="Calibri" pitchFamily="34" charset="-120"/>
              </a:rPr>
              <a:t>BENZODIACEPINAS</a:t>
            </a:r>
            <a:endParaRPr lang="en-US" sz="1150" dirty="0"/>
          </a:p>
        </p:txBody>
      </p:sp>
      <p:sp>
        <p:nvSpPr>
          <p:cNvPr id="5" name="Text 2"/>
          <p:cNvSpPr txBox="1"/>
          <p:nvPr/>
        </p:nvSpPr>
        <p:spPr>
          <a:xfrm>
            <a:off x="1298448" y="621792"/>
            <a:ext cx="10058400" cy="502920"/>
          </a:xfrm>
          <a:prstGeom prst="rect">
            <a:avLst/>
          </a:prstGeom>
          <a:noFill/>
          <a:ln/>
        </p:spPr>
        <p:txBody>
          <a:bodyPr wrap="square" lIns="0" tIns="0" rIns="0" bIns="0" rtlCol="0" anchor="ctr"/>
          <a:lstStyle/>
          <a:p>
            <a:pPr indent="0" marL="0">
              <a:buNone/>
            </a:pPr>
            <a:r>
              <a:rPr lang="en-US" sz="2500" b="1" dirty="0">
                <a:solidFill>
                  <a:srgbClr val="4A2545"/>
                </a:solidFill>
                <a:latin typeface="Cambria" pitchFamily="34" charset="0"/>
                <a:ea typeface="Cambria" pitchFamily="34" charset="-122"/>
                <a:cs typeface="Cambria" pitchFamily="34" charset="-120"/>
              </a:rPr>
              <a:t>Tranquilizantes menores: efecto ansiolítico</a:t>
            </a:r>
            <a:endParaRPr lang="en-US" sz="2500" dirty="0"/>
          </a:p>
        </p:txBody>
      </p:sp>
      <p:sp>
        <p:nvSpPr>
          <p:cNvPr id="6" name="Shape 3"/>
          <p:cNvSpPr/>
          <p:nvPr/>
        </p:nvSpPr>
        <p:spPr>
          <a:xfrm>
            <a:off x="457200" y="1508760"/>
            <a:ext cx="3429000" cy="1828800"/>
          </a:xfrm>
          <a:prstGeom prst="roundRect">
            <a:avLst>
              <a:gd name="adj" fmla="val 5000"/>
            </a:avLst>
          </a:prstGeom>
          <a:solidFill>
            <a:srgbClr val="4A2545"/>
          </a:solidFill>
          <a:ln/>
          <a:effectLst>
            <a:outerShdw sx="100000" sy="100000" kx="0" ky="0" algn="bl" rotWithShape="0" blurRad="76200" dist="25400" dir="5400000">
              <a:srgbClr val="2A1729">
                <a:alpha val="18000"/>
              </a:srgbClr>
            </a:outerShdw>
          </a:effectLst>
        </p:spPr>
      </p:sp>
      <p:sp>
        <p:nvSpPr>
          <p:cNvPr id="7" name="Text 4"/>
          <p:cNvSpPr txBox="1"/>
          <p:nvPr/>
        </p:nvSpPr>
        <p:spPr>
          <a:xfrm>
            <a:off x="640080" y="1709928"/>
            <a:ext cx="3063240" cy="822960"/>
          </a:xfrm>
          <a:prstGeom prst="rect">
            <a:avLst/>
          </a:prstGeom>
          <a:noFill/>
          <a:ln/>
        </p:spPr>
        <p:txBody>
          <a:bodyPr wrap="square" lIns="0" tIns="0" rIns="0" bIns="0" rtlCol="0" anchor="b"/>
          <a:lstStyle/>
          <a:p>
            <a:pPr algn="ctr" indent="0" marL="0">
              <a:buNone/>
            </a:pPr>
            <a:r>
              <a:rPr lang="en-US" sz="4400" b="1" dirty="0">
                <a:solidFill>
                  <a:srgbClr val="E0A458"/>
                </a:solidFill>
                <a:latin typeface="Cambria" pitchFamily="34" charset="0"/>
                <a:ea typeface="Cambria" pitchFamily="34" charset="-122"/>
                <a:cs typeface="Cambria" pitchFamily="34" charset="-120"/>
              </a:rPr>
              <a:t>1-2</a:t>
            </a:r>
            <a:pPr algn="ctr" indent="0" marL="0">
              <a:buNone/>
            </a:pPr>
            <a:r>
              <a:rPr lang="en-US" sz="1800" dirty="0">
                <a:solidFill>
                  <a:srgbClr val="FFFFFF"/>
                </a:solidFill>
                <a:latin typeface="Calibri" pitchFamily="34" charset="0"/>
                <a:ea typeface="Calibri" pitchFamily="34" charset="-122"/>
                <a:cs typeface="Calibri" pitchFamily="34" charset="-120"/>
              </a:rPr>
              <a:t> min</a:t>
            </a:r>
            <a:endParaRPr lang="en-US" sz="4400" dirty="0"/>
          </a:p>
        </p:txBody>
      </p:sp>
      <p:sp>
        <p:nvSpPr>
          <p:cNvPr id="8" name="Text 5"/>
          <p:cNvSpPr txBox="1"/>
          <p:nvPr/>
        </p:nvSpPr>
        <p:spPr>
          <a:xfrm>
            <a:off x="640080" y="2560320"/>
            <a:ext cx="3063240" cy="640080"/>
          </a:xfrm>
          <a:prstGeom prst="rect">
            <a:avLst/>
          </a:prstGeom>
          <a:noFill/>
          <a:ln/>
        </p:spPr>
        <p:txBody>
          <a:bodyPr wrap="square" lIns="0" tIns="0" rIns="0" bIns="0" rtlCol="0" anchor="t"/>
          <a:lstStyle/>
          <a:p>
            <a:pPr algn="ctr" indent="0" marL="0">
              <a:lnSpc>
                <a:spcPct val="105000"/>
              </a:lnSpc>
              <a:buNone/>
            </a:pPr>
            <a:r>
              <a:rPr lang="en-US" sz="1150" dirty="0">
                <a:solidFill>
                  <a:srgbClr val="FFFFFF"/>
                </a:solidFill>
                <a:latin typeface="Calibri" pitchFamily="34" charset="0"/>
                <a:ea typeface="Calibri" pitchFamily="34" charset="-122"/>
                <a:cs typeface="Calibri" pitchFamily="34" charset="-120"/>
              </a:rPr>
              <a:t>Inicio de acción del midazolam IV</a:t>
            </a:r>
            <a:endParaRPr lang="en-US" sz="1150" dirty="0"/>
          </a:p>
        </p:txBody>
      </p:sp>
      <p:sp>
        <p:nvSpPr>
          <p:cNvPr id="9" name="Shape 6"/>
          <p:cNvSpPr/>
          <p:nvPr/>
        </p:nvSpPr>
        <p:spPr>
          <a:xfrm>
            <a:off x="4160520" y="1508760"/>
            <a:ext cx="3429000" cy="1828800"/>
          </a:xfrm>
          <a:prstGeom prst="roundRect">
            <a:avLst>
              <a:gd name="adj" fmla="val 5000"/>
            </a:avLst>
          </a:prstGeom>
          <a:solidFill>
            <a:srgbClr val="8E6C88"/>
          </a:solidFill>
          <a:ln/>
          <a:effectLst>
            <a:outerShdw sx="100000" sy="100000" kx="0" ky="0" algn="bl" rotWithShape="0" blurRad="76200" dist="25400" dir="5400000">
              <a:srgbClr val="2A1729">
                <a:alpha val="18000"/>
              </a:srgbClr>
            </a:outerShdw>
          </a:effectLst>
        </p:spPr>
      </p:sp>
      <p:sp>
        <p:nvSpPr>
          <p:cNvPr id="10" name="Text 7"/>
          <p:cNvSpPr txBox="1"/>
          <p:nvPr/>
        </p:nvSpPr>
        <p:spPr>
          <a:xfrm>
            <a:off x="4343400" y="1709928"/>
            <a:ext cx="3063240" cy="822960"/>
          </a:xfrm>
          <a:prstGeom prst="rect">
            <a:avLst/>
          </a:prstGeom>
          <a:noFill/>
          <a:ln/>
        </p:spPr>
        <p:txBody>
          <a:bodyPr wrap="square" lIns="0" tIns="0" rIns="0" bIns="0" rtlCol="0" anchor="b"/>
          <a:lstStyle/>
          <a:p>
            <a:pPr algn="ctr" indent="0" marL="0">
              <a:buNone/>
            </a:pPr>
            <a:r>
              <a:rPr lang="en-US" sz="4400" b="1" dirty="0">
                <a:solidFill>
                  <a:srgbClr val="E0A458"/>
                </a:solidFill>
                <a:latin typeface="Cambria" pitchFamily="34" charset="0"/>
                <a:ea typeface="Cambria" pitchFamily="34" charset="-122"/>
                <a:cs typeface="Cambria" pitchFamily="34" charset="-120"/>
              </a:rPr>
              <a:t>15-30</a:t>
            </a:r>
            <a:pPr algn="ctr" indent="0" marL="0">
              <a:buNone/>
            </a:pPr>
            <a:r>
              <a:rPr lang="en-US" sz="1800" dirty="0">
                <a:solidFill>
                  <a:srgbClr val="FFFFFF"/>
                </a:solidFill>
                <a:latin typeface="Calibri" pitchFamily="34" charset="0"/>
                <a:ea typeface="Calibri" pitchFamily="34" charset="-122"/>
                <a:cs typeface="Calibri" pitchFamily="34" charset="-120"/>
              </a:rPr>
              <a:t> min</a:t>
            </a:r>
            <a:endParaRPr lang="en-US" sz="4400" dirty="0"/>
          </a:p>
        </p:txBody>
      </p:sp>
      <p:sp>
        <p:nvSpPr>
          <p:cNvPr id="11" name="Text 8"/>
          <p:cNvSpPr txBox="1"/>
          <p:nvPr/>
        </p:nvSpPr>
        <p:spPr>
          <a:xfrm>
            <a:off x="4343400" y="2560320"/>
            <a:ext cx="3063240" cy="640080"/>
          </a:xfrm>
          <a:prstGeom prst="rect">
            <a:avLst/>
          </a:prstGeom>
          <a:noFill/>
          <a:ln/>
        </p:spPr>
        <p:txBody>
          <a:bodyPr wrap="square" lIns="0" tIns="0" rIns="0" bIns="0" rtlCol="0" anchor="t"/>
          <a:lstStyle/>
          <a:p>
            <a:pPr algn="ctr" indent="0" marL="0">
              <a:lnSpc>
                <a:spcPct val="105000"/>
              </a:lnSpc>
              <a:buNone/>
            </a:pPr>
            <a:r>
              <a:rPr lang="en-US" sz="1150" dirty="0">
                <a:solidFill>
                  <a:srgbClr val="FFFFFF"/>
                </a:solidFill>
                <a:latin typeface="Calibri" pitchFamily="34" charset="0"/>
                <a:ea typeface="Calibri" pitchFamily="34" charset="-122"/>
                <a:cs typeface="Calibri" pitchFamily="34" charset="-120"/>
              </a:rPr>
              <a:t>Inicio del midazolam oral en pediatría</a:t>
            </a:r>
            <a:endParaRPr lang="en-US" sz="1150" dirty="0"/>
          </a:p>
        </p:txBody>
      </p:sp>
      <p:sp>
        <p:nvSpPr>
          <p:cNvPr id="12" name="Shape 9"/>
          <p:cNvSpPr/>
          <p:nvPr/>
        </p:nvSpPr>
        <p:spPr>
          <a:xfrm>
            <a:off x="7863840" y="1508760"/>
            <a:ext cx="3429000" cy="1828800"/>
          </a:xfrm>
          <a:prstGeom prst="roundRect">
            <a:avLst>
              <a:gd name="adj" fmla="val 5000"/>
            </a:avLst>
          </a:prstGeom>
          <a:solidFill>
            <a:srgbClr val="4A2545"/>
          </a:solidFill>
          <a:ln/>
          <a:effectLst>
            <a:outerShdw sx="100000" sy="100000" kx="0" ky="0" algn="bl" rotWithShape="0" blurRad="76200" dist="25400" dir="5400000">
              <a:srgbClr val="2A1729">
                <a:alpha val="18000"/>
              </a:srgbClr>
            </a:outerShdw>
          </a:effectLst>
        </p:spPr>
      </p:sp>
      <p:sp>
        <p:nvSpPr>
          <p:cNvPr id="13" name="Text 10"/>
          <p:cNvSpPr txBox="1"/>
          <p:nvPr/>
        </p:nvSpPr>
        <p:spPr>
          <a:xfrm>
            <a:off x="8046720" y="1709928"/>
            <a:ext cx="3063240" cy="822960"/>
          </a:xfrm>
          <a:prstGeom prst="rect">
            <a:avLst/>
          </a:prstGeom>
          <a:noFill/>
          <a:ln/>
        </p:spPr>
        <p:txBody>
          <a:bodyPr wrap="square" lIns="0" tIns="0" rIns="0" bIns="0" rtlCol="0" anchor="b"/>
          <a:lstStyle/>
          <a:p>
            <a:pPr algn="ctr" indent="0" marL="0">
              <a:buNone/>
            </a:pPr>
            <a:r>
              <a:rPr lang="en-US" sz="4400" b="1" dirty="0">
                <a:solidFill>
                  <a:srgbClr val="E0A458"/>
                </a:solidFill>
                <a:latin typeface="Cambria" pitchFamily="34" charset="0"/>
                <a:ea typeface="Cambria" pitchFamily="34" charset="-122"/>
                <a:cs typeface="Cambria" pitchFamily="34" charset="-120"/>
              </a:rPr>
              <a:t>~2</a:t>
            </a:r>
            <a:pPr algn="ctr" indent="0" marL="0">
              <a:buNone/>
            </a:pPr>
            <a:r>
              <a:rPr lang="en-US" sz="1800" dirty="0">
                <a:solidFill>
                  <a:srgbClr val="FFFFFF"/>
                </a:solidFill>
                <a:latin typeface="Calibri" pitchFamily="34" charset="0"/>
                <a:ea typeface="Calibri" pitchFamily="34" charset="-122"/>
                <a:cs typeface="Calibri" pitchFamily="34" charset="-120"/>
              </a:rPr>
              <a:t> horas</a:t>
            </a:r>
            <a:endParaRPr lang="en-US" sz="4400" dirty="0"/>
          </a:p>
        </p:txBody>
      </p:sp>
      <p:sp>
        <p:nvSpPr>
          <p:cNvPr id="14" name="Text 11"/>
          <p:cNvSpPr txBox="1"/>
          <p:nvPr/>
        </p:nvSpPr>
        <p:spPr>
          <a:xfrm>
            <a:off x="8046720" y="2560320"/>
            <a:ext cx="3063240" cy="640080"/>
          </a:xfrm>
          <a:prstGeom prst="rect">
            <a:avLst/>
          </a:prstGeom>
          <a:noFill/>
          <a:ln/>
        </p:spPr>
        <p:txBody>
          <a:bodyPr wrap="square" lIns="0" tIns="0" rIns="0" bIns="0" rtlCol="0" anchor="t"/>
          <a:lstStyle/>
          <a:p>
            <a:pPr algn="ctr" indent="0" marL="0">
              <a:lnSpc>
                <a:spcPct val="105000"/>
              </a:lnSpc>
              <a:buNone/>
            </a:pPr>
            <a:r>
              <a:rPr lang="en-US" sz="1150" dirty="0">
                <a:solidFill>
                  <a:srgbClr val="FFFFFF"/>
                </a:solidFill>
                <a:latin typeface="Calibri" pitchFamily="34" charset="0"/>
                <a:ea typeface="Calibri" pitchFamily="34" charset="-122"/>
                <a:cs typeface="Calibri" pitchFamily="34" charset="-120"/>
              </a:rPr>
              <a:t>Vida media de eliminación del midazolam</a:t>
            </a:r>
            <a:endParaRPr lang="en-US" sz="1150" dirty="0"/>
          </a:p>
        </p:txBody>
      </p:sp>
      <p:sp>
        <p:nvSpPr>
          <p:cNvPr id="15" name="Text 12"/>
          <p:cNvSpPr txBox="1"/>
          <p:nvPr/>
        </p:nvSpPr>
        <p:spPr>
          <a:xfrm>
            <a:off x="457200" y="3657600"/>
            <a:ext cx="11277295" cy="2286000"/>
          </a:xfrm>
          <a:prstGeom prst="rect">
            <a:avLst/>
          </a:prstGeom>
          <a:noFill/>
          <a:ln/>
        </p:spPr>
        <p:txBody>
          <a:bodyPr wrap="square" lIns="0" tIns="0" rIns="0" bIns="0" rtlCol="0" anchor="t"/>
          <a:lstStyle/>
          <a:p>
            <a:pPr marL="177800" indent="-177800">
              <a:lnSpc>
                <a:spcPct val="110000"/>
              </a:lnSpc>
              <a:spcAft>
                <a:spcPts val="1000"/>
              </a:spcAft>
              <a:buSzPct val="100000"/>
              <a:buChar char="•"/>
            </a:pPr>
            <a:r>
              <a:rPr lang="en-US" sz="1300" dirty="0">
                <a:solidFill>
                  <a:srgbClr val="3A2A35"/>
                </a:solidFill>
                <a:latin typeface="Calibri" pitchFamily="34" charset="0"/>
                <a:ea typeface="Calibri" pitchFamily="34" charset="-122"/>
                <a:cs typeface="Calibri" pitchFamily="34" charset="-120"/>
              </a:rPr>
              <a:t>El efecto ansiolítico se produce a dosis bajas (0.5-2 mg IV), sin necesidad de sedación profunda.</a:t>
            </a:r>
            <a:endParaRPr lang="en-US" sz="1300" dirty="0"/>
          </a:p>
          <a:p>
            <a:pPr marL="177800" indent="-177800">
              <a:lnSpc>
                <a:spcPct val="110000"/>
              </a:lnSpc>
              <a:spcAft>
                <a:spcPts val="1000"/>
              </a:spcAft>
              <a:buSzPct val="100000"/>
              <a:buChar char="•"/>
            </a:pPr>
            <a:r>
              <a:rPr lang="en-US" sz="1300" dirty="0">
                <a:solidFill>
                  <a:srgbClr val="3A2A35"/>
                </a:solidFill>
                <a:latin typeface="Calibri" pitchFamily="34" charset="0"/>
                <a:ea typeface="Calibri" pitchFamily="34" charset="-122"/>
                <a:cs typeface="Calibri" pitchFamily="34" charset="-120"/>
              </a:rPr>
              <a:t>El midazolam es hidrosoluble a pH ácido y liposoluble a pH fisiológico: cristaliza en tejido antes de la inyección, sin dolor local.</a:t>
            </a:r>
            <a:endParaRPr lang="en-US" sz="1300" dirty="0"/>
          </a:p>
          <a:p>
            <a:pPr marL="177800" indent="-177800">
              <a:lnSpc>
                <a:spcPct val="110000"/>
              </a:lnSpc>
              <a:spcAft>
                <a:spcPts val="1000"/>
              </a:spcAft>
              <a:buSzPct val="100000"/>
              <a:buChar char="•"/>
            </a:pPr>
            <a:r>
              <a:rPr lang="en-US" sz="1300" dirty="0">
                <a:solidFill>
                  <a:srgbClr val="3A2A35"/>
                </a:solidFill>
                <a:latin typeface="Calibri" pitchFamily="34" charset="0"/>
                <a:ea typeface="Calibri" pitchFamily="34" charset="-122"/>
                <a:cs typeface="Calibri" pitchFamily="34" charset="-120"/>
              </a:rPr>
              <a:t>El diazepam y el lorazepam, con metabolitos activos o vida media más larga, prolongan la sedación residual.</a:t>
            </a:r>
            <a:endParaRPr lang="en-US" sz="1300" dirty="0"/>
          </a:p>
          <a:p>
            <a:pPr marL="177800" indent="-177800">
              <a:lnSpc>
                <a:spcPct val="110000"/>
              </a:lnSpc>
              <a:spcAft>
                <a:spcPts val="1000"/>
              </a:spcAft>
              <a:buSzPct val="100000"/>
              <a:buChar char="•"/>
            </a:pPr>
            <a:r>
              <a:rPr lang="en-US" sz="1300" dirty="0">
                <a:solidFill>
                  <a:srgbClr val="3A2A35"/>
                </a:solidFill>
                <a:latin typeface="Calibri" pitchFamily="34" charset="0"/>
                <a:ea typeface="Calibri" pitchFamily="34" charset="-122"/>
                <a:cs typeface="Calibri" pitchFamily="34" charset="-120"/>
              </a:rPr>
              <a:t>La titulación cuidadosa evita sedación excesiva, especialmente en adultos mayores y pacientes con reserva respiratoria limitada.</a:t>
            </a:r>
            <a:endParaRPr lang="en-US" sz="1300" dirty="0"/>
          </a:p>
        </p:txBody>
      </p:sp>
      <p:sp>
        <p:nvSpPr>
          <p:cNvPr id="16" name="Text 13"/>
          <p:cNvSpPr txBox="1"/>
          <p:nvPr/>
        </p:nvSpPr>
        <p:spPr>
          <a:xfrm>
            <a:off x="457200" y="6473952"/>
            <a:ext cx="6400800" cy="292608"/>
          </a:xfrm>
          <a:prstGeom prst="rect">
            <a:avLst/>
          </a:prstGeom>
          <a:noFill/>
          <a:ln/>
        </p:spPr>
        <p:txBody>
          <a:bodyPr wrap="square" lIns="0" tIns="0" rIns="0" bIns="0" rtlCol="0" anchor="ctr"/>
          <a:lstStyle/>
          <a:p>
            <a:pPr indent="0" marL="0">
              <a:buNone/>
            </a:pPr>
            <a:r>
              <a:rPr lang="en-US" sz="900" i="1" dirty="0">
                <a:solidFill>
                  <a:srgbClr val="77606F"/>
                </a:solidFill>
                <a:latin typeface="Calibri" pitchFamily="34" charset="0"/>
                <a:ea typeface="Calibri" pitchFamily="34" charset="-122"/>
                <a:cs typeface="Calibri" pitchFamily="34" charset="-120"/>
              </a:rPr>
              <a:t>Capítulo IV — Premedicación</a:t>
            </a:r>
            <a:endParaRPr lang="en-US" sz="900" dirty="0"/>
          </a:p>
        </p:txBody>
      </p:sp>
      <p:sp>
        <p:nvSpPr>
          <p:cNvPr id="17" name="Text 14"/>
          <p:cNvSpPr txBox="1"/>
          <p:nvPr/>
        </p:nvSpPr>
        <p:spPr>
          <a:xfrm>
            <a:off x="10362895" y="6473952"/>
            <a:ext cx="1371600" cy="292608"/>
          </a:xfrm>
          <a:prstGeom prst="rect">
            <a:avLst/>
          </a:prstGeom>
          <a:noFill/>
          <a:ln/>
        </p:spPr>
        <p:txBody>
          <a:bodyPr wrap="square" lIns="0" tIns="0" rIns="0" bIns="0" rtlCol="0" anchor="ctr"/>
          <a:lstStyle/>
          <a:p>
            <a:pPr algn="r" indent="0" marL="0">
              <a:buNone/>
            </a:pPr>
            <a:r>
              <a:rPr lang="en-US" sz="900" dirty="0">
                <a:solidFill>
                  <a:srgbClr val="77606F"/>
                </a:solidFill>
                <a:latin typeface="Calibri" pitchFamily="34" charset="0"/>
                <a:ea typeface="Calibri" pitchFamily="34" charset="-122"/>
                <a:cs typeface="Calibri" pitchFamily="34" charset="-120"/>
              </a:rPr>
              <a:t>18 / 33</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658368" cy="658368"/>
          </a:xfrm>
          <a:prstGeom prst="ellipse">
            <a:avLst/>
          </a:prstGeom>
          <a:solidFill>
            <a:srgbClr val="4A2545"/>
          </a:solidFill>
          <a:ln/>
        </p:spPr>
      </p:sp>
      <p:pic>
        <p:nvPicPr>
          <p:cNvPr id="3" name="Image 0" descr="preencoded.png">    </p:cNvPr>
          <p:cNvPicPr>
            <a:picLocks noChangeAspect="1"/>
          </p:cNvPicPr>
          <p:nvPr/>
        </p:nvPicPr>
        <p:blipFill>
          <a:blip r:embed="rId1"/>
          <a:stretch>
            <a:fillRect/>
          </a:stretch>
        </p:blipFill>
        <p:spPr>
          <a:xfrm>
            <a:off x="602041" y="556321"/>
            <a:ext cx="368686" cy="368686"/>
          </a:xfrm>
          <a:prstGeom prst="rect">
            <a:avLst/>
          </a:prstGeom>
        </p:spPr>
      </p:pic>
      <p:sp>
        <p:nvSpPr>
          <p:cNvPr id="4" name="Text 1"/>
          <p:cNvSpPr txBox="1"/>
          <p:nvPr/>
        </p:nvSpPr>
        <p:spPr>
          <a:xfrm>
            <a:off x="1298448" y="384048"/>
            <a:ext cx="9601200" cy="256032"/>
          </a:xfrm>
          <a:prstGeom prst="rect">
            <a:avLst/>
          </a:prstGeom>
          <a:noFill/>
          <a:ln/>
        </p:spPr>
        <p:txBody>
          <a:bodyPr wrap="square" lIns="0" tIns="0" rIns="0" bIns="0" rtlCol="0" anchor="ctr"/>
          <a:lstStyle/>
          <a:p>
            <a:pPr indent="0" marL="0">
              <a:buNone/>
            </a:pPr>
            <a:r>
              <a:rPr lang="en-US" sz="1150" b="1" spc="150" kern="0" dirty="0">
                <a:solidFill>
                  <a:srgbClr val="E0A458"/>
                </a:solidFill>
                <a:latin typeface="Calibri" pitchFamily="34" charset="0"/>
                <a:ea typeface="Calibri" pitchFamily="34" charset="-122"/>
                <a:cs typeface="Calibri" pitchFamily="34" charset="-120"/>
              </a:rPr>
              <a:t>FENOTIAZINAS Y BUTIROFENONAS</a:t>
            </a:r>
            <a:endParaRPr lang="en-US" sz="1150" dirty="0"/>
          </a:p>
        </p:txBody>
      </p:sp>
      <p:sp>
        <p:nvSpPr>
          <p:cNvPr id="5" name="Text 2"/>
          <p:cNvSpPr txBox="1"/>
          <p:nvPr/>
        </p:nvSpPr>
        <p:spPr>
          <a:xfrm>
            <a:off x="1298448" y="621792"/>
            <a:ext cx="10058400" cy="502920"/>
          </a:xfrm>
          <a:prstGeom prst="rect">
            <a:avLst/>
          </a:prstGeom>
          <a:noFill/>
          <a:ln/>
        </p:spPr>
        <p:txBody>
          <a:bodyPr wrap="square" lIns="0" tIns="0" rIns="0" bIns="0" rtlCol="0" anchor="ctr"/>
          <a:lstStyle/>
          <a:p>
            <a:pPr indent="0" marL="0">
              <a:buNone/>
            </a:pPr>
            <a:r>
              <a:rPr lang="en-US" sz="2500" b="1" dirty="0">
                <a:solidFill>
                  <a:srgbClr val="4A2545"/>
                </a:solidFill>
                <a:latin typeface="Cambria" pitchFamily="34" charset="0"/>
                <a:ea typeface="Cambria" pitchFamily="34" charset="-122"/>
                <a:cs typeface="Cambria" pitchFamily="34" charset="-120"/>
              </a:rPr>
              <a:t>Tranquilizantes mayores: uso limitado</a:t>
            </a:r>
            <a:endParaRPr lang="en-US" sz="2500" dirty="0"/>
          </a:p>
        </p:txBody>
      </p:sp>
      <p:sp>
        <p:nvSpPr>
          <p:cNvPr id="6" name="Shape 3"/>
          <p:cNvSpPr/>
          <p:nvPr/>
        </p:nvSpPr>
        <p:spPr>
          <a:xfrm>
            <a:off x="457200" y="1417320"/>
            <a:ext cx="5455768" cy="4480560"/>
          </a:xfrm>
          <a:prstGeom prst="roundRect">
            <a:avLst>
              <a:gd name="adj" fmla="val 1633"/>
            </a:avLst>
          </a:prstGeom>
          <a:solidFill>
            <a:srgbClr val="EFF7F1"/>
          </a:solidFill>
          <a:ln/>
          <a:effectLst>
            <a:outerShdw sx="100000" sy="100000" kx="0" ky="0" algn="bl" rotWithShape="0" blurRad="76200" dist="25400" dir="5400000">
              <a:srgbClr val="2A1729">
                <a:alpha val="18000"/>
              </a:srgbClr>
            </a:outerShdw>
          </a:effectLst>
        </p:spPr>
      </p:sp>
      <p:sp>
        <p:nvSpPr>
          <p:cNvPr id="7" name="Shape 4"/>
          <p:cNvSpPr/>
          <p:nvPr/>
        </p:nvSpPr>
        <p:spPr>
          <a:xfrm>
            <a:off x="6278728" y="1417320"/>
            <a:ext cx="5455768" cy="4480560"/>
          </a:xfrm>
          <a:prstGeom prst="roundRect">
            <a:avLst>
              <a:gd name="adj" fmla="val 1633"/>
            </a:avLst>
          </a:prstGeom>
          <a:solidFill>
            <a:srgbClr val="FBEDEC"/>
          </a:solidFill>
          <a:ln/>
          <a:effectLst>
            <a:outerShdw sx="100000" sy="100000" kx="0" ky="0" algn="bl" rotWithShape="0" blurRad="76200" dist="25400" dir="5400000">
              <a:srgbClr val="2A1729">
                <a:alpha val="18000"/>
              </a:srgbClr>
            </a:outerShdw>
          </a:effectLst>
        </p:spPr>
      </p:sp>
      <p:sp>
        <p:nvSpPr>
          <p:cNvPr id="8" name="Shape 5"/>
          <p:cNvSpPr/>
          <p:nvPr/>
        </p:nvSpPr>
        <p:spPr>
          <a:xfrm>
            <a:off x="713232" y="1673352"/>
            <a:ext cx="457200" cy="457200"/>
          </a:xfrm>
          <a:prstGeom prst="ellipse">
            <a:avLst/>
          </a:prstGeom>
          <a:solidFill>
            <a:srgbClr val="3F7A54"/>
          </a:solidFill>
          <a:ln/>
        </p:spPr>
      </p:sp>
      <p:pic>
        <p:nvPicPr>
          <p:cNvPr id="9" name="Image 1" descr="preencoded.png">    </p:cNvPr>
          <p:cNvPicPr>
            <a:picLocks noChangeAspect="1"/>
          </p:cNvPicPr>
          <p:nvPr/>
        </p:nvPicPr>
        <p:blipFill>
          <a:blip r:embed="rId2"/>
          <a:stretch>
            <a:fillRect/>
          </a:stretch>
        </p:blipFill>
        <p:spPr>
          <a:xfrm>
            <a:off x="804672" y="1764792"/>
            <a:ext cx="274320" cy="274320"/>
          </a:xfrm>
          <a:prstGeom prst="rect">
            <a:avLst/>
          </a:prstGeom>
        </p:spPr>
      </p:pic>
      <p:sp>
        <p:nvSpPr>
          <p:cNvPr id="10" name="Shape 6"/>
          <p:cNvSpPr/>
          <p:nvPr/>
        </p:nvSpPr>
        <p:spPr>
          <a:xfrm>
            <a:off x="6534760" y="1673352"/>
            <a:ext cx="457200" cy="457200"/>
          </a:xfrm>
          <a:prstGeom prst="ellipse">
            <a:avLst/>
          </a:prstGeom>
          <a:solidFill>
            <a:srgbClr val="A3413B"/>
          </a:solidFill>
          <a:ln/>
        </p:spPr>
      </p:sp>
      <p:pic>
        <p:nvPicPr>
          <p:cNvPr id="11" name="Image 2" descr="preencoded.png">    </p:cNvPr>
          <p:cNvPicPr>
            <a:picLocks noChangeAspect="1"/>
          </p:cNvPicPr>
          <p:nvPr/>
        </p:nvPicPr>
        <p:blipFill>
          <a:blip r:embed="rId3"/>
          <a:stretch>
            <a:fillRect/>
          </a:stretch>
        </p:blipFill>
        <p:spPr>
          <a:xfrm>
            <a:off x="6626200" y="1764792"/>
            <a:ext cx="274320" cy="274320"/>
          </a:xfrm>
          <a:prstGeom prst="rect">
            <a:avLst/>
          </a:prstGeom>
        </p:spPr>
      </p:pic>
      <p:sp>
        <p:nvSpPr>
          <p:cNvPr id="12" name="Text 7"/>
          <p:cNvSpPr txBox="1"/>
          <p:nvPr/>
        </p:nvSpPr>
        <p:spPr>
          <a:xfrm>
            <a:off x="1298448" y="1691640"/>
            <a:ext cx="4358488" cy="420624"/>
          </a:xfrm>
          <a:prstGeom prst="rect">
            <a:avLst/>
          </a:prstGeom>
          <a:noFill/>
          <a:ln/>
        </p:spPr>
        <p:txBody>
          <a:bodyPr wrap="square" lIns="0" tIns="0" rIns="0" bIns="0" rtlCol="0" anchor="ctr"/>
          <a:lstStyle/>
          <a:p>
            <a:pPr indent="0" marL="0">
              <a:buNone/>
            </a:pPr>
            <a:r>
              <a:rPr lang="en-US" sz="1700" b="1" dirty="0">
                <a:solidFill>
                  <a:srgbClr val="2C5D3C"/>
                </a:solidFill>
                <a:latin typeface="Cambria" pitchFamily="34" charset="0"/>
                <a:ea typeface="Cambria" pitchFamily="34" charset="-122"/>
                <a:cs typeface="Cambria" pitchFamily="34" charset="-120"/>
              </a:rPr>
              <a:t>Utilidad clínica</a:t>
            </a:r>
            <a:endParaRPr lang="en-US" sz="1700" dirty="0"/>
          </a:p>
        </p:txBody>
      </p:sp>
      <p:sp>
        <p:nvSpPr>
          <p:cNvPr id="13" name="Text 8"/>
          <p:cNvSpPr txBox="1"/>
          <p:nvPr/>
        </p:nvSpPr>
        <p:spPr>
          <a:xfrm>
            <a:off x="7119976" y="1691640"/>
            <a:ext cx="4358488" cy="420624"/>
          </a:xfrm>
          <a:prstGeom prst="rect">
            <a:avLst/>
          </a:prstGeom>
          <a:noFill/>
          <a:ln/>
        </p:spPr>
        <p:txBody>
          <a:bodyPr wrap="square" lIns="0" tIns="0" rIns="0" bIns="0" rtlCol="0" anchor="ctr"/>
          <a:lstStyle/>
          <a:p>
            <a:pPr indent="0" marL="0">
              <a:buNone/>
            </a:pPr>
            <a:r>
              <a:rPr lang="en-US" sz="1700" b="1" dirty="0">
                <a:solidFill>
                  <a:srgbClr val="8A2E28"/>
                </a:solidFill>
                <a:latin typeface="Cambria" pitchFamily="34" charset="0"/>
                <a:ea typeface="Cambria" pitchFamily="34" charset="-122"/>
                <a:cs typeface="Cambria" pitchFamily="34" charset="-120"/>
              </a:rPr>
              <a:t>Limitaciones y riesgos</a:t>
            </a:r>
            <a:endParaRPr lang="en-US" sz="1700" dirty="0"/>
          </a:p>
        </p:txBody>
      </p:sp>
      <p:sp>
        <p:nvSpPr>
          <p:cNvPr id="14" name="Text 9"/>
          <p:cNvSpPr txBox="1"/>
          <p:nvPr/>
        </p:nvSpPr>
        <p:spPr>
          <a:xfrm>
            <a:off x="777240" y="2286000"/>
            <a:ext cx="4815688" cy="3383280"/>
          </a:xfrm>
          <a:prstGeom prst="rect">
            <a:avLst/>
          </a:prstGeom>
          <a:noFill/>
          <a:ln/>
        </p:spPr>
        <p:txBody>
          <a:bodyPr wrap="square" lIns="0" tIns="0" rIns="0" bIns="0" rtlCol="0" anchor="t"/>
          <a:lstStyle/>
          <a:p>
            <a:pPr marL="177800" indent="-177800">
              <a:lnSpc>
                <a:spcPct val="108000"/>
              </a:lnSpc>
              <a:spcAft>
                <a:spcPts val="1000"/>
              </a:spcAft>
              <a:buSzPct val="100000"/>
              <a:buChar char="•"/>
            </a:pPr>
            <a:r>
              <a:rPr lang="en-US" sz="1250" dirty="0">
                <a:solidFill>
                  <a:srgbClr val="3A2A35"/>
                </a:solidFill>
                <a:latin typeface="Calibri" pitchFamily="34" charset="0"/>
                <a:ea typeface="Calibri" pitchFamily="34" charset="-122"/>
                <a:cs typeface="Calibri" pitchFamily="34" charset="-120"/>
              </a:rPr>
              <a:t>Efecto antiemético potente por antagonismo D2 en la zona gatillo quimiorreceptora.</a:t>
            </a:r>
            <a:endParaRPr lang="en-US" sz="1250" dirty="0"/>
          </a:p>
          <a:p>
            <a:pPr marL="177800" indent="-177800">
              <a:lnSpc>
                <a:spcPct val="108000"/>
              </a:lnSpc>
              <a:spcAft>
                <a:spcPts val="1000"/>
              </a:spcAft>
              <a:buSzPct val="100000"/>
              <a:buChar char="•"/>
            </a:pPr>
            <a:r>
              <a:rPr lang="en-US" sz="1250" dirty="0">
                <a:solidFill>
                  <a:srgbClr val="3A2A35"/>
                </a:solidFill>
                <a:latin typeface="Calibri" pitchFamily="34" charset="0"/>
                <a:ea typeface="Calibri" pitchFamily="34" charset="-122"/>
                <a:cs typeface="Calibri" pitchFamily="34" charset="-120"/>
              </a:rPr>
              <a:t>Droperidol: antiemético eficaz a dosis bajas (0.625-1.25 mg IV).</a:t>
            </a:r>
            <a:endParaRPr lang="en-US" sz="1250" dirty="0"/>
          </a:p>
          <a:p>
            <a:pPr marL="177800" indent="-177800">
              <a:lnSpc>
                <a:spcPct val="108000"/>
              </a:lnSpc>
              <a:spcAft>
                <a:spcPts val="1000"/>
              </a:spcAft>
              <a:buSzPct val="100000"/>
              <a:buChar char="•"/>
            </a:pPr>
            <a:r>
              <a:rPr lang="en-US" sz="1250" dirty="0">
                <a:solidFill>
                  <a:srgbClr val="3A2A35"/>
                </a:solidFill>
                <a:latin typeface="Calibri" pitchFamily="34" charset="0"/>
                <a:ea typeface="Calibri" pitchFamily="34" charset="-122"/>
                <a:cs typeface="Calibri" pitchFamily="34" charset="-120"/>
              </a:rPr>
              <a:t>Prometazina: sedación leve con efecto antihistamínico asociado, útil en alergias.</a:t>
            </a:r>
            <a:endParaRPr lang="en-US" sz="1250" dirty="0"/>
          </a:p>
          <a:p>
            <a:pPr marL="177800" indent="-177800">
              <a:lnSpc>
                <a:spcPct val="108000"/>
              </a:lnSpc>
              <a:spcAft>
                <a:spcPts val="1000"/>
              </a:spcAft>
              <a:buSzPct val="100000"/>
              <a:buChar char="•"/>
            </a:pPr>
            <a:r>
              <a:rPr lang="en-US" sz="1250" dirty="0">
                <a:solidFill>
                  <a:srgbClr val="3A2A35"/>
                </a:solidFill>
                <a:latin typeface="Calibri" pitchFamily="34" charset="0"/>
                <a:ea typeface="Calibri" pitchFamily="34" charset="-122"/>
                <a:cs typeface="Calibri" pitchFamily="34" charset="-120"/>
              </a:rPr>
              <a:t>Potencian el efecto de opioides y sedantes (uso histórico en neuroleptoanalgesia).</a:t>
            </a:r>
            <a:endParaRPr lang="en-US" sz="1250" dirty="0"/>
          </a:p>
        </p:txBody>
      </p:sp>
      <p:sp>
        <p:nvSpPr>
          <p:cNvPr id="15" name="Text 10"/>
          <p:cNvSpPr txBox="1"/>
          <p:nvPr/>
        </p:nvSpPr>
        <p:spPr>
          <a:xfrm>
            <a:off x="6598768" y="2286000"/>
            <a:ext cx="4815688" cy="3383280"/>
          </a:xfrm>
          <a:prstGeom prst="rect">
            <a:avLst/>
          </a:prstGeom>
          <a:noFill/>
          <a:ln/>
        </p:spPr>
        <p:txBody>
          <a:bodyPr wrap="square" lIns="0" tIns="0" rIns="0" bIns="0" rtlCol="0" anchor="t"/>
          <a:lstStyle/>
          <a:p>
            <a:pPr marL="177800" indent="-177800">
              <a:lnSpc>
                <a:spcPct val="108000"/>
              </a:lnSpc>
              <a:spcAft>
                <a:spcPts val="1000"/>
              </a:spcAft>
              <a:buSzPct val="100000"/>
              <a:buChar char="•"/>
            </a:pPr>
            <a:r>
              <a:rPr lang="en-US" sz="1250" dirty="0">
                <a:solidFill>
                  <a:srgbClr val="3A2A35"/>
                </a:solidFill>
                <a:latin typeface="Calibri" pitchFamily="34" charset="0"/>
                <a:ea typeface="Calibri" pitchFamily="34" charset="-122"/>
                <a:cs typeface="Calibri" pitchFamily="34" charset="-120"/>
              </a:rPr>
              <a:t>Efectos extrapiramidales: distonía aguda, acatisia, síntomas parkinsonianos.</a:t>
            </a:r>
            <a:endParaRPr lang="en-US" sz="1250" dirty="0"/>
          </a:p>
          <a:p>
            <a:pPr marL="177800" indent="-177800">
              <a:lnSpc>
                <a:spcPct val="108000"/>
              </a:lnSpc>
              <a:spcAft>
                <a:spcPts val="1000"/>
              </a:spcAft>
              <a:buSzPct val="100000"/>
              <a:buChar char="•"/>
            </a:pPr>
            <a:r>
              <a:rPr lang="en-US" sz="1250" dirty="0">
                <a:solidFill>
                  <a:srgbClr val="3A2A35"/>
                </a:solidFill>
                <a:latin typeface="Calibri" pitchFamily="34" charset="0"/>
                <a:ea typeface="Calibri" pitchFamily="34" charset="-122"/>
                <a:cs typeface="Calibri" pitchFamily="34" charset="-120"/>
              </a:rPr>
              <a:t>Prolongación del intervalo QTc y riesgo de torsades de pointes (droperidol, alerta FDA).</a:t>
            </a:r>
            <a:endParaRPr lang="en-US" sz="1250" dirty="0"/>
          </a:p>
          <a:p>
            <a:pPr marL="177800" indent="-177800">
              <a:lnSpc>
                <a:spcPct val="108000"/>
              </a:lnSpc>
              <a:spcAft>
                <a:spcPts val="1000"/>
              </a:spcAft>
              <a:buSzPct val="100000"/>
              <a:buChar char="•"/>
            </a:pPr>
            <a:r>
              <a:rPr lang="en-US" sz="1250" dirty="0">
                <a:solidFill>
                  <a:srgbClr val="3A2A35"/>
                </a:solidFill>
                <a:latin typeface="Calibri" pitchFamily="34" charset="0"/>
                <a:ea typeface="Calibri" pitchFamily="34" charset="-122"/>
                <a:cs typeface="Calibri" pitchFamily="34" charset="-120"/>
              </a:rPr>
              <a:t>Sedación prolongada y disforia que retrasan el alta en cirugía ambulatoria.</a:t>
            </a:r>
            <a:endParaRPr lang="en-US" sz="1250" dirty="0"/>
          </a:p>
          <a:p>
            <a:pPr marL="177800" indent="-177800">
              <a:lnSpc>
                <a:spcPct val="108000"/>
              </a:lnSpc>
              <a:spcAft>
                <a:spcPts val="1000"/>
              </a:spcAft>
              <a:buSzPct val="100000"/>
              <a:buChar char="•"/>
            </a:pPr>
            <a:r>
              <a:rPr lang="en-US" sz="1250" dirty="0">
                <a:solidFill>
                  <a:srgbClr val="3A2A35"/>
                </a:solidFill>
                <a:latin typeface="Calibri" pitchFamily="34" charset="0"/>
                <a:ea typeface="Calibri" pitchFamily="34" charset="-122"/>
                <a:cs typeface="Calibri" pitchFamily="34" charset="-120"/>
              </a:rPr>
              <a:t>Riesgo de síndrome neuroléptico maligno (raro pero grave).</a:t>
            </a:r>
            <a:endParaRPr lang="en-US" sz="1250" dirty="0"/>
          </a:p>
        </p:txBody>
      </p:sp>
      <p:sp>
        <p:nvSpPr>
          <p:cNvPr id="16" name="Text 11"/>
          <p:cNvSpPr txBox="1"/>
          <p:nvPr/>
        </p:nvSpPr>
        <p:spPr>
          <a:xfrm>
            <a:off x="457200" y="6473952"/>
            <a:ext cx="6400800" cy="292608"/>
          </a:xfrm>
          <a:prstGeom prst="rect">
            <a:avLst/>
          </a:prstGeom>
          <a:noFill/>
          <a:ln/>
        </p:spPr>
        <p:txBody>
          <a:bodyPr wrap="square" lIns="0" tIns="0" rIns="0" bIns="0" rtlCol="0" anchor="ctr"/>
          <a:lstStyle/>
          <a:p>
            <a:pPr indent="0" marL="0">
              <a:buNone/>
            </a:pPr>
            <a:r>
              <a:rPr lang="en-US" sz="900" i="1" dirty="0">
                <a:solidFill>
                  <a:srgbClr val="77606F"/>
                </a:solidFill>
                <a:latin typeface="Calibri" pitchFamily="34" charset="0"/>
                <a:ea typeface="Calibri" pitchFamily="34" charset="-122"/>
                <a:cs typeface="Calibri" pitchFamily="34" charset="-120"/>
              </a:rPr>
              <a:t>Capítulo IV — Premedicación</a:t>
            </a:r>
            <a:endParaRPr lang="en-US" sz="900" dirty="0"/>
          </a:p>
        </p:txBody>
      </p:sp>
      <p:sp>
        <p:nvSpPr>
          <p:cNvPr id="17" name="Text 12"/>
          <p:cNvSpPr txBox="1"/>
          <p:nvPr/>
        </p:nvSpPr>
        <p:spPr>
          <a:xfrm>
            <a:off x="10362895" y="6473952"/>
            <a:ext cx="1371600" cy="292608"/>
          </a:xfrm>
          <a:prstGeom prst="rect">
            <a:avLst/>
          </a:prstGeom>
          <a:noFill/>
          <a:ln/>
        </p:spPr>
        <p:txBody>
          <a:bodyPr wrap="square" lIns="0" tIns="0" rIns="0" bIns="0" rtlCol="0" anchor="ctr"/>
          <a:lstStyle/>
          <a:p>
            <a:pPr algn="r" indent="0" marL="0">
              <a:buNone/>
            </a:pPr>
            <a:r>
              <a:rPr lang="en-US" sz="900" dirty="0">
                <a:solidFill>
                  <a:srgbClr val="77606F"/>
                </a:solidFill>
                <a:latin typeface="Calibri" pitchFamily="34" charset="0"/>
                <a:ea typeface="Calibri" pitchFamily="34" charset="-122"/>
                <a:cs typeface="Calibri" pitchFamily="34" charset="-120"/>
              </a:rPr>
              <a:t>19 / 33</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658368" cy="658368"/>
          </a:xfrm>
          <a:prstGeom prst="ellipse">
            <a:avLst/>
          </a:prstGeom>
          <a:solidFill>
            <a:srgbClr val="4A2545"/>
          </a:solidFill>
          <a:ln/>
        </p:spPr>
      </p:sp>
      <p:pic>
        <p:nvPicPr>
          <p:cNvPr id="3" name="Image 0" descr="preencoded.png">    </p:cNvPr>
          <p:cNvPicPr>
            <a:picLocks noChangeAspect="1"/>
          </p:cNvPicPr>
          <p:nvPr/>
        </p:nvPicPr>
        <p:blipFill>
          <a:blip r:embed="rId1"/>
          <a:stretch>
            <a:fillRect/>
          </a:stretch>
        </p:blipFill>
        <p:spPr>
          <a:xfrm>
            <a:off x="602041" y="556321"/>
            <a:ext cx="368686" cy="368686"/>
          </a:xfrm>
          <a:prstGeom prst="rect">
            <a:avLst/>
          </a:prstGeom>
        </p:spPr>
      </p:pic>
      <p:sp>
        <p:nvSpPr>
          <p:cNvPr id="4" name="Text 1"/>
          <p:cNvSpPr txBox="1"/>
          <p:nvPr/>
        </p:nvSpPr>
        <p:spPr>
          <a:xfrm>
            <a:off x="1298448" y="384048"/>
            <a:ext cx="9601200" cy="256032"/>
          </a:xfrm>
          <a:prstGeom prst="rect">
            <a:avLst/>
          </a:prstGeom>
          <a:noFill/>
          <a:ln/>
        </p:spPr>
        <p:txBody>
          <a:bodyPr wrap="square" lIns="0" tIns="0" rIns="0" bIns="0" rtlCol="0" anchor="ctr"/>
          <a:lstStyle/>
          <a:p>
            <a:pPr indent="0" marL="0">
              <a:buNone/>
            </a:pPr>
            <a:r>
              <a:rPr lang="en-US" sz="1150" b="1" spc="150" kern="0" dirty="0">
                <a:solidFill>
                  <a:srgbClr val="E0A458"/>
                </a:solidFill>
                <a:latin typeface="Calibri" pitchFamily="34" charset="0"/>
                <a:ea typeface="Calibri" pitchFamily="34" charset="-122"/>
                <a:cs typeface="Calibri" pitchFamily="34" charset="-120"/>
              </a:rPr>
              <a:t>ANTAGONISMO MUSCARÍNICO</a:t>
            </a:r>
            <a:endParaRPr lang="en-US" sz="1150" dirty="0"/>
          </a:p>
        </p:txBody>
      </p:sp>
      <p:sp>
        <p:nvSpPr>
          <p:cNvPr id="5" name="Text 2"/>
          <p:cNvSpPr txBox="1"/>
          <p:nvPr/>
        </p:nvSpPr>
        <p:spPr>
          <a:xfrm>
            <a:off x="1298448" y="621792"/>
            <a:ext cx="10058400" cy="502920"/>
          </a:xfrm>
          <a:prstGeom prst="rect">
            <a:avLst/>
          </a:prstGeom>
          <a:noFill/>
          <a:ln/>
        </p:spPr>
        <p:txBody>
          <a:bodyPr wrap="square" lIns="0" tIns="0" rIns="0" bIns="0" rtlCol="0" anchor="ctr"/>
          <a:lstStyle/>
          <a:p>
            <a:pPr indent="0" marL="0">
              <a:buNone/>
            </a:pPr>
            <a:r>
              <a:rPr lang="en-US" sz="2500" b="1" dirty="0">
                <a:solidFill>
                  <a:srgbClr val="4A2545"/>
                </a:solidFill>
                <a:latin typeface="Cambria" pitchFamily="34" charset="0"/>
                <a:ea typeface="Cambria" pitchFamily="34" charset="-122"/>
                <a:cs typeface="Cambria" pitchFamily="34" charset="-120"/>
              </a:rPr>
              <a:t>Anticolinérgicos: introducción y mecanismo</a:t>
            </a:r>
            <a:endParaRPr lang="en-US" sz="2500" dirty="0"/>
          </a:p>
        </p:txBody>
      </p:sp>
      <p:sp>
        <p:nvSpPr>
          <p:cNvPr id="6" name="Shape 3"/>
          <p:cNvSpPr/>
          <p:nvPr/>
        </p:nvSpPr>
        <p:spPr>
          <a:xfrm>
            <a:off x="457200" y="1417320"/>
            <a:ext cx="5455768" cy="4480560"/>
          </a:xfrm>
          <a:prstGeom prst="roundRect">
            <a:avLst>
              <a:gd name="adj" fmla="val 1633"/>
            </a:avLst>
          </a:prstGeom>
          <a:solidFill>
            <a:srgbClr val="F4EEF2"/>
          </a:solidFill>
          <a:ln/>
          <a:effectLst>
            <a:outerShdw sx="100000" sy="100000" kx="0" ky="0" algn="bl" rotWithShape="0" blurRad="76200" dist="25400" dir="5400000">
              <a:srgbClr val="2A1729">
                <a:alpha val="18000"/>
              </a:srgbClr>
            </a:outerShdw>
          </a:effectLst>
        </p:spPr>
      </p:sp>
      <p:sp>
        <p:nvSpPr>
          <p:cNvPr id="7" name="Text 4"/>
          <p:cNvSpPr txBox="1"/>
          <p:nvPr/>
        </p:nvSpPr>
        <p:spPr>
          <a:xfrm>
            <a:off x="749808" y="1636776"/>
            <a:ext cx="4870552" cy="457200"/>
          </a:xfrm>
          <a:prstGeom prst="rect">
            <a:avLst/>
          </a:prstGeom>
          <a:noFill/>
          <a:ln/>
        </p:spPr>
        <p:txBody>
          <a:bodyPr wrap="square" lIns="0" tIns="0" rIns="0" bIns="0" rtlCol="0" anchor="ctr"/>
          <a:lstStyle/>
          <a:p>
            <a:pPr indent="0" marL="0">
              <a:buNone/>
            </a:pPr>
            <a:r>
              <a:rPr lang="en-US" sz="1650" b="1" dirty="0">
                <a:solidFill>
                  <a:srgbClr val="4A2545"/>
                </a:solidFill>
                <a:latin typeface="Cambria" pitchFamily="34" charset="0"/>
                <a:ea typeface="Cambria" pitchFamily="34" charset="-122"/>
                <a:cs typeface="Cambria" pitchFamily="34" charset="-120"/>
              </a:rPr>
              <a:t>Mecanismo de acción</a:t>
            </a:r>
            <a:endParaRPr lang="en-US" sz="1650" dirty="0"/>
          </a:p>
        </p:txBody>
      </p:sp>
      <p:sp>
        <p:nvSpPr>
          <p:cNvPr id="8" name="Text 5"/>
          <p:cNvSpPr txBox="1"/>
          <p:nvPr/>
        </p:nvSpPr>
        <p:spPr>
          <a:xfrm>
            <a:off x="749808" y="2194560"/>
            <a:ext cx="4870552" cy="3474720"/>
          </a:xfrm>
          <a:prstGeom prst="rect">
            <a:avLst/>
          </a:prstGeom>
          <a:noFill/>
          <a:ln/>
        </p:spPr>
        <p:txBody>
          <a:bodyPr wrap="square" lIns="0" tIns="0" rIns="0" bIns="0" rtlCol="0" anchor="t"/>
          <a:lstStyle/>
          <a:p>
            <a:pPr marL="177800" indent="-177800">
              <a:lnSpc>
                <a:spcPct val="108000"/>
              </a:lnSpc>
              <a:spcAft>
                <a:spcPts val="900"/>
              </a:spcAft>
              <a:buSzPct val="100000"/>
              <a:buChar char="•"/>
            </a:pPr>
            <a:r>
              <a:rPr lang="en-US" sz="1250" dirty="0">
                <a:solidFill>
                  <a:srgbClr val="3A2A35"/>
                </a:solidFill>
                <a:latin typeface="Calibri" pitchFamily="34" charset="0"/>
                <a:ea typeface="Calibri" pitchFamily="34" charset="-122"/>
                <a:cs typeface="Calibri" pitchFamily="34" charset="-120"/>
              </a:rPr>
              <a:t>Antagonistas competitivos de los receptores muscarínicos (M1-M5) de la acetilcolina.</a:t>
            </a:r>
            <a:endParaRPr lang="en-US" sz="1250" dirty="0"/>
          </a:p>
          <a:p>
            <a:pPr marL="177800" indent="-177800">
              <a:lnSpc>
                <a:spcPct val="108000"/>
              </a:lnSpc>
              <a:spcAft>
                <a:spcPts val="900"/>
              </a:spcAft>
              <a:buSzPct val="100000"/>
              <a:buChar char="•"/>
            </a:pPr>
            <a:r>
              <a:rPr lang="en-US" sz="1250" dirty="0">
                <a:solidFill>
                  <a:srgbClr val="3A2A35"/>
                </a:solidFill>
                <a:latin typeface="Calibri" pitchFamily="34" charset="0"/>
                <a:ea typeface="Calibri" pitchFamily="34" charset="-122"/>
                <a:cs typeface="Calibri" pitchFamily="34" charset="-120"/>
              </a:rPr>
              <a:t>Bloquean la transmisión parasimpática posganglionar en glándulas, corazón y músculo liso.</a:t>
            </a:r>
            <a:endParaRPr lang="en-US" sz="1250" dirty="0"/>
          </a:p>
          <a:p>
            <a:pPr marL="177800" indent="-177800">
              <a:lnSpc>
                <a:spcPct val="108000"/>
              </a:lnSpc>
              <a:spcAft>
                <a:spcPts val="900"/>
              </a:spcAft>
              <a:buSzPct val="100000"/>
              <a:buChar char="•"/>
            </a:pPr>
            <a:r>
              <a:rPr lang="en-US" sz="1250" dirty="0">
                <a:solidFill>
                  <a:srgbClr val="3A2A35"/>
                </a:solidFill>
                <a:latin typeface="Calibri" pitchFamily="34" charset="0"/>
                <a:ea typeface="Calibri" pitchFamily="34" charset="-122"/>
                <a:cs typeface="Calibri" pitchFamily="34" charset="-120"/>
              </a:rPr>
              <a:t>No afectan receptores nicotínicos: no producen bloqueo neuromuscular.</a:t>
            </a:r>
            <a:endParaRPr lang="en-US" sz="1250" dirty="0"/>
          </a:p>
          <a:p>
            <a:pPr marL="177800" indent="-177800">
              <a:lnSpc>
                <a:spcPct val="108000"/>
              </a:lnSpc>
              <a:spcAft>
                <a:spcPts val="900"/>
              </a:spcAft>
              <a:buSzPct val="100000"/>
              <a:buChar char="•"/>
            </a:pPr>
            <a:r>
              <a:rPr lang="en-US" sz="1250" dirty="0">
                <a:solidFill>
                  <a:srgbClr val="3A2A35"/>
                </a:solidFill>
                <a:latin typeface="Calibri" pitchFamily="34" charset="0"/>
                <a:ea typeface="Calibri" pitchFamily="34" charset="-122"/>
                <a:cs typeface="Calibri" pitchFamily="34" charset="-120"/>
              </a:rPr>
              <a:t>Los aminoterciarios (escopolamina, atropina) cruzan la barrera hematoencefálica; el glicopirrolato, amina cuaternaria, no la cruza.</a:t>
            </a:r>
            <a:endParaRPr lang="en-US" sz="1250" dirty="0"/>
          </a:p>
        </p:txBody>
      </p:sp>
      <p:sp>
        <p:nvSpPr>
          <p:cNvPr id="9" name="Shape 6"/>
          <p:cNvSpPr/>
          <p:nvPr/>
        </p:nvSpPr>
        <p:spPr>
          <a:xfrm>
            <a:off x="6278728" y="1417320"/>
            <a:ext cx="5455768" cy="4480560"/>
          </a:xfrm>
          <a:prstGeom prst="roundRect">
            <a:avLst>
              <a:gd name="adj" fmla="val 1633"/>
            </a:avLst>
          </a:prstGeom>
          <a:solidFill>
            <a:srgbClr val="FBF3E7"/>
          </a:solidFill>
          <a:ln/>
          <a:effectLst>
            <a:outerShdw sx="100000" sy="100000" kx="0" ky="0" algn="bl" rotWithShape="0" blurRad="76200" dist="25400" dir="5400000">
              <a:srgbClr val="2A1729">
                <a:alpha val="18000"/>
              </a:srgbClr>
            </a:outerShdw>
          </a:effectLst>
        </p:spPr>
      </p:sp>
      <p:sp>
        <p:nvSpPr>
          <p:cNvPr id="10" name="Text 7"/>
          <p:cNvSpPr txBox="1"/>
          <p:nvPr/>
        </p:nvSpPr>
        <p:spPr>
          <a:xfrm>
            <a:off x="6571336" y="1636776"/>
            <a:ext cx="4870552" cy="457200"/>
          </a:xfrm>
          <a:prstGeom prst="rect">
            <a:avLst/>
          </a:prstGeom>
          <a:noFill/>
          <a:ln/>
        </p:spPr>
        <p:txBody>
          <a:bodyPr wrap="square" lIns="0" tIns="0" rIns="0" bIns="0" rtlCol="0" anchor="ctr"/>
          <a:lstStyle/>
          <a:p>
            <a:pPr indent="0" marL="0">
              <a:buNone/>
            </a:pPr>
            <a:r>
              <a:rPr lang="en-US" sz="1650" b="1" dirty="0">
                <a:solidFill>
                  <a:srgbClr val="4A2545"/>
                </a:solidFill>
                <a:latin typeface="Cambria" pitchFamily="34" charset="0"/>
                <a:ea typeface="Cambria" pitchFamily="34" charset="-122"/>
                <a:cs typeface="Cambria" pitchFamily="34" charset="-120"/>
              </a:rPr>
              <a:t>Consecuencias funcionales</a:t>
            </a:r>
            <a:endParaRPr lang="en-US" sz="1650" dirty="0"/>
          </a:p>
        </p:txBody>
      </p:sp>
      <p:sp>
        <p:nvSpPr>
          <p:cNvPr id="11" name="Text 8"/>
          <p:cNvSpPr txBox="1"/>
          <p:nvPr/>
        </p:nvSpPr>
        <p:spPr>
          <a:xfrm>
            <a:off x="6571336" y="2194560"/>
            <a:ext cx="4870552" cy="3474720"/>
          </a:xfrm>
          <a:prstGeom prst="rect">
            <a:avLst/>
          </a:prstGeom>
          <a:noFill/>
          <a:ln/>
        </p:spPr>
        <p:txBody>
          <a:bodyPr wrap="square" lIns="0" tIns="0" rIns="0" bIns="0" rtlCol="0" anchor="t"/>
          <a:lstStyle/>
          <a:p>
            <a:pPr marL="177800" indent="-177800">
              <a:lnSpc>
                <a:spcPct val="108000"/>
              </a:lnSpc>
              <a:spcAft>
                <a:spcPts val="900"/>
              </a:spcAft>
              <a:buSzPct val="100000"/>
              <a:buChar char="•"/>
            </a:pPr>
            <a:r>
              <a:rPr lang="en-US" sz="1250" dirty="0">
                <a:solidFill>
                  <a:srgbClr val="3A2A35"/>
                </a:solidFill>
                <a:latin typeface="Calibri" pitchFamily="34" charset="0"/>
                <a:ea typeface="Calibri" pitchFamily="34" charset="-122"/>
                <a:cs typeface="Calibri" pitchFamily="34" charset="-120"/>
              </a:rPr>
              <a:t>Reducción de secreciones salivales, bronquiales y gástricas.</a:t>
            </a:r>
            <a:endParaRPr lang="en-US" sz="1250" dirty="0"/>
          </a:p>
          <a:p>
            <a:pPr marL="177800" indent="-177800">
              <a:lnSpc>
                <a:spcPct val="108000"/>
              </a:lnSpc>
              <a:spcAft>
                <a:spcPts val="900"/>
              </a:spcAft>
              <a:buSzPct val="100000"/>
              <a:buChar char="•"/>
            </a:pPr>
            <a:r>
              <a:rPr lang="en-US" sz="1250" dirty="0">
                <a:solidFill>
                  <a:srgbClr val="3A2A35"/>
                </a:solidFill>
                <a:latin typeface="Calibri" pitchFamily="34" charset="0"/>
                <a:ea typeface="Calibri" pitchFamily="34" charset="-122"/>
                <a:cs typeface="Calibri" pitchFamily="34" charset="-120"/>
              </a:rPr>
              <a:t>Aumento de la frecuencia cardiaca por bloqueo vagal en el nodo sinoauricular.</a:t>
            </a:r>
            <a:endParaRPr lang="en-US" sz="1250" dirty="0"/>
          </a:p>
          <a:p>
            <a:pPr marL="177800" indent="-177800">
              <a:lnSpc>
                <a:spcPct val="108000"/>
              </a:lnSpc>
              <a:spcAft>
                <a:spcPts val="900"/>
              </a:spcAft>
              <a:buSzPct val="100000"/>
              <a:buChar char="•"/>
            </a:pPr>
            <a:r>
              <a:rPr lang="en-US" sz="1250" dirty="0">
                <a:solidFill>
                  <a:srgbClr val="3A2A35"/>
                </a:solidFill>
                <a:latin typeface="Calibri" pitchFamily="34" charset="0"/>
                <a:ea typeface="Calibri" pitchFamily="34" charset="-122"/>
                <a:cs typeface="Calibri" pitchFamily="34" charset="-120"/>
              </a:rPr>
              <a:t>Relajación del músculo liso bronquial y gastrointestinal.</a:t>
            </a:r>
            <a:endParaRPr lang="en-US" sz="1250" dirty="0"/>
          </a:p>
          <a:p>
            <a:pPr marL="177800" indent="-177800">
              <a:lnSpc>
                <a:spcPct val="108000"/>
              </a:lnSpc>
              <a:spcAft>
                <a:spcPts val="900"/>
              </a:spcAft>
              <a:buSzPct val="100000"/>
              <a:buChar char="•"/>
            </a:pPr>
            <a:r>
              <a:rPr lang="en-US" sz="1250" dirty="0">
                <a:solidFill>
                  <a:srgbClr val="3A2A35"/>
                </a:solidFill>
                <a:latin typeface="Calibri" pitchFamily="34" charset="0"/>
                <a:ea typeface="Calibri" pitchFamily="34" charset="-122"/>
                <a:cs typeface="Calibri" pitchFamily="34" charset="-120"/>
              </a:rPr>
              <a:t>Efectos centrales variables (sedación con escopolamina; ninguno con glicopirrolato).</a:t>
            </a:r>
            <a:endParaRPr lang="en-US" sz="1250" dirty="0"/>
          </a:p>
        </p:txBody>
      </p:sp>
      <p:sp>
        <p:nvSpPr>
          <p:cNvPr id="12" name="Text 9"/>
          <p:cNvSpPr txBox="1"/>
          <p:nvPr/>
        </p:nvSpPr>
        <p:spPr>
          <a:xfrm>
            <a:off x="457200" y="6473952"/>
            <a:ext cx="6400800" cy="292608"/>
          </a:xfrm>
          <a:prstGeom prst="rect">
            <a:avLst/>
          </a:prstGeom>
          <a:noFill/>
          <a:ln/>
        </p:spPr>
        <p:txBody>
          <a:bodyPr wrap="square" lIns="0" tIns="0" rIns="0" bIns="0" rtlCol="0" anchor="ctr"/>
          <a:lstStyle/>
          <a:p>
            <a:pPr indent="0" marL="0">
              <a:buNone/>
            </a:pPr>
            <a:r>
              <a:rPr lang="en-US" sz="900" i="1" dirty="0">
                <a:solidFill>
                  <a:srgbClr val="77606F"/>
                </a:solidFill>
                <a:latin typeface="Calibri" pitchFamily="34" charset="0"/>
                <a:ea typeface="Calibri" pitchFamily="34" charset="-122"/>
                <a:cs typeface="Calibri" pitchFamily="34" charset="-120"/>
              </a:rPr>
              <a:t>Capítulo IV — Premedicación</a:t>
            </a:r>
            <a:endParaRPr lang="en-US" sz="900" dirty="0"/>
          </a:p>
        </p:txBody>
      </p:sp>
      <p:sp>
        <p:nvSpPr>
          <p:cNvPr id="13" name="Text 10"/>
          <p:cNvSpPr txBox="1"/>
          <p:nvPr/>
        </p:nvSpPr>
        <p:spPr>
          <a:xfrm>
            <a:off x="10362895" y="6473952"/>
            <a:ext cx="1371600" cy="292608"/>
          </a:xfrm>
          <a:prstGeom prst="rect">
            <a:avLst/>
          </a:prstGeom>
          <a:noFill/>
          <a:ln/>
        </p:spPr>
        <p:txBody>
          <a:bodyPr wrap="square" lIns="0" tIns="0" rIns="0" bIns="0" rtlCol="0" anchor="ctr"/>
          <a:lstStyle/>
          <a:p>
            <a:pPr algn="r" indent="0" marL="0">
              <a:buNone/>
            </a:pPr>
            <a:r>
              <a:rPr lang="en-US" sz="900" dirty="0">
                <a:solidFill>
                  <a:srgbClr val="77606F"/>
                </a:solidFill>
                <a:latin typeface="Calibri" pitchFamily="34" charset="0"/>
                <a:ea typeface="Calibri" pitchFamily="34" charset="-122"/>
                <a:cs typeface="Calibri" pitchFamily="34" charset="-120"/>
              </a:rPr>
              <a:t>20 / 33</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658368" cy="658368"/>
          </a:xfrm>
          <a:prstGeom prst="ellipse">
            <a:avLst/>
          </a:prstGeom>
          <a:solidFill>
            <a:srgbClr val="4A2545"/>
          </a:solidFill>
          <a:ln/>
        </p:spPr>
      </p:sp>
      <p:pic>
        <p:nvPicPr>
          <p:cNvPr id="3" name="Image 0" descr="preencoded.png">    </p:cNvPr>
          <p:cNvPicPr>
            <a:picLocks noChangeAspect="1"/>
          </p:cNvPicPr>
          <p:nvPr/>
        </p:nvPicPr>
        <p:blipFill>
          <a:blip r:embed="rId1"/>
          <a:stretch>
            <a:fillRect/>
          </a:stretch>
        </p:blipFill>
        <p:spPr>
          <a:xfrm>
            <a:off x="602041" y="556321"/>
            <a:ext cx="368686" cy="368686"/>
          </a:xfrm>
          <a:prstGeom prst="rect">
            <a:avLst/>
          </a:prstGeom>
        </p:spPr>
      </p:pic>
      <p:sp>
        <p:nvSpPr>
          <p:cNvPr id="4" name="Text 1"/>
          <p:cNvSpPr txBox="1"/>
          <p:nvPr/>
        </p:nvSpPr>
        <p:spPr>
          <a:xfrm>
            <a:off x="1298448" y="384048"/>
            <a:ext cx="9601200" cy="256032"/>
          </a:xfrm>
          <a:prstGeom prst="rect">
            <a:avLst/>
          </a:prstGeom>
          <a:noFill/>
          <a:ln/>
        </p:spPr>
        <p:txBody>
          <a:bodyPr wrap="square" lIns="0" tIns="0" rIns="0" bIns="0" rtlCol="0" anchor="ctr"/>
          <a:lstStyle/>
          <a:p>
            <a:pPr indent="0" marL="0">
              <a:buNone/>
            </a:pPr>
            <a:r>
              <a:rPr lang="en-US" sz="1150" b="1" spc="150" kern="0" dirty="0">
                <a:solidFill>
                  <a:srgbClr val="E0A458"/>
                </a:solidFill>
                <a:latin typeface="Calibri" pitchFamily="34" charset="0"/>
                <a:ea typeface="Calibri" pitchFamily="34" charset="-122"/>
                <a:cs typeface="Calibri" pitchFamily="34" charset="-120"/>
              </a:rPr>
              <a:t>ATROPINA, GLICOPIRROLATO, ESCOPOLAMINA</a:t>
            </a:r>
            <a:endParaRPr lang="en-US" sz="1150" dirty="0"/>
          </a:p>
        </p:txBody>
      </p:sp>
      <p:sp>
        <p:nvSpPr>
          <p:cNvPr id="5" name="Text 2"/>
          <p:cNvSpPr txBox="1"/>
          <p:nvPr/>
        </p:nvSpPr>
        <p:spPr>
          <a:xfrm>
            <a:off x="1298448" y="621792"/>
            <a:ext cx="10058400" cy="502920"/>
          </a:xfrm>
          <a:prstGeom prst="rect">
            <a:avLst/>
          </a:prstGeom>
          <a:noFill/>
          <a:ln/>
        </p:spPr>
        <p:txBody>
          <a:bodyPr wrap="square" lIns="0" tIns="0" rIns="0" bIns="0" rtlCol="0" anchor="ctr"/>
          <a:lstStyle/>
          <a:p>
            <a:pPr indent="0" marL="0">
              <a:buNone/>
            </a:pPr>
            <a:r>
              <a:rPr lang="en-US" sz="2500" b="1" dirty="0">
                <a:solidFill>
                  <a:srgbClr val="4A2545"/>
                </a:solidFill>
                <a:latin typeface="Cambria" pitchFamily="34" charset="0"/>
                <a:ea typeface="Cambria" pitchFamily="34" charset="-122"/>
                <a:cs typeface="Cambria" pitchFamily="34" charset="-120"/>
              </a:rPr>
              <a:t>Anticolinérgicos principales: comparación</a:t>
            </a:r>
            <a:endParaRPr lang="en-US" sz="25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57200" y="1417320"/>
          <a:ext cx="11277295" cy="914400"/>
        </p:xfrm>
        <a:graphic>
          <a:graphicData uri="http://schemas.openxmlformats.org/drawingml/2006/table">
            <a:tbl>
              <a:tblPr/>
              <a:tblGrid>
                <a:gridCol w="2834640"/>
                <a:gridCol w="2834640"/>
                <a:gridCol w="2862072"/>
                <a:gridCol w="2743200"/>
              </a:tblGrid>
              <a:tr h="502920">
                <a:tc>
                  <a:txBody>
                    <a:bodyPr/>
                    <a:lstStyle/>
                    <a:p>
                      <a:pPr algn="ctr" indent="0" marL="0">
                        <a:buNone/>
                      </a:pPr>
                      <a:r>
                        <a:rPr lang="en-US" sz="1080" b="1" dirty="0">
                          <a:solidFill>
                            <a:srgbClr val="FFFFFF"/>
                          </a:solidFill>
                          <a:latin typeface="Calibri" pitchFamily="34" charset="0"/>
                          <a:ea typeface="Calibri" pitchFamily="34" charset="-122"/>
                          <a:cs typeface="Calibri" pitchFamily="34" charset="-120"/>
                        </a:rPr>
                        <a:t>Característica</a:t>
                      </a:r>
                      <a:endParaRPr lang="en-US" sz="108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4A2545"/>
                    </a:solidFill>
                  </a:tcPr>
                </a:tc>
                <a:tc>
                  <a:txBody>
                    <a:bodyPr/>
                    <a:lstStyle/>
                    <a:p>
                      <a:pPr algn="ctr" indent="0" marL="0">
                        <a:buNone/>
                      </a:pPr>
                      <a:r>
                        <a:rPr lang="en-US" sz="1080" b="1" dirty="0">
                          <a:solidFill>
                            <a:srgbClr val="FFFFFF"/>
                          </a:solidFill>
                          <a:latin typeface="Calibri" pitchFamily="34" charset="0"/>
                          <a:ea typeface="Calibri" pitchFamily="34" charset="-122"/>
                          <a:cs typeface="Calibri" pitchFamily="34" charset="-120"/>
                        </a:rPr>
                        <a:t>Atropina</a:t>
                      </a:r>
                      <a:endParaRPr lang="en-US" sz="108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4A2545"/>
                    </a:solidFill>
                  </a:tcPr>
                </a:tc>
                <a:tc>
                  <a:txBody>
                    <a:bodyPr/>
                    <a:lstStyle/>
                    <a:p>
                      <a:pPr algn="ctr" indent="0" marL="0">
                        <a:buNone/>
                      </a:pPr>
                      <a:r>
                        <a:rPr lang="en-US" sz="1080" b="1" dirty="0">
                          <a:solidFill>
                            <a:srgbClr val="FFFFFF"/>
                          </a:solidFill>
                          <a:latin typeface="Calibri" pitchFamily="34" charset="0"/>
                          <a:ea typeface="Calibri" pitchFamily="34" charset="-122"/>
                          <a:cs typeface="Calibri" pitchFamily="34" charset="-120"/>
                        </a:rPr>
                        <a:t>Glicopirrolato</a:t>
                      </a:r>
                      <a:endParaRPr lang="en-US" sz="108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4A2545"/>
                    </a:solidFill>
                  </a:tcPr>
                </a:tc>
                <a:tc>
                  <a:txBody>
                    <a:bodyPr/>
                    <a:lstStyle/>
                    <a:p>
                      <a:pPr algn="ctr" indent="0" marL="0">
                        <a:buNone/>
                      </a:pPr>
                      <a:r>
                        <a:rPr lang="en-US" sz="1080" b="1" dirty="0">
                          <a:solidFill>
                            <a:srgbClr val="FFFFFF"/>
                          </a:solidFill>
                          <a:latin typeface="Calibri" pitchFamily="34" charset="0"/>
                          <a:ea typeface="Calibri" pitchFamily="34" charset="-122"/>
                          <a:cs typeface="Calibri" pitchFamily="34" charset="-120"/>
                        </a:rPr>
                        <a:t>Escopolamina</a:t>
                      </a:r>
                      <a:endParaRPr lang="en-US" sz="108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4A2545"/>
                    </a:solidFill>
                  </a:tcPr>
                </a:tc>
              </a:tr>
              <a:tr h="566928">
                <a:tc>
                  <a:txBody>
                    <a:bodyPr/>
                    <a:lstStyle/>
                    <a:p>
                      <a:pPr algn="l" indent="0" marL="0">
                        <a:buNone/>
                      </a:pPr>
                      <a:r>
                        <a:rPr lang="en-US" sz="1030" b="1" dirty="0">
                          <a:solidFill>
                            <a:srgbClr val="3A2A35"/>
                          </a:solidFill>
                          <a:latin typeface="Calibri" pitchFamily="34" charset="0"/>
                          <a:ea typeface="Calibri" pitchFamily="34" charset="-122"/>
                          <a:cs typeface="Calibri" pitchFamily="34" charset="-120"/>
                        </a:rPr>
                        <a:t>Estructura</a:t>
                      </a:r>
                      <a:endParaRPr lang="en-US" sz="103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FFFFFF"/>
                    </a:solidFill>
                  </a:tcPr>
                </a:tc>
                <a:tc>
                  <a:txBody>
                    <a:bodyPr/>
                    <a:lstStyle/>
                    <a:p>
                      <a:pPr algn="ctr" indent="0" marL="0">
                        <a:buNone/>
                      </a:pPr>
                      <a:r>
                        <a:rPr lang="en-US" sz="1030" dirty="0">
                          <a:solidFill>
                            <a:srgbClr val="3A2A35"/>
                          </a:solidFill>
                          <a:latin typeface="Calibri" pitchFamily="34" charset="0"/>
                          <a:ea typeface="Calibri" pitchFamily="34" charset="-122"/>
                          <a:cs typeface="Calibri" pitchFamily="34" charset="-120"/>
                        </a:rPr>
                        <a:t>Amina terciaria</a:t>
                      </a:r>
                      <a:endParaRPr lang="en-US" sz="103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FFFFFF"/>
                    </a:solidFill>
                  </a:tcPr>
                </a:tc>
                <a:tc>
                  <a:txBody>
                    <a:bodyPr/>
                    <a:lstStyle/>
                    <a:p>
                      <a:pPr algn="ctr" indent="0" marL="0">
                        <a:buNone/>
                      </a:pPr>
                      <a:r>
                        <a:rPr lang="en-US" sz="1030" dirty="0">
                          <a:solidFill>
                            <a:srgbClr val="3A2A35"/>
                          </a:solidFill>
                          <a:latin typeface="Calibri" pitchFamily="34" charset="0"/>
                          <a:ea typeface="Calibri" pitchFamily="34" charset="-122"/>
                          <a:cs typeface="Calibri" pitchFamily="34" charset="-120"/>
                        </a:rPr>
                        <a:t>Amina cuaternaria</a:t>
                      </a:r>
                      <a:endParaRPr lang="en-US" sz="103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FFFFFF"/>
                    </a:solidFill>
                  </a:tcPr>
                </a:tc>
                <a:tc>
                  <a:txBody>
                    <a:bodyPr/>
                    <a:lstStyle/>
                    <a:p>
                      <a:pPr algn="ctr" indent="0" marL="0">
                        <a:buNone/>
                      </a:pPr>
                      <a:r>
                        <a:rPr lang="en-US" sz="1030" dirty="0">
                          <a:solidFill>
                            <a:srgbClr val="3A2A35"/>
                          </a:solidFill>
                          <a:latin typeface="Calibri" pitchFamily="34" charset="0"/>
                          <a:ea typeface="Calibri" pitchFamily="34" charset="-122"/>
                          <a:cs typeface="Calibri" pitchFamily="34" charset="-120"/>
                        </a:rPr>
                        <a:t>Amina terciaria</a:t>
                      </a:r>
                      <a:endParaRPr lang="en-US" sz="103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FFFFFF"/>
                    </a:solidFill>
                  </a:tcPr>
                </a:tc>
              </a:tr>
              <a:tr h="566928">
                <a:tc>
                  <a:txBody>
                    <a:bodyPr/>
                    <a:lstStyle/>
                    <a:p>
                      <a:pPr algn="l" indent="0" marL="0">
                        <a:buNone/>
                      </a:pPr>
                      <a:r>
                        <a:rPr lang="en-US" sz="1030" b="1" dirty="0">
                          <a:solidFill>
                            <a:srgbClr val="3A2A35"/>
                          </a:solidFill>
                          <a:latin typeface="Calibri" pitchFamily="34" charset="0"/>
                          <a:ea typeface="Calibri" pitchFamily="34" charset="-122"/>
                          <a:cs typeface="Calibri" pitchFamily="34" charset="-120"/>
                        </a:rPr>
                        <a:t>Cruza BHE</a:t>
                      </a:r>
                      <a:endParaRPr lang="en-US" sz="103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F4EEF2"/>
                    </a:solidFill>
                  </a:tcPr>
                </a:tc>
                <a:tc>
                  <a:txBody>
                    <a:bodyPr/>
                    <a:lstStyle/>
                    <a:p>
                      <a:pPr algn="ctr" indent="0" marL="0">
                        <a:buNone/>
                      </a:pPr>
                      <a:r>
                        <a:rPr lang="en-US" sz="1030" dirty="0">
                          <a:solidFill>
                            <a:srgbClr val="3A2A35"/>
                          </a:solidFill>
                          <a:latin typeface="Calibri" pitchFamily="34" charset="0"/>
                          <a:ea typeface="Calibri" pitchFamily="34" charset="-122"/>
                          <a:cs typeface="Calibri" pitchFamily="34" charset="-120"/>
                        </a:rPr>
                        <a:t>Sí (moderado)</a:t>
                      </a:r>
                      <a:endParaRPr lang="en-US" sz="103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F4EEF2"/>
                    </a:solidFill>
                  </a:tcPr>
                </a:tc>
                <a:tc>
                  <a:txBody>
                    <a:bodyPr/>
                    <a:lstStyle/>
                    <a:p>
                      <a:pPr algn="ctr" indent="0" marL="0">
                        <a:buNone/>
                      </a:pPr>
                      <a:r>
                        <a:rPr lang="en-US" sz="1030" dirty="0">
                          <a:solidFill>
                            <a:srgbClr val="3A2A35"/>
                          </a:solidFill>
                          <a:latin typeface="Calibri" pitchFamily="34" charset="0"/>
                          <a:ea typeface="Calibri" pitchFamily="34" charset="-122"/>
                          <a:cs typeface="Calibri" pitchFamily="34" charset="-120"/>
                        </a:rPr>
                        <a:t>No</a:t>
                      </a:r>
                      <a:endParaRPr lang="en-US" sz="103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F4EEF2"/>
                    </a:solidFill>
                  </a:tcPr>
                </a:tc>
                <a:tc>
                  <a:txBody>
                    <a:bodyPr/>
                    <a:lstStyle/>
                    <a:p>
                      <a:pPr algn="ctr" indent="0" marL="0">
                        <a:buNone/>
                      </a:pPr>
                      <a:r>
                        <a:rPr lang="en-US" sz="1030" dirty="0">
                          <a:solidFill>
                            <a:srgbClr val="3A2A35"/>
                          </a:solidFill>
                          <a:latin typeface="Calibri" pitchFamily="34" charset="0"/>
                          <a:ea typeface="Calibri" pitchFamily="34" charset="-122"/>
                          <a:cs typeface="Calibri" pitchFamily="34" charset="-120"/>
                        </a:rPr>
                        <a:t>Sí (marcado)</a:t>
                      </a:r>
                      <a:endParaRPr lang="en-US" sz="103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F4EEF2"/>
                    </a:solidFill>
                  </a:tcPr>
                </a:tc>
              </a:tr>
              <a:tr h="566928">
                <a:tc>
                  <a:txBody>
                    <a:bodyPr/>
                    <a:lstStyle/>
                    <a:p>
                      <a:pPr algn="l" indent="0" marL="0">
                        <a:buNone/>
                      </a:pPr>
                      <a:r>
                        <a:rPr lang="en-US" sz="1030" b="1" dirty="0">
                          <a:solidFill>
                            <a:srgbClr val="3A2A35"/>
                          </a:solidFill>
                          <a:latin typeface="Calibri" pitchFamily="34" charset="0"/>
                          <a:ea typeface="Calibri" pitchFamily="34" charset="-122"/>
                          <a:cs typeface="Calibri" pitchFamily="34" charset="-120"/>
                        </a:rPr>
                        <a:t>Efecto en FC</a:t>
                      </a:r>
                      <a:endParaRPr lang="en-US" sz="103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FFFFFF"/>
                    </a:solidFill>
                  </a:tcPr>
                </a:tc>
                <a:tc>
                  <a:txBody>
                    <a:bodyPr/>
                    <a:lstStyle/>
                    <a:p>
                      <a:pPr algn="ctr" indent="0" marL="0">
                        <a:buNone/>
                      </a:pPr>
                      <a:r>
                        <a:rPr lang="en-US" sz="1030" dirty="0">
                          <a:solidFill>
                            <a:srgbClr val="3A2A35"/>
                          </a:solidFill>
                          <a:latin typeface="Calibri" pitchFamily="34" charset="0"/>
                          <a:ea typeface="Calibri" pitchFamily="34" charset="-122"/>
                          <a:cs typeface="Calibri" pitchFamily="34" charset="-120"/>
                        </a:rPr>
                        <a:t>Taquicardia marcada</a:t>
                      </a:r>
                      <a:endParaRPr lang="en-US" sz="103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FFFFFF"/>
                    </a:solidFill>
                  </a:tcPr>
                </a:tc>
                <a:tc>
                  <a:txBody>
                    <a:bodyPr/>
                    <a:lstStyle/>
                    <a:p>
                      <a:pPr algn="ctr" indent="0" marL="0">
                        <a:buNone/>
                      </a:pPr>
                      <a:r>
                        <a:rPr lang="en-US" sz="1030" dirty="0">
                          <a:solidFill>
                            <a:srgbClr val="3A2A35"/>
                          </a:solidFill>
                          <a:latin typeface="Calibri" pitchFamily="34" charset="0"/>
                          <a:ea typeface="Calibri" pitchFamily="34" charset="-122"/>
                          <a:cs typeface="Calibri" pitchFamily="34" charset="-120"/>
                        </a:rPr>
                        <a:t>Taquicardia moderada</a:t>
                      </a:r>
                      <a:endParaRPr lang="en-US" sz="103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FFFFFF"/>
                    </a:solidFill>
                  </a:tcPr>
                </a:tc>
                <a:tc>
                  <a:txBody>
                    <a:bodyPr/>
                    <a:lstStyle/>
                    <a:p>
                      <a:pPr algn="ctr" indent="0" marL="0">
                        <a:buNone/>
                      </a:pPr>
                      <a:r>
                        <a:rPr lang="en-US" sz="1030" dirty="0">
                          <a:solidFill>
                            <a:srgbClr val="3A2A35"/>
                          </a:solidFill>
                          <a:latin typeface="Calibri" pitchFamily="34" charset="0"/>
                          <a:ea typeface="Calibri" pitchFamily="34" charset="-122"/>
                          <a:cs typeface="Calibri" pitchFamily="34" charset="-120"/>
                        </a:rPr>
                        <a:t>Bradicardia leve inicial, luego taquicardia</a:t>
                      </a:r>
                      <a:endParaRPr lang="en-US" sz="103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FFFFFF"/>
                    </a:solidFill>
                  </a:tcPr>
                </a:tc>
              </a:tr>
              <a:tr h="566928">
                <a:tc>
                  <a:txBody>
                    <a:bodyPr/>
                    <a:lstStyle/>
                    <a:p>
                      <a:pPr algn="l" indent="0" marL="0">
                        <a:buNone/>
                      </a:pPr>
                      <a:r>
                        <a:rPr lang="en-US" sz="1030" b="1" dirty="0">
                          <a:solidFill>
                            <a:srgbClr val="3A2A35"/>
                          </a:solidFill>
                          <a:latin typeface="Calibri" pitchFamily="34" charset="0"/>
                          <a:ea typeface="Calibri" pitchFamily="34" charset="-122"/>
                          <a:cs typeface="Calibri" pitchFamily="34" charset="-120"/>
                        </a:rPr>
                        <a:t>Efecto antisialogogo</a:t>
                      </a:r>
                      <a:endParaRPr lang="en-US" sz="103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F4EEF2"/>
                    </a:solidFill>
                  </a:tcPr>
                </a:tc>
                <a:tc>
                  <a:txBody>
                    <a:bodyPr/>
                    <a:lstStyle/>
                    <a:p>
                      <a:pPr algn="ctr" indent="0" marL="0">
                        <a:buNone/>
                      </a:pPr>
                      <a:r>
                        <a:rPr lang="en-US" sz="1030" dirty="0">
                          <a:solidFill>
                            <a:srgbClr val="3A2A35"/>
                          </a:solidFill>
                          <a:latin typeface="Calibri" pitchFamily="34" charset="0"/>
                          <a:ea typeface="Calibri" pitchFamily="34" charset="-122"/>
                          <a:cs typeface="Calibri" pitchFamily="34" charset="-120"/>
                        </a:rPr>
                        <a:t>Moderado</a:t>
                      </a:r>
                      <a:endParaRPr lang="en-US" sz="103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F4EEF2"/>
                    </a:solidFill>
                  </a:tcPr>
                </a:tc>
                <a:tc>
                  <a:txBody>
                    <a:bodyPr/>
                    <a:lstStyle/>
                    <a:p>
                      <a:pPr algn="ctr" indent="0" marL="0">
                        <a:buNone/>
                      </a:pPr>
                      <a:r>
                        <a:rPr lang="en-US" sz="1030" dirty="0">
                          <a:solidFill>
                            <a:srgbClr val="3A2A35"/>
                          </a:solidFill>
                          <a:latin typeface="Calibri" pitchFamily="34" charset="0"/>
                          <a:ea typeface="Calibri" pitchFamily="34" charset="-122"/>
                          <a:cs typeface="Calibri" pitchFamily="34" charset="-120"/>
                        </a:rPr>
                        <a:t>Potente y prolongado</a:t>
                      </a:r>
                      <a:endParaRPr lang="en-US" sz="103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F4EEF2"/>
                    </a:solidFill>
                  </a:tcPr>
                </a:tc>
                <a:tc>
                  <a:txBody>
                    <a:bodyPr/>
                    <a:lstStyle/>
                    <a:p>
                      <a:pPr algn="ctr" indent="0" marL="0">
                        <a:buNone/>
                      </a:pPr>
                      <a:r>
                        <a:rPr lang="en-US" sz="1030" dirty="0">
                          <a:solidFill>
                            <a:srgbClr val="3A2A35"/>
                          </a:solidFill>
                          <a:latin typeface="Calibri" pitchFamily="34" charset="0"/>
                          <a:ea typeface="Calibri" pitchFamily="34" charset="-122"/>
                          <a:cs typeface="Calibri" pitchFamily="34" charset="-120"/>
                        </a:rPr>
                        <a:t>Muy potente</a:t>
                      </a:r>
                      <a:endParaRPr lang="en-US" sz="103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F4EEF2"/>
                    </a:solidFill>
                  </a:tcPr>
                </a:tc>
              </a:tr>
              <a:tr h="566928">
                <a:tc>
                  <a:txBody>
                    <a:bodyPr/>
                    <a:lstStyle/>
                    <a:p>
                      <a:pPr algn="l" indent="0" marL="0">
                        <a:buNone/>
                      </a:pPr>
                      <a:r>
                        <a:rPr lang="en-US" sz="1030" b="1" dirty="0">
                          <a:solidFill>
                            <a:srgbClr val="3A2A35"/>
                          </a:solidFill>
                          <a:latin typeface="Calibri" pitchFamily="34" charset="0"/>
                          <a:ea typeface="Calibri" pitchFamily="34" charset="-122"/>
                          <a:cs typeface="Calibri" pitchFamily="34" charset="-120"/>
                        </a:rPr>
                        <a:t>Efecto sedante/amnésico</a:t>
                      </a:r>
                      <a:endParaRPr lang="en-US" sz="103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FFFFFF"/>
                    </a:solidFill>
                  </a:tcPr>
                </a:tc>
                <a:tc>
                  <a:txBody>
                    <a:bodyPr/>
                    <a:lstStyle/>
                    <a:p>
                      <a:pPr algn="ctr" indent="0" marL="0">
                        <a:buNone/>
                      </a:pPr>
                      <a:r>
                        <a:rPr lang="en-US" sz="1030" dirty="0">
                          <a:solidFill>
                            <a:srgbClr val="3A2A35"/>
                          </a:solidFill>
                          <a:latin typeface="Calibri" pitchFamily="34" charset="0"/>
                          <a:ea typeface="Calibri" pitchFamily="34" charset="-122"/>
                          <a:cs typeface="Calibri" pitchFamily="34" charset="-120"/>
                        </a:rPr>
                        <a:t>Mínimo</a:t>
                      </a:r>
                      <a:endParaRPr lang="en-US" sz="103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FFFFFF"/>
                    </a:solidFill>
                  </a:tcPr>
                </a:tc>
                <a:tc>
                  <a:txBody>
                    <a:bodyPr/>
                    <a:lstStyle/>
                    <a:p>
                      <a:pPr algn="ctr" indent="0" marL="0">
                        <a:buNone/>
                      </a:pPr>
                      <a:r>
                        <a:rPr lang="en-US" sz="1030" dirty="0">
                          <a:solidFill>
                            <a:srgbClr val="3A2A35"/>
                          </a:solidFill>
                          <a:latin typeface="Calibri" pitchFamily="34" charset="0"/>
                          <a:ea typeface="Calibri" pitchFamily="34" charset="-122"/>
                          <a:cs typeface="Calibri" pitchFamily="34" charset="-120"/>
                        </a:rPr>
                        <a:t>Ausente</a:t>
                      </a:r>
                      <a:endParaRPr lang="en-US" sz="103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FFFFFF"/>
                    </a:solidFill>
                  </a:tcPr>
                </a:tc>
                <a:tc>
                  <a:txBody>
                    <a:bodyPr/>
                    <a:lstStyle/>
                    <a:p>
                      <a:pPr algn="ctr" indent="0" marL="0">
                        <a:buNone/>
                      </a:pPr>
                      <a:r>
                        <a:rPr lang="en-US" sz="1030" dirty="0">
                          <a:solidFill>
                            <a:srgbClr val="3A2A35"/>
                          </a:solidFill>
                          <a:latin typeface="Calibri" pitchFamily="34" charset="0"/>
                          <a:ea typeface="Calibri" pitchFamily="34" charset="-122"/>
                          <a:cs typeface="Calibri" pitchFamily="34" charset="-120"/>
                        </a:rPr>
                        <a:t>Marcado (sedación, amnesia)</a:t>
                      </a:r>
                      <a:endParaRPr lang="en-US" sz="103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FFFFFF"/>
                    </a:solidFill>
                  </a:tcPr>
                </a:tc>
              </a:tr>
              <a:tr h="566928">
                <a:tc>
                  <a:txBody>
                    <a:bodyPr/>
                    <a:lstStyle/>
                    <a:p>
                      <a:pPr algn="l" indent="0" marL="0">
                        <a:buNone/>
                      </a:pPr>
                      <a:r>
                        <a:rPr lang="en-US" sz="1030" b="1" dirty="0">
                          <a:solidFill>
                            <a:srgbClr val="3A2A35"/>
                          </a:solidFill>
                          <a:latin typeface="Calibri" pitchFamily="34" charset="0"/>
                          <a:ea typeface="Calibri" pitchFamily="34" charset="-122"/>
                          <a:cs typeface="Calibri" pitchFamily="34" charset="-120"/>
                        </a:rPr>
                        <a:t>Dosis IV típica</a:t>
                      </a:r>
                      <a:endParaRPr lang="en-US" sz="103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F4EEF2"/>
                    </a:solidFill>
                  </a:tcPr>
                </a:tc>
                <a:tc>
                  <a:txBody>
                    <a:bodyPr/>
                    <a:lstStyle/>
                    <a:p>
                      <a:pPr algn="ctr" indent="0" marL="0">
                        <a:buNone/>
                      </a:pPr>
                      <a:r>
                        <a:rPr lang="en-US" sz="1030" dirty="0">
                          <a:solidFill>
                            <a:srgbClr val="3A2A35"/>
                          </a:solidFill>
                          <a:latin typeface="Calibri" pitchFamily="34" charset="0"/>
                          <a:ea typeface="Calibri" pitchFamily="34" charset="-122"/>
                          <a:cs typeface="Calibri" pitchFamily="34" charset="-120"/>
                        </a:rPr>
                        <a:t>0.4-0.6 mg</a:t>
                      </a:r>
                      <a:endParaRPr lang="en-US" sz="103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F4EEF2"/>
                    </a:solidFill>
                  </a:tcPr>
                </a:tc>
                <a:tc>
                  <a:txBody>
                    <a:bodyPr/>
                    <a:lstStyle/>
                    <a:p>
                      <a:pPr algn="ctr" indent="0" marL="0">
                        <a:buNone/>
                      </a:pPr>
                      <a:r>
                        <a:rPr lang="en-US" sz="1030" dirty="0">
                          <a:solidFill>
                            <a:srgbClr val="3A2A35"/>
                          </a:solidFill>
                          <a:latin typeface="Calibri" pitchFamily="34" charset="0"/>
                          <a:ea typeface="Calibri" pitchFamily="34" charset="-122"/>
                          <a:cs typeface="Calibri" pitchFamily="34" charset="-120"/>
                        </a:rPr>
                        <a:t>0.2-0.4 mg</a:t>
                      </a:r>
                      <a:endParaRPr lang="en-US" sz="103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F4EEF2"/>
                    </a:solidFill>
                  </a:tcPr>
                </a:tc>
                <a:tc>
                  <a:txBody>
                    <a:bodyPr/>
                    <a:lstStyle/>
                    <a:p>
                      <a:pPr algn="ctr" indent="0" marL="0">
                        <a:buNone/>
                      </a:pPr>
                      <a:r>
                        <a:rPr lang="en-US" sz="1030" dirty="0">
                          <a:solidFill>
                            <a:srgbClr val="3A2A35"/>
                          </a:solidFill>
                          <a:latin typeface="Calibri" pitchFamily="34" charset="0"/>
                          <a:ea typeface="Calibri" pitchFamily="34" charset="-122"/>
                          <a:cs typeface="Calibri" pitchFamily="34" charset="-120"/>
                        </a:rPr>
                        <a:t>0.3-0.6 mg</a:t>
                      </a:r>
                      <a:endParaRPr lang="en-US" sz="103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F4EEF2"/>
                    </a:solidFill>
                  </a:tcPr>
                </a:tc>
              </a:tr>
            </a:tbl>
          </a:graphicData>
        </a:graphic>
      </p:graphicFrame>
      <p:sp>
        <p:nvSpPr>
          <p:cNvPr id="7" name="Text 3"/>
          <p:cNvSpPr txBox="1"/>
          <p:nvPr/>
        </p:nvSpPr>
        <p:spPr>
          <a:xfrm>
            <a:off x="457200" y="6473952"/>
            <a:ext cx="6400800" cy="292608"/>
          </a:xfrm>
          <a:prstGeom prst="rect">
            <a:avLst/>
          </a:prstGeom>
          <a:noFill/>
          <a:ln/>
        </p:spPr>
        <p:txBody>
          <a:bodyPr wrap="square" lIns="0" tIns="0" rIns="0" bIns="0" rtlCol="0" anchor="ctr"/>
          <a:lstStyle/>
          <a:p>
            <a:pPr indent="0" marL="0">
              <a:buNone/>
            </a:pPr>
            <a:r>
              <a:rPr lang="en-US" sz="900" i="1" dirty="0">
                <a:solidFill>
                  <a:srgbClr val="77606F"/>
                </a:solidFill>
                <a:latin typeface="Calibri" pitchFamily="34" charset="0"/>
                <a:ea typeface="Calibri" pitchFamily="34" charset="-122"/>
                <a:cs typeface="Calibri" pitchFamily="34" charset="-120"/>
              </a:rPr>
              <a:t>Capítulo IV — Premedicación</a:t>
            </a:r>
            <a:endParaRPr lang="en-US" sz="900" dirty="0"/>
          </a:p>
        </p:txBody>
      </p:sp>
      <p:sp>
        <p:nvSpPr>
          <p:cNvPr id="8" name="Text 4"/>
          <p:cNvSpPr txBox="1"/>
          <p:nvPr/>
        </p:nvSpPr>
        <p:spPr>
          <a:xfrm>
            <a:off x="10362895" y="6473952"/>
            <a:ext cx="1371600" cy="292608"/>
          </a:xfrm>
          <a:prstGeom prst="rect">
            <a:avLst/>
          </a:prstGeom>
          <a:noFill/>
          <a:ln/>
        </p:spPr>
        <p:txBody>
          <a:bodyPr wrap="square" lIns="0" tIns="0" rIns="0" bIns="0" rtlCol="0" anchor="ctr"/>
          <a:lstStyle/>
          <a:p>
            <a:pPr algn="r" indent="0" marL="0">
              <a:buNone/>
            </a:pPr>
            <a:r>
              <a:rPr lang="en-US" sz="900" dirty="0">
                <a:solidFill>
                  <a:srgbClr val="77606F"/>
                </a:solidFill>
                <a:latin typeface="Calibri" pitchFamily="34" charset="0"/>
                <a:ea typeface="Calibri" pitchFamily="34" charset="-122"/>
                <a:cs typeface="Calibri" pitchFamily="34" charset="-120"/>
              </a:rPr>
              <a:t>21 / 33</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658368" cy="658368"/>
          </a:xfrm>
          <a:prstGeom prst="ellipse">
            <a:avLst/>
          </a:prstGeom>
          <a:solidFill>
            <a:srgbClr val="4A2545"/>
          </a:solidFill>
          <a:ln/>
        </p:spPr>
      </p:sp>
      <p:pic>
        <p:nvPicPr>
          <p:cNvPr id="3" name="Image 0" descr="preencoded.png">    </p:cNvPr>
          <p:cNvPicPr>
            <a:picLocks noChangeAspect="1"/>
          </p:cNvPicPr>
          <p:nvPr/>
        </p:nvPicPr>
        <p:blipFill>
          <a:blip r:embed="rId1"/>
          <a:stretch>
            <a:fillRect/>
          </a:stretch>
        </p:blipFill>
        <p:spPr>
          <a:xfrm>
            <a:off x="602041" y="556321"/>
            <a:ext cx="368686" cy="368686"/>
          </a:xfrm>
          <a:prstGeom prst="rect">
            <a:avLst/>
          </a:prstGeom>
        </p:spPr>
      </p:pic>
      <p:sp>
        <p:nvSpPr>
          <p:cNvPr id="4" name="Text 1"/>
          <p:cNvSpPr txBox="1"/>
          <p:nvPr/>
        </p:nvSpPr>
        <p:spPr>
          <a:xfrm>
            <a:off x="1298448" y="384048"/>
            <a:ext cx="9601200" cy="256032"/>
          </a:xfrm>
          <a:prstGeom prst="rect">
            <a:avLst/>
          </a:prstGeom>
          <a:noFill/>
          <a:ln/>
        </p:spPr>
        <p:txBody>
          <a:bodyPr wrap="square" lIns="0" tIns="0" rIns="0" bIns="0" rtlCol="0" anchor="ctr"/>
          <a:lstStyle/>
          <a:p>
            <a:pPr indent="0" marL="0">
              <a:buNone/>
            </a:pPr>
            <a:r>
              <a:rPr lang="en-US" sz="1150" b="1" spc="150" kern="0" dirty="0">
                <a:solidFill>
                  <a:srgbClr val="E0A458"/>
                </a:solidFill>
                <a:latin typeface="Calibri" pitchFamily="34" charset="0"/>
                <a:ea typeface="Calibri" pitchFamily="34" charset="-122"/>
                <a:cs typeface="Calibri" pitchFamily="34" charset="-120"/>
              </a:rPr>
              <a:t>USO CLÍNICO</a:t>
            </a:r>
            <a:endParaRPr lang="en-US" sz="1150" dirty="0"/>
          </a:p>
        </p:txBody>
      </p:sp>
      <p:sp>
        <p:nvSpPr>
          <p:cNvPr id="5" name="Text 2"/>
          <p:cNvSpPr txBox="1"/>
          <p:nvPr/>
        </p:nvSpPr>
        <p:spPr>
          <a:xfrm>
            <a:off x="1298448" y="621792"/>
            <a:ext cx="10058400" cy="502920"/>
          </a:xfrm>
          <a:prstGeom prst="rect">
            <a:avLst/>
          </a:prstGeom>
          <a:noFill/>
          <a:ln/>
        </p:spPr>
        <p:txBody>
          <a:bodyPr wrap="square" lIns="0" tIns="0" rIns="0" bIns="0" rtlCol="0" anchor="ctr"/>
          <a:lstStyle/>
          <a:p>
            <a:pPr indent="0" marL="0">
              <a:buNone/>
            </a:pPr>
            <a:r>
              <a:rPr lang="en-US" sz="2500" b="1" dirty="0">
                <a:solidFill>
                  <a:srgbClr val="4A2545"/>
                </a:solidFill>
                <a:latin typeface="Cambria" pitchFamily="34" charset="0"/>
                <a:ea typeface="Cambria" pitchFamily="34" charset="-122"/>
                <a:cs typeface="Cambria" pitchFamily="34" charset="-120"/>
              </a:rPr>
              <a:t>Indicaciones de los anticolinérgicos</a:t>
            </a:r>
            <a:endParaRPr lang="en-US" sz="2500" dirty="0"/>
          </a:p>
        </p:txBody>
      </p:sp>
      <p:sp>
        <p:nvSpPr>
          <p:cNvPr id="6" name="Shape 3"/>
          <p:cNvSpPr/>
          <p:nvPr/>
        </p:nvSpPr>
        <p:spPr>
          <a:xfrm>
            <a:off x="457200" y="1536192"/>
            <a:ext cx="512064" cy="512064"/>
          </a:xfrm>
          <a:prstGeom prst="ellipse">
            <a:avLst/>
          </a:prstGeom>
          <a:solidFill>
            <a:srgbClr val="4A2545"/>
          </a:solidFill>
          <a:ln/>
        </p:spPr>
      </p:sp>
      <p:pic>
        <p:nvPicPr>
          <p:cNvPr id="7" name="Image 1" descr="preencoded.png">    </p:cNvPr>
          <p:cNvPicPr>
            <a:picLocks noChangeAspect="1"/>
          </p:cNvPicPr>
          <p:nvPr/>
        </p:nvPicPr>
        <p:blipFill>
          <a:blip r:embed="rId2"/>
          <a:stretch>
            <a:fillRect/>
          </a:stretch>
        </p:blipFill>
        <p:spPr>
          <a:xfrm>
            <a:off x="564733" y="1643725"/>
            <a:ext cx="296997" cy="296997"/>
          </a:xfrm>
          <a:prstGeom prst="rect">
            <a:avLst/>
          </a:prstGeom>
        </p:spPr>
      </p:pic>
      <p:sp>
        <p:nvSpPr>
          <p:cNvPr id="8" name="Text 4"/>
          <p:cNvSpPr txBox="1"/>
          <p:nvPr/>
        </p:nvSpPr>
        <p:spPr>
          <a:xfrm>
            <a:off x="1170432" y="1481328"/>
            <a:ext cx="10353751" cy="310896"/>
          </a:xfrm>
          <a:prstGeom prst="rect">
            <a:avLst/>
          </a:prstGeom>
          <a:noFill/>
          <a:ln/>
        </p:spPr>
        <p:txBody>
          <a:bodyPr wrap="square" lIns="0" tIns="0" rIns="0" bIns="0" rtlCol="0" anchor="ctr"/>
          <a:lstStyle/>
          <a:p>
            <a:pPr indent="0" marL="0">
              <a:buNone/>
            </a:pPr>
            <a:r>
              <a:rPr lang="en-US" sz="1450" b="1" dirty="0">
                <a:solidFill>
                  <a:srgbClr val="4A2545"/>
                </a:solidFill>
                <a:latin typeface="Cambria" pitchFamily="34" charset="0"/>
                <a:ea typeface="Cambria" pitchFamily="34" charset="-122"/>
                <a:cs typeface="Cambria" pitchFamily="34" charset="-120"/>
              </a:rPr>
              <a:t>Reducción de secreciones</a:t>
            </a:r>
            <a:endParaRPr lang="en-US" sz="1450" dirty="0"/>
          </a:p>
        </p:txBody>
      </p:sp>
      <p:sp>
        <p:nvSpPr>
          <p:cNvPr id="9" name="Text 5"/>
          <p:cNvSpPr txBox="1"/>
          <p:nvPr/>
        </p:nvSpPr>
        <p:spPr>
          <a:xfrm>
            <a:off x="1170432" y="1773936"/>
            <a:ext cx="10353751" cy="749808"/>
          </a:xfrm>
          <a:prstGeom prst="rect">
            <a:avLst/>
          </a:prstGeom>
          <a:noFill/>
          <a:ln/>
        </p:spPr>
        <p:txBody>
          <a:bodyPr wrap="square" lIns="0" tIns="0" rIns="0" bIns="0" rtlCol="0" anchor="t"/>
          <a:lstStyle/>
          <a:p>
            <a:pPr indent="0" marL="0">
              <a:lnSpc>
                <a:spcPct val="105000"/>
              </a:lnSpc>
              <a:buNone/>
            </a:pPr>
            <a:r>
              <a:rPr lang="en-US" sz="1150" dirty="0">
                <a:solidFill>
                  <a:srgbClr val="3A2A35"/>
                </a:solidFill>
                <a:latin typeface="Calibri" pitchFamily="34" charset="0"/>
                <a:ea typeface="Calibri" pitchFamily="34" charset="-122"/>
                <a:cs typeface="Calibri" pitchFamily="34" charset="-120"/>
              </a:rPr>
              <a:t>Facilita la visualización durante la laringoscopia y la intubación con fibra óptica; útil en cirugía de vía aérea y broncoscopia.</a:t>
            </a:r>
            <a:endParaRPr lang="en-US" sz="1150" dirty="0"/>
          </a:p>
        </p:txBody>
      </p:sp>
      <p:sp>
        <p:nvSpPr>
          <p:cNvPr id="10" name="Shape 6"/>
          <p:cNvSpPr/>
          <p:nvPr/>
        </p:nvSpPr>
        <p:spPr>
          <a:xfrm>
            <a:off x="457200" y="2615184"/>
            <a:ext cx="512064" cy="512064"/>
          </a:xfrm>
          <a:prstGeom prst="ellipse">
            <a:avLst/>
          </a:prstGeom>
          <a:solidFill>
            <a:srgbClr val="8E6C88"/>
          </a:solidFill>
          <a:ln/>
        </p:spPr>
      </p:sp>
      <p:pic>
        <p:nvPicPr>
          <p:cNvPr id="11" name="Image 2" descr="preencoded.png">    </p:cNvPr>
          <p:cNvPicPr>
            <a:picLocks noChangeAspect="1"/>
          </p:cNvPicPr>
          <p:nvPr/>
        </p:nvPicPr>
        <p:blipFill>
          <a:blip r:embed="rId3"/>
          <a:stretch>
            <a:fillRect/>
          </a:stretch>
        </p:blipFill>
        <p:spPr>
          <a:xfrm>
            <a:off x="564733" y="2722717"/>
            <a:ext cx="296997" cy="296997"/>
          </a:xfrm>
          <a:prstGeom prst="rect">
            <a:avLst/>
          </a:prstGeom>
        </p:spPr>
      </p:pic>
      <p:sp>
        <p:nvSpPr>
          <p:cNvPr id="12" name="Text 7"/>
          <p:cNvSpPr txBox="1"/>
          <p:nvPr/>
        </p:nvSpPr>
        <p:spPr>
          <a:xfrm>
            <a:off x="1170432" y="2560320"/>
            <a:ext cx="10353751" cy="310896"/>
          </a:xfrm>
          <a:prstGeom prst="rect">
            <a:avLst/>
          </a:prstGeom>
          <a:noFill/>
          <a:ln/>
        </p:spPr>
        <p:txBody>
          <a:bodyPr wrap="square" lIns="0" tIns="0" rIns="0" bIns="0" rtlCol="0" anchor="ctr"/>
          <a:lstStyle/>
          <a:p>
            <a:pPr indent="0" marL="0">
              <a:buNone/>
            </a:pPr>
            <a:r>
              <a:rPr lang="en-US" sz="1450" b="1" dirty="0">
                <a:solidFill>
                  <a:srgbClr val="4A2545"/>
                </a:solidFill>
                <a:latin typeface="Cambria" pitchFamily="34" charset="0"/>
                <a:ea typeface="Cambria" pitchFamily="34" charset="-122"/>
                <a:cs typeface="Cambria" pitchFamily="34" charset="-120"/>
              </a:rPr>
              <a:t>Prevención de bradicardia vagal</a:t>
            </a:r>
            <a:endParaRPr lang="en-US" sz="1450" dirty="0"/>
          </a:p>
        </p:txBody>
      </p:sp>
      <p:sp>
        <p:nvSpPr>
          <p:cNvPr id="13" name="Text 8"/>
          <p:cNvSpPr txBox="1"/>
          <p:nvPr/>
        </p:nvSpPr>
        <p:spPr>
          <a:xfrm>
            <a:off x="1170432" y="2852928"/>
            <a:ext cx="10353751" cy="749808"/>
          </a:xfrm>
          <a:prstGeom prst="rect">
            <a:avLst/>
          </a:prstGeom>
          <a:noFill/>
          <a:ln/>
        </p:spPr>
        <p:txBody>
          <a:bodyPr wrap="square" lIns="0" tIns="0" rIns="0" bIns="0" rtlCol="0" anchor="t"/>
          <a:lstStyle/>
          <a:p>
            <a:pPr indent="0" marL="0">
              <a:lnSpc>
                <a:spcPct val="105000"/>
              </a:lnSpc>
              <a:buNone/>
            </a:pPr>
            <a:r>
              <a:rPr lang="en-US" sz="1150" dirty="0">
                <a:solidFill>
                  <a:srgbClr val="3A2A35"/>
                </a:solidFill>
                <a:latin typeface="Calibri" pitchFamily="34" charset="0"/>
                <a:ea typeface="Calibri" pitchFamily="34" charset="-122"/>
                <a:cs typeface="Calibri" pitchFamily="34" charset="-120"/>
              </a:rPr>
              <a:t>Anticipación a maniobras con alto tono vagal: laringoscopia, tracción del peritoneo/músculos extraoculares, reflejo oculocardiaco.</a:t>
            </a:r>
            <a:endParaRPr lang="en-US" sz="1150" dirty="0"/>
          </a:p>
        </p:txBody>
      </p:sp>
      <p:sp>
        <p:nvSpPr>
          <p:cNvPr id="14" name="Shape 9"/>
          <p:cNvSpPr/>
          <p:nvPr/>
        </p:nvSpPr>
        <p:spPr>
          <a:xfrm>
            <a:off x="457200" y="3694176"/>
            <a:ext cx="512064" cy="512064"/>
          </a:xfrm>
          <a:prstGeom prst="ellipse">
            <a:avLst/>
          </a:prstGeom>
          <a:solidFill>
            <a:srgbClr val="4A2545"/>
          </a:solidFill>
          <a:ln/>
        </p:spPr>
      </p:sp>
      <p:pic>
        <p:nvPicPr>
          <p:cNvPr id="15" name="Image 3" descr="preencoded.png">    </p:cNvPr>
          <p:cNvPicPr>
            <a:picLocks noChangeAspect="1"/>
          </p:cNvPicPr>
          <p:nvPr/>
        </p:nvPicPr>
        <p:blipFill>
          <a:blip r:embed="rId4"/>
          <a:stretch>
            <a:fillRect/>
          </a:stretch>
        </p:blipFill>
        <p:spPr>
          <a:xfrm>
            <a:off x="564733" y="3801709"/>
            <a:ext cx="296997" cy="296997"/>
          </a:xfrm>
          <a:prstGeom prst="rect">
            <a:avLst/>
          </a:prstGeom>
        </p:spPr>
      </p:pic>
      <p:sp>
        <p:nvSpPr>
          <p:cNvPr id="16" name="Text 10"/>
          <p:cNvSpPr txBox="1"/>
          <p:nvPr/>
        </p:nvSpPr>
        <p:spPr>
          <a:xfrm>
            <a:off x="1170432" y="3639312"/>
            <a:ext cx="10353751" cy="310896"/>
          </a:xfrm>
          <a:prstGeom prst="rect">
            <a:avLst/>
          </a:prstGeom>
          <a:noFill/>
          <a:ln/>
        </p:spPr>
        <p:txBody>
          <a:bodyPr wrap="square" lIns="0" tIns="0" rIns="0" bIns="0" rtlCol="0" anchor="ctr"/>
          <a:lstStyle/>
          <a:p>
            <a:pPr indent="0" marL="0">
              <a:buNone/>
            </a:pPr>
            <a:r>
              <a:rPr lang="en-US" sz="1450" b="1" dirty="0">
                <a:solidFill>
                  <a:srgbClr val="4A2545"/>
                </a:solidFill>
                <a:latin typeface="Cambria" pitchFamily="34" charset="0"/>
                <a:ea typeface="Cambria" pitchFamily="34" charset="-122"/>
                <a:cs typeface="Cambria" pitchFamily="34" charset="-120"/>
              </a:rPr>
              <a:t>Broncodilatación coadyuvante</a:t>
            </a:r>
            <a:endParaRPr lang="en-US" sz="1450" dirty="0"/>
          </a:p>
        </p:txBody>
      </p:sp>
      <p:sp>
        <p:nvSpPr>
          <p:cNvPr id="17" name="Text 11"/>
          <p:cNvSpPr txBox="1"/>
          <p:nvPr/>
        </p:nvSpPr>
        <p:spPr>
          <a:xfrm>
            <a:off x="1170432" y="3931920"/>
            <a:ext cx="10353751" cy="749808"/>
          </a:xfrm>
          <a:prstGeom prst="rect">
            <a:avLst/>
          </a:prstGeom>
          <a:noFill/>
          <a:ln/>
        </p:spPr>
        <p:txBody>
          <a:bodyPr wrap="square" lIns="0" tIns="0" rIns="0" bIns="0" rtlCol="0" anchor="t"/>
          <a:lstStyle/>
          <a:p>
            <a:pPr indent="0" marL="0">
              <a:lnSpc>
                <a:spcPct val="105000"/>
              </a:lnSpc>
              <a:buNone/>
            </a:pPr>
            <a:r>
              <a:rPr lang="en-US" sz="1150" dirty="0">
                <a:solidFill>
                  <a:srgbClr val="3A2A35"/>
                </a:solidFill>
                <a:latin typeface="Calibri" pitchFamily="34" charset="0"/>
                <a:ea typeface="Calibri" pitchFamily="34" charset="-122"/>
                <a:cs typeface="Calibri" pitchFamily="34" charset="-120"/>
              </a:rPr>
              <a:t>Relajación del músculo liso bronquial, de utilidad en pacientes con hiperreactividad de la vía aérea.</a:t>
            </a:r>
            <a:endParaRPr lang="en-US" sz="1150" dirty="0"/>
          </a:p>
        </p:txBody>
      </p:sp>
      <p:sp>
        <p:nvSpPr>
          <p:cNvPr id="18" name="Shape 12"/>
          <p:cNvSpPr/>
          <p:nvPr/>
        </p:nvSpPr>
        <p:spPr>
          <a:xfrm>
            <a:off x="457200" y="4773168"/>
            <a:ext cx="512064" cy="512064"/>
          </a:xfrm>
          <a:prstGeom prst="ellipse">
            <a:avLst/>
          </a:prstGeom>
          <a:solidFill>
            <a:srgbClr val="8E6C88"/>
          </a:solidFill>
          <a:ln/>
        </p:spPr>
      </p:sp>
      <p:pic>
        <p:nvPicPr>
          <p:cNvPr id="19" name="Image 4" descr="preencoded.png">    </p:cNvPr>
          <p:cNvPicPr>
            <a:picLocks noChangeAspect="1"/>
          </p:cNvPicPr>
          <p:nvPr/>
        </p:nvPicPr>
        <p:blipFill>
          <a:blip r:embed="rId5"/>
          <a:stretch>
            <a:fillRect/>
          </a:stretch>
        </p:blipFill>
        <p:spPr>
          <a:xfrm>
            <a:off x="564733" y="4880701"/>
            <a:ext cx="296997" cy="296997"/>
          </a:xfrm>
          <a:prstGeom prst="rect">
            <a:avLst/>
          </a:prstGeom>
        </p:spPr>
      </p:pic>
      <p:sp>
        <p:nvSpPr>
          <p:cNvPr id="20" name="Text 13"/>
          <p:cNvSpPr txBox="1"/>
          <p:nvPr/>
        </p:nvSpPr>
        <p:spPr>
          <a:xfrm>
            <a:off x="1170432" y="4718304"/>
            <a:ext cx="10353751" cy="310896"/>
          </a:xfrm>
          <a:prstGeom prst="rect">
            <a:avLst/>
          </a:prstGeom>
          <a:noFill/>
          <a:ln/>
        </p:spPr>
        <p:txBody>
          <a:bodyPr wrap="square" lIns="0" tIns="0" rIns="0" bIns="0" rtlCol="0" anchor="ctr"/>
          <a:lstStyle/>
          <a:p>
            <a:pPr indent="0" marL="0">
              <a:buNone/>
            </a:pPr>
            <a:r>
              <a:rPr lang="en-US" sz="1450" b="1" dirty="0">
                <a:solidFill>
                  <a:srgbClr val="4A2545"/>
                </a:solidFill>
                <a:latin typeface="Cambria" pitchFamily="34" charset="0"/>
                <a:ea typeface="Cambria" pitchFamily="34" charset="-122"/>
                <a:cs typeface="Cambria" pitchFamily="34" charset="-120"/>
              </a:rPr>
              <a:t>Coadministración con anticolinesterásicos</a:t>
            </a:r>
            <a:endParaRPr lang="en-US" sz="1450" dirty="0"/>
          </a:p>
        </p:txBody>
      </p:sp>
      <p:sp>
        <p:nvSpPr>
          <p:cNvPr id="21" name="Text 14"/>
          <p:cNvSpPr txBox="1"/>
          <p:nvPr/>
        </p:nvSpPr>
        <p:spPr>
          <a:xfrm>
            <a:off x="1170432" y="5010912"/>
            <a:ext cx="10353751" cy="749808"/>
          </a:xfrm>
          <a:prstGeom prst="rect">
            <a:avLst/>
          </a:prstGeom>
          <a:noFill/>
          <a:ln/>
        </p:spPr>
        <p:txBody>
          <a:bodyPr wrap="square" lIns="0" tIns="0" rIns="0" bIns="0" rtlCol="0" anchor="t"/>
          <a:lstStyle/>
          <a:p>
            <a:pPr indent="0" marL="0">
              <a:lnSpc>
                <a:spcPct val="105000"/>
              </a:lnSpc>
              <a:buNone/>
            </a:pPr>
            <a:r>
              <a:rPr lang="en-US" sz="1150" dirty="0">
                <a:solidFill>
                  <a:srgbClr val="3A2A35"/>
                </a:solidFill>
                <a:latin typeface="Calibri" pitchFamily="34" charset="0"/>
                <a:ea typeface="Calibri" pitchFamily="34" charset="-122"/>
                <a:cs typeface="Calibri" pitchFamily="34" charset="-120"/>
              </a:rPr>
              <a:t>Contrarresta los efectos muscarínicos (bradicardia, secreciones) al revertir el bloqueo neuromuscular con neostigmina.</a:t>
            </a:r>
            <a:endParaRPr lang="en-US" sz="1150" dirty="0"/>
          </a:p>
        </p:txBody>
      </p:sp>
      <p:sp>
        <p:nvSpPr>
          <p:cNvPr id="22" name="Text 15"/>
          <p:cNvSpPr txBox="1"/>
          <p:nvPr/>
        </p:nvSpPr>
        <p:spPr>
          <a:xfrm>
            <a:off x="457200" y="6473952"/>
            <a:ext cx="6400800" cy="292608"/>
          </a:xfrm>
          <a:prstGeom prst="rect">
            <a:avLst/>
          </a:prstGeom>
          <a:noFill/>
          <a:ln/>
        </p:spPr>
        <p:txBody>
          <a:bodyPr wrap="square" lIns="0" tIns="0" rIns="0" bIns="0" rtlCol="0" anchor="ctr"/>
          <a:lstStyle/>
          <a:p>
            <a:pPr indent="0" marL="0">
              <a:buNone/>
            </a:pPr>
            <a:r>
              <a:rPr lang="en-US" sz="900" i="1" dirty="0">
                <a:solidFill>
                  <a:srgbClr val="77606F"/>
                </a:solidFill>
                <a:latin typeface="Calibri" pitchFamily="34" charset="0"/>
                <a:ea typeface="Calibri" pitchFamily="34" charset="-122"/>
                <a:cs typeface="Calibri" pitchFamily="34" charset="-120"/>
              </a:rPr>
              <a:t>Capítulo IV — Premedicación</a:t>
            </a:r>
            <a:endParaRPr lang="en-US" sz="900" dirty="0"/>
          </a:p>
        </p:txBody>
      </p:sp>
      <p:sp>
        <p:nvSpPr>
          <p:cNvPr id="23" name="Text 16"/>
          <p:cNvSpPr txBox="1"/>
          <p:nvPr/>
        </p:nvSpPr>
        <p:spPr>
          <a:xfrm>
            <a:off x="10362895" y="6473952"/>
            <a:ext cx="1371600" cy="292608"/>
          </a:xfrm>
          <a:prstGeom prst="rect">
            <a:avLst/>
          </a:prstGeom>
          <a:noFill/>
          <a:ln/>
        </p:spPr>
        <p:txBody>
          <a:bodyPr wrap="square" lIns="0" tIns="0" rIns="0" bIns="0" rtlCol="0" anchor="ctr"/>
          <a:lstStyle/>
          <a:p>
            <a:pPr algn="r" indent="0" marL="0">
              <a:buNone/>
            </a:pPr>
            <a:r>
              <a:rPr lang="en-US" sz="900" dirty="0">
                <a:solidFill>
                  <a:srgbClr val="77606F"/>
                </a:solidFill>
                <a:latin typeface="Calibri" pitchFamily="34" charset="0"/>
                <a:ea typeface="Calibri" pitchFamily="34" charset="-122"/>
                <a:cs typeface="Calibri" pitchFamily="34" charset="-120"/>
              </a:rPr>
              <a:t>22 / 33</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658368" cy="658368"/>
          </a:xfrm>
          <a:prstGeom prst="ellipse">
            <a:avLst/>
          </a:prstGeom>
          <a:solidFill>
            <a:srgbClr val="4A2545"/>
          </a:solidFill>
          <a:ln/>
        </p:spPr>
      </p:sp>
      <p:pic>
        <p:nvPicPr>
          <p:cNvPr id="3" name="Image 0" descr="preencoded.png">    </p:cNvPr>
          <p:cNvPicPr>
            <a:picLocks noChangeAspect="1"/>
          </p:cNvPicPr>
          <p:nvPr/>
        </p:nvPicPr>
        <p:blipFill>
          <a:blip r:embed="rId1"/>
          <a:stretch>
            <a:fillRect/>
          </a:stretch>
        </p:blipFill>
        <p:spPr>
          <a:xfrm>
            <a:off x="602041" y="556321"/>
            <a:ext cx="368686" cy="368686"/>
          </a:xfrm>
          <a:prstGeom prst="rect">
            <a:avLst/>
          </a:prstGeom>
        </p:spPr>
      </p:pic>
      <p:sp>
        <p:nvSpPr>
          <p:cNvPr id="4" name="Text 1"/>
          <p:cNvSpPr txBox="1"/>
          <p:nvPr/>
        </p:nvSpPr>
        <p:spPr>
          <a:xfrm>
            <a:off x="1298448" y="384048"/>
            <a:ext cx="9601200" cy="256032"/>
          </a:xfrm>
          <a:prstGeom prst="rect">
            <a:avLst/>
          </a:prstGeom>
          <a:noFill/>
          <a:ln/>
        </p:spPr>
        <p:txBody>
          <a:bodyPr wrap="square" lIns="0" tIns="0" rIns="0" bIns="0" rtlCol="0" anchor="ctr"/>
          <a:lstStyle/>
          <a:p>
            <a:pPr indent="0" marL="0">
              <a:buNone/>
            </a:pPr>
            <a:r>
              <a:rPr lang="en-US" sz="1150" b="1" spc="150" kern="0" dirty="0">
                <a:solidFill>
                  <a:srgbClr val="E0A458"/>
                </a:solidFill>
                <a:latin typeface="Calibri" pitchFamily="34" charset="0"/>
                <a:ea typeface="Calibri" pitchFamily="34" charset="-122"/>
                <a:cs typeface="Calibri" pitchFamily="34" charset="-120"/>
              </a:rPr>
              <a:t>SEGURIDAD</a:t>
            </a:r>
            <a:endParaRPr lang="en-US" sz="1150" dirty="0"/>
          </a:p>
        </p:txBody>
      </p:sp>
      <p:sp>
        <p:nvSpPr>
          <p:cNvPr id="5" name="Text 2"/>
          <p:cNvSpPr txBox="1"/>
          <p:nvPr/>
        </p:nvSpPr>
        <p:spPr>
          <a:xfrm>
            <a:off x="1298448" y="621792"/>
            <a:ext cx="10058400" cy="502920"/>
          </a:xfrm>
          <a:prstGeom prst="rect">
            <a:avLst/>
          </a:prstGeom>
          <a:noFill/>
          <a:ln/>
        </p:spPr>
        <p:txBody>
          <a:bodyPr wrap="square" lIns="0" tIns="0" rIns="0" bIns="0" rtlCol="0" anchor="ctr"/>
          <a:lstStyle/>
          <a:p>
            <a:pPr indent="0" marL="0">
              <a:buNone/>
            </a:pPr>
            <a:r>
              <a:rPr lang="en-US" sz="2500" b="1" dirty="0">
                <a:solidFill>
                  <a:srgbClr val="4A2545"/>
                </a:solidFill>
                <a:latin typeface="Cambria" pitchFamily="34" charset="0"/>
                <a:ea typeface="Cambria" pitchFamily="34" charset="-122"/>
                <a:cs typeface="Cambria" pitchFamily="34" charset="-120"/>
              </a:rPr>
              <a:t>Efectos adversos de los anticolinérgicos</a:t>
            </a:r>
            <a:endParaRPr lang="en-US" sz="2500" dirty="0"/>
          </a:p>
        </p:txBody>
      </p:sp>
      <p:sp>
        <p:nvSpPr>
          <p:cNvPr id="6" name="Shape 3"/>
          <p:cNvSpPr/>
          <p:nvPr/>
        </p:nvSpPr>
        <p:spPr>
          <a:xfrm>
            <a:off x="457200" y="1536192"/>
            <a:ext cx="512064" cy="512064"/>
          </a:xfrm>
          <a:prstGeom prst="ellipse">
            <a:avLst/>
          </a:prstGeom>
          <a:solidFill>
            <a:srgbClr val="4A2545"/>
          </a:solidFill>
          <a:ln/>
        </p:spPr>
      </p:sp>
      <p:pic>
        <p:nvPicPr>
          <p:cNvPr id="7" name="Image 1" descr="preencoded.png">    </p:cNvPr>
          <p:cNvPicPr>
            <a:picLocks noChangeAspect="1"/>
          </p:cNvPicPr>
          <p:nvPr/>
        </p:nvPicPr>
        <p:blipFill>
          <a:blip r:embed="rId2"/>
          <a:stretch>
            <a:fillRect/>
          </a:stretch>
        </p:blipFill>
        <p:spPr>
          <a:xfrm>
            <a:off x="564733" y="1643725"/>
            <a:ext cx="296997" cy="296997"/>
          </a:xfrm>
          <a:prstGeom prst="rect">
            <a:avLst/>
          </a:prstGeom>
        </p:spPr>
      </p:pic>
      <p:sp>
        <p:nvSpPr>
          <p:cNvPr id="8" name="Text 4"/>
          <p:cNvSpPr txBox="1"/>
          <p:nvPr/>
        </p:nvSpPr>
        <p:spPr>
          <a:xfrm>
            <a:off x="1170432" y="1481328"/>
            <a:ext cx="10353751" cy="310896"/>
          </a:xfrm>
          <a:prstGeom prst="rect">
            <a:avLst/>
          </a:prstGeom>
          <a:noFill/>
          <a:ln/>
        </p:spPr>
        <p:txBody>
          <a:bodyPr wrap="square" lIns="0" tIns="0" rIns="0" bIns="0" rtlCol="0" anchor="ctr"/>
          <a:lstStyle/>
          <a:p>
            <a:pPr indent="0" marL="0">
              <a:buNone/>
            </a:pPr>
            <a:r>
              <a:rPr lang="en-US" sz="1450" b="1" dirty="0">
                <a:solidFill>
                  <a:srgbClr val="4A2545"/>
                </a:solidFill>
                <a:latin typeface="Cambria" pitchFamily="34" charset="0"/>
                <a:ea typeface="Cambria" pitchFamily="34" charset="-122"/>
                <a:cs typeface="Cambria" pitchFamily="34" charset="-120"/>
              </a:rPr>
              <a:t>Taquicardia</a:t>
            </a:r>
            <a:endParaRPr lang="en-US" sz="1450" dirty="0"/>
          </a:p>
        </p:txBody>
      </p:sp>
      <p:sp>
        <p:nvSpPr>
          <p:cNvPr id="9" name="Text 5"/>
          <p:cNvSpPr txBox="1"/>
          <p:nvPr/>
        </p:nvSpPr>
        <p:spPr>
          <a:xfrm>
            <a:off x="1170432" y="1773936"/>
            <a:ext cx="10353751" cy="749808"/>
          </a:xfrm>
          <a:prstGeom prst="rect">
            <a:avLst/>
          </a:prstGeom>
          <a:noFill/>
          <a:ln/>
        </p:spPr>
        <p:txBody>
          <a:bodyPr wrap="square" lIns="0" tIns="0" rIns="0" bIns="0" rtlCol="0" anchor="t"/>
          <a:lstStyle/>
          <a:p>
            <a:pPr indent="0" marL="0">
              <a:lnSpc>
                <a:spcPct val="105000"/>
              </a:lnSpc>
              <a:buNone/>
            </a:pPr>
            <a:r>
              <a:rPr lang="en-US" sz="1150" dirty="0">
                <a:solidFill>
                  <a:srgbClr val="3A2A35"/>
                </a:solidFill>
                <a:latin typeface="Calibri" pitchFamily="34" charset="0"/>
                <a:ea typeface="Calibri" pitchFamily="34" charset="-122"/>
                <a:cs typeface="Calibri" pitchFamily="34" charset="-120"/>
              </a:rPr>
              <a:t>Puede ser deletérea en pacientes con cardiopatía isquémica o estenosis aórtica severa, al aumentar el consumo miocárdico de oxígeno.</a:t>
            </a:r>
            <a:endParaRPr lang="en-US" sz="1150" dirty="0"/>
          </a:p>
        </p:txBody>
      </p:sp>
      <p:sp>
        <p:nvSpPr>
          <p:cNvPr id="10" name="Shape 6"/>
          <p:cNvSpPr/>
          <p:nvPr/>
        </p:nvSpPr>
        <p:spPr>
          <a:xfrm>
            <a:off x="457200" y="2615184"/>
            <a:ext cx="512064" cy="512064"/>
          </a:xfrm>
          <a:prstGeom prst="ellipse">
            <a:avLst/>
          </a:prstGeom>
          <a:solidFill>
            <a:srgbClr val="8E6C88"/>
          </a:solidFill>
          <a:ln/>
        </p:spPr>
      </p:sp>
      <p:pic>
        <p:nvPicPr>
          <p:cNvPr id="11" name="Image 2" descr="preencoded.png">    </p:cNvPr>
          <p:cNvPicPr>
            <a:picLocks noChangeAspect="1"/>
          </p:cNvPicPr>
          <p:nvPr/>
        </p:nvPicPr>
        <p:blipFill>
          <a:blip r:embed="rId3"/>
          <a:stretch>
            <a:fillRect/>
          </a:stretch>
        </p:blipFill>
        <p:spPr>
          <a:xfrm>
            <a:off x="564733" y="2722717"/>
            <a:ext cx="296997" cy="296997"/>
          </a:xfrm>
          <a:prstGeom prst="rect">
            <a:avLst/>
          </a:prstGeom>
        </p:spPr>
      </p:pic>
      <p:sp>
        <p:nvSpPr>
          <p:cNvPr id="12" name="Text 7"/>
          <p:cNvSpPr txBox="1"/>
          <p:nvPr/>
        </p:nvSpPr>
        <p:spPr>
          <a:xfrm>
            <a:off x="1170432" y="2560320"/>
            <a:ext cx="10353751" cy="310896"/>
          </a:xfrm>
          <a:prstGeom prst="rect">
            <a:avLst/>
          </a:prstGeom>
          <a:noFill/>
          <a:ln/>
        </p:spPr>
        <p:txBody>
          <a:bodyPr wrap="square" lIns="0" tIns="0" rIns="0" bIns="0" rtlCol="0" anchor="ctr"/>
          <a:lstStyle/>
          <a:p>
            <a:pPr indent="0" marL="0">
              <a:buNone/>
            </a:pPr>
            <a:r>
              <a:rPr lang="en-US" sz="1450" b="1" dirty="0">
                <a:solidFill>
                  <a:srgbClr val="4A2545"/>
                </a:solidFill>
                <a:latin typeface="Cambria" pitchFamily="34" charset="0"/>
                <a:ea typeface="Cambria" pitchFamily="34" charset="-122"/>
                <a:cs typeface="Cambria" pitchFamily="34" charset="-120"/>
              </a:rPr>
              <a:t>Sequedad bucal y de mucosas</a:t>
            </a:r>
            <a:endParaRPr lang="en-US" sz="1450" dirty="0"/>
          </a:p>
        </p:txBody>
      </p:sp>
      <p:sp>
        <p:nvSpPr>
          <p:cNvPr id="13" name="Text 8"/>
          <p:cNvSpPr txBox="1"/>
          <p:nvPr/>
        </p:nvSpPr>
        <p:spPr>
          <a:xfrm>
            <a:off x="1170432" y="2852928"/>
            <a:ext cx="10353751" cy="749808"/>
          </a:xfrm>
          <a:prstGeom prst="rect">
            <a:avLst/>
          </a:prstGeom>
          <a:noFill/>
          <a:ln/>
        </p:spPr>
        <p:txBody>
          <a:bodyPr wrap="square" lIns="0" tIns="0" rIns="0" bIns="0" rtlCol="0" anchor="t"/>
          <a:lstStyle/>
          <a:p>
            <a:pPr indent="0" marL="0">
              <a:lnSpc>
                <a:spcPct val="105000"/>
              </a:lnSpc>
              <a:buNone/>
            </a:pPr>
            <a:r>
              <a:rPr lang="en-US" sz="1150" dirty="0">
                <a:solidFill>
                  <a:srgbClr val="3A2A35"/>
                </a:solidFill>
                <a:latin typeface="Calibri" pitchFamily="34" charset="0"/>
                <a:ea typeface="Calibri" pitchFamily="34" charset="-122"/>
                <a:cs typeface="Calibri" pitchFamily="34" charset="-120"/>
              </a:rPr>
              <a:t>Efecto antisialogogo esperado; genera incomodidad y sed marcada en el paciente despierto.</a:t>
            </a:r>
            <a:endParaRPr lang="en-US" sz="1150" dirty="0"/>
          </a:p>
        </p:txBody>
      </p:sp>
      <p:sp>
        <p:nvSpPr>
          <p:cNvPr id="14" name="Shape 9"/>
          <p:cNvSpPr/>
          <p:nvPr/>
        </p:nvSpPr>
        <p:spPr>
          <a:xfrm>
            <a:off x="457200" y="3694176"/>
            <a:ext cx="512064" cy="512064"/>
          </a:xfrm>
          <a:prstGeom prst="ellipse">
            <a:avLst/>
          </a:prstGeom>
          <a:solidFill>
            <a:srgbClr val="4A2545"/>
          </a:solidFill>
          <a:ln/>
        </p:spPr>
      </p:sp>
      <p:pic>
        <p:nvPicPr>
          <p:cNvPr id="15" name="Image 3" descr="preencoded.png">    </p:cNvPr>
          <p:cNvPicPr>
            <a:picLocks noChangeAspect="1"/>
          </p:cNvPicPr>
          <p:nvPr/>
        </p:nvPicPr>
        <p:blipFill>
          <a:blip r:embed="rId4"/>
          <a:stretch>
            <a:fillRect/>
          </a:stretch>
        </p:blipFill>
        <p:spPr>
          <a:xfrm>
            <a:off x="564733" y="3801709"/>
            <a:ext cx="296997" cy="296997"/>
          </a:xfrm>
          <a:prstGeom prst="rect">
            <a:avLst/>
          </a:prstGeom>
        </p:spPr>
      </p:pic>
      <p:sp>
        <p:nvSpPr>
          <p:cNvPr id="16" name="Text 10"/>
          <p:cNvSpPr txBox="1"/>
          <p:nvPr/>
        </p:nvSpPr>
        <p:spPr>
          <a:xfrm>
            <a:off x="1170432" y="3639312"/>
            <a:ext cx="10353751" cy="310896"/>
          </a:xfrm>
          <a:prstGeom prst="rect">
            <a:avLst/>
          </a:prstGeom>
          <a:noFill/>
          <a:ln/>
        </p:spPr>
        <p:txBody>
          <a:bodyPr wrap="square" lIns="0" tIns="0" rIns="0" bIns="0" rtlCol="0" anchor="ctr"/>
          <a:lstStyle/>
          <a:p>
            <a:pPr indent="0" marL="0">
              <a:buNone/>
            </a:pPr>
            <a:r>
              <a:rPr lang="en-US" sz="1450" b="1" dirty="0">
                <a:solidFill>
                  <a:srgbClr val="4A2545"/>
                </a:solidFill>
                <a:latin typeface="Cambria" pitchFamily="34" charset="0"/>
                <a:ea typeface="Cambria" pitchFamily="34" charset="-122"/>
                <a:cs typeface="Cambria" pitchFamily="34" charset="-120"/>
              </a:rPr>
              <a:t>Efectos centrales (síndrome anticolinérgico central)</a:t>
            </a:r>
            <a:endParaRPr lang="en-US" sz="1450" dirty="0"/>
          </a:p>
        </p:txBody>
      </p:sp>
      <p:sp>
        <p:nvSpPr>
          <p:cNvPr id="17" name="Text 11"/>
          <p:cNvSpPr txBox="1"/>
          <p:nvPr/>
        </p:nvSpPr>
        <p:spPr>
          <a:xfrm>
            <a:off x="1170432" y="3931920"/>
            <a:ext cx="10353751" cy="749808"/>
          </a:xfrm>
          <a:prstGeom prst="rect">
            <a:avLst/>
          </a:prstGeom>
          <a:noFill/>
          <a:ln/>
        </p:spPr>
        <p:txBody>
          <a:bodyPr wrap="square" lIns="0" tIns="0" rIns="0" bIns="0" rtlCol="0" anchor="t"/>
          <a:lstStyle/>
          <a:p>
            <a:pPr indent="0" marL="0">
              <a:lnSpc>
                <a:spcPct val="105000"/>
              </a:lnSpc>
              <a:buNone/>
            </a:pPr>
            <a:r>
              <a:rPr lang="en-US" sz="1150" dirty="0">
                <a:solidFill>
                  <a:srgbClr val="3A2A35"/>
                </a:solidFill>
                <a:latin typeface="Calibri" pitchFamily="34" charset="0"/>
                <a:ea typeface="Calibri" pitchFamily="34" charset="-122"/>
                <a:cs typeface="Calibri" pitchFamily="34" charset="-120"/>
              </a:rPr>
              <a:t>Confusión, agitación o delirio, especialmente con escopinamina y atropina en adultos mayores; revertible con fisostigmina.</a:t>
            </a:r>
            <a:endParaRPr lang="en-US" sz="1150" dirty="0"/>
          </a:p>
        </p:txBody>
      </p:sp>
      <p:sp>
        <p:nvSpPr>
          <p:cNvPr id="18" name="Shape 12"/>
          <p:cNvSpPr/>
          <p:nvPr/>
        </p:nvSpPr>
        <p:spPr>
          <a:xfrm>
            <a:off x="457200" y="4773168"/>
            <a:ext cx="512064" cy="512064"/>
          </a:xfrm>
          <a:prstGeom prst="ellipse">
            <a:avLst/>
          </a:prstGeom>
          <a:solidFill>
            <a:srgbClr val="8E6C88"/>
          </a:solidFill>
          <a:ln/>
        </p:spPr>
      </p:sp>
      <p:pic>
        <p:nvPicPr>
          <p:cNvPr id="19" name="Image 4" descr="preencoded.png">    </p:cNvPr>
          <p:cNvPicPr>
            <a:picLocks noChangeAspect="1"/>
          </p:cNvPicPr>
          <p:nvPr/>
        </p:nvPicPr>
        <p:blipFill>
          <a:blip r:embed="rId5"/>
          <a:stretch>
            <a:fillRect/>
          </a:stretch>
        </p:blipFill>
        <p:spPr>
          <a:xfrm>
            <a:off x="564733" y="4880701"/>
            <a:ext cx="296997" cy="296997"/>
          </a:xfrm>
          <a:prstGeom prst="rect">
            <a:avLst/>
          </a:prstGeom>
        </p:spPr>
      </p:pic>
      <p:sp>
        <p:nvSpPr>
          <p:cNvPr id="20" name="Text 13"/>
          <p:cNvSpPr txBox="1"/>
          <p:nvPr/>
        </p:nvSpPr>
        <p:spPr>
          <a:xfrm>
            <a:off x="1170432" y="4718304"/>
            <a:ext cx="10353751" cy="310896"/>
          </a:xfrm>
          <a:prstGeom prst="rect">
            <a:avLst/>
          </a:prstGeom>
          <a:noFill/>
          <a:ln/>
        </p:spPr>
        <p:txBody>
          <a:bodyPr wrap="square" lIns="0" tIns="0" rIns="0" bIns="0" rtlCol="0" anchor="ctr"/>
          <a:lstStyle/>
          <a:p>
            <a:pPr indent="0" marL="0">
              <a:buNone/>
            </a:pPr>
            <a:r>
              <a:rPr lang="en-US" sz="1450" b="1" dirty="0">
                <a:solidFill>
                  <a:srgbClr val="4A2545"/>
                </a:solidFill>
                <a:latin typeface="Cambria" pitchFamily="34" charset="0"/>
                <a:ea typeface="Cambria" pitchFamily="34" charset="-122"/>
                <a:cs typeface="Cambria" pitchFamily="34" charset="-120"/>
              </a:rPr>
              <a:t>Otros</a:t>
            </a:r>
            <a:endParaRPr lang="en-US" sz="1450" dirty="0"/>
          </a:p>
        </p:txBody>
      </p:sp>
      <p:sp>
        <p:nvSpPr>
          <p:cNvPr id="21" name="Text 14"/>
          <p:cNvSpPr txBox="1"/>
          <p:nvPr/>
        </p:nvSpPr>
        <p:spPr>
          <a:xfrm>
            <a:off x="1170432" y="5010912"/>
            <a:ext cx="10353751" cy="749808"/>
          </a:xfrm>
          <a:prstGeom prst="rect">
            <a:avLst/>
          </a:prstGeom>
          <a:noFill/>
          <a:ln/>
        </p:spPr>
        <p:txBody>
          <a:bodyPr wrap="square" lIns="0" tIns="0" rIns="0" bIns="0" rtlCol="0" anchor="t"/>
          <a:lstStyle/>
          <a:p>
            <a:pPr indent="0" marL="0">
              <a:lnSpc>
                <a:spcPct val="105000"/>
              </a:lnSpc>
              <a:buNone/>
            </a:pPr>
            <a:r>
              <a:rPr lang="en-US" sz="1150" dirty="0">
                <a:solidFill>
                  <a:srgbClr val="3A2A35"/>
                </a:solidFill>
                <a:latin typeface="Calibri" pitchFamily="34" charset="0"/>
                <a:ea typeface="Calibri" pitchFamily="34" charset="-122"/>
                <a:cs typeface="Calibri" pitchFamily="34" charset="-120"/>
              </a:rPr>
              <a:t>Midriasis con riesgo en glaucoma de ángulo cerrado, retención urinaria y elevación de la temperatura corporal (hipertermia atropínica).</a:t>
            </a:r>
            <a:endParaRPr lang="en-US" sz="1150" dirty="0"/>
          </a:p>
        </p:txBody>
      </p:sp>
      <p:sp>
        <p:nvSpPr>
          <p:cNvPr id="22" name="Text 15"/>
          <p:cNvSpPr txBox="1"/>
          <p:nvPr/>
        </p:nvSpPr>
        <p:spPr>
          <a:xfrm>
            <a:off x="457200" y="6473952"/>
            <a:ext cx="6400800" cy="292608"/>
          </a:xfrm>
          <a:prstGeom prst="rect">
            <a:avLst/>
          </a:prstGeom>
          <a:noFill/>
          <a:ln/>
        </p:spPr>
        <p:txBody>
          <a:bodyPr wrap="square" lIns="0" tIns="0" rIns="0" bIns="0" rtlCol="0" anchor="ctr"/>
          <a:lstStyle/>
          <a:p>
            <a:pPr indent="0" marL="0">
              <a:buNone/>
            </a:pPr>
            <a:r>
              <a:rPr lang="en-US" sz="900" i="1" dirty="0">
                <a:solidFill>
                  <a:srgbClr val="77606F"/>
                </a:solidFill>
                <a:latin typeface="Calibri" pitchFamily="34" charset="0"/>
                <a:ea typeface="Calibri" pitchFamily="34" charset="-122"/>
                <a:cs typeface="Calibri" pitchFamily="34" charset="-120"/>
              </a:rPr>
              <a:t>Capítulo IV — Premedicación</a:t>
            </a:r>
            <a:endParaRPr lang="en-US" sz="900" dirty="0"/>
          </a:p>
        </p:txBody>
      </p:sp>
      <p:sp>
        <p:nvSpPr>
          <p:cNvPr id="23" name="Text 16"/>
          <p:cNvSpPr txBox="1"/>
          <p:nvPr/>
        </p:nvSpPr>
        <p:spPr>
          <a:xfrm>
            <a:off x="10362895" y="6473952"/>
            <a:ext cx="1371600" cy="292608"/>
          </a:xfrm>
          <a:prstGeom prst="rect">
            <a:avLst/>
          </a:prstGeom>
          <a:noFill/>
          <a:ln/>
        </p:spPr>
        <p:txBody>
          <a:bodyPr wrap="square" lIns="0" tIns="0" rIns="0" bIns="0" rtlCol="0" anchor="ctr"/>
          <a:lstStyle/>
          <a:p>
            <a:pPr algn="r" indent="0" marL="0">
              <a:buNone/>
            </a:pPr>
            <a:r>
              <a:rPr lang="en-US" sz="900" dirty="0">
                <a:solidFill>
                  <a:srgbClr val="77606F"/>
                </a:solidFill>
                <a:latin typeface="Calibri" pitchFamily="34" charset="0"/>
                <a:ea typeface="Calibri" pitchFamily="34" charset="-122"/>
                <a:cs typeface="Calibri" pitchFamily="34" charset="-120"/>
              </a:rPr>
              <a:t>23 / 33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658368" cy="658368"/>
          </a:xfrm>
          <a:prstGeom prst="ellipse">
            <a:avLst/>
          </a:prstGeom>
          <a:solidFill>
            <a:srgbClr val="4A2545"/>
          </a:solidFill>
          <a:ln/>
        </p:spPr>
      </p:sp>
      <p:pic>
        <p:nvPicPr>
          <p:cNvPr id="3" name="Image 0" descr="preencoded.png">    </p:cNvPr>
          <p:cNvPicPr>
            <a:picLocks noChangeAspect="1"/>
          </p:cNvPicPr>
          <p:nvPr/>
        </p:nvPicPr>
        <p:blipFill>
          <a:blip r:embed="rId1"/>
          <a:stretch>
            <a:fillRect/>
          </a:stretch>
        </p:blipFill>
        <p:spPr>
          <a:xfrm>
            <a:off x="602041" y="556321"/>
            <a:ext cx="368686" cy="368686"/>
          </a:xfrm>
          <a:prstGeom prst="rect">
            <a:avLst/>
          </a:prstGeom>
        </p:spPr>
      </p:pic>
      <p:sp>
        <p:nvSpPr>
          <p:cNvPr id="4" name="Text 1"/>
          <p:cNvSpPr txBox="1"/>
          <p:nvPr/>
        </p:nvSpPr>
        <p:spPr>
          <a:xfrm>
            <a:off x="1298448" y="384048"/>
            <a:ext cx="9601200" cy="256032"/>
          </a:xfrm>
          <a:prstGeom prst="rect">
            <a:avLst/>
          </a:prstGeom>
          <a:noFill/>
          <a:ln/>
        </p:spPr>
        <p:txBody>
          <a:bodyPr wrap="square" lIns="0" tIns="0" rIns="0" bIns="0" rtlCol="0" anchor="ctr"/>
          <a:lstStyle/>
          <a:p>
            <a:pPr indent="0" marL="0">
              <a:buNone/>
            </a:pPr>
            <a:r>
              <a:rPr lang="en-US" sz="1150" b="1" spc="150" kern="0" dirty="0">
                <a:solidFill>
                  <a:srgbClr val="E0A458"/>
                </a:solidFill>
                <a:latin typeface="Calibri" pitchFamily="34" charset="0"/>
                <a:ea typeface="Calibri" pitchFamily="34" charset="-122"/>
                <a:cs typeface="Calibri" pitchFamily="34" charset="-120"/>
              </a:rPr>
              <a:t>NÁUSEA Y VÓMITO POSTOPERATORIO</a:t>
            </a:r>
            <a:endParaRPr lang="en-US" sz="1150" dirty="0"/>
          </a:p>
        </p:txBody>
      </p:sp>
      <p:sp>
        <p:nvSpPr>
          <p:cNvPr id="5" name="Text 2"/>
          <p:cNvSpPr txBox="1"/>
          <p:nvPr/>
        </p:nvSpPr>
        <p:spPr>
          <a:xfrm>
            <a:off x="1298448" y="621792"/>
            <a:ext cx="10058400" cy="502920"/>
          </a:xfrm>
          <a:prstGeom prst="rect">
            <a:avLst/>
          </a:prstGeom>
          <a:noFill/>
          <a:ln/>
        </p:spPr>
        <p:txBody>
          <a:bodyPr wrap="square" lIns="0" tIns="0" rIns="0" bIns="0" rtlCol="0" anchor="ctr"/>
          <a:lstStyle/>
          <a:p>
            <a:pPr indent="0" marL="0">
              <a:buNone/>
            </a:pPr>
            <a:r>
              <a:rPr lang="en-US" sz="2500" b="1" dirty="0">
                <a:solidFill>
                  <a:srgbClr val="4A2545"/>
                </a:solidFill>
                <a:latin typeface="Cambria" pitchFamily="34" charset="0"/>
                <a:ea typeface="Cambria" pitchFamily="34" charset="-122"/>
                <a:cs typeface="Cambria" pitchFamily="34" charset="-120"/>
              </a:rPr>
              <a:t>Antieméticos: fisiopatología de las NVPO</a:t>
            </a:r>
            <a:endParaRPr lang="en-US" sz="2500" dirty="0"/>
          </a:p>
        </p:txBody>
      </p:sp>
      <p:sp>
        <p:nvSpPr>
          <p:cNvPr id="6" name="Shape 3"/>
          <p:cNvSpPr/>
          <p:nvPr/>
        </p:nvSpPr>
        <p:spPr>
          <a:xfrm>
            <a:off x="457200" y="1417320"/>
            <a:ext cx="5455768" cy="4480560"/>
          </a:xfrm>
          <a:prstGeom prst="roundRect">
            <a:avLst>
              <a:gd name="adj" fmla="val 1633"/>
            </a:avLst>
          </a:prstGeom>
          <a:solidFill>
            <a:srgbClr val="F4EEF2"/>
          </a:solidFill>
          <a:ln/>
          <a:effectLst>
            <a:outerShdw sx="100000" sy="100000" kx="0" ky="0" algn="bl" rotWithShape="0" blurRad="76200" dist="25400" dir="5400000">
              <a:srgbClr val="2A1729">
                <a:alpha val="18000"/>
              </a:srgbClr>
            </a:outerShdw>
          </a:effectLst>
        </p:spPr>
      </p:sp>
      <p:sp>
        <p:nvSpPr>
          <p:cNvPr id="7" name="Text 4"/>
          <p:cNvSpPr txBox="1"/>
          <p:nvPr/>
        </p:nvSpPr>
        <p:spPr>
          <a:xfrm>
            <a:off x="749808" y="1636776"/>
            <a:ext cx="4870552" cy="457200"/>
          </a:xfrm>
          <a:prstGeom prst="rect">
            <a:avLst/>
          </a:prstGeom>
          <a:noFill/>
          <a:ln/>
        </p:spPr>
        <p:txBody>
          <a:bodyPr wrap="square" lIns="0" tIns="0" rIns="0" bIns="0" rtlCol="0" anchor="ctr"/>
          <a:lstStyle/>
          <a:p>
            <a:pPr indent="0" marL="0">
              <a:buNone/>
            </a:pPr>
            <a:r>
              <a:rPr lang="en-US" sz="1650" b="1" dirty="0">
                <a:solidFill>
                  <a:srgbClr val="4A2545"/>
                </a:solidFill>
                <a:latin typeface="Cambria" pitchFamily="34" charset="0"/>
                <a:ea typeface="Cambria" pitchFamily="34" charset="-122"/>
                <a:cs typeface="Cambria" pitchFamily="34" charset="-120"/>
              </a:rPr>
              <a:t>Vías aferentes del reflejo emético</a:t>
            </a:r>
            <a:endParaRPr lang="en-US" sz="1650" dirty="0"/>
          </a:p>
        </p:txBody>
      </p:sp>
      <p:sp>
        <p:nvSpPr>
          <p:cNvPr id="8" name="Text 5"/>
          <p:cNvSpPr txBox="1"/>
          <p:nvPr/>
        </p:nvSpPr>
        <p:spPr>
          <a:xfrm>
            <a:off x="749808" y="2194560"/>
            <a:ext cx="4870552" cy="3474720"/>
          </a:xfrm>
          <a:prstGeom prst="rect">
            <a:avLst/>
          </a:prstGeom>
          <a:noFill/>
          <a:ln/>
        </p:spPr>
        <p:txBody>
          <a:bodyPr wrap="square" lIns="0" tIns="0" rIns="0" bIns="0" rtlCol="0" anchor="t"/>
          <a:lstStyle/>
          <a:p>
            <a:pPr marL="177800" indent="-177800">
              <a:lnSpc>
                <a:spcPct val="108000"/>
              </a:lnSpc>
              <a:spcAft>
                <a:spcPts val="900"/>
              </a:spcAft>
              <a:buSzPct val="100000"/>
              <a:buChar char="•"/>
            </a:pPr>
            <a:r>
              <a:rPr lang="en-US" sz="1250" dirty="0">
                <a:solidFill>
                  <a:srgbClr val="3A2A35"/>
                </a:solidFill>
                <a:latin typeface="Calibri" pitchFamily="34" charset="0"/>
                <a:ea typeface="Calibri" pitchFamily="34" charset="-122"/>
                <a:cs typeface="Calibri" pitchFamily="34" charset="-120"/>
              </a:rPr>
              <a:t>Zona gatillo quimiorreceptora (CTZ) en el área postrema: fuera de la barrera hematoencefálica, sensible a fármacos y toxinas circulantes.</a:t>
            </a:r>
            <a:endParaRPr lang="en-US" sz="1250" dirty="0"/>
          </a:p>
          <a:p>
            <a:pPr marL="177800" indent="-177800">
              <a:lnSpc>
                <a:spcPct val="108000"/>
              </a:lnSpc>
              <a:spcAft>
                <a:spcPts val="900"/>
              </a:spcAft>
              <a:buSzPct val="100000"/>
              <a:buChar char="•"/>
            </a:pPr>
            <a:r>
              <a:rPr lang="en-US" sz="1250" dirty="0">
                <a:solidFill>
                  <a:srgbClr val="3A2A35"/>
                </a:solidFill>
                <a:latin typeface="Calibri" pitchFamily="34" charset="0"/>
                <a:ea typeface="Calibri" pitchFamily="34" charset="-122"/>
                <a:cs typeface="Calibri" pitchFamily="34" charset="-120"/>
              </a:rPr>
              <a:t>Aferencias vestibulares (cinetosis, opioides).</a:t>
            </a:r>
            <a:endParaRPr lang="en-US" sz="1250" dirty="0"/>
          </a:p>
          <a:p>
            <a:pPr marL="177800" indent="-177800">
              <a:lnSpc>
                <a:spcPct val="108000"/>
              </a:lnSpc>
              <a:spcAft>
                <a:spcPts val="900"/>
              </a:spcAft>
              <a:buSzPct val="100000"/>
              <a:buChar char="•"/>
            </a:pPr>
            <a:r>
              <a:rPr lang="en-US" sz="1250" dirty="0">
                <a:solidFill>
                  <a:srgbClr val="3A2A35"/>
                </a:solidFill>
                <a:latin typeface="Calibri" pitchFamily="34" charset="0"/>
                <a:ea typeface="Calibri" pitchFamily="34" charset="-122"/>
                <a:cs typeface="Calibri" pitchFamily="34" charset="-120"/>
              </a:rPr>
              <a:t>Aferencias vagales gastrointestinales (distensión, irritación).</a:t>
            </a:r>
            <a:endParaRPr lang="en-US" sz="1250" dirty="0"/>
          </a:p>
          <a:p>
            <a:pPr marL="177800" indent="-177800">
              <a:lnSpc>
                <a:spcPct val="108000"/>
              </a:lnSpc>
              <a:spcAft>
                <a:spcPts val="900"/>
              </a:spcAft>
              <a:buSzPct val="100000"/>
              <a:buChar char="•"/>
            </a:pPr>
            <a:r>
              <a:rPr lang="en-US" sz="1250" dirty="0">
                <a:solidFill>
                  <a:srgbClr val="3A2A35"/>
                </a:solidFill>
                <a:latin typeface="Calibri" pitchFamily="34" charset="0"/>
                <a:ea typeface="Calibri" pitchFamily="34" charset="-122"/>
                <a:cs typeface="Calibri" pitchFamily="34" charset="-120"/>
              </a:rPr>
              <a:t>Corteza cerebral (ansiedad, dolor, estímulos visuales/olfativos).</a:t>
            </a:r>
            <a:endParaRPr lang="en-US" sz="1250" dirty="0"/>
          </a:p>
        </p:txBody>
      </p:sp>
      <p:sp>
        <p:nvSpPr>
          <p:cNvPr id="9" name="Shape 6"/>
          <p:cNvSpPr/>
          <p:nvPr/>
        </p:nvSpPr>
        <p:spPr>
          <a:xfrm>
            <a:off x="6278728" y="1417320"/>
            <a:ext cx="5455768" cy="4480560"/>
          </a:xfrm>
          <a:prstGeom prst="roundRect">
            <a:avLst>
              <a:gd name="adj" fmla="val 1633"/>
            </a:avLst>
          </a:prstGeom>
          <a:solidFill>
            <a:srgbClr val="FBF3E7"/>
          </a:solidFill>
          <a:ln/>
          <a:effectLst>
            <a:outerShdw sx="100000" sy="100000" kx="0" ky="0" algn="bl" rotWithShape="0" blurRad="76200" dist="25400" dir="5400000">
              <a:srgbClr val="2A1729">
                <a:alpha val="18000"/>
              </a:srgbClr>
            </a:outerShdw>
          </a:effectLst>
        </p:spPr>
      </p:sp>
      <p:sp>
        <p:nvSpPr>
          <p:cNvPr id="10" name="Text 7"/>
          <p:cNvSpPr txBox="1"/>
          <p:nvPr/>
        </p:nvSpPr>
        <p:spPr>
          <a:xfrm>
            <a:off x="6571336" y="1636776"/>
            <a:ext cx="4870552" cy="457200"/>
          </a:xfrm>
          <a:prstGeom prst="rect">
            <a:avLst/>
          </a:prstGeom>
          <a:noFill/>
          <a:ln/>
        </p:spPr>
        <p:txBody>
          <a:bodyPr wrap="square" lIns="0" tIns="0" rIns="0" bIns="0" rtlCol="0" anchor="ctr"/>
          <a:lstStyle/>
          <a:p>
            <a:pPr indent="0" marL="0">
              <a:buNone/>
            </a:pPr>
            <a:r>
              <a:rPr lang="en-US" sz="1650" b="1" dirty="0">
                <a:solidFill>
                  <a:srgbClr val="4A2545"/>
                </a:solidFill>
                <a:latin typeface="Cambria" pitchFamily="34" charset="0"/>
                <a:ea typeface="Cambria" pitchFamily="34" charset="-122"/>
                <a:cs typeface="Cambria" pitchFamily="34" charset="-120"/>
              </a:rPr>
              <a:t>Neurotransmisores implicados</a:t>
            </a:r>
            <a:endParaRPr lang="en-US" sz="1650" dirty="0"/>
          </a:p>
        </p:txBody>
      </p:sp>
      <p:sp>
        <p:nvSpPr>
          <p:cNvPr id="11" name="Text 8"/>
          <p:cNvSpPr txBox="1"/>
          <p:nvPr/>
        </p:nvSpPr>
        <p:spPr>
          <a:xfrm>
            <a:off x="6571336" y="2194560"/>
            <a:ext cx="4870552" cy="3474720"/>
          </a:xfrm>
          <a:prstGeom prst="rect">
            <a:avLst/>
          </a:prstGeom>
          <a:noFill/>
          <a:ln/>
        </p:spPr>
        <p:txBody>
          <a:bodyPr wrap="square" lIns="0" tIns="0" rIns="0" bIns="0" rtlCol="0" anchor="t"/>
          <a:lstStyle/>
          <a:p>
            <a:pPr marL="177800" indent="-177800">
              <a:lnSpc>
                <a:spcPct val="108000"/>
              </a:lnSpc>
              <a:spcAft>
                <a:spcPts val="900"/>
              </a:spcAft>
              <a:buSzPct val="100000"/>
              <a:buChar char="•"/>
            </a:pPr>
            <a:r>
              <a:rPr lang="en-US" sz="1250" dirty="0">
                <a:solidFill>
                  <a:srgbClr val="3A2A35"/>
                </a:solidFill>
                <a:latin typeface="Calibri" pitchFamily="34" charset="0"/>
                <a:ea typeface="Calibri" pitchFamily="34" charset="-122"/>
                <a:cs typeface="Calibri" pitchFamily="34" charset="-120"/>
              </a:rPr>
              <a:t>Serotonina (5-HT3): liberada por células enterocromafines intestinales.</a:t>
            </a:r>
            <a:endParaRPr lang="en-US" sz="1250" dirty="0"/>
          </a:p>
          <a:p>
            <a:pPr marL="177800" indent="-177800">
              <a:lnSpc>
                <a:spcPct val="108000"/>
              </a:lnSpc>
              <a:spcAft>
                <a:spcPts val="900"/>
              </a:spcAft>
              <a:buSzPct val="100000"/>
              <a:buChar char="•"/>
            </a:pPr>
            <a:r>
              <a:rPr lang="en-US" sz="1250" dirty="0">
                <a:solidFill>
                  <a:srgbClr val="3A2A35"/>
                </a:solidFill>
                <a:latin typeface="Calibri" pitchFamily="34" charset="0"/>
                <a:ea typeface="Calibri" pitchFamily="34" charset="-122"/>
                <a:cs typeface="Calibri" pitchFamily="34" charset="-120"/>
              </a:rPr>
              <a:t>Dopamina (D2): principal en la CTZ.</a:t>
            </a:r>
            <a:endParaRPr lang="en-US" sz="1250" dirty="0"/>
          </a:p>
          <a:p>
            <a:pPr marL="177800" indent="-177800">
              <a:lnSpc>
                <a:spcPct val="108000"/>
              </a:lnSpc>
              <a:spcAft>
                <a:spcPts val="900"/>
              </a:spcAft>
              <a:buSzPct val="100000"/>
              <a:buChar char="•"/>
            </a:pPr>
            <a:r>
              <a:rPr lang="en-US" sz="1250" dirty="0">
                <a:solidFill>
                  <a:srgbClr val="3A2A35"/>
                </a:solidFill>
                <a:latin typeface="Calibri" pitchFamily="34" charset="0"/>
                <a:ea typeface="Calibri" pitchFamily="34" charset="-122"/>
                <a:cs typeface="Calibri" pitchFamily="34" charset="-120"/>
              </a:rPr>
              <a:t>Histamina (H1) y acetilcolina (muscarínico): vías vestibulares.</a:t>
            </a:r>
            <a:endParaRPr lang="en-US" sz="1250" dirty="0"/>
          </a:p>
          <a:p>
            <a:pPr marL="177800" indent="-177800">
              <a:lnSpc>
                <a:spcPct val="108000"/>
              </a:lnSpc>
              <a:spcAft>
                <a:spcPts val="900"/>
              </a:spcAft>
              <a:buSzPct val="100000"/>
              <a:buChar char="•"/>
            </a:pPr>
            <a:r>
              <a:rPr lang="en-US" sz="1250" dirty="0">
                <a:solidFill>
                  <a:srgbClr val="3A2A35"/>
                </a:solidFill>
                <a:latin typeface="Calibri" pitchFamily="34" charset="0"/>
                <a:ea typeface="Calibri" pitchFamily="34" charset="-122"/>
                <a:cs typeface="Calibri" pitchFamily="34" charset="-120"/>
              </a:rPr>
              <a:t>Neurokinina-1 (sustancia P): vía final común convergente en el centro del vómito.</a:t>
            </a:r>
            <a:endParaRPr lang="en-US" sz="1250" dirty="0"/>
          </a:p>
        </p:txBody>
      </p:sp>
      <p:sp>
        <p:nvSpPr>
          <p:cNvPr id="12" name="Text 9"/>
          <p:cNvSpPr txBox="1"/>
          <p:nvPr/>
        </p:nvSpPr>
        <p:spPr>
          <a:xfrm>
            <a:off x="457200" y="6473952"/>
            <a:ext cx="6400800" cy="292608"/>
          </a:xfrm>
          <a:prstGeom prst="rect">
            <a:avLst/>
          </a:prstGeom>
          <a:noFill/>
          <a:ln/>
        </p:spPr>
        <p:txBody>
          <a:bodyPr wrap="square" lIns="0" tIns="0" rIns="0" bIns="0" rtlCol="0" anchor="ctr"/>
          <a:lstStyle/>
          <a:p>
            <a:pPr indent="0" marL="0">
              <a:buNone/>
            </a:pPr>
            <a:r>
              <a:rPr lang="en-US" sz="900" i="1" dirty="0">
                <a:solidFill>
                  <a:srgbClr val="77606F"/>
                </a:solidFill>
                <a:latin typeface="Calibri" pitchFamily="34" charset="0"/>
                <a:ea typeface="Calibri" pitchFamily="34" charset="-122"/>
                <a:cs typeface="Calibri" pitchFamily="34" charset="-120"/>
              </a:rPr>
              <a:t>Capítulo IV — Premedicación</a:t>
            </a:r>
            <a:endParaRPr lang="en-US" sz="900" dirty="0"/>
          </a:p>
        </p:txBody>
      </p:sp>
      <p:sp>
        <p:nvSpPr>
          <p:cNvPr id="13" name="Text 10"/>
          <p:cNvSpPr txBox="1"/>
          <p:nvPr/>
        </p:nvSpPr>
        <p:spPr>
          <a:xfrm>
            <a:off x="10362895" y="6473952"/>
            <a:ext cx="1371600" cy="292608"/>
          </a:xfrm>
          <a:prstGeom prst="rect">
            <a:avLst/>
          </a:prstGeom>
          <a:noFill/>
          <a:ln/>
        </p:spPr>
        <p:txBody>
          <a:bodyPr wrap="square" lIns="0" tIns="0" rIns="0" bIns="0" rtlCol="0" anchor="ctr"/>
          <a:lstStyle/>
          <a:p>
            <a:pPr algn="r" indent="0" marL="0">
              <a:buNone/>
            </a:pPr>
            <a:r>
              <a:rPr lang="en-US" sz="900" dirty="0">
                <a:solidFill>
                  <a:srgbClr val="77606F"/>
                </a:solidFill>
                <a:latin typeface="Calibri" pitchFamily="34" charset="0"/>
                <a:ea typeface="Calibri" pitchFamily="34" charset="-122"/>
                <a:cs typeface="Calibri" pitchFamily="34" charset="-120"/>
              </a:rPr>
              <a:t>24 / 33</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658368" cy="658368"/>
          </a:xfrm>
          <a:prstGeom prst="ellipse">
            <a:avLst/>
          </a:prstGeom>
          <a:solidFill>
            <a:srgbClr val="4A2545"/>
          </a:solidFill>
          <a:ln/>
        </p:spPr>
      </p:sp>
      <p:pic>
        <p:nvPicPr>
          <p:cNvPr id="3" name="Image 0" descr="preencoded.png">    </p:cNvPr>
          <p:cNvPicPr>
            <a:picLocks noChangeAspect="1"/>
          </p:cNvPicPr>
          <p:nvPr/>
        </p:nvPicPr>
        <p:blipFill>
          <a:blip r:embed="rId1"/>
          <a:stretch>
            <a:fillRect/>
          </a:stretch>
        </p:blipFill>
        <p:spPr>
          <a:xfrm>
            <a:off x="602041" y="556321"/>
            <a:ext cx="368686" cy="368686"/>
          </a:xfrm>
          <a:prstGeom prst="rect">
            <a:avLst/>
          </a:prstGeom>
        </p:spPr>
      </p:pic>
      <p:sp>
        <p:nvSpPr>
          <p:cNvPr id="4" name="Text 1"/>
          <p:cNvSpPr txBox="1"/>
          <p:nvPr/>
        </p:nvSpPr>
        <p:spPr>
          <a:xfrm>
            <a:off x="1298448" y="384048"/>
            <a:ext cx="9601200" cy="256032"/>
          </a:xfrm>
          <a:prstGeom prst="rect">
            <a:avLst/>
          </a:prstGeom>
          <a:noFill/>
          <a:ln/>
        </p:spPr>
        <p:txBody>
          <a:bodyPr wrap="square" lIns="0" tIns="0" rIns="0" bIns="0" rtlCol="0" anchor="ctr"/>
          <a:lstStyle/>
          <a:p>
            <a:pPr indent="0" marL="0">
              <a:buNone/>
            </a:pPr>
            <a:r>
              <a:rPr lang="en-US" sz="1150" b="1" spc="150" kern="0" dirty="0">
                <a:solidFill>
                  <a:srgbClr val="E0A458"/>
                </a:solidFill>
                <a:latin typeface="Calibri" pitchFamily="34" charset="0"/>
                <a:ea typeface="Calibri" pitchFamily="34" charset="-122"/>
                <a:cs typeface="Calibri" pitchFamily="34" charset="-120"/>
              </a:rPr>
              <a:t>GRUPOS FARMACOLÓGICOS</a:t>
            </a:r>
            <a:endParaRPr lang="en-US" sz="1150" dirty="0"/>
          </a:p>
        </p:txBody>
      </p:sp>
      <p:sp>
        <p:nvSpPr>
          <p:cNvPr id="5" name="Text 2"/>
          <p:cNvSpPr txBox="1"/>
          <p:nvPr/>
        </p:nvSpPr>
        <p:spPr>
          <a:xfrm>
            <a:off x="1298448" y="621792"/>
            <a:ext cx="10058400" cy="502920"/>
          </a:xfrm>
          <a:prstGeom prst="rect">
            <a:avLst/>
          </a:prstGeom>
          <a:noFill/>
          <a:ln/>
        </p:spPr>
        <p:txBody>
          <a:bodyPr wrap="square" lIns="0" tIns="0" rIns="0" bIns="0" rtlCol="0" anchor="ctr"/>
          <a:lstStyle/>
          <a:p>
            <a:pPr indent="0" marL="0">
              <a:buNone/>
            </a:pPr>
            <a:r>
              <a:rPr lang="en-US" sz="2500" b="1" dirty="0">
                <a:solidFill>
                  <a:srgbClr val="4A2545"/>
                </a:solidFill>
                <a:latin typeface="Cambria" pitchFamily="34" charset="0"/>
                <a:ea typeface="Cambria" pitchFamily="34" charset="-122"/>
                <a:cs typeface="Cambria" pitchFamily="34" charset="-120"/>
              </a:rPr>
              <a:t>Antieméticos: clasificación</a:t>
            </a:r>
            <a:endParaRPr lang="en-US" sz="2500" dirty="0"/>
          </a:p>
        </p:txBody>
      </p:sp>
      <p:sp>
        <p:nvSpPr>
          <p:cNvPr id="6" name="Shape 3"/>
          <p:cNvSpPr/>
          <p:nvPr/>
        </p:nvSpPr>
        <p:spPr>
          <a:xfrm>
            <a:off x="457200" y="1463040"/>
            <a:ext cx="2627300" cy="2286000"/>
          </a:xfrm>
          <a:prstGeom prst="roundRect">
            <a:avLst>
              <a:gd name="adj" fmla="val 3200"/>
            </a:avLst>
          </a:prstGeom>
          <a:solidFill>
            <a:srgbClr val="F4EEF2"/>
          </a:solidFill>
          <a:ln/>
          <a:effectLst>
            <a:outerShdw sx="100000" sy="100000" kx="0" ky="0" algn="bl" rotWithShape="0" blurRad="76200" dist="25400" dir="5400000">
              <a:srgbClr val="2A1729">
                <a:alpha val="18000"/>
              </a:srgbClr>
            </a:outerShdw>
          </a:effectLst>
        </p:spPr>
      </p:sp>
      <p:sp>
        <p:nvSpPr>
          <p:cNvPr id="7" name="Shape 4"/>
          <p:cNvSpPr/>
          <p:nvPr/>
        </p:nvSpPr>
        <p:spPr>
          <a:xfrm>
            <a:off x="1496530" y="1645920"/>
            <a:ext cx="548640" cy="548640"/>
          </a:xfrm>
          <a:prstGeom prst="ellipse">
            <a:avLst/>
          </a:prstGeom>
          <a:solidFill>
            <a:srgbClr val="4A2545"/>
          </a:solidFill>
          <a:ln/>
        </p:spPr>
      </p:sp>
      <p:pic>
        <p:nvPicPr>
          <p:cNvPr id="8" name="Image 1" descr="preencoded.png">    </p:cNvPr>
          <p:cNvPicPr>
            <a:picLocks noChangeAspect="1"/>
          </p:cNvPicPr>
          <p:nvPr/>
        </p:nvPicPr>
        <p:blipFill>
          <a:blip r:embed="rId2"/>
          <a:stretch>
            <a:fillRect/>
          </a:stretch>
        </p:blipFill>
        <p:spPr>
          <a:xfrm>
            <a:off x="1617231" y="1766621"/>
            <a:ext cx="307238" cy="307238"/>
          </a:xfrm>
          <a:prstGeom prst="rect">
            <a:avLst/>
          </a:prstGeom>
        </p:spPr>
      </p:pic>
      <p:sp>
        <p:nvSpPr>
          <p:cNvPr id="9" name="Text 5"/>
          <p:cNvSpPr txBox="1"/>
          <p:nvPr/>
        </p:nvSpPr>
        <p:spPr>
          <a:xfrm>
            <a:off x="566928" y="2267712"/>
            <a:ext cx="2407844" cy="512064"/>
          </a:xfrm>
          <a:prstGeom prst="rect">
            <a:avLst/>
          </a:prstGeom>
          <a:noFill/>
          <a:ln/>
        </p:spPr>
        <p:txBody>
          <a:bodyPr wrap="square" lIns="0" tIns="0" rIns="0" bIns="0" rtlCol="0" anchor="t"/>
          <a:lstStyle/>
          <a:p>
            <a:pPr algn="ctr" indent="0" marL="0">
              <a:buNone/>
            </a:pPr>
            <a:r>
              <a:rPr lang="en-US" sz="1400" b="1" dirty="0">
                <a:solidFill>
                  <a:srgbClr val="4A2545"/>
                </a:solidFill>
                <a:latin typeface="Cambria" pitchFamily="34" charset="0"/>
                <a:ea typeface="Cambria" pitchFamily="34" charset="-122"/>
                <a:cs typeface="Cambria" pitchFamily="34" charset="-120"/>
              </a:rPr>
              <a:t>Antagonistas 5-HT3</a:t>
            </a:r>
            <a:endParaRPr lang="en-US" sz="1400" dirty="0"/>
          </a:p>
        </p:txBody>
      </p:sp>
      <p:sp>
        <p:nvSpPr>
          <p:cNvPr id="10" name="Text 6"/>
          <p:cNvSpPr txBox="1"/>
          <p:nvPr/>
        </p:nvSpPr>
        <p:spPr>
          <a:xfrm>
            <a:off x="621792" y="2816352"/>
            <a:ext cx="2298116" cy="841248"/>
          </a:xfrm>
          <a:prstGeom prst="rect">
            <a:avLst/>
          </a:prstGeom>
          <a:noFill/>
          <a:ln/>
        </p:spPr>
        <p:txBody>
          <a:bodyPr wrap="square" lIns="0" tIns="0" rIns="0" bIns="0" rtlCol="0" anchor="t"/>
          <a:lstStyle/>
          <a:p>
            <a:pPr algn="ctr" indent="0" marL="0">
              <a:lnSpc>
                <a:spcPct val="105000"/>
              </a:lnSpc>
              <a:buNone/>
            </a:pPr>
            <a:r>
              <a:rPr lang="en-US" sz="1050" dirty="0">
                <a:solidFill>
                  <a:srgbClr val="3A2A35"/>
                </a:solidFill>
                <a:latin typeface="Calibri" pitchFamily="34" charset="0"/>
                <a:ea typeface="Calibri" pitchFamily="34" charset="-122"/>
                <a:cs typeface="Calibri" pitchFamily="34" charset="-120"/>
              </a:rPr>
              <a:t>Ondansetrón, granisetrón. Bloquean receptores serotoninérgicos periféricos (vagales) y centrales (CTZ).</a:t>
            </a:r>
            <a:endParaRPr lang="en-US" sz="1050" dirty="0"/>
          </a:p>
        </p:txBody>
      </p:sp>
      <p:sp>
        <p:nvSpPr>
          <p:cNvPr id="11" name="Shape 7"/>
          <p:cNvSpPr/>
          <p:nvPr/>
        </p:nvSpPr>
        <p:spPr>
          <a:xfrm>
            <a:off x="3340532" y="1463040"/>
            <a:ext cx="2627300" cy="2286000"/>
          </a:xfrm>
          <a:prstGeom prst="roundRect">
            <a:avLst>
              <a:gd name="adj" fmla="val 3200"/>
            </a:avLst>
          </a:prstGeom>
          <a:solidFill>
            <a:srgbClr val="F4EEF2"/>
          </a:solidFill>
          <a:ln/>
          <a:effectLst>
            <a:outerShdw sx="100000" sy="100000" kx="0" ky="0" algn="bl" rotWithShape="0" blurRad="76200" dist="25400" dir="5400000">
              <a:srgbClr val="2A1729">
                <a:alpha val="18000"/>
              </a:srgbClr>
            </a:outerShdw>
          </a:effectLst>
        </p:spPr>
      </p:sp>
      <p:sp>
        <p:nvSpPr>
          <p:cNvPr id="12" name="Shape 8"/>
          <p:cNvSpPr/>
          <p:nvPr/>
        </p:nvSpPr>
        <p:spPr>
          <a:xfrm>
            <a:off x="4379862" y="1645920"/>
            <a:ext cx="548640" cy="548640"/>
          </a:xfrm>
          <a:prstGeom prst="ellipse">
            <a:avLst/>
          </a:prstGeom>
          <a:solidFill>
            <a:srgbClr val="8E6C88"/>
          </a:solidFill>
          <a:ln/>
        </p:spPr>
      </p:sp>
      <p:pic>
        <p:nvPicPr>
          <p:cNvPr id="13" name="Image 2" descr="preencoded.png">    </p:cNvPr>
          <p:cNvPicPr>
            <a:picLocks noChangeAspect="1"/>
          </p:cNvPicPr>
          <p:nvPr/>
        </p:nvPicPr>
        <p:blipFill>
          <a:blip r:embed="rId3"/>
          <a:stretch>
            <a:fillRect/>
          </a:stretch>
        </p:blipFill>
        <p:spPr>
          <a:xfrm>
            <a:off x="4500563" y="1766621"/>
            <a:ext cx="307238" cy="307238"/>
          </a:xfrm>
          <a:prstGeom prst="rect">
            <a:avLst/>
          </a:prstGeom>
        </p:spPr>
      </p:pic>
      <p:sp>
        <p:nvSpPr>
          <p:cNvPr id="14" name="Text 9"/>
          <p:cNvSpPr txBox="1"/>
          <p:nvPr/>
        </p:nvSpPr>
        <p:spPr>
          <a:xfrm>
            <a:off x="3450260" y="2267712"/>
            <a:ext cx="2407844" cy="512064"/>
          </a:xfrm>
          <a:prstGeom prst="rect">
            <a:avLst/>
          </a:prstGeom>
          <a:noFill/>
          <a:ln/>
        </p:spPr>
        <p:txBody>
          <a:bodyPr wrap="square" lIns="0" tIns="0" rIns="0" bIns="0" rtlCol="0" anchor="t"/>
          <a:lstStyle/>
          <a:p>
            <a:pPr algn="ctr" indent="0" marL="0">
              <a:buNone/>
            </a:pPr>
            <a:r>
              <a:rPr lang="en-US" sz="1400" b="1" dirty="0">
                <a:solidFill>
                  <a:srgbClr val="4A2545"/>
                </a:solidFill>
                <a:latin typeface="Cambria" pitchFamily="34" charset="0"/>
                <a:ea typeface="Cambria" pitchFamily="34" charset="-122"/>
                <a:cs typeface="Cambria" pitchFamily="34" charset="-120"/>
              </a:rPr>
              <a:t>Antagonistas dopaminérgicos</a:t>
            </a:r>
            <a:endParaRPr lang="en-US" sz="1400" dirty="0"/>
          </a:p>
        </p:txBody>
      </p:sp>
      <p:sp>
        <p:nvSpPr>
          <p:cNvPr id="15" name="Text 10"/>
          <p:cNvSpPr txBox="1"/>
          <p:nvPr/>
        </p:nvSpPr>
        <p:spPr>
          <a:xfrm>
            <a:off x="3505124" y="2816352"/>
            <a:ext cx="2298116" cy="841248"/>
          </a:xfrm>
          <a:prstGeom prst="rect">
            <a:avLst/>
          </a:prstGeom>
          <a:noFill/>
          <a:ln/>
        </p:spPr>
        <p:txBody>
          <a:bodyPr wrap="square" lIns="0" tIns="0" rIns="0" bIns="0" rtlCol="0" anchor="t"/>
          <a:lstStyle/>
          <a:p>
            <a:pPr algn="ctr" indent="0" marL="0">
              <a:lnSpc>
                <a:spcPct val="105000"/>
              </a:lnSpc>
              <a:buNone/>
            </a:pPr>
            <a:r>
              <a:rPr lang="en-US" sz="1050" dirty="0">
                <a:solidFill>
                  <a:srgbClr val="3A2A35"/>
                </a:solidFill>
                <a:latin typeface="Calibri" pitchFamily="34" charset="0"/>
                <a:ea typeface="Calibri" pitchFamily="34" charset="-122"/>
                <a:cs typeface="Calibri" pitchFamily="34" charset="-120"/>
              </a:rPr>
              <a:t>Metoclopramida, droperidol, haloperidol. Bloquean receptores D2 en la CTZ; algunos con efecto procinético.</a:t>
            </a:r>
            <a:endParaRPr lang="en-US" sz="1050" dirty="0"/>
          </a:p>
        </p:txBody>
      </p:sp>
      <p:sp>
        <p:nvSpPr>
          <p:cNvPr id="16" name="Shape 11"/>
          <p:cNvSpPr/>
          <p:nvPr/>
        </p:nvSpPr>
        <p:spPr>
          <a:xfrm>
            <a:off x="6223864" y="1463040"/>
            <a:ext cx="2627300" cy="2286000"/>
          </a:xfrm>
          <a:prstGeom prst="roundRect">
            <a:avLst>
              <a:gd name="adj" fmla="val 3200"/>
            </a:avLst>
          </a:prstGeom>
          <a:solidFill>
            <a:srgbClr val="F4EEF2"/>
          </a:solidFill>
          <a:ln/>
          <a:effectLst>
            <a:outerShdw sx="100000" sy="100000" kx="0" ky="0" algn="bl" rotWithShape="0" blurRad="76200" dist="25400" dir="5400000">
              <a:srgbClr val="2A1729">
                <a:alpha val="18000"/>
              </a:srgbClr>
            </a:outerShdw>
          </a:effectLst>
        </p:spPr>
      </p:sp>
      <p:sp>
        <p:nvSpPr>
          <p:cNvPr id="17" name="Shape 12"/>
          <p:cNvSpPr/>
          <p:nvPr/>
        </p:nvSpPr>
        <p:spPr>
          <a:xfrm>
            <a:off x="7263193" y="1645920"/>
            <a:ext cx="548640" cy="548640"/>
          </a:xfrm>
          <a:prstGeom prst="ellipse">
            <a:avLst/>
          </a:prstGeom>
          <a:solidFill>
            <a:srgbClr val="4A2545"/>
          </a:solidFill>
          <a:ln/>
        </p:spPr>
      </p:sp>
      <p:pic>
        <p:nvPicPr>
          <p:cNvPr id="18" name="Image 3" descr="preencoded.png">    </p:cNvPr>
          <p:cNvPicPr>
            <a:picLocks noChangeAspect="1"/>
          </p:cNvPicPr>
          <p:nvPr/>
        </p:nvPicPr>
        <p:blipFill>
          <a:blip r:embed="rId4"/>
          <a:stretch>
            <a:fillRect/>
          </a:stretch>
        </p:blipFill>
        <p:spPr>
          <a:xfrm>
            <a:off x="7383894" y="1766621"/>
            <a:ext cx="307238" cy="307238"/>
          </a:xfrm>
          <a:prstGeom prst="rect">
            <a:avLst/>
          </a:prstGeom>
        </p:spPr>
      </p:pic>
      <p:sp>
        <p:nvSpPr>
          <p:cNvPr id="19" name="Text 13"/>
          <p:cNvSpPr txBox="1"/>
          <p:nvPr/>
        </p:nvSpPr>
        <p:spPr>
          <a:xfrm>
            <a:off x="6333592" y="2267712"/>
            <a:ext cx="2407844" cy="512064"/>
          </a:xfrm>
          <a:prstGeom prst="rect">
            <a:avLst/>
          </a:prstGeom>
          <a:noFill/>
          <a:ln/>
        </p:spPr>
        <p:txBody>
          <a:bodyPr wrap="square" lIns="0" tIns="0" rIns="0" bIns="0" rtlCol="0" anchor="t"/>
          <a:lstStyle/>
          <a:p>
            <a:pPr algn="ctr" indent="0" marL="0">
              <a:buNone/>
            </a:pPr>
            <a:r>
              <a:rPr lang="en-US" sz="1400" b="1" dirty="0">
                <a:solidFill>
                  <a:srgbClr val="4A2545"/>
                </a:solidFill>
                <a:latin typeface="Cambria" pitchFamily="34" charset="0"/>
                <a:ea typeface="Cambria" pitchFamily="34" charset="-122"/>
                <a:cs typeface="Cambria" pitchFamily="34" charset="-120"/>
              </a:rPr>
              <a:t>Corticoides</a:t>
            </a:r>
            <a:endParaRPr lang="en-US" sz="1400" dirty="0"/>
          </a:p>
        </p:txBody>
      </p:sp>
      <p:sp>
        <p:nvSpPr>
          <p:cNvPr id="20" name="Text 14"/>
          <p:cNvSpPr txBox="1"/>
          <p:nvPr/>
        </p:nvSpPr>
        <p:spPr>
          <a:xfrm>
            <a:off x="6388456" y="2816352"/>
            <a:ext cx="2298116" cy="841248"/>
          </a:xfrm>
          <a:prstGeom prst="rect">
            <a:avLst/>
          </a:prstGeom>
          <a:noFill/>
          <a:ln/>
        </p:spPr>
        <p:txBody>
          <a:bodyPr wrap="square" lIns="0" tIns="0" rIns="0" bIns="0" rtlCol="0" anchor="t"/>
          <a:lstStyle/>
          <a:p>
            <a:pPr algn="ctr" indent="0" marL="0">
              <a:lnSpc>
                <a:spcPct val="105000"/>
              </a:lnSpc>
              <a:buNone/>
            </a:pPr>
            <a:r>
              <a:rPr lang="en-US" sz="1050" dirty="0">
                <a:solidFill>
                  <a:srgbClr val="3A2A35"/>
                </a:solidFill>
                <a:latin typeface="Calibri" pitchFamily="34" charset="0"/>
                <a:ea typeface="Calibri" pitchFamily="34" charset="-122"/>
                <a:cs typeface="Calibri" pitchFamily="34" charset="-120"/>
              </a:rPr>
              <a:t>Dexametasona. Mecanismo no del todo esclarecido; efecto antiinflamatorio y antiemético sinérgico.</a:t>
            </a:r>
            <a:endParaRPr lang="en-US" sz="1050" dirty="0"/>
          </a:p>
        </p:txBody>
      </p:sp>
      <p:sp>
        <p:nvSpPr>
          <p:cNvPr id="21" name="Shape 15"/>
          <p:cNvSpPr/>
          <p:nvPr/>
        </p:nvSpPr>
        <p:spPr>
          <a:xfrm>
            <a:off x="9107195" y="1463040"/>
            <a:ext cx="2627300" cy="2286000"/>
          </a:xfrm>
          <a:prstGeom prst="roundRect">
            <a:avLst>
              <a:gd name="adj" fmla="val 3200"/>
            </a:avLst>
          </a:prstGeom>
          <a:solidFill>
            <a:srgbClr val="F4EEF2"/>
          </a:solidFill>
          <a:ln/>
          <a:effectLst>
            <a:outerShdw sx="100000" sy="100000" kx="0" ky="0" algn="bl" rotWithShape="0" blurRad="76200" dist="25400" dir="5400000">
              <a:srgbClr val="2A1729">
                <a:alpha val="18000"/>
              </a:srgbClr>
            </a:outerShdw>
          </a:effectLst>
        </p:spPr>
      </p:sp>
      <p:sp>
        <p:nvSpPr>
          <p:cNvPr id="22" name="Shape 16"/>
          <p:cNvSpPr/>
          <p:nvPr/>
        </p:nvSpPr>
        <p:spPr>
          <a:xfrm>
            <a:off x="10146525" y="1645920"/>
            <a:ext cx="548640" cy="548640"/>
          </a:xfrm>
          <a:prstGeom prst="ellipse">
            <a:avLst/>
          </a:prstGeom>
          <a:solidFill>
            <a:srgbClr val="8E6C88"/>
          </a:solidFill>
          <a:ln/>
        </p:spPr>
      </p:sp>
      <p:pic>
        <p:nvPicPr>
          <p:cNvPr id="23" name="Image 4" descr="preencoded.png">    </p:cNvPr>
          <p:cNvPicPr>
            <a:picLocks noChangeAspect="1"/>
          </p:cNvPicPr>
          <p:nvPr/>
        </p:nvPicPr>
        <p:blipFill>
          <a:blip r:embed="rId5"/>
          <a:stretch>
            <a:fillRect/>
          </a:stretch>
        </p:blipFill>
        <p:spPr>
          <a:xfrm>
            <a:off x="10267226" y="1766621"/>
            <a:ext cx="307238" cy="307238"/>
          </a:xfrm>
          <a:prstGeom prst="rect">
            <a:avLst/>
          </a:prstGeom>
        </p:spPr>
      </p:pic>
      <p:sp>
        <p:nvSpPr>
          <p:cNvPr id="24" name="Text 17"/>
          <p:cNvSpPr txBox="1"/>
          <p:nvPr/>
        </p:nvSpPr>
        <p:spPr>
          <a:xfrm>
            <a:off x="9216923" y="2267712"/>
            <a:ext cx="2407844" cy="512064"/>
          </a:xfrm>
          <a:prstGeom prst="rect">
            <a:avLst/>
          </a:prstGeom>
          <a:noFill/>
          <a:ln/>
        </p:spPr>
        <p:txBody>
          <a:bodyPr wrap="square" lIns="0" tIns="0" rIns="0" bIns="0" rtlCol="0" anchor="t"/>
          <a:lstStyle/>
          <a:p>
            <a:pPr algn="ctr" indent="0" marL="0">
              <a:buNone/>
            </a:pPr>
            <a:r>
              <a:rPr lang="en-US" sz="1400" b="1" dirty="0">
                <a:solidFill>
                  <a:srgbClr val="4A2545"/>
                </a:solidFill>
                <a:latin typeface="Cambria" pitchFamily="34" charset="0"/>
                <a:ea typeface="Cambria" pitchFamily="34" charset="-122"/>
                <a:cs typeface="Cambria" pitchFamily="34" charset="-120"/>
              </a:rPr>
              <a:t>Otros grupos</a:t>
            </a:r>
            <a:endParaRPr lang="en-US" sz="1400" dirty="0"/>
          </a:p>
        </p:txBody>
      </p:sp>
      <p:sp>
        <p:nvSpPr>
          <p:cNvPr id="25" name="Text 18"/>
          <p:cNvSpPr txBox="1"/>
          <p:nvPr/>
        </p:nvSpPr>
        <p:spPr>
          <a:xfrm>
            <a:off x="9271787" y="2816352"/>
            <a:ext cx="2298116" cy="841248"/>
          </a:xfrm>
          <a:prstGeom prst="rect">
            <a:avLst/>
          </a:prstGeom>
          <a:noFill/>
          <a:ln/>
        </p:spPr>
        <p:txBody>
          <a:bodyPr wrap="square" lIns="0" tIns="0" rIns="0" bIns="0" rtlCol="0" anchor="t"/>
          <a:lstStyle/>
          <a:p>
            <a:pPr algn="ctr" indent="0" marL="0">
              <a:lnSpc>
                <a:spcPct val="105000"/>
              </a:lnSpc>
              <a:buNone/>
            </a:pPr>
            <a:r>
              <a:rPr lang="en-US" sz="1050" dirty="0">
                <a:solidFill>
                  <a:srgbClr val="3A2A35"/>
                </a:solidFill>
                <a:latin typeface="Calibri" pitchFamily="34" charset="0"/>
                <a:ea typeface="Calibri" pitchFamily="34" charset="-122"/>
                <a:cs typeface="Calibri" pitchFamily="34" charset="-120"/>
              </a:rPr>
              <a:t>Antihistamínicos (dimenhidrinato), anticolinérgicos (escopolamina), antagonistas NK-1 (aprepitant).</a:t>
            </a:r>
            <a:endParaRPr lang="en-US" sz="1050" dirty="0"/>
          </a:p>
        </p:txBody>
      </p:sp>
      <p:sp>
        <p:nvSpPr>
          <p:cNvPr id="26" name="Text 19"/>
          <p:cNvSpPr txBox="1"/>
          <p:nvPr/>
        </p:nvSpPr>
        <p:spPr>
          <a:xfrm>
            <a:off x="457200" y="6473952"/>
            <a:ext cx="6400800" cy="292608"/>
          </a:xfrm>
          <a:prstGeom prst="rect">
            <a:avLst/>
          </a:prstGeom>
          <a:noFill/>
          <a:ln/>
        </p:spPr>
        <p:txBody>
          <a:bodyPr wrap="square" lIns="0" tIns="0" rIns="0" bIns="0" rtlCol="0" anchor="ctr"/>
          <a:lstStyle/>
          <a:p>
            <a:pPr indent="0" marL="0">
              <a:buNone/>
            </a:pPr>
            <a:r>
              <a:rPr lang="en-US" sz="900" i="1" dirty="0">
                <a:solidFill>
                  <a:srgbClr val="77606F"/>
                </a:solidFill>
                <a:latin typeface="Calibri" pitchFamily="34" charset="0"/>
                <a:ea typeface="Calibri" pitchFamily="34" charset="-122"/>
                <a:cs typeface="Calibri" pitchFamily="34" charset="-120"/>
              </a:rPr>
              <a:t>Capítulo IV — Premedicación</a:t>
            </a:r>
            <a:endParaRPr lang="en-US" sz="900" dirty="0"/>
          </a:p>
        </p:txBody>
      </p:sp>
      <p:sp>
        <p:nvSpPr>
          <p:cNvPr id="27" name="Text 20"/>
          <p:cNvSpPr txBox="1"/>
          <p:nvPr/>
        </p:nvSpPr>
        <p:spPr>
          <a:xfrm>
            <a:off x="10362895" y="6473952"/>
            <a:ext cx="1371600" cy="292608"/>
          </a:xfrm>
          <a:prstGeom prst="rect">
            <a:avLst/>
          </a:prstGeom>
          <a:noFill/>
          <a:ln/>
        </p:spPr>
        <p:txBody>
          <a:bodyPr wrap="square" lIns="0" tIns="0" rIns="0" bIns="0" rtlCol="0" anchor="ctr"/>
          <a:lstStyle/>
          <a:p>
            <a:pPr algn="r" indent="0" marL="0">
              <a:buNone/>
            </a:pPr>
            <a:r>
              <a:rPr lang="en-US" sz="900" dirty="0">
                <a:solidFill>
                  <a:srgbClr val="77606F"/>
                </a:solidFill>
                <a:latin typeface="Calibri" pitchFamily="34" charset="0"/>
                <a:ea typeface="Calibri" pitchFamily="34" charset="-122"/>
                <a:cs typeface="Calibri" pitchFamily="34" charset="-120"/>
              </a:rPr>
              <a:t>25 / 33</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658368" cy="658368"/>
          </a:xfrm>
          <a:prstGeom prst="ellipse">
            <a:avLst/>
          </a:prstGeom>
          <a:solidFill>
            <a:srgbClr val="4A2545"/>
          </a:solidFill>
          <a:ln/>
        </p:spPr>
      </p:sp>
      <p:pic>
        <p:nvPicPr>
          <p:cNvPr id="3" name="Image 0" descr="preencoded.png">    </p:cNvPr>
          <p:cNvPicPr>
            <a:picLocks noChangeAspect="1"/>
          </p:cNvPicPr>
          <p:nvPr/>
        </p:nvPicPr>
        <p:blipFill>
          <a:blip r:embed="rId1"/>
          <a:stretch>
            <a:fillRect/>
          </a:stretch>
        </p:blipFill>
        <p:spPr>
          <a:xfrm>
            <a:off x="602041" y="556321"/>
            <a:ext cx="368686" cy="368686"/>
          </a:xfrm>
          <a:prstGeom prst="rect">
            <a:avLst/>
          </a:prstGeom>
        </p:spPr>
      </p:pic>
      <p:sp>
        <p:nvSpPr>
          <p:cNvPr id="4" name="Text 1"/>
          <p:cNvSpPr txBox="1"/>
          <p:nvPr/>
        </p:nvSpPr>
        <p:spPr>
          <a:xfrm>
            <a:off x="1298448" y="384048"/>
            <a:ext cx="9601200" cy="256032"/>
          </a:xfrm>
          <a:prstGeom prst="rect">
            <a:avLst/>
          </a:prstGeom>
          <a:noFill/>
          <a:ln/>
        </p:spPr>
        <p:txBody>
          <a:bodyPr wrap="square" lIns="0" tIns="0" rIns="0" bIns="0" rtlCol="0" anchor="ctr"/>
          <a:lstStyle/>
          <a:p>
            <a:pPr indent="0" marL="0">
              <a:buNone/>
            </a:pPr>
            <a:r>
              <a:rPr lang="en-US" sz="1150" b="1" spc="150" kern="0" dirty="0">
                <a:solidFill>
                  <a:srgbClr val="E0A458"/>
                </a:solidFill>
                <a:latin typeface="Calibri" pitchFamily="34" charset="0"/>
                <a:ea typeface="Calibri" pitchFamily="34" charset="-122"/>
                <a:cs typeface="Calibri" pitchFamily="34" charset="-120"/>
              </a:rPr>
              <a:t>ONDANSETRÓN, DEXAMETASONA, DROPERIDOL, METOCLOPRAMIDA</a:t>
            </a:r>
            <a:endParaRPr lang="en-US" sz="1150" dirty="0"/>
          </a:p>
        </p:txBody>
      </p:sp>
      <p:sp>
        <p:nvSpPr>
          <p:cNvPr id="5" name="Text 2"/>
          <p:cNvSpPr txBox="1"/>
          <p:nvPr/>
        </p:nvSpPr>
        <p:spPr>
          <a:xfrm>
            <a:off x="1298448" y="621792"/>
            <a:ext cx="10058400" cy="502920"/>
          </a:xfrm>
          <a:prstGeom prst="rect">
            <a:avLst/>
          </a:prstGeom>
          <a:noFill/>
          <a:ln/>
        </p:spPr>
        <p:txBody>
          <a:bodyPr wrap="square" lIns="0" tIns="0" rIns="0" bIns="0" rtlCol="0" anchor="ctr"/>
          <a:lstStyle/>
          <a:p>
            <a:pPr indent="0" marL="0">
              <a:buNone/>
            </a:pPr>
            <a:r>
              <a:rPr lang="en-US" sz="2500" b="1" dirty="0">
                <a:solidFill>
                  <a:srgbClr val="4A2545"/>
                </a:solidFill>
                <a:latin typeface="Cambria" pitchFamily="34" charset="0"/>
                <a:ea typeface="Cambria" pitchFamily="34" charset="-122"/>
                <a:cs typeface="Cambria" pitchFamily="34" charset="-120"/>
              </a:rPr>
              <a:t>Antieméticos más usados</a:t>
            </a:r>
            <a:endParaRPr lang="en-US" sz="25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457200" y="1508760"/>
          <a:ext cx="11277295" cy="914400"/>
        </p:xfrm>
        <a:graphic>
          <a:graphicData uri="http://schemas.openxmlformats.org/drawingml/2006/table">
            <a:tbl>
              <a:tblPr/>
              <a:tblGrid>
                <a:gridCol w="2377440"/>
                <a:gridCol w="2651760"/>
                <a:gridCol w="2743200"/>
                <a:gridCol w="3502152"/>
              </a:tblGrid>
              <a:tr h="548640">
                <a:tc>
                  <a:txBody>
                    <a:bodyPr/>
                    <a:lstStyle/>
                    <a:p>
                      <a:pPr algn="ctr" indent="0" marL="0">
                        <a:buNone/>
                      </a:pPr>
                      <a:r>
                        <a:rPr lang="en-US" sz="1080" b="1" dirty="0">
                          <a:solidFill>
                            <a:srgbClr val="FFFFFF"/>
                          </a:solidFill>
                          <a:latin typeface="Calibri" pitchFamily="34" charset="0"/>
                          <a:ea typeface="Calibri" pitchFamily="34" charset="-122"/>
                          <a:cs typeface="Calibri" pitchFamily="34" charset="-120"/>
                        </a:rPr>
                        <a:t>Fármaco</a:t>
                      </a:r>
                      <a:endParaRPr lang="en-US" sz="108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4A2545"/>
                    </a:solidFill>
                  </a:tcPr>
                </a:tc>
                <a:tc>
                  <a:txBody>
                    <a:bodyPr/>
                    <a:lstStyle/>
                    <a:p>
                      <a:pPr algn="ctr" indent="0" marL="0">
                        <a:buNone/>
                      </a:pPr>
                      <a:r>
                        <a:rPr lang="en-US" sz="1080" b="1" dirty="0">
                          <a:solidFill>
                            <a:srgbClr val="FFFFFF"/>
                          </a:solidFill>
                          <a:latin typeface="Calibri" pitchFamily="34" charset="0"/>
                          <a:ea typeface="Calibri" pitchFamily="34" charset="-122"/>
                          <a:cs typeface="Calibri" pitchFamily="34" charset="-120"/>
                        </a:rPr>
                        <a:t>Mecanismo</a:t>
                      </a:r>
                      <a:endParaRPr lang="en-US" sz="108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4A2545"/>
                    </a:solidFill>
                  </a:tcPr>
                </a:tc>
                <a:tc>
                  <a:txBody>
                    <a:bodyPr/>
                    <a:lstStyle/>
                    <a:p>
                      <a:pPr algn="ctr" indent="0" marL="0">
                        <a:buNone/>
                      </a:pPr>
                      <a:r>
                        <a:rPr lang="en-US" sz="1080" b="1" dirty="0">
                          <a:solidFill>
                            <a:srgbClr val="FFFFFF"/>
                          </a:solidFill>
                          <a:latin typeface="Calibri" pitchFamily="34" charset="0"/>
                          <a:ea typeface="Calibri" pitchFamily="34" charset="-122"/>
                          <a:cs typeface="Calibri" pitchFamily="34" charset="-120"/>
                        </a:rPr>
                        <a:t>Dosis habitual</a:t>
                      </a:r>
                      <a:endParaRPr lang="en-US" sz="108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4A2545"/>
                    </a:solidFill>
                  </a:tcPr>
                </a:tc>
                <a:tc>
                  <a:txBody>
                    <a:bodyPr/>
                    <a:lstStyle/>
                    <a:p>
                      <a:pPr algn="ctr" indent="0" marL="0">
                        <a:buNone/>
                      </a:pPr>
                      <a:r>
                        <a:rPr lang="en-US" sz="1080" b="1" dirty="0">
                          <a:solidFill>
                            <a:srgbClr val="FFFFFF"/>
                          </a:solidFill>
                          <a:latin typeface="Calibri" pitchFamily="34" charset="0"/>
                          <a:ea typeface="Calibri" pitchFamily="34" charset="-122"/>
                          <a:cs typeface="Calibri" pitchFamily="34" charset="-120"/>
                        </a:rPr>
                        <a:t>Notas clínicas</a:t>
                      </a:r>
                      <a:endParaRPr lang="en-US" sz="108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4A2545"/>
                    </a:solidFill>
                  </a:tcPr>
                </a:tc>
              </a:tr>
              <a:tr h="777240">
                <a:tc>
                  <a:txBody>
                    <a:bodyPr/>
                    <a:lstStyle/>
                    <a:p>
                      <a:pPr algn="l" indent="0" marL="0">
                        <a:buNone/>
                      </a:pPr>
                      <a:r>
                        <a:rPr lang="en-US" sz="1030" b="1" dirty="0">
                          <a:solidFill>
                            <a:srgbClr val="3A2A35"/>
                          </a:solidFill>
                          <a:latin typeface="Calibri" pitchFamily="34" charset="0"/>
                          <a:ea typeface="Calibri" pitchFamily="34" charset="-122"/>
                          <a:cs typeface="Calibri" pitchFamily="34" charset="-120"/>
                        </a:rPr>
                        <a:t>Ondansetrón</a:t>
                      </a:r>
                      <a:endParaRPr lang="en-US" sz="103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FFFFFF"/>
                    </a:solidFill>
                  </a:tcPr>
                </a:tc>
                <a:tc>
                  <a:txBody>
                    <a:bodyPr/>
                    <a:lstStyle/>
                    <a:p>
                      <a:pPr algn="ctr" indent="0" marL="0">
                        <a:buNone/>
                      </a:pPr>
                      <a:r>
                        <a:rPr lang="en-US" sz="1030" dirty="0">
                          <a:solidFill>
                            <a:srgbClr val="3A2A35"/>
                          </a:solidFill>
                          <a:latin typeface="Calibri" pitchFamily="34" charset="0"/>
                          <a:ea typeface="Calibri" pitchFamily="34" charset="-122"/>
                          <a:cs typeface="Calibri" pitchFamily="34" charset="-120"/>
                        </a:rPr>
                        <a:t>Antagonista 5-HT3</a:t>
                      </a:r>
                      <a:endParaRPr lang="en-US" sz="103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FFFFFF"/>
                    </a:solidFill>
                  </a:tcPr>
                </a:tc>
                <a:tc>
                  <a:txBody>
                    <a:bodyPr/>
                    <a:lstStyle/>
                    <a:p>
                      <a:pPr algn="ctr" indent="0" marL="0">
                        <a:buNone/>
                      </a:pPr>
                      <a:r>
                        <a:rPr lang="en-US" sz="1030" dirty="0">
                          <a:solidFill>
                            <a:srgbClr val="3A2A35"/>
                          </a:solidFill>
                          <a:latin typeface="Calibri" pitchFamily="34" charset="0"/>
                          <a:ea typeface="Calibri" pitchFamily="34" charset="-122"/>
                          <a:cs typeface="Calibri" pitchFamily="34" charset="-120"/>
                        </a:rPr>
                        <a:t>4 mg IV al final de la cirugía</a:t>
                      </a:r>
                      <a:endParaRPr lang="en-US" sz="103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FFFFFF"/>
                    </a:solidFill>
                  </a:tcPr>
                </a:tc>
                <a:tc>
                  <a:txBody>
                    <a:bodyPr/>
                    <a:lstStyle/>
                    <a:p>
                      <a:pPr algn="ctr" indent="0" marL="0">
                        <a:buNone/>
                      </a:pPr>
                      <a:r>
                        <a:rPr lang="en-US" sz="1030" dirty="0">
                          <a:solidFill>
                            <a:srgbClr val="3A2A35"/>
                          </a:solidFill>
                          <a:latin typeface="Calibri" pitchFamily="34" charset="0"/>
                          <a:ea typeface="Calibri" pitchFamily="34" charset="-122"/>
                          <a:cs typeface="Calibri" pitchFamily="34" charset="-120"/>
                        </a:rPr>
                        <a:t>Cefalea leve; prolongación de QTc dosis-dependiente</a:t>
                      </a:r>
                      <a:endParaRPr lang="en-US" sz="103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FFFFFF"/>
                    </a:solidFill>
                  </a:tcPr>
                </a:tc>
              </a:tr>
              <a:tr h="777240">
                <a:tc>
                  <a:txBody>
                    <a:bodyPr/>
                    <a:lstStyle/>
                    <a:p>
                      <a:pPr algn="l" indent="0" marL="0">
                        <a:buNone/>
                      </a:pPr>
                      <a:r>
                        <a:rPr lang="en-US" sz="1030" b="1" dirty="0">
                          <a:solidFill>
                            <a:srgbClr val="3A2A35"/>
                          </a:solidFill>
                          <a:latin typeface="Calibri" pitchFamily="34" charset="0"/>
                          <a:ea typeface="Calibri" pitchFamily="34" charset="-122"/>
                          <a:cs typeface="Calibri" pitchFamily="34" charset="-120"/>
                        </a:rPr>
                        <a:t>Dexametasona</a:t>
                      </a:r>
                      <a:endParaRPr lang="en-US" sz="103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F4EEF2"/>
                    </a:solidFill>
                  </a:tcPr>
                </a:tc>
                <a:tc>
                  <a:txBody>
                    <a:bodyPr/>
                    <a:lstStyle/>
                    <a:p>
                      <a:pPr algn="ctr" indent="0" marL="0">
                        <a:buNone/>
                      </a:pPr>
                      <a:r>
                        <a:rPr lang="en-US" sz="1030" dirty="0">
                          <a:solidFill>
                            <a:srgbClr val="3A2A35"/>
                          </a:solidFill>
                          <a:latin typeface="Calibri" pitchFamily="34" charset="0"/>
                          <a:ea typeface="Calibri" pitchFamily="34" charset="-122"/>
                          <a:cs typeface="Calibri" pitchFamily="34" charset="-120"/>
                        </a:rPr>
                        <a:t>Corticoide (mecanismo indirecto)</a:t>
                      </a:r>
                      <a:endParaRPr lang="en-US" sz="103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F4EEF2"/>
                    </a:solidFill>
                  </a:tcPr>
                </a:tc>
                <a:tc>
                  <a:txBody>
                    <a:bodyPr/>
                    <a:lstStyle/>
                    <a:p>
                      <a:pPr algn="ctr" indent="0" marL="0">
                        <a:buNone/>
                      </a:pPr>
                      <a:r>
                        <a:rPr lang="en-US" sz="1030" dirty="0">
                          <a:solidFill>
                            <a:srgbClr val="3A2A35"/>
                          </a:solidFill>
                          <a:latin typeface="Calibri" pitchFamily="34" charset="0"/>
                          <a:ea typeface="Calibri" pitchFamily="34" charset="-122"/>
                          <a:cs typeface="Calibri" pitchFamily="34" charset="-120"/>
                        </a:rPr>
                        <a:t>4-8 mg IV a la inducción</a:t>
                      </a:r>
                      <a:endParaRPr lang="en-US" sz="103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F4EEF2"/>
                    </a:solidFill>
                  </a:tcPr>
                </a:tc>
                <a:tc>
                  <a:txBody>
                    <a:bodyPr/>
                    <a:lstStyle/>
                    <a:p>
                      <a:pPr algn="ctr" indent="0" marL="0">
                        <a:buNone/>
                      </a:pPr>
                      <a:r>
                        <a:rPr lang="en-US" sz="1030" dirty="0">
                          <a:solidFill>
                            <a:srgbClr val="3A2A35"/>
                          </a:solidFill>
                          <a:latin typeface="Calibri" pitchFamily="34" charset="0"/>
                          <a:ea typeface="Calibri" pitchFamily="34" charset="-122"/>
                          <a:cs typeface="Calibri" pitchFamily="34" charset="-120"/>
                        </a:rPr>
                        <a:t>Efecto máximo a las 2 h; potencia analgesia y reduce fatiga</a:t>
                      </a:r>
                      <a:endParaRPr lang="en-US" sz="103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F4EEF2"/>
                    </a:solidFill>
                  </a:tcPr>
                </a:tc>
              </a:tr>
              <a:tr h="777240">
                <a:tc>
                  <a:txBody>
                    <a:bodyPr/>
                    <a:lstStyle/>
                    <a:p>
                      <a:pPr algn="l" indent="0" marL="0">
                        <a:buNone/>
                      </a:pPr>
                      <a:r>
                        <a:rPr lang="en-US" sz="1030" b="1" dirty="0">
                          <a:solidFill>
                            <a:srgbClr val="3A2A35"/>
                          </a:solidFill>
                          <a:latin typeface="Calibri" pitchFamily="34" charset="0"/>
                          <a:ea typeface="Calibri" pitchFamily="34" charset="-122"/>
                          <a:cs typeface="Calibri" pitchFamily="34" charset="-120"/>
                        </a:rPr>
                        <a:t>Droperidol</a:t>
                      </a:r>
                      <a:endParaRPr lang="en-US" sz="103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FFFFFF"/>
                    </a:solidFill>
                  </a:tcPr>
                </a:tc>
                <a:tc>
                  <a:txBody>
                    <a:bodyPr/>
                    <a:lstStyle/>
                    <a:p>
                      <a:pPr algn="ctr" indent="0" marL="0">
                        <a:buNone/>
                      </a:pPr>
                      <a:r>
                        <a:rPr lang="en-US" sz="1030" dirty="0">
                          <a:solidFill>
                            <a:srgbClr val="3A2A35"/>
                          </a:solidFill>
                          <a:latin typeface="Calibri" pitchFamily="34" charset="0"/>
                          <a:ea typeface="Calibri" pitchFamily="34" charset="-122"/>
                          <a:cs typeface="Calibri" pitchFamily="34" charset="-120"/>
                        </a:rPr>
                        <a:t>Antagonista D2</a:t>
                      </a:r>
                      <a:endParaRPr lang="en-US" sz="103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FFFFFF"/>
                    </a:solidFill>
                  </a:tcPr>
                </a:tc>
                <a:tc>
                  <a:txBody>
                    <a:bodyPr/>
                    <a:lstStyle/>
                    <a:p>
                      <a:pPr algn="ctr" indent="0" marL="0">
                        <a:buNone/>
                      </a:pPr>
                      <a:r>
                        <a:rPr lang="en-US" sz="1030" dirty="0">
                          <a:solidFill>
                            <a:srgbClr val="3A2A35"/>
                          </a:solidFill>
                          <a:latin typeface="Calibri" pitchFamily="34" charset="0"/>
                          <a:ea typeface="Calibri" pitchFamily="34" charset="-122"/>
                          <a:cs typeface="Calibri" pitchFamily="34" charset="-120"/>
                        </a:rPr>
                        <a:t>0.625-1.25 mg IV</a:t>
                      </a:r>
                      <a:endParaRPr lang="en-US" sz="103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FFFFFF"/>
                    </a:solidFill>
                  </a:tcPr>
                </a:tc>
                <a:tc>
                  <a:txBody>
                    <a:bodyPr/>
                    <a:lstStyle/>
                    <a:p>
                      <a:pPr algn="ctr" indent="0" marL="0">
                        <a:buNone/>
                      </a:pPr>
                      <a:r>
                        <a:rPr lang="en-US" sz="1030" dirty="0">
                          <a:solidFill>
                            <a:srgbClr val="3A2A35"/>
                          </a:solidFill>
                          <a:latin typeface="Calibri" pitchFamily="34" charset="0"/>
                          <a:ea typeface="Calibri" pitchFamily="34" charset="-122"/>
                          <a:cs typeface="Calibri" pitchFamily="34" charset="-120"/>
                        </a:rPr>
                        <a:t>Alerta de QTc (FDA); monitorización electrocardiográfica</a:t>
                      </a:r>
                      <a:endParaRPr lang="en-US" sz="103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FFFFFF"/>
                    </a:solidFill>
                  </a:tcPr>
                </a:tc>
              </a:tr>
              <a:tr h="777240">
                <a:tc>
                  <a:txBody>
                    <a:bodyPr/>
                    <a:lstStyle/>
                    <a:p>
                      <a:pPr algn="l" indent="0" marL="0">
                        <a:buNone/>
                      </a:pPr>
                      <a:r>
                        <a:rPr lang="en-US" sz="1030" b="1" dirty="0">
                          <a:solidFill>
                            <a:srgbClr val="3A2A35"/>
                          </a:solidFill>
                          <a:latin typeface="Calibri" pitchFamily="34" charset="0"/>
                          <a:ea typeface="Calibri" pitchFamily="34" charset="-122"/>
                          <a:cs typeface="Calibri" pitchFamily="34" charset="-120"/>
                        </a:rPr>
                        <a:t>Metoclopramida</a:t>
                      </a:r>
                      <a:endParaRPr lang="en-US" sz="103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F4EEF2"/>
                    </a:solidFill>
                  </a:tcPr>
                </a:tc>
                <a:tc>
                  <a:txBody>
                    <a:bodyPr/>
                    <a:lstStyle/>
                    <a:p>
                      <a:pPr algn="ctr" indent="0" marL="0">
                        <a:buNone/>
                      </a:pPr>
                      <a:r>
                        <a:rPr lang="en-US" sz="1030" dirty="0">
                          <a:solidFill>
                            <a:srgbClr val="3A2A35"/>
                          </a:solidFill>
                          <a:latin typeface="Calibri" pitchFamily="34" charset="0"/>
                          <a:ea typeface="Calibri" pitchFamily="34" charset="-122"/>
                          <a:cs typeface="Calibri" pitchFamily="34" charset="-120"/>
                        </a:rPr>
                        <a:t>Antagonista D2 + procinético</a:t>
                      </a:r>
                      <a:endParaRPr lang="en-US" sz="103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F4EEF2"/>
                    </a:solidFill>
                  </a:tcPr>
                </a:tc>
                <a:tc>
                  <a:txBody>
                    <a:bodyPr/>
                    <a:lstStyle/>
                    <a:p>
                      <a:pPr algn="ctr" indent="0" marL="0">
                        <a:buNone/>
                      </a:pPr>
                      <a:r>
                        <a:rPr lang="en-US" sz="1030" dirty="0">
                          <a:solidFill>
                            <a:srgbClr val="3A2A35"/>
                          </a:solidFill>
                          <a:latin typeface="Calibri" pitchFamily="34" charset="0"/>
                          <a:ea typeface="Calibri" pitchFamily="34" charset="-122"/>
                          <a:cs typeface="Calibri" pitchFamily="34" charset="-120"/>
                        </a:rPr>
                        <a:t>10 mg IV</a:t>
                      </a:r>
                      <a:endParaRPr lang="en-US" sz="103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F4EEF2"/>
                    </a:solidFill>
                  </a:tcPr>
                </a:tc>
                <a:tc>
                  <a:txBody>
                    <a:bodyPr/>
                    <a:lstStyle/>
                    <a:p>
                      <a:pPr algn="ctr" indent="0" marL="0">
                        <a:buNone/>
                      </a:pPr>
                      <a:r>
                        <a:rPr lang="en-US" sz="1030" dirty="0">
                          <a:solidFill>
                            <a:srgbClr val="3A2A35"/>
                          </a:solidFill>
                          <a:latin typeface="Calibri" pitchFamily="34" charset="0"/>
                          <a:ea typeface="Calibri" pitchFamily="34" charset="-122"/>
                          <a:cs typeface="Calibri" pitchFamily="34" charset="-120"/>
                        </a:rPr>
                        <a:t>Eficacia antiemética modesta a dosis estándar; riesgo extrapiramidal</a:t>
                      </a:r>
                      <a:endParaRPr lang="en-US" sz="103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F4EEF2"/>
                    </a:solidFill>
                  </a:tcPr>
                </a:tc>
              </a:tr>
            </a:tbl>
          </a:graphicData>
        </a:graphic>
      </p:graphicFrame>
      <p:sp>
        <p:nvSpPr>
          <p:cNvPr id="7" name="Text 3"/>
          <p:cNvSpPr txBox="1"/>
          <p:nvPr/>
        </p:nvSpPr>
        <p:spPr>
          <a:xfrm>
            <a:off x="457200" y="5349240"/>
            <a:ext cx="11277295" cy="822960"/>
          </a:xfrm>
          <a:prstGeom prst="rect">
            <a:avLst/>
          </a:prstGeom>
          <a:noFill/>
          <a:ln/>
        </p:spPr>
        <p:txBody>
          <a:bodyPr wrap="square" lIns="0" tIns="0" rIns="0" bIns="0" rtlCol="0" anchor="t"/>
          <a:lstStyle/>
          <a:p>
            <a:pPr indent="0" marL="0">
              <a:lnSpc>
                <a:spcPct val="110000"/>
              </a:lnSpc>
              <a:buNone/>
            </a:pPr>
            <a:r>
              <a:rPr lang="en-US" sz="1200" i="1" dirty="0">
                <a:solidFill>
                  <a:srgbClr val="77606F"/>
                </a:solidFill>
                <a:latin typeface="Calibri" pitchFamily="34" charset="0"/>
                <a:ea typeface="Calibri" pitchFamily="34" charset="-122"/>
                <a:cs typeface="Calibri" pitchFamily="34" charset="-120"/>
              </a:rPr>
              <a:t>Perla clínica: combinar dexametasona (a la inducción) con ondansetrón (al final de la cirugía) es el esquema dual más utilizado en pacientes de riesgo moderado-alto según la escala de Apfel.</a:t>
            </a:r>
            <a:endParaRPr lang="en-US" sz="1200" dirty="0"/>
          </a:p>
        </p:txBody>
      </p:sp>
      <p:sp>
        <p:nvSpPr>
          <p:cNvPr id="8" name="Text 4"/>
          <p:cNvSpPr txBox="1"/>
          <p:nvPr/>
        </p:nvSpPr>
        <p:spPr>
          <a:xfrm>
            <a:off x="457200" y="6473952"/>
            <a:ext cx="6400800" cy="292608"/>
          </a:xfrm>
          <a:prstGeom prst="rect">
            <a:avLst/>
          </a:prstGeom>
          <a:noFill/>
          <a:ln/>
        </p:spPr>
        <p:txBody>
          <a:bodyPr wrap="square" lIns="0" tIns="0" rIns="0" bIns="0" rtlCol="0" anchor="ctr"/>
          <a:lstStyle/>
          <a:p>
            <a:pPr indent="0" marL="0">
              <a:buNone/>
            </a:pPr>
            <a:r>
              <a:rPr lang="en-US" sz="900" i="1" dirty="0">
                <a:solidFill>
                  <a:srgbClr val="77606F"/>
                </a:solidFill>
                <a:latin typeface="Calibri" pitchFamily="34" charset="0"/>
                <a:ea typeface="Calibri" pitchFamily="34" charset="-122"/>
                <a:cs typeface="Calibri" pitchFamily="34" charset="-120"/>
              </a:rPr>
              <a:t>Capítulo IV — Premedicación</a:t>
            </a:r>
            <a:endParaRPr lang="en-US" sz="900" dirty="0"/>
          </a:p>
        </p:txBody>
      </p:sp>
      <p:sp>
        <p:nvSpPr>
          <p:cNvPr id="9" name="Text 5"/>
          <p:cNvSpPr txBox="1"/>
          <p:nvPr/>
        </p:nvSpPr>
        <p:spPr>
          <a:xfrm>
            <a:off x="10362895" y="6473952"/>
            <a:ext cx="1371600" cy="292608"/>
          </a:xfrm>
          <a:prstGeom prst="rect">
            <a:avLst/>
          </a:prstGeom>
          <a:noFill/>
          <a:ln/>
        </p:spPr>
        <p:txBody>
          <a:bodyPr wrap="square" lIns="0" tIns="0" rIns="0" bIns="0" rtlCol="0" anchor="ctr"/>
          <a:lstStyle/>
          <a:p>
            <a:pPr algn="r" indent="0" marL="0">
              <a:buNone/>
            </a:pPr>
            <a:r>
              <a:rPr lang="en-US" sz="900" dirty="0">
                <a:solidFill>
                  <a:srgbClr val="77606F"/>
                </a:solidFill>
                <a:latin typeface="Calibri" pitchFamily="34" charset="0"/>
                <a:ea typeface="Calibri" pitchFamily="34" charset="-122"/>
                <a:cs typeface="Calibri" pitchFamily="34" charset="-120"/>
              </a:rPr>
              <a:t>26 / 33</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658368" cy="658368"/>
          </a:xfrm>
          <a:prstGeom prst="ellipse">
            <a:avLst/>
          </a:prstGeom>
          <a:solidFill>
            <a:srgbClr val="4A2545"/>
          </a:solidFill>
          <a:ln/>
        </p:spPr>
      </p:sp>
      <p:pic>
        <p:nvPicPr>
          <p:cNvPr id="3" name="Image 0" descr="preencoded.png">    </p:cNvPr>
          <p:cNvPicPr>
            <a:picLocks noChangeAspect="1"/>
          </p:cNvPicPr>
          <p:nvPr/>
        </p:nvPicPr>
        <p:blipFill>
          <a:blip r:embed="rId1"/>
          <a:stretch>
            <a:fillRect/>
          </a:stretch>
        </p:blipFill>
        <p:spPr>
          <a:xfrm>
            <a:off x="602041" y="556321"/>
            <a:ext cx="368686" cy="368686"/>
          </a:xfrm>
          <a:prstGeom prst="rect">
            <a:avLst/>
          </a:prstGeom>
        </p:spPr>
      </p:pic>
      <p:sp>
        <p:nvSpPr>
          <p:cNvPr id="4" name="Text 1"/>
          <p:cNvSpPr txBox="1"/>
          <p:nvPr/>
        </p:nvSpPr>
        <p:spPr>
          <a:xfrm>
            <a:off x="1298448" y="384048"/>
            <a:ext cx="9601200" cy="256032"/>
          </a:xfrm>
          <a:prstGeom prst="rect">
            <a:avLst/>
          </a:prstGeom>
          <a:noFill/>
          <a:ln/>
        </p:spPr>
        <p:txBody>
          <a:bodyPr wrap="square" lIns="0" tIns="0" rIns="0" bIns="0" rtlCol="0" anchor="ctr"/>
          <a:lstStyle/>
          <a:p>
            <a:pPr indent="0" marL="0">
              <a:buNone/>
            </a:pPr>
            <a:r>
              <a:rPr lang="en-US" sz="1150" b="1" spc="150" kern="0" dirty="0">
                <a:solidFill>
                  <a:srgbClr val="E0A458"/>
                </a:solidFill>
                <a:latin typeface="Calibri" pitchFamily="34" charset="0"/>
                <a:ea typeface="Calibri" pitchFamily="34" charset="-122"/>
                <a:cs typeface="Calibri" pitchFamily="34" charset="-120"/>
              </a:rPr>
              <a:t>OBJETIVO TERAPÉUTICO</a:t>
            </a:r>
            <a:endParaRPr lang="en-US" sz="1150" dirty="0"/>
          </a:p>
        </p:txBody>
      </p:sp>
      <p:sp>
        <p:nvSpPr>
          <p:cNvPr id="5" name="Text 2"/>
          <p:cNvSpPr txBox="1"/>
          <p:nvPr/>
        </p:nvSpPr>
        <p:spPr>
          <a:xfrm>
            <a:off x="1298448" y="621792"/>
            <a:ext cx="10058400" cy="502920"/>
          </a:xfrm>
          <a:prstGeom prst="rect">
            <a:avLst/>
          </a:prstGeom>
          <a:noFill/>
          <a:ln/>
        </p:spPr>
        <p:txBody>
          <a:bodyPr wrap="square" lIns="0" tIns="0" rIns="0" bIns="0" rtlCol="0" anchor="ctr"/>
          <a:lstStyle/>
          <a:p>
            <a:pPr indent="0" marL="0">
              <a:buNone/>
            </a:pPr>
            <a:r>
              <a:rPr lang="en-US" sz="2500" b="1" dirty="0">
                <a:solidFill>
                  <a:srgbClr val="4A2545"/>
                </a:solidFill>
                <a:latin typeface="Cambria" pitchFamily="34" charset="0"/>
                <a:ea typeface="Cambria" pitchFamily="34" charset="-122"/>
                <a:cs typeface="Cambria" pitchFamily="34" charset="-120"/>
              </a:rPr>
              <a:t>Antiácidos: prevención del síndrome de Mendelson</a:t>
            </a:r>
            <a:endParaRPr lang="en-US" sz="2500" dirty="0"/>
          </a:p>
        </p:txBody>
      </p:sp>
      <p:sp>
        <p:nvSpPr>
          <p:cNvPr id="6" name="Shape 3"/>
          <p:cNvSpPr/>
          <p:nvPr/>
        </p:nvSpPr>
        <p:spPr>
          <a:xfrm>
            <a:off x="457200" y="1508760"/>
            <a:ext cx="3566160" cy="2103120"/>
          </a:xfrm>
          <a:prstGeom prst="roundRect">
            <a:avLst>
              <a:gd name="adj" fmla="val 4348"/>
            </a:avLst>
          </a:prstGeom>
          <a:solidFill>
            <a:srgbClr val="4A2545"/>
          </a:solidFill>
          <a:ln/>
          <a:effectLst>
            <a:outerShdw sx="100000" sy="100000" kx="0" ky="0" algn="bl" rotWithShape="0" blurRad="76200" dist="25400" dir="5400000">
              <a:srgbClr val="2A1729">
                <a:alpha val="18000"/>
              </a:srgbClr>
            </a:outerShdw>
          </a:effectLst>
        </p:spPr>
      </p:sp>
      <p:sp>
        <p:nvSpPr>
          <p:cNvPr id="7" name="Text 4"/>
          <p:cNvSpPr txBox="1"/>
          <p:nvPr/>
        </p:nvSpPr>
        <p:spPr>
          <a:xfrm>
            <a:off x="640080" y="1709928"/>
            <a:ext cx="3200400" cy="822960"/>
          </a:xfrm>
          <a:prstGeom prst="rect">
            <a:avLst/>
          </a:prstGeom>
          <a:noFill/>
          <a:ln/>
        </p:spPr>
        <p:txBody>
          <a:bodyPr wrap="square" lIns="0" tIns="0" rIns="0" bIns="0" rtlCol="0" anchor="b"/>
          <a:lstStyle/>
          <a:p>
            <a:pPr algn="ctr" indent="0" marL="0">
              <a:buNone/>
            </a:pPr>
            <a:r>
              <a:rPr lang="en-US" sz="4400" b="1" dirty="0">
                <a:solidFill>
                  <a:srgbClr val="E0A458"/>
                </a:solidFill>
                <a:latin typeface="Cambria" pitchFamily="34" charset="0"/>
                <a:ea typeface="Cambria" pitchFamily="34" charset="-122"/>
                <a:cs typeface="Cambria" pitchFamily="34" charset="-120"/>
              </a:rPr>
              <a:t>pH &lt; 2.5</a:t>
            </a:r>
            <a:pPr algn="ctr" indent="0" marL="0">
              <a:buNone/>
            </a:pPr>
            <a:endParaRPr lang="en-US" sz="4400" dirty="0"/>
          </a:p>
        </p:txBody>
      </p:sp>
      <p:sp>
        <p:nvSpPr>
          <p:cNvPr id="8" name="Text 5"/>
          <p:cNvSpPr txBox="1"/>
          <p:nvPr/>
        </p:nvSpPr>
        <p:spPr>
          <a:xfrm>
            <a:off x="640080" y="2560320"/>
            <a:ext cx="3200400" cy="914400"/>
          </a:xfrm>
          <a:prstGeom prst="rect">
            <a:avLst/>
          </a:prstGeom>
          <a:noFill/>
          <a:ln/>
        </p:spPr>
        <p:txBody>
          <a:bodyPr wrap="square" lIns="0" tIns="0" rIns="0" bIns="0" rtlCol="0" anchor="t"/>
          <a:lstStyle/>
          <a:p>
            <a:pPr algn="ctr" indent="0" marL="0">
              <a:lnSpc>
                <a:spcPct val="105000"/>
              </a:lnSpc>
              <a:buNone/>
            </a:pPr>
            <a:r>
              <a:rPr lang="en-US" sz="1150" dirty="0">
                <a:solidFill>
                  <a:srgbClr val="FFFFFF"/>
                </a:solidFill>
                <a:latin typeface="Calibri" pitchFamily="34" charset="0"/>
                <a:ea typeface="Calibri" pitchFamily="34" charset="-122"/>
                <a:cs typeface="Calibri" pitchFamily="34" charset="-120"/>
              </a:rPr>
              <a:t>Umbral de acidez gástrica asociado a neumonitis química severa por aspiración</a:t>
            </a:r>
            <a:endParaRPr lang="en-US" sz="1150" dirty="0"/>
          </a:p>
        </p:txBody>
      </p:sp>
      <p:sp>
        <p:nvSpPr>
          <p:cNvPr id="9" name="Shape 6"/>
          <p:cNvSpPr/>
          <p:nvPr/>
        </p:nvSpPr>
        <p:spPr>
          <a:xfrm>
            <a:off x="4297680" y="1508760"/>
            <a:ext cx="3566160" cy="2103120"/>
          </a:xfrm>
          <a:prstGeom prst="roundRect">
            <a:avLst>
              <a:gd name="adj" fmla="val 4348"/>
            </a:avLst>
          </a:prstGeom>
          <a:solidFill>
            <a:srgbClr val="8E6C88"/>
          </a:solidFill>
          <a:ln/>
          <a:effectLst>
            <a:outerShdw sx="100000" sy="100000" kx="0" ky="0" algn="bl" rotWithShape="0" blurRad="76200" dist="25400" dir="5400000">
              <a:srgbClr val="2A1729">
                <a:alpha val="18000"/>
              </a:srgbClr>
            </a:outerShdw>
          </a:effectLst>
        </p:spPr>
      </p:sp>
      <p:sp>
        <p:nvSpPr>
          <p:cNvPr id="10" name="Text 7"/>
          <p:cNvSpPr txBox="1"/>
          <p:nvPr/>
        </p:nvSpPr>
        <p:spPr>
          <a:xfrm>
            <a:off x="4480560" y="1709928"/>
            <a:ext cx="3200400" cy="822960"/>
          </a:xfrm>
          <a:prstGeom prst="rect">
            <a:avLst/>
          </a:prstGeom>
          <a:noFill/>
          <a:ln/>
        </p:spPr>
        <p:txBody>
          <a:bodyPr wrap="square" lIns="0" tIns="0" rIns="0" bIns="0" rtlCol="0" anchor="b"/>
          <a:lstStyle/>
          <a:p>
            <a:pPr algn="ctr" indent="0" marL="0">
              <a:buNone/>
            </a:pPr>
            <a:r>
              <a:rPr lang="en-US" sz="4400" b="1" dirty="0">
                <a:solidFill>
                  <a:srgbClr val="E0A458"/>
                </a:solidFill>
                <a:latin typeface="Cambria" pitchFamily="34" charset="0"/>
                <a:ea typeface="Cambria" pitchFamily="34" charset="-122"/>
                <a:cs typeface="Cambria" pitchFamily="34" charset="-120"/>
              </a:rPr>
              <a:t>&gt; 25</a:t>
            </a:r>
            <a:pPr algn="ctr" indent="0" marL="0">
              <a:buNone/>
            </a:pPr>
            <a:r>
              <a:rPr lang="en-US" sz="1800" dirty="0">
                <a:solidFill>
                  <a:srgbClr val="FFFFFF"/>
                </a:solidFill>
                <a:latin typeface="Calibri" pitchFamily="34" charset="0"/>
                <a:ea typeface="Calibri" pitchFamily="34" charset="-122"/>
                <a:cs typeface="Calibri" pitchFamily="34" charset="-120"/>
              </a:rPr>
              <a:t> mL</a:t>
            </a:r>
            <a:endParaRPr lang="en-US" sz="4400" dirty="0"/>
          </a:p>
        </p:txBody>
      </p:sp>
      <p:sp>
        <p:nvSpPr>
          <p:cNvPr id="11" name="Text 8"/>
          <p:cNvSpPr txBox="1"/>
          <p:nvPr/>
        </p:nvSpPr>
        <p:spPr>
          <a:xfrm>
            <a:off x="4480560" y="2560320"/>
            <a:ext cx="3200400" cy="914400"/>
          </a:xfrm>
          <a:prstGeom prst="rect">
            <a:avLst/>
          </a:prstGeom>
          <a:noFill/>
          <a:ln/>
        </p:spPr>
        <p:txBody>
          <a:bodyPr wrap="square" lIns="0" tIns="0" rIns="0" bIns="0" rtlCol="0" anchor="t"/>
          <a:lstStyle/>
          <a:p>
            <a:pPr algn="ctr" indent="0" marL="0">
              <a:lnSpc>
                <a:spcPct val="105000"/>
              </a:lnSpc>
              <a:buNone/>
            </a:pPr>
            <a:r>
              <a:rPr lang="en-US" sz="1150" dirty="0">
                <a:solidFill>
                  <a:srgbClr val="FFFFFF"/>
                </a:solidFill>
                <a:latin typeface="Calibri" pitchFamily="34" charset="0"/>
                <a:ea typeface="Calibri" pitchFamily="34" charset="-122"/>
                <a:cs typeface="Calibri" pitchFamily="34" charset="-120"/>
              </a:rPr>
              <a:t>Volumen gástrico residual considerado de riesgo aumentado para aspiración</a:t>
            </a:r>
            <a:endParaRPr lang="en-US" sz="1150" dirty="0"/>
          </a:p>
        </p:txBody>
      </p:sp>
      <p:sp>
        <p:nvSpPr>
          <p:cNvPr id="12" name="Shape 9"/>
          <p:cNvSpPr/>
          <p:nvPr/>
        </p:nvSpPr>
        <p:spPr>
          <a:xfrm>
            <a:off x="8138160" y="1508760"/>
            <a:ext cx="3593592" cy="2103120"/>
          </a:xfrm>
          <a:prstGeom prst="roundRect">
            <a:avLst>
              <a:gd name="adj" fmla="val 4348"/>
            </a:avLst>
          </a:prstGeom>
          <a:solidFill>
            <a:srgbClr val="4A2545"/>
          </a:solidFill>
          <a:ln/>
          <a:effectLst>
            <a:outerShdw sx="100000" sy="100000" kx="0" ky="0" algn="bl" rotWithShape="0" blurRad="76200" dist="25400" dir="5400000">
              <a:srgbClr val="2A1729">
                <a:alpha val="18000"/>
              </a:srgbClr>
            </a:outerShdw>
          </a:effectLst>
        </p:spPr>
      </p:sp>
      <p:sp>
        <p:nvSpPr>
          <p:cNvPr id="13" name="Text 10"/>
          <p:cNvSpPr txBox="1"/>
          <p:nvPr/>
        </p:nvSpPr>
        <p:spPr>
          <a:xfrm>
            <a:off x="8321040" y="1709928"/>
            <a:ext cx="3227832" cy="822960"/>
          </a:xfrm>
          <a:prstGeom prst="rect">
            <a:avLst/>
          </a:prstGeom>
          <a:noFill/>
          <a:ln/>
        </p:spPr>
        <p:txBody>
          <a:bodyPr wrap="square" lIns="0" tIns="0" rIns="0" bIns="0" rtlCol="0" anchor="b"/>
          <a:lstStyle/>
          <a:p>
            <a:pPr algn="ctr" indent="0" marL="0">
              <a:buNone/>
            </a:pPr>
            <a:r>
              <a:rPr lang="en-US" sz="4400" b="1" dirty="0">
                <a:solidFill>
                  <a:srgbClr val="E0A458"/>
                </a:solidFill>
                <a:latin typeface="Cambria" pitchFamily="34" charset="0"/>
                <a:ea typeface="Cambria" pitchFamily="34" charset="-122"/>
                <a:cs typeface="Cambria" pitchFamily="34" charset="-120"/>
              </a:rPr>
              <a:t>1946</a:t>
            </a:r>
            <a:pPr algn="ctr" indent="0" marL="0">
              <a:buNone/>
            </a:pPr>
            <a:endParaRPr lang="en-US" sz="4400" dirty="0"/>
          </a:p>
        </p:txBody>
      </p:sp>
      <p:sp>
        <p:nvSpPr>
          <p:cNvPr id="14" name="Text 11"/>
          <p:cNvSpPr txBox="1"/>
          <p:nvPr/>
        </p:nvSpPr>
        <p:spPr>
          <a:xfrm>
            <a:off x="8321040" y="2560320"/>
            <a:ext cx="3227832" cy="914400"/>
          </a:xfrm>
          <a:prstGeom prst="rect">
            <a:avLst/>
          </a:prstGeom>
          <a:noFill/>
          <a:ln/>
        </p:spPr>
        <p:txBody>
          <a:bodyPr wrap="square" lIns="0" tIns="0" rIns="0" bIns="0" rtlCol="0" anchor="t"/>
          <a:lstStyle/>
          <a:p>
            <a:pPr algn="ctr" indent="0" marL="0">
              <a:lnSpc>
                <a:spcPct val="105000"/>
              </a:lnSpc>
              <a:buNone/>
            </a:pPr>
            <a:r>
              <a:rPr lang="en-US" sz="1150" dirty="0">
                <a:solidFill>
                  <a:srgbClr val="FFFFFF"/>
                </a:solidFill>
                <a:latin typeface="Calibri" pitchFamily="34" charset="0"/>
                <a:ea typeface="Calibri" pitchFamily="34" charset="-122"/>
                <a:cs typeface="Calibri" pitchFamily="34" charset="-120"/>
              </a:rPr>
              <a:t>Año en que Curtis Mendelson describió el síndrome de aspiración ácida</a:t>
            </a:r>
            <a:endParaRPr lang="en-US" sz="1150" dirty="0"/>
          </a:p>
        </p:txBody>
      </p:sp>
      <p:sp>
        <p:nvSpPr>
          <p:cNvPr id="15" name="Text 12"/>
          <p:cNvSpPr txBox="1"/>
          <p:nvPr/>
        </p:nvSpPr>
        <p:spPr>
          <a:xfrm>
            <a:off x="457200" y="3886200"/>
            <a:ext cx="11277295" cy="2103120"/>
          </a:xfrm>
          <a:prstGeom prst="rect">
            <a:avLst/>
          </a:prstGeom>
          <a:noFill/>
          <a:ln/>
        </p:spPr>
        <p:txBody>
          <a:bodyPr wrap="square" lIns="0" tIns="0" rIns="0" bIns="0" rtlCol="0" anchor="t"/>
          <a:lstStyle/>
          <a:p>
            <a:pPr marL="177800" indent="-177800">
              <a:lnSpc>
                <a:spcPct val="112000"/>
              </a:lnSpc>
              <a:spcAft>
                <a:spcPts val="1000"/>
              </a:spcAft>
              <a:buSzPct val="100000"/>
              <a:buChar char="•"/>
            </a:pPr>
            <a:r>
              <a:rPr lang="en-US" sz="1300" dirty="0">
                <a:solidFill>
                  <a:srgbClr val="3A2A35"/>
                </a:solidFill>
                <a:latin typeface="Calibri" pitchFamily="34" charset="0"/>
                <a:ea typeface="Calibri" pitchFamily="34" charset="-122"/>
                <a:cs typeface="Calibri" pitchFamily="34" charset="-120"/>
              </a:rPr>
              <a:t>El síndrome de Mendelson es una neumonitis química por aspiración de contenido gástrico ácido durante la inducción o emergencia anestésica.</a:t>
            </a:r>
            <a:endParaRPr lang="en-US" sz="1300" dirty="0"/>
          </a:p>
          <a:p>
            <a:pPr marL="177800" indent="-177800">
              <a:lnSpc>
                <a:spcPct val="112000"/>
              </a:lnSpc>
              <a:spcAft>
                <a:spcPts val="1000"/>
              </a:spcAft>
              <a:buSzPct val="100000"/>
              <a:buChar char="•"/>
            </a:pPr>
            <a:r>
              <a:rPr lang="en-US" sz="1300" dirty="0">
                <a:solidFill>
                  <a:srgbClr val="3A2A35"/>
                </a:solidFill>
                <a:latin typeface="Calibri" pitchFamily="34" charset="0"/>
                <a:ea typeface="Calibri" pitchFamily="34" charset="-122"/>
                <a:cs typeface="Calibri" pitchFamily="34" charset="-120"/>
              </a:rPr>
              <a:t>El objetivo farmacológico es doble: aumentar el pH gástrico y/o reducir el volumen del contenido gástrico.</a:t>
            </a:r>
            <a:endParaRPr lang="en-US" sz="1300" dirty="0"/>
          </a:p>
          <a:p>
            <a:pPr marL="177800" indent="-177800">
              <a:lnSpc>
                <a:spcPct val="112000"/>
              </a:lnSpc>
              <a:spcAft>
                <a:spcPts val="1000"/>
              </a:spcAft>
              <a:buSzPct val="100000"/>
              <a:buChar char="•"/>
            </a:pPr>
            <a:r>
              <a:rPr lang="en-US" sz="1300" dirty="0">
                <a:solidFill>
                  <a:srgbClr val="3A2A35"/>
                </a:solidFill>
                <a:latin typeface="Calibri" pitchFamily="34" charset="0"/>
                <a:ea typeface="Calibri" pitchFamily="34" charset="-122"/>
                <a:cs typeface="Calibri" pitchFamily="34" charset="-120"/>
              </a:rPr>
              <a:t>El riesgo aumenta en embarazo, obesidad, estómago lleno, obstrucción intestinal, reflujo gastroesofágico y vía aérea difícil anticipada.</a:t>
            </a:r>
            <a:endParaRPr lang="en-US" sz="1300" dirty="0"/>
          </a:p>
        </p:txBody>
      </p:sp>
      <p:sp>
        <p:nvSpPr>
          <p:cNvPr id="16" name="Text 13"/>
          <p:cNvSpPr txBox="1"/>
          <p:nvPr/>
        </p:nvSpPr>
        <p:spPr>
          <a:xfrm>
            <a:off x="457200" y="6473952"/>
            <a:ext cx="6400800" cy="292608"/>
          </a:xfrm>
          <a:prstGeom prst="rect">
            <a:avLst/>
          </a:prstGeom>
          <a:noFill/>
          <a:ln/>
        </p:spPr>
        <p:txBody>
          <a:bodyPr wrap="square" lIns="0" tIns="0" rIns="0" bIns="0" rtlCol="0" anchor="ctr"/>
          <a:lstStyle/>
          <a:p>
            <a:pPr indent="0" marL="0">
              <a:buNone/>
            </a:pPr>
            <a:r>
              <a:rPr lang="en-US" sz="900" i="1" dirty="0">
                <a:solidFill>
                  <a:srgbClr val="77606F"/>
                </a:solidFill>
                <a:latin typeface="Calibri" pitchFamily="34" charset="0"/>
                <a:ea typeface="Calibri" pitchFamily="34" charset="-122"/>
                <a:cs typeface="Calibri" pitchFamily="34" charset="-120"/>
              </a:rPr>
              <a:t>Capítulo IV — Premedicación</a:t>
            </a:r>
            <a:endParaRPr lang="en-US" sz="900" dirty="0"/>
          </a:p>
        </p:txBody>
      </p:sp>
      <p:sp>
        <p:nvSpPr>
          <p:cNvPr id="17" name="Text 14"/>
          <p:cNvSpPr txBox="1"/>
          <p:nvPr/>
        </p:nvSpPr>
        <p:spPr>
          <a:xfrm>
            <a:off x="10362895" y="6473952"/>
            <a:ext cx="1371600" cy="292608"/>
          </a:xfrm>
          <a:prstGeom prst="rect">
            <a:avLst/>
          </a:prstGeom>
          <a:noFill/>
          <a:ln/>
        </p:spPr>
        <p:txBody>
          <a:bodyPr wrap="square" lIns="0" tIns="0" rIns="0" bIns="0" rtlCol="0" anchor="ctr"/>
          <a:lstStyle/>
          <a:p>
            <a:pPr algn="r" indent="0" marL="0">
              <a:buNone/>
            </a:pPr>
            <a:r>
              <a:rPr lang="en-US" sz="900" dirty="0">
                <a:solidFill>
                  <a:srgbClr val="77606F"/>
                </a:solidFill>
                <a:latin typeface="Calibri" pitchFamily="34" charset="0"/>
                <a:ea typeface="Calibri" pitchFamily="34" charset="-122"/>
                <a:cs typeface="Calibri" pitchFamily="34" charset="-120"/>
              </a:rPr>
              <a:t>27 / 33</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658368" cy="658368"/>
          </a:xfrm>
          <a:prstGeom prst="ellipse">
            <a:avLst/>
          </a:prstGeom>
          <a:solidFill>
            <a:srgbClr val="4A2545"/>
          </a:solidFill>
          <a:ln/>
        </p:spPr>
      </p:sp>
      <p:pic>
        <p:nvPicPr>
          <p:cNvPr id="3" name="Image 0" descr="preencoded.png">    </p:cNvPr>
          <p:cNvPicPr>
            <a:picLocks noChangeAspect="1"/>
          </p:cNvPicPr>
          <p:nvPr/>
        </p:nvPicPr>
        <p:blipFill>
          <a:blip r:embed="rId1"/>
          <a:stretch>
            <a:fillRect/>
          </a:stretch>
        </p:blipFill>
        <p:spPr>
          <a:xfrm>
            <a:off x="602041" y="556321"/>
            <a:ext cx="368686" cy="368686"/>
          </a:xfrm>
          <a:prstGeom prst="rect">
            <a:avLst/>
          </a:prstGeom>
        </p:spPr>
      </p:pic>
      <p:sp>
        <p:nvSpPr>
          <p:cNvPr id="4" name="Text 1"/>
          <p:cNvSpPr txBox="1"/>
          <p:nvPr/>
        </p:nvSpPr>
        <p:spPr>
          <a:xfrm>
            <a:off x="1298448" y="384048"/>
            <a:ext cx="9601200" cy="256032"/>
          </a:xfrm>
          <a:prstGeom prst="rect">
            <a:avLst/>
          </a:prstGeom>
          <a:noFill/>
          <a:ln/>
        </p:spPr>
        <p:txBody>
          <a:bodyPr wrap="square" lIns="0" tIns="0" rIns="0" bIns="0" rtlCol="0" anchor="ctr"/>
          <a:lstStyle/>
          <a:p>
            <a:pPr indent="0" marL="0">
              <a:buNone/>
            </a:pPr>
            <a:r>
              <a:rPr lang="en-US" sz="1150" b="1" spc="150" kern="0" dirty="0">
                <a:solidFill>
                  <a:srgbClr val="E0A458"/>
                </a:solidFill>
                <a:latin typeface="Calibri" pitchFamily="34" charset="0"/>
                <a:ea typeface="Calibri" pitchFamily="34" charset="-122"/>
                <a:cs typeface="Calibri" pitchFamily="34" charset="-120"/>
              </a:rPr>
              <a:t>ESTRATEGIAS FARMACOLÓGICAS</a:t>
            </a:r>
            <a:endParaRPr lang="en-US" sz="1150" dirty="0"/>
          </a:p>
        </p:txBody>
      </p:sp>
      <p:sp>
        <p:nvSpPr>
          <p:cNvPr id="5" name="Text 2"/>
          <p:cNvSpPr txBox="1"/>
          <p:nvPr/>
        </p:nvSpPr>
        <p:spPr>
          <a:xfrm>
            <a:off x="1298448" y="621792"/>
            <a:ext cx="10058400" cy="502920"/>
          </a:xfrm>
          <a:prstGeom prst="rect">
            <a:avLst/>
          </a:prstGeom>
          <a:noFill/>
          <a:ln/>
        </p:spPr>
        <p:txBody>
          <a:bodyPr wrap="square" lIns="0" tIns="0" rIns="0" bIns="0" rtlCol="0" anchor="ctr"/>
          <a:lstStyle/>
          <a:p>
            <a:pPr indent="0" marL="0">
              <a:buNone/>
            </a:pPr>
            <a:r>
              <a:rPr lang="en-US" sz="2500" b="1" dirty="0">
                <a:solidFill>
                  <a:srgbClr val="4A2545"/>
                </a:solidFill>
                <a:latin typeface="Cambria" pitchFamily="34" charset="0"/>
                <a:ea typeface="Cambria" pitchFamily="34" charset="-122"/>
                <a:cs typeface="Cambria" pitchFamily="34" charset="-120"/>
              </a:rPr>
              <a:t>Antiácidos: tipos</a:t>
            </a:r>
            <a:endParaRPr lang="en-US" sz="2500" dirty="0"/>
          </a:p>
        </p:txBody>
      </p:sp>
      <p:sp>
        <p:nvSpPr>
          <p:cNvPr id="6" name="Shape 3"/>
          <p:cNvSpPr/>
          <p:nvPr/>
        </p:nvSpPr>
        <p:spPr>
          <a:xfrm>
            <a:off x="457200" y="1508760"/>
            <a:ext cx="3588410" cy="3017520"/>
          </a:xfrm>
          <a:prstGeom prst="roundRect">
            <a:avLst>
              <a:gd name="adj" fmla="val 2424"/>
            </a:avLst>
          </a:prstGeom>
          <a:solidFill>
            <a:srgbClr val="F4EEF2"/>
          </a:solidFill>
          <a:ln/>
          <a:effectLst>
            <a:outerShdw sx="100000" sy="100000" kx="0" ky="0" algn="bl" rotWithShape="0" blurRad="76200" dist="25400" dir="5400000">
              <a:srgbClr val="2A1729">
                <a:alpha val="18000"/>
              </a:srgbClr>
            </a:outerShdw>
          </a:effectLst>
        </p:spPr>
      </p:sp>
      <p:sp>
        <p:nvSpPr>
          <p:cNvPr id="7" name="Shape 4"/>
          <p:cNvSpPr/>
          <p:nvPr/>
        </p:nvSpPr>
        <p:spPr>
          <a:xfrm>
            <a:off x="1977085" y="1691640"/>
            <a:ext cx="548640" cy="548640"/>
          </a:xfrm>
          <a:prstGeom prst="ellipse">
            <a:avLst/>
          </a:prstGeom>
          <a:solidFill>
            <a:srgbClr val="4A2545"/>
          </a:solidFill>
          <a:ln/>
        </p:spPr>
      </p:sp>
      <p:pic>
        <p:nvPicPr>
          <p:cNvPr id="8" name="Image 1" descr="preencoded.png">    </p:cNvPr>
          <p:cNvPicPr>
            <a:picLocks noChangeAspect="1"/>
          </p:cNvPicPr>
          <p:nvPr/>
        </p:nvPicPr>
        <p:blipFill>
          <a:blip r:embed="rId2"/>
          <a:stretch>
            <a:fillRect/>
          </a:stretch>
        </p:blipFill>
        <p:spPr>
          <a:xfrm>
            <a:off x="2097786" y="1812341"/>
            <a:ext cx="307238" cy="307238"/>
          </a:xfrm>
          <a:prstGeom prst="rect">
            <a:avLst/>
          </a:prstGeom>
        </p:spPr>
      </p:pic>
      <p:sp>
        <p:nvSpPr>
          <p:cNvPr id="9" name="Text 5"/>
          <p:cNvSpPr txBox="1"/>
          <p:nvPr/>
        </p:nvSpPr>
        <p:spPr>
          <a:xfrm>
            <a:off x="566928" y="2313432"/>
            <a:ext cx="3368954" cy="512064"/>
          </a:xfrm>
          <a:prstGeom prst="rect">
            <a:avLst/>
          </a:prstGeom>
          <a:noFill/>
          <a:ln/>
        </p:spPr>
        <p:txBody>
          <a:bodyPr wrap="square" lIns="0" tIns="0" rIns="0" bIns="0" rtlCol="0" anchor="t"/>
          <a:lstStyle/>
          <a:p>
            <a:pPr algn="ctr" indent="0" marL="0">
              <a:buNone/>
            </a:pPr>
            <a:r>
              <a:rPr lang="en-US" sz="1400" b="1" dirty="0">
                <a:solidFill>
                  <a:srgbClr val="4A2545"/>
                </a:solidFill>
                <a:latin typeface="Cambria" pitchFamily="34" charset="0"/>
                <a:ea typeface="Cambria" pitchFamily="34" charset="-122"/>
                <a:cs typeface="Cambria" pitchFamily="34" charset="-120"/>
              </a:rPr>
              <a:t>No particulados</a:t>
            </a:r>
            <a:endParaRPr lang="en-US" sz="1400" dirty="0"/>
          </a:p>
        </p:txBody>
      </p:sp>
      <p:sp>
        <p:nvSpPr>
          <p:cNvPr id="10" name="Text 6"/>
          <p:cNvSpPr txBox="1"/>
          <p:nvPr/>
        </p:nvSpPr>
        <p:spPr>
          <a:xfrm>
            <a:off x="621792" y="2862072"/>
            <a:ext cx="3259226" cy="1572768"/>
          </a:xfrm>
          <a:prstGeom prst="rect">
            <a:avLst/>
          </a:prstGeom>
          <a:noFill/>
          <a:ln/>
        </p:spPr>
        <p:txBody>
          <a:bodyPr wrap="square" lIns="0" tIns="0" rIns="0" bIns="0" rtlCol="0" anchor="t"/>
          <a:lstStyle/>
          <a:p>
            <a:pPr algn="ctr" indent="0" marL="0">
              <a:lnSpc>
                <a:spcPct val="105000"/>
              </a:lnSpc>
              <a:buNone/>
            </a:pPr>
            <a:r>
              <a:rPr lang="en-US" sz="1050" dirty="0">
                <a:solidFill>
                  <a:srgbClr val="3A2A35"/>
                </a:solidFill>
                <a:latin typeface="Calibri" pitchFamily="34" charset="0"/>
                <a:ea typeface="Calibri" pitchFamily="34" charset="-122"/>
                <a:cs typeface="Calibri" pitchFamily="34" charset="-120"/>
              </a:rPr>
              <a:t>Citrato de sodio 0.3 M, 30 mL VO 15-30 min antes. Neutralizan el ácido existente sin dejar partículas que agraven la neumonitis si son aspiradas.</a:t>
            </a:r>
            <a:endParaRPr lang="en-US" sz="1050" dirty="0"/>
          </a:p>
        </p:txBody>
      </p:sp>
      <p:sp>
        <p:nvSpPr>
          <p:cNvPr id="11" name="Shape 7"/>
          <p:cNvSpPr/>
          <p:nvPr/>
        </p:nvSpPr>
        <p:spPr>
          <a:xfrm>
            <a:off x="4301642" y="1508760"/>
            <a:ext cx="3588410" cy="3017520"/>
          </a:xfrm>
          <a:prstGeom prst="roundRect">
            <a:avLst>
              <a:gd name="adj" fmla="val 2424"/>
            </a:avLst>
          </a:prstGeom>
          <a:solidFill>
            <a:srgbClr val="F4EEF2"/>
          </a:solidFill>
          <a:ln/>
          <a:effectLst>
            <a:outerShdw sx="100000" sy="100000" kx="0" ky="0" algn="bl" rotWithShape="0" blurRad="76200" dist="25400" dir="5400000">
              <a:srgbClr val="2A1729">
                <a:alpha val="18000"/>
              </a:srgbClr>
            </a:outerShdw>
          </a:effectLst>
        </p:spPr>
      </p:sp>
      <p:sp>
        <p:nvSpPr>
          <p:cNvPr id="12" name="Shape 8"/>
          <p:cNvSpPr/>
          <p:nvPr/>
        </p:nvSpPr>
        <p:spPr>
          <a:xfrm>
            <a:off x="5821528" y="1691640"/>
            <a:ext cx="548640" cy="548640"/>
          </a:xfrm>
          <a:prstGeom prst="ellipse">
            <a:avLst/>
          </a:prstGeom>
          <a:solidFill>
            <a:srgbClr val="8E6C88"/>
          </a:solidFill>
          <a:ln/>
        </p:spPr>
      </p:sp>
      <p:pic>
        <p:nvPicPr>
          <p:cNvPr id="13" name="Image 2" descr="preencoded.png">    </p:cNvPr>
          <p:cNvPicPr>
            <a:picLocks noChangeAspect="1"/>
          </p:cNvPicPr>
          <p:nvPr/>
        </p:nvPicPr>
        <p:blipFill>
          <a:blip r:embed="rId3"/>
          <a:stretch>
            <a:fillRect/>
          </a:stretch>
        </p:blipFill>
        <p:spPr>
          <a:xfrm>
            <a:off x="5942228" y="1812341"/>
            <a:ext cx="307238" cy="307238"/>
          </a:xfrm>
          <a:prstGeom prst="rect">
            <a:avLst/>
          </a:prstGeom>
        </p:spPr>
      </p:pic>
      <p:sp>
        <p:nvSpPr>
          <p:cNvPr id="14" name="Text 9"/>
          <p:cNvSpPr txBox="1"/>
          <p:nvPr/>
        </p:nvSpPr>
        <p:spPr>
          <a:xfrm>
            <a:off x="4411370" y="2313432"/>
            <a:ext cx="3368954" cy="512064"/>
          </a:xfrm>
          <a:prstGeom prst="rect">
            <a:avLst/>
          </a:prstGeom>
          <a:noFill/>
          <a:ln/>
        </p:spPr>
        <p:txBody>
          <a:bodyPr wrap="square" lIns="0" tIns="0" rIns="0" bIns="0" rtlCol="0" anchor="t"/>
          <a:lstStyle/>
          <a:p>
            <a:pPr algn="ctr" indent="0" marL="0">
              <a:buNone/>
            </a:pPr>
            <a:r>
              <a:rPr lang="en-US" sz="1400" b="1" dirty="0">
                <a:solidFill>
                  <a:srgbClr val="4A2545"/>
                </a:solidFill>
                <a:latin typeface="Cambria" pitchFamily="34" charset="0"/>
                <a:ea typeface="Cambria" pitchFamily="34" charset="-122"/>
                <a:cs typeface="Cambria" pitchFamily="34" charset="-120"/>
              </a:rPr>
              <a:t>Antagonistas H2</a:t>
            </a:r>
            <a:endParaRPr lang="en-US" sz="1400" dirty="0"/>
          </a:p>
        </p:txBody>
      </p:sp>
      <p:sp>
        <p:nvSpPr>
          <p:cNvPr id="15" name="Text 10"/>
          <p:cNvSpPr txBox="1"/>
          <p:nvPr/>
        </p:nvSpPr>
        <p:spPr>
          <a:xfrm>
            <a:off x="4466234" y="2862072"/>
            <a:ext cx="3259226" cy="1572768"/>
          </a:xfrm>
          <a:prstGeom prst="rect">
            <a:avLst/>
          </a:prstGeom>
          <a:noFill/>
          <a:ln/>
        </p:spPr>
        <p:txBody>
          <a:bodyPr wrap="square" lIns="0" tIns="0" rIns="0" bIns="0" rtlCol="0" anchor="t"/>
          <a:lstStyle/>
          <a:p>
            <a:pPr algn="ctr" indent="0" marL="0">
              <a:lnSpc>
                <a:spcPct val="105000"/>
              </a:lnSpc>
              <a:buNone/>
            </a:pPr>
            <a:r>
              <a:rPr lang="en-US" sz="1050" dirty="0">
                <a:solidFill>
                  <a:srgbClr val="3A2A35"/>
                </a:solidFill>
                <a:latin typeface="Calibri" pitchFamily="34" charset="0"/>
                <a:ea typeface="Calibri" pitchFamily="34" charset="-122"/>
                <a:cs typeface="Calibri" pitchFamily="34" charset="-120"/>
              </a:rPr>
              <a:t>Ranitidina, famotidina. Inhiben la secreción ácida mediada por histamina; requieren 60-90 min para alcanzar efecto máximo.</a:t>
            </a:r>
            <a:endParaRPr lang="en-US" sz="1050" dirty="0"/>
          </a:p>
        </p:txBody>
      </p:sp>
      <p:sp>
        <p:nvSpPr>
          <p:cNvPr id="16" name="Shape 11"/>
          <p:cNvSpPr/>
          <p:nvPr/>
        </p:nvSpPr>
        <p:spPr>
          <a:xfrm>
            <a:off x="8146085" y="1508760"/>
            <a:ext cx="3588410" cy="3017520"/>
          </a:xfrm>
          <a:prstGeom prst="roundRect">
            <a:avLst>
              <a:gd name="adj" fmla="val 2424"/>
            </a:avLst>
          </a:prstGeom>
          <a:solidFill>
            <a:srgbClr val="F4EEF2"/>
          </a:solidFill>
          <a:ln/>
          <a:effectLst>
            <a:outerShdw sx="100000" sy="100000" kx="0" ky="0" algn="bl" rotWithShape="0" blurRad="76200" dist="25400" dir="5400000">
              <a:srgbClr val="2A1729">
                <a:alpha val="18000"/>
              </a:srgbClr>
            </a:outerShdw>
          </a:effectLst>
        </p:spPr>
      </p:sp>
      <p:sp>
        <p:nvSpPr>
          <p:cNvPr id="17" name="Shape 12"/>
          <p:cNvSpPr/>
          <p:nvPr/>
        </p:nvSpPr>
        <p:spPr>
          <a:xfrm>
            <a:off x="9665970" y="1691640"/>
            <a:ext cx="548640" cy="548640"/>
          </a:xfrm>
          <a:prstGeom prst="ellipse">
            <a:avLst/>
          </a:prstGeom>
          <a:solidFill>
            <a:srgbClr val="4A2545"/>
          </a:solidFill>
          <a:ln/>
        </p:spPr>
      </p:sp>
      <p:pic>
        <p:nvPicPr>
          <p:cNvPr id="18" name="Image 3" descr="preencoded.png">    </p:cNvPr>
          <p:cNvPicPr>
            <a:picLocks noChangeAspect="1"/>
          </p:cNvPicPr>
          <p:nvPr/>
        </p:nvPicPr>
        <p:blipFill>
          <a:blip r:embed="rId4"/>
          <a:stretch>
            <a:fillRect/>
          </a:stretch>
        </p:blipFill>
        <p:spPr>
          <a:xfrm>
            <a:off x="9786671" y="1812341"/>
            <a:ext cx="307238" cy="307238"/>
          </a:xfrm>
          <a:prstGeom prst="rect">
            <a:avLst/>
          </a:prstGeom>
        </p:spPr>
      </p:pic>
      <p:sp>
        <p:nvSpPr>
          <p:cNvPr id="19" name="Text 13"/>
          <p:cNvSpPr txBox="1"/>
          <p:nvPr/>
        </p:nvSpPr>
        <p:spPr>
          <a:xfrm>
            <a:off x="8255813" y="2313432"/>
            <a:ext cx="3368954" cy="512064"/>
          </a:xfrm>
          <a:prstGeom prst="rect">
            <a:avLst/>
          </a:prstGeom>
          <a:noFill/>
          <a:ln/>
        </p:spPr>
        <p:txBody>
          <a:bodyPr wrap="square" lIns="0" tIns="0" rIns="0" bIns="0" rtlCol="0" anchor="t"/>
          <a:lstStyle/>
          <a:p>
            <a:pPr algn="ctr" indent="0" marL="0">
              <a:buNone/>
            </a:pPr>
            <a:r>
              <a:rPr lang="en-US" sz="1400" b="1" dirty="0">
                <a:solidFill>
                  <a:srgbClr val="4A2545"/>
                </a:solidFill>
                <a:latin typeface="Cambria" pitchFamily="34" charset="0"/>
                <a:ea typeface="Cambria" pitchFamily="34" charset="-122"/>
                <a:cs typeface="Cambria" pitchFamily="34" charset="-120"/>
              </a:rPr>
              <a:t>Inhibidores de la bomba de protones</a:t>
            </a:r>
            <a:endParaRPr lang="en-US" sz="1400" dirty="0"/>
          </a:p>
        </p:txBody>
      </p:sp>
      <p:sp>
        <p:nvSpPr>
          <p:cNvPr id="20" name="Text 14"/>
          <p:cNvSpPr txBox="1"/>
          <p:nvPr/>
        </p:nvSpPr>
        <p:spPr>
          <a:xfrm>
            <a:off x="8310677" y="2862072"/>
            <a:ext cx="3259226" cy="1572768"/>
          </a:xfrm>
          <a:prstGeom prst="rect">
            <a:avLst/>
          </a:prstGeom>
          <a:noFill/>
          <a:ln/>
        </p:spPr>
        <p:txBody>
          <a:bodyPr wrap="square" lIns="0" tIns="0" rIns="0" bIns="0" rtlCol="0" anchor="t"/>
          <a:lstStyle/>
          <a:p>
            <a:pPr algn="ctr" indent="0" marL="0">
              <a:lnSpc>
                <a:spcPct val="105000"/>
              </a:lnSpc>
              <a:buNone/>
            </a:pPr>
            <a:r>
              <a:rPr lang="en-US" sz="1050" dirty="0">
                <a:solidFill>
                  <a:srgbClr val="3A2A35"/>
                </a:solidFill>
                <a:latin typeface="Calibri" pitchFamily="34" charset="0"/>
                <a:ea typeface="Calibri" pitchFamily="34" charset="-122"/>
                <a:cs typeface="Calibri" pitchFamily="34" charset="-120"/>
              </a:rPr>
              <a:t>Omeprazol, pantoprazol. Bloqueo irreversible de la H+/K+-ATPasa; efecto más sostenido pero de inicio más lento (requieren dosis la noche previa y en la mañana).</a:t>
            </a:r>
            <a:endParaRPr lang="en-US" sz="1050" dirty="0"/>
          </a:p>
        </p:txBody>
      </p:sp>
      <p:sp>
        <p:nvSpPr>
          <p:cNvPr id="21" name="Text 15"/>
          <p:cNvSpPr txBox="1"/>
          <p:nvPr/>
        </p:nvSpPr>
        <p:spPr>
          <a:xfrm>
            <a:off x="457200" y="6473952"/>
            <a:ext cx="6400800" cy="292608"/>
          </a:xfrm>
          <a:prstGeom prst="rect">
            <a:avLst/>
          </a:prstGeom>
          <a:noFill/>
          <a:ln/>
        </p:spPr>
        <p:txBody>
          <a:bodyPr wrap="square" lIns="0" tIns="0" rIns="0" bIns="0" rtlCol="0" anchor="ctr"/>
          <a:lstStyle/>
          <a:p>
            <a:pPr indent="0" marL="0">
              <a:buNone/>
            </a:pPr>
            <a:r>
              <a:rPr lang="en-US" sz="900" i="1" dirty="0">
                <a:solidFill>
                  <a:srgbClr val="77606F"/>
                </a:solidFill>
                <a:latin typeface="Calibri" pitchFamily="34" charset="0"/>
                <a:ea typeface="Calibri" pitchFamily="34" charset="-122"/>
                <a:cs typeface="Calibri" pitchFamily="34" charset="-120"/>
              </a:rPr>
              <a:t>Capítulo IV — Premedicación</a:t>
            </a:r>
            <a:endParaRPr lang="en-US" sz="900" dirty="0"/>
          </a:p>
        </p:txBody>
      </p:sp>
      <p:sp>
        <p:nvSpPr>
          <p:cNvPr id="22" name="Text 16"/>
          <p:cNvSpPr txBox="1"/>
          <p:nvPr/>
        </p:nvSpPr>
        <p:spPr>
          <a:xfrm>
            <a:off x="10362895" y="6473952"/>
            <a:ext cx="1371600" cy="292608"/>
          </a:xfrm>
          <a:prstGeom prst="rect">
            <a:avLst/>
          </a:prstGeom>
          <a:noFill/>
          <a:ln/>
        </p:spPr>
        <p:txBody>
          <a:bodyPr wrap="square" lIns="0" tIns="0" rIns="0" bIns="0" rtlCol="0" anchor="ctr"/>
          <a:lstStyle/>
          <a:p>
            <a:pPr algn="r" indent="0" marL="0">
              <a:buNone/>
            </a:pPr>
            <a:r>
              <a:rPr lang="en-US" sz="900" dirty="0">
                <a:solidFill>
                  <a:srgbClr val="77606F"/>
                </a:solidFill>
                <a:latin typeface="Calibri" pitchFamily="34" charset="0"/>
                <a:ea typeface="Calibri" pitchFamily="34" charset="-122"/>
                <a:cs typeface="Calibri" pitchFamily="34" charset="-120"/>
              </a:rPr>
              <a:t>28 / 33</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658368" cy="658368"/>
          </a:xfrm>
          <a:prstGeom prst="ellipse">
            <a:avLst/>
          </a:prstGeom>
          <a:solidFill>
            <a:srgbClr val="4A2545"/>
          </a:solidFill>
          <a:ln/>
        </p:spPr>
      </p:sp>
      <p:pic>
        <p:nvPicPr>
          <p:cNvPr id="3" name="Image 0" descr="preencoded.png">    </p:cNvPr>
          <p:cNvPicPr>
            <a:picLocks noChangeAspect="1"/>
          </p:cNvPicPr>
          <p:nvPr/>
        </p:nvPicPr>
        <p:blipFill>
          <a:blip r:embed="rId1"/>
          <a:stretch>
            <a:fillRect/>
          </a:stretch>
        </p:blipFill>
        <p:spPr>
          <a:xfrm>
            <a:off x="602041" y="556321"/>
            <a:ext cx="368686" cy="368686"/>
          </a:xfrm>
          <a:prstGeom prst="rect">
            <a:avLst/>
          </a:prstGeom>
        </p:spPr>
      </p:pic>
      <p:sp>
        <p:nvSpPr>
          <p:cNvPr id="4" name="Text 1"/>
          <p:cNvSpPr txBox="1"/>
          <p:nvPr/>
        </p:nvSpPr>
        <p:spPr>
          <a:xfrm>
            <a:off x="1298448" y="384048"/>
            <a:ext cx="9601200" cy="256032"/>
          </a:xfrm>
          <a:prstGeom prst="rect">
            <a:avLst/>
          </a:prstGeom>
          <a:noFill/>
          <a:ln/>
        </p:spPr>
        <p:txBody>
          <a:bodyPr wrap="square" lIns="0" tIns="0" rIns="0" bIns="0" rtlCol="0" anchor="ctr"/>
          <a:lstStyle/>
          <a:p>
            <a:pPr indent="0" marL="0">
              <a:buNone/>
            </a:pPr>
            <a:r>
              <a:rPr lang="en-US" sz="1150" b="1" spc="150" kern="0" dirty="0">
                <a:solidFill>
                  <a:srgbClr val="E0A458"/>
                </a:solidFill>
                <a:latin typeface="Calibri" pitchFamily="34" charset="0"/>
                <a:ea typeface="Calibri" pitchFamily="34" charset="-122"/>
                <a:cs typeface="Calibri" pitchFamily="34" charset="-120"/>
              </a:rPr>
              <a:t>PROTOCOLO PRÁCTICO</a:t>
            </a:r>
            <a:endParaRPr lang="en-US" sz="1150" dirty="0"/>
          </a:p>
        </p:txBody>
      </p:sp>
      <p:sp>
        <p:nvSpPr>
          <p:cNvPr id="5" name="Text 2"/>
          <p:cNvSpPr txBox="1"/>
          <p:nvPr/>
        </p:nvSpPr>
        <p:spPr>
          <a:xfrm>
            <a:off x="1298448" y="621792"/>
            <a:ext cx="10058400" cy="502920"/>
          </a:xfrm>
          <a:prstGeom prst="rect">
            <a:avLst/>
          </a:prstGeom>
          <a:noFill/>
          <a:ln/>
        </p:spPr>
        <p:txBody>
          <a:bodyPr wrap="square" lIns="0" tIns="0" rIns="0" bIns="0" rtlCol="0" anchor="ctr"/>
          <a:lstStyle/>
          <a:p>
            <a:pPr indent="0" marL="0">
              <a:buNone/>
            </a:pPr>
            <a:r>
              <a:rPr lang="en-US" sz="2500" b="1" dirty="0">
                <a:solidFill>
                  <a:srgbClr val="4A2545"/>
                </a:solidFill>
                <a:latin typeface="Cambria" pitchFamily="34" charset="0"/>
                <a:ea typeface="Cambria" pitchFamily="34" charset="-122"/>
                <a:cs typeface="Cambria" pitchFamily="34" charset="-120"/>
              </a:rPr>
              <a:t>Profilaxis combinada de aspiración pulmonar</a:t>
            </a:r>
            <a:endParaRPr lang="en-US" sz="2500" dirty="0"/>
          </a:p>
        </p:txBody>
      </p:sp>
      <p:sp>
        <p:nvSpPr>
          <p:cNvPr id="6" name="Shape 3"/>
          <p:cNvSpPr/>
          <p:nvPr/>
        </p:nvSpPr>
        <p:spPr>
          <a:xfrm>
            <a:off x="457200" y="1600200"/>
            <a:ext cx="1999427" cy="4160520"/>
          </a:xfrm>
          <a:prstGeom prst="roundRect">
            <a:avLst>
              <a:gd name="adj" fmla="val 4116"/>
            </a:avLst>
          </a:prstGeom>
          <a:solidFill>
            <a:srgbClr val="F4EEF2"/>
          </a:solidFill>
          <a:ln/>
          <a:effectLst>
            <a:outerShdw sx="100000" sy="100000" kx="0" ky="0" algn="bl" rotWithShape="0" blurRad="76200" dist="25400" dir="5400000">
              <a:srgbClr val="2A1729">
                <a:alpha val="18000"/>
              </a:srgbClr>
            </a:outerShdw>
          </a:effectLst>
        </p:spPr>
      </p:sp>
      <p:sp>
        <p:nvSpPr>
          <p:cNvPr id="7" name="Shape 4"/>
          <p:cNvSpPr/>
          <p:nvPr/>
        </p:nvSpPr>
        <p:spPr>
          <a:xfrm>
            <a:off x="1200882" y="1801368"/>
            <a:ext cx="512064" cy="512064"/>
          </a:xfrm>
          <a:prstGeom prst="ellipse">
            <a:avLst/>
          </a:prstGeom>
          <a:solidFill>
            <a:srgbClr val="4A2545"/>
          </a:solidFill>
          <a:ln/>
        </p:spPr>
      </p:sp>
      <p:sp>
        <p:nvSpPr>
          <p:cNvPr id="8" name="Text 5"/>
          <p:cNvSpPr txBox="1"/>
          <p:nvPr/>
        </p:nvSpPr>
        <p:spPr>
          <a:xfrm>
            <a:off x="1200882" y="1801368"/>
            <a:ext cx="512064" cy="512064"/>
          </a:xfrm>
          <a:prstGeom prst="rect">
            <a:avLst/>
          </a:prstGeom>
          <a:noFill/>
          <a:ln/>
        </p:spPr>
        <p:txBody>
          <a:bodyPr wrap="square" lIns="0" tIns="0" rIns="0" bIns="0" rtlCol="0" anchor="ctr"/>
          <a:lstStyle/>
          <a:p>
            <a:pPr algn="ctr" indent="0" marL="0">
              <a:buNone/>
            </a:pPr>
            <a:r>
              <a:rPr lang="en-US" sz="2000" b="1" dirty="0">
                <a:solidFill>
                  <a:srgbClr val="E0A458"/>
                </a:solidFill>
                <a:latin typeface="Cambria" pitchFamily="34" charset="0"/>
                <a:ea typeface="Cambria" pitchFamily="34" charset="-122"/>
                <a:cs typeface="Cambria" pitchFamily="34" charset="-120"/>
              </a:rPr>
              <a:t>1</a:t>
            </a:r>
            <a:endParaRPr lang="en-US" sz="2000" dirty="0"/>
          </a:p>
        </p:txBody>
      </p:sp>
      <p:sp>
        <p:nvSpPr>
          <p:cNvPr id="9" name="Text 6"/>
          <p:cNvSpPr txBox="1"/>
          <p:nvPr/>
        </p:nvSpPr>
        <p:spPr>
          <a:xfrm>
            <a:off x="585216" y="2441448"/>
            <a:ext cx="1743395" cy="640080"/>
          </a:xfrm>
          <a:prstGeom prst="rect">
            <a:avLst/>
          </a:prstGeom>
          <a:noFill/>
          <a:ln/>
        </p:spPr>
        <p:txBody>
          <a:bodyPr wrap="square" lIns="0" tIns="0" rIns="0" bIns="0" rtlCol="0" anchor="t"/>
          <a:lstStyle/>
          <a:p>
            <a:pPr algn="ctr" indent="0" marL="0">
              <a:buNone/>
            </a:pPr>
            <a:r>
              <a:rPr lang="en-US" sz="1300" b="1" dirty="0">
                <a:solidFill>
                  <a:srgbClr val="4A2545"/>
                </a:solidFill>
                <a:latin typeface="Cambria" pitchFamily="34" charset="0"/>
                <a:ea typeface="Cambria" pitchFamily="34" charset="-122"/>
                <a:cs typeface="Cambria" pitchFamily="34" charset="-120"/>
              </a:rPr>
              <a:t>Identificar riesgo</a:t>
            </a:r>
            <a:endParaRPr lang="en-US" sz="1300" dirty="0"/>
          </a:p>
        </p:txBody>
      </p:sp>
      <p:sp>
        <p:nvSpPr>
          <p:cNvPr id="10" name="Text 7"/>
          <p:cNvSpPr txBox="1"/>
          <p:nvPr/>
        </p:nvSpPr>
        <p:spPr>
          <a:xfrm>
            <a:off x="603504" y="3063240"/>
            <a:ext cx="1706819" cy="2560320"/>
          </a:xfrm>
          <a:prstGeom prst="rect">
            <a:avLst/>
          </a:prstGeom>
          <a:noFill/>
          <a:ln/>
        </p:spPr>
        <p:txBody>
          <a:bodyPr wrap="square" lIns="0" tIns="0" rIns="0" bIns="0" rtlCol="0" anchor="t"/>
          <a:lstStyle/>
          <a:p>
            <a:pPr algn="ctr" indent="0" marL="0">
              <a:lnSpc>
                <a:spcPct val="105000"/>
              </a:lnSpc>
              <a:buNone/>
            </a:pPr>
            <a:r>
              <a:rPr lang="en-US" sz="1030" dirty="0">
                <a:solidFill>
                  <a:srgbClr val="3A2A35"/>
                </a:solidFill>
                <a:latin typeface="Calibri" pitchFamily="34" charset="0"/>
                <a:ea typeface="Calibri" pitchFamily="34" charset="-122"/>
                <a:cs typeface="Calibri" pitchFamily="34" charset="-120"/>
              </a:rPr>
              <a:t>Estómago lleno, embarazo, obesidad, reflujo, vía aérea difícil, urgencia quirúrgica.</a:t>
            </a:r>
            <a:endParaRPr lang="en-US" sz="1030" dirty="0"/>
          </a:p>
        </p:txBody>
      </p:sp>
      <p:sp>
        <p:nvSpPr>
          <p:cNvPr id="11" name="Text 8"/>
          <p:cNvSpPr txBox="1"/>
          <p:nvPr/>
        </p:nvSpPr>
        <p:spPr>
          <a:xfrm>
            <a:off x="2456627" y="3451860"/>
            <a:ext cx="320040" cy="457200"/>
          </a:xfrm>
          <a:prstGeom prst="rect">
            <a:avLst/>
          </a:prstGeom>
          <a:noFill/>
          <a:ln/>
        </p:spPr>
        <p:txBody>
          <a:bodyPr wrap="square" lIns="0" tIns="0" rIns="0" bIns="0" rtlCol="0" anchor="ctr"/>
          <a:lstStyle/>
          <a:p>
            <a:pPr algn="ctr" indent="0" marL="0">
              <a:buNone/>
            </a:pPr>
            <a:r>
              <a:rPr lang="en-US" sz="2000" b="1" dirty="0">
                <a:solidFill>
                  <a:srgbClr val="E0A458"/>
                </a:solidFill>
                <a:latin typeface="Calibri" pitchFamily="34" charset="0"/>
                <a:ea typeface="Calibri" pitchFamily="34" charset="-122"/>
                <a:cs typeface="Calibri" pitchFamily="34" charset="-120"/>
              </a:rPr>
              <a:t>→</a:t>
            </a:r>
            <a:endParaRPr lang="en-US" sz="2000" dirty="0"/>
          </a:p>
        </p:txBody>
      </p:sp>
      <p:sp>
        <p:nvSpPr>
          <p:cNvPr id="12" name="Shape 9"/>
          <p:cNvSpPr/>
          <p:nvPr/>
        </p:nvSpPr>
        <p:spPr>
          <a:xfrm>
            <a:off x="2776667" y="1600200"/>
            <a:ext cx="1999427" cy="4160520"/>
          </a:xfrm>
          <a:prstGeom prst="roundRect">
            <a:avLst>
              <a:gd name="adj" fmla="val 4116"/>
            </a:avLst>
          </a:prstGeom>
          <a:solidFill>
            <a:srgbClr val="FBF3E7"/>
          </a:solidFill>
          <a:ln/>
          <a:effectLst>
            <a:outerShdw sx="100000" sy="100000" kx="0" ky="0" algn="bl" rotWithShape="0" blurRad="76200" dist="25400" dir="5400000">
              <a:srgbClr val="2A1729">
                <a:alpha val="18000"/>
              </a:srgbClr>
            </a:outerShdw>
          </a:effectLst>
        </p:spPr>
      </p:sp>
      <p:sp>
        <p:nvSpPr>
          <p:cNvPr id="13" name="Shape 10"/>
          <p:cNvSpPr/>
          <p:nvPr/>
        </p:nvSpPr>
        <p:spPr>
          <a:xfrm>
            <a:off x="3520349" y="1801368"/>
            <a:ext cx="512064" cy="512064"/>
          </a:xfrm>
          <a:prstGeom prst="ellipse">
            <a:avLst/>
          </a:prstGeom>
          <a:solidFill>
            <a:srgbClr val="4A2545"/>
          </a:solidFill>
          <a:ln/>
        </p:spPr>
      </p:sp>
      <p:sp>
        <p:nvSpPr>
          <p:cNvPr id="14" name="Text 11"/>
          <p:cNvSpPr txBox="1"/>
          <p:nvPr/>
        </p:nvSpPr>
        <p:spPr>
          <a:xfrm>
            <a:off x="3520349" y="1801368"/>
            <a:ext cx="512064" cy="512064"/>
          </a:xfrm>
          <a:prstGeom prst="rect">
            <a:avLst/>
          </a:prstGeom>
          <a:noFill/>
          <a:ln/>
        </p:spPr>
        <p:txBody>
          <a:bodyPr wrap="square" lIns="0" tIns="0" rIns="0" bIns="0" rtlCol="0" anchor="ctr"/>
          <a:lstStyle/>
          <a:p>
            <a:pPr algn="ctr" indent="0" marL="0">
              <a:buNone/>
            </a:pPr>
            <a:r>
              <a:rPr lang="en-US" sz="2000" b="1" dirty="0">
                <a:solidFill>
                  <a:srgbClr val="E0A458"/>
                </a:solidFill>
                <a:latin typeface="Cambria" pitchFamily="34" charset="0"/>
                <a:ea typeface="Cambria" pitchFamily="34" charset="-122"/>
                <a:cs typeface="Cambria" pitchFamily="34" charset="-120"/>
              </a:rPr>
              <a:t>2</a:t>
            </a:r>
            <a:endParaRPr lang="en-US" sz="2000" dirty="0"/>
          </a:p>
        </p:txBody>
      </p:sp>
      <p:sp>
        <p:nvSpPr>
          <p:cNvPr id="15" name="Text 12"/>
          <p:cNvSpPr txBox="1"/>
          <p:nvPr/>
        </p:nvSpPr>
        <p:spPr>
          <a:xfrm>
            <a:off x="2904683" y="2441448"/>
            <a:ext cx="1743395" cy="640080"/>
          </a:xfrm>
          <a:prstGeom prst="rect">
            <a:avLst/>
          </a:prstGeom>
          <a:noFill/>
          <a:ln/>
        </p:spPr>
        <p:txBody>
          <a:bodyPr wrap="square" lIns="0" tIns="0" rIns="0" bIns="0" rtlCol="0" anchor="t"/>
          <a:lstStyle/>
          <a:p>
            <a:pPr algn="ctr" indent="0" marL="0">
              <a:buNone/>
            </a:pPr>
            <a:r>
              <a:rPr lang="en-US" sz="1300" b="1" dirty="0">
                <a:solidFill>
                  <a:srgbClr val="4A2545"/>
                </a:solidFill>
                <a:latin typeface="Cambria" pitchFamily="34" charset="0"/>
                <a:ea typeface="Cambria" pitchFamily="34" charset="-122"/>
                <a:cs typeface="Cambria" pitchFamily="34" charset="-120"/>
              </a:rPr>
              <a:t>IBP o anti-H2 previo</a:t>
            </a:r>
            <a:endParaRPr lang="en-US" sz="1300" dirty="0"/>
          </a:p>
        </p:txBody>
      </p:sp>
      <p:sp>
        <p:nvSpPr>
          <p:cNvPr id="16" name="Text 13"/>
          <p:cNvSpPr txBox="1"/>
          <p:nvPr/>
        </p:nvSpPr>
        <p:spPr>
          <a:xfrm>
            <a:off x="2922971" y="3063240"/>
            <a:ext cx="1706819" cy="2560320"/>
          </a:xfrm>
          <a:prstGeom prst="rect">
            <a:avLst/>
          </a:prstGeom>
          <a:noFill/>
          <a:ln/>
        </p:spPr>
        <p:txBody>
          <a:bodyPr wrap="square" lIns="0" tIns="0" rIns="0" bIns="0" rtlCol="0" anchor="t"/>
          <a:lstStyle/>
          <a:p>
            <a:pPr algn="ctr" indent="0" marL="0">
              <a:lnSpc>
                <a:spcPct val="105000"/>
              </a:lnSpc>
              <a:buNone/>
            </a:pPr>
            <a:r>
              <a:rPr lang="en-US" sz="1030" dirty="0">
                <a:solidFill>
                  <a:srgbClr val="3A2A35"/>
                </a:solidFill>
                <a:latin typeface="Calibri" pitchFamily="34" charset="0"/>
                <a:ea typeface="Calibri" pitchFamily="34" charset="-122"/>
                <a:cs typeface="Calibri" pitchFamily="34" charset="-120"/>
              </a:rPr>
              <a:t>La noche anterior y/o 60-90 min antes si el tiempo lo permite.</a:t>
            </a:r>
            <a:endParaRPr lang="en-US" sz="1030" dirty="0"/>
          </a:p>
        </p:txBody>
      </p:sp>
      <p:sp>
        <p:nvSpPr>
          <p:cNvPr id="17" name="Text 14"/>
          <p:cNvSpPr txBox="1"/>
          <p:nvPr/>
        </p:nvSpPr>
        <p:spPr>
          <a:xfrm>
            <a:off x="4776094" y="3451860"/>
            <a:ext cx="320040" cy="457200"/>
          </a:xfrm>
          <a:prstGeom prst="rect">
            <a:avLst/>
          </a:prstGeom>
          <a:noFill/>
          <a:ln/>
        </p:spPr>
        <p:txBody>
          <a:bodyPr wrap="square" lIns="0" tIns="0" rIns="0" bIns="0" rtlCol="0" anchor="ctr"/>
          <a:lstStyle/>
          <a:p>
            <a:pPr algn="ctr" indent="0" marL="0">
              <a:buNone/>
            </a:pPr>
            <a:r>
              <a:rPr lang="en-US" sz="2000" b="1" dirty="0">
                <a:solidFill>
                  <a:srgbClr val="E0A458"/>
                </a:solidFill>
                <a:latin typeface="Calibri" pitchFamily="34" charset="0"/>
                <a:ea typeface="Calibri" pitchFamily="34" charset="-122"/>
                <a:cs typeface="Calibri" pitchFamily="34" charset="-120"/>
              </a:rPr>
              <a:t>→</a:t>
            </a:r>
            <a:endParaRPr lang="en-US" sz="2000" dirty="0"/>
          </a:p>
        </p:txBody>
      </p:sp>
      <p:sp>
        <p:nvSpPr>
          <p:cNvPr id="18" name="Shape 15"/>
          <p:cNvSpPr/>
          <p:nvPr/>
        </p:nvSpPr>
        <p:spPr>
          <a:xfrm>
            <a:off x="5096134" y="1600200"/>
            <a:ext cx="1999427" cy="4160520"/>
          </a:xfrm>
          <a:prstGeom prst="roundRect">
            <a:avLst>
              <a:gd name="adj" fmla="val 4116"/>
            </a:avLst>
          </a:prstGeom>
          <a:solidFill>
            <a:srgbClr val="F4EEF2"/>
          </a:solidFill>
          <a:ln/>
          <a:effectLst>
            <a:outerShdw sx="100000" sy="100000" kx="0" ky="0" algn="bl" rotWithShape="0" blurRad="76200" dist="25400" dir="5400000">
              <a:srgbClr val="2A1729">
                <a:alpha val="18000"/>
              </a:srgbClr>
            </a:outerShdw>
          </a:effectLst>
        </p:spPr>
      </p:sp>
      <p:sp>
        <p:nvSpPr>
          <p:cNvPr id="19" name="Shape 16"/>
          <p:cNvSpPr/>
          <p:nvPr/>
        </p:nvSpPr>
        <p:spPr>
          <a:xfrm>
            <a:off x="5839816" y="1801368"/>
            <a:ext cx="512064" cy="512064"/>
          </a:xfrm>
          <a:prstGeom prst="ellipse">
            <a:avLst/>
          </a:prstGeom>
          <a:solidFill>
            <a:srgbClr val="4A2545"/>
          </a:solidFill>
          <a:ln/>
        </p:spPr>
      </p:sp>
      <p:sp>
        <p:nvSpPr>
          <p:cNvPr id="20" name="Text 17"/>
          <p:cNvSpPr txBox="1"/>
          <p:nvPr/>
        </p:nvSpPr>
        <p:spPr>
          <a:xfrm>
            <a:off x="5839816" y="1801368"/>
            <a:ext cx="512064" cy="512064"/>
          </a:xfrm>
          <a:prstGeom prst="rect">
            <a:avLst/>
          </a:prstGeom>
          <a:noFill/>
          <a:ln/>
        </p:spPr>
        <p:txBody>
          <a:bodyPr wrap="square" lIns="0" tIns="0" rIns="0" bIns="0" rtlCol="0" anchor="ctr"/>
          <a:lstStyle/>
          <a:p>
            <a:pPr algn="ctr" indent="0" marL="0">
              <a:buNone/>
            </a:pPr>
            <a:r>
              <a:rPr lang="en-US" sz="2000" b="1" dirty="0">
                <a:solidFill>
                  <a:srgbClr val="E0A458"/>
                </a:solidFill>
                <a:latin typeface="Cambria" pitchFamily="34" charset="0"/>
                <a:ea typeface="Cambria" pitchFamily="34" charset="-122"/>
                <a:cs typeface="Cambria" pitchFamily="34" charset="-120"/>
              </a:rPr>
              <a:t>3</a:t>
            </a:r>
            <a:endParaRPr lang="en-US" sz="2000" dirty="0"/>
          </a:p>
        </p:txBody>
      </p:sp>
      <p:sp>
        <p:nvSpPr>
          <p:cNvPr id="21" name="Text 18"/>
          <p:cNvSpPr txBox="1"/>
          <p:nvPr/>
        </p:nvSpPr>
        <p:spPr>
          <a:xfrm>
            <a:off x="5224150" y="2441448"/>
            <a:ext cx="1743395" cy="640080"/>
          </a:xfrm>
          <a:prstGeom prst="rect">
            <a:avLst/>
          </a:prstGeom>
          <a:noFill/>
          <a:ln/>
        </p:spPr>
        <p:txBody>
          <a:bodyPr wrap="square" lIns="0" tIns="0" rIns="0" bIns="0" rtlCol="0" anchor="t"/>
          <a:lstStyle/>
          <a:p>
            <a:pPr algn="ctr" indent="0" marL="0">
              <a:buNone/>
            </a:pPr>
            <a:r>
              <a:rPr lang="en-US" sz="1300" b="1" dirty="0">
                <a:solidFill>
                  <a:srgbClr val="4A2545"/>
                </a:solidFill>
                <a:latin typeface="Cambria" pitchFamily="34" charset="0"/>
                <a:ea typeface="Cambria" pitchFamily="34" charset="-122"/>
                <a:cs typeface="Cambria" pitchFamily="34" charset="-120"/>
              </a:rPr>
              <a:t>Citrato de sodio</a:t>
            </a:r>
            <a:endParaRPr lang="en-US" sz="1300" dirty="0"/>
          </a:p>
        </p:txBody>
      </p:sp>
      <p:sp>
        <p:nvSpPr>
          <p:cNvPr id="22" name="Text 19"/>
          <p:cNvSpPr txBox="1"/>
          <p:nvPr/>
        </p:nvSpPr>
        <p:spPr>
          <a:xfrm>
            <a:off x="5242438" y="3063240"/>
            <a:ext cx="1706819" cy="2560320"/>
          </a:xfrm>
          <a:prstGeom prst="rect">
            <a:avLst/>
          </a:prstGeom>
          <a:noFill/>
          <a:ln/>
        </p:spPr>
        <p:txBody>
          <a:bodyPr wrap="square" lIns="0" tIns="0" rIns="0" bIns="0" rtlCol="0" anchor="t"/>
          <a:lstStyle/>
          <a:p>
            <a:pPr algn="ctr" indent="0" marL="0">
              <a:lnSpc>
                <a:spcPct val="105000"/>
              </a:lnSpc>
              <a:buNone/>
            </a:pPr>
            <a:r>
              <a:rPr lang="en-US" sz="1030" dirty="0">
                <a:solidFill>
                  <a:srgbClr val="3A2A35"/>
                </a:solidFill>
                <a:latin typeface="Calibri" pitchFamily="34" charset="0"/>
                <a:ea typeface="Calibri" pitchFamily="34" charset="-122"/>
                <a:cs typeface="Calibri" pitchFamily="34" charset="-120"/>
              </a:rPr>
              <a:t>30 mL VO, 15-30 min antes de la inducción, para neutralizar el ácido residual.</a:t>
            </a:r>
            <a:endParaRPr lang="en-US" sz="1030" dirty="0"/>
          </a:p>
        </p:txBody>
      </p:sp>
      <p:sp>
        <p:nvSpPr>
          <p:cNvPr id="23" name="Text 20"/>
          <p:cNvSpPr txBox="1"/>
          <p:nvPr/>
        </p:nvSpPr>
        <p:spPr>
          <a:xfrm>
            <a:off x="7095561" y="3451860"/>
            <a:ext cx="320040" cy="457200"/>
          </a:xfrm>
          <a:prstGeom prst="rect">
            <a:avLst/>
          </a:prstGeom>
          <a:noFill/>
          <a:ln/>
        </p:spPr>
        <p:txBody>
          <a:bodyPr wrap="square" lIns="0" tIns="0" rIns="0" bIns="0" rtlCol="0" anchor="ctr"/>
          <a:lstStyle/>
          <a:p>
            <a:pPr algn="ctr" indent="0" marL="0">
              <a:buNone/>
            </a:pPr>
            <a:r>
              <a:rPr lang="en-US" sz="2000" b="1" dirty="0">
                <a:solidFill>
                  <a:srgbClr val="E0A458"/>
                </a:solidFill>
                <a:latin typeface="Calibri" pitchFamily="34" charset="0"/>
                <a:ea typeface="Calibri" pitchFamily="34" charset="-122"/>
                <a:cs typeface="Calibri" pitchFamily="34" charset="-120"/>
              </a:rPr>
              <a:t>→</a:t>
            </a:r>
            <a:endParaRPr lang="en-US" sz="2000" dirty="0"/>
          </a:p>
        </p:txBody>
      </p:sp>
      <p:sp>
        <p:nvSpPr>
          <p:cNvPr id="24" name="Shape 21"/>
          <p:cNvSpPr/>
          <p:nvPr/>
        </p:nvSpPr>
        <p:spPr>
          <a:xfrm>
            <a:off x="7415601" y="1600200"/>
            <a:ext cx="1999427" cy="4160520"/>
          </a:xfrm>
          <a:prstGeom prst="roundRect">
            <a:avLst>
              <a:gd name="adj" fmla="val 4116"/>
            </a:avLst>
          </a:prstGeom>
          <a:solidFill>
            <a:srgbClr val="FBF3E7"/>
          </a:solidFill>
          <a:ln/>
          <a:effectLst>
            <a:outerShdw sx="100000" sy="100000" kx="0" ky="0" algn="bl" rotWithShape="0" blurRad="76200" dist="25400" dir="5400000">
              <a:srgbClr val="2A1729">
                <a:alpha val="18000"/>
              </a:srgbClr>
            </a:outerShdw>
          </a:effectLst>
        </p:spPr>
      </p:sp>
      <p:sp>
        <p:nvSpPr>
          <p:cNvPr id="25" name="Shape 22"/>
          <p:cNvSpPr/>
          <p:nvPr/>
        </p:nvSpPr>
        <p:spPr>
          <a:xfrm>
            <a:off x="8159283" y="1801368"/>
            <a:ext cx="512064" cy="512064"/>
          </a:xfrm>
          <a:prstGeom prst="ellipse">
            <a:avLst/>
          </a:prstGeom>
          <a:solidFill>
            <a:srgbClr val="4A2545"/>
          </a:solidFill>
          <a:ln/>
        </p:spPr>
      </p:sp>
      <p:sp>
        <p:nvSpPr>
          <p:cNvPr id="26" name="Text 23"/>
          <p:cNvSpPr txBox="1"/>
          <p:nvPr/>
        </p:nvSpPr>
        <p:spPr>
          <a:xfrm>
            <a:off x="8159283" y="1801368"/>
            <a:ext cx="512064" cy="512064"/>
          </a:xfrm>
          <a:prstGeom prst="rect">
            <a:avLst/>
          </a:prstGeom>
          <a:noFill/>
          <a:ln/>
        </p:spPr>
        <p:txBody>
          <a:bodyPr wrap="square" lIns="0" tIns="0" rIns="0" bIns="0" rtlCol="0" anchor="ctr"/>
          <a:lstStyle/>
          <a:p>
            <a:pPr algn="ctr" indent="0" marL="0">
              <a:buNone/>
            </a:pPr>
            <a:r>
              <a:rPr lang="en-US" sz="2000" b="1" dirty="0">
                <a:solidFill>
                  <a:srgbClr val="E0A458"/>
                </a:solidFill>
                <a:latin typeface="Cambria" pitchFamily="34" charset="0"/>
                <a:ea typeface="Cambria" pitchFamily="34" charset="-122"/>
                <a:cs typeface="Cambria" pitchFamily="34" charset="-120"/>
              </a:rPr>
              <a:t>4</a:t>
            </a:r>
            <a:endParaRPr lang="en-US" sz="2000" dirty="0"/>
          </a:p>
        </p:txBody>
      </p:sp>
      <p:sp>
        <p:nvSpPr>
          <p:cNvPr id="27" name="Text 24"/>
          <p:cNvSpPr txBox="1"/>
          <p:nvPr/>
        </p:nvSpPr>
        <p:spPr>
          <a:xfrm>
            <a:off x="7543617" y="2441448"/>
            <a:ext cx="1743395" cy="640080"/>
          </a:xfrm>
          <a:prstGeom prst="rect">
            <a:avLst/>
          </a:prstGeom>
          <a:noFill/>
          <a:ln/>
        </p:spPr>
        <p:txBody>
          <a:bodyPr wrap="square" lIns="0" tIns="0" rIns="0" bIns="0" rtlCol="0" anchor="t"/>
          <a:lstStyle/>
          <a:p>
            <a:pPr algn="ctr" indent="0" marL="0">
              <a:buNone/>
            </a:pPr>
            <a:r>
              <a:rPr lang="en-US" sz="1300" b="1" dirty="0">
                <a:solidFill>
                  <a:srgbClr val="4A2545"/>
                </a:solidFill>
                <a:latin typeface="Cambria" pitchFamily="34" charset="0"/>
                <a:ea typeface="Cambria" pitchFamily="34" charset="-122"/>
                <a:cs typeface="Cambria" pitchFamily="34" charset="-120"/>
              </a:rPr>
              <a:t>Procinético (opcional)</a:t>
            </a:r>
            <a:endParaRPr lang="en-US" sz="1300" dirty="0"/>
          </a:p>
        </p:txBody>
      </p:sp>
      <p:sp>
        <p:nvSpPr>
          <p:cNvPr id="28" name="Text 25"/>
          <p:cNvSpPr txBox="1"/>
          <p:nvPr/>
        </p:nvSpPr>
        <p:spPr>
          <a:xfrm>
            <a:off x="7561905" y="3063240"/>
            <a:ext cx="1706819" cy="2560320"/>
          </a:xfrm>
          <a:prstGeom prst="rect">
            <a:avLst/>
          </a:prstGeom>
          <a:noFill/>
          <a:ln/>
        </p:spPr>
        <p:txBody>
          <a:bodyPr wrap="square" lIns="0" tIns="0" rIns="0" bIns="0" rtlCol="0" anchor="t"/>
          <a:lstStyle/>
          <a:p>
            <a:pPr algn="ctr" indent="0" marL="0">
              <a:lnSpc>
                <a:spcPct val="105000"/>
              </a:lnSpc>
              <a:buNone/>
            </a:pPr>
            <a:r>
              <a:rPr lang="en-US" sz="1030" dirty="0">
                <a:solidFill>
                  <a:srgbClr val="3A2A35"/>
                </a:solidFill>
                <a:latin typeface="Calibri" pitchFamily="34" charset="0"/>
                <a:ea typeface="Calibri" pitchFamily="34" charset="-122"/>
                <a:cs typeface="Calibri" pitchFamily="34" charset="-120"/>
              </a:rPr>
              <a:t>Metoclopramida 10 mg IV para acelerar el vaciamiento gástrico.</a:t>
            </a:r>
            <a:endParaRPr lang="en-US" sz="1030" dirty="0"/>
          </a:p>
        </p:txBody>
      </p:sp>
      <p:sp>
        <p:nvSpPr>
          <p:cNvPr id="29" name="Text 26"/>
          <p:cNvSpPr txBox="1"/>
          <p:nvPr/>
        </p:nvSpPr>
        <p:spPr>
          <a:xfrm>
            <a:off x="9415028" y="3451860"/>
            <a:ext cx="320040" cy="457200"/>
          </a:xfrm>
          <a:prstGeom prst="rect">
            <a:avLst/>
          </a:prstGeom>
          <a:noFill/>
          <a:ln/>
        </p:spPr>
        <p:txBody>
          <a:bodyPr wrap="square" lIns="0" tIns="0" rIns="0" bIns="0" rtlCol="0" anchor="ctr"/>
          <a:lstStyle/>
          <a:p>
            <a:pPr algn="ctr" indent="0" marL="0">
              <a:buNone/>
            </a:pPr>
            <a:r>
              <a:rPr lang="en-US" sz="2000" b="1" dirty="0">
                <a:solidFill>
                  <a:srgbClr val="E0A458"/>
                </a:solidFill>
                <a:latin typeface="Calibri" pitchFamily="34" charset="0"/>
                <a:ea typeface="Calibri" pitchFamily="34" charset="-122"/>
                <a:cs typeface="Calibri" pitchFamily="34" charset="-120"/>
              </a:rPr>
              <a:t>→</a:t>
            </a:r>
            <a:endParaRPr lang="en-US" sz="2000" dirty="0"/>
          </a:p>
        </p:txBody>
      </p:sp>
      <p:sp>
        <p:nvSpPr>
          <p:cNvPr id="30" name="Shape 27"/>
          <p:cNvSpPr/>
          <p:nvPr/>
        </p:nvSpPr>
        <p:spPr>
          <a:xfrm>
            <a:off x="9735068" y="1600200"/>
            <a:ext cx="1999427" cy="4160520"/>
          </a:xfrm>
          <a:prstGeom prst="roundRect">
            <a:avLst>
              <a:gd name="adj" fmla="val 4116"/>
            </a:avLst>
          </a:prstGeom>
          <a:solidFill>
            <a:srgbClr val="F4EEF2"/>
          </a:solidFill>
          <a:ln/>
          <a:effectLst>
            <a:outerShdw sx="100000" sy="100000" kx="0" ky="0" algn="bl" rotWithShape="0" blurRad="76200" dist="25400" dir="5400000">
              <a:srgbClr val="2A1729">
                <a:alpha val="18000"/>
              </a:srgbClr>
            </a:outerShdw>
          </a:effectLst>
        </p:spPr>
      </p:sp>
      <p:sp>
        <p:nvSpPr>
          <p:cNvPr id="31" name="Shape 28"/>
          <p:cNvSpPr/>
          <p:nvPr/>
        </p:nvSpPr>
        <p:spPr>
          <a:xfrm>
            <a:off x="10478750" y="1801368"/>
            <a:ext cx="512064" cy="512064"/>
          </a:xfrm>
          <a:prstGeom prst="ellipse">
            <a:avLst/>
          </a:prstGeom>
          <a:solidFill>
            <a:srgbClr val="4A2545"/>
          </a:solidFill>
          <a:ln/>
        </p:spPr>
      </p:sp>
      <p:sp>
        <p:nvSpPr>
          <p:cNvPr id="32" name="Text 29"/>
          <p:cNvSpPr txBox="1"/>
          <p:nvPr/>
        </p:nvSpPr>
        <p:spPr>
          <a:xfrm>
            <a:off x="10478750" y="1801368"/>
            <a:ext cx="512064" cy="512064"/>
          </a:xfrm>
          <a:prstGeom prst="rect">
            <a:avLst/>
          </a:prstGeom>
          <a:noFill/>
          <a:ln/>
        </p:spPr>
        <p:txBody>
          <a:bodyPr wrap="square" lIns="0" tIns="0" rIns="0" bIns="0" rtlCol="0" anchor="ctr"/>
          <a:lstStyle/>
          <a:p>
            <a:pPr algn="ctr" indent="0" marL="0">
              <a:buNone/>
            </a:pPr>
            <a:r>
              <a:rPr lang="en-US" sz="2000" b="1" dirty="0">
                <a:solidFill>
                  <a:srgbClr val="E0A458"/>
                </a:solidFill>
                <a:latin typeface="Cambria" pitchFamily="34" charset="0"/>
                <a:ea typeface="Cambria" pitchFamily="34" charset="-122"/>
                <a:cs typeface="Cambria" pitchFamily="34" charset="-120"/>
              </a:rPr>
              <a:t>5</a:t>
            </a:r>
            <a:endParaRPr lang="en-US" sz="2000" dirty="0"/>
          </a:p>
        </p:txBody>
      </p:sp>
      <p:sp>
        <p:nvSpPr>
          <p:cNvPr id="33" name="Text 30"/>
          <p:cNvSpPr txBox="1"/>
          <p:nvPr/>
        </p:nvSpPr>
        <p:spPr>
          <a:xfrm>
            <a:off x="9863084" y="2441448"/>
            <a:ext cx="1743395" cy="640080"/>
          </a:xfrm>
          <a:prstGeom prst="rect">
            <a:avLst/>
          </a:prstGeom>
          <a:noFill/>
          <a:ln/>
        </p:spPr>
        <p:txBody>
          <a:bodyPr wrap="square" lIns="0" tIns="0" rIns="0" bIns="0" rtlCol="0" anchor="t"/>
          <a:lstStyle/>
          <a:p>
            <a:pPr algn="ctr" indent="0" marL="0">
              <a:buNone/>
            </a:pPr>
            <a:r>
              <a:rPr lang="en-US" sz="1300" b="1" dirty="0">
                <a:solidFill>
                  <a:srgbClr val="4A2545"/>
                </a:solidFill>
                <a:latin typeface="Cambria" pitchFamily="34" charset="0"/>
                <a:ea typeface="Cambria" pitchFamily="34" charset="-122"/>
                <a:cs typeface="Cambria" pitchFamily="34" charset="-120"/>
              </a:rPr>
              <a:t>Inducción de secuencia rápida</a:t>
            </a:r>
            <a:endParaRPr lang="en-US" sz="1300" dirty="0"/>
          </a:p>
        </p:txBody>
      </p:sp>
      <p:sp>
        <p:nvSpPr>
          <p:cNvPr id="34" name="Text 31"/>
          <p:cNvSpPr txBox="1"/>
          <p:nvPr/>
        </p:nvSpPr>
        <p:spPr>
          <a:xfrm>
            <a:off x="9881372" y="3063240"/>
            <a:ext cx="1706819" cy="2560320"/>
          </a:xfrm>
          <a:prstGeom prst="rect">
            <a:avLst/>
          </a:prstGeom>
          <a:noFill/>
          <a:ln/>
        </p:spPr>
        <p:txBody>
          <a:bodyPr wrap="square" lIns="0" tIns="0" rIns="0" bIns="0" rtlCol="0" anchor="t"/>
          <a:lstStyle/>
          <a:p>
            <a:pPr algn="ctr" indent="0" marL="0">
              <a:lnSpc>
                <a:spcPct val="105000"/>
              </a:lnSpc>
              <a:buNone/>
            </a:pPr>
            <a:r>
              <a:rPr lang="en-US" sz="1030" dirty="0">
                <a:solidFill>
                  <a:srgbClr val="3A2A35"/>
                </a:solidFill>
                <a:latin typeface="Calibri" pitchFamily="34" charset="0"/>
                <a:ea typeface="Calibri" pitchFamily="34" charset="-122"/>
                <a:cs typeface="Calibri" pitchFamily="34" charset="-120"/>
              </a:rPr>
              <a:t>Preoxigenación óptima, presión cricoidea según juicio clínico e intubación con protección de la vía aérea.</a:t>
            </a:r>
            <a:endParaRPr lang="en-US" sz="1030" dirty="0"/>
          </a:p>
        </p:txBody>
      </p:sp>
      <p:sp>
        <p:nvSpPr>
          <p:cNvPr id="35" name="Text 32"/>
          <p:cNvSpPr txBox="1"/>
          <p:nvPr/>
        </p:nvSpPr>
        <p:spPr>
          <a:xfrm>
            <a:off x="457200" y="6473952"/>
            <a:ext cx="6400800" cy="292608"/>
          </a:xfrm>
          <a:prstGeom prst="rect">
            <a:avLst/>
          </a:prstGeom>
          <a:noFill/>
          <a:ln/>
        </p:spPr>
        <p:txBody>
          <a:bodyPr wrap="square" lIns="0" tIns="0" rIns="0" bIns="0" rtlCol="0" anchor="ctr"/>
          <a:lstStyle/>
          <a:p>
            <a:pPr indent="0" marL="0">
              <a:buNone/>
            </a:pPr>
            <a:r>
              <a:rPr lang="en-US" sz="900" i="1" dirty="0">
                <a:solidFill>
                  <a:srgbClr val="77606F"/>
                </a:solidFill>
                <a:latin typeface="Calibri" pitchFamily="34" charset="0"/>
                <a:ea typeface="Calibri" pitchFamily="34" charset="-122"/>
                <a:cs typeface="Calibri" pitchFamily="34" charset="-120"/>
              </a:rPr>
              <a:t>Capítulo IV — Premedicación</a:t>
            </a:r>
            <a:endParaRPr lang="en-US" sz="900" dirty="0"/>
          </a:p>
        </p:txBody>
      </p:sp>
      <p:sp>
        <p:nvSpPr>
          <p:cNvPr id="36" name="Text 33"/>
          <p:cNvSpPr txBox="1"/>
          <p:nvPr/>
        </p:nvSpPr>
        <p:spPr>
          <a:xfrm>
            <a:off x="10362895" y="6473952"/>
            <a:ext cx="1371600" cy="292608"/>
          </a:xfrm>
          <a:prstGeom prst="rect">
            <a:avLst/>
          </a:prstGeom>
          <a:noFill/>
          <a:ln/>
        </p:spPr>
        <p:txBody>
          <a:bodyPr wrap="square" lIns="0" tIns="0" rIns="0" bIns="0" rtlCol="0" anchor="ctr"/>
          <a:lstStyle/>
          <a:p>
            <a:pPr algn="r" indent="0" marL="0">
              <a:buNone/>
            </a:pPr>
            <a:r>
              <a:rPr lang="en-US" sz="900" dirty="0">
                <a:solidFill>
                  <a:srgbClr val="77606F"/>
                </a:solidFill>
                <a:latin typeface="Calibri" pitchFamily="34" charset="0"/>
                <a:ea typeface="Calibri" pitchFamily="34" charset="-122"/>
                <a:cs typeface="Calibri" pitchFamily="34" charset="-120"/>
              </a:rPr>
              <a:t>29 / 33</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658368" cy="658368"/>
          </a:xfrm>
          <a:prstGeom prst="ellipse">
            <a:avLst/>
          </a:prstGeom>
          <a:solidFill>
            <a:srgbClr val="4A2545"/>
          </a:solidFill>
          <a:ln/>
        </p:spPr>
      </p:sp>
      <p:pic>
        <p:nvPicPr>
          <p:cNvPr id="3" name="Image 0" descr="preencoded.png">    </p:cNvPr>
          <p:cNvPicPr>
            <a:picLocks noChangeAspect="1"/>
          </p:cNvPicPr>
          <p:nvPr/>
        </p:nvPicPr>
        <p:blipFill>
          <a:blip r:embed="rId1"/>
          <a:stretch>
            <a:fillRect/>
          </a:stretch>
        </p:blipFill>
        <p:spPr>
          <a:xfrm>
            <a:off x="602041" y="556321"/>
            <a:ext cx="368686" cy="368686"/>
          </a:xfrm>
          <a:prstGeom prst="rect">
            <a:avLst/>
          </a:prstGeom>
        </p:spPr>
      </p:pic>
      <p:sp>
        <p:nvSpPr>
          <p:cNvPr id="4" name="Text 1"/>
          <p:cNvSpPr txBox="1"/>
          <p:nvPr/>
        </p:nvSpPr>
        <p:spPr>
          <a:xfrm>
            <a:off x="1298448" y="384048"/>
            <a:ext cx="9601200" cy="256032"/>
          </a:xfrm>
          <a:prstGeom prst="rect">
            <a:avLst/>
          </a:prstGeom>
          <a:noFill/>
          <a:ln/>
        </p:spPr>
        <p:txBody>
          <a:bodyPr wrap="square" lIns="0" tIns="0" rIns="0" bIns="0" rtlCol="0" anchor="ctr"/>
          <a:lstStyle/>
          <a:p>
            <a:pPr indent="0" marL="0">
              <a:buNone/>
            </a:pPr>
            <a:r>
              <a:rPr lang="en-US" sz="1150" b="1" spc="150" kern="0" dirty="0">
                <a:solidFill>
                  <a:srgbClr val="E0A458"/>
                </a:solidFill>
                <a:latin typeface="Calibri" pitchFamily="34" charset="0"/>
                <a:ea typeface="Calibri" pitchFamily="34" charset="-122"/>
                <a:cs typeface="Calibri" pitchFamily="34" charset="-120"/>
              </a:rPr>
              <a:t>INDIVIDUALIZACIÓN</a:t>
            </a:r>
            <a:endParaRPr lang="en-US" sz="1150" dirty="0"/>
          </a:p>
        </p:txBody>
      </p:sp>
      <p:sp>
        <p:nvSpPr>
          <p:cNvPr id="5" name="Text 2"/>
          <p:cNvSpPr txBox="1"/>
          <p:nvPr/>
        </p:nvSpPr>
        <p:spPr>
          <a:xfrm>
            <a:off x="1298448" y="621792"/>
            <a:ext cx="10058400" cy="502920"/>
          </a:xfrm>
          <a:prstGeom prst="rect">
            <a:avLst/>
          </a:prstGeom>
          <a:noFill/>
          <a:ln/>
        </p:spPr>
        <p:txBody>
          <a:bodyPr wrap="square" lIns="0" tIns="0" rIns="0" bIns="0" rtlCol="0" anchor="ctr"/>
          <a:lstStyle/>
          <a:p>
            <a:pPr indent="0" marL="0">
              <a:buNone/>
            </a:pPr>
            <a:r>
              <a:rPr lang="en-US" sz="2500" b="1" dirty="0">
                <a:solidFill>
                  <a:srgbClr val="4A2545"/>
                </a:solidFill>
                <a:latin typeface="Cambria" pitchFamily="34" charset="0"/>
                <a:ea typeface="Cambria" pitchFamily="34" charset="-122"/>
                <a:cs typeface="Cambria" pitchFamily="34" charset="-120"/>
              </a:rPr>
              <a:t>Consideraciones especiales en poblaciones específicas</a:t>
            </a:r>
            <a:endParaRPr lang="en-US" sz="2500" dirty="0"/>
          </a:p>
        </p:txBody>
      </p:sp>
      <p:sp>
        <p:nvSpPr>
          <p:cNvPr id="6" name="Shape 3"/>
          <p:cNvSpPr/>
          <p:nvPr/>
        </p:nvSpPr>
        <p:spPr>
          <a:xfrm>
            <a:off x="457200" y="1508760"/>
            <a:ext cx="3588410" cy="3017520"/>
          </a:xfrm>
          <a:prstGeom prst="roundRect">
            <a:avLst>
              <a:gd name="adj" fmla="val 2424"/>
            </a:avLst>
          </a:prstGeom>
          <a:solidFill>
            <a:srgbClr val="F4EEF2"/>
          </a:solidFill>
          <a:ln/>
          <a:effectLst>
            <a:outerShdw sx="100000" sy="100000" kx="0" ky="0" algn="bl" rotWithShape="0" blurRad="76200" dist="25400" dir="5400000">
              <a:srgbClr val="2A1729">
                <a:alpha val="18000"/>
              </a:srgbClr>
            </a:outerShdw>
          </a:effectLst>
        </p:spPr>
      </p:sp>
      <p:sp>
        <p:nvSpPr>
          <p:cNvPr id="7" name="Shape 4"/>
          <p:cNvSpPr/>
          <p:nvPr/>
        </p:nvSpPr>
        <p:spPr>
          <a:xfrm>
            <a:off x="1977085" y="1691640"/>
            <a:ext cx="548640" cy="548640"/>
          </a:xfrm>
          <a:prstGeom prst="ellipse">
            <a:avLst/>
          </a:prstGeom>
          <a:solidFill>
            <a:srgbClr val="4A2545"/>
          </a:solidFill>
          <a:ln/>
        </p:spPr>
      </p:sp>
      <p:pic>
        <p:nvPicPr>
          <p:cNvPr id="8" name="Image 1" descr="preencoded.png">    </p:cNvPr>
          <p:cNvPicPr>
            <a:picLocks noChangeAspect="1"/>
          </p:cNvPicPr>
          <p:nvPr/>
        </p:nvPicPr>
        <p:blipFill>
          <a:blip r:embed="rId2"/>
          <a:stretch>
            <a:fillRect/>
          </a:stretch>
        </p:blipFill>
        <p:spPr>
          <a:xfrm>
            <a:off x="2097786" y="1812341"/>
            <a:ext cx="307238" cy="307238"/>
          </a:xfrm>
          <a:prstGeom prst="rect">
            <a:avLst/>
          </a:prstGeom>
        </p:spPr>
      </p:pic>
      <p:sp>
        <p:nvSpPr>
          <p:cNvPr id="9" name="Text 5"/>
          <p:cNvSpPr txBox="1"/>
          <p:nvPr/>
        </p:nvSpPr>
        <p:spPr>
          <a:xfrm>
            <a:off x="566928" y="2313432"/>
            <a:ext cx="3368954" cy="512064"/>
          </a:xfrm>
          <a:prstGeom prst="rect">
            <a:avLst/>
          </a:prstGeom>
          <a:noFill/>
          <a:ln/>
        </p:spPr>
        <p:txBody>
          <a:bodyPr wrap="square" lIns="0" tIns="0" rIns="0" bIns="0" rtlCol="0" anchor="t"/>
          <a:lstStyle/>
          <a:p>
            <a:pPr algn="ctr" indent="0" marL="0">
              <a:buNone/>
            </a:pPr>
            <a:r>
              <a:rPr lang="en-US" sz="1400" b="1" dirty="0">
                <a:solidFill>
                  <a:srgbClr val="4A2545"/>
                </a:solidFill>
                <a:latin typeface="Cambria" pitchFamily="34" charset="0"/>
                <a:ea typeface="Cambria" pitchFamily="34" charset="-122"/>
                <a:cs typeface="Cambria" pitchFamily="34" charset="-120"/>
              </a:rPr>
              <a:t>Pediatría</a:t>
            </a:r>
            <a:endParaRPr lang="en-US" sz="1400" dirty="0"/>
          </a:p>
        </p:txBody>
      </p:sp>
      <p:sp>
        <p:nvSpPr>
          <p:cNvPr id="10" name="Text 6"/>
          <p:cNvSpPr txBox="1"/>
          <p:nvPr/>
        </p:nvSpPr>
        <p:spPr>
          <a:xfrm>
            <a:off x="621792" y="2862072"/>
            <a:ext cx="3259226" cy="1572768"/>
          </a:xfrm>
          <a:prstGeom prst="rect">
            <a:avLst/>
          </a:prstGeom>
          <a:noFill/>
          <a:ln/>
        </p:spPr>
        <p:txBody>
          <a:bodyPr wrap="square" lIns="0" tIns="0" rIns="0" bIns="0" rtlCol="0" anchor="t"/>
          <a:lstStyle/>
          <a:p>
            <a:pPr algn="ctr" indent="0" marL="0">
              <a:lnSpc>
                <a:spcPct val="105000"/>
              </a:lnSpc>
              <a:buNone/>
            </a:pPr>
            <a:r>
              <a:rPr lang="en-US" sz="1050" dirty="0">
                <a:solidFill>
                  <a:srgbClr val="3A2A35"/>
                </a:solidFill>
                <a:latin typeface="Calibri" pitchFamily="34" charset="0"/>
                <a:ea typeface="Calibri" pitchFamily="34" charset="-122"/>
                <a:cs typeface="Calibri" pitchFamily="34" charset="-120"/>
              </a:rPr>
              <a:t>Midazolam intranasal u oral (0.3-0.5 mg/kg) es de elección; evitar opioides como premedicación única por riesgo de depresión respiratoria. Priorizar separación tranquila de los padres.</a:t>
            </a:r>
            <a:endParaRPr lang="en-US" sz="1050" dirty="0"/>
          </a:p>
        </p:txBody>
      </p:sp>
      <p:sp>
        <p:nvSpPr>
          <p:cNvPr id="11" name="Shape 7"/>
          <p:cNvSpPr/>
          <p:nvPr/>
        </p:nvSpPr>
        <p:spPr>
          <a:xfrm>
            <a:off x="4301642" y="1508760"/>
            <a:ext cx="3588410" cy="3017520"/>
          </a:xfrm>
          <a:prstGeom prst="roundRect">
            <a:avLst>
              <a:gd name="adj" fmla="val 2424"/>
            </a:avLst>
          </a:prstGeom>
          <a:solidFill>
            <a:srgbClr val="F4EEF2"/>
          </a:solidFill>
          <a:ln/>
          <a:effectLst>
            <a:outerShdw sx="100000" sy="100000" kx="0" ky="0" algn="bl" rotWithShape="0" blurRad="76200" dist="25400" dir="5400000">
              <a:srgbClr val="2A1729">
                <a:alpha val="18000"/>
              </a:srgbClr>
            </a:outerShdw>
          </a:effectLst>
        </p:spPr>
      </p:sp>
      <p:sp>
        <p:nvSpPr>
          <p:cNvPr id="12" name="Shape 8"/>
          <p:cNvSpPr/>
          <p:nvPr/>
        </p:nvSpPr>
        <p:spPr>
          <a:xfrm>
            <a:off x="5821528" y="1691640"/>
            <a:ext cx="548640" cy="548640"/>
          </a:xfrm>
          <a:prstGeom prst="ellipse">
            <a:avLst/>
          </a:prstGeom>
          <a:solidFill>
            <a:srgbClr val="8E6C88"/>
          </a:solidFill>
          <a:ln/>
        </p:spPr>
      </p:sp>
      <p:pic>
        <p:nvPicPr>
          <p:cNvPr id="13" name="Image 2" descr="preencoded.png">    </p:cNvPr>
          <p:cNvPicPr>
            <a:picLocks noChangeAspect="1"/>
          </p:cNvPicPr>
          <p:nvPr/>
        </p:nvPicPr>
        <p:blipFill>
          <a:blip r:embed="rId3"/>
          <a:stretch>
            <a:fillRect/>
          </a:stretch>
        </p:blipFill>
        <p:spPr>
          <a:xfrm>
            <a:off x="5942228" y="1812341"/>
            <a:ext cx="307238" cy="307238"/>
          </a:xfrm>
          <a:prstGeom prst="rect">
            <a:avLst/>
          </a:prstGeom>
        </p:spPr>
      </p:pic>
      <p:sp>
        <p:nvSpPr>
          <p:cNvPr id="14" name="Text 9"/>
          <p:cNvSpPr txBox="1"/>
          <p:nvPr/>
        </p:nvSpPr>
        <p:spPr>
          <a:xfrm>
            <a:off x="4411370" y="2313432"/>
            <a:ext cx="3368954" cy="512064"/>
          </a:xfrm>
          <a:prstGeom prst="rect">
            <a:avLst/>
          </a:prstGeom>
          <a:noFill/>
          <a:ln/>
        </p:spPr>
        <p:txBody>
          <a:bodyPr wrap="square" lIns="0" tIns="0" rIns="0" bIns="0" rtlCol="0" anchor="t"/>
          <a:lstStyle/>
          <a:p>
            <a:pPr algn="ctr" indent="0" marL="0">
              <a:buNone/>
            </a:pPr>
            <a:r>
              <a:rPr lang="en-US" sz="1400" b="1" dirty="0">
                <a:solidFill>
                  <a:srgbClr val="4A2545"/>
                </a:solidFill>
                <a:latin typeface="Cambria" pitchFamily="34" charset="0"/>
                <a:ea typeface="Cambria" pitchFamily="34" charset="-122"/>
                <a:cs typeface="Cambria" pitchFamily="34" charset="-120"/>
              </a:rPr>
              <a:t>Embarazo</a:t>
            </a:r>
            <a:endParaRPr lang="en-US" sz="1400" dirty="0"/>
          </a:p>
        </p:txBody>
      </p:sp>
      <p:sp>
        <p:nvSpPr>
          <p:cNvPr id="15" name="Text 10"/>
          <p:cNvSpPr txBox="1"/>
          <p:nvPr/>
        </p:nvSpPr>
        <p:spPr>
          <a:xfrm>
            <a:off x="4466234" y="2862072"/>
            <a:ext cx="3259226" cy="1572768"/>
          </a:xfrm>
          <a:prstGeom prst="rect">
            <a:avLst/>
          </a:prstGeom>
          <a:noFill/>
          <a:ln/>
        </p:spPr>
        <p:txBody>
          <a:bodyPr wrap="square" lIns="0" tIns="0" rIns="0" bIns="0" rtlCol="0" anchor="t"/>
          <a:lstStyle/>
          <a:p>
            <a:pPr algn="ctr" indent="0" marL="0">
              <a:lnSpc>
                <a:spcPct val="105000"/>
              </a:lnSpc>
              <a:buNone/>
            </a:pPr>
            <a:r>
              <a:rPr lang="en-US" sz="1050" dirty="0">
                <a:solidFill>
                  <a:srgbClr val="3A2A35"/>
                </a:solidFill>
                <a:latin typeface="Calibri" pitchFamily="34" charset="0"/>
                <a:ea typeface="Calibri" pitchFamily="34" charset="-122"/>
                <a:cs typeface="Calibri" pitchFamily="34" charset="-120"/>
              </a:rPr>
              <a:t>Todas las gestantes se consideran de estómago lleno: profilaxis de aspiración obligatoria (citrato de sodio ± anti-H2). Evitar sedación profunda que comprometa reflejos protectores.</a:t>
            </a:r>
            <a:endParaRPr lang="en-US" sz="1050" dirty="0"/>
          </a:p>
        </p:txBody>
      </p:sp>
      <p:sp>
        <p:nvSpPr>
          <p:cNvPr id="16" name="Shape 11"/>
          <p:cNvSpPr/>
          <p:nvPr/>
        </p:nvSpPr>
        <p:spPr>
          <a:xfrm>
            <a:off x="8146085" y="1508760"/>
            <a:ext cx="3588410" cy="3017520"/>
          </a:xfrm>
          <a:prstGeom prst="roundRect">
            <a:avLst>
              <a:gd name="adj" fmla="val 2424"/>
            </a:avLst>
          </a:prstGeom>
          <a:solidFill>
            <a:srgbClr val="F4EEF2"/>
          </a:solidFill>
          <a:ln/>
          <a:effectLst>
            <a:outerShdw sx="100000" sy="100000" kx="0" ky="0" algn="bl" rotWithShape="0" blurRad="76200" dist="25400" dir="5400000">
              <a:srgbClr val="2A1729">
                <a:alpha val="18000"/>
              </a:srgbClr>
            </a:outerShdw>
          </a:effectLst>
        </p:spPr>
      </p:sp>
      <p:sp>
        <p:nvSpPr>
          <p:cNvPr id="17" name="Shape 12"/>
          <p:cNvSpPr/>
          <p:nvPr/>
        </p:nvSpPr>
        <p:spPr>
          <a:xfrm>
            <a:off x="9665970" y="1691640"/>
            <a:ext cx="548640" cy="548640"/>
          </a:xfrm>
          <a:prstGeom prst="ellipse">
            <a:avLst/>
          </a:prstGeom>
          <a:solidFill>
            <a:srgbClr val="4A2545"/>
          </a:solidFill>
          <a:ln/>
        </p:spPr>
      </p:sp>
      <p:pic>
        <p:nvPicPr>
          <p:cNvPr id="18" name="Image 3" descr="preencoded.png">    </p:cNvPr>
          <p:cNvPicPr>
            <a:picLocks noChangeAspect="1"/>
          </p:cNvPicPr>
          <p:nvPr/>
        </p:nvPicPr>
        <p:blipFill>
          <a:blip r:embed="rId4"/>
          <a:stretch>
            <a:fillRect/>
          </a:stretch>
        </p:blipFill>
        <p:spPr>
          <a:xfrm>
            <a:off x="9786671" y="1812341"/>
            <a:ext cx="307238" cy="307238"/>
          </a:xfrm>
          <a:prstGeom prst="rect">
            <a:avLst/>
          </a:prstGeom>
        </p:spPr>
      </p:pic>
      <p:sp>
        <p:nvSpPr>
          <p:cNvPr id="19" name="Text 13"/>
          <p:cNvSpPr txBox="1"/>
          <p:nvPr/>
        </p:nvSpPr>
        <p:spPr>
          <a:xfrm>
            <a:off x="8255813" y="2313432"/>
            <a:ext cx="3368954" cy="512064"/>
          </a:xfrm>
          <a:prstGeom prst="rect">
            <a:avLst/>
          </a:prstGeom>
          <a:noFill/>
          <a:ln/>
        </p:spPr>
        <p:txBody>
          <a:bodyPr wrap="square" lIns="0" tIns="0" rIns="0" bIns="0" rtlCol="0" anchor="t"/>
          <a:lstStyle/>
          <a:p>
            <a:pPr algn="ctr" indent="0" marL="0">
              <a:buNone/>
            </a:pPr>
            <a:r>
              <a:rPr lang="en-US" sz="1400" b="1" dirty="0">
                <a:solidFill>
                  <a:srgbClr val="4A2545"/>
                </a:solidFill>
                <a:latin typeface="Cambria" pitchFamily="34" charset="0"/>
                <a:ea typeface="Cambria" pitchFamily="34" charset="-122"/>
                <a:cs typeface="Cambria" pitchFamily="34" charset="-120"/>
              </a:rPr>
              <a:t>Adulto mayor</a:t>
            </a:r>
            <a:endParaRPr lang="en-US" sz="1400" dirty="0"/>
          </a:p>
        </p:txBody>
      </p:sp>
      <p:sp>
        <p:nvSpPr>
          <p:cNvPr id="20" name="Text 14"/>
          <p:cNvSpPr txBox="1"/>
          <p:nvPr/>
        </p:nvSpPr>
        <p:spPr>
          <a:xfrm>
            <a:off x="8310677" y="2862072"/>
            <a:ext cx="3259226" cy="1572768"/>
          </a:xfrm>
          <a:prstGeom prst="rect">
            <a:avLst/>
          </a:prstGeom>
          <a:noFill/>
          <a:ln/>
        </p:spPr>
        <p:txBody>
          <a:bodyPr wrap="square" lIns="0" tIns="0" rIns="0" bIns="0" rtlCol="0" anchor="t"/>
          <a:lstStyle/>
          <a:p>
            <a:pPr algn="ctr" indent="0" marL="0">
              <a:lnSpc>
                <a:spcPct val="105000"/>
              </a:lnSpc>
              <a:buNone/>
            </a:pPr>
            <a:r>
              <a:rPr lang="en-US" sz="1050" dirty="0">
                <a:solidFill>
                  <a:srgbClr val="3A2A35"/>
                </a:solidFill>
                <a:latin typeface="Calibri" pitchFamily="34" charset="0"/>
                <a:ea typeface="Calibri" pitchFamily="34" charset="-122"/>
                <a:cs typeface="Calibri" pitchFamily="34" charset="-120"/>
              </a:rPr>
              <a:t>Reducir dosis 30-50% por mayor sensibilidad del SNC y menor reserva fisiológica; preferir glicopirrolato sobre escopolamina/atropina por menor riesgo de delirio.</a:t>
            </a:r>
            <a:endParaRPr lang="en-US" sz="1050" dirty="0"/>
          </a:p>
        </p:txBody>
      </p:sp>
      <p:sp>
        <p:nvSpPr>
          <p:cNvPr id="21" name="Text 15"/>
          <p:cNvSpPr txBox="1"/>
          <p:nvPr/>
        </p:nvSpPr>
        <p:spPr>
          <a:xfrm>
            <a:off x="457200" y="6473952"/>
            <a:ext cx="6400800" cy="292608"/>
          </a:xfrm>
          <a:prstGeom prst="rect">
            <a:avLst/>
          </a:prstGeom>
          <a:noFill/>
          <a:ln/>
        </p:spPr>
        <p:txBody>
          <a:bodyPr wrap="square" lIns="0" tIns="0" rIns="0" bIns="0" rtlCol="0" anchor="ctr"/>
          <a:lstStyle/>
          <a:p>
            <a:pPr indent="0" marL="0">
              <a:buNone/>
            </a:pPr>
            <a:r>
              <a:rPr lang="en-US" sz="900" i="1" dirty="0">
                <a:solidFill>
                  <a:srgbClr val="77606F"/>
                </a:solidFill>
                <a:latin typeface="Calibri" pitchFamily="34" charset="0"/>
                <a:ea typeface="Calibri" pitchFamily="34" charset="-122"/>
                <a:cs typeface="Calibri" pitchFamily="34" charset="-120"/>
              </a:rPr>
              <a:t>Capítulo IV — Premedicación</a:t>
            </a:r>
            <a:endParaRPr lang="en-US" sz="900" dirty="0"/>
          </a:p>
        </p:txBody>
      </p:sp>
      <p:sp>
        <p:nvSpPr>
          <p:cNvPr id="22" name="Text 16"/>
          <p:cNvSpPr txBox="1"/>
          <p:nvPr/>
        </p:nvSpPr>
        <p:spPr>
          <a:xfrm>
            <a:off x="10362895" y="6473952"/>
            <a:ext cx="1371600" cy="292608"/>
          </a:xfrm>
          <a:prstGeom prst="rect">
            <a:avLst/>
          </a:prstGeom>
          <a:noFill/>
          <a:ln/>
        </p:spPr>
        <p:txBody>
          <a:bodyPr wrap="square" lIns="0" tIns="0" rIns="0" bIns="0" rtlCol="0" anchor="ctr"/>
          <a:lstStyle/>
          <a:p>
            <a:pPr algn="r" indent="0" marL="0">
              <a:buNone/>
            </a:pPr>
            <a:r>
              <a:rPr lang="en-US" sz="900" dirty="0">
                <a:solidFill>
                  <a:srgbClr val="77606F"/>
                </a:solidFill>
                <a:latin typeface="Calibri" pitchFamily="34" charset="0"/>
                <a:ea typeface="Calibri" pitchFamily="34" charset="-122"/>
                <a:cs typeface="Calibri" pitchFamily="34" charset="-120"/>
              </a:rPr>
              <a:t>30 / 33</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658368" cy="658368"/>
          </a:xfrm>
          <a:prstGeom prst="ellipse">
            <a:avLst/>
          </a:prstGeom>
          <a:solidFill>
            <a:srgbClr val="4A2545"/>
          </a:solidFill>
          <a:ln/>
        </p:spPr>
      </p:sp>
      <p:pic>
        <p:nvPicPr>
          <p:cNvPr id="3" name="Image 0" descr="preencoded.png">    </p:cNvPr>
          <p:cNvPicPr>
            <a:picLocks noChangeAspect="1"/>
          </p:cNvPicPr>
          <p:nvPr/>
        </p:nvPicPr>
        <p:blipFill>
          <a:blip r:embed="rId1"/>
          <a:stretch>
            <a:fillRect/>
          </a:stretch>
        </p:blipFill>
        <p:spPr>
          <a:xfrm>
            <a:off x="602041" y="556321"/>
            <a:ext cx="368686" cy="368686"/>
          </a:xfrm>
          <a:prstGeom prst="rect">
            <a:avLst/>
          </a:prstGeom>
        </p:spPr>
      </p:pic>
      <p:sp>
        <p:nvSpPr>
          <p:cNvPr id="4" name="Text 1"/>
          <p:cNvSpPr txBox="1"/>
          <p:nvPr/>
        </p:nvSpPr>
        <p:spPr>
          <a:xfrm>
            <a:off x="1298448" y="384048"/>
            <a:ext cx="9601200" cy="256032"/>
          </a:xfrm>
          <a:prstGeom prst="rect">
            <a:avLst/>
          </a:prstGeom>
          <a:noFill/>
          <a:ln/>
        </p:spPr>
        <p:txBody>
          <a:bodyPr wrap="square" lIns="0" tIns="0" rIns="0" bIns="0" rtlCol="0" anchor="ctr"/>
          <a:lstStyle/>
          <a:p>
            <a:pPr indent="0" marL="0">
              <a:buNone/>
            </a:pPr>
            <a:r>
              <a:rPr lang="en-US" sz="1150" b="1" spc="150" kern="0" dirty="0">
                <a:solidFill>
                  <a:srgbClr val="E0A458"/>
                </a:solidFill>
                <a:latin typeface="Calibri" pitchFamily="34" charset="0"/>
                <a:ea typeface="Calibri" pitchFamily="34" charset="-122"/>
                <a:cs typeface="Calibri" pitchFamily="34" charset="-120"/>
              </a:rPr>
              <a:t>EJEMPLO DE PROTOCOLO INSTITUCIONAL</a:t>
            </a:r>
            <a:endParaRPr lang="en-US" sz="1150" dirty="0"/>
          </a:p>
        </p:txBody>
      </p:sp>
      <p:sp>
        <p:nvSpPr>
          <p:cNvPr id="5" name="Text 2"/>
          <p:cNvSpPr txBox="1"/>
          <p:nvPr/>
        </p:nvSpPr>
        <p:spPr>
          <a:xfrm>
            <a:off x="1298448" y="621792"/>
            <a:ext cx="10058400" cy="502920"/>
          </a:xfrm>
          <a:prstGeom prst="rect">
            <a:avLst/>
          </a:prstGeom>
          <a:noFill/>
          <a:ln/>
        </p:spPr>
        <p:txBody>
          <a:bodyPr wrap="square" lIns="0" tIns="0" rIns="0" bIns="0" rtlCol="0" anchor="ctr"/>
          <a:lstStyle/>
          <a:p>
            <a:pPr indent="0" marL="0">
              <a:buNone/>
            </a:pPr>
            <a:r>
              <a:rPr lang="en-US" sz="2500" b="1" dirty="0">
                <a:solidFill>
                  <a:srgbClr val="4A2545"/>
                </a:solidFill>
                <a:latin typeface="Cambria" pitchFamily="34" charset="0"/>
                <a:ea typeface="Cambria" pitchFamily="34" charset="-122"/>
                <a:cs typeface="Cambria" pitchFamily="34" charset="-120"/>
              </a:rPr>
              <a:t>Esquema práctico de premedicación</a:t>
            </a:r>
            <a:endParaRPr lang="en-US" sz="25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457200" y="1417320"/>
          <a:ext cx="11277295" cy="914400"/>
        </p:xfrm>
        <a:graphic>
          <a:graphicData uri="http://schemas.openxmlformats.org/drawingml/2006/table">
            <a:tbl>
              <a:tblPr/>
              <a:tblGrid>
                <a:gridCol w="2743200"/>
                <a:gridCol w="2926080"/>
                <a:gridCol w="2770632"/>
                <a:gridCol w="2834640"/>
              </a:tblGrid>
              <a:tr h="548640">
                <a:tc>
                  <a:txBody>
                    <a:bodyPr/>
                    <a:lstStyle/>
                    <a:p>
                      <a:pPr algn="ctr" indent="0" marL="0">
                        <a:buNone/>
                      </a:pPr>
                      <a:r>
                        <a:rPr lang="en-US" sz="1030" b="1" dirty="0">
                          <a:solidFill>
                            <a:srgbClr val="FFFFFF"/>
                          </a:solidFill>
                          <a:latin typeface="Calibri" pitchFamily="34" charset="0"/>
                          <a:ea typeface="Calibri" pitchFamily="34" charset="-122"/>
                          <a:cs typeface="Calibri" pitchFamily="34" charset="-120"/>
                        </a:rPr>
                        <a:t>Escenario</a:t>
                      </a:r>
                      <a:endParaRPr lang="en-US" sz="103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4A2545"/>
                    </a:solidFill>
                  </a:tcPr>
                </a:tc>
                <a:tc>
                  <a:txBody>
                    <a:bodyPr/>
                    <a:lstStyle/>
                    <a:p>
                      <a:pPr algn="ctr" indent="0" marL="0">
                        <a:buNone/>
                      </a:pPr>
                      <a:r>
                        <a:rPr lang="en-US" sz="1030" b="1" dirty="0">
                          <a:solidFill>
                            <a:srgbClr val="FFFFFF"/>
                          </a:solidFill>
                          <a:latin typeface="Calibri" pitchFamily="34" charset="0"/>
                          <a:ea typeface="Calibri" pitchFamily="34" charset="-122"/>
                          <a:cs typeface="Calibri" pitchFamily="34" charset="-120"/>
                        </a:rPr>
                        <a:t>Fármaco(s)</a:t>
                      </a:r>
                      <a:endParaRPr lang="en-US" sz="103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4A2545"/>
                    </a:solidFill>
                  </a:tcPr>
                </a:tc>
                <a:tc>
                  <a:txBody>
                    <a:bodyPr/>
                    <a:lstStyle/>
                    <a:p>
                      <a:pPr algn="ctr" indent="0" marL="0">
                        <a:buNone/>
                      </a:pPr>
                      <a:r>
                        <a:rPr lang="en-US" sz="1030" b="1" dirty="0">
                          <a:solidFill>
                            <a:srgbClr val="FFFFFF"/>
                          </a:solidFill>
                          <a:latin typeface="Calibri" pitchFamily="34" charset="0"/>
                          <a:ea typeface="Calibri" pitchFamily="34" charset="-122"/>
                          <a:cs typeface="Calibri" pitchFamily="34" charset="-120"/>
                        </a:rPr>
                        <a:t>Dosis / vía</a:t>
                      </a:r>
                      <a:endParaRPr lang="en-US" sz="103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4A2545"/>
                    </a:solidFill>
                  </a:tcPr>
                </a:tc>
                <a:tc>
                  <a:txBody>
                    <a:bodyPr/>
                    <a:lstStyle/>
                    <a:p>
                      <a:pPr algn="ctr" indent="0" marL="0">
                        <a:buNone/>
                      </a:pPr>
                      <a:r>
                        <a:rPr lang="en-US" sz="1030" b="1" dirty="0">
                          <a:solidFill>
                            <a:srgbClr val="FFFFFF"/>
                          </a:solidFill>
                          <a:latin typeface="Calibri" pitchFamily="34" charset="0"/>
                          <a:ea typeface="Calibri" pitchFamily="34" charset="-122"/>
                          <a:cs typeface="Calibri" pitchFamily="34" charset="-120"/>
                        </a:rPr>
                        <a:t>Momento</a:t>
                      </a:r>
                      <a:endParaRPr lang="en-US" sz="103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4A2545"/>
                    </a:solidFill>
                  </a:tcPr>
                </a:tc>
              </a:tr>
              <a:tr h="658368">
                <a:tc>
                  <a:txBody>
                    <a:bodyPr/>
                    <a:lstStyle/>
                    <a:p>
                      <a:pPr algn="l" indent="0" marL="0">
                        <a:buNone/>
                      </a:pPr>
                      <a:r>
                        <a:rPr lang="en-US" sz="980" b="1" dirty="0">
                          <a:solidFill>
                            <a:srgbClr val="3A2A35"/>
                          </a:solidFill>
                          <a:latin typeface="Calibri" pitchFamily="34" charset="0"/>
                          <a:ea typeface="Calibri" pitchFamily="34" charset="-122"/>
                          <a:cs typeface="Calibri" pitchFamily="34" charset="-120"/>
                        </a:rPr>
                        <a:t>Ansiolisis estándar (adulto)</a:t>
                      </a:r>
                      <a:endParaRPr lang="en-US" sz="98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FFFFFF"/>
                    </a:solidFill>
                  </a:tcPr>
                </a:tc>
                <a:tc>
                  <a:txBody>
                    <a:bodyPr/>
                    <a:lstStyle/>
                    <a:p>
                      <a:pPr algn="ctr" indent="0" marL="0">
                        <a:buNone/>
                      </a:pPr>
                      <a:r>
                        <a:rPr lang="en-US" sz="980" dirty="0">
                          <a:solidFill>
                            <a:srgbClr val="3A2A35"/>
                          </a:solidFill>
                          <a:latin typeface="Calibri" pitchFamily="34" charset="0"/>
                          <a:ea typeface="Calibri" pitchFamily="34" charset="-122"/>
                          <a:cs typeface="Calibri" pitchFamily="34" charset="-120"/>
                        </a:rPr>
                        <a:t>Midazolam</a:t>
                      </a:r>
                      <a:endParaRPr lang="en-US" sz="98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FFFFFF"/>
                    </a:solidFill>
                  </a:tcPr>
                </a:tc>
                <a:tc>
                  <a:txBody>
                    <a:bodyPr/>
                    <a:lstStyle/>
                    <a:p>
                      <a:pPr algn="ctr" indent="0" marL="0">
                        <a:buNone/>
                      </a:pPr>
                      <a:r>
                        <a:rPr lang="en-US" sz="980" dirty="0">
                          <a:solidFill>
                            <a:srgbClr val="3A2A35"/>
                          </a:solidFill>
                          <a:latin typeface="Calibri" pitchFamily="34" charset="0"/>
                          <a:ea typeface="Calibri" pitchFamily="34" charset="-122"/>
                          <a:cs typeface="Calibri" pitchFamily="34" charset="-120"/>
                        </a:rPr>
                        <a:t>1-2 mg IV (titulado)</a:t>
                      </a:r>
                      <a:endParaRPr lang="en-US" sz="98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FFFFFF"/>
                    </a:solidFill>
                  </a:tcPr>
                </a:tc>
                <a:tc>
                  <a:txBody>
                    <a:bodyPr/>
                    <a:lstStyle/>
                    <a:p>
                      <a:pPr algn="ctr" indent="0" marL="0">
                        <a:buNone/>
                      </a:pPr>
                      <a:r>
                        <a:rPr lang="en-US" sz="980" dirty="0">
                          <a:solidFill>
                            <a:srgbClr val="3A2A35"/>
                          </a:solidFill>
                          <a:latin typeface="Calibri" pitchFamily="34" charset="0"/>
                          <a:ea typeface="Calibri" pitchFamily="34" charset="-122"/>
                          <a:cs typeface="Calibri" pitchFamily="34" charset="-120"/>
                        </a:rPr>
                        <a:t>Inmediatamente antes de ingresar a quirófano</a:t>
                      </a:r>
                      <a:endParaRPr lang="en-US" sz="98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FFFFFF"/>
                    </a:solidFill>
                  </a:tcPr>
                </a:tc>
              </a:tr>
              <a:tr h="658368">
                <a:tc>
                  <a:txBody>
                    <a:bodyPr/>
                    <a:lstStyle/>
                    <a:p>
                      <a:pPr algn="l" indent="0" marL="0">
                        <a:buNone/>
                      </a:pPr>
                      <a:r>
                        <a:rPr lang="en-US" sz="980" b="1" dirty="0">
                          <a:solidFill>
                            <a:srgbClr val="3A2A35"/>
                          </a:solidFill>
                          <a:latin typeface="Calibri" pitchFamily="34" charset="0"/>
                          <a:ea typeface="Calibri" pitchFamily="34" charset="-122"/>
                          <a:cs typeface="Calibri" pitchFamily="34" charset="-120"/>
                        </a:rPr>
                        <a:t>Ansiolisis pediátrica</a:t>
                      </a:r>
                      <a:endParaRPr lang="en-US" sz="98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F4EEF2"/>
                    </a:solidFill>
                  </a:tcPr>
                </a:tc>
                <a:tc>
                  <a:txBody>
                    <a:bodyPr/>
                    <a:lstStyle/>
                    <a:p>
                      <a:pPr algn="ctr" indent="0" marL="0">
                        <a:buNone/>
                      </a:pPr>
                      <a:r>
                        <a:rPr lang="en-US" sz="980" dirty="0">
                          <a:solidFill>
                            <a:srgbClr val="3A2A35"/>
                          </a:solidFill>
                          <a:latin typeface="Calibri" pitchFamily="34" charset="0"/>
                          <a:ea typeface="Calibri" pitchFamily="34" charset="-122"/>
                          <a:cs typeface="Calibri" pitchFamily="34" charset="-120"/>
                        </a:rPr>
                        <a:t>Midazolam</a:t>
                      </a:r>
                      <a:endParaRPr lang="en-US" sz="98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F4EEF2"/>
                    </a:solidFill>
                  </a:tcPr>
                </a:tc>
                <a:tc>
                  <a:txBody>
                    <a:bodyPr/>
                    <a:lstStyle/>
                    <a:p>
                      <a:pPr algn="ctr" indent="0" marL="0">
                        <a:buNone/>
                      </a:pPr>
                      <a:r>
                        <a:rPr lang="en-US" sz="980" dirty="0">
                          <a:solidFill>
                            <a:srgbClr val="3A2A35"/>
                          </a:solidFill>
                          <a:latin typeface="Calibri" pitchFamily="34" charset="0"/>
                          <a:ea typeface="Calibri" pitchFamily="34" charset="-122"/>
                          <a:cs typeface="Calibri" pitchFamily="34" charset="-120"/>
                        </a:rPr>
                        <a:t>0.3-0.5 mg/kg intranasal u oral</a:t>
                      </a:r>
                      <a:endParaRPr lang="en-US" sz="98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F4EEF2"/>
                    </a:solidFill>
                  </a:tcPr>
                </a:tc>
                <a:tc>
                  <a:txBody>
                    <a:bodyPr/>
                    <a:lstStyle/>
                    <a:p>
                      <a:pPr algn="ctr" indent="0" marL="0">
                        <a:buNone/>
                      </a:pPr>
                      <a:r>
                        <a:rPr lang="en-US" sz="980" dirty="0">
                          <a:solidFill>
                            <a:srgbClr val="3A2A35"/>
                          </a:solidFill>
                          <a:latin typeface="Calibri" pitchFamily="34" charset="0"/>
                          <a:ea typeface="Calibri" pitchFamily="34" charset="-122"/>
                          <a:cs typeface="Calibri" pitchFamily="34" charset="-120"/>
                        </a:rPr>
                        <a:t>20-30 min antes de la inducción</a:t>
                      </a:r>
                      <a:endParaRPr lang="en-US" sz="98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F4EEF2"/>
                    </a:solidFill>
                  </a:tcPr>
                </a:tc>
              </a:tr>
              <a:tr h="658368">
                <a:tc>
                  <a:txBody>
                    <a:bodyPr/>
                    <a:lstStyle/>
                    <a:p>
                      <a:pPr algn="l" indent="0" marL="0">
                        <a:buNone/>
                      </a:pPr>
                      <a:r>
                        <a:rPr lang="en-US" sz="980" b="1" dirty="0">
                          <a:solidFill>
                            <a:srgbClr val="3A2A35"/>
                          </a:solidFill>
                          <a:latin typeface="Calibri" pitchFamily="34" charset="0"/>
                          <a:ea typeface="Calibri" pitchFamily="34" charset="-122"/>
                          <a:cs typeface="Calibri" pitchFamily="34" charset="-120"/>
                        </a:rPr>
                        <a:t>Profilaxis de aspiración (riesgo alto)</a:t>
                      </a:r>
                      <a:endParaRPr lang="en-US" sz="98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FFFFFF"/>
                    </a:solidFill>
                  </a:tcPr>
                </a:tc>
                <a:tc>
                  <a:txBody>
                    <a:bodyPr/>
                    <a:lstStyle/>
                    <a:p>
                      <a:pPr algn="ctr" indent="0" marL="0">
                        <a:buNone/>
                      </a:pPr>
                      <a:r>
                        <a:rPr lang="en-US" sz="980" dirty="0">
                          <a:solidFill>
                            <a:srgbClr val="3A2A35"/>
                          </a:solidFill>
                          <a:latin typeface="Calibri" pitchFamily="34" charset="0"/>
                          <a:ea typeface="Calibri" pitchFamily="34" charset="-122"/>
                          <a:cs typeface="Calibri" pitchFamily="34" charset="-120"/>
                        </a:rPr>
                        <a:t>Citrato de sodio + ranitidina/omeprazol</a:t>
                      </a:r>
                      <a:endParaRPr lang="en-US" sz="98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FFFFFF"/>
                    </a:solidFill>
                  </a:tcPr>
                </a:tc>
                <a:tc>
                  <a:txBody>
                    <a:bodyPr/>
                    <a:lstStyle/>
                    <a:p>
                      <a:pPr algn="ctr" indent="0" marL="0">
                        <a:buNone/>
                      </a:pPr>
                      <a:r>
                        <a:rPr lang="en-US" sz="980" dirty="0">
                          <a:solidFill>
                            <a:srgbClr val="3A2A35"/>
                          </a:solidFill>
                          <a:latin typeface="Calibri" pitchFamily="34" charset="0"/>
                          <a:ea typeface="Calibri" pitchFamily="34" charset="-122"/>
                          <a:cs typeface="Calibri" pitchFamily="34" charset="-120"/>
                        </a:rPr>
                        <a:t>30 mL VO + dosis estándar</a:t>
                      </a:r>
                      <a:endParaRPr lang="en-US" sz="98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FFFFFF"/>
                    </a:solidFill>
                  </a:tcPr>
                </a:tc>
                <a:tc>
                  <a:txBody>
                    <a:bodyPr/>
                    <a:lstStyle/>
                    <a:p>
                      <a:pPr algn="ctr" indent="0" marL="0">
                        <a:buNone/>
                      </a:pPr>
                      <a:r>
                        <a:rPr lang="en-US" sz="980" dirty="0">
                          <a:solidFill>
                            <a:srgbClr val="3A2A35"/>
                          </a:solidFill>
                          <a:latin typeface="Calibri" pitchFamily="34" charset="0"/>
                          <a:ea typeface="Calibri" pitchFamily="34" charset="-122"/>
                          <a:cs typeface="Calibri" pitchFamily="34" charset="-120"/>
                        </a:rPr>
                        <a:t>Citrato 15-30 min antes; anti-H2/IBP la noche previa y en la mañana</a:t>
                      </a:r>
                      <a:endParaRPr lang="en-US" sz="98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FFFFFF"/>
                    </a:solidFill>
                  </a:tcPr>
                </a:tc>
              </a:tr>
              <a:tr h="658368">
                <a:tc>
                  <a:txBody>
                    <a:bodyPr/>
                    <a:lstStyle/>
                    <a:p>
                      <a:pPr algn="l" indent="0" marL="0">
                        <a:buNone/>
                      </a:pPr>
                      <a:r>
                        <a:rPr lang="en-US" sz="980" b="1" dirty="0">
                          <a:solidFill>
                            <a:srgbClr val="3A2A35"/>
                          </a:solidFill>
                          <a:latin typeface="Calibri" pitchFamily="34" charset="0"/>
                          <a:ea typeface="Calibri" pitchFamily="34" charset="-122"/>
                          <a:cs typeface="Calibri" pitchFamily="34" charset="-120"/>
                        </a:rPr>
                        <a:t>Profilaxis de NVPO (riesgo moderado-alto)</a:t>
                      </a:r>
                      <a:endParaRPr lang="en-US" sz="98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F4EEF2"/>
                    </a:solidFill>
                  </a:tcPr>
                </a:tc>
                <a:tc>
                  <a:txBody>
                    <a:bodyPr/>
                    <a:lstStyle/>
                    <a:p>
                      <a:pPr algn="ctr" indent="0" marL="0">
                        <a:buNone/>
                      </a:pPr>
                      <a:r>
                        <a:rPr lang="en-US" sz="980" dirty="0">
                          <a:solidFill>
                            <a:srgbClr val="3A2A35"/>
                          </a:solidFill>
                          <a:latin typeface="Calibri" pitchFamily="34" charset="0"/>
                          <a:ea typeface="Calibri" pitchFamily="34" charset="-122"/>
                          <a:cs typeface="Calibri" pitchFamily="34" charset="-120"/>
                        </a:rPr>
                        <a:t>Dexametasona + ondansetrón</a:t>
                      </a:r>
                      <a:endParaRPr lang="en-US" sz="98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F4EEF2"/>
                    </a:solidFill>
                  </a:tcPr>
                </a:tc>
                <a:tc>
                  <a:txBody>
                    <a:bodyPr/>
                    <a:lstStyle/>
                    <a:p>
                      <a:pPr algn="ctr" indent="0" marL="0">
                        <a:buNone/>
                      </a:pPr>
                      <a:r>
                        <a:rPr lang="en-US" sz="980" dirty="0">
                          <a:solidFill>
                            <a:srgbClr val="3A2A35"/>
                          </a:solidFill>
                          <a:latin typeface="Calibri" pitchFamily="34" charset="0"/>
                          <a:ea typeface="Calibri" pitchFamily="34" charset="-122"/>
                          <a:cs typeface="Calibri" pitchFamily="34" charset="-120"/>
                        </a:rPr>
                        <a:t>4-8 mg IV / 4 mg IV</a:t>
                      </a:r>
                      <a:endParaRPr lang="en-US" sz="98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F4EEF2"/>
                    </a:solidFill>
                  </a:tcPr>
                </a:tc>
                <a:tc>
                  <a:txBody>
                    <a:bodyPr/>
                    <a:lstStyle/>
                    <a:p>
                      <a:pPr algn="ctr" indent="0" marL="0">
                        <a:buNone/>
                      </a:pPr>
                      <a:r>
                        <a:rPr lang="en-US" sz="980" dirty="0">
                          <a:solidFill>
                            <a:srgbClr val="3A2A35"/>
                          </a:solidFill>
                          <a:latin typeface="Calibri" pitchFamily="34" charset="0"/>
                          <a:ea typeface="Calibri" pitchFamily="34" charset="-122"/>
                          <a:cs typeface="Calibri" pitchFamily="34" charset="-120"/>
                        </a:rPr>
                        <a:t>Dexametasona a la inducción; ondansetrón al final de la cirugía</a:t>
                      </a:r>
                      <a:endParaRPr lang="en-US" sz="98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F4EEF2"/>
                    </a:solidFill>
                  </a:tcPr>
                </a:tc>
              </a:tr>
              <a:tr h="658368">
                <a:tc>
                  <a:txBody>
                    <a:bodyPr/>
                    <a:lstStyle/>
                    <a:p>
                      <a:pPr algn="l" indent="0" marL="0">
                        <a:buNone/>
                      </a:pPr>
                      <a:r>
                        <a:rPr lang="en-US" sz="980" b="1" dirty="0">
                          <a:solidFill>
                            <a:srgbClr val="3A2A35"/>
                          </a:solidFill>
                          <a:latin typeface="Calibri" pitchFamily="34" charset="0"/>
                          <a:ea typeface="Calibri" pitchFamily="34" charset="-122"/>
                          <a:cs typeface="Calibri" pitchFamily="34" charset="-120"/>
                        </a:rPr>
                        <a:t>Control vagal anticipado</a:t>
                      </a:r>
                      <a:endParaRPr lang="en-US" sz="98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FFFFFF"/>
                    </a:solidFill>
                  </a:tcPr>
                </a:tc>
                <a:tc>
                  <a:txBody>
                    <a:bodyPr/>
                    <a:lstStyle/>
                    <a:p>
                      <a:pPr algn="ctr" indent="0" marL="0">
                        <a:buNone/>
                      </a:pPr>
                      <a:r>
                        <a:rPr lang="en-US" sz="980" dirty="0">
                          <a:solidFill>
                            <a:srgbClr val="3A2A35"/>
                          </a:solidFill>
                          <a:latin typeface="Calibri" pitchFamily="34" charset="0"/>
                          <a:ea typeface="Calibri" pitchFamily="34" charset="-122"/>
                          <a:cs typeface="Calibri" pitchFamily="34" charset="-120"/>
                        </a:rPr>
                        <a:t>Glicopirrolato</a:t>
                      </a:r>
                      <a:endParaRPr lang="en-US" sz="98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FFFFFF"/>
                    </a:solidFill>
                  </a:tcPr>
                </a:tc>
                <a:tc>
                  <a:txBody>
                    <a:bodyPr/>
                    <a:lstStyle/>
                    <a:p>
                      <a:pPr algn="ctr" indent="0" marL="0">
                        <a:buNone/>
                      </a:pPr>
                      <a:r>
                        <a:rPr lang="en-US" sz="980" dirty="0">
                          <a:solidFill>
                            <a:srgbClr val="3A2A35"/>
                          </a:solidFill>
                          <a:latin typeface="Calibri" pitchFamily="34" charset="0"/>
                          <a:ea typeface="Calibri" pitchFamily="34" charset="-122"/>
                          <a:cs typeface="Calibri" pitchFamily="34" charset="-120"/>
                        </a:rPr>
                        <a:t>0.2-0.4 mg IV</a:t>
                      </a:r>
                      <a:endParaRPr lang="en-US" sz="98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FFFFFF"/>
                    </a:solidFill>
                  </a:tcPr>
                </a:tc>
                <a:tc>
                  <a:txBody>
                    <a:bodyPr/>
                    <a:lstStyle/>
                    <a:p>
                      <a:pPr algn="ctr" indent="0" marL="0">
                        <a:buNone/>
                      </a:pPr>
                      <a:r>
                        <a:rPr lang="en-US" sz="980" dirty="0">
                          <a:solidFill>
                            <a:srgbClr val="3A2A35"/>
                          </a:solidFill>
                          <a:latin typeface="Calibri" pitchFamily="34" charset="0"/>
                          <a:ea typeface="Calibri" pitchFamily="34" charset="-122"/>
                          <a:cs typeface="Calibri" pitchFamily="34" charset="-120"/>
                        </a:rPr>
                        <a:t>Previo a maniobras de alto tono vagal</a:t>
                      </a:r>
                      <a:endParaRPr lang="en-US" sz="980" dirty="0">
                        <a:latin typeface="Calibri" charset="0"/>
                        <a:ea typeface="Calibri" charset="0"/>
                        <a:cs typeface="Calibri" charset="0"/>
                      </a:endParaRPr>
                    </a:p>
                  </a:txBody>
                  <a:tcPr marL="91440" marR="91440" marT="45720" marB="45720" anchor="ctr">
                    <a:lnL w="9525" cap="flat" cmpd="sng" algn="ctr">
                      <a:solidFill>
                        <a:srgbClr val="E1D3DB"/>
                      </a:solidFill>
                      <a:prstDash val="solid"/>
                      <a:round/>
                      <a:headEnd type="none" w="med" len="med"/>
                      <a:tailEnd type="none" w="med" len="med"/>
                    </a:lnL>
                    <a:lnR w="9525" cap="flat" cmpd="sng" algn="ctr">
                      <a:solidFill>
                        <a:srgbClr val="E1D3DB"/>
                      </a:solidFill>
                      <a:prstDash val="solid"/>
                      <a:round/>
                      <a:headEnd type="none" w="med" len="med"/>
                      <a:tailEnd type="none" w="med" len="med"/>
                    </a:lnR>
                    <a:lnT w="9525" cap="flat" cmpd="sng" algn="ctr">
                      <a:solidFill>
                        <a:srgbClr val="E1D3DB"/>
                      </a:solidFill>
                      <a:prstDash val="solid"/>
                      <a:round/>
                      <a:headEnd type="none" w="med" len="med"/>
                      <a:tailEnd type="none" w="med" len="med"/>
                    </a:lnT>
                    <a:lnB w="9525" cap="flat" cmpd="sng" algn="ctr">
                      <a:solidFill>
                        <a:srgbClr val="E1D3DB"/>
                      </a:solidFill>
                      <a:prstDash val="solid"/>
                      <a:round/>
                      <a:headEnd type="none" w="med" len="med"/>
                      <a:tailEnd type="none" w="med" len="med"/>
                    </a:lnB>
                    <a:solidFill>
                      <a:srgbClr val="FFFFFF"/>
                    </a:solidFill>
                  </a:tcPr>
                </a:tc>
              </a:tr>
            </a:tbl>
          </a:graphicData>
        </a:graphic>
      </p:graphicFrame>
      <p:sp>
        <p:nvSpPr>
          <p:cNvPr id="7" name="Text 3"/>
          <p:cNvSpPr txBox="1"/>
          <p:nvPr/>
        </p:nvSpPr>
        <p:spPr>
          <a:xfrm>
            <a:off x="457200" y="6473952"/>
            <a:ext cx="6400800" cy="292608"/>
          </a:xfrm>
          <a:prstGeom prst="rect">
            <a:avLst/>
          </a:prstGeom>
          <a:noFill/>
          <a:ln/>
        </p:spPr>
        <p:txBody>
          <a:bodyPr wrap="square" lIns="0" tIns="0" rIns="0" bIns="0" rtlCol="0" anchor="ctr"/>
          <a:lstStyle/>
          <a:p>
            <a:pPr indent="0" marL="0">
              <a:buNone/>
            </a:pPr>
            <a:r>
              <a:rPr lang="en-US" sz="900" i="1" dirty="0">
                <a:solidFill>
                  <a:srgbClr val="77606F"/>
                </a:solidFill>
                <a:latin typeface="Calibri" pitchFamily="34" charset="0"/>
                <a:ea typeface="Calibri" pitchFamily="34" charset="-122"/>
                <a:cs typeface="Calibri" pitchFamily="34" charset="-120"/>
              </a:rPr>
              <a:t>Capítulo IV — Premedicación</a:t>
            </a:r>
            <a:endParaRPr lang="en-US" sz="900" dirty="0"/>
          </a:p>
        </p:txBody>
      </p:sp>
      <p:sp>
        <p:nvSpPr>
          <p:cNvPr id="8" name="Text 4"/>
          <p:cNvSpPr txBox="1"/>
          <p:nvPr/>
        </p:nvSpPr>
        <p:spPr>
          <a:xfrm>
            <a:off x="10362895" y="6473952"/>
            <a:ext cx="1371600" cy="292608"/>
          </a:xfrm>
          <a:prstGeom prst="rect">
            <a:avLst/>
          </a:prstGeom>
          <a:noFill/>
          <a:ln/>
        </p:spPr>
        <p:txBody>
          <a:bodyPr wrap="square" lIns="0" tIns="0" rIns="0" bIns="0" rtlCol="0" anchor="ctr"/>
          <a:lstStyle/>
          <a:p>
            <a:pPr algn="r" indent="0" marL="0">
              <a:buNone/>
            </a:pPr>
            <a:r>
              <a:rPr lang="en-US" sz="900" dirty="0">
                <a:solidFill>
                  <a:srgbClr val="77606F"/>
                </a:solidFill>
                <a:latin typeface="Calibri" pitchFamily="34" charset="0"/>
                <a:ea typeface="Calibri" pitchFamily="34" charset="-122"/>
                <a:cs typeface="Calibri" pitchFamily="34" charset="-120"/>
              </a:rPr>
              <a:t>31 / 33</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658368" cy="658368"/>
          </a:xfrm>
          <a:prstGeom prst="ellipse">
            <a:avLst/>
          </a:prstGeom>
          <a:solidFill>
            <a:srgbClr val="4A2545"/>
          </a:solidFill>
          <a:ln/>
        </p:spPr>
      </p:sp>
      <p:pic>
        <p:nvPicPr>
          <p:cNvPr id="3" name="Image 0" descr="preencoded.png">    </p:cNvPr>
          <p:cNvPicPr>
            <a:picLocks noChangeAspect="1"/>
          </p:cNvPicPr>
          <p:nvPr/>
        </p:nvPicPr>
        <p:blipFill>
          <a:blip r:embed="rId1"/>
          <a:stretch>
            <a:fillRect/>
          </a:stretch>
        </p:blipFill>
        <p:spPr>
          <a:xfrm>
            <a:off x="602041" y="556321"/>
            <a:ext cx="368686" cy="368686"/>
          </a:xfrm>
          <a:prstGeom prst="rect">
            <a:avLst/>
          </a:prstGeom>
        </p:spPr>
      </p:pic>
      <p:sp>
        <p:nvSpPr>
          <p:cNvPr id="4" name="Text 1"/>
          <p:cNvSpPr txBox="1"/>
          <p:nvPr/>
        </p:nvSpPr>
        <p:spPr>
          <a:xfrm>
            <a:off x="1298448" y="384048"/>
            <a:ext cx="9601200" cy="256032"/>
          </a:xfrm>
          <a:prstGeom prst="rect">
            <a:avLst/>
          </a:prstGeom>
          <a:noFill/>
          <a:ln/>
        </p:spPr>
        <p:txBody>
          <a:bodyPr wrap="square" lIns="0" tIns="0" rIns="0" bIns="0" rtlCol="0" anchor="ctr"/>
          <a:lstStyle/>
          <a:p>
            <a:pPr indent="0" marL="0">
              <a:buNone/>
            </a:pPr>
            <a:r>
              <a:rPr lang="en-US" sz="1150" b="1" spc="150" kern="0" dirty="0">
                <a:solidFill>
                  <a:srgbClr val="E0A458"/>
                </a:solidFill>
                <a:latin typeface="Calibri" pitchFamily="34" charset="0"/>
                <a:ea typeface="Calibri" pitchFamily="34" charset="-122"/>
                <a:cs typeface="Calibri" pitchFamily="34" charset="-120"/>
              </a:rPr>
              <a:t>SÍNTESIS</a:t>
            </a:r>
            <a:endParaRPr lang="en-US" sz="1150" dirty="0"/>
          </a:p>
        </p:txBody>
      </p:sp>
      <p:sp>
        <p:nvSpPr>
          <p:cNvPr id="5" name="Text 2"/>
          <p:cNvSpPr txBox="1"/>
          <p:nvPr/>
        </p:nvSpPr>
        <p:spPr>
          <a:xfrm>
            <a:off x="1298448" y="621792"/>
            <a:ext cx="10058400" cy="502920"/>
          </a:xfrm>
          <a:prstGeom prst="rect">
            <a:avLst/>
          </a:prstGeom>
          <a:noFill/>
          <a:ln/>
        </p:spPr>
        <p:txBody>
          <a:bodyPr wrap="square" lIns="0" tIns="0" rIns="0" bIns="0" rtlCol="0" anchor="ctr"/>
          <a:lstStyle/>
          <a:p>
            <a:pPr indent="0" marL="0">
              <a:buNone/>
            </a:pPr>
            <a:r>
              <a:rPr lang="en-US" sz="2500" b="1" dirty="0">
                <a:solidFill>
                  <a:srgbClr val="4A2545"/>
                </a:solidFill>
                <a:latin typeface="Cambria" pitchFamily="34" charset="0"/>
                <a:ea typeface="Cambria" pitchFamily="34" charset="-122"/>
                <a:cs typeface="Cambria" pitchFamily="34" charset="-120"/>
              </a:rPr>
              <a:t>Resumen del capítulo: puntos clave</a:t>
            </a:r>
            <a:endParaRPr lang="en-US" sz="2500" dirty="0"/>
          </a:p>
        </p:txBody>
      </p:sp>
      <p:sp>
        <p:nvSpPr>
          <p:cNvPr id="6" name="Shape 3"/>
          <p:cNvSpPr/>
          <p:nvPr/>
        </p:nvSpPr>
        <p:spPr>
          <a:xfrm>
            <a:off x="457200" y="1490472"/>
            <a:ext cx="512064" cy="512064"/>
          </a:xfrm>
          <a:prstGeom prst="ellipse">
            <a:avLst/>
          </a:prstGeom>
          <a:solidFill>
            <a:srgbClr val="4A2545"/>
          </a:solidFill>
          <a:ln/>
        </p:spPr>
      </p:sp>
      <p:pic>
        <p:nvPicPr>
          <p:cNvPr id="7" name="Image 1" descr="preencoded.png">    </p:cNvPr>
          <p:cNvPicPr>
            <a:picLocks noChangeAspect="1"/>
          </p:cNvPicPr>
          <p:nvPr/>
        </p:nvPicPr>
        <p:blipFill>
          <a:blip r:embed="rId2"/>
          <a:stretch>
            <a:fillRect/>
          </a:stretch>
        </p:blipFill>
        <p:spPr>
          <a:xfrm>
            <a:off x="564733" y="1598005"/>
            <a:ext cx="296997" cy="296997"/>
          </a:xfrm>
          <a:prstGeom prst="rect">
            <a:avLst/>
          </a:prstGeom>
        </p:spPr>
      </p:pic>
      <p:sp>
        <p:nvSpPr>
          <p:cNvPr id="8" name="Text 4"/>
          <p:cNvSpPr txBox="1"/>
          <p:nvPr/>
        </p:nvSpPr>
        <p:spPr>
          <a:xfrm>
            <a:off x="1170432" y="1435608"/>
            <a:ext cx="10353751" cy="310896"/>
          </a:xfrm>
          <a:prstGeom prst="rect">
            <a:avLst/>
          </a:prstGeom>
          <a:noFill/>
          <a:ln/>
        </p:spPr>
        <p:txBody>
          <a:bodyPr wrap="square" lIns="0" tIns="0" rIns="0" bIns="0" rtlCol="0" anchor="ctr"/>
          <a:lstStyle/>
          <a:p>
            <a:pPr indent="0" marL="0">
              <a:buNone/>
            </a:pPr>
            <a:r>
              <a:rPr lang="en-US" sz="1450" b="1" dirty="0">
                <a:solidFill>
                  <a:srgbClr val="4A2545"/>
                </a:solidFill>
                <a:latin typeface="Cambria" pitchFamily="34" charset="0"/>
                <a:ea typeface="Cambria" pitchFamily="34" charset="-122"/>
                <a:cs typeface="Cambria" pitchFamily="34" charset="-120"/>
              </a:rPr>
              <a:t>Punto 1</a:t>
            </a:r>
            <a:endParaRPr lang="en-US" sz="1450" dirty="0"/>
          </a:p>
        </p:txBody>
      </p:sp>
      <p:sp>
        <p:nvSpPr>
          <p:cNvPr id="9" name="Text 5"/>
          <p:cNvSpPr txBox="1"/>
          <p:nvPr/>
        </p:nvSpPr>
        <p:spPr>
          <a:xfrm>
            <a:off x="1170432" y="1728216"/>
            <a:ext cx="10353751" cy="448056"/>
          </a:xfrm>
          <a:prstGeom prst="rect">
            <a:avLst/>
          </a:prstGeom>
          <a:noFill/>
          <a:ln/>
        </p:spPr>
        <p:txBody>
          <a:bodyPr wrap="square" lIns="0" tIns="0" rIns="0" bIns="0" rtlCol="0" anchor="t"/>
          <a:lstStyle/>
          <a:p>
            <a:pPr indent="0" marL="0">
              <a:lnSpc>
                <a:spcPct val="105000"/>
              </a:lnSpc>
              <a:buNone/>
            </a:pPr>
            <a:r>
              <a:rPr lang="en-US" sz="1150" dirty="0">
                <a:solidFill>
                  <a:srgbClr val="3A2A35"/>
                </a:solidFill>
                <a:latin typeface="Calibri" pitchFamily="34" charset="0"/>
                <a:ea typeface="Calibri" pitchFamily="34" charset="-122"/>
                <a:cs typeface="Calibri" pitchFamily="34" charset="-120"/>
              </a:rPr>
              <a:t>La premedicación busca ansiolisis, amnesia, analgesia, control vagal y profilaxis de aspiración, individualizada por paciente.</a:t>
            </a:r>
            <a:endParaRPr lang="en-US" sz="1150" dirty="0"/>
          </a:p>
        </p:txBody>
      </p:sp>
      <p:sp>
        <p:nvSpPr>
          <p:cNvPr id="10" name="Shape 6"/>
          <p:cNvSpPr/>
          <p:nvPr/>
        </p:nvSpPr>
        <p:spPr>
          <a:xfrm>
            <a:off x="457200" y="2267712"/>
            <a:ext cx="512064" cy="512064"/>
          </a:xfrm>
          <a:prstGeom prst="ellipse">
            <a:avLst/>
          </a:prstGeom>
          <a:solidFill>
            <a:srgbClr val="8E6C88"/>
          </a:solidFill>
          <a:ln/>
        </p:spPr>
      </p:sp>
      <p:pic>
        <p:nvPicPr>
          <p:cNvPr id="11" name="Image 2" descr="preencoded.png">    </p:cNvPr>
          <p:cNvPicPr>
            <a:picLocks noChangeAspect="1"/>
          </p:cNvPicPr>
          <p:nvPr/>
        </p:nvPicPr>
        <p:blipFill>
          <a:blip r:embed="rId3"/>
          <a:stretch>
            <a:fillRect/>
          </a:stretch>
        </p:blipFill>
        <p:spPr>
          <a:xfrm>
            <a:off x="564733" y="2375245"/>
            <a:ext cx="296997" cy="296997"/>
          </a:xfrm>
          <a:prstGeom prst="rect">
            <a:avLst/>
          </a:prstGeom>
        </p:spPr>
      </p:pic>
      <p:sp>
        <p:nvSpPr>
          <p:cNvPr id="12" name="Text 7"/>
          <p:cNvSpPr txBox="1"/>
          <p:nvPr/>
        </p:nvSpPr>
        <p:spPr>
          <a:xfrm>
            <a:off x="1170432" y="2212848"/>
            <a:ext cx="10353751" cy="310896"/>
          </a:xfrm>
          <a:prstGeom prst="rect">
            <a:avLst/>
          </a:prstGeom>
          <a:noFill/>
          <a:ln/>
        </p:spPr>
        <p:txBody>
          <a:bodyPr wrap="square" lIns="0" tIns="0" rIns="0" bIns="0" rtlCol="0" anchor="ctr"/>
          <a:lstStyle/>
          <a:p>
            <a:pPr indent="0" marL="0">
              <a:buNone/>
            </a:pPr>
            <a:r>
              <a:rPr lang="en-US" sz="1450" b="1" dirty="0">
                <a:solidFill>
                  <a:srgbClr val="4A2545"/>
                </a:solidFill>
                <a:latin typeface="Cambria" pitchFamily="34" charset="0"/>
                <a:ea typeface="Cambria" pitchFamily="34" charset="-122"/>
                <a:cs typeface="Cambria" pitchFamily="34" charset="-120"/>
              </a:rPr>
              <a:t>Punto 2</a:t>
            </a:r>
            <a:endParaRPr lang="en-US" sz="1450" dirty="0"/>
          </a:p>
        </p:txBody>
      </p:sp>
      <p:sp>
        <p:nvSpPr>
          <p:cNvPr id="13" name="Text 8"/>
          <p:cNvSpPr txBox="1"/>
          <p:nvPr/>
        </p:nvSpPr>
        <p:spPr>
          <a:xfrm>
            <a:off x="1170432" y="2505456"/>
            <a:ext cx="10353751" cy="448056"/>
          </a:xfrm>
          <a:prstGeom prst="rect">
            <a:avLst/>
          </a:prstGeom>
          <a:noFill/>
          <a:ln/>
        </p:spPr>
        <p:txBody>
          <a:bodyPr wrap="square" lIns="0" tIns="0" rIns="0" bIns="0" rtlCol="0" anchor="t"/>
          <a:lstStyle/>
          <a:p>
            <a:pPr indent="0" marL="0">
              <a:lnSpc>
                <a:spcPct val="105000"/>
              </a:lnSpc>
              <a:buNone/>
            </a:pPr>
            <a:r>
              <a:rPr lang="en-US" sz="1150" dirty="0">
                <a:solidFill>
                  <a:srgbClr val="3A2A35"/>
                </a:solidFill>
                <a:latin typeface="Calibri" pitchFamily="34" charset="0"/>
                <a:ea typeface="Calibri" pitchFamily="34" charset="-122"/>
                <a:cs typeface="Calibri" pitchFamily="34" charset="-120"/>
              </a:rPr>
              <a:t>Las benzodiacepinas (midazolam) reemplazaron a los barbitúricos como sedantes de elección por su mayor margen de seguridad.</a:t>
            </a:r>
            <a:endParaRPr lang="en-US" sz="1150" dirty="0"/>
          </a:p>
        </p:txBody>
      </p:sp>
      <p:sp>
        <p:nvSpPr>
          <p:cNvPr id="14" name="Shape 9"/>
          <p:cNvSpPr/>
          <p:nvPr/>
        </p:nvSpPr>
        <p:spPr>
          <a:xfrm>
            <a:off x="457200" y="3044952"/>
            <a:ext cx="512064" cy="512064"/>
          </a:xfrm>
          <a:prstGeom prst="ellipse">
            <a:avLst/>
          </a:prstGeom>
          <a:solidFill>
            <a:srgbClr val="4A2545"/>
          </a:solidFill>
          <a:ln/>
        </p:spPr>
      </p:sp>
      <p:pic>
        <p:nvPicPr>
          <p:cNvPr id="15" name="Image 3" descr="preencoded.png">    </p:cNvPr>
          <p:cNvPicPr>
            <a:picLocks noChangeAspect="1"/>
          </p:cNvPicPr>
          <p:nvPr/>
        </p:nvPicPr>
        <p:blipFill>
          <a:blip r:embed="rId4"/>
          <a:stretch>
            <a:fillRect/>
          </a:stretch>
        </p:blipFill>
        <p:spPr>
          <a:xfrm>
            <a:off x="564733" y="3152485"/>
            <a:ext cx="296997" cy="296997"/>
          </a:xfrm>
          <a:prstGeom prst="rect">
            <a:avLst/>
          </a:prstGeom>
        </p:spPr>
      </p:pic>
      <p:sp>
        <p:nvSpPr>
          <p:cNvPr id="16" name="Text 10"/>
          <p:cNvSpPr txBox="1"/>
          <p:nvPr/>
        </p:nvSpPr>
        <p:spPr>
          <a:xfrm>
            <a:off x="1170432" y="2990088"/>
            <a:ext cx="10353751" cy="310896"/>
          </a:xfrm>
          <a:prstGeom prst="rect">
            <a:avLst/>
          </a:prstGeom>
          <a:noFill/>
          <a:ln/>
        </p:spPr>
        <p:txBody>
          <a:bodyPr wrap="square" lIns="0" tIns="0" rIns="0" bIns="0" rtlCol="0" anchor="ctr"/>
          <a:lstStyle/>
          <a:p>
            <a:pPr indent="0" marL="0">
              <a:buNone/>
            </a:pPr>
            <a:r>
              <a:rPr lang="en-US" sz="1450" b="1" dirty="0">
                <a:solidFill>
                  <a:srgbClr val="4A2545"/>
                </a:solidFill>
                <a:latin typeface="Cambria" pitchFamily="34" charset="0"/>
                <a:ea typeface="Cambria" pitchFamily="34" charset="-122"/>
                <a:cs typeface="Cambria" pitchFamily="34" charset="-120"/>
              </a:rPr>
              <a:t>Punto 3</a:t>
            </a:r>
            <a:endParaRPr lang="en-US" sz="1450" dirty="0"/>
          </a:p>
        </p:txBody>
      </p:sp>
      <p:sp>
        <p:nvSpPr>
          <p:cNvPr id="17" name="Text 11"/>
          <p:cNvSpPr txBox="1"/>
          <p:nvPr/>
        </p:nvSpPr>
        <p:spPr>
          <a:xfrm>
            <a:off x="1170432" y="3282696"/>
            <a:ext cx="10353751" cy="448056"/>
          </a:xfrm>
          <a:prstGeom prst="rect">
            <a:avLst/>
          </a:prstGeom>
          <a:noFill/>
          <a:ln/>
        </p:spPr>
        <p:txBody>
          <a:bodyPr wrap="square" lIns="0" tIns="0" rIns="0" bIns="0" rtlCol="0" anchor="t"/>
          <a:lstStyle/>
          <a:p>
            <a:pPr indent="0" marL="0">
              <a:lnSpc>
                <a:spcPct val="105000"/>
              </a:lnSpc>
              <a:buNone/>
            </a:pPr>
            <a:r>
              <a:rPr lang="en-US" sz="1150" dirty="0">
                <a:solidFill>
                  <a:srgbClr val="3A2A35"/>
                </a:solidFill>
                <a:latin typeface="Calibri" pitchFamily="34" charset="0"/>
                <a:ea typeface="Calibri" pitchFamily="34" charset="-122"/>
                <a:cs typeface="Calibri" pitchFamily="34" charset="-120"/>
              </a:rPr>
              <a:t>Los opioides aportan analgesia preventiva pero no son premedicación de rutina por el riesgo de depresión respiratoria.</a:t>
            </a:r>
            <a:endParaRPr lang="en-US" sz="1150" dirty="0"/>
          </a:p>
        </p:txBody>
      </p:sp>
      <p:sp>
        <p:nvSpPr>
          <p:cNvPr id="18" name="Shape 12"/>
          <p:cNvSpPr/>
          <p:nvPr/>
        </p:nvSpPr>
        <p:spPr>
          <a:xfrm>
            <a:off x="457200" y="3822192"/>
            <a:ext cx="512064" cy="512064"/>
          </a:xfrm>
          <a:prstGeom prst="ellipse">
            <a:avLst/>
          </a:prstGeom>
          <a:solidFill>
            <a:srgbClr val="8E6C88"/>
          </a:solidFill>
          <a:ln/>
        </p:spPr>
      </p:sp>
      <p:pic>
        <p:nvPicPr>
          <p:cNvPr id="19" name="Image 4" descr="preencoded.png">    </p:cNvPr>
          <p:cNvPicPr>
            <a:picLocks noChangeAspect="1"/>
          </p:cNvPicPr>
          <p:nvPr/>
        </p:nvPicPr>
        <p:blipFill>
          <a:blip r:embed="rId5"/>
          <a:stretch>
            <a:fillRect/>
          </a:stretch>
        </p:blipFill>
        <p:spPr>
          <a:xfrm>
            <a:off x="564733" y="3929725"/>
            <a:ext cx="296997" cy="296997"/>
          </a:xfrm>
          <a:prstGeom prst="rect">
            <a:avLst/>
          </a:prstGeom>
        </p:spPr>
      </p:pic>
      <p:sp>
        <p:nvSpPr>
          <p:cNvPr id="20" name="Text 13"/>
          <p:cNvSpPr txBox="1"/>
          <p:nvPr/>
        </p:nvSpPr>
        <p:spPr>
          <a:xfrm>
            <a:off x="1170432" y="3767328"/>
            <a:ext cx="10353751" cy="310896"/>
          </a:xfrm>
          <a:prstGeom prst="rect">
            <a:avLst/>
          </a:prstGeom>
          <a:noFill/>
          <a:ln/>
        </p:spPr>
        <p:txBody>
          <a:bodyPr wrap="square" lIns="0" tIns="0" rIns="0" bIns="0" rtlCol="0" anchor="ctr"/>
          <a:lstStyle/>
          <a:p>
            <a:pPr indent="0" marL="0">
              <a:buNone/>
            </a:pPr>
            <a:r>
              <a:rPr lang="en-US" sz="1450" b="1" dirty="0">
                <a:solidFill>
                  <a:srgbClr val="4A2545"/>
                </a:solidFill>
                <a:latin typeface="Cambria" pitchFamily="34" charset="0"/>
                <a:ea typeface="Cambria" pitchFamily="34" charset="-122"/>
                <a:cs typeface="Cambria" pitchFamily="34" charset="-120"/>
              </a:rPr>
              <a:t>Punto 4</a:t>
            </a:r>
            <a:endParaRPr lang="en-US" sz="1450" dirty="0"/>
          </a:p>
        </p:txBody>
      </p:sp>
      <p:sp>
        <p:nvSpPr>
          <p:cNvPr id="21" name="Text 14"/>
          <p:cNvSpPr txBox="1"/>
          <p:nvPr/>
        </p:nvSpPr>
        <p:spPr>
          <a:xfrm>
            <a:off x="1170432" y="4059936"/>
            <a:ext cx="10353751" cy="448056"/>
          </a:xfrm>
          <a:prstGeom prst="rect">
            <a:avLst/>
          </a:prstGeom>
          <a:noFill/>
          <a:ln/>
        </p:spPr>
        <p:txBody>
          <a:bodyPr wrap="square" lIns="0" tIns="0" rIns="0" bIns="0" rtlCol="0" anchor="t"/>
          <a:lstStyle/>
          <a:p>
            <a:pPr indent="0" marL="0">
              <a:lnSpc>
                <a:spcPct val="105000"/>
              </a:lnSpc>
              <a:buNone/>
            </a:pPr>
            <a:r>
              <a:rPr lang="en-US" sz="1150" dirty="0">
                <a:solidFill>
                  <a:srgbClr val="3A2A35"/>
                </a:solidFill>
                <a:latin typeface="Calibri" pitchFamily="34" charset="0"/>
                <a:ea typeface="Calibri" pitchFamily="34" charset="-122"/>
                <a:cs typeface="Calibri" pitchFamily="34" charset="-120"/>
              </a:rPr>
              <a:t>Los anticolinérgicos (glicopirrolato de preferencia) se reservan para control de secreciones y prevención de bradicardia vagal.</a:t>
            </a:r>
            <a:endParaRPr lang="en-US" sz="1150" dirty="0"/>
          </a:p>
        </p:txBody>
      </p:sp>
      <p:sp>
        <p:nvSpPr>
          <p:cNvPr id="22" name="Shape 15"/>
          <p:cNvSpPr/>
          <p:nvPr/>
        </p:nvSpPr>
        <p:spPr>
          <a:xfrm>
            <a:off x="457200" y="4599432"/>
            <a:ext cx="512064" cy="512064"/>
          </a:xfrm>
          <a:prstGeom prst="ellipse">
            <a:avLst/>
          </a:prstGeom>
          <a:solidFill>
            <a:srgbClr val="4A2545"/>
          </a:solidFill>
          <a:ln/>
        </p:spPr>
      </p:sp>
      <p:pic>
        <p:nvPicPr>
          <p:cNvPr id="23" name="Image 5" descr="preencoded.png">    </p:cNvPr>
          <p:cNvPicPr>
            <a:picLocks noChangeAspect="1"/>
          </p:cNvPicPr>
          <p:nvPr/>
        </p:nvPicPr>
        <p:blipFill>
          <a:blip r:embed="rId6"/>
          <a:stretch>
            <a:fillRect/>
          </a:stretch>
        </p:blipFill>
        <p:spPr>
          <a:xfrm>
            <a:off x="564733" y="4706965"/>
            <a:ext cx="296997" cy="296997"/>
          </a:xfrm>
          <a:prstGeom prst="rect">
            <a:avLst/>
          </a:prstGeom>
        </p:spPr>
      </p:pic>
      <p:sp>
        <p:nvSpPr>
          <p:cNvPr id="24" name="Text 16"/>
          <p:cNvSpPr txBox="1"/>
          <p:nvPr/>
        </p:nvSpPr>
        <p:spPr>
          <a:xfrm>
            <a:off x="1170432" y="4544568"/>
            <a:ext cx="10353751" cy="310896"/>
          </a:xfrm>
          <a:prstGeom prst="rect">
            <a:avLst/>
          </a:prstGeom>
          <a:noFill/>
          <a:ln/>
        </p:spPr>
        <p:txBody>
          <a:bodyPr wrap="square" lIns="0" tIns="0" rIns="0" bIns="0" rtlCol="0" anchor="ctr"/>
          <a:lstStyle/>
          <a:p>
            <a:pPr indent="0" marL="0">
              <a:buNone/>
            </a:pPr>
            <a:r>
              <a:rPr lang="en-US" sz="1450" b="1" dirty="0">
                <a:solidFill>
                  <a:srgbClr val="4A2545"/>
                </a:solidFill>
                <a:latin typeface="Cambria" pitchFamily="34" charset="0"/>
                <a:ea typeface="Cambria" pitchFamily="34" charset="-122"/>
                <a:cs typeface="Cambria" pitchFamily="34" charset="-120"/>
              </a:rPr>
              <a:t>Punto 5</a:t>
            </a:r>
            <a:endParaRPr lang="en-US" sz="1450" dirty="0"/>
          </a:p>
        </p:txBody>
      </p:sp>
      <p:sp>
        <p:nvSpPr>
          <p:cNvPr id="25" name="Text 17"/>
          <p:cNvSpPr txBox="1"/>
          <p:nvPr/>
        </p:nvSpPr>
        <p:spPr>
          <a:xfrm>
            <a:off x="1170432" y="4837176"/>
            <a:ext cx="10353751" cy="448056"/>
          </a:xfrm>
          <a:prstGeom prst="rect">
            <a:avLst/>
          </a:prstGeom>
          <a:noFill/>
          <a:ln/>
        </p:spPr>
        <p:txBody>
          <a:bodyPr wrap="square" lIns="0" tIns="0" rIns="0" bIns="0" rtlCol="0" anchor="t"/>
          <a:lstStyle/>
          <a:p>
            <a:pPr indent="0" marL="0">
              <a:lnSpc>
                <a:spcPct val="105000"/>
              </a:lnSpc>
              <a:buNone/>
            </a:pPr>
            <a:r>
              <a:rPr lang="en-US" sz="1150" dirty="0">
                <a:solidFill>
                  <a:srgbClr val="3A2A35"/>
                </a:solidFill>
                <a:latin typeface="Calibri" pitchFamily="34" charset="0"/>
                <a:ea typeface="Calibri" pitchFamily="34" charset="-122"/>
                <a:cs typeface="Calibri" pitchFamily="34" charset="-120"/>
              </a:rPr>
              <a:t>La profilaxis antiemética combinada (5-HT3 + corticoide) es el estándar en pacientes de riesgo moderado-alto de NVPO.</a:t>
            </a:r>
            <a:endParaRPr lang="en-US" sz="1150" dirty="0"/>
          </a:p>
        </p:txBody>
      </p:sp>
      <p:sp>
        <p:nvSpPr>
          <p:cNvPr id="26" name="Shape 18"/>
          <p:cNvSpPr/>
          <p:nvPr/>
        </p:nvSpPr>
        <p:spPr>
          <a:xfrm>
            <a:off x="457200" y="5376672"/>
            <a:ext cx="512064" cy="512064"/>
          </a:xfrm>
          <a:prstGeom prst="ellipse">
            <a:avLst/>
          </a:prstGeom>
          <a:solidFill>
            <a:srgbClr val="8E6C88"/>
          </a:solidFill>
          <a:ln/>
        </p:spPr>
      </p:sp>
      <p:pic>
        <p:nvPicPr>
          <p:cNvPr id="27" name="Image 6" descr="preencoded.png">    </p:cNvPr>
          <p:cNvPicPr>
            <a:picLocks noChangeAspect="1"/>
          </p:cNvPicPr>
          <p:nvPr/>
        </p:nvPicPr>
        <p:blipFill>
          <a:blip r:embed="rId7"/>
          <a:stretch>
            <a:fillRect/>
          </a:stretch>
        </p:blipFill>
        <p:spPr>
          <a:xfrm>
            <a:off x="564733" y="5484205"/>
            <a:ext cx="296997" cy="296997"/>
          </a:xfrm>
          <a:prstGeom prst="rect">
            <a:avLst/>
          </a:prstGeom>
        </p:spPr>
      </p:pic>
      <p:sp>
        <p:nvSpPr>
          <p:cNvPr id="28" name="Text 19"/>
          <p:cNvSpPr txBox="1"/>
          <p:nvPr/>
        </p:nvSpPr>
        <p:spPr>
          <a:xfrm>
            <a:off x="1170432" y="5321808"/>
            <a:ext cx="10353751" cy="310896"/>
          </a:xfrm>
          <a:prstGeom prst="rect">
            <a:avLst/>
          </a:prstGeom>
          <a:noFill/>
          <a:ln/>
        </p:spPr>
        <p:txBody>
          <a:bodyPr wrap="square" lIns="0" tIns="0" rIns="0" bIns="0" rtlCol="0" anchor="ctr"/>
          <a:lstStyle/>
          <a:p>
            <a:pPr indent="0" marL="0">
              <a:buNone/>
            </a:pPr>
            <a:r>
              <a:rPr lang="en-US" sz="1450" b="1" dirty="0">
                <a:solidFill>
                  <a:srgbClr val="4A2545"/>
                </a:solidFill>
                <a:latin typeface="Cambria" pitchFamily="34" charset="0"/>
                <a:ea typeface="Cambria" pitchFamily="34" charset="-122"/>
                <a:cs typeface="Cambria" pitchFamily="34" charset="-120"/>
              </a:rPr>
              <a:t>Punto 6</a:t>
            </a:r>
            <a:endParaRPr lang="en-US" sz="1450" dirty="0"/>
          </a:p>
        </p:txBody>
      </p:sp>
      <p:sp>
        <p:nvSpPr>
          <p:cNvPr id="29" name="Text 20"/>
          <p:cNvSpPr txBox="1"/>
          <p:nvPr/>
        </p:nvSpPr>
        <p:spPr>
          <a:xfrm>
            <a:off x="1170432" y="5614416"/>
            <a:ext cx="10353751" cy="448056"/>
          </a:xfrm>
          <a:prstGeom prst="rect">
            <a:avLst/>
          </a:prstGeom>
          <a:noFill/>
          <a:ln/>
        </p:spPr>
        <p:txBody>
          <a:bodyPr wrap="square" lIns="0" tIns="0" rIns="0" bIns="0" rtlCol="0" anchor="t"/>
          <a:lstStyle/>
          <a:p>
            <a:pPr indent="0" marL="0">
              <a:lnSpc>
                <a:spcPct val="105000"/>
              </a:lnSpc>
              <a:buNone/>
            </a:pPr>
            <a:r>
              <a:rPr lang="en-US" sz="1150" dirty="0">
                <a:solidFill>
                  <a:srgbClr val="3A2A35"/>
                </a:solidFill>
                <a:latin typeface="Calibri" pitchFamily="34" charset="0"/>
                <a:ea typeface="Calibri" pitchFamily="34" charset="-122"/>
                <a:cs typeface="Calibri" pitchFamily="34" charset="-120"/>
              </a:rPr>
              <a:t>La prevención del síndrome de Mendelson combina antiácidos no particulados, antagonistas H2/IBP e inducción de secuencia rápida.</a:t>
            </a:r>
            <a:endParaRPr lang="en-US" sz="1150" dirty="0"/>
          </a:p>
        </p:txBody>
      </p:sp>
      <p:sp>
        <p:nvSpPr>
          <p:cNvPr id="30" name="Text 21"/>
          <p:cNvSpPr txBox="1"/>
          <p:nvPr/>
        </p:nvSpPr>
        <p:spPr>
          <a:xfrm>
            <a:off x="457200" y="6473952"/>
            <a:ext cx="6400800" cy="292608"/>
          </a:xfrm>
          <a:prstGeom prst="rect">
            <a:avLst/>
          </a:prstGeom>
          <a:noFill/>
          <a:ln/>
        </p:spPr>
        <p:txBody>
          <a:bodyPr wrap="square" lIns="0" tIns="0" rIns="0" bIns="0" rtlCol="0" anchor="ctr"/>
          <a:lstStyle/>
          <a:p>
            <a:pPr indent="0" marL="0">
              <a:buNone/>
            </a:pPr>
            <a:r>
              <a:rPr lang="en-US" sz="900" i="1" dirty="0">
                <a:solidFill>
                  <a:srgbClr val="77606F"/>
                </a:solidFill>
                <a:latin typeface="Calibri" pitchFamily="34" charset="0"/>
                <a:ea typeface="Calibri" pitchFamily="34" charset="-122"/>
                <a:cs typeface="Calibri" pitchFamily="34" charset="-120"/>
              </a:rPr>
              <a:t>Capítulo IV — Premedicación</a:t>
            </a:r>
            <a:endParaRPr lang="en-US" sz="900" dirty="0"/>
          </a:p>
        </p:txBody>
      </p:sp>
      <p:sp>
        <p:nvSpPr>
          <p:cNvPr id="31" name="Text 22"/>
          <p:cNvSpPr txBox="1"/>
          <p:nvPr/>
        </p:nvSpPr>
        <p:spPr>
          <a:xfrm>
            <a:off x="10362895" y="6473952"/>
            <a:ext cx="1371600" cy="292608"/>
          </a:xfrm>
          <a:prstGeom prst="rect">
            <a:avLst/>
          </a:prstGeom>
          <a:noFill/>
          <a:ln/>
        </p:spPr>
        <p:txBody>
          <a:bodyPr wrap="square" lIns="0" tIns="0" rIns="0" bIns="0" rtlCol="0" anchor="ctr"/>
          <a:lstStyle/>
          <a:p>
            <a:pPr algn="r" indent="0" marL="0">
              <a:buNone/>
            </a:pPr>
            <a:r>
              <a:rPr lang="en-US" sz="900" dirty="0">
                <a:solidFill>
                  <a:srgbClr val="77606F"/>
                </a:solidFill>
                <a:latin typeface="Calibri" pitchFamily="34" charset="0"/>
                <a:ea typeface="Calibri" pitchFamily="34" charset="-122"/>
                <a:cs typeface="Calibri" pitchFamily="34" charset="-120"/>
              </a:rPr>
              <a:t>32 / 33</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2A1729"/>
        </a:solidFill>
      </p:bgPr>
    </p:bg>
    <p:spTree>
      <p:nvGrpSpPr>
        <p:cNvPr id="1" name=""/>
        <p:cNvGrpSpPr/>
        <p:nvPr/>
      </p:nvGrpSpPr>
      <p:grpSpPr>
        <a:xfrm>
          <a:off x="0" y="0"/>
          <a:ext cx="0" cy="0"/>
          <a:chOff x="0" y="0"/>
          <a:chExt cx="0" cy="0"/>
        </a:xfrm>
      </p:grpSpPr>
      <p:sp>
        <p:nvSpPr>
          <p:cNvPr id="2" name="Shape 0"/>
          <p:cNvSpPr/>
          <p:nvPr/>
        </p:nvSpPr>
        <p:spPr>
          <a:xfrm>
            <a:off x="-1645920" y="-1645920"/>
            <a:ext cx="4572000" cy="4572000"/>
          </a:xfrm>
          <a:prstGeom prst="ellipse">
            <a:avLst/>
          </a:prstGeom>
          <a:solidFill>
            <a:srgbClr val="4A2545"/>
          </a:solidFill>
          <a:ln/>
        </p:spPr>
      </p:sp>
      <p:sp>
        <p:nvSpPr>
          <p:cNvPr id="3" name="Shape 1"/>
          <p:cNvSpPr/>
          <p:nvPr/>
        </p:nvSpPr>
        <p:spPr>
          <a:xfrm>
            <a:off x="457200" y="502920"/>
            <a:ext cx="658368" cy="658368"/>
          </a:xfrm>
          <a:prstGeom prst="ellipse">
            <a:avLst/>
          </a:prstGeom>
          <a:solidFill>
            <a:srgbClr val="E0A458"/>
          </a:solidFill>
          <a:ln/>
        </p:spPr>
      </p:sp>
      <p:pic>
        <p:nvPicPr>
          <p:cNvPr id="4" name="Image 0" descr="preencoded.png">    </p:cNvPr>
          <p:cNvPicPr>
            <a:picLocks noChangeAspect="1"/>
          </p:cNvPicPr>
          <p:nvPr/>
        </p:nvPicPr>
        <p:blipFill>
          <a:blip r:embed="rId1"/>
          <a:stretch>
            <a:fillRect/>
          </a:stretch>
        </p:blipFill>
        <p:spPr>
          <a:xfrm>
            <a:off x="602041" y="647761"/>
            <a:ext cx="368686" cy="368686"/>
          </a:xfrm>
          <a:prstGeom prst="rect">
            <a:avLst/>
          </a:prstGeom>
        </p:spPr>
      </p:pic>
      <p:sp>
        <p:nvSpPr>
          <p:cNvPr id="5" name="Text 2"/>
          <p:cNvSpPr txBox="1"/>
          <p:nvPr/>
        </p:nvSpPr>
        <p:spPr>
          <a:xfrm>
            <a:off x="1298448" y="475488"/>
            <a:ext cx="9144000" cy="274320"/>
          </a:xfrm>
          <a:prstGeom prst="rect">
            <a:avLst/>
          </a:prstGeom>
          <a:noFill/>
          <a:ln/>
        </p:spPr>
        <p:txBody>
          <a:bodyPr wrap="square" lIns="0" tIns="0" rIns="0" bIns="0" rtlCol="0" anchor="ctr"/>
          <a:lstStyle/>
          <a:p>
            <a:pPr indent="0" marL="0">
              <a:buNone/>
            </a:pPr>
            <a:r>
              <a:rPr lang="en-US" sz="1150" b="1" spc="150" kern="0" dirty="0">
                <a:solidFill>
                  <a:srgbClr val="E0A458"/>
                </a:solidFill>
                <a:latin typeface="Calibri" pitchFamily="34" charset="0"/>
                <a:ea typeface="Calibri" pitchFamily="34" charset="-122"/>
                <a:cs typeface="Calibri" pitchFamily="34" charset="-120"/>
              </a:rPr>
              <a:t>REFERENCIAS</a:t>
            </a:r>
            <a:endParaRPr lang="en-US" sz="1150" dirty="0"/>
          </a:p>
        </p:txBody>
      </p:sp>
      <p:sp>
        <p:nvSpPr>
          <p:cNvPr id="6" name="Text 3"/>
          <p:cNvSpPr txBox="1"/>
          <p:nvPr/>
        </p:nvSpPr>
        <p:spPr>
          <a:xfrm>
            <a:off x="1298448" y="713232"/>
            <a:ext cx="10058400" cy="502920"/>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Referencias bibliográficas</a:t>
            </a:r>
            <a:endParaRPr lang="en-US" sz="2700" dirty="0"/>
          </a:p>
        </p:txBody>
      </p:sp>
      <p:sp>
        <p:nvSpPr>
          <p:cNvPr id="7" name="Text 4"/>
          <p:cNvSpPr txBox="1"/>
          <p:nvPr/>
        </p:nvSpPr>
        <p:spPr>
          <a:xfrm>
            <a:off x="1298448" y="1508760"/>
            <a:ext cx="10058400" cy="4572000"/>
          </a:xfrm>
          <a:prstGeom prst="rect">
            <a:avLst/>
          </a:prstGeom>
          <a:noFill/>
          <a:ln/>
        </p:spPr>
        <p:txBody>
          <a:bodyPr wrap="square" lIns="0" tIns="0" rIns="0" bIns="0" rtlCol="0" anchor="t"/>
          <a:lstStyle/>
          <a:p>
            <a:pPr marL="177800" indent="-177800">
              <a:lnSpc>
                <a:spcPct val="115000"/>
              </a:lnSpc>
              <a:spcAft>
                <a:spcPts val="1200"/>
              </a:spcAft>
              <a:buSzPct val="100000"/>
              <a:buChar char="•"/>
            </a:pPr>
            <a:r>
              <a:rPr lang="en-US" sz="1300" dirty="0">
                <a:solidFill>
                  <a:srgbClr val="E7DCE4"/>
                </a:solidFill>
                <a:latin typeface="Calibri" pitchFamily="34" charset="0"/>
                <a:ea typeface="Calibri" pitchFamily="34" charset="-122"/>
                <a:cs typeface="Calibri" pitchFamily="34" charset="-120"/>
              </a:rPr>
              <a:t>Miller RD, Cohen NH, Eriksson LI, et al. Miller's Anesthesia. 9ª ed. Philadelphia: Elsevier; 2020.</a:t>
            </a:r>
            <a:endParaRPr lang="en-US" sz="1300" dirty="0"/>
          </a:p>
          <a:p>
            <a:pPr marL="177800" indent="-177800">
              <a:lnSpc>
                <a:spcPct val="115000"/>
              </a:lnSpc>
              <a:spcAft>
                <a:spcPts val="1200"/>
              </a:spcAft>
              <a:buSzPct val="100000"/>
              <a:buChar char="•"/>
            </a:pPr>
            <a:r>
              <a:rPr lang="en-US" sz="1300" dirty="0">
                <a:solidFill>
                  <a:srgbClr val="E7DCE4"/>
                </a:solidFill>
                <a:latin typeface="Calibri" pitchFamily="34" charset="0"/>
                <a:ea typeface="Calibri" pitchFamily="34" charset="-122"/>
                <a:cs typeface="Calibri" pitchFamily="34" charset="-120"/>
              </a:rPr>
              <a:t>Barash PG, Cullen BF, Stoelting RK, et al. Clinical Anesthesia. 8ª ed. Philadelphia: Wolters Kluwer; 2017.</a:t>
            </a:r>
            <a:endParaRPr lang="en-US" sz="1300" dirty="0"/>
          </a:p>
          <a:p>
            <a:pPr marL="177800" indent="-177800">
              <a:lnSpc>
                <a:spcPct val="115000"/>
              </a:lnSpc>
              <a:spcAft>
                <a:spcPts val="1200"/>
              </a:spcAft>
              <a:buSzPct val="100000"/>
              <a:buChar char="•"/>
            </a:pPr>
            <a:r>
              <a:rPr lang="en-US" sz="1300" dirty="0">
                <a:solidFill>
                  <a:srgbClr val="E7DCE4"/>
                </a:solidFill>
                <a:latin typeface="Calibri" pitchFamily="34" charset="0"/>
                <a:ea typeface="Calibri" pitchFamily="34" charset="-122"/>
                <a:cs typeface="Calibri" pitchFamily="34" charset="-120"/>
              </a:rPr>
              <a:t>Butterworth JF, Mackey DC, Wasnick JD. Morgan &amp; Mikhail's Clinical Anesthesiology. 6ª ed. New York: McGraw-Hill; 2018.</a:t>
            </a:r>
            <a:endParaRPr lang="en-US" sz="1300" dirty="0"/>
          </a:p>
          <a:p>
            <a:pPr marL="177800" indent="-177800">
              <a:lnSpc>
                <a:spcPct val="115000"/>
              </a:lnSpc>
              <a:spcAft>
                <a:spcPts val="1200"/>
              </a:spcAft>
              <a:buSzPct val="100000"/>
              <a:buChar char="•"/>
            </a:pPr>
            <a:r>
              <a:rPr lang="en-US" sz="1300" dirty="0">
                <a:solidFill>
                  <a:srgbClr val="E7DCE4"/>
                </a:solidFill>
                <a:latin typeface="Calibri" pitchFamily="34" charset="0"/>
                <a:ea typeface="Calibri" pitchFamily="34" charset="-122"/>
                <a:cs typeface="Calibri" pitchFamily="34" charset="-120"/>
              </a:rPr>
              <a:t>Gan TJ, Belani KG, Bergese S, et al. Fourth Consensus Guidelines for the Management of Postoperative Nausea and Vomiting. Anesth Analg. 2020;131(2):411-448.</a:t>
            </a:r>
            <a:endParaRPr lang="en-US" sz="1300" dirty="0"/>
          </a:p>
          <a:p>
            <a:pPr marL="177800" indent="-177800">
              <a:lnSpc>
                <a:spcPct val="115000"/>
              </a:lnSpc>
              <a:spcAft>
                <a:spcPts val="1200"/>
              </a:spcAft>
              <a:buSzPct val="100000"/>
              <a:buChar char="•"/>
            </a:pPr>
            <a:r>
              <a:rPr lang="en-US" sz="1300" dirty="0">
                <a:solidFill>
                  <a:srgbClr val="E7DCE4"/>
                </a:solidFill>
                <a:latin typeface="Calibri" pitchFamily="34" charset="0"/>
                <a:ea typeface="Calibri" pitchFamily="34" charset="-122"/>
                <a:cs typeface="Calibri" pitchFamily="34" charset="-120"/>
              </a:rPr>
              <a:t>American Society of Anesthesiologists. Practice Guidelines for Preoperative Fasting and the Use of Pharmacologic Agents to Reduce Pulmonary Aspiration Risk. Anesthesiology. 2017;126(3):376-393.</a:t>
            </a:r>
            <a:endParaRPr lang="en-US" sz="1300" dirty="0"/>
          </a:p>
          <a:p>
            <a:pPr marL="177800" indent="-177800">
              <a:lnSpc>
                <a:spcPct val="115000"/>
              </a:lnSpc>
              <a:spcAft>
                <a:spcPts val="1200"/>
              </a:spcAft>
              <a:buSzPct val="100000"/>
              <a:buChar char="•"/>
            </a:pPr>
            <a:r>
              <a:rPr lang="en-US" sz="1300" dirty="0">
                <a:solidFill>
                  <a:srgbClr val="E7DCE4"/>
                </a:solidFill>
                <a:latin typeface="Calibri" pitchFamily="34" charset="0"/>
                <a:ea typeface="Calibri" pitchFamily="34" charset="-122"/>
                <a:cs typeface="Calibri" pitchFamily="34" charset="-120"/>
              </a:rPr>
              <a:t>Hardman JG, Limbird LE, Gilman AG (eds). Goodman &amp; Gilman's The Pharmacological Basis of Therapeutics. 13ª ed. New York: McGraw-Hill; 2018.</a:t>
            </a:r>
            <a:endParaRPr lang="en-US" sz="1300" dirty="0"/>
          </a:p>
          <a:p>
            <a:pPr marL="177800" indent="-177800">
              <a:lnSpc>
                <a:spcPct val="115000"/>
              </a:lnSpc>
              <a:spcAft>
                <a:spcPts val="1200"/>
              </a:spcAft>
              <a:buSzPct val="100000"/>
              <a:buChar char="•"/>
            </a:pPr>
            <a:r>
              <a:rPr lang="en-US" sz="1300" dirty="0">
                <a:solidFill>
                  <a:srgbClr val="E7DCE4"/>
                </a:solidFill>
                <a:latin typeface="Calibri" pitchFamily="34" charset="0"/>
                <a:ea typeface="Calibri" pitchFamily="34" charset="-122"/>
                <a:cs typeface="Calibri" pitchFamily="34" charset="-120"/>
              </a:rPr>
              <a:t>Flood P, Rathmell JP, Shafer S. Stoelting's Pharmacology and Physiology in Anesthetic Practice. 6ª ed. Philadelphia: Wolters Kluwer; 2021.</a:t>
            </a:r>
            <a:endParaRPr lang="en-US" sz="1300" dirty="0"/>
          </a:p>
        </p:txBody>
      </p:sp>
      <p:sp>
        <p:nvSpPr>
          <p:cNvPr id="8" name="Text 5"/>
          <p:cNvSpPr txBox="1"/>
          <p:nvPr/>
        </p:nvSpPr>
        <p:spPr>
          <a:xfrm>
            <a:off x="457200" y="6473952"/>
            <a:ext cx="6400800" cy="292608"/>
          </a:xfrm>
          <a:prstGeom prst="rect">
            <a:avLst/>
          </a:prstGeom>
          <a:noFill/>
          <a:ln/>
        </p:spPr>
        <p:txBody>
          <a:bodyPr wrap="square" lIns="0" tIns="0" rIns="0" bIns="0" rtlCol="0" anchor="ctr"/>
          <a:lstStyle/>
          <a:p>
            <a:pPr indent="0" marL="0">
              <a:buNone/>
            </a:pPr>
            <a:r>
              <a:rPr lang="en-US" sz="900" i="1" dirty="0">
                <a:solidFill>
                  <a:srgbClr val="C9B9C6"/>
                </a:solidFill>
                <a:latin typeface="Calibri" pitchFamily="34" charset="0"/>
                <a:ea typeface="Calibri" pitchFamily="34" charset="-122"/>
                <a:cs typeface="Calibri" pitchFamily="34" charset="-120"/>
              </a:rPr>
              <a:t>Capítulo IV — Premedicación</a:t>
            </a:r>
            <a:endParaRPr lang="en-US" sz="900" dirty="0"/>
          </a:p>
        </p:txBody>
      </p:sp>
      <p:sp>
        <p:nvSpPr>
          <p:cNvPr id="9" name="Text 6"/>
          <p:cNvSpPr txBox="1"/>
          <p:nvPr/>
        </p:nvSpPr>
        <p:spPr>
          <a:xfrm>
            <a:off x="10362895" y="6473952"/>
            <a:ext cx="1371600" cy="292608"/>
          </a:xfrm>
          <a:prstGeom prst="rect">
            <a:avLst/>
          </a:prstGeom>
          <a:noFill/>
          <a:ln/>
        </p:spPr>
        <p:txBody>
          <a:bodyPr wrap="square" lIns="0" tIns="0" rIns="0" bIns="0" rtlCol="0" anchor="ctr"/>
          <a:lstStyle/>
          <a:p>
            <a:pPr algn="r" indent="0" marL="0">
              <a:buNone/>
            </a:pPr>
            <a:r>
              <a:rPr lang="en-US" sz="900" dirty="0">
                <a:solidFill>
                  <a:srgbClr val="C9B9C6"/>
                </a:solidFill>
                <a:latin typeface="Calibri" pitchFamily="34" charset="0"/>
                <a:ea typeface="Calibri" pitchFamily="34" charset="-122"/>
                <a:cs typeface="Calibri" pitchFamily="34" charset="-120"/>
              </a:rPr>
              <a:t>33 / 33</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2026-08-26T23:11:39Z</dcterms:created>
  <dcterms:modified xsi:type="dcterms:W3CDTF">2026-08-26T23:11:39Z</dcterms:modified>
</cp:coreProperties>
</file>