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anestésicos endovenosos constituyen uno de los pilares de la anestesia balanceada moderna, junto a los agentes inhalatorios, los opioides y los bloqueantes neuromusculares. Es importante que el residente comprenda que la elección del agente no depende solo de la rapidez de inducción, sino del perfil farmacocinético, la comorbilidad del paciente y el tipo de cirugía. La anestesia total intravenosa (TIVA) ha cobrado relevancia por su perfil de recuperación predecible y su menor asociación con náusea y vómito postoperatorio.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Conocer la evolución histórica ayuda a entender por qué ciertos agentes cayeron en desuso (propanidida, por reacciones anafilactoides) y por qué el propofol desplazó al tiopental como estándar de inducción desde finales de los años ochenta. El desarrollo de los anestésicos endovenosos ha ido de la mano de la búsqueda de un perfil farmacocinético más predecible y una recuperación más rápida y confortable para el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útil clasificar los anestésicos endovenosos según su estructura química y su mecanismo predominante de acción. Aunque la mayoría actúa potenciando la neurotransmisión inhibitoria GABAérgica, la ketamina constituye una excepción relevante al actuar como antagonista NMDA. Esta clasificación orienta la selección racional según el perfil hemodinámico y neurológico deseado para cada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barbitúricos fueron durante más de 50 años el estándar de la inducción anestésica endovenosa. El tiopental sódico, un tiobarbitúrico de acción ultracorta, sigue siendo relevante como referencia histórica y conceptual, aunque en la práctica actual su disponibilidad y uso son limitados en muchos países en favor del propofol.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de redistribución es central para entender por qué el tiopental, pese a tener una vida media de eliminación larga, produce un despertar clínico rápido tras una dosis única: el fármaco abandona el compartimento central hacia tejidos menos perfundidos. Sin embargo, con dosis repetidas o infusión continua, la saturación de estos compartimentos periféricos prolonga considerablemente la recuperación (fenómeno de acumulación).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inyección intraarterial accidental de tiopental es una urgencia: produce vasoespasmo intenso y cristalización del fármaco, con riesgo de isquemia y gangrena distal; el manejo incluye dejar el catéter in situ, administrar lidocaína o papaverina intraarterial y anticoagulación. La protección cerebral mediada por reducción del CMRO₂ sigue siendo una indicación de nicho relevante en neurocirugía y trauma craneoencefálico grave.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ketamina se distingue del resto de los anestésicos endovenosos por actuar predominantemente sobre el receptor NMDA (glutamatérgico) en lugar del receptor GABA-A. Este mecanismo explica su perfil clínico particular: preservación relativa del tono simpático, analgesia intensa y el fenómeno de anestesia disociativa, en el que el paciente parece "desconectado" del entorno sin necesariamente perder por completo los reflejos protectores.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efecto cardiovascular estimulante de la ketamina es indirecto, mediado por inhibición de la recaptación de catecolaminas a nivel central y periférico; por ello, en pacientes con reserva catecolaminérgica agotada (shock séptico prolongado, falla cardíaca terminal), puede paradójicamente producir depresión miocárdica directa al desenmascararse su efecto inotrópico negativo intrínseco. Es importante explicar este matiz a los residentes.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emergencia psicomimética es el efecto adverso más citado de la ketamina y su incidencia disminuye significativamente con la coadministración de midazolam. La revisión moderna del riesgo de hipertensión intracraneal ha matizado la contraindicación clásica: bajo ventilación controlada y normocapnia, el aumento de la presión intracraneal es menos pronunciado de lo que se pensaba, por lo que su uso en trauma craneoencefálico se reconsidera caso a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propofol (2,6-diisopropilfenol) es actualmente el anestésico endovenoso más utilizado a nivel mundial, tanto para inducción como para mantenimiento mediante TIVA. Se formula en una emulsión lipídica (aceite de soja, glicerol y lecitina de huevo) que explica varias de sus particularidades clínicas, incluyendo el dolor a la inyección y el riesgo de contaminación bacteriana si no se maneja con técnica aséptica estricta.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vida media contexto-sensible del propofol es notablemente más favorable que la de los barbitúricos y benzodiacepinas incluso tras infusiones de varias horas, lo que lo hace ideal para TIVA. Los sistemas de infusión controlada por objetivo (TCI), basados en modelos farmacocinéticos poblacionales como el de Marsh o Schnider, permiten al anestesiólogo fijar la concentración deseada en plasma o en el sitio de efecto, y el sistema calcula automáticamente la velocidad de infusión.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síndrome de infusión de propofol (PRIS) es una complicación rara pero potencialmente letal, descrita clásicamente con infusiones mayores a 4 mg/kg/h por más de 48 horas, más frecuente en pacientes críticos pediátricos y adultos jóvenes con estrés metabólico concomitante. Se manifiesta con acidosis metabólica inexplicada, rabdomiólisis, hiperkalemia, hepatomegalia y colapso cardiovascular; su manejo es de soporte y requiere suspensión inmediata del fármaco.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etomidato es reconocido como el agente inductor con el perfil hemodinámico más estable entre los anestésicos endovenosos disponibles, lo que lo posiciona como fármaco de elección en la inducción de secuencia rápida de pacientes con compromiso cardiovascular grave, taponamiento cardíaco o shock hipovolémico severo, donde otros agentes podrían precipitar colapso circulatorio.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supresión suprarrenal inducida por etomidato es dosis-dependiente y puede persistir 24 horas o más tras una dosis única de inducción, lo que ha limitado su uso como infusión continua y genera debate sobre su empleo en pacientes críticos o sépticos, en quienes una insuficiencia suprarrenal relativa podría empeorar el pronóstico. Las mioclonías se atenúan con premedicación opioide o benzodiacepínica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opioides intravenosos son un componente esencial de la anestesia balanceada, aportando analgesia intraoperatoria profunda, atenuación de la respuesta simpática a la laringoscopia y al estímulo quirúrgico, y contribuyendo a la estabilidad hemodinámica cuando se combinan racionalmente con hipnóticos. Actúan principalmente sobre receptores mu (µ) opioides en el sistema nervioso central y periférico.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morfina fue históricamente el primer opioide utilizado sistemáticamente en anestesia, pero su farmacocinética menos predecible —comparada con los opioides sintéticos como fentanilo— ha reducido su uso intraoperatorio en favor de agentes de acción más rápida y titulable. Sigue siendo un pilar en el manejo del dolor postoperatorio moderado a severo y en analgesia por vía neuroaxial.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fentanilo es el opioide sintético más utilizado en la práctica anestésica diaria por su rapidez de acción y su perfil predecible en dosis únicas o intermitentes. Es importante que el residente distinga la vida media de eliminación de la vida media contexto-sensible: con infusiones prolongadas, el fentanilo se acumula en tejido graso y muscular, prolongando notablemente la recuperación, a diferencia del remifentanilo, metabolizado por esterasas plasmáticas inespecíficas.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elección del opioide depende del contexto clínico: fentanilo para cirugías de duración intermedia con buena predictibilidad, sufentanilo cuando se requiere mayor potencia analgésica y estabilidad hemodinámica en cirugía cardíaca, y remifentanilo para procedimientos donde se requiere control ultrarrápido de la profundidad analgésica con recuperación inmediata, como neurocirugía con monitoreo neurofisiológico intraoperatorio.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benzodiacepinas ocupan un lugar particular entre los anestésicos endovenosos: rara vez se emplean como agente único de inducción por su inicio más lento y su techo hipnótico, pero son fundamentales en premedicación, sedación consciente, coinducción y en el tratamiento de la emergencia psicomimética asociada a la ketamina. El midazolam, hidrosoluble e imidazobenzodiacepínico, es el más utilizado en el perioperatorio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fenómeno de resedación tras la reversión con flumazenil es un punto de enseñanza crítico: dado que la vida media del flumazenil (aproximadamente 50 minutos) suele ser más corta que la de la benzodiacepina revertida, el paciente puede volver a sedarse una vez que el antagonista se elimina, por lo que requiere observación prolongada tras su administración, especialmente después de infusiones o dosis repetidas de midazolam.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capítulo de los esteroides anestésicos ilustra un principio farmacológico importante: la eficacia clínica de un fármaco no depende únicamente de la molécula activa, sino también de su vehículo de formulación. La reacción anafilactoide de la alfaxalona-alfadolona se debió al solubilizante Cremophor EL, no al esteroide en sí, lección que también aplica al diseño de formulaciones de otros fármacos liposolubles.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propanidida es hoy un fármaco de interés casi exclusivamente histórico y académico, pero su estudio resulta valioso para el residente: ejemplifica cómo un perfil farmacocinético aparentemente ideal (inicio y recuperación ultrarrápidos) puede verse eclipsado por un perfil de seguridad inaceptable, reforzando que la selección de un anestésico endovenoso debe equilibrar eficacia, farmacocinética y seguridad inmunológica.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cuadro comparativo debe interpretarse de forma dinámica, no como valores absolutos: la duración clínica depende de la dosis, la velocidad de administración y las características del paciente (edad, gasto cardíaco, unión a proteínas, función hepática y renal). Se recomienda que el residente memorice el perfil relativo —no solo los números— para poder razonar la elección del agente ante cualquier escenario clínico.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selección racional del anestésico endovenoso requiere integrar tres ejes: el estado hemodinámico y respiratorio del paciente, la comorbilidad relevante (cardiopatía, neumopatía, patología neurológica) y las características del procedimiento (duración, posición, necesidad de despertar rápido). No existe un algoritmo rígido; se trata de un juicio clínico que pondera riesgos y beneficios relativos de cada agente en el contexto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despertar intraoperatorio (awareness) es una complicación infrecuente pero de alto impacto psicológico, y su riesgo aumenta específicamente en esquemas de TIVA sin monitoreo objetivo de la profundidad anestésica (por ejemplo, índice biespectral). Se recomienda su uso rutinario en pacientes de alto riesgo: bloqueo neuromuscular profundo, antecedente de awareness previo, o cirugía cardíaca con hipotensión inducida deliberadamente.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manejo eficaz de las complicaciones asociadas a los anestésicos endovenosos depende del reconocimiento temprano y de protocolos institucionales claros. Es fundamental que el residente memorice la secuencia de manejo del laringoespasmo, dado que constituye una de las urgencias de vía aérea más frecuentes en el perioperatorio y su tratamiento tardío puede derivar en hipoxemia grave y edema pulmonar por presión negativa.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de extubación deben evaluarse de forma integrada, no aislada: un TOF óptimo con un paciente aún somnoliento por efecto residual de propofol o benzodiacepinas no garantiza una extubación segura. La decisión de extubar es clínica, apoyada por la monitorización objetiva, y debe considerar también factores quirúrgicos como el riesgo de sangrado en vía aérea o edema tras cirugía prolongada en posición prona.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entre extubación "despierto" y "en plano profundo" es un tema clásico de discusión en anestesiología: la primera prioriza la protección de la vía aérea a costa de mayor reactividad simpática (tos, hipertensión), mientras que la segunda reduce la reactividad pero exige mayor experiencia y vigilancia estrecha ante el riesgo de obstrucción antes de la recuperación completa de los reflejos protectores.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resumen recoge los seis ejes conceptuales que todo residente de anestesiología debe dominar sobre los anestésicos endovenosos antes de avanzar al siguiente capítulo del curso. Se recomienda repasar la comparación farmacocinética y el algoritmo de selección clínica presentados anteriormente como preparación para la evaluación formativa de esta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referencias listadas corresponden a los textos clásicos y de referencia utilizados en la formación de postgrado en anestesiología a nivel internacional. Se recomienda a los residentes profundizar en los capítulos específicos de farmacología de hipnóticos endovenosos de Miller's Anesthesia y de Stoelting's Pharmacology and Physiology in Anesthetic Practice para la preparación de exámenes de certificación.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1.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509760" y="4206240"/>
            <a:ext cx="3108960" cy="3108960"/>
          </a:xfrm>
          <a:prstGeom prst="ellipse">
            <a:avLst/>
          </a:prstGeom>
          <a:solidFill>
            <a:srgbClr val="2E1A47"/>
          </a:solidFill>
          <a:ln/>
        </p:spPr>
      </p:sp>
      <p:sp>
        <p:nvSpPr>
          <p:cNvPr id="3" name="Shape 1"/>
          <p:cNvSpPr/>
          <p:nvPr/>
        </p:nvSpPr>
        <p:spPr>
          <a:xfrm>
            <a:off x="10607040" y="822960"/>
            <a:ext cx="1828800" cy="1828800"/>
          </a:xfrm>
          <a:prstGeom prst="ellipse">
            <a:avLst/>
          </a:prstGeom>
          <a:solidFill>
            <a:srgbClr val="6B4E8E"/>
          </a:solidFill>
          <a:ln/>
        </p:spPr>
      </p:sp>
      <p:sp>
        <p:nvSpPr>
          <p:cNvPr id="4" name="Shape 2"/>
          <p:cNvSpPr/>
          <p:nvPr/>
        </p:nvSpPr>
        <p:spPr>
          <a:xfrm>
            <a:off x="-914400" y="5120640"/>
            <a:ext cx="2377440" cy="2377440"/>
          </a:xfrm>
          <a:prstGeom prst="ellipse">
            <a:avLst/>
          </a:prstGeom>
          <a:solidFill>
            <a:srgbClr val="6B4E8E"/>
          </a:solidFill>
          <a:ln/>
        </p:spPr>
      </p:sp>
      <p:sp>
        <p:nvSpPr>
          <p:cNvPr id="5" name="Shape 3"/>
          <p:cNvSpPr/>
          <p:nvPr/>
        </p:nvSpPr>
        <p:spPr>
          <a:xfrm>
            <a:off x="10104120" y="4800600"/>
            <a:ext cx="1920240" cy="1920240"/>
          </a:xfrm>
          <a:prstGeom prst="ellipse">
            <a:avLst/>
          </a:prstGeom>
          <a:solidFill>
            <a:srgbClr val="00B4A6"/>
          </a:solidFill>
          <a:ln/>
        </p:spPr>
      </p:sp>
      <p:pic>
        <p:nvPicPr>
          <p:cNvPr id="6" name="Image 0" descr="/tmp/claude-0/-home-user-gpa-academy1/adc6e4aa-3b77-57c1-ba92-a8d4ee625c84/scratchpad/ch5/icons/syringe_white.png">    </p:cNvPr>
          <p:cNvPicPr>
            <a:picLocks noChangeAspect="1"/>
          </p:cNvPicPr>
          <p:nvPr/>
        </p:nvPicPr>
        <p:blipFill>
          <a:blip r:embed="rId1"/>
          <a:stretch>
            <a:fillRect/>
          </a:stretch>
        </p:blipFill>
        <p:spPr>
          <a:xfrm>
            <a:off x="10584180" y="5280660"/>
            <a:ext cx="960120" cy="960120"/>
          </a:xfrm>
          <a:prstGeom prst="rect">
            <a:avLst/>
          </a:prstGeom>
        </p:spPr>
      </p:pic>
      <p:sp>
        <p:nvSpPr>
          <p:cNvPr id="7" name="Text 4"/>
          <p:cNvSpPr/>
          <p:nvPr/>
        </p:nvSpPr>
        <p:spPr>
          <a:xfrm>
            <a:off x="822960" y="1737360"/>
            <a:ext cx="7772400" cy="548640"/>
          </a:xfrm>
          <a:prstGeom prst="rect">
            <a:avLst/>
          </a:prstGeom>
          <a:noFill/>
          <a:ln/>
        </p:spPr>
        <p:txBody>
          <a:bodyPr wrap="square" lIns="0" tIns="0" rIns="0" bIns="0" rtlCol="0" anchor="ctr"/>
          <a:lstStyle/>
          <a:p>
            <a:pPr indent="0" marL="0">
              <a:buNone/>
            </a:pPr>
            <a:r>
              <a:rPr lang="en-US" sz="1800" b="1" spc="400" kern="0" dirty="0">
                <a:solidFill>
                  <a:srgbClr val="00B4A6"/>
                </a:solidFill>
                <a:latin typeface="Calibri" pitchFamily="34" charset="0"/>
                <a:ea typeface="Calibri" pitchFamily="34" charset="-122"/>
                <a:cs typeface="Calibri" pitchFamily="34" charset="-120"/>
              </a:rPr>
              <a:t>CAPÍTULO V</a:t>
            </a:r>
            <a:endParaRPr lang="en-US" sz="1800" dirty="0"/>
          </a:p>
        </p:txBody>
      </p:sp>
      <p:sp>
        <p:nvSpPr>
          <p:cNvPr id="8" name="Text 5"/>
          <p:cNvSpPr/>
          <p:nvPr/>
        </p:nvSpPr>
        <p:spPr>
          <a:xfrm>
            <a:off x="777240" y="2286000"/>
            <a:ext cx="8778240" cy="2194560"/>
          </a:xfrm>
          <a:prstGeom prst="rect">
            <a:avLst/>
          </a:prstGeom>
          <a:noFill/>
          <a:ln/>
        </p:spPr>
        <p:txBody>
          <a:bodyPr wrap="square" lIns="0" tIns="0" rIns="0" bIns="0"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Los Anestésicos</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Endovenosos</a:t>
            </a:r>
            <a:endParaRPr lang="en-US" sz="4800" dirty="0"/>
          </a:p>
        </p:txBody>
      </p:sp>
      <p:sp>
        <p:nvSpPr>
          <p:cNvPr id="9" name="Text 6"/>
          <p:cNvSpPr/>
          <p:nvPr/>
        </p:nvSpPr>
        <p:spPr>
          <a:xfrm>
            <a:off x="822960" y="4343400"/>
            <a:ext cx="7498080" cy="822960"/>
          </a:xfrm>
          <a:prstGeom prst="rect">
            <a:avLst/>
          </a:prstGeom>
          <a:noFill/>
          <a:ln/>
        </p:spPr>
        <p:txBody>
          <a:bodyPr wrap="square" lIns="0" tIns="0" rIns="0" bIns="0" rtlCol="0" anchor="ctr"/>
          <a:lstStyle/>
          <a:p>
            <a:pPr indent="0" marL="0">
              <a:lnSpc>
                <a:spcPct val="120000"/>
              </a:lnSpc>
              <a:buNone/>
            </a:pPr>
            <a:r>
              <a:rPr lang="en-US" sz="1500" i="1" dirty="0">
                <a:solidFill>
                  <a:srgbClr val="D9CCEE"/>
                </a:solidFill>
                <a:latin typeface="Calibri" pitchFamily="34" charset="0"/>
                <a:ea typeface="Calibri" pitchFamily="34" charset="-122"/>
                <a:cs typeface="Calibri" pitchFamily="34" charset="-120"/>
              </a:rPr>
              <a:t>Farmacología clínica de los agentes anestésicos intravenosos: mecanismos de acción, farmacocinética y aplicación en la práctica anestésica</a:t>
            </a:r>
            <a:endParaRPr lang="en-US" sz="1500" dirty="0"/>
          </a:p>
        </p:txBody>
      </p:sp>
      <p:sp>
        <p:nvSpPr>
          <p:cNvPr id="10" name="Text 7"/>
          <p:cNvSpPr/>
          <p:nvPr/>
        </p:nvSpPr>
        <p:spPr>
          <a:xfrm>
            <a:off x="822960" y="6126480"/>
            <a:ext cx="8229600" cy="365760"/>
          </a:xfrm>
          <a:prstGeom prst="rect">
            <a:avLst/>
          </a:prstGeom>
          <a:noFill/>
          <a:ln/>
        </p:spPr>
        <p:txBody>
          <a:bodyPr wrap="square" lIns="0" tIns="0" rIns="0" bIns="0" rtlCol="0" anchor="ctr"/>
          <a:lstStyle/>
          <a:p>
            <a:pPr indent="0" marL="0">
              <a:buNone/>
            </a:pPr>
            <a:r>
              <a:rPr lang="en-US" sz="1200" dirty="0">
                <a:solidFill>
                  <a:srgbClr val="9C8CBF"/>
                </a:solidFill>
                <a:latin typeface="Calibri" pitchFamily="34" charset="0"/>
                <a:ea typeface="Calibri" pitchFamily="34" charset="-122"/>
                <a:cs typeface="Calibri" pitchFamily="34" charset="-120"/>
              </a:rPr>
              <a:t>Curso de Postgrado en Anestesiología  ·  Serie de Farmacología Anestésica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2E1A47"/>
                </a:solidFill>
                <a:latin typeface="Cambria" pitchFamily="34" charset="0"/>
                <a:ea typeface="Cambria" pitchFamily="34" charset="-122"/>
                <a:cs typeface="Cambria" pitchFamily="34" charset="-120"/>
              </a:rPr>
              <a:t>Contenido del Capítulo</a:t>
            </a:r>
            <a:endParaRPr lang="en-US" sz="3200" dirty="0"/>
          </a:p>
        </p:txBody>
      </p:sp>
      <p:sp>
        <p:nvSpPr>
          <p:cNvPr id="3" name="Text 1"/>
          <p:cNvSpPr/>
          <p:nvPr/>
        </p:nvSpPr>
        <p:spPr>
          <a:xfrm>
            <a:off x="640080" y="1051560"/>
            <a:ext cx="9601200" cy="365760"/>
          </a:xfrm>
          <a:prstGeom prst="rect">
            <a:avLst/>
          </a:prstGeom>
          <a:noFill/>
          <a:ln/>
        </p:spPr>
        <p:txBody>
          <a:bodyPr wrap="square" lIns="0" tIns="0" rIns="0" bIns="0" rtlCol="0" anchor="ctr"/>
          <a:lstStyle/>
          <a:p>
            <a:pPr indent="0" marL="0">
              <a:buNone/>
            </a:pPr>
            <a:r>
              <a:rPr lang="en-US" sz="1300" i="1" dirty="0">
                <a:solidFill>
                  <a:srgbClr val="6E6382"/>
                </a:solidFill>
                <a:latin typeface="Calibri" pitchFamily="34" charset="0"/>
                <a:ea typeface="Calibri" pitchFamily="34" charset="-122"/>
                <a:cs typeface="Calibri" pitchFamily="34" charset="-120"/>
              </a:rPr>
              <a:t>Un recorrido estructurado por los principales grupos de anestésicos endovenosos</a:t>
            </a:r>
            <a:endParaRPr lang="en-US" sz="1300" dirty="0"/>
          </a:p>
        </p:txBody>
      </p:sp>
      <p:sp>
        <p:nvSpPr>
          <p:cNvPr id="4" name="Shape 2"/>
          <p:cNvSpPr/>
          <p:nvPr/>
        </p:nvSpPr>
        <p:spPr>
          <a:xfrm>
            <a:off x="640080" y="1691640"/>
            <a:ext cx="5257800" cy="1078992"/>
          </a:xfrm>
          <a:prstGeom prst="roundRect">
            <a:avLst>
              <a:gd name="adj" fmla="val 6780"/>
            </a:avLst>
          </a:prstGeom>
          <a:solidFill>
            <a:srgbClr val="F7F5FA"/>
          </a:solidFill>
          <a:ln/>
        </p:spPr>
      </p:sp>
      <p:sp>
        <p:nvSpPr>
          <p:cNvPr id="5" name="Shape 3"/>
          <p:cNvSpPr/>
          <p:nvPr/>
        </p:nvSpPr>
        <p:spPr>
          <a:xfrm>
            <a:off x="804672" y="1911096"/>
            <a:ext cx="640080" cy="640080"/>
          </a:xfrm>
          <a:prstGeom prst="ellipse">
            <a:avLst/>
          </a:prstGeom>
          <a:solidFill>
            <a:srgbClr val="2E1A47"/>
          </a:solidFill>
          <a:ln/>
        </p:spPr>
      </p:sp>
      <p:pic>
        <p:nvPicPr>
          <p:cNvPr id="6" name="Image 0" descr="/tmp/claude-0/-home-user-gpa-academy1/adc6e4aa-3b77-57c1-ba92-a8d4ee625c84/scratchpad/ch5/icons/history_white.png">    </p:cNvPr>
          <p:cNvPicPr>
            <a:picLocks noChangeAspect="1"/>
          </p:cNvPicPr>
          <p:nvPr/>
        </p:nvPicPr>
        <p:blipFill>
          <a:blip r:embed="rId1"/>
          <a:stretch>
            <a:fillRect/>
          </a:stretch>
        </p:blipFill>
        <p:spPr>
          <a:xfrm>
            <a:off x="958291" y="2064715"/>
            <a:ext cx="332842" cy="332842"/>
          </a:xfrm>
          <a:prstGeom prst="rect">
            <a:avLst/>
          </a:prstGeom>
        </p:spPr>
      </p:pic>
      <p:sp>
        <p:nvSpPr>
          <p:cNvPr id="7" name="Text 4"/>
          <p:cNvSpPr/>
          <p:nvPr/>
        </p:nvSpPr>
        <p:spPr>
          <a:xfrm>
            <a:off x="1554480" y="178308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01</a:t>
            </a:r>
            <a:endParaRPr lang="en-US" sz="1300" dirty="0"/>
          </a:p>
        </p:txBody>
      </p:sp>
      <p:sp>
        <p:nvSpPr>
          <p:cNvPr id="8" name="Text 5"/>
          <p:cNvSpPr/>
          <p:nvPr/>
        </p:nvSpPr>
        <p:spPr>
          <a:xfrm>
            <a:off x="1554480" y="202082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Fundamentos e historia</a:t>
            </a:r>
            <a:endParaRPr lang="en-US" sz="1500" dirty="0"/>
          </a:p>
        </p:txBody>
      </p:sp>
      <p:sp>
        <p:nvSpPr>
          <p:cNvPr id="9" name="Text 6"/>
          <p:cNvSpPr/>
          <p:nvPr/>
        </p:nvSpPr>
        <p:spPr>
          <a:xfrm>
            <a:off x="1554480" y="231343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Rol en la anestesia balanceada y evolución histórica</a:t>
            </a:r>
            <a:endParaRPr lang="en-US" sz="1050" dirty="0"/>
          </a:p>
        </p:txBody>
      </p:sp>
      <p:sp>
        <p:nvSpPr>
          <p:cNvPr id="10" name="Shape 7"/>
          <p:cNvSpPr/>
          <p:nvPr/>
        </p:nvSpPr>
        <p:spPr>
          <a:xfrm>
            <a:off x="640080" y="2880360"/>
            <a:ext cx="5257800" cy="1078992"/>
          </a:xfrm>
          <a:prstGeom prst="roundRect">
            <a:avLst>
              <a:gd name="adj" fmla="val 6780"/>
            </a:avLst>
          </a:prstGeom>
          <a:solidFill>
            <a:srgbClr val="F7F5FA"/>
          </a:solidFill>
          <a:ln/>
        </p:spPr>
      </p:sp>
      <p:sp>
        <p:nvSpPr>
          <p:cNvPr id="11" name="Shape 8"/>
          <p:cNvSpPr/>
          <p:nvPr/>
        </p:nvSpPr>
        <p:spPr>
          <a:xfrm>
            <a:off x="804672" y="3099816"/>
            <a:ext cx="640080" cy="640080"/>
          </a:xfrm>
          <a:prstGeom prst="ellipse">
            <a:avLst/>
          </a:prstGeom>
          <a:solidFill>
            <a:srgbClr val="2E1A47"/>
          </a:solidFill>
          <a:ln/>
        </p:spPr>
      </p:sp>
      <p:pic>
        <p:nvPicPr>
          <p:cNvPr id="12" name="Image 1" descr="/tmp/claude-0/-home-user-gpa-academy1/adc6e4aa-3b77-57c1-ba92-a8d4ee625c84/scratchpad/ch5/icons/brain_white.png">    </p:cNvPr>
          <p:cNvPicPr>
            <a:picLocks noChangeAspect="1"/>
          </p:cNvPicPr>
          <p:nvPr/>
        </p:nvPicPr>
        <p:blipFill>
          <a:blip r:embed="rId2"/>
          <a:stretch>
            <a:fillRect/>
          </a:stretch>
        </p:blipFill>
        <p:spPr>
          <a:xfrm>
            <a:off x="958291" y="3253435"/>
            <a:ext cx="332842" cy="332842"/>
          </a:xfrm>
          <a:prstGeom prst="rect">
            <a:avLst/>
          </a:prstGeom>
        </p:spPr>
      </p:pic>
      <p:sp>
        <p:nvSpPr>
          <p:cNvPr id="13" name="Text 9"/>
          <p:cNvSpPr/>
          <p:nvPr/>
        </p:nvSpPr>
        <p:spPr>
          <a:xfrm>
            <a:off x="1554480" y="297180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02</a:t>
            </a:r>
            <a:endParaRPr lang="en-US" sz="1300" dirty="0"/>
          </a:p>
        </p:txBody>
      </p:sp>
      <p:sp>
        <p:nvSpPr>
          <p:cNvPr id="14" name="Text 10"/>
          <p:cNvSpPr/>
          <p:nvPr/>
        </p:nvSpPr>
        <p:spPr>
          <a:xfrm>
            <a:off x="1554480" y="320954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Barbitúricos</a:t>
            </a:r>
            <a:endParaRPr lang="en-US" sz="1500" dirty="0"/>
          </a:p>
        </p:txBody>
      </p:sp>
      <p:sp>
        <p:nvSpPr>
          <p:cNvPr id="15" name="Text 11"/>
          <p:cNvSpPr/>
          <p:nvPr/>
        </p:nvSpPr>
        <p:spPr>
          <a:xfrm>
            <a:off x="1554480" y="350215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Tiopental sódico: mecanismo, farmacocinética y uso clínico</a:t>
            </a:r>
            <a:endParaRPr lang="en-US" sz="1050" dirty="0"/>
          </a:p>
        </p:txBody>
      </p:sp>
      <p:sp>
        <p:nvSpPr>
          <p:cNvPr id="16" name="Shape 12"/>
          <p:cNvSpPr/>
          <p:nvPr/>
        </p:nvSpPr>
        <p:spPr>
          <a:xfrm>
            <a:off x="640080" y="4069080"/>
            <a:ext cx="5257800" cy="1078992"/>
          </a:xfrm>
          <a:prstGeom prst="roundRect">
            <a:avLst>
              <a:gd name="adj" fmla="val 6780"/>
            </a:avLst>
          </a:prstGeom>
          <a:solidFill>
            <a:srgbClr val="F7F5FA"/>
          </a:solidFill>
          <a:ln/>
        </p:spPr>
      </p:sp>
      <p:sp>
        <p:nvSpPr>
          <p:cNvPr id="17" name="Shape 13"/>
          <p:cNvSpPr/>
          <p:nvPr/>
        </p:nvSpPr>
        <p:spPr>
          <a:xfrm>
            <a:off x="804672" y="4288536"/>
            <a:ext cx="640080" cy="640080"/>
          </a:xfrm>
          <a:prstGeom prst="ellipse">
            <a:avLst/>
          </a:prstGeom>
          <a:solidFill>
            <a:srgbClr val="2E1A47"/>
          </a:solidFill>
          <a:ln/>
        </p:spPr>
      </p:sp>
      <p:pic>
        <p:nvPicPr>
          <p:cNvPr id="18" name="Image 2" descr="/tmp/claude-0/-home-user-gpa-academy1/adc6e4aa-3b77-57c1-ba92-a8d4ee625c84/scratchpad/ch5/icons/molecule_white.png">    </p:cNvPr>
          <p:cNvPicPr>
            <a:picLocks noChangeAspect="1"/>
          </p:cNvPicPr>
          <p:nvPr/>
        </p:nvPicPr>
        <p:blipFill>
          <a:blip r:embed="rId3"/>
          <a:stretch>
            <a:fillRect/>
          </a:stretch>
        </p:blipFill>
        <p:spPr>
          <a:xfrm>
            <a:off x="958291" y="4442155"/>
            <a:ext cx="332842" cy="332842"/>
          </a:xfrm>
          <a:prstGeom prst="rect">
            <a:avLst/>
          </a:prstGeom>
        </p:spPr>
      </p:pic>
      <p:sp>
        <p:nvSpPr>
          <p:cNvPr id="19" name="Text 14"/>
          <p:cNvSpPr/>
          <p:nvPr/>
        </p:nvSpPr>
        <p:spPr>
          <a:xfrm>
            <a:off x="1554480" y="416052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03</a:t>
            </a:r>
            <a:endParaRPr lang="en-US" sz="1300" dirty="0"/>
          </a:p>
        </p:txBody>
      </p:sp>
      <p:sp>
        <p:nvSpPr>
          <p:cNvPr id="20" name="Text 15"/>
          <p:cNvSpPr/>
          <p:nvPr/>
        </p:nvSpPr>
        <p:spPr>
          <a:xfrm>
            <a:off x="1554480" y="439826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Ketamina</a:t>
            </a:r>
            <a:endParaRPr lang="en-US" sz="1500" dirty="0"/>
          </a:p>
        </p:txBody>
      </p:sp>
      <p:sp>
        <p:nvSpPr>
          <p:cNvPr id="21" name="Text 16"/>
          <p:cNvSpPr/>
          <p:nvPr/>
        </p:nvSpPr>
        <p:spPr>
          <a:xfrm>
            <a:off x="1554480" y="469087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Antagonismo NMDA y anestesia disociativa</a:t>
            </a:r>
            <a:endParaRPr lang="en-US" sz="1050" dirty="0"/>
          </a:p>
        </p:txBody>
      </p:sp>
      <p:sp>
        <p:nvSpPr>
          <p:cNvPr id="22" name="Shape 17"/>
          <p:cNvSpPr/>
          <p:nvPr/>
        </p:nvSpPr>
        <p:spPr>
          <a:xfrm>
            <a:off x="640080" y="5257800"/>
            <a:ext cx="5257800" cy="1078992"/>
          </a:xfrm>
          <a:prstGeom prst="roundRect">
            <a:avLst>
              <a:gd name="adj" fmla="val 6780"/>
            </a:avLst>
          </a:prstGeom>
          <a:solidFill>
            <a:srgbClr val="F7F5FA"/>
          </a:solidFill>
          <a:ln/>
        </p:spPr>
      </p:sp>
      <p:sp>
        <p:nvSpPr>
          <p:cNvPr id="23" name="Shape 18"/>
          <p:cNvSpPr/>
          <p:nvPr/>
        </p:nvSpPr>
        <p:spPr>
          <a:xfrm>
            <a:off x="804672" y="5477256"/>
            <a:ext cx="640080" cy="640080"/>
          </a:xfrm>
          <a:prstGeom prst="ellipse">
            <a:avLst/>
          </a:prstGeom>
          <a:solidFill>
            <a:srgbClr val="2E1A47"/>
          </a:solidFill>
          <a:ln/>
        </p:spPr>
      </p:sp>
      <p:pic>
        <p:nvPicPr>
          <p:cNvPr id="24" name="Image 3" descr="/tmp/claude-0/-home-user-gpa-academy1/adc6e4aa-3b77-57c1-ba92-a8d4ee625c84/scratchpad/ch5/icons/drop_white.png">    </p:cNvPr>
          <p:cNvPicPr>
            <a:picLocks noChangeAspect="1"/>
          </p:cNvPicPr>
          <p:nvPr/>
        </p:nvPicPr>
        <p:blipFill>
          <a:blip r:embed="rId4"/>
          <a:stretch>
            <a:fillRect/>
          </a:stretch>
        </p:blipFill>
        <p:spPr>
          <a:xfrm>
            <a:off x="958291" y="5630875"/>
            <a:ext cx="332842" cy="332842"/>
          </a:xfrm>
          <a:prstGeom prst="rect">
            <a:avLst/>
          </a:prstGeom>
        </p:spPr>
      </p:pic>
      <p:sp>
        <p:nvSpPr>
          <p:cNvPr id="25" name="Text 19"/>
          <p:cNvSpPr/>
          <p:nvPr/>
        </p:nvSpPr>
        <p:spPr>
          <a:xfrm>
            <a:off x="1554480" y="534924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04</a:t>
            </a:r>
            <a:endParaRPr lang="en-US" sz="1300" dirty="0"/>
          </a:p>
        </p:txBody>
      </p:sp>
      <p:sp>
        <p:nvSpPr>
          <p:cNvPr id="26" name="Text 20"/>
          <p:cNvSpPr/>
          <p:nvPr/>
        </p:nvSpPr>
        <p:spPr>
          <a:xfrm>
            <a:off x="1554480" y="558698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Propofol</a:t>
            </a:r>
            <a:endParaRPr lang="en-US" sz="1500" dirty="0"/>
          </a:p>
        </p:txBody>
      </p:sp>
      <p:sp>
        <p:nvSpPr>
          <p:cNvPr id="27" name="Text 21"/>
          <p:cNvSpPr/>
          <p:nvPr/>
        </p:nvSpPr>
        <p:spPr>
          <a:xfrm>
            <a:off x="1554480" y="587959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Farmacología, TIVA y perfil de seguridad</a:t>
            </a:r>
            <a:endParaRPr lang="en-US" sz="1050" dirty="0"/>
          </a:p>
        </p:txBody>
      </p:sp>
      <p:sp>
        <p:nvSpPr>
          <p:cNvPr id="28" name="Shape 22"/>
          <p:cNvSpPr/>
          <p:nvPr/>
        </p:nvSpPr>
        <p:spPr>
          <a:xfrm>
            <a:off x="6217920" y="1691640"/>
            <a:ext cx="5257800" cy="1078992"/>
          </a:xfrm>
          <a:prstGeom prst="roundRect">
            <a:avLst>
              <a:gd name="adj" fmla="val 6780"/>
            </a:avLst>
          </a:prstGeom>
          <a:solidFill>
            <a:srgbClr val="F7F5FA"/>
          </a:solidFill>
          <a:ln/>
        </p:spPr>
      </p:sp>
      <p:sp>
        <p:nvSpPr>
          <p:cNvPr id="29" name="Shape 23"/>
          <p:cNvSpPr/>
          <p:nvPr/>
        </p:nvSpPr>
        <p:spPr>
          <a:xfrm>
            <a:off x="6382512" y="1911096"/>
            <a:ext cx="640080" cy="640080"/>
          </a:xfrm>
          <a:prstGeom prst="ellipse">
            <a:avLst/>
          </a:prstGeom>
          <a:solidFill>
            <a:srgbClr val="2E1A47"/>
          </a:solidFill>
          <a:ln/>
        </p:spPr>
      </p:sp>
      <p:pic>
        <p:nvPicPr>
          <p:cNvPr id="30" name="Image 4" descr="/tmp/claude-0/-home-user-gpa-academy1/adc6e4aa-3b77-57c1-ba92-a8d4ee625c84/scratchpad/ch5/icons/heart_white.png">    </p:cNvPr>
          <p:cNvPicPr>
            <a:picLocks noChangeAspect="1"/>
          </p:cNvPicPr>
          <p:nvPr/>
        </p:nvPicPr>
        <p:blipFill>
          <a:blip r:embed="rId5"/>
          <a:stretch>
            <a:fillRect/>
          </a:stretch>
        </p:blipFill>
        <p:spPr>
          <a:xfrm>
            <a:off x="6536131" y="2064715"/>
            <a:ext cx="332842" cy="332842"/>
          </a:xfrm>
          <a:prstGeom prst="rect">
            <a:avLst/>
          </a:prstGeom>
        </p:spPr>
      </p:pic>
      <p:sp>
        <p:nvSpPr>
          <p:cNvPr id="31" name="Text 24"/>
          <p:cNvSpPr/>
          <p:nvPr/>
        </p:nvSpPr>
        <p:spPr>
          <a:xfrm>
            <a:off x="7132320" y="178308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05</a:t>
            </a:r>
            <a:endParaRPr lang="en-US" sz="1300" dirty="0"/>
          </a:p>
        </p:txBody>
      </p:sp>
      <p:sp>
        <p:nvSpPr>
          <p:cNvPr id="32" name="Text 25"/>
          <p:cNvSpPr/>
          <p:nvPr/>
        </p:nvSpPr>
        <p:spPr>
          <a:xfrm>
            <a:off x="7132320" y="202082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Etomidato</a:t>
            </a:r>
            <a:endParaRPr lang="en-US" sz="1500" dirty="0"/>
          </a:p>
        </p:txBody>
      </p:sp>
      <p:sp>
        <p:nvSpPr>
          <p:cNvPr id="33" name="Text 26"/>
          <p:cNvSpPr/>
          <p:nvPr/>
        </p:nvSpPr>
        <p:spPr>
          <a:xfrm>
            <a:off x="7132320" y="231343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Estabilidad hemodinámica y supresión suprarrenal</a:t>
            </a:r>
            <a:endParaRPr lang="en-US" sz="1050" dirty="0"/>
          </a:p>
        </p:txBody>
      </p:sp>
      <p:sp>
        <p:nvSpPr>
          <p:cNvPr id="34" name="Shape 27"/>
          <p:cNvSpPr/>
          <p:nvPr/>
        </p:nvSpPr>
        <p:spPr>
          <a:xfrm>
            <a:off x="6217920" y="2880360"/>
            <a:ext cx="5257800" cy="1078992"/>
          </a:xfrm>
          <a:prstGeom prst="roundRect">
            <a:avLst>
              <a:gd name="adj" fmla="val 6780"/>
            </a:avLst>
          </a:prstGeom>
          <a:solidFill>
            <a:srgbClr val="F7F5FA"/>
          </a:solidFill>
          <a:ln/>
        </p:spPr>
      </p:sp>
      <p:sp>
        <p:nvSpPr>
          <p:cNvPr id="35" name="Shape 28"/>
          <p:cNvSpPr/>
          <p:nvPr/>
        </p:nvSpPr>
        <p:spPr>
          <a:xfrm>
            <a:off x="6382512" y="3099816"/>
            <a:ext cx="640080" cy="640080"/>
          </a:xfrm>
          <a:prstGeom prst="ellipse">
            <a:avLst/>
          </a:prstGeom>
          <a:solidFill>
            <a:srgbClr val="2E1A47"/>
          </a:solidFill>
          <a:ln/>
        </p:spPr>
      </p:sp>
      <p:pic>
        <p:nvPicPr>
          <p:cNvPr id="36" name="Image 5" descr="/tmp/claude-0/-home-user-gpa-academy1/adc6e4aa-3b77-57c1-ba92-a8d4ee625c84/scratchpad/ch5/icons/vial_white.png">    </p:cNvPr>
          <p:cNvPicPr>
            <a:picLocks noChangeAspect="1"/>
          </p:cNvPicPr>
          <p:nvPr/>
        </p:nvPicPr>
        <p:blipFill>
          <a:blip r:embed="rId6"/>
          <a:stretch>
            <a:fillRect/>
          </a:stretch>
        </p:blipFill>
        <p:spPr>
          <a:xfrm>
            <a:off x="6536131" y="3253435"/>
            <a:ext cx="332842" cy="332842"/>
          </a:xfrm>
          <a:prstGeom prst="rect">
            <a:avLst/>
          </a:prstGeom>
        </p:spPr>
      </p:pic>
      <p:sp>
        <p:nvSpPr>
          <p:cNvPr id="37" name="Text 29"/>
          <p:cNvSpPr/>
          <p:nvPr/>
        </p:nvSpPr>
        <p:spPr>
          <a:xfrm>
            <a:off x="7132320" y="297180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06</a:t>
            </a:r>
            <a:endParaRPr lang="en-US" sz="1300" dirty="0"/>
          </a:p>
        </p:txBody>
      </p:sp>
      <p:sp>
        <p:nvSpPr>
          <p:cNvPr id="38" name="Text 30"/>
          <p:cNvSpPr/>
          <p:nvPr/>
        </p:nvSpPr>
        <p:spPr>
          <a:xfrm>
            <a:off x="7132320" y="320954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Opioides intravenosos</a:t>
            </a:r>
            <a:endParaRPr lang="en-US" sz="1500" dirty="0"/>
          </a:p>
        </p:txBody>
      </p:sp>
      <p:sp>
        <p:nvSpPr>
          <p:cNvPr id="39" name="Text 31"/>
          <p:cNvSpPr/>
          <p:nvPr/>
        </p:nvSpPr>
        <p:spPr>
          <a:xfrm>
            <a:off x="7132320" y="350215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Morfina, fentanilo y comparación de potencias</a:t>
            </a:r>
            <a:endParaRPr lang="en-US" sz="1050" dirty="0"/>
          </a:p>
        </p:txBody>
      </p:sp>
      <p:sp>
        <p:nvSpPr>
          <p:cNvPr id="40" name="Shape 32"/>
          <p:cNvSpPr/>
          <p:nvPr/>
        </p:nvSpPr>
        <p:spPr>
          <a:xfrm>
            <a:off x="6217920" y="4069080"/>
            <a:ext cx="5257800" cy="1078992"/>
          </a:xfrm>
          <a:prstGeom prst="roundRect">
            <a:avLst>
              <a:gd name="adj" fmla="val 6780"/>
            </a:avLst>
          </a:prstGeom>
          <a:solidFill>
            <a:srgbClr val="F7F5FA"/>
          </a:solidFill>
          <a:ln/>
        </p:spPr>
      </p:sp>
      <p:sp>
        <p:nvSpPr>
          <p:cNvPr id="41" name="Shape 33"/>
          <p:cNvSpPr/>
          <p:nvPr/>
        </p:nvSpPr>
        <p:spPr>
          <a:xfrm>
            <a:off x="6382512" y="4288536"/>
            <a:ext cx="640080" cy="640080"/>
          </a:xfrm>
          <a:prstGeom prst="ellipse">
            <a:avLst/>
          </a:prstGeom>
          <a:solidFill>
            <a:srgbClr val="2E1A47"/>
          </a:solidFill>
          <a:ln/>
        </p:spPr>
      </p:sp>
      <p:pic>
        <p:nvPicPr>
          <p:cNvPr id="42" name="Image 6" descr="/tmp/claude-0/-home-user-gpa-academy1/adc6e4aa-3b77-57c1-ba92-a8d4ee625c84/scratchpad/ch5/icons/checklist_white.png">    </p:cNvPr>
          <p:cNvPicPr>
            <a:picLocks noChangeAspect="1"/>
          </p:cNvPicPr>
          <p:nvPr/>
        </p:nvPicPr>
        <p:blipFill>
          <a:blip r:embed="rId7"/>
          <a:stretch>
            <a:fillRect/>
          </a:stretch>
        </p:blipFill>
        <p:spPr>
          <a:xfrm>
            <a:off x="6536131" y="4442155"/>
            <a:ext cx="332842" cy="332842"/>
          </a:xfrm>
          <a:prstGeom prst="rect">
            <a:avLst/>
          </a:prstGeom>
        </p:spPr>
      </p:pic>
      <p:sp>
        <p:nvSpPr>
          <p:cNvPr id="43" name="Text 34"/>
          <p:cNvSpPr/>
          <p:nvPr/>
        </p:nvSpPr>
        <p:spPr>
          <a:xfrm>
            <a:off x="7132320" y="416052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07</a:t>
            </a:r>
            <a:endParaRPr lang="en-US" sz="1300" dirty="0"/>
          </a:p>
        </p:txBody>
      </p:sp>
      <p:sp>
        <p:nvSpPr>
          <p:cNvPr id="44" name="Text 35"/>
          <p:cNvSpPr/>
          <p:nvPr/>
        </p:nvSpPr>
        <p:spPr>
          <a:xfrm>
            <a:off x="7132320" y="439826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Benzodiacepinas</a:t>
            </a:r>
            <a:endParaRPr lang="en-US" sz="1500" dirty="0"/>
          </a:p>
        </p:txBody>
      </p:sp>
      <p:sp>
        <p:nvSpPr>
          <p:cNvPr id="45" name="Text 36"/>
          <p:cNvSpPr/>
          <p:nvPr/>
        </p:nvSpPr>
        <p:spPr>
          <a:xfrm>
            <a:off x="7132320" y="469087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Midazolam, diazepam y reversión con flumazenil</a:t>
            </a:r>
            <a:endParaRPr lang="en-US" sz="1050" dirty="0"/>
          </a:p>
        </p:txBody>
      </p:sp>
      <p:sp>
        <p:nvSpPr>
          <p:cNvPr id="46" name="Shape 37"/>
          <p:cNvSpPr/>
          <p:nvPr/>
        </p:nvSpPr>
        <p:spPr>
          <a:xfrm>
            <a:off x="6217920" y="5257800"/>
            <a:ext cx="5257800" cy="1078992"/>
          </a:xfrm>
          <a:prstGeom prst="roundRect">
            <a:avLst>
              <a:gd name="adj" fmla="val 6780"/>
            </a:avLst>
          </a:prstGeom>
          <a:solidFill>
            <a:srgbClr val="F7F5FA"/>
          </a:solidFill>
          <a:ln/>
        </p:spPr>
      </p:sp>
      <p:sp>
        <p:nvSpPr>
          <p:cNvPr id="47" name="Shape 38"/>
          <p:cNvSpPr/>
          <p:nvPr/>
        </p:nvSpPr>
        <p:spPr>
          <a:xfrm>
            <a:off x="6382512" y="5477256"/>
            <a:ext cx="640080" cy="640080"/>
          </a:xfrm>
          <a:prstGeom prst="ellipse">
            <a:avLst/>
          </a:prstGeom>
          <a:solidFill>
            <a:srgbClr val="2E1A47"/>
          </a:solidFill>
          <a:ln/>
        </p:spPr>
      </p:sp>
      <p:pic>
        <p:nvPicPr>
          <p:cNvPr id="48" name="Image 7" descr="/tmp/claude-0/-home-user-gpa-academy1/adc6e4aa-3b77-57c1-ba92-a8d4ee625c84/scratchpad/ch5/icons/balance_white.png">    </p:cNvPr>
          <p:cNvPicPr>
            <a:picLocks noChangeAspect="1"/>
          </p:cNvPicPr>
          <p:nvPr/>
        </p:nvPicPr>
        <p:blipFill>
          <a:blip r:embed="rId8"/>
          <a:stretch>
            <a:fillRect/>
          </a:stretch>
        </p:blipFill>
        <p:spPr>
          <a:xfrm>
            <a:off x="6536131" y="5630875"/>
            <a:ext cx="332842" cy="332842"/>
          </a:xfrm>
          <a:prstGeom prst="rect">
            <a:avLst/>
          </a:prstGeom>
        </p:spPr>
      </p:pic>
      <p:sp>
        <p:nvSpPr>
          <p:cNvPr id="49" name="Text 39"/>
          <p:cNvSpPr/>
          <p:nvPr/>
        </p:nvSpPr>
        <p:spPr>
          <a:xfrm>
            <a:off x="7132320" y="5349240"/>
            <a:ext cx="731520" cy="320040"/>
          </a:xfrm>
          <a:prstGeom prst="rect">
            <a:avLst/>
          </a:prstGeom>
          <a:noFill/>
          <a:ln/>
        </p:spPr>
        <p:txBody>
          <a:bodyPr wrap="square" lIns="0" tIns="0" rIns="0" bIns="0" rtlCol="0" anchor="ctr"/>
          <a:lstStyle/>
          <a:p>
            <a:pPr indent="0" marL="0">
              <a:buNone/>
            </a:pPr>
            <a:r>
              <a:rPr lang="en-US" sz="1300" b="1" dirty="0">
                <a:solidFill>
                  <a:srgbClr val="00B4A6"/>
                </a:solidFill>
                <a:latin typeface="Cambria" pitchFamily="34" charset="0"/>
                <a:ea typeface="Cambria" pitchFamily="34" charset="-122"/>
                <a:cs typeface="Cambria" pitchFamily="34" charset="-120"/>
              </a:rPr>
              <a:t>08</a:t>
            </a:r>
            <a:endParaRPr lang="en-US" sz="1300" dirty="0"/>
          </a:p>
        </p:txBody>
      </p:sp>
      <p:sp>
        <p:nvSpPr>
          <p:cNvPr id="50" name="Text 40"/>
          <p:cNvSpPr/>
          <p:nvPr/>
        </p:nvSpPr>
        <p:spPr>
          <a:xfrm>
            <a:off x="7132320" y="5586984"/>
            <a:ext cx="4206240" cy="320040"/>
          </a:xfrm>
          <a:prstGeom prst="rect">
            <a:avLst/>
          </a:prstGeom>
          <a:noFill/>
          <a:ln/>
        </p:spPr>
        <p:txBody>
          <a:bodyPr wrap="square" lIns="0" tIns="0" rIns="0" bIns="0" rtlCol="0" anchor="ctr"/>
          <a:lstStyle/>
          <a:p>
            <a:pPr indent="0" marL="0">
              <a:buNone/>
            </a:pPr>
            <a:r>
              <a:rPr lang="en-US" sz="1500" b="1" dirty="0">
                <a:solidFill>
                  <a:srgbClr val="241636"/>
                </a:solidFill>
                <a:latin typeface="Cambria" pitchFamily="34" charset="0"/>
                <a:ea typeface="Cambria" pitchFamily="34" charset="-122"/>
                <a:cs typeface="Cambria" pitchFamily="34" charset="-120"/>
              </a:rPr>
              <a:t>Otros agentes y síntesis</a:t>
            </a:r>
            <a:endParaRPr lang="en-US" sz="1500" dirty="0"/>
          </a:p>
        </p:txBody>
      </p:sp>
      <p:sp>
        <p:nvSpPr>
          <p:cNvPr id="51" name="Text 41"/>
          <p:cNvSpPr/>
          <p:nvPr/>
        </p:nvSpPr>
        <p:spPr>
          <a:xfrm>
            <a:off x="7132320" y="5879592"/>
            <a:ext cx="4206240" cy="384048"/>
          </a:xfrm>
          <a:prstGeom prst="rect">
            <a:avLst/>
          </a:prstGeom>
          <a:noFill/>
          <a:ln/>
        </p:spPr>
        <p:txBody>
          <a:bodyPr wrap="square" lIns="0" tIns="0" rIns="0" bIns="0" rtlCol="0" anchor="ctr"/>
          <a:lstStyle/>
          <a:p>
            <a:pPr indent="0" marL="0">
              <a:lnSpc>
                <a:spcPct val="105000"/>
              </a:lnSpc>
              <a:buNone/>
            </a:pPr>
            <a:r>
              <a:rPr lang="en-US" sz="1050" dirty="0">
                <a:solidFill>
                  <a:srgbClr val="6E6382"/>
                </a:solidFill>
                <a:latin typeface="Calibri" pitchFamily="34" charset="0"/>
                <a:ea typeface="Calibri" pitchFamily="34" charset="-122"/>
                <a:cs typeface="Calibri" pitchFamily="34" charset="-120"/>
              </a:rPr>
              <a:t>Esteroides, propanidida, selección clínica y extubación</a:t>
            </a:r>
            <a:endParaRPr lang="en-US" sz="1050" dirty="0"/>
          </a:p>
        </p:txBody>
      </p:sp>
      <p:sp>
        <p:nvSpPr>
          <p:cNvPr id="52" name="Text 42"/>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53" name="Text 4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FUNDAMENTOS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Introducción a los Anestésicos Endovenosos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syringe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molecule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balance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¿Qué son?</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Rol en la anestesia balanceada</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Definición: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fármacos administrados por vía intravenosa capaces de producir pérdida reversible de la conciencia y del estado de alerta.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Vía de acceso: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requieren un acceso venoso permeable y permiten un inicio de acción rápido, en un solo brazo circulatorio.</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Diversidad química: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incluyen barbitúricos, fenoles, imidazoles, arilciclohexilaminas, opioides y benzodiacepinas.</a:t>
            </a:r>
            <a:endParaRPr lang="en-US" sz="125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Inducción: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la mayoría de los agentes endovenosos se emplean para inducir rápidamente el estado anestésico antes del mantenimiento inhalatorio o TIVA.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Mantenimiento: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propofol y opioides permiten esquemas de anestesia total intravenosa (TIVA), evitando agentes inhalatorios.</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Complementariedad: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se combinan con hipnóticos inhalados, opioides, relajantes musculares y anestesia regional para optimizar el perfil riesgo-beneficio.</a:t>
            </a:r>
            <a:endParaRPr lang="en-US" sz="125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CONTEXTO HISTÓRICO</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Evolución Histórica de los Anestésicos Intravenosos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history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55064"/>
            <a:ext cx="1188720" cy="564315"/>
          </a:xfrm>
          <a:prstGeom prst="roundRect">
            <a:avLst>
              <a:gd name="adj" fmla="val 11343"/>
            </a:avLst>
          </a:prstGeom>
          <a:solidFill>
            <a:srgbClr val="2E1A47"/>
          </a:solidFill>
          <a:ln/>
        </p:spPr>
      </p:sp>
      <p:sp>
        <p:nvSpPr>
          <p:cNvPr id="7" name="Text 4"/>
          <p:cNvSpPr/>
          <p:nvPr/>
        </p:nvSpPr>
        <p:spPr>
          <a:xfrm>
            <a:off x="548640" y="1655064"/>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1656</a:t>
            </a:r>
            <a:endParaRPr lang="en-US" sz="1300" dirty="0"/>
          </a:p>
        </p:txBody>
      </p:sp>
      <p:sp>
        <p:nvSpPr>
          <p:cNvPr id="8" name="Text 5"/>
          <p:cNvSpPr/>
          <p:nvPr/>
        </p:nvSpPr>
        <p:spPr>
          <a:xfrm>
            <a:off x="1920240" y="1627632"/>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Primeros intentos de inyección endovenosa de sustancias (Christopher Wren) usando plumas de ave como agujas rudimentarias.</a:t>
            </a:r>
            <a:endParaRPr lang="en-US" sz="1150" dirty="0"/>
          </a:p>
        </p:txBody>
      </p:sp>
      <p:sp>
        <p:nvSpPr>
          <p:cNvPr id="9" name="Shape 6"/>
          <p:cNvSpPr/>
          <p:nvPr/>
        </p:nvSpPr>
        <p:spPr>
          <a:xfrm>
            <a:off x="548640" y="2310819"/>
            <a:ext cx="1188720" cy="564315"/>
          </a:xfrm>
          <a:prstGeom prst="roundRect">
            <a:avLst>
              <a:gd name="adj" fmla="val 11343"/>
            </a:avLst>
          </a:prstGeom>
          <a:solidFill>
            <a:srgbClr val="6B4E8E"/>
          </a:solidFill>
          <a:ln/>
        </p:spPr>
      </p:sp>
      <p:sp>
        <p:nvSpPr>
          <p:cNvPr id="10" name="Text 7"/>
          <p:cNvSpPr/>
          <p:nvPr/>
        </p:nvSpPr>
        <p:spPr>
          <a:xfrm>
            <a:off x="548640" y="2310819"/>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1932</a:t>
            </a:r>
            <a:endParaRPr lang="en-US" sz="1300" dirty="0"/>
          </a:p>
        </p:txBody>
      </p:sp>
      <p:sp>
        <p:nvSpPr>
          <p:cNvPr id="11" name="Text 8"/>
          <p:cNvSpPr/>
          <p:nvPr/>
        </p:nvSpPr>
        <p:spPr>
          <a:xfrm>
            <a:off x="1920240" y="2283387"/>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Introducción del hexobarbital, primer barbitúrico de uso clínico amplio para inducción anestésica.</a:t>
            </a:r>
            <a:endParaRPr lang="en-US" sz="1150" dirty="0"/>
          </a:p>
        </p:txBody>
      </p:sp>
      <p:sp>
        <p:nvSpPr>
          <p:cNvPr id="12" name="Shape 9"/>
          <p:cNvSpPr/>
          <p:nvPr/>
        </p:nvSpPr>
        <p:spPr>
          <a:xfrm>
            <a:off x="548640" y="2966575"/>
            <a:ext cx="1188720" cy="564315"/>
          </a:xfrm>
          <a:prstGeom prst="roundRect">
            <a:avLst>
              <a:gd name="adj" fmla="val 11343"/>
            </a:avLst>
          </a:prstGeom>
          <a:solidFill>
            <a:srgbClr val="2E1A47"/>
          </a:solidFill>
          <a:ln/>
        </p:spPr>
      </p:sp>
      <p:sp>
        <p:nvSpPr>
          <p:cNvPr id="13" name="Text 10"/>
          <p:cNvSpPr/>
          <p:nvPr/>
        </p:nvSpPr>
        <p:spPr>
          <a:xfrm>
            <a:off x="548640" y="2966575"/>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1934</a:t>
            </a:r>
            <a:endParaRPr lang="en-US" sz="1300" dirty="0"/>
          </a:p>
        </p:txBody>
      </p:sp>
      <p:sp>
        <p:nvSpPr>
          <p:cNvPr id="14" name="Text 11"/>
          <p:cNvSpPr/>
          <p:nvPr/>
        </p:nvSpPr>
        <p:spPr>
          <a:xfrm>
            <a:off x="1920240" y="2939143"/>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Síntesis y uso clínico del tiopental sódico, que se convirtió en el estándar de inducción endovenosa por décadas.</a:t>
            </a:r>
            <a:endParaRPr lang="en-US" sz="1150" dirty="0"/>
          </a:p>
        </p:txBody>
      </p:sp>
      <p:sp>
        <p:nvSpPr>
          <p:cNvPr id="15" name="Shape 12"/>
          <p:cNvSpPr/>
          <p:nvPr/>
        </p:nvSpPr>
        <p:spPr>
          <a:xfrm>
            <a:off x="548640" y="3622330"/>
            <a:ext cx="1188720" cy="564315"/>
          </a:xfrm>
          <a:prstGeom prst="roundRect">
            <a:avLst>
              <a:gd name="adj" fmla="val 11343"/>
            </a:avLst>
          </a:prstGeom>
          <a:solidFill>
            <a:srgbClr val="6B4E8E"/>
          </a:solidFill>
          <a:ln/>
        </p:spPr>
      </p:sp>
      <p:sp>
        <p:nvSpPr>
          <p:cNvPr id="16" name="Text 13"/>
          <p:cNvSpPr/>
          <p:nvPr/>
        </p:nvSpPr>
        <p:spPr>
          <a:xfrm>
            <a:off x="548640" y="3622330"/>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1957</a:t>
            </a:r>
            <a:endParaRPr lang="en-US" sz="1300" dirty="0"/>
          </a:p>
        </p:txBody>
      </p:sp>
      <p:sp>
        <p:nvSpPr>
          <p:cNvPr id="17" name="Text 14"/>
          <p:cNvSpPr/>
          <p:nvPr/>
        </p:nvSpPr>
        <p:spPr>
          <a:xfrm>
            <a:off x="1920240" y="3594898"/>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Desarrollo de la propanidida, primer anestésico endovenoso de acción ultracorta con recuperación rápida.</a:t>
            </a:r>
            <a:endParaRPr lang="en-US" sz="1150" dirty="0"/>
          </a:p>
        </p:txBody>
      </p:sp>
      <p:sp>
        <p:nvSpPr>
          <p:cNvPr id="18" name="Shape 15"/>
          <p:cNvSpPr/>
          <p:nvPr/>
        </p:nvSpPr>
        <p:spPr>
          <a:xfrm>
            <a:off x="548640" y="4278086"/>
            <a:ext cx="1188720" cy="564315"/>
          </a:xfrm>
          <a:prstGeom prst="roundRect">
            <a:avLst>
              <a:gd name="adj" fmla="val 11343"/>
            </a:avLst>
          </a:prstGeom>
          <a:solidFill>
            <a:srgbClr val="2E1A47"/>
          </a:solidFill>
          <a:ln/>
        </p:spPr>
      </p:sp>
      <p:sp>
        <p:nvSpPr>
          <p:cNvPr id="19" name="Text 16"/>
          <p:cNvSpPr/>
          <p:nvPr/>
        </p:nvSpPr>
        <p:spPr>
          <a:xfrm>
            <a:off x="548640" y="4278086"/>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1962</a:t>
            </a:r>
            <a:endParaRPr lang="en-US" sz="1300" dirty="0"/>
          </a:p>
        </p:txBody>
      </p:sp>
      <p:sp>
        <p:nvSpPr>
          <p:cNvPr id="20" name="Text 17"/>
          <p:cNvSpPr/>
          <p:nvPr/>
        </p:nvSpPr>
        <p:spPr>
          <a:xfrm>
            <a:off x="1920240" y="4250654"/>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Síntesis de la ketamina, introducida clínicamente en 1970 como alternativa disociativa con estabilidad hemodinámica.</a:t>
            </a:r>
            <a:endParaRPr lang="en-US" sz="1150" dirty="0"/>
          </a:p>
        </p:txBody>
      </p:sp>
      <p:sp>
        <p:nvSpPr>
          <p:cNvPr id="21" name="Shape 18"/>
          <p:cNvSpPr/>
          <p:nvPr/>
        </p:nvSpPr>
        <p:spPr>
          <a:xfrm>
            <a:off x="548640" y="4933841"/>
            <a:ext cx="1188720" cy="564315"/>
          </a:xfrm>
          <a:prstGeom prst="roundRect">
            <a:avLst>
              <a:gd name="adj" fmla="val 11343"/>
            </a:avLst>
          </a:prstGeom>
          <a:solidFill>
            <a:srgbClr val="6B4E8E"/>
          </a:solidFill>
          <a:ln/>
        </p:spPr>
      </p:sp>
      <p:sp>
        <p:nvSpPr>
          <p:cNvPr id="22" name="Text 19"/>
          <p:cNvSpPr/>
          <p:nvPr/>
        </p:nvSpPr>
        <p:spPr>
          <a:xfrm>
            <a:off x="548640" y="4933841"/>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1972</a:t>
            </a:r>
            <a:endParaRPr lang="en-US" sz="1300" dirty="0"/>
          </a:p>
        </p:txBody>
      </p:sp>
      <p:sp>
        <p:nvSpPr>
          <p:cNvPr id="23" name="Text 20"/>
          <p:cNvSpPr/>
          <p:nvPr/>
        </p:nvSpPr>
        <p:spPr>
          <a:xfrm>
            <a:off x="1920240" y="4906409"/>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Introducción del etomidato, valorado por su notable estabilidad cardiovascular.</a:t>
            </a:r>
            <a:endParaRPr lang="en-US" sz="1150" dirty="0"/>
          </a:p>
        </p:txBody>
      </p:sp>
      <p:sp>
        <p:nvSpPr>
          <p:cNvPr id="24" name="Shape 21"/>
          <p:cNvSpPr/>
          <p:nvPr/>
        </p:nvSpPr>
        <p:spPr>
          <a:xfrm>
            <a:off x="548640" y="5589597"/>
            <a:ext cx="1188720" cy="564315"/>
          </a:xfrm>
          <a:prstGeom prst="roundRect">
            <a:avLst>
              <a:gd name="adj" fmla="val 11343"/>
            </a:avLst>
          </a:prstGeom>
          <a:solidFill>
            <a:srgbClr val="2E1A47"/>
          </a:solidFill>
          <a:ln/>
        </p:spPr>
      </p:sp>
      <p:sp>
        <p:nvSpPr>
          <p:cNvPr id="25" name="Text 22"/>
          <p:cNvSpPr/>
          <p:nvPr/>
        </p:nvSpPr>
        <p:spPr>
          <a:xfrm>
            <a:off x="548640" y="5589597"/>
            <a:ext cx="1188720" cy="564315"/>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1977–1986</a:t>
            </a:r>
            <a:endParaRPr lang="en-US" sz="1300" dirty="0"/>
          </a:p>
        </p:txBody>
      </p:sp>
      <p:sp>
        <p:nvSpPr>
          <p:cNvPr id="26" name="Text 23"/>
          <p:cNvSpPr/>
          <p:nvPr/>
        </p:nvSpPr>
        <p:spPr>
          <a:xfrm>
            <a:off x="1920240" y="5562165"/>
            <a:ext cx="9722815" cy="619179"/>
          </a:xfrm>
          <a:prstGeom prst="rect">
            <a:avLst/>
          </a:prstGeom>
          <a:noFill/>
          <a:ln/>
        </p:spPr>
        <p:txBody>
          <a:bodyPr wrap="square" lIns="0" tIns="0" rIns="0" bIns="0" rtlCol="0" anchor="ctr"/>
          <a:lstStyle/>
          <a:p>
            <a:pPr indent="0" marL="0">
              <a:lnSpc>
                <a:spcPct val="105000"/>
              </a:lnSpc>
              <a:buNone/>
            </a:pPr>
            <a:r>
              <a:rPr lang="en-US" sz="1150" dirty="0">
                <a:solidFill>
                  <a:srgbClr val="3A2C52"/>
                </a:solidFill>
                <a:latin typeface="Calibri" pitchFamily="34" charset="0"/>
                <a:ea typeface="Calibri" pitchFamily="34" charset="-122"/>
                <a:cs typeface="Calibri" pitchFamily="34" charset="-120"/>
              </a:rPr>
              <a:t>Desarrollo y aprobación clínica del propofol, que transformó la práctica de la inducción y el mantenimiento endovenoso.</a:t>
            </a:r>
            <a:endParaRPr lang="en-US" sz="1150" dirty="0"/>
          </a:p>
        </p:txBody>
      </p:sp>
      <p:sp>
        <p:nvSpPr>
          <p:cNvPr id="28" name="Text 24"/>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9" name="Text 2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FARMACOLOGÍA GENERAL</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Clasificación General de los Anestésicos Endovenosos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category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2581580" cy="2167128"/>
          </a:xfrm>
          <a:prstGeom prst="roundRect">
            <a:avLst>
              <a:gd name="adj" fmla="val 3797"/>
            </a:avLst>
          </a:prstGeom>
          <a:solidFill>
            <a:srgbClr val="F3EFF8"/>
          </a:solidFill>
          <a:ln/>
        </p:spPr>
      </p:sp>
      <p:sp>
        <p:nvSpPr>
          <p:cNvPr id="7" name="Shape 4"/>
          <p:cNvSpPr/>
          <p:nvPr/>
        </p:nvSpPr>
        <p:spPr>
          <a:xfrm>
            <a:off x="731520" y="1810512"/>
            <a:ext cx="502920" cy="502920"/>
          </a:xfrm>
          <a:prstGeom prst="ellipse">
            <a:avLst/>
          </a:prstGeom>
          <a:solidFill>
            <a:srgbClr val="2E1A47"/>
          </a:solidFill>
          <a:ln/>
        </p:spPr>
      </p:sp>
      <p:pic>
        <p:nvPicPr>
          <p:cNvPr id="8" name="Image 1" descr="/tmp/claude-0/-home-user-gpa-academy1/adc6e4aa-3b77-57c1-ba92-a8d4ee625c84/scratchpad/ch5/icons/brain_white.png">    </p:cNvPr>
          <p:cNvPicPr>
            <a:picLocks noChangeAspect="1"/>
          </p:cNvPicPr>
          <p:nvPr/>
        </p:nvPicPr>
        <p:blipFill>
          <a:blip r:embed="rId2"/>
          <a:stretch>
            <a:fillRect/>
          </a:stretch>
        </p:blipFill>
        <p:spPr>
          <a:xfrm>
            <a:off x="844677" y="1923669"/>
            <a:ext cx="276606" cy="276606"/>
          </a:xfrm>
          <a:prstGeom prst="rect">
            <a:avLst/>
          </a:prstGeom>
        </p:spPr>
      </p:pic>
      <p:sp>
        <p:nvSpPr>
          <p:cNvPr id="9" name="Text 5"/>
          <p:cNvSpPr/>
          <p:nvPr/>
        </p:nvSpPr>
        <p:spPr>
          <a:xfrm>
            <a:off x="731520" y="240487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Barbitúricos</a:t>
            </a:r>
            <a:endParaRPr lang="en-US" sz="1300" dirty="0"/>
          </a:p>
        </p:txBody>
      </p:sp>
      <p:sp>
        <p:nvSpPr>
          <p:cNvPr id="10" name="Text 6"/>
          <p:cNvSpPr/>
          <p:nvPr/>
        </p:nvSpPr>
        <p:spPr>
          <a:xfrm>
            <a:off x="731520" y="270662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Tiopental sódico, tiamilal. Agonistas GABA-A, uso histórico en inducción.</a:t>
            </a:r>
            <a:endParaRPr lang="en-US" sz="1000" dirty="0"/>
          </a:p>
        </p:txBody>
      </p:sp>
      <p:sp>
        <p:nvSpPr>
          <p:cNvPr id="11" name="Shape 7"/>
          <p:cNvSpPr/>
          <p:nvPr/>
        </p:nvSpPr>
        <p:spPr>
          <a:xfrm>
            <a:off x="3386252" y="1627632"/>
            <a:ext cx="2581580" cy="2167128"/>
          </a:xfrm>
          <a:prstGeom prst="roundRect">
            <a:avLst>
              <a:gd name="adj" fmla="val 3797"/>
            </a:avLst>
          </a:prstGeom>
          <a:solidFill>
            <a:srgbClr val="F3EFF8"/>
          </a:solidFill>
          <a:ln/>
        </p:spPr>
      </p:sp>
      <p:sp>
        <p:nvSpPr>
          <p:cNvPr id="12" name="Shape 8"/>
          <p:cNvSpPr/>
          <p:nvPr/>
        </p:nvSpPr>
        <p:spPr>
          <a:xfrm>
            <a:off x="3569132" y="1810512"/>
            <a:ext cx="502920" cy="502920"/>
          </a:xfrm>
          <a:prstGeom prst="ellipse">
            <a:avLst/>
          </a:prstGeom>
          <a:solidFill>
            <a:srgbClr val="2E1A47"/>
          </a:solidFill>
          <a:ln/>
        </p:spPr>
      </p:sp>
      <p:pic>
        <p:nvPicPr>
          <p:cNvPr id="13" name="Image 2" descr="/tmp/claude-0/-home-user-gpa-academy1/adc6e4aa-3b77-57c1-ba92-a8d4ee625c84/scratchpad/ch5/icons/molecule_white.png">    </p:cNvPr>
          <p:cNvPicPr>
            <a:picLocks noChangeAspect="1"/>
          </p:cNvPicPr>
          <p:nvPr/>
        </p:nvPicPr>
        <p:blipFill>
          <a:blip r:embed="rId3"/>
          <a:stretch>
            <a:fillRect/>
          </a:stretch>
        </p:blipFill>
        <p:spPr>
          <a:xfrm>
            <a:off x="3682289" y="1923669"/>
            <a:ext cx="276606" cy="276606"/>
          </a:xfrm>
          <a:prstGeom prst="rect">
            <a:avLst/>
          </a:prstGeom>
        </p:spPr>
      </p:pic>
      <p:sp>
        <p:nvSpPr>
          <p:cNvPr id="14" name="Text 9"/>
          <p:cNvSpPr/>
          <p:nvPr/>
        </p:nvSpPr>
        <p:spPr>
          <a:xfrm>
            <a:off x="3569132" y="240487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Arilciclohexilaminas</a:t>
            </a:r>
            <a:endParaRPr lang="en-US" sz="1300" dirty="0"/>
          </a:p>
        </p:txBody>
      </p:sp>
      <p:sp>
        <p:nvSpPr>
          <p:cNvPr id="15" name="Text 10"/>
          <p:cNvSpPr/>
          <p:nvPr/>
        </p:nvSpPr>
        <p:spPr>
          <a:xfrm>
            <a:off x="3569132" y="270662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Ketamina. Antagonista del receptor NMDA, anestesia disociativa.</a:t>
            </a:r>
            <a:endParaRPr lang="en-US" sz="1000" dirty="0"/>
          </a:p>
        </p:txBody>
      </p:sp>
      <p:sp>
        <p:nvSpPr>
          <p:cNvPr id="16" name="Shape 11"/>
          <p:cNvSpPr/>
          <p:nvPr/>
        </p:nvSpPr>
        <p:spPr>
          <a:xfrm>
            <a:off x="6223864" y="1627632"/>
            <a:ext cx="2581580" cy="2167128"/>
          </a:xfrm>
          <a:prstGeom prst="roundRect">
            <a:avLst>
              <a:gd name="adj" fmla="val 3797"/>
            </a:avLst>
          </a:prstGeom>
          <a:solidFill>
            <a:srgbClr val="F3EFF8"/>
          </a:solidFill>
          <a:ln/>
        </p:spPr>
      </p:sp>
      <p:sp>
        <p:nvSpPr>
          <p:cNvPr id="17" name="Shape 12"/>
          <p:cNvSpPr/>
          <p:nvPr/>
        </p:nvSpPr>
        <p:spPr>
          <a:xfrm>
            <a:off x="6406744" y="1810512"/>
            <a:ext cx="502920" cy="502920"/>
          </a:xfrm>
          <a:prstGeom prst="ellipse">
            <a:avLst/>
          </a:prstGeom>
          <a:solidFill>
            <a:srgbClr val="2E1A47"/>
          </a:solidFill>
          <a:ln/>
        </p:spPr>
      </p:sp>
      <p:pic>
        <p:nvPicPr>
          <p:cNvPr id="18" name="Image 3" descr="/tmp/claude-0/-home-user-gpa-academy1/adc6e4aa-3b77-57c1-ba92-a8d4ee625c84/scratchpad/ch5/icons/drop_white.png">    </p:cNvPr>
          <p:cNvPicPr>
            <a:picLocks noChangeAspect="1"/>
          </p:cNvPicPr>
          <p:nvPr/>
        </p:nvPicPr>
        <p:blipFill>
          <a:blip r:embed="rId4"/>
          <a:stretch>
            <a:fillRect/>
          </a:stretch>
        </p:blipFill>
        <p:spPr>
          <a:xfrm>
            <a:off x="6519901" y="1923669"/>
            <a:ext cx="276606" cy="276606"/>
          </a:xfrm>
          <a:prstGeom prst="rect">
            <a:avLst/>
          </a:prstGeom>
        </p:spPr>
      </p:pic>
      <p:sp>
        <p:nvSpPr>
          <p:cNvPr id="19" name="Text 13"/>
          <p:cNvSpPr/>
          <p:nvPr/>
        </p:nvSpPr>
        <p:spPr>
          <a:xfrm>
            <a:off x="6406744" y="240487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Fenoles</a:t>
            </a:r>
            <a:endParaRPr lang="en-US" sz="1300" dirty="0"/>
          </a:p>
        </p:txBody>
      </p:sp>
      <p:sp>
        <p:nvSpPr>
          <p:cNvPr id="20" name="Text 14"/>
          <p:cNvSpPr/>
          <p:nvPr/>
        </p:nvSpPr>
        <p:spPr>
          <a:xfrm>
            <a:off x="6406744" y="270662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Propofol. Agonista GABA-A, agente predominante en inducción y TIVA actual.</a:t>
            </a:r>
            <a:endParaRPr lang="en-US" sz="1000" dirty="0"/>
          </a:p>
        </p:txBody>
      </p:sp>
      <p:sp>
        <p:nvSpPr>
          <p:cNvPr id="21" name="Shape 15"/>
          <p:cNvSpPr/>
          <p:nvPr/>
        </p:nvSpPr>
        <p:spPr>
          <a:xfrm>
            <a:off x="9061475" y="1627632"/>
            <a:ext cx="2581580" cy="2167128"/>
          </a:xfrm>
          <a:prstGeom prst="roundRect">
            <a:avLst>
              <a:gd name="adj" fmla="val 3797"/>
            </a:avLst>
          </a:prstGeom>
          <a:solidFill>
            <a:srgbClr val="F3EFF8"/>
          </a:solidFill>
          <a:ln/>
        </p:spPr>
      </p:sp>
      <p:sp>
        <p:nvSpPr>
          <p:cNvPr id="22" name="Shape 16"/>
          <p:cNvSpPr/>
          <p:nvPr/>
        </p:nvSpPr>
        <p:spPr>
          <a:xfrm>
            <a:off x="9244355" y="1810512"/>
            <a:ext cx="502920" cy="502920"/>
          </a:xfrm>
          <a:prstGeom prst="ellipse">
            <a:avLst/>
          </a:prstGeom>
          <a:solidFill>
            <a:srgbClr val="2E1A47"/>
          </a:solidFill>
          <a:ln/>
        </p:spPr>
      </p:sp>
      <p:pic>
        <p:nvPicPr>
          <p:cNvPr id="23" name="Image 4" descr="/tmp/claude-0/-home-user-gpa-academy1/adc6e4aa-3b77-57c1-ba92-a8d4ee625c84/scratchpad/ch5/icons/heart_white.png">    </p:cNvPr>
          <p:cNvPicPr>
            <a:picLocks noChangeAspect="1"/>
          </p:cNvPicPr>
          <p:nvPr/>
        </p:nvPicPr>
        <p:blipFill>
          <a:blip r:embed="rId5"/>
          <a:stretch>
            <a:fillRect/>
          </a:stretch>
        </p:blipFill>
        <p:spPr>
          <a:xfrm>
            <a:off x="9357512" y="1923669"/>
            <a:ext cx="276606" cy="276606"/>
          </a:xfrm>
          <a:prstGeom prst="rect">
            <a:avLst/>
          </a:prstGeom>
        </p:spPr>
      </p:pic>
      <p:sp>
        <p:nvSpPr>
          <p:cNvPr id="24" name="Text 17"/>
          <p:cNvSpPr/>
          <p:nvPr/>
        </p:nvSpPr>
        <p:spPr>
          <a:xfrm>
            <a:off x="9244355" y="240487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Imidazoles carboxilados</a:t>
            </a:r>
            <a:endParaRPr lang="en-US" sz="1300" dirty="0"/>
          </a:p>
        </p:txBody>
      </p:sp>
      <p:sp>
        <p:nvSpPr>
          <p:cNvPr id="25" name="Text 18"/>
          <p:cNvSpPr/>
          <p:nvPr/>
        </p:nvSpPr>
        <p:spPr>
          <a:xfrm>
            <a:off x="9244355" y="270662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Etomidato. Agonista GABA-A con notable estabilidad hemodinámica.</a:t>
            </a:r>
            <a:endParaRPr lang="en-US" sz="1000" dirty="0"/>
          </a:p>
        </p:txBody>
      </p:sp>
      <p:sp>
        <p:nvSpPr>
          <p:cNvPr id="26" name="Shape 19"/>
          <p:cNvSpPr/>
          <p:nvPr/>
        </p:nvSpPr>
        <p:spPr>
          <a:xfrm>
            <a:off x="548640" y="4050792"/>
            <a:ext cx="2581580" cy="2167128"/>
          </a:xfrm>
          <a:prstGeom prst="roundRect">
            <a:avLst>
              <a:gd name="adj" fmla="val 3797"/>
            </a:avLst>
          </a:prstGeom>
          <a:solidFill>
            <a:srgbClr val="ECE6F5"/>
          </a:solidFill>
          <a:ln/>
        </p:spPr>
      </p:sp>
      <p:sp>
        <p:nvSpPr>
          <p:cNvPr id="27" name="Shape 20"/>
          <p:cNvSpPr/>
          <p:nvPr/>
        </p:nvSpPr>
        <p:spPr>
          <a:xfrm>
            <a:off x="731520" y="4233672"/>
            <a:ext cx="502920" cy="502920"/>
          </a:xfrm>
          <a:prstGeom prst="ellipse">
            <a:avLst/>
          </a:prstGeom>
          <a:solidFill>
            <a:srgbClr val="2E1A47"/>
          </a:solidFill>
          <a:ln/>
        </p:spPr>
      </p:sp>
      <p:pic>
        <p:nvPicPr>
          <p:cNvPr id="28" name="Image 5" descr="/tmp/claude-0/-home-user-gpa-academy1/adc6e4aa-3b77-57c1-ba92-a8d4ee625c84/scratchpad/ch5/icons/vial_white.png">    </p:cNvPr>
          <p:cNvPicPr>
            <a:picLocks noChangeAspect="1"/>
          </p:cNvPicPr>
          <p:nvPr/>
        </p:nvPicPr>
        <p:blipFill>
          <a:blip r:embed="rId6"/>
          <a:stretch>
            <a:fillRect/>
          </a:stretch>
        </p:blipFill>
        <p:spPr>
          <a:xfrm>
            <a:off x="844677" y="4346829"/>
            <a:ext cx="276606" cy="276606"/>
          </a:xfrm>
          <a:prstGeom prst="rect">
            <a:avLst/>
          </a:prstGeom>
        </p:spPr>
      </p:pic>
      <p:sp>
        <p:nvSpPr>
          <p:cNvPr id="29" name="Text 21"/>
          <p:cNvSpPr/>
          <p:nvPr/>
        </p:nvSpPr>
        <p:spPr>
          <a:xfrm>
            <a:off x="731520" y="482803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Opioides</a:t>
            </a:r>
            <a:endParaRPr lang="en-US" sz="1300" dirty="0"/>
          </a:p>
        </p:txBody>
      </p:sp>
      <p:sp>
        <p:nvSpPr>
          <p:cNvPr id="30" name="Text 22"/>
          <p:cNvSpPr/>
          <p:nvPr/>
        </p:nvSpPr>
        <p:spPr>
          <a:xfrm>
            <a:off x="731520" y="512978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Morfina, fentanilo, sufentanilo, remifentanilo. Analgesia y modulación autonómica.</a:t>
            </a:r>
            <a:endParaRPr lang="en-US" sz="1000" dirty="0"/>
          </a:p>
        </p:txBody>
      </p:sp>
      <p:sp>
        <p:nvSpPr>
          <p:cNvPr id="31" name="Shape 23"/>
          <p:cNvSpPr/>
          <p:nvPr/>
        </p:nvSpPr>
        <p:spPr>
          <a:xfrm>
            <a:off x="3386252" y="4050792"/>
            <a:ext cx="2581580" cy="2167128"/>
          </a:xfrm>
          <a:prstGeom prst="roundRect">
            <a:avLst>
              <a:gd name="adj" fmla="val 3797"/>
            </a:avLst>
          </a:prstGeom>
          <a:solidFill>
            <a:srgbClr val="ECE6F5"/>
          </a:solidFill>
          <a:ln/>
        </p:spPr>
      </p:sp>
      <p:sp>
        <p:nvSpPr>
          <p:cNvPr id="32" name="Shape 24"/>
          <p:cNvSpPr/>
          <p:nvPr/>
        </p:nvSpPr>
        <p:spPr>
          <a:xfrm>
            <a:off x="3569132" y="4233672"/>
            <a:ext cx="502920" cy="502920"/>
          </a:xfrm>
          <a:prstGeom prst="ellipse">
            <a:avLst/>
          </a:prstGeom>
          <a:solidFill>
            <a:srgbClr val="2E1A47"/>
          </a:solidFill>
          <a:ln/>
        </p:spPr>
      </p:sp>
      <p:pic>
        <p:nvPicPr>
          <p:cNvPr id="33" name="Image 6" descr="/tmp/claude-0/-home-user-gpa-academy1/adc6e4aa-3b77-57c1-ba92-a8d4ee625c84/scratchpad/ch5/icons/checklist_white.png">    </p:cNvPr>
          <p:cNvPicPr>
            <a:picLocks noChangeAspect="1"/>
          </p:cNvPicPr>
          <p:nvPr/>
        </p:nvPicPr>
        <p:blipFill>
          <a:blip r:embed="rId7"/>
          <a:stretch>
            <a:fillRect/>
          </a:stretch>
        </p:blipFill>
        <p:spPr>
          <a:xfrm>
            <a:off x="3682289" y="4346829"/>
            <a:ext cx="276606" cy="276606"/>
          </a:xfrm>
          <a:prstGeom prst="rect">
            <a:avLst/>
          </a:prstGeom>
        </p:spPr>
      </p:pic>
      <p:sp>
        <p:nvSpPr>
          <p:cNvPr id="34" name="Text 25"/>
          <p:cNvSpPr/>
          <p:nvPr/>
        </p:nvSpPr>
        <p:spPr>
          <a:xfrm>
            <a:off x="3569132" y="482803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Benzodiacepinas</a:t>
            </a:r>
            <a:endParaRPr lang="en-US" sz="1300" dirty="0"/>
          </a:p>
        </p:txBody>
      </p:sp>
      <p:sp>
        <p:nvSpPr>
          <p:cNvPr id="35" name="Text 26"/>
          <p:cNvSpPr/>
          <p:nvPr/>
        </p:nvSpPr>
        <p:spPr>
          <a:xfrm>
            <a:off x="3569132" y="512978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Midazolam, diazepam. Ansiólisis, amnesia y sedación; reversibles con flumazenil.</a:t>
            </a:r>
            <a:endParaRPr lang="en-US" sz="1000" dirty="0"/>
          </a:p>
        </p:txBody>
      </p:sp>
      <p:sp>
        <p:nvSpPr>
          <p:cNvPr id="36" name="Shape 27"/>
          <p:cNvSpPr/>
          <p:nvPr/>
        </p:nvSpPr>
        <p:spPr>
          <a:xfrm>
            <a:off x="6223864" y="4050792"/>
            <a:ext cx="2581580" cy="2167128"/>
          </a:xfrm>
          <a:prstGeom prst="roundRect">
            <a:avLst>
              <a:gd name="adj" fmla="val 3797"/>
            </a:avLst>
          </a:prstGeom>
          <a:solidFill>
            <a:srgbClr val="ECE6F5"/>
          </a:solidFill>
          <a:ln/>
        </p:spPr>
      </p:sp>
      <p:sp>
        <p:nvSpPr>
          <p:cNvPr id="37" name="Shape 28"/>
          <p:cNvSpPr/>
          <p:nvPr/>
        </p:nvSpPr>
        <p:spPr>
          <a:xfrm>
            <a:off x="6406744" y="4233672"/>
            <a:ext cx="502920" cy="502920"/>
          </a:xfrm>
          <a:prstGeom prst="ellipse">
            <a:avLst/>
          </a:prstGeom>
          <a:solidFill>
            <a:srgbClr val="2E1A47"/>
          </a:solidFill>
          <a:ln/>
        </p:spPr>
      </p:sp>
      <p:pic>
        <p:nvPicPr>
          <p:cNvPr id="38" name="Image 7" descr="/tmp/claude-0/-home-user-gpa-academy1/adc6e4aa-3b77-57c1-ba92-a8d4ee625c84/scratchpad/ch5/icons/chemical_white.png">    </p:cNvPr>
          <p:cNvPicPr>
            <a:picLocks noChangeAspect="1"/>
          </p:cNvPicPr>
          <p:nvPr/>
        </p:nvPicPr>
        <p:blipFill>
          <a:blip r:embed="rId8"/>
          <a:stretch>
            <a:fillRect/>
          </a:stretch>
        </p:blipFill>
        <p:spPr>
          <a:xfrm>
            <a:off x="6519901" y="4346829"/>
            <a:ext cx="276606" cy="276606"/>
          </a:xfrm>
          <a:prstGeom prst="rect">
            <a:avLst/>
          </a:prstGeom>
        </p:spPr>
      </p:pic>
      <p:sp>
        <p:nvSpPr>
          <p:cNvPr id="39" name="Text 29"/>
          <p:cNvSpPr/>
          <p:nvPr/>
        </p:nvSpPr>
        <p:spPr>
          <a:xfrm>
            <a:off x="6406744" y="482803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Esteroides anestésicos</a:t>
            </a:r>
            <a:endParaRPr lang="en-US" sz="1300" dirty="0"/>
          </a:p>
        </p:txBody>
      </p:sp>
      <p:sp>
        <p:nvSpPr>
          <p:cNvPr id="40" name="Text 30"/>
          <p:cNvSpPr/>
          <p:nvPr/>
        </p:nvSpPr>
        <p:spPr>
          <a:xfrm>
            <a:off x="6406744" y="512978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Alfaxalona-alfadolona (histórico). Interés farmacológico renovado.</a:t>
            </a:r>
            <a:endParaRPr lang="en-US" sz="1000" dirty="0"/>
          </a:p>
        </p:txBody>
      </p:sp>
      <p:sp>
        <p:nvSpPr>
          <p:cNvPr id="41" name="Shape 31"/>
          <p:cNvSpPr/>
          <p:nvPr/>
        </p:nvSpPr>
        <p:spPr>
          <a:xfrm>
            <a:off x="9061475" y="4050792"/>
            <a:ext cx="2581580" cy="2167128"/>
          </a:xfrm>
          <a:prstGeom prst="roundRect">
            <a:avLst>
              <a:gd name="adj" fmla="val 3797"/>
            </a:avLst>
          </a:prstGeom>
          <a:solidFill>
            <a:srgbClr val="ECE6F5"/>
          </a:solidFill>
          <a:ln/>
        </p:spPr>
      </p:sp>
      <p:sp>
        <p:nvSpPr>
          <p:cNvPr id="42" name="Shape 32"/>
          <p:cNvSpPr/>
          <p:nvPr/>
        </p:nvSpPr>
        <p:spPr>
          <a:xfrm>
            <a:off x="9244355" y="4233672"/>
            <a:ext cx="502920" cy="502920"/>
          </a:xfrm>
          <a:prstGeom prst="ellipse">
            <a:avLst/>
          </a:prstGeom>
          <a:solidFill>
            <a:srgbClr val="2E1A47"/>
          </a:solidFill>
          <a:ln/>
        </p:spPr>
      </p:sp>
      <p:pic>
        <p:nvPicPr>
          <p:cNvPr id="43" name="Image 8" descr="/tmp/claude-0/-home-user-gpa-academy1/adc6e4aa-3b77-57c1-ba92-a8d4ee625c84/scratchpad/ch5/icons/antidote_white.png">    </p:cNvPr>
          <p:cNvPicPr>
            <a:picLocks noChangeAspect="1"/>
          </p:cNvPicPr>
          <p:nvPr/>
        </p:nvPicPr>
        <p:blipFill>
          <a:blip r:embed="rId9"/>
          <a:stretch>
            <a:fillRect/>
          </a:stretch>
        </p:blipFill>
        <p:spPr>
          <a:xfrm>
            <a:off x="9357512" y="4346829"/>
            <a:ext cx="276606" cy="276606"/>
          </a:xfrm>
          <a:prstGeom prst="rect">
            <a:avLst/>
          </a:prstGeom>
        </p:spPr>
      </p:pic>
      <p:sp>
        <p:nvSpPr>
          <p:cNvPr id="44" name="Text 33"/>
          <p:cNvSpPr/>
          <p:nvPr/>
        </p:nvSpPr>
        <p:spPr>
          <a:xfrm>
            <a:off x="9244355" y="4828032"/>
            <a:ext cx="2215820" cy="320040"/>
          </a:xfrm>
          <a:prstGeom prst="rect">
            <a:avLst/>
          </a:prstGeom>
          <a:noFill/>
          <a:ln/>
        </p:spPr>
        <p:txBody>
          <a:bodyPr wrap="square" lIns="0" tIns="0" rIns="0" bIns="0" rtlCol="0" anchor="ctr"/>
          <a:lstStyle/>
          <a:p>
            <a:pPr indent="0" marL="0">
              <a:buNone/>
            </a:pPr>
            <a:r>
              <a:rPr lang="en-US" sz="1300" b="1" dirty="0">
                <a:solidFill>
                  <a:srgbClr val="241636"/>
                </a:solidFill>
                <a:latin typeface="Cambria" pitchFamily="34" charset="0"/>
                <a:ea typeface="Cambria" pitchFamily="34" charset="-122"/>
                <a:cs typeface="Cambria" pitchFamily="34" charset="-120"/>
              </a:rPr>
              <a:t>Otros / históricos</a:t>
            </a:r>
            <a:endParaRPr lang="en-US" sz="1300" dirty="0"/>
          </a:p>
        </p:txBody>
      </p:sp>
      <p:sp>
        <p:nvSpPr>
          <p:cNvPr id="45" name="Text 34"/>
          <p:cNvSpPr/>
          <p:nvPr/>
        </p:nvSpPr>
        <p:spPr>
          <a:xfrm>
            <a:off x="9244355" y="5129784"/>
            <a:ext cx="2215820" cy="978408"/>
          </a:xfrm>
          <a:prstGeom prst="rect">
            <a:avLst/>
          </a:prstGeom>
          <a:noFill/>
          <a:ln/>
        </p:spPr>
        <p:txBody>
          <a:bodyPr wrap="square" lIns="0" tIns="0" rIns="0" bIns="0" rtlCol="0" anchor="ctr"/>
          <a:lstStyle/>
          <a:p>
            <a:pPr indent="0" marL="0">
              <a:lnSpc>
                <a:spcPct val="108000"/>
              </a:lnSpc>
              <a:buNone/>
            </a:pPr>
            <a:r>
              <a:rPr lang="en-US" sz="1000" dirty="0">
                <a:solidFill>
                  <a:srgbClr val="6E6382"/>
                </a:solidFill>
                <a:latin typeface="Calibri" pitchFamily="34" charset="0"/>
                <a:ea typeface="Calibri" pitchFamily="34" charset="-122"/>
                <a:cs typeface="Calibri" pitchFamily="34" charset="-120"/>
              </a:rPr>
              <a:t>Propanidida (eugenoles). Acción ultracorta, en desuso por reacciones adversas.</a:t>
            </a:r>
            <a:endParaRPr lang="en-US" sz="1000" dirty="0"/>
          </a:p>
        </p:txBody>
      </p:sp>
      <p:sp>
        <p:nvSpPr>
          <p:cNvPr id="47" name="Text 35"/>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48" name="Text 3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754880"/>
            <a:ext cx="3291840" cy="3291840"/>
          </a:xfrm>
          <a:prstGeom prst="ellipse">
            <a:avLst/>
          </a:prstGeom>
          <a:solidFill>
            <a:srgbClr val="6B4E8E"/>
          </a:solidFill>
          <a:ln/>
        </p:spPr>
      </p:sp>
      <p:sp>
        <p:nvSpPr>
          <p:cNvPr id="4" name="Shape 2"/>
          <p:cNvSpPr/>
          <p:nvPr/>
        </p:nvSpPr>
        <p:spPr>
          <a:xfrm>
            <a:off x="914400" y="1371600"/>
            <a:ext cx="1188720" cy="1188720"/>
          </a:xfrm>
          <a:prstGeom prst="ellipse">
            <a:avLst/>
          </a:prstGeom>
          <a:solidFill>
            <a:srgbClr val="00B4A6"/>
          </a:solidFill>
          <a:ln/>
        </p:spPr>
      </p:sp>
      <p:pic>
        <p:nvPicPr>
          <p:cNvPr id="5" name="Image 0" descr="/tmp/claude-0/-home-user-gpa-academy1/adc6e4aa-3b77-57c1-ba92-a8d4ee625c84/scratchpad/ch5/icons/brain_white.png">    </p:cNvPr>
          <p:cNvPicPr>
            <a:picLocks noChangeAspect="1"/>
          </p:cNvPicPr>
          <p:nvPr/>
        </p:nvPicPr>
        <p:blipFill>
          <a:blip r:embed="rId1"/>
          <a:stretch>
            <a:fillRect/>
          </a:stretch>
        </p:blipFill>
        <p:spPr>
          <a:xfrm>
            <a:off x="1199693" y="1656893"/>
            <a:ext cx="618134" cy="618134"/>
          </a:xfrm>
          <a:prstGeom prst="rect">
            <a:avLst/>
          </a:prstGeom>
        </p:spPr>
      </p:pic>
      <p:sp>
        <p:nvSpPr>
          <p:cNvPr id="6" name="Text 3"/>
          <p:cNvSpPr/>
          <p:nvPr/>
        </p:nvSpPr>
        <p:spPr>
          <a:xfrm>
            <a:off x="822960" y="2788920"/>
            <a:ext cx="9692640" cy="365760"/>
          </a:xfrm>
          <a:prstGeom prst="rect">
            <a:avLst/>
          </a:prstGeom>
          <a:noFill/>
          <a:ln/>
        </p:spPr>
        <p:txBody>
          <a:bodyPr wrap="square" lIns="0" tIns="0" rIns="0" bIns="0" rtlCol="0" anchor="ctr"/>
          <a:lstStyle/>
          <a:p>
            <a:pPr indent="0" marL="0">
              <a:buNone/>
            </a:pPr>
            <a:r>
              <a:rPr lang="en-US" sz="1500" b="1" spc="300" kern="0" dirty="0">
                <a:solidFill>
                  <a:srgbClr val="00B4A6"/>
                </a:solidFill>
                <a:latin typeface="Calibri" pitchFamily="34" charset="0"/>
                <a:ea typeface="Calibri" pitchFamily="34" charset="-122"/>
                <a:cs typeface="Calibri" pitchFamily="34" charset="-120"/>
              </a:rPr>
              <a:t>SECCIÓN I · BARBITÚRICOS</a:t>
            </a:r>
            <a:endParaRPr lang="en-US" sz="1500" dirty="0"/>
          </a:p>
        </p:txBody>
      </p:sp>
      <p:sp>
        <p:nvSpPr>
          <p:cNvPr id="7" name="Text 4"/>
          <p:cNvSpPr/>
          <p:nvPr/>
        </p:nvSpPr>
        <p:spPr>
          <a:xfrm>
            <a:off x="777240" y="3127248"/>
            <a:ext cx="10424160" cy="155448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Tiopental Sódico y los Barbitúricos</a:t>
            </a:r>
            <a:endParaRPr lang="en-US" sz="3200" dirty="0"/>
          </a:p>
        </p:txBody>
      </p:sp>
      <p:sp>
        <p:nvSpPr>
          <p:cNvPr id="8" name="Text 5"/>
          <p:cNvSpPr/>
          <p:nvPr/>
        </p:nvSpPr>
        <p:spPr>
          <a:xfrm>
            <a:off x="822960" y="4892040"/>
            <a:ext cx="9875520" cy="822960"/>
          </a:xfrm>
          <a:prstGeom prst="rect">
            <a:avLst/>
          </a:prstGeom>
          <a:noFill/>
          <a:ln/>
        </p:spPr>
        <p:txBody>
          <a:bodyPr wrap="square" lIns="0" tIns="0" rIns="0" bIns="0" rtlCol="0" anchor="t"/>
          <a:lstStyle/>
          <a:p>
            <a:pPr indent="0" marL="0">
              <a:lnSpc>
                <a:spcPct val="120000"/>
              </a:lnSpc>
              <a:buNone/>
            </a:pPr>
            <a:r>
              <a:rPr lang="en-US" sz="1400" i="1" dirty="0">
                <a:solidFill>
                  <a:srgbClr val="D9CCEE"/>
                </a:solidFill>
                <a:latin typeface="Calibri" pitchFamily="34" charset="0"/>
                <a:ea typeface="Calibri" pitchFamily="34" charset="-122"/>
                <a:cs typeface="Calibri" pitchFamily="34" charset="-120"/>
              </a:rPr>
              <a:t>El estándar histórico de la inducción anestésica endovenosa, base del desarrollo racional de los hipnóticos modernos.</a:t>
            </a:r>
            <a:endParaRPr lang="en-US" sz="1400" dirty="0"/>
          </a:p>
        </p:txBody>
      </p:sp>
      <p:sp>
        <p:nvSpPr>
          <p:cNvPr id="9"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BARBITÚRICOS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Mecanismo de Acción y Farmacocinética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brain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brain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stopwatch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Mecanismo de acción (GABA-A)</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Farmacocinética</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Se unen a un sitio específico del receptor GABA-A, distinto del sitio de las benzodiacepinas.</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Efecto dual: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a dosis bajas potencian la afinidad del GABA por su receptor; a dosis altas activan directamente el canal de cloro.</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El resultado es hiperpolarización neuronal y depresión generalizada del sistema nervioso central.</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También deprimen la formación reticular activadora ascendente, explicando la pérdida rápida de la conciencia.</a:t>
            </a:r>
            <a:endParaRPr lang="en-US" sz="125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Distribución: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alta liposolubilidad; redistribución rápida desde el SNC hacia músculo y grasa explica el despertar tras dosis única.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Metabolismo: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hepático, por oxidación microsomal; metabolitos con escasa actividad.</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Unión a proteínas: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elevada (≈80%); la fracción libre aumenta en hipoalbuminemia, acidosis y uremia, potenciando el efecto.</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Vida media contexto-sensible: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se prolonga notablemente con infusiones repetidas, por acumulación en tejido graso.</a:t>
            </a:r>
            <a:endParaRPr lang="en-US" sz="125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BARBITÚRICOS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Indicaciones, Dosis de Inducción y Efectos Adversos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warning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2567864" cy="1417320"/>
          </a:xfrm>
          <a:prstGeom prst="roundRect">
            <a:avLst>
              <a:gd name="adj" fmla="val 5806"/>
            </a:avLst>
          </a:prstGeom>
          <a:solidFill>
            <a:srgbClr val="2E1A47"/>
          </a:solidFill>
          <a:ln/>
        </p:spPr>
      </p:sp>
      <p:sp>
        <p:nvSpPr>
          <p:cNvPr id="7" name="Text 4"/>
          <p:cNvSpPr/>
          <p:nvPr/>
        </p:nvSpPr>
        <p:spPr>
          <a:xfrm>
            <a:off x="658368"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3–5</a:t>
            </a:r>
            <a:endParaRPr lang="en-US" sz="2700" dirty="0"/>
          </a:p>
        </p:txBody>
      </p:sp>
      <p:sp>
        <p:nvSpPr>
          <p:cNvPr id="8" name="Text 5"/>
          <p:cNvSpPr/>
          <p:nvPr/>
        </p:nvSpPr>
        <p:spPr>
          <a:xfrm>
            <a:off x="658368"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mg/kg IV</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Dosis de inducción (adulto)</a:t>
            </a:r>
            <a:endParaRPr lang="en-US" sz="1050" dirty="0"/>
          </a:p>
        </p:txBody>
      </p:sp>
      <p:sp>
        <p:nvSpPr>
          <p:cNvPr id="9" name="Shape 6"/>
          <p:cNvSpPr/>
          <p:nvPr/>
        </p:nvSpPr>
        <p:spPr>
          <a:xfrm>
            <a:off x="3390824" y="1627632"/>
            <a:ext cx="2567864" cy="1417320"/>
          </a:xfrm>
          <a:prstGeom prst="roundRect">
            <a:avLst>
              <a:gd name="adj" fmla="val 5806"/>
            </a:avLst>
          </a:prstGeom>
          <a:solidFill>
            <a:srgbClr val="2E1A47"/>
          </a:solidFill>
          <a:ln/>
        </p:spPr>
      </p:sp>
      <p:sp>
        <p:nvSpPr>
          <p:cNvPr id="10" name="Text 7"/>
          <p:cNvSpPr/>
          <p:nvPr/>
        </p:nvSpPr>
        <p:spPr>
          <a:xfrm>
            <a:off x="3500552"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10–20s</a:t>
            </a:r>
            <a:endParaRPr lang="en-US" sz="2700" dirty="0"/>
          </a:p>
        </p:txBody>
      </p:sp>
      <p:sp>
        <p:nvSpPr>
          <p:cNvPr id="11" name="Text 8"/>
          <p:cNvSpPr/>
          <p:nvPr/>
        </p:nvSpPr>
        <p:spPr>
          <a:xfrm>
            <a:off x="3500552"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Inicio de acción</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tras bolo endovenoso</a:t>
            </a:r>
            <a:endParaRPr lang="en-US" sz="1050" dirty="0"/>
          </a:p>
        </p:txBody>
      </p:sp>
      <p:sp>
        <p:nvSpPr>
          <p:cNvPr id="12" name="Shape 9"/>
          <p:cNvSpPr/>
          <p:nvPr/>
        </p:nvSpPr>
        <p:spPr>
          <a:xfrm>
            <a:off x="6233008" y="1627632"/>
            <a:ext cx="2567864" cy="1417320"/>
          </a:xfrm>
          <a:prstGeom prst="roundRect">
            <a:avLst>
              <a:gd name="adj" fmla="val 5806"/>
            </a:avLst>
          </a:prstGeom>
          <a:solidFill>
            <a:srgbClr val="2E1A47"/>
          </a:solidFill>
          <a:ln/>
        </p:spPr>
      </p:sp>
      <p:sp>
        <p:nvSpPr>
          <p:cNvPr id="13" name="Text 10"/>
          <p:cNvSpPr/>
          <p:nvPr/>
        </p:nvSpPr>
        <p:spPr>
          <a:xfrm>
            <a:off x="6342736"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5–10min</a:t>
            </a:r>
            <a:endParaRPr lang="en-US" sz="2700" dirty="0"/>
          </a:p>
        </p:txBody>
      </p:sp>
      <p:sp>
        <p:nvSpPr>
          <p:cNvPr id="14" name="Text 11"/>
          <p:cNvSpPr/>
          <p:nvPr/>
        </p:nvSpPr>
        <p:spPr>
          <a:xfrm>
            <a:off x="6342736"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Duración clínica</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por redistribución</a:t>
            </a:r>
            <a:endParaRPr lang="en-US" sz="1050" dirty="0"/>
          </a:p>
        </p:txBody>
      </p:sp>
      <p:sp>
        <p:nvSpPr>
          <p:cNvPr id="15" name="Shape 12"/>
          <p:cNvSpPr/>
          <p:nvPr/>
        </p:nvSpPr>
        <p:spPr>
          <a:xfrm>
            <a:off x="9075191" y="1627632"/>
            <a:ext cx="2567864" cy="1417320"/>
          </a:xfrm>
          <a:prstGeom prst="roundRect">
            <a:avLst>
              <a:gd name="adj" fmla="val 5806"/>
            </a:avLst>
          </a:prstGeom>
          <a:solidFill>
            <a:srgbClr val="2E1A47"/>
          </a:solidFill>
          <a:ln/>
        </p:spPr>
      </p:sp>
      <p:sp>
        <p:nvSpPr>
          <p:cNvPr id="16" name="Text 13"/>
          <p:cNvSpPr/>
          <p:nvPr/>
        </p:nvSpPr>
        <p:spPr>
          <a:xfrm>
            <a:off x="9184919"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2.5%</a:t>
            </a:r>
            <a:endParaRPr lang="en-US" sz="2700" dirty="0"/>
          </a:p>
        </p:txBody>
      </p:sp>
      <p:sp>
        <p:nvSpPr>
          <p:cNvPr id="17" name="Text 14"/>
          <p:cNvSpPr/>
          <p:nvPr/>
        </p:nvSpPr>
        <p:spPr>
          <a:xfrm>
            <a:off x="9184919"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Concentración habitual</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de la solución (tiopental)</a:t>
            </a:r>
            <a:endParaRPr lang="en-US" sz="1050" dirty="0"/>
          </a:p>
        </p:txBody>
      </p:sp>
      <p:sp>
        <p:nvSpPr>
          <p:cNvPr id="18" name="Shape 15"/>
          <p:cNvSpPr/>
          <p:nvPr/>
        </p:nvSpPr>
        <p:spPr>
          <a:xfrm>
            <a:off x="548640" y="3227832"/>
            <a:ext cx="5364328" cy="2990088"/>
          </a:xfrm>
          <a:prstGeom prst="roundRect">
            <a:avLst>
              <a:gd name="adj" fmla="val 2752"/>
            </a:avLst>
          </a:prstGeom>
          <a:solidFill>
            <a:srgbClr val="E4F6F3"/>
          </a:solidFill>
          <a:ln/>
        </p:spPr>
      </p:sp>
      <p:sp>
        <p:nvSpPr>
          <p:cNvPr id="19" name="Shape 16"/>
          <p:cNvSpPr/>
          <p:nvPr/>
        </p:nvSpPr>
        <p:spPr>
          <a:xfrm>
            <a:off x="6278728" y="3227832"/>
            <a:ext cx="5364328" cy="2990088"/>
          </a:xfrm>
          <a:prstGeom prst="roundRect">
            <a:avLst>
              <a:gd name="adj" fmla="val 2752"/>
            </a:avLst>
          </a:prstGeom>
          <a:solidFill>
            <a:srgbClr val="FBEFE9"/>
          </a:solidFill>
          <a:ln/>
        </p:spPr>
      </p:sp>
      <p:sp>
        <p:nvSpPr>
          <p:cNvPr id="20" name="Text 17"/>
          <p:cNvSpPr/>
          <p:nvPr/>
        </p:nvSpPr>
        <p:spPr>
          <a:xfrm>
            <a:off x="804672" y="3410712"/>
            <a:ext cx="4852264" cy="329184"/>
          </a:xfrm>
          <a:prstGeom prst="rect">
            <a:avLst/>
          </a:prstGeom>
          <a:noFill/>
          <a:ln/>
        </p:spPr>
        <p:txBody>
          <a:bodyPr wrap="square" lIns="0" tIns="0" rIns="0" bIns="0" rtlCol="0" anchor="ctr"/>
          <a:lstStyle/>
          <a:p>
            <a:pPr indent="0" marL="0">
              <a:buNone/>
            </a:pPr>
            <a:r>
              <a:rPr lang="en-US" sz="1450" b="1" spc="100" kern="0" dirty="0">
                <a:solidFill>
                  <a:srgbClr val="0C7A70"/>
                </a:solidFill>
                <a:latin typeface="Cambria" pitchFamily="34" charset="0"/>
                <a:ea typeface="Cambria" pitchFamily="34" charset="-122"/>
                <a:cs typeface="Cambria" pitchFamily="34" charset="-120"/>
              </a:rPr>
              <a:t>INDICACIONES VIGENTES</a:t>
            </a:r>
            <a:endParaRPr lang="en-US" sz="1450" dirty="0"/>
          </a:p>
        </p:txBody>
      </p:sp>
      <p:sp>
        <p:nvSpPr>
          <p:cNvPr id="21" name="Text 18"/>
          <p:cNvSpPr/>
          <p:nvPr/>
        </p:nvSpPr>
        <p:spPr>
          <a:xfrm>
            <a:off x="6534760" y="3410712"/>
            <a:ext cx="4852264" cy="329184"/>
          </a:xfrm>
          <a:prstGeom prst="rect">
            <a:avLst/>
          </a:prstGeom>
          <a:noFill/>
          <a:ln/>
        </p:spPr>
        <p:txBody>
          <a:bodyPr wrap="square" lIns="0" tIns="0" rIns="0" bIns="0" rtlCol="0" anchor="ctr"/>
          <a:lstStyle/>
          <a:p>
            <a:pPr indent="0" marL="0">
              <a:buNone/>
            </a:pPr>
            <a:r>
              <a:rPr lang="en-US" sz="1450" b="1" spc="100" kern="0" dirty="0">
                <a:solidFill>
                  <a:srgbClr val="B85C2E"/>
                </a:solidFill>
                <a:latin typeface="Cambria" pitchFamily="34" charset="0"/>
                <a:ea typeface="Cambria" pitchFamily="34" charset="-122"/>
                <a:cs typeface="Cambria" pitchFamily="34" charset="-120"/>
              </a:rPr>
              <a:t>EFECTOS ADVERSOS</a:t>
            </a:r>
            <a:endParaRPr lang="en-US" sz="1450" dirty="0"/>
          </a:p>
        </p:txBody>
      </p:sp>
      <p:sp>
        <p:nvSpPr>
          <p:cNvPr id="22" name="Text 19"/>
          <p:cNvSpPr/>
          <p:nvPr/>
        </p:nvSpPr>
        <p:spPr>
          <a:xfrm>
            <a:off x="804672" y="3849624"/>
            <a:ext cx="4852264" cy="216712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Inducción anestésica estándar (uso histórico y en centros con disponibilidad).</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Protección cerebral en neuroanestesia: reduce la tasa metabólica cerebral de O₂ (CMRO₂).</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Manejo del estatus epiléptico refractario en dosis tituladas.</a:t>
            </a:r>
            <a:endParaRPr lang="en-US" sz="1250" dirty="0"/>
          </a:p>
        </p:txBody>
      </p:sp>
      <p:sp>
        <p:nvSpPr>
          <p:cNvPr id="23" name="Text 20"/>
          <p:cNvSpPr/>
          <p:nvPr/>
        </p:nvSpPr>
        <p:spPr>
          <a:xfrm>
            <a:off x="6534760" y="3849624"/>
            <a:ext cx="4852264" cy="216712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Depresión respiratoria y cardiovascular dosis-dependiente (venodilatación, hipotensión).</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Riesgo de laringoespasmo y broncoespasmo (libera histamina).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Necrosis tisular grave si hay extravasación o inyección intraarterial accidental.</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Contraindicado en porfiria aguda intermitente.</a:t>
            </a:r>
            <a:endParaRPr lang="en-US" sz="1250" dirty="0"/>
          </a:p>
        </p:txBody>
      </p:sp>
      <p:sp>
        <p:nvSpPr>
          <p:cNvPr id="25" name="Text 2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6"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754880"/>
            <a:ext cx="3291840" cy="3291840"/>
          </a:xfrm>
          <a:prstGeom prst="ellipse">
            <a:avLst/>
          </a:prstGeom>
          <a:solidFill>
            <a:srgbClr val="6B4E8E"/>
          </a:solidFill>
          <a:ln/>
        </p:spPr>
      </p:sp>
      <p:sp>
        <p:nvSpPr>
          <p:cNvPr id="4" name="Shape 2"/>
          <p:cNvSpPr/>
          <p:nvPr/>
        </p:nvSpPr>
        <p:spPr>
          <a:xfrm>
            <a:off x="914400" y="1371600"/>
            <a:ext cx="1188720" cy="1188720"/>
          </a:xfrm>
          <a:prstGeom prst="ellipse">
            <a:avLst/>
          </a:prstGeom>
          <a:solidFill>
            <a:srgbClr val="00B4A6"/>
          </a:solidFill>
          <a:ln/>
        </p:spPr>
      </p:sp>
      <p:pic>
        <p:nvPicPr>
          <p:cNvPr id="5" name="Image 0" descr="/tmp/claude-0/-home-user-gpa-academy1/adc6e4aa-3b77-57c1-ba92-a8d4ee625c84/scratchpad/ch5/icons/molecule_white.png">    </p:cNvPr>
          <p:cNvPicPr>
            <a:picLocks noChangeAspect="1"/>
          </p:cNvPicPr>
          <p:nvPr/>
        </p:nvPicPr>
        <p:blipFill>
          <a:blip r:embed="rId1"/>
          <a:stretch>
            <a:fillRect/>
          </a:stretch>
        </p:blipFill>
        <p:spPr>
          <a:xfrm>
            <a:off x="1199693" y="1656893"/>
            <a:ext cx="618134" cy="618134"/>
          </a:xfrm>
          <a:prstGeom prst="rect">
            <a:avLst/>
          </a:prstGeom>
        </p:spPr>
      </p:pic>
      <p:sp>
        <p:nvSpPr>
          <p:cNvPr id="6" name="Text 3"/>
          <p:cNvSpPr/>
          <p:nvPr/>
        </p:nvSpPr>
        <p:spPr>
          <a:xfrm>
            <a:off x="822960" y="2788920"/>
            <a:ext cx="9692640" cy="365760"/>
          </a:xfrm>
          <a:prstGeom prst="rect">
            <a:avLst/>
          </a:prstGeom>
          <a:noFill/>
          <a:ln/>
        </p:spPr>
        <p:txBody>
          <a:bodyPr wrap="square" lIns="0" tIns="0" rIns="0" bIns="0" rtlCol="0" anchor="ctr"/>
          <a:lstStyle/>
          <a:p>
            <a:pPr indent="0" marL="0">
              <a:buNone/>
            </a:pPr>
            <a:r>
              <a:rPr lang="en-US" sz="1500" b="1" spc="300" kern="0" dirty="0">
                <a:solidFill>
                  <a:srgbClr val="00B4A6"/>
                </a:solidFill>
                <a:latin typeface="Calibri" pitchFamily="34" charset="0"/>
                <a:ea typeface="Calibri" pitchFamily="34" charset="-122"/>
                <a:cs typeface="Calibri" pitchFamily="34" charset="-120"/>
              </a:rPr>
              <a:t>SECCIÓN II · KETAMINA</a:t>
            </a:r>
            <a:endParaRPr lang="en-US" sz="1500" dirty="0"/>
          </a:p>
        </p:txBody>
      </p:sp>
      <p:sp>
        <p:nvSpPr>
          <p:cNvPr id="7" name="Text 4"/>
          <p:cNvSpPr/>
          <p:nvPr/>
        </p:nvSpPr>
        <p:spPr>
          <a:xfrm>
            <a:off x="777240" y="3127248"/>
            <a:ext cx="10424160" cy="155448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Ketamina: Antagonismo del Receptor NMDA</a:t>
            </a:r>
            <a:endParaRPr lang="en-US" sz="3200" dirty="0"/>
          </a:p>
        </p:txBody>
      </p:sp>
      <p:sp>
        <p:nvSpPr>
          <p:cNvPr id="8" name="Text 5"/>
          <p:cNvSpPr/>
          <p:nvPr/>
        </p:nvSpPr>
        <p:spPr>
          <a:xfrm>
            <a:off x="822960" y="4892040"/>
            <a:ext cx="9875520" cy="822960"/>
          </a:xfrm>
          <a:prstGeom prst="rect">
            <a:avLst/>
          </a:prstGeom>
          <a:noFill/>
          <a:ln/>
        </p:spPr>
        <p:txBody>
          <a:bodyPr wrap="square" lIns="0" tIns="0" rIns="0" bIns="0" rtlCol="0" anchor="t"/>
          <a:lstStyle/>
          <a:p>
            <a:pPr indent="0" marL="0">
              <a:lnSpc>
                <a:spcPct val="120000"/>
              </a:lnSpc>
              <a:buNone/>
            </a:pPr>
            <a:r>
              <a:rPr lang="en-US" sz="1400" i="1" dirty="0">
                <a:solidFill>
                  <a:srgbClr val="D9CCEE"/>
                </a:solidFill>
                <a:latin typeface="Calibri" pitchFamily="34" charset="0"/>
                <a:ea typeface="Calibri" pitchFamily="34" charset="-122"/>
                <a:cs typeface="Calibri" pitchFamily="34" charset="-120"/>
              </a:rPr>
              <a:t>Un mecanismo único entre los anestésicos endovenosos: bloqueo del receptor N-metil-D-aspartato del glutamato.</a:t>
            </a:r>
            <a:endParaRPr lang="en-US" sz="1400" dirty="0"/>
          </a:p>
        </p:txBody>
      </p:sp>
      <p:sp>
        <p:nvSpPr>
          <p:cNvPr id="9"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KETAMINA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Anestesia Disociativa y Efectos Clínicos Característicos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brain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757477"/>
            <a:ext cx="566928" cy="566928"/>
          </a:xfrm>
          <a:prstGeom prst="ellipse">
            <a:avLst/>
          </a:prstGeom>
          <a:solidFill>
            <a:srgbClr val="2E1A47"/>
          </a:solidFill>
          <a:ln/>
        </p:spPr>
      </p:sp>
      <p:pic>
        <p:nvPicPr>
          <p:cNvPr id="7" name="Image 1" descr="/tmp/claude-0/-home-user-gpa-academy1/adc6e4aa-3b77-57c1-ba92-a8d4ee625c84/scratchpad/ch5/icons/brain_white.png">    </p:cNvPr>
          <p:cNvPicPr>
            <a:picLocks noChangeAspect="1"/>
          </p:cNvPicPr>
          <p:nvPr/>
        </p:nvPicPr>
        <p:blipFill>
          <a:blip r:embed="rId2"/>
          <a:stretch>
            <a:fillRect/>
          </a:stretch>
        </p:blipFill>
        <p:spPr>
          <a:xfrm>
            <a:off x="676199" y="1885036"/>
            <a:ext cx="311810" cy="311810"/>
          </a:xfrm>
          <a:prstGeom prst="rect">
            <a:avLst/>
          </a:prstGeom>
        </p:spPr>
      </p:pic>
      <p:sp>
        <p:nvSpPr>
          <p:cNvPr id="8" name="Text 4"/>
          <p:cNvSpPr/>
          <p:nvPr/>
        </p:nvSpPr>
        <p:spPr>
          <a:xfrm>
            <a:off x="1316736" y="172090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Anestesia disociativa</a:t>
            </a:r>
            <a:endParaRPr lang="en-US" sz="1400" dirty="0"/>
          </a:p>
        </p:txBody>
      </p:sp>
      <p:sp>
        <p:nvSpPr>
          <p:cNvPr id="9" name="Text 5"/>
          <p:cNvSpPr/>
          <p:nvPr/>
        </p:nvSpPr>
        <p:spPr>
          <a:xfrm>
            <a:off x="1316736" y="208666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Interrumpe funcionalmente las vías tálamo-corticales y el sistema límbico, generando un estado cataléptico con ojos entreabiertos, nistagmo y aparente desconexión del entorno, sin pérdida completa de reflejos protectores de la vía aérea.</a:t>
            </a:r>
            <a:endParaRPr lang="en-US" sz="1150" dirty="0"/>
          </a:p>
        </p:txBody>
      </p:sp>
      <p:sp>
        <p:nvSpPr>
          <p:cNvPr id="10" name="Shape 6"/>
          <p:cNvSpPr/>
          <p:nvPr/>
        </p:nvSpPr>
        <p:spPr>
          <a:xfrm>
            <a:off x="548640" y="2675534"/>
            <a:ext cx="566928" cy="566928"/>
          </a:xfrm>
          <a:prstGeom prst="ellipse">
            <a:avLst/>
          </a:prstGeom>
          <a:solidFill>
            <a:srgbClr val="6B4E8E"/>
          </a:solidFill>
          <a:ln/>
        </p:spPr>
      </p:sp>
      <p:pic>
        <p:nvPicPr>
          <p:cNvPr id="11" name="Image 2" descr="/tmp/claude-0/-home-user-gpa-academy1/adc6e4aa-3b77-57c1-ba92-a8d4ee625c84/scratchpad/ch5/icons/heart_white.png">    </p:cNvPr>
          <p:cNvPicPr>
            <a:picLocks noChangeAspect="1"/>
          </p:cNvPicPr>
          <p:nvPr/>
        </p:nvPicPr>
        <p:blipFill>
          <a:blip r:embed="rId3"/>
          <a:stretch>
            <a:fillRect/>
          </a:stretch>
        </p:blipFill>
        <p:spPr>
          <a:xfrm>
            <a:off x="676199" y="2803093"/>
            <a:ext cx="311810" cy="311810"/>
          </a:xfrm>
          <a:prstGeom prst="rect">
            <a:avLst/>
          </a:prstGeom>
        </p:spPr>
      </p:pic>
      <p:sp>
        <p:nvSpPr>
          <p:cNvPr id="12" name="Text 7"/>
          <p:cNvSpPr/>
          <p:nvPr/>
        </p:nvSpPr>
        <p:spPr>
          <a:xfrm>
            <a:off x="1316736" y="2638958"/>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Estimulación simpática</a:t>
            </a:r>
            <a:endParaRPr lang="en-US" sz="1400" dirty="0"/>
          </a:p>
        </p:txBody>
      </p:sp>
      <p:sp>
        <p:nvSpPr>
          <p:cNvPr id="13" name="Text 8"/>
          <p:cNvSpPr/>
          <p:nvPr/>
        </p:nvSpPr>
        <p:spPr>
          <a:xfrm>
            <a:off x="1316736" y="3004718"/>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A diferencia de la mayoría de los hipnóticos, la ketamina aumenta la frecuencia cardíaca, la presión arterial y el gasto cardíaco por liberación de catecolaminas endógenas (efecto simpaticomimético indirecto).</a:t>
            </a:r>
            <a:endParaRPr lang="en-US" sz="1150" dirty="0"/>
          </a:p>
        </p:txBody>
      </p:sp>
      <p:sp>
        <p:nvSpPr>
          <p:cNvPr id="14" name="Shape 9"/>
          <p:cNvSpPr/>
          <p:nvPr/>
        </p:nvSpPr>
        <p:spPr>
          <a:xfrm>
            <a:off x="548640" y="3593592"/>
            <a:ext cx="566928" cy="566928"/>
          </a:xfrm>
          <a:prstGeom prst="ellipse">
            <a:avLst/>
          </a:prstGeom>
          <a:solidFill>
            <a:srgbClr val="2E1A47"/>
          </a:solidFill>
          <a:ln/>
        </p:spPr>
      </p:sp>
      <p:pic>
        <p:nvPicPr>
          <p:cNvPr id="15" name="Image 3" descr="/tmp/claude-0/-home-user-gpa-academy1/adc6e4aa-3b77-57c1-ba92-a8d4ee625c84/scratchpad/ch5/icons/lungs_white.png">    </p:cNvPr>
          <p:cNvPicPr>
            <a:picLocks noChangeAspect="1"/>
          </p:cNvPicPr>
          <p:nvPr/>
        </p:nvPicPr>
        <p:blipFill>
          <a:blip r:embed="rId4"/>
          <a:stretch>
            <a:fillRect/>
          </a:stretch>
        </p:blipFill>
        <p:spPr>
          <a:xfrm>
            <a:off x="676199" y="3721151"/>
            <a:ext cx="311810" cy="311810"/>
          </a:xfrm>
          <a:prstGeom prst="rect">
            <a:avLst/>
          </a:prstGeom>
        </p:spPr>
      </p:pic>
      <p:sp>
        <p:nvSpPr>
          <p:cNvPr id="16" name="Text 10"/>
          <p:cNvSpPr/>
          <p:nvPr/>
        </p:nvSpPr>
        <p:spPr>
          <a:xfrm>
            <a:off x="1316736" y="3557016"/>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Broncodilatación</a:t>
            </a:r>
            <a:endParaRPr lang="en-US" sz="1400" dirty="0"/>
          </a:p>
        </p:txBody>
      </p:sp>
      <p:sp>
        <p:nvSpPr>
          <p:cNvPr id="17" name="Text 11"/>
          <p:cNvSpPr/>
          <p:nvPr/>
        </p:nvSpPr>
        <p:spPr>
          <a:xfrm>
            <a:off x="1316736" y="3922776"/>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Relaja el músculo liso bronquial, siendo útil en pacientes asmáticos o con broncoespasmo activo.</a:t>
            </a:r>
            <a:endParaRPr lang="en-US" sz="1150" dirty="0"/>
          </a:p>
        </p:txBody>
      </p:sp>
      <p:sp>
        <p:nvSpPr>
          <p:cNvPr id="18" name="Shape 12"/>
          <p:cNvSpPr/>
          <p:nvPr/>
        </p:nvSpPr>
        <p:spPr>
          <a:xfrm>
            <a:off x="548640" y="4511650"/>
            <a:ext cx="566928" cy="566928"/>
          </a:xfrm>
          <a:prstGeom prst="ellipse">
            <a:avLst/>
          </a:prstGeom>
          <a:solidFill>
            <a:srgbClr val="6B4E8E"/>
          </a:solidFill>
          <a:ln/>
        </p:spPr>
      </p:sp>
      <p:pic>
        <p:nvPicPr>
          <p:cNvPr id="19" name="Image 4" descr="/tmp/claude-0/-home-user-gpa-academy1/adc6e4aa-3b77-57c1-ba92-a8d4ee625c84/scratchpad/ch5/icons/vial_white.png">    </p:cNvPr>
          <p:cNvPicPr>
            <a:picLocks noChangeAspect="1"/>
          </p:cNvPicPr>
          <p:nvPr/>
        </p:nvPicPr>
        <p:blipFill>
          <a:blip r:embed="rId5"/>
          <a:stretch>
            <a:fillRect/>
          </a:stretch>
        </p:blipFill>
        <p:spPr>
          <a:xfrm>
            <a:off x="676199" y="4639208"/>
            <a:ext cx="311810" cy="311810"/>
          </a:xfrm>
          <a:prstGeom prst="rect">
            <a:avLst/>
          </a:prstGeom>
        </p:spPr>
      </p:pic>
      <p:sp>
        <p:nvSpPr>
          <p:cNvPr id="20" name="Text 13"/>
          <p:cNvSpPr/>
          <p:nvPr/>
        </p:nvSpPr>
        <p:spPr>
          <a:xfrm>
            <a:off x="1316736" y="4475074"/>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Analgesia potente</a:t>
            </a:r>
            <a:endParaRPr lang="en-US" sz="1400" dirty="0"/>
          </a:p>
        </p:txBody>
      </p:sp>
      <p:sp>
        <p:nvSpPr>
          <p:cNvPr id="21" name="Text 14"/>
          <p:cNvSpPr/>
          <p:nvPr/>
        </p:nvSpPr>
        <p:spPr>
          <a:xfrm>
            <a:off x="1316736" y="4840834"/>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A dosis subanestésicas produce analgesia somática significativa, propiedad aprovechada en esquemas de analgesia multimodal.</a:t>
            </a:r>
            <a:endParaRPr lang="en-US" sz="1150" dirty="0"/>
          </a:p>
        </p:txBody>
      </p:sp>
      <p:sp>
        <p:nvSpPr>
          <p:cNvPr id="22" name="Shape 15"/>
          <p:cNvSpPr/>
          <p:nvPr/>
        </p:nvSpPr>
        <p:spPr>
          <a:xfrm>
            <a:off x="548640" y="5429707"/>
            <a:ext cx="566928" cy="566928"/>
          </a:xfrm>
          <a:prstGeom prst="ellipse">
            <a:avLst/>
          </a:prstGeom>
          <a:solidFill>
            <a:srgbClr val="2E1A47"/>
          </a:solidFill>
          <a:ln/>
        </p:spPr>
      </p:sp>
      <p:pic>
        <p:nvPicPr>
          <p:cNvPr id="23" name="Image 5" descr="/tmp/claude-0/-home-user-gpa-academy1/adc6e4aa-3b77-57c1-ba92-a8d4ee625c84/scratchpad/ch5/icons/checklist_white.png">    </p:cNvPr>
          <p:cNvPicPr>
            <a:picLocks noChangeAspect="1"/>
          </p:cNvPicPr>
          <p:nvPr/>
        </p:nvPicPr>
        <p:blipFill>
          <a:blip r:embed="rId6"/>
          <a:stretch>
            <a:fillRect/>
          </a:stretch>
        </p:blipFill>
        <p:spPr>
          <a:xfrm>
            <a:off x="676199" y="5557266"/>
            <a:ext cx="311810" cy="311810"/>
          </a:xfrm>
          <a:prstGeom prst="rect">
            <a:avLst/>
          </a:prstGeom>
        </p:spPr>
      </p:pic>
      <p:sp>
        <p:nvSpPr>
          <p:cNvPr id="24" name="Text 16"/>
          <p:cNvSpPr/>
          <p:nvPr/>
        </p:nvSpPr>
        <p:spPr>
          <a:xfrm>
            <a:off x="1316736" y="539313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Preservación de reflejos</a:t>
            </a:r>
            <a:endParaRPr lang="en-US" sz="1400" dirty="0"/>
          </a:p>
        </p:txBody>
      </p:sp>
      <p:sp>
        <p:nvSpPr>
          <p:cNvPr id="25" name="Text 17"/>
          <p:cNvSpPr/>
          <p:nvPr/>
        </p:nvSpPr>
        <p:spPr>
          <a:xfrm>
            <a:off x="1316736" y="575889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Mantiene relativamente los reflejos laríngeos y el tono muscular, aunque no debe considerarse protección completa de la vía aérea.</a:t>
            </a:r>
            <a:endParaRPr lang="en-US" sz="1150" dirty="0"/>
          </a:p>
        </p:txBody>
      </p:sp>
      <p:sp>
        <p:nvSpPr>
          <p:cNvPr id="27" name="Text 18"/>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8"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KETAMINA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Indicaciones Especiales y Efectos Adversos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procedures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userinjured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warning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Indicaciones especiales</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Efectos adversos</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Trauma e inestabilidad hemodinámica: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de elección en pacientes hipovolémicos o en shock, por su efecto simpaticomimético relativamente protector.</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Anestesia pediátrica: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útil para inducción intramuscular en niños sin acceso venoso y en procedimientos breves.</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Pacientes asmáticos: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agente de elección en broncoespasmo activo por su efecto broncodilatador.</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Analgesia en zonas de escasos recursos: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ampliamente usada en medicina de desastres y entornos austeros por su seguridad relativa sin equipo avanzado.</a:t>
            </a:r>
            <a:endParaRPr lang="en-US" sz="120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Emergencia psicomimética: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alucinaciones, delirio y sueños vívidos al despertar; más frecuente en adultos y se atenúa premedicando con benzodiacepinas.</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Sialorrea: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aumenta las secreciones salivales y bronquiales; se recomienda coadministrar un antisialogogo (atropina o glicopirrolato).</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Aumento de la presión intracraneal: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clásicamente contraindicada en hipertensión endocraneana, aunque evidencia reciente relativiza este riesgo bajo ventilación controlada.</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Nistagmo y movimientos tónico-clónicos: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pueden simular actividad convulsiva sin serlo.</a:t>
            </a:r>
            <a:endParaRPr lang="en-US" sz="120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754880"/>
            <a:ext cx="3291840" cy="3291840"/>
          </a:xfrm>
          <a:prstGeom prst="ellipse">
            <a:avLst/>
          </a:prstGeom>
          <a:solidFill>
            <a:srgbClr val="6B4E8E"/>
          </a:solidFill>
          <a:ln/>
        </p:spPr>
      </p:sp>
      <p:sp>
        <p:nvSpPr>
          <p:cNvPr id="4" name="Shape 2"/>
          <p:cNvSpPr/>
          <p:nvPr/>
        </p:nvSpPr>
        <p:spPr>
          <a:xfrm>
            <a:off x="914400" y="1371600"/>
            <a:ext cx="1188720" cy="1188720"/>
          </a:xfrm>
          <a:prstGeom prst="ellipse">
            <a:avLst/>
          </a:prstGeom>
          <a:solidFill>
            <a:srgbClr val="00B4A6"/>
          </a:solidFill>
          <a:ln/>
        </p:spPr>
      </p:sp>
      <p:pic>
        <p:nvPicPr>
          <p:cNvPr id="5" name="Image 0" descr="/tmp/claude-0/-home-user-gpa-academy1/adc6e4aa-3b77-57c1-ba92-a8d4ee625c84/scratchpad/ch5/icons/drop_white.png">    </p:cNvPr>
          <p:cNvPicPr>
            <a:picLocks noChangeAspect="1"/>
          </p:cNvPicPr>
          <p:nvPr/>
        </p:nvPicPr>
        <p:blipFill>
          <a:blip r:embed="rId1"/>
          <a:stretch>
            <a:fillRect/>
          </a:stretch>
        </p:blipFill>
        <p:spPr>
          <a:xfrm>
            <a:off x="1199693" y="1656893"/>
            <a:ext cx="618134" cy="618134"/>
          </a:xfrm>
          <a:prstGeom prst="rect">
            <a:avLst/>
          </a:prstGeom>
        </p:spPr>
      </p:pic>
      <p:sp>
        <p:nvSpPr>
          <p:cNvPr id="6" name="Text 3"/>
          <p:cNvSpPr/>
          <p:nvPr/>
        </p:nvSpPr>
        <p:spPr>
          <a:xfrm>
            <a:off x="822960" y="2788920"/>
            <a:ext cx="9692640" cy="365760"/>
          </a:xfrm>
          <a:prstGeom prst="rect">
            <a:avLst/>
          </a:prstGeom>
          <a:noFill/>
          <a:ln/>
        </p:spPr>
        <p:txBody>
          <a:bodyPr wrap="square" lIns="0" tIns="0" rIns="0" bIns="0" rtlCol="0" anchor="ctr"/>
          <a:lstStyle/>
          <a:p>
            <a:pPr indent="0" marL="0">
              <a:buNone/>
            </a:pPr>
            <a:r>
              <a:rPr lang="en-US" sz="1500" b="1" spc="300" kern="0" dirty="0">
                <a:solidFill>
                  <a:srgbClr val="00B4A6"/>
                </a:solidFill>
                <a:latin typeface="Calibri" pitchFamily="34" charset="0"/>
                <a:ea typeface="Calibri" pitchFamily="34" charset="-122"/>
                <a:cs typeface="Calibri" pitchFamily="34" charset="-120"/>
              </a:rPr>
              <a:t>SECCIÓN III · PROPOFOL</a:t>
            </a:r>
            <a:endParaRPr lang="en-US" sz="1500" dirty="0"/>
          </a:p>
        </p:txBody>
      </p:sp>
      <p:sp>
        <p:nvSpPr>
          <p:cNvPr id="7" name="Text 4"/>
          <p:cNvSpPr/>
          <p:nvPr/>
        </p:nvSpPr>
        <p:spPr>
          <a:xfrm>
            <a:off x="777240" y="3127248"/>
            <a:ext cx="10424160" cy="155448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Propofol: El Estándar Contemporáneo</a:t>
            </a:r>
            <a:endParaRPr lang="en-US" sz="3200" dirty="0"/>
          </a:p>
        </p:txBody>
      </p:sp>
      <p:sp>
        <p:nvSpPr>
          <p:cNvPr id="8" name="Text 5"/>
          <p:cNvSpPr/>
          <p:nvPr/>
        </p:nvSpPr>
        <p:spPr>
          <a:xfrm>
            <a:off x="822960" y="4892040"/>
            <a:ext cx="9875520" cy="822960"/>
          </a:xfrm>
          <a:prstGeom prst="rect">
            <a:avLst/>
          </a:prstGeom>
          <a:noFill/>
          <a:ln/>
        </p:spPr>
        <p:txBody>
          <a:bodyPr wrap="square" lIns="0" tIns="0" rIns="0" bIns="0" rtlCol="0" anchor="t"/>
          <a:lstStyle/>
          <a:p>
            <a:pPr indent="0" marL="0">
              <a:lnSpc>
                <a:spcPct val="120000"/>
              </a:lnSpc>
              <a:buNone/>
            </a:pPr>
            <a:r>
              <a:rPr lang="en-US" sz="1400" i="1" dirty="0">
                <a:solidFill>
                  <a:srgbClr val="D9CCEE"/>
                </a:solidFill>
                <a:latin typeface="Calibri" pitchFamily="34" charset="0"/>
                <a:ea typeface="Calibri" pitchFamily="34" charset="-122"/>
                <a:cs typeface="Calibri" pitchFamily="34" charset="-120"/>
              </a:rPr>
              <a:t>Diisopropilfenol formulado en emulsión lipídica; agonista GABA-A que redefinió la inducción y el mantenimiento endovenoso.</a:t>
            </a:r>
            <a:endParaRPr lang="en-US" sz="1400" dirty="0"/>
          </a:p>
        </p:txBody>
      </p:sp>
      <p:sp>
        <p:nvSpPr>
          <p:cNvPr id="9"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PROPOFOL</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Farmacocinética y Dosificación (Inducción y TIVA)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stopwatch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2567864" cy="1417320"/>
          </a:xfrm>
          <a:prstGeom prst="roundRect">
            <a:avLst>
              <a:gd name="adj" fmla="val 5806"/>
            </a:avLst>
          </a:prstGeom>
          <a:solidFill>
            <a:srgbClr val="2E1A47"/>
          </a:solidFill>
          <a:ln/>
        </p:spPr>
      </p:sp>
      <p:sp>
        <p:nvSpPr>
          <p:cNvPr id="7" name="Text 4"/>
          <p:cNvSpPr/>
          <p:nvPr/>
        </p:nvSpPr>
        <p:spPr>
          <a:xfrm>
            <a:off x="658368"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1.5–2.5</a:t>
            </a:r>
            <a:endParaRPr lang="en-US" sz="2700" dirty="0"/>
          </a:p>
        </p:txBody>
      </p:sp>
      <p:sp>
        <p:nvSpPr>
          <p:cNvPr id="8" name="Text 5"/>
          <p:cNvSpPr/>
          <p:nvPr/>
        </p:nvSpPr>
        <p:spPr>
          <a:xfrm>
            <a:off x="658368"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mg/kg IV</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Dosis de inducción</a:t>
            </a:r>
            <a:endParaRPr lang="en-US" sz="1050" dirty="0"/>
          </a:p>
        </p:txBody>
      </p:sp>
      <p:sp>
        <p:nvSpPr>
          <p:cNvPr id="9" name="Shape 6"/>
          <p:cNvSpPr/>
          <p:nvPr/>
        </p:nvSpPr>
        <p:spPr>
          <a:xfrm>
            <a:off x="3390824" y="1627632"/>
            <a:ext cx="2567864" cy="1417320"/>
          </a:xfrm>
          <a:prstGeom prst="roundRect">
            <a:avLst>
              <a:gd name="adj" fmla="val 5806"/>
            </a:avLst>
          </a:prstGeom>
          <a:solidFill>
            <a:srgbClr val="2E1A47"/>
          </a:solidFill>
          <a:ln/>
        </p:spPr>
      </p:sp>
      <p:sp>
        <p:nvSpPr>
          <p:cNvPr id="10" name="Text 7"/>
          <p:cNvSpPr/>
          <p:nvPr/>
        </p:nvSpPr>
        <p:spPr>
          <a:xfrm>
            <a:off x="3500552"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25–75</a:t>
            </a:r>
            <a:endParaRPr lang="en-US" sz="2700" dirty="0"/>
          </a:p>
        </p:txBody>
      </p:sp>
      <p:sp>
        <p:nvSpPr>
          <p:cNvPr id="11" name="Text 8"/>
          <p:cNvSpPr/>
          <p:nvPr/>
        </p:nvSpPr>
        <p:spPr>
          <a:xfrm>
            <a:off x="3500552"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µg/kg/min</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Mantenimiento (TIVA)</a:t>
            </a:r>
            <a:endParaRPr lang="en-US" sz="1050" dirty="0"/>
          </a:p>
        </p:txBody>
      </p:sp>
      <p:sp>
        <p:nvSpPr>
          <p:cNvPr id="12" name="Shape 9"/>
          <p:cNvSpPr/>
          <p:nvPr/>
        </p:nvSpPr>
        <p:spPr>
          <a:xfrm>
            <a:off x="6233008" y="1627632"/>
            <a:ext cx="2567864" cy="1417320"/>
          </a:xfrm>
          <a:prstGeom prst="roundRect">
            <a:avLst>
              <a:gd name="adj" fmla="val 5806"/>
            </a:avLst>
          </a:prstGeom>
          <a:solidFill>
            <a:srgbClr val="2E1A47"/>
          </a:solidFill>
          <a:ln/>
        </p:spPr>
      </p:sp>
      <p:sp>
        <p:nvSpPr>
          <p:cNvPr id="13" name="Text 10"/>
          <p:cNvSpPr/>
          <p:nvPr/>
        </p:nvSpPr>
        <p:spPr>
          <a:xfrm>
            <a:off x="6342736"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&lt;40s</a:t>
            </a:r>
            <a:endParaRPr lang="en-US" sz="2700" dirty="0"/>
          </a:p>
        </p:txBody>
      </p:sp>
      <p:sp>
        <p:nvSpPr>
          <p:cNvPr id="14" name="Text 11"/>
          <p:cNvSpPr/>
          <p:nvPr/>
        </p:nvSpPr>
        <p:spPr>
          <a:xfrm>
            <a:off x="6342736"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Inicio de acción</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tras bolo endovenoso</a:t>
            </a:r>
            <a:endParaRPr lang="en-US" sz="1050" dirty="0"/>
          </a:p>
        </p:txBody>
      </p:sp>
      <p:sp>
        <p:nvSpPr>
          <p:cNvPr id="15" name="Shape 12"/>
          <p:cNvSpPr/>
          <p:nvPr/>
        </p:nvSpPr>
        <p:spPr>
          <a:xfrm>
            <a:off x="9075191" y="1627632"/>
            <a:ext cx="2567864" cy="1417320"/>
          </a:xfrm>
          <a:prstGeom prst="roundRect">
            <a:avLst>
              <a:gd name="adj" fmla="val 5806"/>
            </a:avLst>
          </a:prstGeom>
          <a:solidFill>
            <a:srgbClr val="2E1A47"/>
          </a:solidFill>
          <a:ln/>
        </p:spPr>
      </p:sp>
      <p:sp>
        <p:nvSpPr>
          <p:cNvPr id="16" name="Text 13"/>
          <p:cNvSpPr/>
          <p:nvPr/>
        </p:nvSpPr>
        <p:spPr>
          <a:xfrm>
            <a:off x="9184919"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3–8min</a:t>
            </a:r>
            <a:endParaRPr lang="en-US" sz="2700" dirty="0"/>
          </a:p>
        </p:txBody>
      </p:sp>
      <p:sp>
        <p:nvSpPr>
          <p:cNvPr id="17" name="Text 14"/>
          <p:cNvSpPr/>
          <p:nvPr/>
        </p:nvSpPr>
        <p:spPr>
          <a:xfrm>
            <a:off x="9184919"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Duración tras</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dosis única</a:t>
            </a:r>
            <a:endParaRPr lang="en-US" sz="1050" dirty="0"/>
          </a:p>
        </p:txBody>
      </p:sp>
      <p:sp>
        <p:nvSpPr>
          <p:cNvPr id="18" name="Text 15"/>
          <p:cNvSpPr/>
          <p:nvPr/>
        </p:nvSpPr>
        <p:spPr>
          <a:xfrm>
            <a:off x="548640" y="3227832"/>
            <a:ext cx="11094415" cy="2990088"/>
          </a:xfrm>
          <a:prstGeom prst="rect">
            <a:avLst/>
          </a:prstGeom>
          <a:noFill/>
          <a:ln/>
        </p:spPr>
        <p:txBody>
          <a:bodyPr wrap="square" lIns="0" tIns="0" rIns="0" bIns="0" rtlCol="0" anchor="t"/>
          <a:lstStyle/>
          <a:p>
            <a:pPr marL="342900" indent="-342900">
              <a:lnSpc>
                <a:spcPct val="114000"/>
              </a:lnSpc>
              <a:buSzPct val="100000"/>
              <a:buChar char="▪"/>
            </a:pPr>
            <a:r>
              <a:rPr lang="en-US" sz="1300" b="1" dirty="0">
                <a:solidFill>
                  <a:srgbClr val="2E1A47"/>
                </a:solidFill>
                <a:latin typeface="Calibri" pitchFamily="34" charset="0"/>
                <a:ea typeface="Calibri" pitchFamily="34" charset="-122"/>
                <a:cs typeface="Calibri" pitchFamily="34" charset="-120"/>
              </a:rPr>
              <a:t>Alta liposolubilidad:  </a:t>
            </a:r>
            <a:pPr indent="0" marL="0">
              <a:lnSpc>
                <a:spcPct val="114000"/>
              </a:lnSpc>
              <a:spcAft>
                <a:spcPts val="1000"/>
              </a:spcAft>
              <a:buNone/>
            </a:pPr>
            <a:r>
              <a:rPr lang="en-US" sz="1300" dirty="0">
                <a:solidFill>
                  <a:srgbClr val="3A2C52"/>
                </a:solidFill>
                <a:latin typeface="Calibri" pitchFamily="34" charset="0"/>
                <a:ea typeface="Calibri" pitchFamily="34" charset="-122"/>
                <a:cs typeface="Calibri" pitchFamily="34" charset="-120"/>
              </a:rPr>
              <a:t>distribución y redistribución muy rápidas hacia el SNC y de regreso a tejidos periféricos, con despertar clínico ágil.</a:t>
            </a:r>
            <a:endParaRPr lang="en-US" sz="1300" dirty="0"/>
          </a:p>
          <a:p>
            <a:pPr marL="342900" indent="-342900">
              <a:lnSpc>
                <a:spcPct val="114000"/>
              </a:lnSpc>
              <a:buSzPct val="100000"/>
              <a:buChar char="▪"/>
            </a:pPr>
            <a:r>
              <a:rPr lang="en-US" sz="1300" b="1" dirty="0">
                <a:solidFill>
                  <a:srgbClr val="2E1A47"/>
                </a:solidFill>
                <a:latin typeface="Calibri" pitchFamily="34" charset="0"/>
                <a:ea typeface="Calibri" pitchFamily="34" charset="-122"/>
                <a:cs typeface="Calibri" pitchFamily="34" charset="-120"/>
              </a:rPr>
              <a:t>Aclaramiento elevado:  </a:t>
            </a:r>
            <a:pPr indent="0" marL="0">
              <a:lnSpc>
                <a:spcPct val="114000"/>
              </a:lnSpc>
              <a:spcAft>
                <a:spcPts val="1000"/>
              </a:spcAft>
              <a:buNone/>
            </a:pPr>
            <a:r>
              <a:rPr lang="en-US" sz="1300" dirty="0">
                <a:solidFill>
                  <a:srgbClr val="3A2C52"/>
                </a:solidFill>
                <a:latin typeface="Calibri" pitchFamily="34" charset="0"/>
                <a:ea typeface="Calibri" pitchFamily="34" charset="-122"/>
                <a:cs typeface="Calibri" pitchFamily="34" charset="-120"/>
              </a:rPr>
              <a:t>metabolismo hepático (glucuronidación y sulfatación) y aclaramiento extrahepático (pulmonar), superando el flujo sanguíneo hepático teórico.</a:t>
            </a:r>
            <a:endParaRPr lang="en-US" sz="1300" dirty="0"/>
          </a:p>
          <a:p>
            <a:pPr marL="342900" indent="-342900">
              <a:lnSpc>
                <a:spcPct val="114000"/>
              </a:lnSpc>
              <a:buSzPct val="100000"/>
              <a:buChar char="▪"/>
            </a:pPr>
            <a:r>
              <a:rPr lang="en-US" sz="1300" b="1" dirty="0">
                <a:solidFill>
                  <a:srgbClr val="2E1A47"/>
                </a:solidFill>
                <a:latin typeface="Calibri" pitchFamily="34" charset="0"/>
                <a:ea typeface="Calibri" pitchFamily="34" charset="-122"/>
                <a:cs typeface="Calibri" pitchFamily="34" charset="-120"/>
              </a:rPr>
              <a:t>Vida media contexto-sensible favorable:  </a:t>
            </a:r>
            <a:pPr indent="0" marL="0">
              <a:lnSpc>
                <a:spcPct val="114000"/>
              </a:lnSpc>
              <a:spcAft>
                <a:spcPts val="1000"/>
              </a:spcAft>
              <a:buNone/>
            </a:pPr>
            <a:r>
              <a:rPr lang="en-US" sz="1300" dirty="0">
                <a:solidFill>
                  <a:srgbClr val="3A2C52"/>
                </a:solidFill>
                <a:latin typeface="Calibri" pitchFamily="34" charset="0"/>
                <a:ea typeface="Calibri" pitchFamily="34" charset="-122"/>
                <a:cs typeface="Calibri" pitchFamily="34" charset="-120"/>
              </a:rPr>
              <a:t>se mantiene relativamente corta incluso tras infusiones prolongadas, a diferencia de los barbitúricos.</a:t>
            </a:r>
            <a:endParaRPr lang="en-US" sz="1300" dirty="0"/>
          </a:p>
          <a:p>
            <a:pPr marL="342900" indent="-342900">
              <a:lnSpc>
                <a:spcPct val="114000"/>
              </a:lnSpc>
              <a:buSzPct val="100000"/>
              <a:buChar char="▪"/>
            </a:pPr>
            <a:r>
              <a:rPr lang="en-US" sz="1300" b="1" dirty="0">
                <a:solidFill>
                  <a:srgbClr val="2E1A47"/>
                </a:solidFill>
                <a:latin typeface="Calibri" pitchFamily="34" charset="0"/>
                <a:ea typeface="Calibri" pitchFamily="34" charset="-122"/>
                <a:cs typeface="Calibri" pitchFamily="34" charset="-120"/>
              </a:rPr>
              <a:t>Modelos de infusión controlada por objetivo (TCI):  </a:t>
            </a:r>
            <a:pPr indent="0" marL="0">
              <a:lnSpc>
                <a:spcPct val="114000"/>
              </a:lnSpc>
              <a:spcAft>
                <a:spcPts val="1000"/>
              </a:spcAft>
              <a:buNone/>
            </a:pPr>
            <a:r>
              <a:rPr lang="en-US" sz="1300" dirty="0">
                <a:solidFill>
                  <a:srgbClr val="3A2C52"/>
                </a:solidFill>
                <a:latin typeface="Calibri" pitchFamily="34" charset="0"/>
                <a:ea typeface="Calibri" pitchFamily="34" charset="-122"/>
                <a:cs typeface="Calibri" pitchFamily="34" charset="-120"/>
              </a:rPr>
              <a:t>esquemas como Marsh y Schnider permiten titular la concentración plasmática o de efecto de forma predecible.</a:t>
            </a:r>
            <a:endParaRPr lang="en-US" sz="1300" dirty="0"/>
          </a:p>
        </p:txBody>
      </p:sp>
      <p:sp>
        <p:nvSpPr>
          <p:cNvPr id="20" name="Text 1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1"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PROPOFOL</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Ventajas Clínicas y Efectos Adversos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checklist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E4F6F3"/>
          </a:solidFill>
          <a:ln/>
        </p:spPr>
      </p:sp>
      <p:sp>
        <p:nvSpPr>
          <p:cNvPr id="7" name="Shape 4"/>
          <p:cNvSpPr/>
          <p:nvPr/>
        </p:nvSpPr>
        <p:spPr>
          <a:xfrm>
            <a:off x="6278728" y="1627632"/>
            <a:ext cx="5364328" cy="4590288"/>
          </a:xfrm>
          <a:prstGeom prst="roundRect">
            <a:avLst>
              <a:gd name="adj" fmla="val 1793"/>
            </a:avLst>
          </a:prstGeom>
          <a:solidFill>
            <a:srgbClr val="FBEFE9"/>
          </a:solidFill>
          <a:ln/>
        </p:spPr>
      </p:sp>
      <p:sp>
        <p:nvSpPr>
          <p:cNvPr id="8" name="Text 5"/>
          <p:cNvSpPr/>
          <p:nvPr/>
        </p:nvSpPr>
        <p:spPr>
          <a:xfrm>
            <a:off x="804672" y="1810512"/>
            <a:ext cx="4852264" cy="329184"/>
          </a:xfrm>
          <a:prstGeom prst="rect">
            <a:avLst/>
          </a:prstGeom>
          <a:noFill/>
          <a:ln/>
        </p:spPr>
        <p:txBody>
          <a:bodyPr wrap="square" lIns="0" tIns="0" rIns="0" bIns="0" rtlCol="0" anchor="ctr"/>
          <a:lstStyle/>
          <a:p>
            <a:pPr indent="0" marL="0">
              <a:buNone/>
            </a:pPr>
            <a:r>
              <a:rPr lang="en-US" sz="1450" b="1" spc="100" kern="0" dirty="0">
                <a:solidFill>
                  <a:srgbClr val="0C7A70"/>
                </a:solidFill>
                <a:latin typeface="Cambria" pitchFamily="34" charset="0"/>
                <a:ea typeface="Cambria" pitchFamily="34" charset="-122"/>
                <a:cs typeface="Cambria" pitchFamily="34" charset="-120"/>
              </a:rPr>
              <a:t>VENTAJAS CLÍNICAS</a:t>
            </a:r>
            <a:endParaRPr lang="en-US" sz="1450" dirty="0"/>
          </a:p>
        </p:txBody>
      </p:sp>
      <p:sp>
        <p:nvSpPr>
          <p:cNvPr id="9" name="Text 6"/>
          <p:cNvSpPr/>
          <p:nvPr/>
        </p:nvSpPr>
        <p:spPr>
          <a:xfrm>
            <a:off x="6534760" y="1810512"/>
            <a:ext cx="4852264" cy="329184"/>
          </a:xfrm>
          <a:prstGeom prst="rect">
            <a:avLst/>
          </a:prstGeom>
          <a:noFill/>
          <a:ln/>
        </p:spPr>
        <p:txBody>
          <a:bodyPr wrap="square" lIns="0" tIns="0" rIns="0" bIns="0" rtlCol="0" anchor="ctr"/>
          <a:lstStyle/>
          <a:p>
            <a:pPr indent="0" marL="0">
              <a:buNone/>
            </a:pPr>
            <a:r>
              <a:rPr lang="en-US" sz="1450" b="1" spc="100" kern="0" dirty="0">
                <a:solidFill>
                  <a:srgbClr val="B85C2E"/>
                </a:solidFill>
                <a:latin typeface="Cambria" pitchFamily="34" charset="0"/>
                <a:ea typeface="Cambria" pitchFamily="34" charset="-122"/>
                <a:cs typeface="Cambria" pitchFamily="34" charset="-120"/>
              </a:rPr>
              <a:t>EFECTOS ADVERSOS</a:t>
            </a:r>
            <a:endParaRPr lang="en-US" sz="1450" dirty="0"/>
          </a:p>
        </p:txBody>
      </p:sp>
      <p:sp>
        <p:nvSpPr>
          <p:cNvPr id="10" name="Text 7"/>
          <p:cNvSpPr/>
          <p:nvPr/>
        </p:nvSpPr>
        <p:spPr>
          <a:xfrm>
            <a:off x="804672" y="2249424"/>
            <a:ext cx="4852264" cy="376732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Despertar rápido y de buena calidad, con mínima resaca psicomotora residual.</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Efecto antiemético intrínseco: reduce significativamente la incidencia de náusea y vómito postoperatorio.</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Reduce la presión intracraneal y el CMRO₂, útil en neuroanestesia.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Deprime los reflejos de la vía aérea, facilitando el manejo con dispositivos supraglóticos.</a:t>
            </a:r>
            <a:endParaRPr lang="en-US" sz="1250" dirty="0"/>
          </a:p>
        </p:txBody>
      </p:sp>
      <p:sp>
        <p:nvSpPr>
          <p:cNvPr id="11" name="Text 8"/>
          <p:cNvSpPr/>
          <p:nvPr/>
        </p:nvSpPr>
        <p:spPr>
          <a:xfrm>
            <a:off x="6534760" y="2249424"/>
            <a:ext cx="4852264" cy="376732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Dolor intenso a la inyección, atenuable con lidocaína previa o mezclada en la jeringa.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Hipotensión arterial marcada por vasodilatación y depresión miocárdica leve, especialmente en hipovolemia.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Depresión respiratoria dosis-dependiente, incluyendo apnea transitoria tras la inducción.</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Síndrome de infusión de propofol (PRIS): rabdomiólisis, acidosis metabólica, falla cardíaca e hiperkalemia con infusiones prolongadas a altas dosis.</a:t>
            </a:r>
            <a:endParaRPr lang="en-US" sz="1250" dirty="0"/>
          </a:p>
        </p:txBody>
      </p:sp>
      <p:sp>
        <p:nvSpPr>
          <p:cNvPr id="13" name="Text 9"/>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4" name="Text 1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ETOMIDATO</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Mecanismo de Acción y Estabilidad Hemodinámica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heart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brain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monitorheart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Mecanismo de acción</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Estabilidad hemodinámica</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Derivado imidazólico carboxilado que potencia la neurotransmisión GABAérgica, uniéndose selectivamente a la subunidad beta del receptor GABA-A.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Produce hipnosis rápida sin acción analgésica significativa.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Escaso efecto sobre el tono simpático o los barorreceptores.</a:t>
            </a:r>
            <a:endParaRPr lang="en-US" sz="125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Mínima depresión cardiovascular: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preserva el gasto cardíaco, la frecuencia cardíaca y la presión arterial incluso en pacientes con reserva cardíaca limitada.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Indicación preferente: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inducción en pacientes con cardiopatía grave, hipovolemia o inestabilidad hemodinámica en quienes otros hipnóticos serían riesgosos.</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Efecto sobre CMRO₂: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reduce el metabolismo cerebral y mantiene la presión de perfusión cerebral, útil en neuroanestesia con inestabilidad asociada.</a:t>
            </a:r>
            <a:endParaRPr lang="en-US" sz="125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ETOMIDATO</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Indicaciones y Efectos Adversos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warning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3515258" cy="1371600"/>
          </a:xfrm>
          <a:prstGeom prst="roundRect">
            <a:avLst>
              <a:gd name="adj" fmla="val 6000"/>
            </a:avLst>
          </a:prstGeom>
          <a:solidFill>
            <a:srgbClr val="2E1A47"/>
          </a:solidFill>
          <a:ln/>
        </p:spPr>
      </p:sp>
      <p:sp>
        <p:nvSpPr>
          <p:cNvPr id="7" name="Text 4"/>
          <p:cNvSpPr/>
          <p:nvPr/>
        </p:nvSpPr>
        <p:spPr>
          <a:xfrm>
            <a:off x="658368" y="1773936"/>
            <a:ext cx="3295802" cy="713232"/>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0.2–0.3</a:t>
            </a:r>
            <a:endParaRPr lang="en-US" sz="2700" dirty="0"/>
          </a:p>
        </p:txBody>
      </p:sp>
      <p:sp>
        <p:nvSpPr>
          <p:cNvPr id="8" name="Text 5"/>
          <p:cNvSpPr/>
          <p:nvPr/>
        </p:nvSpPr>
        <p:spPr>
          <a:xfrm>
            <a:off x="658368" y="2450592"/>
            <a:ext cx="3295802" cy="507492"/>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mg/kg IV</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Dosis de inducción</a:t>
            </a:r>
            <a:endParaRPr lang="en-US" sz="1050" dirty="0"/>
          </a:p>
        </p:txBody>
      </p:sp>
      <p:sp>
        <p:nvSpPr>
          <p:cNvPr id="9" name="Shape 6"/>
          <p:cNvSpPr/>
          <p:nvPr/>
        </p:nvSpPr>
        <p:spPr>
          <a:xfrm>
            <a:off x="4338218" y="1627632"/>
            <a:ext cx="3515258" cy="1371600"/>
          </a:xfrm>
          <a:prstGeom prst="roundRect">
            <a:avLst>
              <a:gd name="adj" fmla="val 6000"/>
            </a:avLst>
          </a:prstGeom>
          <a:solidFill>
            <a:srgbClr val="2E1A47"/>
          </a:solidFill>
          <a:ln/>
        </p:spPr>
      </p:sp>
      <p:sp>
        <p:nvSpPr>
          <p:cNvPr id="10" name="Text 7"/>
          <p:cNvSpPr/>
          <p:nvPr/>
        </p:nvSpPr>
        <p:spPr>
          <a:xfrm>
            <a:off x="4447946" y="1773936"/>
            <a:ext cx="3295802" cy="713232"/>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&lt;30s</a:t>
            </a:r>
            <a:endParaRPr lang="en-US" sz="2700" dirty="0"/>
          </a:p>
        </p:txBody>
      </p:sp>
      <p:sp>
        <p:nvSpPr>
          <p:cNvPr id="11" name="Text 8"/>
          <p:cNvSpPr/>
          <p:nvPr/>
        </p:nvSpPr>
        <p:spPr>
          <a:xfrm>
            <a:off x="4447946" y="2450592"/>
            <a:ext cx="3295802" cy="507492"/>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Inicio de acción</a:t>
            </a:r>
            <a:endParaRPr lang="en-US" sz="1050" dirty="0"/>
          </a:p>
        </p:txBody>
      </p:sp>
      <p:sp>
        <p:nvSpPr>
          <p:cNvPr id="12" name="Shape 9"/>
          <p:cNvSpPr/>
          <p:nvPr/>
        </p:nvSpPr>
        <p:spPr>
          <a:xfrm>
            <a:off x="8127797" y="1627632"/>
            <a:ext cx="3515258" cy="1371600"/>
          </a:xfrm>
          <a:prstGeom prst="roundRect">
            <a:avLst>
              <a:gd name="adj" fmla="val 6000"/>
            </a:avLst>
          </a:prstGeom>
          <a:solidFill>
            <a:srgbClr val="2E1A47"/>
          </a:solidFill>
          <a:ln/>
        </p:spPr>
      </p:sp>
      <p:sp>
        <p:nvSpPr>
          <p:cNvPr id="13" name="Text 10"/>
          <p:cNvSpPr/>
          <p:nvPr/>
        </p:nvSpPr>
        <p:spPr>
          <a:xfrm>
            <a:off x="8237525" y="1773936"/>
            <a:ext cx="3295802" cy="713232"/>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3–8min</a:t>
            </a:r>
            <a:endParaRPr lang="en-US" sz="2700" dirty="0"/>
          </a:p>
        </p:txBody>
      </p:sp>
      <p:sp>
        <p:nvSpPr>
          <p:cNvPr id="14" name="Text 11"/>
          <p:cNvSpPr/>
          <p:nvPr/>
        </p:nvSpPr>
        <p:spPr>
          <a:xfrm>
            <a:off x="8237525" y="2450592"/>
            <a:ext cx="3295802" cy="507492"/>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Duración clínica</a:t>
            </a:r>
            <a:endParaRPr lang="en-US" sz="1050" dirty="0"/>
          </a:p>
        </p:txBody>
      </p:sp>
      <p:sp>
        <p:nvSpPr>
          <p:cNvPr id="15" name="Shape 12"/>
          <p:cNvSpPr/>
          <p:nvPr/>
        </p:nvSpPr>
        <p:spPr>
          <a:xfrm>
            <a:off x="548640" y="3182112"/>
            <a:ext cx="5364328" cy="3035808"/>
          </a:xfrm>
          <a:prstGeom prst="roundRect">
            <a:avLst>
              <a:gd name="adj" fmla="val 2711"/>
            </a:avLst>
          </a:prstGeom>
          <a:solidFill>
            <a:srgbClr val="E4F6F3"/>
          </a:solidFill>
          <a:ln/>
        </p:spPr>
      </p:sp>
      <p:sp>
        <p:nvSpPr>
          <p:cNvPr id="16" name="Shape 13"/>
          <p:cNvSpPr/>
          <p:nvPr/>
        </p:nvSpPr>
        <p:spPr>
          <a:xfrm>
            <a:off x="6278728" y="3182112"/>
            <a:ext cx="5364328" cy="3035808"/>
          </a:xfrm>
          <a:prstGeom prst="roundRect">
            <a:avLst>
              <a:gd name="adj" fmla="val 2711"/>
            </a:avLst>
          </a:prstGeom>
          <a:solidFill>
            <a:srgbClr val="FBEFE9"/>
          </a:solidFill>
          <a:ln/>
        </p:spPr>
      </p:sp>
      <p:sp>
        <p:nvSpPr>
          <p:cNvPr id="17" name="Text 14"/>
          <p:cNvSpPr/>
          <p:nvPr/>
        </p:nvSpPr>
        <p:spPr>
          <a:xfrm>
            <a:off x="804672" y="3364992"/>
            <a:ext cx="4852264" cy="329184"/>
          </a:xfrm>
          <a:prstGeom prst="rect">
            <a:avLst/>
          </a:prstGeom>
          <a:noFill/>
          <a:ln/>
        </p:spPr>
        <p:txBody>
          <a:bodyPr wrap="square" lIns="0" tIns="0" rIns="0" bIns="0" rtlCol="0" anchor="ctr"/>
          <a:lstStyle/>
          <a:p>
            <a:pPr indent="0" marL="0">
              <a:buNone/>
            </a:pPr>
            <a:r>
              <a:rPr lang="en-US" sz="1450" b="1" spc="100" kern="0" dirty="0">
                <a:solidFill>
                  <a:srgbClr val="0C7A70"/>
                </a:solidFill>
                <a:latin typeface="Cambria" pitchFamily="34" charset="0"/>
                <a:ea typeface="Cambria" pitchFamily="34" charset="-122"/>
                <a:cs typeface="Cambria" pitchFamily="34" charset="-120"/>
              </a:rPr>
              <a:t>INDICACIONES PRINCIPALES</a:t>
            </a:r>
            <a:endParaRPr lang="en-US" sz="1450" dirty="0"/>
          </a:p>
        </p:txBody>
      </p:sp>
      <p:sp>
        <p:nvSpPr>
          <p:cNvPr id="18" name="Text 15"/>
          <p:cNvSpPr/>
          <p:nvPr/>
        </p:nvSpPr>
        <p:spPr>
          <a:xfrm>
            <a:off x="6534760" y="3364992"/>
            <a:ext cx="4852264" cy="329184"/>
          </a:xfrm>
          <a:prstGeom prst="rect">
            <a:avLst/>
          </a:prstGeom>
          <a:noFill/>
          <a:ln/>
        </p:spPr>
        <p:txBody>
          <a:bodyPr wrap="square" lIns="0" tIns="0" rIns="0" bIns="0" rtlCol="0" anchor="ctr"/>
          <a:lstStyle/>
          <a:p>
            <a:pPr indent="0" marL="0">
              <a:buNone/>
            </a:pPr>
            <a:r>
              <a:rPr lang="en-US" sz="1450" b="1" spc="100" kern="0" dirty="0">
                <a:solidFill>
                  <a:srgbClr val="B85C2E"/>
                </a:solidFill>
                <a:latin typeface="Cambria" pitchFamily="34" charset="0"/>
                <a:ea typeface="Cambria" pitchFamily="34" charset="-122"/>
                <a:cs typeface="Cambria" pitchFamily="34" charset="-120"/>
              </a:rPr>
              <a:t>EFECTOS ADVERSOS</a:t>
            </a:r>
            <a:endParaRPr lang="en-US" sz="1450" dirty="0"/>
          </a:p>
        </p:txBody>
      </p:sp>
      <p:sp>
        <p:nvSpPr>
          <p:cNvPr id="19" name="Text 16"/>
          <p:cNvSpPr/>
          <p:nvPr/>
        </p:nvSpPr>
        <p:spPr>
          <a:xfrm>
            <a:off x="804672" y="3803904"/>
            <a:ext cx="4852264" cy="221284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Inducción en pacientes cardiópatas o hemodinámicamente inestables.</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Inducción de secuencia rápida en shock o trauma con compromiso circulatorio.</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Pacientes con estenosis aórtica severa u otras cardiopatías obstructivas.</a:t>
            </a:r>
            <a:endParaRPr lang="en-US" sz="1250" dirty="0"/>
          </a:p>
        </p:txBody>
      </p:sp>
      <p:sp>
        <p:nvSpPr>
          <p:cNvPr id="20" name="Text 17"/>
          <p:cNvSpPr/>
          <p:nvPr/>
        </p:nvSpPr>
        <p:spPr>
          <a:xfrm>
            <a:off x="6534760" y="3803904"/>
            <a:ext cx="4852264" cy="2212848"/>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Supresión suprarrenal: inhibe reversiblemente la 11-beta-hidroxilasa, reduciendo la síntesis de cortisol incluso tras dosis única.</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Mioclonías frecuentes durante la inducción, sin correlato electroencefalográfico epiléptico.</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Alta incidencia de náusea y vómito postoperatorio.</a:t>
            </a:r>
            <a:endParaRPr lang="en-US" sz="1250" dirty="0"/>
          </a:p>
          <a:p>
            <a:pPr marL="342900" indent="-342900">
              <a:lnSpc>
                <a:spcPct val="114000"/>
              </a:lnSpc>
              <a:spcAft>
                <a:spcPts val="800"/>
              </a:spcAft>
              <a:buSzPct val="100000"/>
              <a:buChar char="▪"/>
            </a:pPr>
            <a:r>
              <a:rPr lang="en-US" sz="1250" dirty="0">
                <a:solidFill>
                  <a:srgbClr val="3A2C52"/>
                </a:solidFill>
                <a:latin typeface="Calibri" pitchFamily="34" charset="0"/>
                <a:ea typeface="Calibri" pitchFamily="34" charset="-122"/>
                <a:cs typeface="Calibri" pitchFamily="34" charset="-120"/>
              </a:rPr>
              <a:t>Dolor a la inyección y ausencia de efecto analgésico.</a:t>
            </a:r>
            <a:endParaRPr lang="en-US" sz="1250" dirty="0"/>
          </a:p>
        </p:txBody>
      </p:sp>
      <p:sp>
        <p:nvSpPr>
          <p:cNvPr id="22" name="Text 18"/>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3"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754880"/>
            <a:ext cx="3291840" cy="3291840"/>
          </a:xfrm>
          <a:prstGeom prst="ellipse">
            <a:avLst/>
          </a:prstGeom>
          <a:solidFill>
            <a:srgbClr val="6B4E8E"/>
          </a:solidFill>
          <a:ln/>
        </p:spPr>
      </p:sp>
      <p:sp>
        <p:nvSpPr>
          <p:cNvPr id="4" name="Shape 2"/>
          <p:cNvSpPr/>
          <p:nvPr/>
        </p:nvSpPr>
        <p:spPr>
          <a:xfrm>
            <a:off x="914400" y="1371600"/>
            <a:ext cx="1188720" cy="1188720"/>
          </a:xfrm>
          <a:prstGeom prst="ellipse">
            <a:avLst/>
          </a:prstGeom>
          <a:solidFill>
            <a:srgbClr val="00B4A6"/>
          </a:solidFill>
          <a:ln/>
        </p:spPr>
      </p:sp>
      <p:pic>
        <p:nvPicPr>
          <p:cNvPr id="5" name="Image 0" descr="/tmp/claude-0/-home-user-gpa-academy1/adc6e4aa-3b77-57c1-ba92-a8d4ee625c84/scratchpad/ch5/icons/vial_white.png">    </p:cNvPr>
          <p:cNvPicPr>
            <a:picLocks noChangeAspect="1"/>
          </p:cNvPicPr>
          <p:nvPr/>
        </p:nvPicPr>
        <p:blipFill>
          <a:blip r:embed="rId1"/>
          <a:stretch>
            <a:fillRect/>
          </a:stretch>
        </p:blipFill>
        <p:spPr>
          <a:xfrm>
            <a:off x="1199693" y="1656893"/>
            <a:ext cx="618134" cy="618134"/>
          </a:xfrm>
          <a:prstGeom prst="rect">
            <a:avLst/>
          </a:prstGeom>
        </p:spPr>
      </p:pic>
      <p:sp>
        <p:nvSpPr>
          <p:cNvPr id="6" name="Text 3"/>
          <p:cNvSpPr/>
          <p:nvPr/>
        </p:nvSpPr>
        <p:spPr>
          <a:xfrm>
            <a:off x="822960" y="2788920"/>
            <a:ext cx="9692640" cy="365760"/>
          </a:xfrm>
          <a:prstGeom prst="rect">
            <a:avLst/>
          </a:prstGeom>
          <a:noFill/>
          <a:ln/>
        </p:spPr>
        <p:txBody>
          <a:bodyPr wrap="square" lIns="0" tIns="0" rIns="0" bIns="0" rtlCol="0" anchor="ctr"/>
          <a:lstStyle/>
          <a:p>
            <a:pPr indent="0" marL="0">
              <a:buNone/>
            </a:pPr>
            <a:r>
              <a:rPr lang="en-US" sz="1500" b="1" spc="300" kern="0" dirty="0">
                <a:solidFill>
                  <a:srgbClr val="00B4A6"/>
                </a:solidFill>
                <a:latin typeface="Calibri" pitchFamily="34" charset="0"/>
                <a:ea typeface="Calibri" pitchFamily="34" charset="-122"/>
                <a:cs typeface="Calibri" pitchFamily="34" charset="-120"/>
              </a:rPr>
              <a:t>SECCIÓN IV · OPIOIDES</a:t>
            </a:r>
            <a:endParaRPr lang="en-US" sz="1500" dirty="0"/>
          </a:p>
        </p:txBody>
      </p:sp>
      <p:sp>
        <p:nvSpPr>
          <p:cNvPr id="7" name="Text 4"/>
          <p:cNvSpPr/>
          <p:nvPr/>
        </p:nvSpPr>
        <p:spPr>
          <a:xfrm>
            <a:off x="777240" y="3127248"/>
            <a:ext cx="10424160" cy="155448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Drogas Derivadas del Opio en Anestesia</a:t>
            </a:r>
            <a:endParaRPr lang="en-US" sz="3200" dirty="0"/>
          </a:p>
        </p:txBody>
      </p:sp>
      <p:sp>
        <p:nvSpPr>
          <p:cNvPr id="8" name="Text 5"/>
          <p:cNvSpPr/>
          <p:nvPr/>
        </p:nvSpPr>
        <p:spPr>
          <a:xfrm>
            <a:off x="822960" y="4892040"/>
            <a:ext cx="9875520" cy="822960"/>
          </a:xfrm>
          <a:prstGeom prst="rect">
            <a:avLst/>
          </a:prstGeom>
          <a:noFill/>
          <a:ln/>
        </p:spPr>
        <p:txBody>
          <a:bodyPr wrap="square" lIns="0" tIns="0" rIns="0" bIns="0" rtlCol="0" anchor="t"/>
          <a:lstStyle/>
          <a:p>
            <a:pPr indent="0" marL="0">
              <a:lnSpc>
                <a:spcPct val="120000"/>
              </a:lnSpc>
              <a:buNone/>
            </a:pPr>
            <a:r>
              <a:rPr lang="en-US" sz="1400" i="1" dirty="0">
                <a:solidFill>
                  <a:srgbClr val="D9CCEE"/>
                </a:solidFill>
                <a:latin typeface="Calibri" pitchFamily="34" charset="0"/>
                <a:ea typeface="Calibri" pitchFamily="34" charset="-122"/>
                <a:cs typeface="Calibri" pitchFamily="34" charset="-120"/>
              </a:rPr>
              <a:t>Analgesia central potente y modulación de la respuesta autonómica al estrés quirúrgico mediante receptores opioides.</a:t>
            </a:r>
            <a:endParaRPr lang="en-US" sz="1400" dirty="0"/>
          </a:p>
        </p:txBody>
      </p:sp>
      <p:sp>
        <p:nvSpPr>
          <p:cNvPr id="9"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OPIOIDES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Morfina: Farmacología y Uso en Anestesia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vial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757477"/>
            <a:ext cx="566928" cy="566928"/>
          </a:xfrm>
          <a:prstGeom prst="ellipse">
            <a:avLst/>
          </a:prstGeom>
          <a:solidFill>
            <a:srgbClr val="2E1A47"/>
          </a:solidFill>
          <a:ln/>
        </p:spPr>
      </p:sp>
      <p:pic>
        <p:nvPicPr>
          <p:cNvPr id="7" name="Image 1" descr="/tmp/claude-0/-home-user-gpa-academy1/adc6e4aa-3b77-57c1-ba92-a8d4ee625c84/scratchpad/ch5/icons/molecule_white.png">    </p:cNvPr>
          <p:cNvPicPr>
            <a:picLocks noChangeAspect="1"/>
          </p:cNvPicPr>
          <p:nvPr/>
        </p:nvPicPr>
        <p:blipFill>
          <a:blip r:embed="rId2"/>
          <a:stretch>
            <a:fillRect/>
          </a:stretch>
        </p:blipFill>
        <p:spPr>
          <a:xfrm>
            <a:off x="676199" y="1885036"/>
            <a:ext cx="311810" cy="311810"/>
          </a:xfrm>
          <a:prstGeom prst="rect">
            <a:avLst/>
          </a:prstGeom>
        </p:spPr>
      </p:pic>
      <p:sp>
        <p:nvSpPr>
          <p:cNvPr id="8" name="Text 4"/>
          <p:cNvSpPr/>
          <p:nvPr/>
        </p:nvSpPr>
        <p:spPr>
          <a:xfrm>
            <a:off x="1316736" y="172090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Mecanismo</a:t>
            </a:r>
            <a:endParaRPr lang="en-US" sz="1400" dirty="0"/>
          </a:p>
        </p:txBody>
      </p:sp>
      <p:sp>
        <p:nvSpPr>
          <p:cNvPr id="9" name="Text 5"/>
          <p:cNvSpPr/>
          <p:nvPr/>
        </p:nvSpPr>
        <p:spPr>
          <a:xfrm>
            <a:off x="1316736" y="208666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Agonista puro de receptores opioides mu, con efecto analgésico, sedante y depresor respiratorio dosis-dependiente.</a:t>
            </a:r>
            <a:endParaRPr lang="en-US" sz="1150" dirty="0"/>
          </a:p>
        </p:txBody>
      </p:sp>
      <p:sp>
        <p:nvSpPr>
          <p:cNvPr id="10" name="Shape 6"/>
          <p:cNvSpPr/>
          <p:nvPr/>
        </p:nvSpPr>
        <p:spPr>
          <a:xfrm>
            <a:off x="548640" y="2675534"/>
            <a:ext cx="566928" cy="566928"/>
          </a:xfrm>
          <a:prstGeom prst="ellipse">
            <a:avLst/>
          </a:prstGeom>
          <a:solidFill>
            <a:srgbClr val="6B4E8E"/>
          </a:solidFill>
          <a:ln/>
        </p:spPr>
      </p:sp>
      <p:pic>
        <p:nvPicPr>
          <p:cNvPr id="11" name="Image 2" descr="/tmp/claude-0/-home-user-gpa-academy1/adc6e4aa-3b77-57c1-ba92-a8d4ee625c84/scratchpad/ch5/icons/stopwatch_white.png">    </p:cNvPr>
          <p:cNvPicPr>
            <a:picLocks noChangeAspect="1"/>
          </p:cNvPicPr>
          <p:nvPr/>
        </p:nvPicPr>
        <p:blipFill>
          <a:blip r:embed="rId3"/>
          <a:stretch>
            <a:fillRect/>
          </a:stretch>
        </p:blipFill>
        <p:spPr>
          <a:xfrm>
            <a:off x="676199" y="2803093"/>
            <a:ext cx="311810" cy="311810"/>
          </a:xfrm>
          <a:prstGeom prst="rect">
            <a:avLst/>
          </a:prstGeom>
        </p:spPr>
      </p:pic>
      <p:sp>
        <p:nvSpPr>
          <p:cNvPr id="12" name="Text 7"/>
          <p:cNvSpPr/>
          <p:nvPr/>
        </p:nvSpPr>
        <p:spPr>
          <a:xfrm>
            <a:off x="1316736" y="2638958"/>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Farmacocinética</a:t>
            </a:r>
            <a:endParaRPr lang="en-US" sz="1400" dirty="0"/>
          </a:p>
        </p:txBody>
      </p:sp>
      <p:sp>
        <p:nvSpPr>
          <p:cNvPr id="13" name="Text 8"/>
          <p:cNvSpPr/>
          <p:nvPr/>
        </p:nvSpPr>
        <p:spPr>
          <a:xfrm>
            <a:off x="1316736" y="3004718"/>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Inicio de acción relativamente lento (5–10 minutos) por su baja liposolubilidad; metabolismo hepático a morfina-6-glucurónido (activo) y morfina-3-glucurónido, con eliminación renal de metabolitos.</a:t>
            </a:r>
            <a:endParaRPr lang="en-US" sz="1150" dirty="0"/>
          </a:p>
        </p:txBody>
      </p:sp>
      <p:sp>
        <p:nvSpPr>
          <p:cNvPr id="14" name="Shape 9"/>
          <p:cNvSpPr/>
          <p:nvPr/>
        </p:nvSpPr>
        <p:spPr>
          <a:xfrm>
            <a:off x="548640" y="3593592"/>
            <a:ext cx="566928" cy="566928"/>
          </a:xfrm>
          <a:prstGeom prst="ellipse">
            <a:avLst/>
          </a:prstGeom>
          <a:solidFill>
            <a:srgbClr val="2E1A47"/>
          </a:solidFill>
          <a:ln/>
        </p:spPr>
      </p:sp>
      <p:pic>
        <p:nvPicPr>
          <p:cNvPr id="15" name="Image 3" descr="/tmp/claude-0/-home-user-gpa-academy1/adc6e4aa-3b77-57c1-ba92-a8d4ee625c84/scratchpad/ch5/icons/warning_white.png">    </p:cNvPr>
          <p:cNvPicPr>
            <a:picLocks noChangeAspect="1"/>
          </p:cNvPicPr>
          <p:nvPr/>
        </p:nvPicPr>
        <p:blipFill>
          <a:blip r:embed="rId4"/>
          <a:stretch>
            <a:fillRect/>
          </a:stretch>
        </p:blipFill>
        <p:spPr>
          <a:xfrm>
            <a:off x="676199" y="3721151"/>
            <a:ext cx="311810" cy="311810"/>
          </a:xfrm>
          <a:prstGeom prst="rect">
            <a:avLst/>
          </a:prstGeom>
        </p:spPr>
      </p:pic>
      <p:sp>
        <p:nvSpPr>
          <p:cNvPr id="16" name="Text 10"/>
          <p:cNvSpPr/>
          <p:nvPr/>
        </p:nvSpPr>
        <p:spPr>
          <a:xfrm>
            <a:off x="1316736" y="3557016"/>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Liberación de histamina</a:t>
            </a:r>
            <a:endParaRPr lang="en-US" sz="1400" dirty="0"/>
          </a:p>
        </p:txBody>
      </p:sp>
      <p:sp>
        <p:nvSpPr>
          <p:cNvPr id="17" name="Text 11"/>
          <p:cNvSpPr/>
          <p:nvPr/>
        </p:nvSpPr>
        <p:spPr>
          <a:xfrm>
            <a:off x="1316736" y="3922776"/>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Puede producir hipotensión, prurito y broncoespasmo, especialmente con administración rápida.</a:t>
            </a:r>
            <a:endParaRPr lang="en-US" sz="1150" dirty="0"/>
          </a:p>
        </p:txBody>
      </p:sp>
      <p:sp>
        <p:nvSpPr>
          <p:cNvPr id="18" name="Shape 12"/>
          <p:cNvSpPr/>
          <p:nvPr/>
        </p:nvSpPr>
        <p:spPr>
          <a:xfrm>
            <a:off x="548640" y="4511650"/>
            <a:ext cx="566928" cy="566928"/>
          </a:xfrm>
          <a:prstGeom prst="ellipse">
            <a:avLst/>
          </a:prstGeom>
          <a:solidFill>
            <a:srgbClr val="6B4E8E"/>
          </a:solidFill>
          <a:ln/>
        </p:spPr>
      </p:sp>
      <p:pic>
        <p:nvPicPr>
          <p:cNvPr id="19" name="Image 4" descr="/tmp/claude-0/-home-user-gpa-academy1/adc6e4aa-3b77-57c1-ba92-a8d4ee625c84/scratchpad/ch5/icons/checklist_white.png">    </p:cNvPr>
          <p:cNvPicPr>
            <a:picLocks noChangeAspect="1"/>
          </p:cNvPicPr>
          <p:nvPr/>
        </p:nvPicPr>
        <p:blipFill>
          <a:blip r:embed="rId5"/>
          <a:stretch>
            <a:fillRect/>
          </a:stretch>
        </p:blipFill>
        <p:spPr>
          <a:xfrm>
            <a:off x="676199" y="4639208"/>
            <a:ext cx="311810" cy="311810"/>
          </a:xfrm>
          <a:prstGeom prst="rect">
            <a:avLst/>
          </a:prstGeom>
        </p:spPr>
      </p:pic>
      <p:sp>
        <p:nvSpPr>
          <p:cNvPr id="20" name="Text 13"/>
          <p:cNvSpPr/>
          <p:nvPr/>
        </p:nvSpPr>
        <p:spPr>
          <a:xfrm>
            <a:off x="1316736" y="4475074"/>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Uso clínico actual</a:t>
            </a:r>
            <a:endParaRPr lang="en-US" sz="1400" dirty="0"/>
          </a:p>
        </p:txBody>
      </p:sp>
      <p:sp>
        <p:nvSpPr>
          <p:cNvPr id="21" name="Text 14"/>
          <p:cNvSpPr/>
          <p:nvPr/>
        </p:nvSpPr>
        <p:spPr>
          <a:xfrm>
            <a:off x="1316736" y="4840834"/>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Menos empleada para analgesia intraoperatoria por su inicio lento; conserva un rol importante en analgesia postoperatoria y en cuidados paliativos.</a:t>
            </a:r>
            <a:endParaRPr lang="en-US" sz="1150" dirty="0"/>
          </a:p>
        </p:txBody>
      </p:sp>
      <p:sp>
        <p:nvSpPr>
          <p:cNvPr id="22" name="Shape 15"/>
          <p:cNvSpPr/>
          <p:nvPr/>
        </p:nvSpPr>
        <p:spPr>
          <a:xfrm>
            <a:off x="548640" y="5429707"/>
            <a:ext cx="566928" cy="566928"/>
          </a:xfrm>
          <a:prstGeom prst="ellipse">
            <a:avLst/>
          </a:prstGeom>
          <a:solidFill>
            <a:srgbClr val="2E1A47"/>
          </a:solidFill>
          <a:ln/>
        </p:spPr>
      </p:sp>
      <p:pic>
        <p:nvPicPr>
          <p:cNvPr id="23" name="Image 5" descr="/tmp/claude-0/-home-user-gpa-academy1/adc6e4aa-3b77-57c1-ba92-a8d4ee625c84/scratchpad/ch5/icons/kidneys_white.png">    </p:cNvPr>
          <p:cNvPicPr>
            <a:picLocks noChangeAspect="1"/>
          </p:cNvPicPr>
          <p:nvPr/>
        </p:nvPicPr>
        <p:blipFill>
          <a:blip r:embed="rId6"/>
          <a:stretch>
            <a:fillRect/>
          </a:stretch>
        </p:blipFill>
        <p:spPr>
          <a:xfrm>
            <a:off x="676199" y="5557266"/>
            <a:ext cx="311810" cy="311810"/>
          </a:xfrm>
          <a:prstGeom prst="rect">
            <a:avLst/>
          </a:prstGeom>
        </p:spPr>
      </p:pic>
      <p:sp>
        <p:nvSpPr>
          <p:cNvPr id="24" name="Text 16"/>
          <p:cNvSpPr/>
          <p:nvPr/>
        </p:nvSpPr>
        <p:spPr>
          <a:xfrm>
            <a:off x="1316736" y="539313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Precaución renal</a:t>
            </a:r>
            <a:endParaRPr lang="en-US" sz="1400" dirty="0"/>
          </a:p>
        </p:txBody>
      </p:sp>
      <p:sp>
        <p:nvSpPr>
          <p:cNvPr id="25" name="Text 17"/>
          <p:cNvSpPr/>
          <p:nvPr/>
        </p:nvSpPr>
        <p:spPr>
          <a:xfrm>
            <a:off x="1316736" y="575889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acumulación de morfina-6-glucurónido en insuficiencia renal puede prolongar la depresión respiratoria.</a:t>
            </a:r>
            <a:endParaRPr lang="en-US" sz="1150" dirty="0"/>
          </a:p>
        </p:txBody>
      </p:sp>
      <p:sp>
        <p:nvSpPr>
          <p:cNvPr id="27" name="Text 18"/>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8"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OPIOIDES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Fentanilo: Potencia y Uso en Anestesia Balanceada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vial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2567864" cy="1417320"/>
          </a:xfrm>
          <a:prstGeom prst="roundRect">
            <a:avLst>
              <a:gd name="adj" fmla="val 5806"/>
            </a:avLst>
          </a:prstGeom>
          <a:solidFill>
            <a:srgbClr val="2E1A47"/>
          </a:solidFill>
          <a:ln/>
        </p:spPr>
      </p:sp>
      <p:sp>
        <p:nvSpPr>
          <p:cNvPr id="7" name="Text 4"/>
          <p:cNvSpPr/>
          <p:nvPr/>
        </p:nvSpPr>
        <p:spPr>
          <a:xfrm>
            <a:off x="658368"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100×</a:t>
            </a:r>
            <a:endParaRPr lang="en-US" sz="2700" dirty="0"/>
          </a:p>
        </p:txBody>
      </p:sp>
      <p:sp>
        <p:nvSpPr>
          <p:cNvPr id="8" name="Text 5"/>
          <p:cNvSpPr/>
          <p:nvPr/>
        </p:nvSpPr>
        <p:spPr>
          <a:xfrm>
            <a:off x="658368"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Potencia relativa</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respecto a la morfina</a:t>
            </a:r>
            <a:endParaRPr lang="en-US" sz="1050" dirty="0"/>
          </a:p>
        </p:txBody>
      </p:sp>
      <p:sp>
        <p:nvSpPr>
          <p:cNvPr id="9" name="Shape 6"/>
          <p:cNvSpPr/>
          <p:nvPr/>
        </p:nvSpPr>
        <p:spPr>
          <a:xfrm>
            <a:off x="3390824" y="1627632"/>
            <a:ext cx="2567864" cy="1417320"/>
          </a:xfrm>
          <a:prstGeom prst="roundRect">
            <a:avLst>
              <a:gd name="adj" fmla="val 5806"/>
            </a:avLst>
          </a:prstGeom>
          <a:solidFill>
            <a:srgbClr val="2E1A47"/>
          </a:solidFill>
          <a:ln/>
        </p:spPr>
      </p:sp>
      <p:sp>
        <p:nvSpPr>
          <p:cNvPr id="10" name="Text 7"/>
          <p:cNvSpPr/>
          <p:nvPr/>
        </p:nvSpPr>
        <p:spPr>
          <a:xfrm>
            <a:off x="3500552"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1–2min</a:t>
            </a:r>
            <a:endParaRPr lang="en-US" sz="2700" dirty="0"/>
          </a:p>
        </p:txBody>
      </p:sp>
      <p:sp>
        <p:nvSpPr>
          <p:cNvPr id="11" name="Text 8"/>
          <p:cNvSpPr/>
          <p:nvPr/>
        </p:nvSpPr>
        <p:spPr>
          <a:xfrm>
            <a:off x="3500552"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Inicio de acción</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tras bolo endovenoso</a:t>
            </a:r>
            <a:endParaRPr lang="en-US" sz="1050" dirty="0"/>
          </a:p>
        </p:txBody>
      </p:sp>
      <p:sp>
        <p:nvSpPr>
          <p:cNvPr id="12" name="Shape 9"/>
          <p:cNvSpPr/>
          <p:nvPr/>
        </p:nvSpPr>
        <p:spPr>
          <a:xfrm>
            <a:off x="6233008" y="1627632"/>
            <a:ext cx="2567864" cy="1417320"/>
          </a:xfrm>
          <a:prstGeom prst="roundRect">
            <a:avLst>
              <a:gd name="adj" fmla="val 5806"/>
            </a:avLst>
          </a:prstGeom>
          <a:solidFill>
            <a:srgbClr val="2E1A47"/>
          </a:solidFill>
          <a:ln/>
        </p:spPr>
      </p:sp>
      <p:sp>
        <p:nvSpPr>
          <p:cNvPr id="13" name="Text 10"/>
          <p:cNvSpPr/>
          <p:nvPr/>
        </p:nvSpPr>
        <p:spPr>
          <a:xfrm>
            <a:off x="6342736"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1–2</a:t>
            </a:r>
            <a:endParaRPr lang="en-US" sz="2700" dirty="0"/>
          </a:p>
        </p:txBody>
      </p:sp>
      <p:sp>
        <p:nvSpPr>
          <p:cNvPr id="14" name="Text 11"/>
          <p:cNvSpPr/>
          <p:nvPr/>
        </p:nvSpPr>
        <p:spPr>
          <a:xfrm>
            <a:off x="6342736"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µg/kg IV</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Dosis analgésica intraoperatoria</a:t>
            </a:r>
            <a:endParaRPr lang="en-US" sz="1050" dirty="0"/>
          </a:p>
        </p:txBody>
      </p:sp>
      <p:sp>
        <p:nvSpPr>
          <p:cNvPr id="15" name="Shape 12"/>
          <p:cNvSpPr/>
          <p:nvPr/>
        </p:nvSpPr>
        <p:spPr>
          <a:xfrm>
            <a:off x="9075191" y="1627632"/>
            <a:ext cx="2567864" cy="1417320"/>
          </a:xfrm>
          <a:prstGeom prst="roundRect">
            <a:avLst>
              <a:gd name="adj" fmla="val 5806"/>
            </a:avLst>
          </a:prstGeom>
          <a:solidFill>
            <a:srgbClr val="2E1A47"/>
          </a:solidFill>
          <a:ln/>
        </p:spPr>
      </p:sp>
      <p:sp>
        <p:nvSpPr>
          <p:cNvPr id="16" name="Text 13"/>
          <p:cNvSpPr/>
          <p:nvPr/>
        </p:nvSpPr>
        <p:spPr>
          <a:xfrm>
            <a:off x="9184919" y="1773936"/>
            <a:ext cx="2348408" cy="737006"/>
          </a:xfrm>
          <a:prstGeom prst="rect">
            <a:avLst/>
          </a:prstGeom>
          <a:noFill/>
          <a:ln/>
        </p:spPr>
        <p:txBody>
          <a:bodyPr wrap="square" lIns="0" tIns="0" rIns="0" bIns="0" rtlCol="0" anchor="b"/>
          <a:lstStyle/>
          <a:p>
            <a:pPr algn="ctr" indent="0" marL="0">
              <a:buNone/>
            </a:pPr>
            <a:r>
              <a:rPr lang="en-US" sz="2700" b="1" dirty="0">
                <a:solidFill>
                  <a:srgbClr val="00B4A6"/>
                </a:solidFill>
                <a:latin typeface="Cambria" pitchFamily="34" charset="0"/>
                <a:ea typeface="Cambria" pitchFamily="34" charset="-122"/>
                <a:cs typeface="Cambria" pitchFamily="34" charset="-120"/>
              </a:rPr>
              <a:t>30–60min</a:t>
            </a:r>
            <a:endParaRPr lang="en-US" sz="2700" dirty="0"/>
          </a:p>
        </p:txBody>
      </p:sp>
      <p:sp>
        <p:nvSpPr>
          <p:cNvPr id="17" name="Text 14"/>
          <p:cNvSpPr/>
          <p:nvPr/>
        </p:nvSpPr>
        <p:spPr>
          <a:xfrm>
            <a:off x="9184919" y="2478024"/>
            <a:ext cx="2348408" cy="524408"/>
          </a:xfrm>
          <a:prstGeom prst="rect">
            <a:avLst/>
          </a:prstGeom>
          <a:noFill/>
          <a:ln/>
        </p:spPr>
        <p:txBody>
          <a:bodyPr wrap="square" lIns="0" tIns="0" rIns="0" bIns="0" rtlCol="0" anchor="t"/>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Duración clínica</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tras dosis única</a:t>
            </a:r>
            <a:endParaRPr lang="en-US" sz="1050" dirty="0"/>
          </a:p>
        </p:txBody>
      </p:sp>
      <p:sp>
        <p:nvSpPr>
          <p:cNvPr id="18" name="Text 15"/>
          <p:cNvSpPr/>
          <p:nvPr/>
        </p:nvSpPr>
        <p:spPr>
          <a:xfrm>
            <a:off x="548640" y="3227832"/>
            <a:ext cx="11094415" cy="2990088"/>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Alta liposolubilidad:  </a:t>
            </a:r>
            <a:pPr indent="0" marL="0">
              <a:lnSpc>
                <a:spcPct val="114000"/>
              </a:lnSpc>
              <a:spcAft>
                <a:spcPts val="900"/>
              </a:spcAft>
              <a:buNone/>
            </a:pPr>
            <a:r>
              <a:rPr lang="en-US" sz="1250" dirty="0">
                <a:solidFill>
                  <a:srgbClr val="3A2C52"/>
                </a:solidFill>
                <a:latin typeface="Calibri" pitchFamily="34" charset="0"/>
                <a:ea typeface="Calibri" pitchFamily="34" charset="-122"/>
                <a:cs typeface="Calibri" pitchFamily="34" charset="-120"/>
              </a:rPr>
              <a:t>penetra rápidamente la barrera hematoencefálica, explicando su inicio de acción rápido y su uso frecuente antes de la laringoscopia.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Atenuación de la respuesta simpática:  </a:t>
            </a:r>
            <a:pPr indent="0" marL="0">
              <a:lnSpc>
                <a:spcPct val="114000"/>
              </a:lnSpc>
              <a:spcAft>
                <a:spcPts val="900"/>
              </a:spcAft>
              <a:buNone/>
            </a:pPr>
            <a:r>
              <a:rPr lang="en-US" sz="1250" dirty="0">
                <a:solidFill>
                  <a:srgbClr val="3A2C52"/>
                </a:solidFill>
                <a:latin typeface="Calibri" pitchFamily="34" charset="0"/>
                <a:ea typeface="Calibri" pitchFamily="34" charset="-122"/>
                <a:cs typeface="Calibri" pitchFamily="34" charset="-120"/>
              </a:rPr>
              <a:t>reduce eficazmente la taquicardia e hipertensión asociadas a la intubación y al estímulo quirúrgico intenso.</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Vida media contexto-sensible:  </a:t>
            </a:r>
            <a:pPr indent="0" marL="0">
              <a:lnSpc>
                <a:spcPct val="114000"/>
              </a:lnSpc>
              <a:spcAft>
                <a:spcPts val="900"/>
              </a:spcAft>
              <a:buNone/>
            </a:pPr>
            <a:r>
              <a:rPr lang="en-US" sz="1250" dirty="0">
                <a:solidFill>
                  <a:srgbClr val="3A2C52"/>
                </a:solidFill>
                <a:latin typeface="Calibri" pitchFamily="34" charset="0"/>
                <a:ea typeface="Calibri" pitchFamily="34" charset="-122"/>
                <a:cs typeface="Calibri" pitchFamily="34" charset="-120"/>
              </a:rPr>
              <a:t>se prolonga significativamente con infusiones repetidas o prolongadas, a diferencia del remifentanilo.</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Rigidez torácica:  </a:t>
            </a:r>
            <a:pPr indent="0" marL="0">
              <a:lnSpc>
                <a:spcPct val="114000"/>
              </a:lnSpc>
              <a:spcAft>
                <a:spcPts val="900"/>
              </a:spcAft>
              <a:buNone/>
            </a:pPr>
            <a:r>
              <a:rPr lang="en-US" sz="1250" dirty="0">
                <a:solidFill>
                  <a:srgbClr val="3A2C52"/>
                </a:solidFill>
                <a:latin typeface="Calibri" pitchFamily="34" charset="0"/>
                <a:ea typeface="Calibri" pitchFamily="34" charset="-122"/>
                <a:cs typeface="Calibri" pitchFamily="34" charset="-120"/>
              </a:rPr>
              <a:t>la administración rápida en bolo puede producir rigidez de la pared torácica que dificulta la ventilación ("chest wall rigidity").</a:t>
            </a:r>
            <a:endParaRPr lang="en-US" sz="1250" dirty="0"/>
          </a:p>
        </p:txBody>
      </p:sp>
      <p:sp>
        <p:nvSpPr>
          <p:cNvPr id="20" name="Text 1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1"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OPIOIDES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Comparación de Opioides Intravenosos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balance_white.png">    </p:cNvPr>
          <p:cNvPicPr>
            <a:picLocks noChangeAspect="1"/>
          </p:cNvPicPr>
          <p:nvPr/>
        </p:nvPicPr>
        <p:blipFill>
          <a:blip r:embed="rId1"/>
          <a:stretch>
            <a:fillRect/>
          </a:stretch>
        </p:blipFill>
        <p:spPr>
          <a:xfrm>
            <a:off x="11022178" y="625450"/>
            <a:ext cx="404165" cy="404165"/>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94415" cy="914400"/>
        </p:xfrm>
        <a:graphic>
          <a:graphicData uri="http://schemas.openxmlformats.org/drawingml/2006/table">
            <a:tbl>
              <a:tblPr/>
              <a:tblGrid>
                <a:gridCol w="1645920"/>
                <a:gridCol w="2286000"/>
                <a:gridCol w="1828800"/>
                <a:gridCol w="1828800"/>
                <a:gridCol w="3504895"/>
              </a:tblGrid>
              <a:tr h="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Fármaco</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Potencia relativa</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(vs. morfina)</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Inicio de</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acción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Duración</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clínica</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Metabolismo</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principal</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r>
              <a:tr h="0">
                <a:tc>
                  <a:txBody>
                    <a:bodyPr/>
                    <a:lstStyle/>
                    <a:p>
                      <a:pPr algn="l" indent="0" marL="0">
                        <a:buNone/>
                      </a:pPr>
                      <a:r>
                        <a:rPr lang="en-US" sz="1150" b="1" dirty="0">
                          <a:solidFill>
                            <a:srgbClr val="3A2C52"/>
                          </a:solidFill>
                          <a:latin typeface="Calibri" pitchFamily="34" charset="0"/>
                          <a:ea typeface="Calibri" pitchFamily="34" charset="-122"/>
                          <a:cs typeface="Calibri" pitchFamily="34" charset="-120"/>
                        </a:rPr>
                        <a:t>Morfina</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5–10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3–4 h</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Hepático (glucuronidación)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3A2C52"/>
                          </a:solidFill>
                          <a:latin typeface="Calibri" pitchFamily="34" charset="0"/>
                          <a:ea typeface="Calibri" pitchFamily="34" charset="-122"/>
                          <a:cs typeface="Calibri" pitchFamily="34" charset="-120"/>
                        </a:rPr>
                        <a:t>Fentanilo</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1–2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30–60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Hepático (CYP3A4)</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r h="0">
                <a:tc>
                  <a:txBody>
                    <a:bodyPr/>
                    <a:lstStyle/>
                    <a:p>
                      <a:pPr algn="l" indent="0" marL="0">
                        <a:buNone/>
                      </a:pPr>
                      <a:r>
                        <a:rPr lang="en-US" sz="1150" b="1" dirty="0">
                          <a:solidFill>
                            <a:srgbClr val="3A2C52"/>
                          </a:solidFill>
                          <a:latin typeface="Calibri" pitchFamily="34" charset="0"/>
                          <a:ea typeface="Calibri" pitchFamily="34" charset="-122"/>
                          <a:cs typeface="Calibri" pitchFamily="34" charset="-120"/>
                        </a:rPr>
                        <a:t>Sufentanilo</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500–1000×</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1–3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20–45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Hepático (CYP3A4)</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3A2C52"/>
                          </a:solidFill>
                          <a:latin typeface="Calibri" pitchFamily="34" charset="0"/>
                          <a:ea typeface="Calibri" pitchFamily="34" charset="-122"/>
                          <a:cs typeface="Calibri" pitchFamily="34" charset="-120"/>
                        </a:rPr>
                        <a:t>Remifentanilo</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100–200×</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30–60 seg</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5–10 min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50" dirty="0">
                          <a:solidFill>
                            <a:srgbClr val="3A2C52"/>
                          </a:solidFill>
                          <a:latin typeface="Calibri" pitchFamily="34" charset="0"/>
                          <a:ea typeface="Calibri" pitchFamily="34" charset="-122"/>
                          <a:cs typeface="Calibri" pitchFamily="34" charset="-120"/>
                        </a:rPr>
                        <a:t>Esterasas plasmáticas (independiente de hígado/riñón)</a:t>
                      </a:r>
                      <a:endParaRPr lang="en-US" sz="115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bl>
          </a:graphicData>
        </a:graphic>
      </p:graphicFrame>
      <p:sp>
        <p:nvSpPr>
          <p:cNvPr id="7" name="Shape 3"/>
          <p:cNvSpPr/>
          <p:nvPr/>
        </p:nvSpPr>
        <p:spPr>
          <a:xfrm>
            <a:off x="548640" y="3502152"/>
            <a:ext cx="11094415" cy="1005840"/>
          </a:xfrm>
          <a:prstGeom prst="roundRect">
            <a:avLst>
              <a:gd name="adj" fmla="val 8182"/>
            </a:avLst>
          </a:prstGeom>
          <a:solidFill>
            <a:srgbClr val="EFE9F7"/>
          </a:solidFill>
          <a:ln/>
        </p:spPr>
      </p:sp>
      <p:sp>
        <p:nvSpPr>
          <p:cNvPr id="8" name="Shape 4"/>
          <p:cNvSpPr/>
          <p:nvPr/>
        </p:nvSpPr>
        <p:spPr>
          <a:xfrm>
            <a:off x="749808" y="3767328"/>
            <a:ext cx="475488" cy="475488"/>
          </a:xfrm>
          <a:prstGeom prst="ellipse">
            <a:avLst/>
          </a:prstGeom>
          <a:solidFill>
            <a:srgbClr val="00B4A6"/>
          </a:solidFill>
          <a:ln/>
        </p:spPr>
      </p:sp>
      <p:pic>
        <p:nvPicPr>
          <p:cNvPr id="9" name="Image 1" descr="/tmp/claude-0/-home-user-gpa-academy1/adc6e4aa-3b77-57c1-ba92-a8d4ee625c84/scratchpad/ch5/icons/checklist_white.png">    </p:cNvPr>
          <p:cNvPicPr>
            <a:picLocks noChangeAspect="1"/>
          </p:cNvPicPr>
          <p:nvPr/>
        </p:nvPicPr>
        <p:blipFill>
          <a:blip r:embed="rId2"/>
          <a:stretch>
            <a:fillRect/>
          </a:stretch>
        </p:blipFill>
        <p:spPr>
          <a:xfrm>
            <a:off x="856793" y="3874313"/>
            <a:ext cx="261518" cy="261518"/>
          </a:xfrm>
          <a:prstGeom prst="rect">
            <a:avLst/>
          </a:prstGeom>
        </p:spPr>
      </p:pic>
      <p:sp>
        <p:nvSpPr>
          <p:cNvPr id="10" name="Text 5"/>
          <p:cNvSpPr/>
          <p:nvPr/>
        </p:nvSpPr>
        <p:spPr>
          <a:xfrm>
            <a:off x="1417320" y="3593592"/>
            <a:ext cx="9997135" cy="822960"/>
          </a:xfrm>
          <a:prstGeom prst="rect">
            <a:avLst/>
          </a:prstGeom>
          <a:noFill/>
          <a:ln/>
        </p:spPr>
        <p:txBody>
          <a:bodyPr wrap="square" lIns="0" tIns="0" rIns="0" bIns="0" rtlCol="0" anchor="ctr"/>
          <a:lstStyle/>
          <a:p>
            <a:pPr indent="0" marL="0">
              <a:lnSpc>
                <a:spcPct val="116000"/>
              </a:lnSpc>
              <a:buNone/>
            </a:pPr>
            <a:r>
              <a:rPr lang="en-US" sz="1250" i="1" dirty="0">
                <a:solidFill>
                  <a:srgbClr val="241636"/>
                </a:solidFill>
                <a:latin typeface="Calibri" pitchFamily="34" charset="0"/>
                <a:ea typeface="Calibri" pitchFamily="34" charset="-122"/>
                <a:cs typeface="Calibri" pitchFamily="34" charset="-120"/>
              </a:rPr>
              <a:t>Perla clínica: el remifentanilo, por su metabolismo independiente de la función hepática y renal, es de elección en insuficiencia hepática o renal grave y en infusiones muy prolongadas, pero exige planificación anticipada de la analgesia postoperatoria por su brevísima duración de acción.</a:t>
            </a:r>
            <a:endParaRPr lang="en-US" sz="1250" dirty="0"/>
          </a:p>
        </p:txBody>
      </p:sp>
      <p:sp>
        <p:nvSpPr>
          <p:cNvPr id="11" name="Shape 6"/>
          <p:cNvSpPr/>
          <p:nvPr/>
        </p:nvSpPr>
        <p:spPr>
          <a:xfrm>
            <a:off x="548640" y="4793742"/>
            <a:ext cx="457200" cy="457200"/>
          </a:xfrm>
          <a:prstGeom prst="ellipse">
            <a:avLst/>
          </a:prstGeom>
          <a:solidFill>
            <a:srgbClr val="2E1A47"/>
          </a:solidFill>
          <a:ln/>
        </p:spPr>
      </p:sp>
      <p:pic>
        <p:nvPicPr>
          <p:cNvPr id="12" name="Image 2" descr="/tmp/claude-0/-home-user-gpa-academy1/adc6e4aa-3b77-57c1-ba92-a8d4ee625c84/scratchpad/ch5/icons/heart_white.png">    </p:cNvPr>
          <p:cNvPicPr>
            <a:picLocks noChangeAspect="1"/>
          </p:cNvPicPr>
          <p:nvPr/>
        </p:nvPicPr>
        <p:blipFill>
          <a:blip r:embed="rId3"/>
          <a:stretch>
            <a:fillRect/>
          </a:stretch>
        </p:blipFill>
        <p:spPr>
          <a:xfrm>
            <a:off x="651510" y="4896612"/>
            <a:ext cx="251460" cy="251460"/>
          </a:xfrm>
          <a:prstGeom prst="rect">
            <a:avLst/>
          </a:prstGeom>
        </p:spPr>
      </p:pic>
      <p:sp>
        <p:nvSpPr>
          <p:cNvPr id="13" name="Text 7"/>
          <p:cNvSpPr/>
          <p:nvPr/>
        </p:nvSpPr>
        <p:spPr>
          <a:xfrm>
            <a:off x="1207008" y="4757166"/>
            <a:ext cx="10436047"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Estabilidad en cirugía cardíaca</a:t>
            </a:r>
            <a:endParaRPr lang="en-US" sz="1400" dirty="0"/>
          </a:p>
        </p:txBody>
      </p:sp>
      <p:sp>
        <p:nvSpPr>
          <p:cNvPr id="14" name="Text 8"/>
          <p:cNvSpPr/>
          <p:nvPr/>
        </p:nvSpPr>
        <p:spPr>
          <a:xfrm>
            <a:off x="1207008" y="5122926"/>
            <a:ext cx="10436047" cy="205740"/>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El sufentanilo aporta mayor potencia analgésica con estabilidad cardiovascular.</a:t>
            </a:r>
            <a:endParaRPr lang="en-US" sz="1150" dirty="0"/>
          </a:p>
        </p:txBody>
      </p:sp>
      <p:sp>
        <p:nvSpPr>
          <p:cNvPr id="15" name="Shape 9"/>
          <p:cNvSpPr/>
          <p:nvPr/>
        </p:nvSpPr>
        <p:spPr>
          <a:xfrm>
            <a:off x="548640" y="5456682"/>
            <a:ext cx="457200" cy="457200"/>
          </a:xfrm>
          <a:prstGeom prst="ellipse">
            <a:avLst/>
          </a:prstGeom>
          <a:solidFill>
            <a:srgbClr val="6B4E8E"/>
          </a:solidFill>
          <a:ln/>
        </p:spPr>
      </p:sp>
      <p:pic>
        <p:nvPicPr>
          <p:cNvPr id="16" name="Image 3" descr="/tmp/claude-0/-home-user-gpa-academy1/adc6e4aa-3b77-57c1-ba92-a8d4ee625c84/scratchpad/ch5/icons/stopwatch_white.png">    </p:cNvPr>
          <p:cNvPicPr>
            <a:picLocks noChangeAspect="1"/>
          </p:cNvPicPr>
          <p:nvPr/>
        </p:nvPicPr>
        <p:blipFill>
          <a:blip r:embed="rId4"/>
          <a:stretch>
            <a:fillRect/>
          </a:stretch>
        </p:blipFill>
        <p:spPr>
          <a:xfrm>
            <a:off x="651510" y="5559552"/>
            <a:ext cx="251460" cy="251460"/>
          </a:xfrm>
          <a:prstGeom prst="rect">
            <a:avLst/>
          </a:prstGeom>
        </p:spPr>
      </p:pic>
      <p:sp>
        <p:nvSpPr>
          <p:cNvPr id="17" name="Text 10"/>
          <p:cNvSpPr/>
          <p:nvPr/>
        </p:nvSpPr>
        <p:spPr>
          <a:xfrm>
            <a:off x="1207008" y="5420106"/>
            <a:ext cx="10436047"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Control ultrarrápido de profundidad analgésica</a:t>
            </a:r>
            <a:endParaRPr lang="en-US" sz="1400" dirty="0"/>
          </a:p>
        </p:txBody>
      </p:sp>
      <p:sp>
        <p:nvSpPr>
          <p:cNvPr id="18" name="Text 11"/>
          <p:cNvSpPr/>
          <p:nvPr/>
        </p:nvSpPr>
        <p:spPr>
          <a:xfrm>
            <a:off x="1207008" y="5785866"/>
            <a:ext cx="10436047" cy="205740"/>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El remifentanilo permite ajustar la analgesia minuto a minuto en neurocirugía.</a:t>
            </a:r>
            <a:endParaRPr lang="en-US" sz="1150" dirty="0"/>
          </a:p>
        </p:txBody>
      </p:sp>
      <p:sp>
        <p:nvSpPr>
          <p:cNvPr id="20" name="Text 12"/>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1"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754880"/>
            <a:ext cx="3291840" cy="3291840"/>
          </a:xfrm>
          <a:prstGeom prst="ellipse">
            <a:avLst/>
          </a:prstGeom>
          <a:solidFill>
            <a:srgbClr val="6B4E8E"/>
          </a:solidFill>
          <a:ln/>
        </p:spPr>
      </p:sp>
      <p:sp>
        <p:nvSpPr>
          <p:cNvPr id="4" name="Shape 2"/>
          <p:cNvSpPr/>
          <p:nvPr/>
        </p:nvSpPr>
        <p:spPr>
          <a:xfrm>
            <a:off x="914400" y="1371600"/>
            <a:ext cx="1188720" cy="1188720"/>
          </a:xfrm>
          <a:prstGeom prst="ellipse">
            <a:avLst/>
          </a:prstGeom>
          <a:solidFill>
            <a:srgbClr val="00B4A6"/>
          </a:solidFill>
          <a:ln/>
        </p:spPr>
      </p:sp>
      <p:pic>
        <p:nvPicPr>
          <p:cNvPr id="5" name="Image 0" descr="/tmp/claude-0/-home-user-gpa-academy1/adc6e4aa-3b77-57c1-ba92-a8d4ee625c84/scratchpad/ch5/icons/checklist_white.png">    </p:cNvPr>
          <p:cNvPicPr>
            <a:picLocks noChangeAspect="1"/>
          </p:cNvPicPr>
          <p:nvPr/>
        </p:nvPicPr>
        <p:blipFill>
          <a:blip r:embed="rId1"/>
          <a:stretch>
            <a:fillRect/>
          </a:stretch>
        </p:blipFill>
        <p:spPr>
          <a:xfrm>
            <a:off x="1199693" y="1656893"/>
            <a:ext cx="618134" cy="618134"/>
          </a:xfrm>
          <a:prstGeom prst="rect">
            <a:avLst/>
          </a:prstGeom>
        </p:spPr>
      </p:pic>
      <p:sp>
        <p:nvSpPr>
          <p:cNvPr id="6" name="Text 3"/>
          <p:cNvSpPr/>
          <p:nvPr/>
        </p:nvSpPr>
        <p:spPr>
          <a:xfrm>
            <a:off x="822960" y="2788920"/>
            <a:ext cx="9692640" cy="365760"/>
          </a:xfrm>
          <a:prstGeom prst="rect">
            <a:avLst/>
          </a:prstGeom>
          <a:noFill/>
          <a:ln/>
        </p:spPr>
        <p:txBody>
          <a:bodyPr wrap="square" lIns="0" tIns="0" rIns="0" bIns="0" rtlCol="0" anchor="ctr"/>
          <a:lstStyle/>
          <a:p>
            <a:pPr indent="0" marL="0">
              <a:buNone/>
            </a:pPr>
            <a:r>
              <a:rPr lang="en-US" sz="1500" b="1" spc="300" kern="0" dirty="0">
                <a:solidFill>
                  <a:srgbClr val="00B4A6"/>
                </a:solidFill>
                <a:latin typeface="Calibri" pitchFamily="34" charset="0"/>
                <a:ea typeface="Calibri" pitchFamily="34" charset="-122"/>
                <a:cs typeface="Calibri" pitchFamily="34" charset="-120"/>
              </a:rPr>
              <a:t>SECCIÓN V · BENZODIACEPINAS</a:t>
            </a:r>
            <a:endParaRPr lang="en-US" sz="1500" dirty="0"/>
          </a:p>
        </p:txBody>
      </p:sp>
      <p:sp>
        <p:nvSpPr>
          <p:cNvPr id="7" name="Text 4"/>
          <p:cNvSpPr/>
          <p:nvPr/>
        </p:nvSpPr>
        <p:spPr>
          <a:xfrm>
            <a:off x="777240" y="3127248"/>
            <a:ext cx="10424160" cy="1554480"/>
          </a:xfrm>
          <a:prstGeom prst="rect">
            <a:avLst/>
          </a:prstGeom>
          <a:noFill/>
          <a:ln/>
        </p:spPr>
        <p:txBody>
          <a:bodyPr wrap="square" lIns="0" tIns="0" rIns="0" bIns="0" rtlCol="0" anchor="t"/>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Midazolam y Diazepam como Anestésicos Endovenosos</a:t>
            </a:r>
            <a:endParaRPr lang="en-US" sz="3200" dirty="0"/>
          </a:p>
        </p:txBody>
      </p:sp>
      <p:sp>
        <p:nvSpPr>
          <p:cNvPr id="8" name="Text 5"/>
          <p:cNvSpPr/>
          <p:nvPr/>
        </p:nvSpPr>
        <p:spPr>
          <a:xfrm>
            <a:off x="822960" y="4892040"/>
            <a:ext cx="9875520" cy="822960"/>
          </a:xfrm>
          <a:prstGeom prst="rect">
            <a:avLst/>
          </a:prstGeom>
          <a:noFill/>
          <a:ln/>
        </p:spPr>
        <p:txBody>
          <a:bodyPr wrap="square" lIns="0" tIns="0" rIns="0" bIns="0" rtlCol="0" anchor="t"/>
          <a:lstStyle/>
          <a:p>
            <a:pPr indent="0" marL="0">
              <a:lnSpc>
                <a:spcPct val="120000"/>
              </a:lnSpc>
              <a:buNone/>
            </a:pPr>
            <a:r>
              <a:rPr lang="en-US" sz="1400" i="1" dirty="0">
                <a:solidFill>
                  <a:srgbClr val="D9CCEE"/>
                </a:solidFill>
                <a:latin typeface="Calibri" pitchFamily="34" charset="0"/>
                <a:ea typeface="Calibri" pitchFamily="34" charset="-122"/>
                <a:cs typeface="Calibri" pitchFamily="34" charset="-120"/>
              </a:rPr>
              <a:t>Ansiólisis, amnesia anterógrada y sedación mediante potenciación GABAérgica, con reversión farmacológica disponible.</a:t>
            </a:r>
            <a:endParaRPr lang="en-US" sz="1400" dirty="0"/>
          </a:p>
        </p:txBody>
      </p:sp>
      <p:sp>
        <p:nvSpPr>
          <p:cNvPr id="9"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BENZODIACEPINAS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Mecanismo de Acción, Uso Clínico y Reversión</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brain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brain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antidote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Mecanismo y uso clínico</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Reversión con flumazenil</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Mecanismo: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se unen a un sitio alostérico específico del receptor GABA-A (distinto del sitio barbitúrico), aumentando la frecuencia de apertura del canal de cloro.</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Midazolam: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hidrosoluble a pH ácido, se vuelve liposoluble a pH fisiológico; inicio en 1–3 min, ideal para premedicación y coinducción (0.02–0.1 mg/kg IV).</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Diazepam: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liposoluble desde su formulación, metabolitos activos de vida media prolongada (desmetildiazepam); mayor riesgo de sedación residual.</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Efecto amnésico anterógrado: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propiedad clínicamente muy valorada durante procedimientos bajo sedación.</a:t>
            </a:r>
            <a:endParaRPr lang="en-US" sz="120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Mecanismo: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antagonista competitivo específico del sitio benzodiacepínico del receptor GABA-A, sin actividad agonista intrínseca relevante.</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Dosis: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0.1–0.2 mg IV, titulado hasta un máximo habitual de 1 mg, por su vida media corta (~50 min).</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Riesgo de resedación: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como su duración es menor que la de muchas benzodiacepinas, puede requerir dosis repetidas o infusión.</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Precaución: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puede precipitar convulsiones en pacientes con dependencia crónica a benzodiacepinas o uso concomitante de antidepresivos tricíclicos.</a:t>
            </a:r>
            <a:endParaRPr lang="en-US" sz="120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OTROS AGENTES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Esteroides como Anestésicos Endovenosos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chemical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757477"/>
            <a:ext cx="566928" cy="566928"/>
          </a:xfrm>
          <a:prstGeom prst="ellipse">
            <a:avLst/>
          </a:prstGeom>
          <a:solidFill>
            <a:srgbClr val="2E1A47"/>
          </a:solidFill>
          <a:ln/>
        </p:spPr>
      </p:sp>
      <p:pic>
        <p:nvPicPr>
          <p:cNvPr id="7" name="Image 1" descr="/tmp/claude-0/-home-user-gpa-academy1/adc6e4aa-3b77-57c1-ba92-a8d4ee625c84/scratchpad/ch5/icons/history_white.png">    </p:cNvPr>
          <p:cNvPicPr>
            <a:picLocks noChangeAspect="1"/>
          </p:cNvPicPr>
          <p:nvPr/>
        </p:nvPicPr>
        <p:blipFill>
          <a:blip r:embed="rId2"/>
          <a:stretch>
            <a:fillRect/>
          </a:stretch>
        </p:blipFill>
        <p:spPr>
          <a:xfrm>
            <a:off x="676199" y="1885036"/>
            <a:ext cx="311810" cy="311810"/>
          </a:xfrm>
          <a:prstGeom prst="rect">
            <a:avLst/>
          </a:prstGeom>
        </p:spPr>
      </p:pic>
      <p:sp>
        <p:nvSpPr>
          <p:cNvPr id="8" name="Text 4"/>
          <p:cNvSpPr/>
          <p:nvPr/>
        </p:nvSpPr>
        <p:spPr>
          <a:xfrm>
            <a:off x="1316736" y="172090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Concepto histórico</a:t>
            </a:r>
            <a:endParaRPr lang="en-US" sz="1400" dirty="0"/>
          </a:p>
        </p:txBody>
      </p:sp>
      <p:sp>
        <p:nvSpPr>
          <p:cNvPr id="9" name="Text 5"/>
          <p:cNvSpPr/>
          <p:nvPr/>
        </p:nvSpPr>
        <p:spPr>
          <a:xfrm>
            <a:off x="1316736" y="208666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En la década de 1970 se desarrollaron esteroides sintéticos sin actividad hormonal significativa pero con capacidad de inducir hipnosis, como la combinación alfaxalona-alfadolona (Althesin®).</a:t>
            </a:r>
            <a:endParaRPr lang="en-US" sz="1150" dirty="0"/>
          </a:p>
        </p:txBody>
      </p:sp>
      <p:sp>
        <p:nvSpPr>
          <p:cNvPr id="10" name="Shape 6"/>
          <p:cNvSpPr/>
          <p:nvPr/>
        </p:nvSpPr>
        <p:spPr>
          <a:xfrm>
            <a:off x="548640" y="2675534"/>
            <a:ext cx="566928" cy="566928"/>
          </a:xfrm>
          <a:prstGeom prst="ellipse">
            <a:avLst/>
          </a:prstGeom>
          <a:solidFill>
            <a:srgbClr val="6B4E8E"/>
          </a:solidFill>
          <a:ln/>
        </p:spPr>
      </p:sp>
      <p:pic>
        <p:nvPicPr>
          <p:cNvPr id="11" name="Image 2" descr="/tmp/claude-0/-home-user-gpa-academy1/adc6e4aa-3b77-57c1-ba92-a8d4ee625c84/scratchpad/ch5/icons/brain_white.png">    </p:cNvPr>
          <p:cNvPicPr>
            <a:picLocks noChangeAspect="1"/>
          </p:cNvPicPr>
          <p:nvPr/>
        </p:nvPicPr>
        <p:blipFill>
          <a:blip r:embed="rId3"/>
          <a:stretch>
            <a:fillRect/>
          </a:stretch>
        </p:blipFill>
        <p:spPr>
          <a:xfrm>
            <a:off x="676199" y="2803093"/>
            <a:ext cx="311810" cy="311810"/>
          </a:xfrm>
          <a:prstGeom prst="rect">
            <a:avLst/>
          </a:prstGeom>
        </p:spPr>
      </p:pic>
      <p:sp>
        <p:nvSpPr>
          <p:cNvPr id="12" name="Text 7"/>
          <p:cNvSpPr/>
          <p:nvPr/>
        </p:nvSpPr>
        <p:spPr>
          <a:xfrm>
            <a:off x="1316736" y="2638958"/>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Mecanismo</a:t>
            </a:r>
            <a:endParaRPr lang="en-US" sz="1400" dirty="0"/>
          </a:p>
        </p:txBody>
      </p:sp>
      <p:sp>
        <p:nvSpPr>
          <p:cNvPr id="13" name="Text 8"/>
          <p:cNvSpPr/>
          <p:nvPr/>
        </p:nvSpPr>
        <p:spPr>
          <a:xfrm>
            <a:off x="1316736" y="3004718"/>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Al igual que barbitúricos, propofol y etomidato, actúan potenciando la neurotransmisión GABAérgica mediante un sitio de unión esteroideo en el receptor GABA-A.</a:t>
            </a:r>
            <a:endParaRPr lang="en-US" sz="1150" dirty="0"/>
          </a:p>
        </p:txBody>
      </p:sp>
      <p:sp>
        <p:nvSpPr>
          <p:cNvPr id="14" name="Shape 9"/>
          <p:cNvSpPr/>
          <p:nvPr/>
        </p:nvSpPr>
        <p:spPr>
          <a:xfrm>
            <a:off x="548640" y="3593592"/>
            <a:ext cx="566928" cy="566928"/>
          </a:xfrm>
          <a:prstGeom prst="ellipse">
            <a:avLst/>
          </a:prstGeom>
          <a:solidFill>
            <a:srgbClr val="2E1A47"/>
          </a:solidFill>
          <a:ln/>
        </p:spPr>
      </p:sp>
      <p:pic>
        <p:nvPicPr>
          <p:cNvPr id="15" name="Image 3" descr="/tmp/claude-0/-home-user-gpa-academy1/adc6e4aa-3b77-57c1-ba92-a8d4ee625c84/scratchpad/ch5/icons/heart_white.png">    </p:cNvPr>
          <p:cNvPicPr>
            <a:picLocks noChangeAspect="1"/>
          </p:cNvPicPr>
          <p:nvPr/>
        </p:nvPicPr>
        <p:blipFill>
          <a:blip r:embed="rId4"/>
          <a:stretch>
            <a:fillRect/>
          </a:stretch>
        </p:blipFill>
        <p:spPr>
          <a:xfrm>
            <a:off x="676199" y="3721151"/>
            <a:ext cx="311810" cy="311810"/>
          </a:xfrm>
          <a:prstGeom prst="rect">
            <a:avLst/>
          </a:prstGeom>
        </p:spPr>
      </p:pic>
      <p:sp>
        <p:nvSpPr>
          <p:cNvPr id="16" name="Text 10"/>
          <p:cNvSpPr/>
          <p:nvPr/>
        </p:nvSpPr>
        <p:spPr>
          <a:xfrm>
            <a:off x="1316736" y="3557016"/>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Perfil clínico observado</a:t>
            </a:r>
            <a:endParaRPr lang="en-US" sz="1400" dirty="0"/>
          </a:p>
        </p:txBody>
      </p:sp>
      <p:sp>
        <p:nvSpPr>
          <p:cNvPr id="17" name="Text 11"/>
          <p:cNvSpPr/>
          <p:nvPr/>
        </p:nvSpPr>
        <p:spPr>
          <a:xfrm>
            <a:off x="1316736" y="3922776"/>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Inducción rápida, buena estabilidad hemodinámica relativa y despertar razonablemente ágil.</a:t>
            </a:r>
            <a:endParaRPr lang="en-US" sz="1150" dirty="0"/>
          </a:p>
        </p:txBody>
      </p:sp>
      <p:sp>
        <p:nvSpPr>
          <p:cNvPr id="18" name="Shape 12"/>
          <p:cNvSpPr/>
          <p:nvPr/>
        </p:nvSpPr>
        <p:spPr>
          <a:xfrm>
            <a:off x="548640" y="4511650"/>
            <a:ext cx="566928" cy="566928"/>
          </a:xfrm>
          <a:prstGeom prst="ellipse">
            <a:avLst/>
          </a:prstGeom>
          <a:solidFill>
            <a:srgbClr val="6B4E8E"/>
          </a:solidFill>
          <a:ln/>
        </p:spPr>
      </p:sp>
      <p:pic>
        <p:nvPicPr>
          <p:cNvPr id="19" name="Image 4" descr="/tmp/claude-0/-home-user-gpa-academy1/adc6e4aa-3b77-57c1-ba92-a8d4ee625c84/scratchpad/ch5/icons/warning_white.png">    </p:cNvPr>
          <p:cNvPicPr>
            <a:picLocks noChangeAspect="1"/>
          </p:cNvPicPr>
          <p:nvPr/>
        </p:nvPicPr>
        <p:blipFill>
          <a:blip r:embed="rId5"/>
          <a:stretch>
            <a:fillRect/>
          </a:stretch>
        </p:blipFill>
        <p:spPr>
          <a:xfrm>
            <a:off x="676199" y="4639208"/>
            <a:ext cx="311810" cy="311810"/>
          </a:xfrm>
          <a:prstGeom prst="rect">
            <a:avLst/>
          </a:prstGeom>
        </p:spPr>
      </p:pic>
      <p:sp>
        <p:nvSpPr>
          <p:cNvPr id="20" name="Text 13"/>
          <p:cNvSpPr/>
          <p:nvPr/>
        </p:nvSpPr>
        <p:spPr>
          <a:xfrm>
            <a:off x="1316736" y="4475074"/>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Retiro del mercado</a:t>
            </a:r>
            <a:endParaRPr lang="en-US" sz="1400" dirty="0"/>
          </a:p>
        </p:txBody>
      </p:sp>
      <p:sp>
        <p:nvSpPr>
          <p:cNvPr id="21" name="Text 14"/>
          <p:cNvSpPr/>
          <p:nvPr/>
        </p:nvSpPr>
        <p:spPr>
          <a:xfrm>
            <a:off x="1316736" y="4840834"/>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alfaxalona-alfadolona fue retirada del uso humano por reacciones anafilactoides atribuidas al vehículo solubilizante (Cremophor EL), aunque continúa empleándose en medicina veterinaria en formulaciones modernas.</a:t>
            </a:r>
            <a:endParaRPr lang="en-US" sz="1150" dirty="0"/>
          </a:p>
        </p:txBody>
      </p:sp>
      <p:sp>
        <p:nvSpPr>
          <p:cNvPr id="22" name="Shape 15"/>
          <p:cNvSpPr/>
          <p:nvPr/>
        </p:nvSpPr>
        <p:spPr>
          <a:xfrm>
            <a:off x="548640" y="5429707"/>
            <a:ext cx="566928" cy="566928"/>
          </a:xfrm>
          <a:prstGeom prst="ellipse">
            <a:avLst/>
          </a:prstGeom>
          <a:solidFill>
            <a:srgbClr val="2E1A47"/>
          </a:solidFill>
          <a:ln/>
        </p:spPr>
      </p:sp>
      <p:pic>
        <p:nvPicPr>
          <p:cNvPr id="23" name="Image 5" descr="/tmp/claude-0/-home-user-gpa-academy1/adc6e4aa-3b77-57c1-ba92-a8d4ee625c84/scratchpad/ch5/icons/molecule_white.png">    </p:cNvPr>
          <p:cNvPicPr>
            <a:picLocks noChangeAspect="1"/>
          </p:cNvPicPr>
          <p:nvPr/>
        </p:nvPicPr>
        <p:blipFill>
          <a:blip r:embed="rId6"/>
          <a:stretch>
            <a:fillRect/>
          </a:stretch>
        </p:blipFill>
        <p:spPr>
          <a:xfrm>
            <a:off x="676199" y="5557266"/>
            <a:ext cx="311810" cy="311810"/>
          </a:xfrm>
          <a:prstGeom prst="rect">
            <a:avLst/>
          </a:prstGeom>
        </p:spPr>
      </p:pic>
      <p:sp>
        <p:nvSpPr>
          <p:cNvPr id="24" name="Text 16"/>
          <p:cNvSpPr/>
          <p:nvPr/>
        </p:nvSpPr>
        <p:spPr>
          <a:xfrm>
            <a:off x="1316736" y="5393131"/>
            <a:ext cx="10326319"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Relevancia farmacológica actual</a:t>
            </a:r>
            <a:endParaRPr lang="en-US" sz="1400" dirty="0"/>
          </a:p>
        </p:txBody>
      </p:sp>
      <p:sp>
        <p:nvSpPr>
          <p:cNvPr id="25" name="Text 17"/>
          <p:cNvSpPr/>
          <p:nvPr/>
        </p:nvSpPr>
        <p:spPr>
          <a:xfrm>
            <a:off x="1316736" y="5758891"/>
            <a:ext cx="10326319" cy="46085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El concepto de neuroesteroides anestésicos sigue siendo objeto de investigación, dado su perfil de acción sobre receptores GABA-A distinto de otros hipnóticos.</a:t>
            </a:r>
            <a:endParaRPr lang="en-US" sz="1150" dirty="0"/>
          </a:p>
        </p:txBody>
      </p:sp>
      <p:sp>
        <p:nvSpPr>
          <p:cNvPr id="27" name="Text 18"/>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8"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OTROS AGENTES</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Propanidida (Epontol® / Sombrevin®): Perfil Histórico</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antidote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molecule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warning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Perfil farmacológico</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Motivo de su desuso</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Estructura: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derivado de un éster del ácido eugénico (grupo de los eugenoles), químicamente distinto de los demás anestésicos endovenosos.</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Inicio y duración: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acción ultracorta, con inicio en menos de 30 segundos y duración clínica de apenas 4 a 6 minutos.</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Metabolismo: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hidrólisis muy rápida por esterasas plasmáticas, lo que explicaba su despertar casi inmediato.</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Uso histórico: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popular en la década de 1960–1970 para procedimientos ambulatorios muy breves.</a:t>
            </a:r>
            <a:endParaRPr lang="en-US" sz="125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Reacciones anafilactoides: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incidencia significativa de reacciones de hipersensibilidad, algunas graves, atribuidas tanto al fármaco como al solubilizante utilizado (Cremophor EL).</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Inestabilidad hemodinámica: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podía producir hipotensión marcada e hiperventilación transitoria.</a:t>
            </a:r>
            <a:endParaRPr lang="en-US" sz="1250" dirty="0"/>
          </a:p>
          <a:p>
            <a:pPr marL="342900" indent="-342900">
              <a:lnSpc>
                <a:spcPct val="114000"/>
              </a:lnSpc>
              <a:buSzPct val="100000"/>
              <a:buChar char="▪"/>
            </a:pPr>
            <a:r>
              <a:rPr lang="en-US" sz="1250" b="1" dirty="0">
                <a:solidFill>
                  <a:srgbClr val="2E1A47"/>
                </a:solidFill>
                <a:latin typeface="Calibri" pitchFamily="34" charset="0"/>
                <a:ea typeface="Calibri" pitchFamily="34" charset="-122"/>
                <a:cs typeface="Calibri" pitchFamily="34" charset="-120"/>
              </a:rPr>
              <a:t>Retiro del mercado:  </a:t>
            </a:r>
            <a:pPr indent="0" marL="0">
              <a:lnSpc>
                <a:spcPct val="114000"/>
              </a:lnSpc>
              <a:spcAft>
                <a:spcPts val="800"/>
              </a:spcAft>
              <a:buNone/>
            </a:pPr>
            <a:r>
              <a:rPr lang="en-US" sz="1250" dirty="0">
                <a:solidFill>
                  <a:srgbClr val="3A2C52"/>
                </a:solidFill>
                <a:latin typeface="Calibri" pitchFamily="34" charset="0"/>
                <a:ea typeface="Calibri" pitchFamily="34" charset="-122"/>
                <a:cs typeface="Calibri" pitchFamily="34" charset="-120"/>
              </a:rPr>
              <a:t>discontinuada progresivamente desde finales de los años setenta y ochenta ante la aparición de alternativas más seguras como el propofol.</a:t>
            </a:r>
            <a:endParaRPr lang="en-US" sz="125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SÍNTESIS FARMACOLÓGICA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Cuadro Comparativo de los Principales Anestésicos Endovenosos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balance_white.png">    </p:cNvPr>
          <p:cNvPicPr>
            <a:picLocks noChangeAspect="1"/>
          </p:cNvPicPr>
          <p:nvPr/>
        </p:nvPicPr>
        <p:blipFill>
          <a:blip r:embed="rId1"/>
          <a:stretch>
            <a:fillRect/>
          </a:stretch>
        </p:blipFill>
        <p:spPr>
          <a:xfrm>
            <a:off x="11022178" y="625450"/>
            <a:ext cx="404165" cy="404165"/>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94415" cy="914400"/>
        </p:xfrm>
        <a:graphic>
          <a:graphicData uri="http://schemas.openxmlformats.org/drawingml/2006/table">
            <a:tbl>
              <a:tblPr/>
              <a:tblGrid>
                <a:gridCol w="1554480"/>
                <a:gridCol w="1554480"/>
                <a:gridCol w="2011680"/>
                <a:gridCol w="2987345"/>
                <a:gridCol w="2987345"/>
              </a:tblGrid>
              <a:tr h="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Fármaco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Inicio de</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acción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Duración</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(dosis única)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Efecto</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hemodinámico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Efecto</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respiratorio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r>
              <a:tr h="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Tiopental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10–20 seg</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5–10 min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Hipotensión, venodilatación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Depresión marcada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Ketamina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30–60 seg</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10–15 min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Estimulación simpática (↑PA, ↑FC)</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Relativamente preservado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r h="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Propofol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&lt;40 seg</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3–8 min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Hipotensión, depresión miocárdica leve</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Depresión marcada, apnea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Etomidato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&lt;30 seg</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3–8 min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Muy estable</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Depresión moderada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r h="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Midazolam</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1–3 min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15–30 min (dosis sedación)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Estable, leve hipotensión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Depresión leve-moderada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3776472"/>
            <a:ext cx="457200" cy="457200"/>
          </a:xfrm>
          <a:prstGeom prst="ellipse">
            <a:avLst/>
          </a:prstGeom>
          <a:solidFill>
            <a:srgbClr val="2E1A47"/>
          </a:solidFill>
          <a:ln/>
        </p:spPr>
      </p:sp>
      <p:pic>
        <p:nvPicPr>
          <p:cNvPr id="8" name="Image 1" descr="/tmp/claude-0/-home-user-gpa-academy1/adc6e4aa-3b77-57c1-ba92-a8d4ee625c84/scratchpad/ch5/icons/heart_white.png">    </p:cNvPr>
          <p:cNvPicPr>
            <a:picLocks noChangeAspect="1"/>
          </p:cNvPicPr>
          <p:nvPr/>
        </p:nvPicPr>
        <p:blipFill>
          <a:blip r:embed="rId2"/>
          <a:stretch>
            <a:fillRect/>
          </a:stretch>
        </p:blipFill>
        <p:spPr>
          <a:xfrm>
            <a:off x="651510" y="3879342"/>
            <a:ext cx="251460" cy="251460"/>
          </a:xfrm>
          <a:prstGeom prst="rect">
            <a:avLst/>
          </a:prstGeom>
        </p:spPr>
      </p:pic>
      <p:sp>
        <p:nvSpPr>
          <p:cNvPr id="9" name="Text 4"/>
          <p:cNvSpPr/>
          <p:nvPr/>
        </p:nvSpPr>
        <p:spPr>
          <a:xfrm>
            <a:off x="1207008" y="3739896"/>
            <a:ext cx="10436047"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Perfil hemodinámico</a:t>
            </a:r>
            <a:endParaRPr lang="en-US" sz="1400" dirty="0"/>
          </a:p>
        </p:txBody>
      </p:sp>
      <p:sp>
        <p:nvSpPr>
          <p:cNvPr id="10" name="Text 5"/>
          <p:cNvSpPr/>
          <p:nvPr/>
        </p:nvSpPr>
        <p:spPr>
          <a:xfrm>
            <a:off x="1207008" y="4105656"/>
            <a:ext cx="10436047" cy="274320"/>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El etomidato ofrece la mayor estabilidad cardiovascular; la ketamina estimula el tono simpático.</a:t>
            </a:r>
            <a:endParaRPr lang="en-US" sz="1150" dirty="0"/>
          </a:p>
        </p:txBody>
      </p:sp>
      <p:sp>
        <p:nvSpPr>
          <p:cNvPr id="11" name="Shape 6"/>
          <p:cNvSpPr/>
          <p:nvPr/>
        </p:nvSpPr>
        <p:spPr>
          <a:xfrm>
            <a:off x="548640" y="4507992"/>
            <a:ext cx="457200" cy="457200"/>
          </a:xfrm>
          <a:prstGeom prst="ellipse">
            <a:avLst/>
          </a:prstGeom>
          <a:solidFill>
            <a:srgbClr val="6B4E8E"/>
          </a:solidFill>
          <a:ln/>
        </p:spPr>
      </p:sp>
      <p:pic>
        <p:nvPicPr>
          <p:cNvPr id="12" name="Image 2" descr="/tmp/claude-0/-home-user-gpa-academy1/adc6e4aa-3b77-57c1-ba92-a8d4ee625c84/scratchpad/ch5/icons/lungs_white.png">    </p:cNvPr>
          <p:cNvPicPr>
            <a:picLocks noChangeAspect="1"/>
          </p:cNvPicPr>
          <p:nvPr/>
        </p:nvPicPr>
        <p:blipFill>
          <a:blip r:embed="rId3"/>
          <a:stretch>
            <a:fillRect/>
          </a:stretch>
        </p:blipFill>
        <p:spPr>
          <a:xfrm>
            <a:off x="651510" y="4610862"/>
            <a:ext cx="251460" cy="251460"/>
          </a:xfrm>
          <a:prstGeom prst="rect">
            <a:avLst/>
          </a:prstGeom>
        </p:spPr>
      </p:pic>
      <p:sp>
        <p:nvSpPr>
          <p:cNvPr id="13" name="Text 7"/>
          <p:cNvSpPr/>
          <p:nvPr/>
        </p:nvSpPr>
        <p:spPr>
          <a:xfrm>
            <a:off x="1207008" y="4471416"/>
            <a:ext cx="10436047"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Perfil respiratorio</a:t>
            </a:r>
            <a:endParaRPr lang="en-US" sz="1400" dirty="0"/>
          </a:p>
        </p:txBody>
      </p:sp>
      <p:sp>
        <p:nvSpPr>
          <p:cNvPr id="14" name="Text 8"/>
          <p:cNvSpPr/>
          <p:nvPr/>
        </p:nvSpPr>
        <p:spPr>
          <a:xfrm>
            <a:off x="1207008" y="4837176"/>
            <a:ext cx="10436047" cy="274320"/>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ketamina preserva mejor la ventilación espontánea que el resto de los agentes.</a:t>
            </a:r>
            <a:endParaRPr lang="en-US" sz="1150" dirty="0"/>
          </a:p>
        </p:txBody>
      </p:sp>
      <p:sp>
        <p:nvSpPr>
          <p:cNvPr id="15" name="Shape 9"/>
          <p:cNvSpPr/>
          <p:nvPr/>
        </p:nvSpPr>
        <p:spPr>
          <a:xfrm>
            <a:off x="548640" y="5285232"/>
            <a:ext cx="11094415" cy="914400"/>
          </a:xfrm>
          <a:prstGeom prst="roundRect">
            <a:avLst>
              <a:gd name="adj" fmla="val 9000"/>
            </a:avLst>
          </a:prstGeom>
          <a:solidFill>
            <a:srgbClr val="EFE9F7"/>
          </a:solidFill>
          <a:ln/>
        </p:spPr>
      </p:sp>
      <p:sp>
        <p:nvSpPr>
          <p:cNvPr id="16" name="Shape 10"/>
          <p:cNvSpPr/>
          <p:nvPr/>
        </p:nvSpPr>
        <p:spPr>
          <a:xfrm>
            <a:off x="749808" y="5504688"/>
            <a:ext cx="475488" cy="475488"/>
          </a:xfrm>
          <a:prstGeom prst="ellipse">
            <a:avLst/>
          </a:prstGeom>
          <a:solidFill>
            <a:srgbClr val="00B4A6"/>
          </a:solidFill>
          <a:ln/>
        </p:spPr>
      </p:sp>
      <p:pic>
        <p:nvPicPr>
          <p:cNvPr id="17" name="Image 3" descr="/tmp/claude-0/-home-user-gpa-academy1/adc6e4aa-3b77-57c1-ba92-a8d4ee625c84/scratchpad/ch5/icons/checklist_white.png">    </p:cNvPr>
          <p:cNvPicPr>
            <a:picLocks noChangeAspect="1"/>
          </p:cNvPicPr>
          <p:nvPr/>
        </p:nvPicPr>
        <p:blipFill>
          <a:blip r:embed="rId4"/>
          <a:stretch>
            <a:fillRect/>
          </a:stretch>
        </p:blipFill>
        <p:spPr>
          <a:xfrm>
            <a:off x="856793" y="5611673"/>
            <a:ext cx="261518" cy="261518"/>
          </a:xfrm>
          <a:prstGeom prst="rect">
            <a:avLst/>
          </a:prstGeom>
        </p:spPr>
      </p:pic>
      <p:sp>
        <p:nvSpPr>
          <p:cNvPr id="18" name="Text 11"/>
          <p:cNvSpPr/>
          <p:nvPr/>
        </p:nvSpPr>
        <p:spPr>
          <a:xfrm>
            <a:off x="1417320" y="5376672"/>
            <a:ext cx="9997135" cy="731520"/>
          </a:xfrm>
          <a:prstGeom prst="rect">
            <a:avLst/>
          </a:prstGeom>
          <a:noFill/>
          <a:ln/>
        </p:spPr>
        <p:txBody>
          <a:bodyPr wrap="square" lIns="0" tIns="0" rIns="0" bIns="0" rtlCol="0" anchor="ctr"/>
          <a:lstStyle/>
          <a:p>
            <a:pPr indent="0" marL="0">
              <a:lnSpc>
                <a:spcPct val="116000"/>
              </a:lnSpc>
              <a:buNone/>
            </a:pPr>
            <a:r>
              <a:rPr lang="en-US" sz="1250" i="1" dirty="0">
                <a:solidFill>
                  <a:srgbClr val="241636"/>
                </a:solidFill>
                <a:latin typeface="Calibri" pitchFamily="34" charset="0"/>
                <a:ea typeface="Calibri" pitchFamily="34" charset="-122"/>
                <a:cs typeface="Calibri" pitchFamily="34" charset="-120"/>
              </a:rPr>
              <a:t>Perla clínica: ningún anestésico endovenoso es "universalmente seguro"; la seguridad relativa depende del contexto hemodinámico y respiratorio del paciente.</a:t>
            </a:r>
            <a:endParaRPr lang="en-US" sz="1250" dirty="0"/>
          </a:p>
        </p:txBody>
      </p:sp>
      <p:sp>
        <p:nvSpPr>
          <p:cNvPr id="20" name="Text 12"/>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21"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APLICACIÓN CLÍNICA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Selección del Anestésico Endovenoso según el Paciente y la Cirugía</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target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87188" cy="1377696"/>
          </a:xfrm>
          <a:prstGeom prst="roundRect">
            <a:avLst>
              <a:gd name="adj" fmla="val 5310"/>
            </a:avLst>
          </a:prstGeom>
          <a:solidFill>
            <a:srgbClr val="F7F5FA"/>
          </a:solidFill>
          <a:ln/>
        </p:spPr>
      </p:sp>
      <p:sp>
        <p:nvSpPr>
          <p:cNvPr id="7" name="Shape 4"/>
          <p:cNvSpPr/>
          <p:nvPr/>
        </p:nvSpPr>
        <p:spPr>
          <a:xfrm>
            <a:off x="749808" y="1792224"/>
            <a:ext cx="530352" cy="530352"/>
          </a:xfrm>
          <a:prstGeom prst="ellipse">
            <a:avLst/>
          </a:prstGeom>
          <a:solidFill>
            <a:srgbClr val="6B4E8E"/>
          </a:solidFill>
          <a:ln/>
        </p:spPr>
      </p:sp>
      <p:pic>
        <p:nvPicPr>
          <p:cNvPr id="8" name="Image 1" descr="/tmp/claude-0/-home-user-gpa-academy1/adc6e4aa-3b77-57c1-ba92-a8d4ee625c84/scratchpad/ch5/icons/heart_white.png">    </p:cNvPr>
          <p:cNvPicPr>
            <a:picLocks noChangeAspect="1"/>
          </p:cNvPicPr>
          <p:nvPr/>
        </p:nvPicPr>
        <p:blipFill>
          <a:blip r:embed="rId2"/>
          <a:stretch>
            <a:fillRect/>
          </a:stretch>
        </p:blipFill>
        <p:spPr>
          <a:xfrm>
            <a:off x="869137" y="1911553"/>
            <a:ext cx="291694" cy="291694"/>
          </a:xfrm>
          <a:prstGeom prst="rect">
            <a:avLst/>
          </a:prstGeom>
        </p:spPr>
      </p:pic>
      <p:sp>
        <p:nvSpPr>
          <p:cNvPr id="9" name="Text 5"/>
          <p:cNvSpPr/>
          <p:nvPr/>
        </p:nvSpPr>
        <p:spPr>
          <a:xfrm>
            <a:off x="1481328" y="1755648"/>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Paciente cardiópata / inestable</a:t>
            </a:r>
            <a:endParaRPr lang="en-US" sz="1400" dirty="0"/>
          </a:p>
        </p:txBody>
      </p:sp>
      <p:sp>
        <p:nvSpPr>
          <p:cNvPr id="10" name="Text 6"/>
          <p:cNvSpPr/>
          <p:nvPr/>
        </p:nvSpPr>
        <p:spPr>
          <a:xfrm>
            <a:off x="1481328" y="2121408"/>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Etomidato como primera opción por su estabilidad hemodinámica; ketamina como alternativa si se privilegia la reserva simpática.</a:t>
            </a:r>
            <a:endParaRPr lang="en-US" sz="1150" dirty="0"/>
          </a:p>
        </p:txBody>
      </p:sp>
      <p:sp>
        <p:nvSpPr>
          <p:cNvPr id="11" name="Shape 7"/>
          <p:cNvSpPr/>
          <p:nvPr/>
        </p:nvSpPr>
        <p:spPr>
          <a:xfrm>
            <a:off x="6255868" y="1627632"/>
            <a:ext cx="5387188" cy="1377696"/>
          </a:xfrm>
          <a:prstGeom prst="roundRect">
            <a:avLst>
              <a:gd name="adj" fmla="val 5310"/>
            </a:avLst>
          </a:prstGeom>
          <a:solidFill>
            <a:srgbClr val="F7F5FA"/>
          </a:solidFill>
          <a:ln/>
        </p:spPr>
      </p:sp>
      <p:sp>
        <p:nvSpPr>
          <p:cNvPr id="12" name="Shape 8"/>
          <p:cNvSpPr/>
          <p:nvPr/>
        </p:nvSpPr>
        <p:spPr>
          <a:xfrm>
            <a:off x="6457036" y="1792224"/>
            <a:ext cx="530352" cy="530352"/>
          </a:xfrm>
          <a:prstGeom prst="ellipse">
            <a:avLst/>
          </a:prstGeom>
          <a:solidFill>
            <a:srgbClr val="6B4E8E"/>
          </a:solidFill>
          <a:ln/>
        </p:spPr>
      </p:sp>
      <p:pic>
        <p:nvPicPr>
          <p:cNvPr id="13" name="Image 2" descr="/tmp/claude-0/-home-user-gpa-academy1/adc6e4aa-3b77-57c1-ba92-a8d4ee625c84/scratchpad/ch5/icons/userinjured_white.png">    </p:cNvPr>
          <p:cNvPicPr>
            <a:picLocks noChangeAspect="1"/>
          </p:cNvPicPr>
          <p:nvPr/>
        </p:nvPicPr>
        <p:blipFill>
          <a:blip r:embed="rId3"/>
          <a:stretch>
            <a:fillRect/>
          </a:stretch>
        </p:blipFill>
        <p:spPr>
          <a:xfrm>
            <a:off x="6576365" y="1911553"/>
            <a:ext cx="291694" cy="291694"/>
          </a:xfrm>
          <a:prstGeom prst="rect">
            <a:avLst/>
          </a:prstGeom>
        </p:spPr>
      </p:pic>
      <p:sp>
        <p:nvSpPr>
          <p:cNvPr id="14" name="Text 9"/>
          <p:cNvSpPr/>
          <p:nvPr/>
        </p:nvSpPr>
        <p:spPr>
          <a:xfrm>
            <a:off x="7188556" y="1755648"/>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Trauma con shock hipovolémico</a:t>
            </a:r>
            <a:endParaRPr lang="en-US" sz="1400" dirty="0"/>
          </a:p>
        </p:txBody>
      </p:sp>
      <p:sp>
        <p:nvSpPr>
          <p:cNvPr id="15" name="Text 10"/>
          <p:cNvSpPr/>
          <p:nvPr/>
        </p:nvSpPr>
        <p:spPr>
          <a:xfrm>
            <a:off x="7188556" y="2121408"/>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Ketamina o etomidato, evitando fármacos con marcado efecto vasodilatador como propofol o tiopental a dosis plenas.</a:t>
            </a:r>
            <a:endParaRPr lang="en-US" sz="1150" dirty="0"/>
          </a:p>
        </p:txBody>
      </p:sp>
      <p:sp>
        <p:nvSpPr>
          <p:cNvPr id="16" name="Shape 11"/>
          <p:cNvSpPr/>
          <p:nvPr/>
        </p:nvSpPr>
        <p:spPr>
          <a:xfrm>
            <a:off x="548640" y="3233928"/>
            <a:ext cx="5387188" cy="1377696"/>
          </a:xfrm>
          <a:prstGeom prst="roundRect">
            <a:avLst>
              <a:gd name="adj" fmla="val 5310"/>
            </a:avLst>
          </a:prstGeom>
          <a:solidFill>
            <a:srgbClr val="F7F5FA"/>
          </a:solidFill>
          <a:ln/>
        </p:spPr>
      </p:sp>
      <p:sp>
        <p:nvSpPr>
          <p:cNvPr id="17" name="Shape 12"/>
          <p:cNvSpPr/>
          <p:nvPr/>
        </p:nvSpPr>
        <p:spPr>
          <a:xfrm>
            <a:off x="749808" y="3398520"/>
            <a:ext cx="530352" cy="530352"/>
          </a:xfrm>
          <a:prstGeom prst="ellipse">
            <a:avLst/>
          </a:prstGeom>
          <a:solidFill>
            <a:srgbClr val="6B4E8E"/>
          </a:solidFill>
          <a:ln/>
        </p:spPr>
      </p:sp>
      <p:pic>
        <p:nvPicPr>
          <p:cNvPr id="18" name="Image 3" descr="/tmp/claude-0/-home-user-gpa-academy1/adc6e4aa-3b77-57c1-ba92-a8d4ee625c84/scratchpad/ch5/icons/childcare_white.png">    </p:cNvPr>
          <p:cNvPicPr>
            <a:picLocks noChangeAspect="1"/>
          </p:cNvPicPr>
          <p:nvPr/>
        </p:nvPicPr>
        <p:blipFill>
          <a:blip r:embed="rId4"/>
          <a:stretch>
            <a:fillRect/>
          </a:stretch>
        </p:blipFill>
        <p:spPr>
          <a:xfrm>
            <a:off x="869137" y="3517849"/>
            <a:ext cx="291694" cy="291694"/>
          </a:xfrm>
          <a:prstGeom prst="rect">
            <a:avLst/>
          </a:prstGeom>
        </p:spPr>
      </p:pic>
      <p:sp>
        <p:nvSpPr>
          <p:cNvPr id="19" name="Text 13"/>
          <p:cNvSpPr/>
          <p:nvPr/>
        </p:nvSpPr>
        <p:spPr>
          <a:xfrm>
            <a:off x="1481328" y="3361944"/>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Anestesia pediátrica</a:t>
            </a:r>
            <a:endParaRPr lang="en-US" sz="1400" dirty="0"/>
          </a:p>
        </p:txBody>
      </p:sp>
      <p:sp>
        <p:nvSpPr>
          <p:cNvPr id="20" name="Text 14"/>
          <p:cNvSpPr/>
          <p:nvPr/>
        </p:nvSpPr>
        <p:spPr>
          <a:xfrm>
            <a:off x="1481328" y="3727704"/>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Propofol para inducción endovenosa estándar; ketamina intramuscular si no hay acceso venoso disponible.</a:t>
            </a:r>
            <a:endParaRPr lang="en-US" sz="1150" dirty="0"/>
          </a:p>
        </p:txBody>
      </p:sp>
      <p:sp>
        <p:nvSpPr>
          <p:cNvPr id="21" name="Shape 15"/>
          <p:cNvSpPr/>
          <p:nvPr/>
        </p:nvSpPr>
        <p:spPr>
          <a:xfrm>
            <a:off x="6255868" y="3233928"/>
            <a:ext cx="5387188" cy="1377696"/>
          </a:xfrm>
          <a:prstGeom prst="roundRect">
            <a:avLst>
              <a:gd name="adj" fmla="val 5310"/>
            </a:avLst>
          </a:prstGeom>
          <a:solidFill>
            <a:srgbClr val="F7F5FA"/>
          </a:solidFill>
          <a:ln/>
        </p:spPr>
      </p:sp>
      <p:sp>
        <p:nvSpPr>
          <p:cNvPr id="22" name="Shape 16"/>
          <p:cNvSpPr/>
          <p:nvPr/>
        </p:nvSpPr>
        <p:spPr>
          <a:xfrm>
            <a:off x="6457036" y="3398520"/>
            <a:ext cx="530352" cy="530352"/>
          </a:xfrm>
          <a:prstGeom prst="ellipse">
            <a:avLst/>
          </a:prstGeom>
          <a:solidFill>
            <a:srgbClr val="6B4E8E"/>
          </a:solidFill>
          <a:ln/>
        </p:spPr>
      </p:sp>
      <p:pic>
        <p:nvPicPr>
          <p:cNvPr id="23" name="Image 4" descr="/tmp/claude-0/-home-user-gpa-academy1/adc6e4aa-3b77-57c1-ba92-a8d4ee625c84/scratchpad/ch5/icons/brain_white.png">    </p:cNvPr>
          <p:cNvPicPr>
            <a:picLocks noChangeAspect="1"/>
          </p:cNvPicPr>
          <p:nvPr/>
        </p:nvPicPr>
        <p:blipFill>
          <a:blip r:embed="rId5"/>
          <a:stretch>
            <a:fillRect/>
          </a:stretch>
        </p:blipFill>
        <p:spPr>
          <a:xfrm>
            <a:off x="6576365" y="3517849"/>
            <a:ext cx="291694" cy="291694"/>
          </a:xfrm>
          <a:prstGeom prst="rect">
            <a:avLst/>
          </a:prstGeom>
        </p:spPr>
      </p:pic>
      <p:sp>
        <p:nvSpPr>
          <p:cNvPr id="24" name="Text 17"/>
          <p:cNvSpPr/>
          <p:nvPr/>
        </p:nvSpPr>
        <p:spPr>
          <a:xfrm>
            <a:off x="7188556" y="3361944"/>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Neurocirugía / HTA endocraneana</a:t>
            </a:r>
            <a:endParaRPr lang="en-US" sz="1400" dirty="0"/>
          </a:p>
        </p:txBody>
      </p:sp>
      <p:sp>
        <p:nvSpPr>
          <p:cNvPr id="25" name="Text 18"/>
          <p:cNvSpPr/>
          <p:nvPr/>
        </p:nvSpPr>
        <p:spPr>
          <a:xfrm>
            <a:off x="7188556" y="3727704"/>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Propofol o tiopental por su efecto reductor del CMRO₂ y la presión intracraneal; ketamina con precaución bajo ventilación controlada.</a:t>
            </a:r>
            <a:endParaRPr lang="en-US" sz="1150" dirty="0"/>
          </a:p>
        </p:txBody>
      </p:sp>
      <p:sp>
        <p:nvSpPr>
          <p:cNvPr id="26" name="Shape 19"/>
          <p:cNvSpPr/>
          <p:nvPr/>
        </p:nvSpPr>
        <p:spPr>
          <a:xfrm>
            <a:off x="548640" y="4840224"/>
            <a:ext cx="5387188" cy="1377696"/>
          </a:xfrm>
          <a:prstGeom prst="roundRect">
            <a:avLst>
              <a:gd name="adj" fmla="val 5310"/>
            </a:avLst>
          </a:prstGeom>
          <a:solidFill>
            <a:srgbClr val="F7F5FA"/>
          </a:solidFill>
          <a:ln/>
        </p:spPr>
      </p:sp>
      <p:sp>
        <p:nvSpPr>
          <p:cNvPr id="27" name="Shape 20"/>
          <p:cNvSpPr/>
          <p:nvPr/>
        </p:nvSpPr>
        <p:spPr>
          <a:xfrm>
            <a:off x="749808" y="5004816"/>
            <a:ext cx="530352" cy="530352"/>
          </a:xfrm>
          <a:prstGeom prst="ellipse">
            <a:avLst/>
          </a:prstGeom>
          <a:solidFill>
            <a:srgbClr val="6B4E8E"/>
          </a:solidFill>
          <a:ln/>
        </p:spPr>
      </p:sp>
      <p:pic>
        <p:nvPicPr>
          <p:cNvPr id="28" name="Image 5" descr="/tmp/claude-0/-home-user-gpa-academy1/adc6e4aa-3b77-57c1-ba92-a8d4ee625c84/scratchpad/ch5/icons/lungs_white.png">    </p:cNvPr>
          <p:cNvPicPr>
            <a:picLocks noChangeAspect="1"/>
          </p:cNvPicPr>
          <p:nvPr/>
        </p:nvPicPr>
        <p:blipFill>
          <a:blip r:embed="rId6"/>
          <a:stretch>
            <a:fillRect/>
          </a:stretch>
        </p:blipFill>
        <p:spPr>
          <a:xfrm>
            <a:off x="869137" y="5124145"/>
            <a:ext cx="291694" cy="291694"/>
          </a:xfrm>
          <a:prstGeom prst="rect">
            <a:avLst/>
          </a:prstGeom>
        </p:spPr>
      </p:pic>
      <p:sp>
        <p:nvSpPr>
          <p:cNvPr id="29" name="Text 21"/>
          <p:cNvSpPr/>
          <p:nvPr/>
        </p:nvSpPr>
        <p:spPr>
          <a:xfrm>
            <a:off x="1481328" y="4968240"/>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Paciente asmático / broncoespasmo</a:t>
            </a:r>
            <a:endParaRPr lang="en-US" sz="1400" dirty="0"/>
          </a:p>
        </p:txBody>
      </p:sp>
      <p:sp>
        <p:nvSpPr>
          <p:cNvPr id="30" name="Text 22"/>
          <p:cNvSpPr/>
          <p:nvPr/>
        </p:nvSpPr>
        <p:spPr>
          <a:xfrm>
            <a:off x="1481328" y="5334000"/>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Ketamina o propofol, evitando tiopental por su potencial liberador de histamina.</a:t>
            </a:r>
            <a:endParaRPr lang="en-US" sz="1150" dirty="0"/>
          </a:p>
        </p:txBody>
      </p:sp>
      <p:sp>
        <p:nvSpPr>
          <p:cNvPr id="31" name="Shape 23"/>
          <p:cNvSpPr/>
          <p:nvPr/>
        </p:nvSpPr>
        <p:spPr>
          <a:xfrm>
            <a:off x="6255868" y="4840224"/>
            <a:ext cx="5387188" cy="1377696"/>
          </a:xfrm>
          <a:prstGeom prst="roundRect">
            <a:avLst>
              <a:gd name="adj" fmla="val 5310"/>
            </a:avLst>
          </a:prstGeom>
          <a:solidFill>
            <a:srgbClr val="F7F5FA"/>
          </a:solidFill>
          <a:ln/>
        </p:spPr>
      </p:sp>
      <p:sp>
        <p:nvSpPr>
          <p:cNvPr id="32" name="Shape 24"/>
          <p:cNvSpPr/>
          <p:nvPr/>
        </p:nvSpPr>
        <p:spPr>
          <a:xfrm>
            <a:off x="6457036" y="5004816"/>
            <a:ext cx="530352" cy="530352"/>
          </a:xfrm>
          <a:prstGeom prst="ellipse">
            <a:avLst/>
          </a:prstGeom>
          <a:solidFill>
            <a:srgbClr val="6B4E8E"/>
          </a:solidFill>
          <a:ln/>
        </p:spPr>
      </p:sp>
      <p:pic>
        <p:nvPicPr>
          <p:cNvPr id="33" name="Image 6" descr="/tmp/claude-0/-home-user-gpa-academy1/adc6e4aa-3b77-57c1-ba92-a8d4ee625c84/scratchpad/ch5/icons/stopwatch_white.png">    </p:cNvPr>
          <p:cNvPicPr>
            <a:picLocks noChangeAspect="1"/>
          </p:cNvPicPr>
          <p:nvPr/>
        </p:nvPicPr>
        <p:blipFill>
          <a:blip r:embed="rId7"/>
          <a:stretch>
            <a:fillRect/>
          </a:stretch>
        </p:blipFill>
        <p:spPr>
          <a:xfrm>
            <a:off x="6576365" y="5124145"/>
            <a:ext cx="291694" cy="291694"/>
          </a:xfrm>
          <a:prstGeom prst="rect">
            <a:avLst/>
          </a:prstGeom>
        </p:spPr>
      </p:pic>
      <p:sp>
        <p:nvSpPr>
          <p:cNvPr id="34" name="Text 25"/>
          <p:cNvSpPr/>
          <p:nvPr/>
        </p:nvSpPr>
        <p:spPr>
          <a:xfrm>
            <a:off x="7188556" y="4968240"/>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Cirugía ambulatoria breve</a:t>
            </a:r>
            <a:endParaRPr lang="en-US" sz="1400" dirty="0"/>
          </a:p>
        </p:txBody>
      </p:sp>
      <p:sp>
        <p:nvSpPr>
          <p:cNvPr id="35" name="Text 26"/>
          <p:cNvSpPr/>
          <p:nvPr/>
        </p:nvSpPr>
        <p:spPr>
          <a:xfrm>
            <a:off x="7188556" y="5334000"/>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Propofol por su perfil de recuperación rápido y bajo efecto antiemético residual favorable.</a:t>
            </a:r>
            <a:endParaRPr lang="en-US" sz="1150" dirty="0"/>
          </a:p>
        </p:txBody>
      </p:sp>
      <p:sp>
        <p:nvSpPr>
          <p:cNvPr id="37" name="Text 27"/>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38" name="Text 2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SEGURIDAD CLÍNICA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Complicaciones Asociadas al Uso de Anestésicos Endovenosos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warning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heart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chemical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Complicaciones cardiorrespiratorias</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Otras complicaciones relevantes</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Hipotensión arterial por vasodilatación y/o depresión miocárdica directa (propofol, tiopental).</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Depresión respiratoria y apnea, especialmente en combinación con opioides.</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Laringoespasmo y broncoespasmo por manipulación de vía aérea en plano anestésico superficial.</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Arritmias asociadas a hipoxemia, hipercapnia o estimulación simpática excesiva (ketamina en pacientes catecolamino-depletados).</a:t>
            </a:r>
            <a:endParaRPr lang="en-US" sz="120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Reacciones alérgicas y anafilactoides, con propofol (raras, atención a alergia al huevo/soja) y agentes históricos como propanidida.</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Dolor a la inyección y flebitis local, particularmente con propofol y etomidato.</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Emergencia psicomimética y agitación al despertar (ketamina).</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Náusea y vómito postoperatorio, más frecuentes con etomidato y opioides.</a:t>
            </a:r>
            <a:endParaRPr lang="en-US" sz="1200" dirty="0"/>
          </a:p>
          <a:p>
            <a:pPr marL="342900" indent="-342900">
              <a:lnSpc>
                <a:spcPct val="114000"/>
              </a:lnSpc>
              <a:spcAft>
                <a:spcPts val="800"/>
              </a:spcAft>
              <a:buSzPct val="100000"/>
              <a:buChar char="▪"/>
            </a:pPr>
            <a:r>
              <a:rPr lang="en-US" sz="1200" dirty="0">
                <a:solidFill>
                  <a:srgbClr val="3A2C52"/>
                </a:solidFill>
                <a:latin typeface="Calibri" pitchFamily="34" charset="0"/>
                <a:ea typeface="Calibri" pitchFamily="34" charset="-122"/>
                <a:cs typeface="Calibri" pitchFamily="34" charset="-120"/>
              </a:rPr>
              <a:t>Despertar intraoperatorio (awareness) por infra-dosificación relativa en TIVA sin monitoreo de profundidad anestésica.</a:t>
            </a:r>
            <a:endParaRPr lang="en-US" sz="120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SEGURIDAD CLÍNICA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Manejo de las Complicaciones Más Frecuentes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checklist_white.png">    </p:cNvPr>
          <p:cNvPicPr>
            <a:picLocks noChangeAspect="1"/>
          </p:cNvPicPr>
          <p:nvPr/>
        </p:nvPicPr>
        <p:blipFill>
          <a:blip r:embed="rId1"/>
          <a:stretch>
            <a:fillRect/>
          </a:stretch>
        </p:blipFill>
        <p:spPr>
          <a:xfrm>
            <a:off x="11022178" y="625450"/>
            <a:ext cx="404165" cy="404165"/>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73352"/>
          <a:ext cx="11094415" cy="914400"/>
        </p:xfrm>
        <a:graphic>
          <a:graphicData uri="http://schemas.openxmlformats.org/drawingml/2006/table">
            <a:tbl>
              <a:tblPr/>
              <a:tblGrid>
                <a:gridCol w="3108960"/>
                <a:gridCol w="7985455"/>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Complicación</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Medida de manejo inmediato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2E1A47"/>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Hipotensión arterial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Bolo de cristaloides, reducir tasa de infusión del hipnótico, vasopresor (efedrina/fenilefrina) según el contexto.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Depresión / apnea respiratoria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Soporte ventilatorio con mascarilla, optimizar vía aérea, considerar reversión si hay opioide/benzodiacepina asociada.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Laringoespasmo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Presión positiva con O₂ al 100%, maniobra de Larson, profundizar plano anestésico; succinilcolina si es refractario.</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Dolor a la inyección (propofol)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Lidocaína IV previa o mezclada, inyección en vena de mayor calibre (antecubital).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Emergencia psicomimética</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Ambiente tranquilo y con poca estimulación; midazolam titulado IV.</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3A2C52"/>
                          </a:solidFill>
                          <a:latin typeface="Calibri" pitchFamily="34" charset="0"/>
                          <a:ea typeface="Calibri" pitchFamily="34" charset="-122"/>
                          <a:cs typeface="Calibri" pitchFamily="34" charset="-120"/>
                        </a:rPr>
                        <a:t>Inyección intraarterial accidental</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c>
                  <a:txBody>
                    <a:bodyPr/>
                    <a:lstStyle/>
                    <a:p>
                      <a:pPr algn="ctr" indent="0" marL="0">
                        <a:buNone/>
                      </a:pPr>
                      <a:r>
                        <a:rPr lang="en-US" sz="1100" dirty="0">
                          <a:solidFill>
                            <a:srgbClr val="3A2C52"/>
                          </a:solidFill>
                          <a:latin typeface="Calibri" pitchFamily="34" charset="0"/>
                          <a:ea typeface="Calibri" pitchFamily="34" charset="-122"/>
                          <a:cs typeface="Calibri" pitchFamily="34" charset="-120"/>
                        </a:rPr>
                        <a:t>Dejar catéter in situ, lidocaína/papaverina intraarterial, anticoagulación, evaluación vascular.</a:t>
                      </a:r>
                      <a:endParaRPr lang="en-US" sz="1100" dirty="0">
                        <a:latin typeface="Calibri" charset="0"/>
                        <a:ea typeface="Calibri" charset="0"/>
                        <a:cs typeface="Calibri" charset="0"/>
                      </a:endParaRPr>
                    </a:p>
                  </a:txBody>
                  <a:tcPr marL="54864" marR="54864" marT="36576" marB="36576" anchor="ctr">
                    <a:lnL w="9525" cap="flat" cmpd="sng" algn="ctr">
                      <a:solidFill>
                        <a:srgbClr val="E1D8F0"/>
                      </a:solidFill>
                      <a:prstDash val="solid"/>
                      <a:round/>
                      <a:headEnd type="none" w="med" len="med"/>
                      <a:tailEnd type="none" w="med" len="med"/>
                    </a:lnL>
                    <a:lnR w="9525" cap="flat" cmpd="sng" algn="ctr">
                      <a:solidFill>
                        <a:srgbClr val="E1D8F0"/>
                      </a:solidFill>
                      <a:prstDash val="solid"/>
                      <a:round/>
                      <a:headEnd type="none" w="med" len="med"/>
                      <a:tailEnd type="none" w="med" len="med"/>
                    </a:lnR>
                    <a:lnT w="9525" cap="flat" cmpd="sng" algn="ctr">
                      <a:solidFill>
                        <a:srgbClr val="E1D8F0"/>
                      </a:solidFill>
                      <a:prstDash val="solid"/>
                      <a:round/>
                      <a:headEnd type="none" w="med" len="med"/>
                      <a:tailEnd type="none" w="med" len="med"/>
                    </a:lnT>
                    <a:lnB w="9525" cap="flat" cmpd="sng" algn="ctr">
                      <a:solidFill>
                        <a:srgbClr val="E1D8F0"/>
                      </a:solidFill>
                      <a:prstDash val="solid"/>
                      <a:round/>
                      <a:headEnd type="none" w="med" len="med"/>
                      <a:tailEnd type="none" w="med" len="med"/>
                    </a:lnB>
                    <a:solidFill>
                      <a:srgbClr val="EFE9F7"/>
                    </a:solidFill>
                  </a:tcPr>
                </a:tc>
              </a:tr>
            </a:tbl>
          </a:graphicData>
        </a:graphic>
      </p:graphicFrame>
      <p:sp>
        <p:nvSpPr>
          <p:cNvPr id="7" name="Shape 3"/>
          <p:cNvSpPr/>
          <p:nvPr/>
        </p:nvSpPr>
        <p:spPr>
          <a:xfrm>
            <a:off x="548640" y="5056632"/>
            <a:ext cx="11094415" cy="914400"/>
          </a:xfrm>
          <a:prstGeom prst="roundRect">
            <a:avLst>
              <a:gd name="adj" fmla="val 9000"/>
            </a:avLst>
          </a:prstGeom>
          <a:solidFill>
            <a:srgbClr val="EFE9F7"/>
          </a:solidFill>
          <a:ln/>
        </p:spPr>
      </p:sp>
      <p:sp>
        <p:nvSpPr>
          <p:cNvPr id="8" name="Shape 4"/>
          <p:cNvSpPr/>
          <p:nvPr/>
        </p:nvSpPr>
        <p:spPr>
          <a:xfrm>
            <a:off x="749808" y="5276088"/>
            <a:ext cx="475488" cy="475488"/>
          </a:xfrm>
          <a:prstGeom prst="ellipse">
            <a:avLst/>
          </a:prstGeom>
          <a:solidFill>
            <a:srgbClr val="00B4A6"/>
          </a:solidFill>
          <a:ln/>
        </p:spPr>
      </p:sp>
      <p:pic>
        <p:nvPicPr>
          <p:cNvPr id="9" name="Image 1" descr="/tmp/claude-0/-home-user-gpa-academy1/adc6e4aa-3b77-57c1-ba92-a8d4ee625c84/scratchpad/ch5/icons/warning_white.png">    </p:cNvPr>
          <p:cNvPicPr>
            <a:picLocks noChangeAspect="1"/>
          </p:cNvPicPr>
          <p:nvPr/>
        </p:nvPicPr>
        <p:blipFill>
          <a:blip r:embed="rId2"/>
          <a:stretch>
            <a:fillRect/>
          </a:stretch>
        </p:blipFill>
        <p:spPr>
          <a:xfrm>
            <a:off x="856793" y="5383073"/>
            <a:ext cx="261518" cy="261518"/>
          </a:xfrm>
          <a:prstGeom prst="rect">
            <a:avLst/>
          </a:prstGeom>
        </p:spPr>
      </p:pic>
      <p:sp>
        <p:nvSpPr>
          <p:cNvPr id="10" name="Text 5"/>
          <p:cNvSpPr/>
          <p:nvPr/>
        </p:nvSpPr>
        <p:spPr>
          <a:xfrm>
            <a:off x="1417320" y="5148072"/>
            <a:ext cx="9997135" cy="731520"/>
          </a:xfrm>
          <a:prstGeom prst="rect">
            <a:avLst/>
          </a:prstGeom>
          <a:noFill/>
          <a:ln/>
        </p:spPr>
        <p:txBody>
          <a:bodyPr wrap="square" lIns="0" tIns="0" rIns="0" bIns="0" rtlCol="0" anchor="ctr"/>
          <a:lstStyle/>
          <a:p>
            <a:pPr indent="0" marL="0">
              <a:lnSpc>
                <a:spcPct val="116000"/>
              </a:lnSpc>
              <a:buNone/>
            </a:pPr>
            <a:r>
              <a:rPr lang="en-US" sz="1250" i="1" dirty="0">
                <a:solidFill>
                  <a:srgbClr val="241636"/>
                </a:solidFill>
                <a:latin typeface="Calibri" pitchFamily="34" charset="0"/>
                <a:ea typeface="Calibri" pitchFamily="34" charset="-122"/>
                <a:cs typeface="Calibri" pitchFamily="34" charset="-120"/>
              </a:rPr>
              <a:t>Perla clínica: el laringoespasmo es una urgencia de vía aérea tiempo-dependiente. El reconocimiento y manejo inmediato con presión positiva y O₂ al 100% evitan la progresión a hipoxemia grave y edema pulmonar por presión negativa.</a:t>
            </a:r>
            <a:endParaRPr lang="en-US" sz="1250" dirty="0"/>
          </a:p>
        </p:txBody>
      </p:sp>
      <p:sp>
        <p:nvSpPr>
          <p:cNvPr id="12" name="Text 6"/>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3"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EMERGENCIA ANESTÉSICA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Extubación tras Anestesia Endovenosa: Criterios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lungs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708404"/>
            <a:ext cx="512064" cy="512064"/>
          </a:xfrm>
          <a:prstGeom prst="ellipse">
            <a:avLst/>
          </a:prstGeom>
          <a:solidFill>
            <a:srgbClr val="2E1A47"/>
          </a:solidFill>
          <a:ln/>
        </p:spPr>
      </p:sp>
      <p:pic>
        <p:nvPicPr>
          <p:cNvPr id="7" name="Image 1" descr="/tmp/claude-0/-home-user-gpa-academy1/adc6e4aa-3b77-57c1-ba92-a8d4ee625c84/scratchpad/ch5/icons/checklist_white.png">    </p:cNvPr>
          <p:cNvPicPr>
            <a:picLocks noChangeAspect="1"/>
          </p:cNvPicPr>
          <p:nvPr/>
        </p:nvPicPr>
        <p:blipFill>
          <a:blip r:embed="rId2"/>
          <a:stretch>
            <a:fillRect/>
          </a:stretch>
        </p:blipFill>
        <p:spPr>
          <a:xfrm>
            <a:off x="663854" y="1823618"/>
            <a:ext cx="281635" cy="281635"/>
          </a:xfrm>
          <a:prstGeom prst="rect">
            <a:avLst/>
          </a:prstGeom>
        </p:spPr>
      </p:pic>
      <p:sp>
        <p:nvSpPr>
          <p:cNvPr id="8" name="Text 4"/>
          <p:cNvSpPr/>
          <p:nvPr/>
        </p:nvSpPr>
        <p:spPr>
          <a:xfrm>
            <a:off x="1261872" y="1671828"/>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Recuperación de la conciencia</a:t>
            </a:r>
            <a:endParaRPr lang="en-US" sz="1400" dirty="0"/>
          </a:p>
        </p:txBody>
      </p:sp>
      <p:sp>
        <p:nvSpPr>
          <p:cNvPr id="9" name="Text 5"/>
          <p:cNvSpPr/>
          <p:nvPr/>
        </p:nvSpPr>
        <p:spPr>
          <a:xfrm>
            <a:off x="1261872" y="2037588"/>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Paciente capaz de responder a órdenes verbales simples y de forma consistente (apertura ocular, apretón de manos).</a:t>
            </a:r>
            <a:endParaRPr lang="en-US" sz="1150" dirty="0"/>
          </a:p>
        </p:txBody>
      </p:sp>
      <p:sp>
        <p:nvSpPr>
          <p:cNvPr id="10" name="Shape 6"/>
          <p:cNvSpPr/>
          <p:nvPr/>
        </p:nvSpPr>
        <p:spPr>
          <a:xfrm>
            <a:off x="548640" y="2473452"/>
            <a:ext cx="512064" cy="512064"/>
          </a:xfrm>
          <a:prstGeom prst="ellipse">
            <a:avLst/>
          </a:prstGeom>
          <a:solidFill>
            <a:srgbClr val="6B4E8E"/>
          </a:solidFill>
          <a:ln/>
        </p:spPr>
      </p:sp>
      <p:pic>
        <p:nvPicPr>
          <p:cNvPr id="11" name="Image 2" descr="/tmp/claude-0/-home-user-gpa-academy1/adc6e4aa-3b77-57c1-ba92-a8d4ee625c84/scratchpad/ch5/icons/lungs_white.png">    </p:cNvPr>
          <p:cNvPicPr>
            <a:picLocks noChangeAspect="1"/>
          </p:cNvPicPr>
          <p:nvPr/>
        </p:nvPicPr>
        <p:blipFill>
          <a:blip r:embed="rId3"/>
          <a:stretch>
            <a:fillRect/>
          </a:stretch>
        </p:blipFill>
        <p:spPr>
          <a:xfrm>
            <a:off x="663854" y="2588666"/>
            <a:ext cx="281635" cy="281635"/>
          </a:xfrm>
          <a:prstGeom prst="rect">
            <a:avLst/>
          </a:prstGeom>
        </p:spPr>
      </p:pic>
      <p:sp>
        <p:nvSpPr>
          <p:cNvPr id="12" name="Text 7"/>
          <p:cNvSpPr/>
          <p:nvPr/>
        </p:nvSpPr>
        <p:spPr>
          <a:xfrm>
            <a:off x="1261872" y="2436876"/>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Reflejos protectores de la vía aérea</a:t>
            </a:r>
            <a:endParaRPr lang="en-US" sz="1400" dirty="0"/>
          </a:p>
        </p:txBody>
      </p:sp>
      <p:sp>
        <p:nvSpPr>
          <p:cNvPr id="13" name="Text 8"/>
          <p:cNvSpPr/>
          <p:nvPr/>
        </p:nvSpPr>
        <p:spPr>
          <a:xfrm>
            <a:off x="1261872" y="2802636"/>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Presencia de reflejo de deglución y tos efectivos, con capacidad de manejar secreciones sin riesgo de aspiración.</a:t>
            </a:r>
            <a:endParaRPr lang="en-US" sz="1150" dirty="0"/>
          </a:p>
        </p:txBody>
      </p:sp>
      <p:sp>
        <p:nvSpPr>
          <p:cNvPr id="14" name="Shape 9"/>
          <p:cNvSpPr/>
          <p:nvPr/>
        </p:nvSpPr>
        <p:spPr>
          <a:xfrm>
            <a:off x="548640" y="3238500"/>
            <a:ext cx="512064" cy="512064"/>
          </a:xfrm>
          <a:prstGeom prst="ellipse">
            <a:avLst/>
          </a:prstGeom>
          <a:solidFill>
            <a:srgbClr val="2E1A47"/>
          </a:solidFill>
          <a:ln/>
        </p:spPr>
      </p:sp>
      <p:pic>
        <p:nvPicPr>
          <p:cNvPr id="15" name="Image 3" descr="/tmp/claude-0/-home-user-gpa-academy1/adc6e4aa-3b77-57c1-ba92-a8d4ee625c84/scratchpad/ch5/icons/stopwatch_white.png">    </p:cNvPr>
          <p:cNvPicPr>
            <a:picLocks noChangeAspect="1"/>
          </p:cNvPicPr>
          <p:nvPr/>
        </p:nvPicPr>
        <p:blipFill>
          <a:blip r:embed="rId4"/>
          <a:stretch>
            <a:fillRect/>
          </a:stretch>
        </p:blipFill>
        <p:spPr>
          <a:xfrm>
            <a:off x="663854" y="3353714"/>
            <a:ext cx="281635" cy="281635"/>
          </a:xfrm>
          <a:prstGeom prst="rect">
            <a:avLst/>
          </a:prstGeom>
        </p:spPr>
      </p:pic>
      <p:sp>
        <p:nvSpPr>
          <p:cNvPr id="16" name="Text 10"/>
          <p:cNvSpPr/>
          <p:nvPr/>
        </p:nvSpPr>
        <p:spPr>
          <a:xfrm>
            <a:off x="1261872" y="3201924"/>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Reversión neuromuscular adecuada</a:t>
            </a:r>
            <a:endParaRPr lang="en-US" sz="1400" dirty="0"/>
          </a:p>
        </p:txBody>
      </p:sp>
      <p:sp>
        <p:nvSpPr>
          <p:cNvPr id="17" name="Text 11"/>
          <p:cNvSpPr/>
          <p:nvPr/>
        </p:nvSpPr>
        <p:spPr>
          <a:xfrm>
            <a:off x="1261872" y="3567684"/>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Tren de cuatro (TOF) ≥ 0.9 confirmado idealmente por monitorización cuantitativa, sin evidencia clínica de bloqueo residual.</a:t>
            </a:r>
            <a:endParaRPr lang="en-US" sz="1150" dirty="0"/>
          </a:p>
        </p:txBody>
      </p:sp>
      <p:sp>
        <p:nvSpPr>
          <p:cNvPr id="18" name="Shape 12"/>
          <p:cNvSpPr/>
          <p:nvPr/>
        </p:nvSpPr>
        <p:spPr>
          <a:xfrm>
            <a:off x="548640" y="4003548"/>
            <a:ext cx="512064" cy="512064"/>
          </a:xfrm>
          <a:prstGeom prst="ellipse">
            <a:avLst/>
          </a:prstGeom>
          <a:solidFill>
            <a:srgbClr val="6B4E8E"/>
          </a:solidFill>
          <a:ln/>
        </p:spPr>
      </p:sp>
      <p:pic>
        <p:nvPicPr>
          <p:cNvPr id="19" name="Image 4" descr="/tmp/claude-0/-home-user-gpa-academy1/adc6e4aa-3b77-57c1-ba92-a8d4ee625c84/scratchpad/ch5/icons/heart_white.png">    </p:cNvPr>
          <p:cNvPicPr>
            <a:picLocks noChangeAspect="1"/>
          </p:cNvPicPr>
          <p:nvPr/>
        </p:nvPicPr>
        <p:blipFill>
          <a:blip r:embed="rId5"/>
          <a:stretch>
            <a:fillRect/>
          </a:stretch>
        </p:blipFill>
        <p:spPr>
          <a:xfrm>
            <a:off x="663854" y="4118762"/>
            <a:ext cx="281635" cy="281635"/>
          </a:xfrm>
          <a:prstGeom prst="rect">
            <a:avLst/>
          </a:prstGeom>
        </p:spPr>
      </p:pic>
      <p:sp>
        <p:nvSpPr>
          <p:cNvPr id="20" name="Text 13"/>
          <p:cNvSpPr/>
          <p:nvPr/>
        </p:nvSpPr>
        <p:spPr>
          <a:xfrm>
            <a:off x="1261872" y="3966972"/>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Estabilidad hemodinámica</a:t>
            </a:r>
            <a:endParaRPr lang="en-US" sz="1400" dirty="0"/>
          </a:p>
        </p:txBody>
      </p:sp>
      <p:sp>
        <p:nvSpPr>
          <p:cNvPr id="21" name="Text 14"/>
          <p:cNvSpPr/>
          <p:nvPr/>
        </p:nvSpPr>
        <p:spPr>
          <a:xfrm>
            <a:off x="1261872" y="4332732"/>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Presión arterial y frecuencia cardíaca dentro de rangos aceptables para el paciente, sin sangrado activo no controlado.</a:t>
            </a:r>
            <a:endParaRPr lang="en-US" sz="1150" dirty="0"/>
          </a:p>
        </p:txBody>
      </p:sp>
      <p:sp>
        <p:nvSpPr>
          <p:cNvPr id="22" name="Shape 15"/>
          <p:cNvSpPr/>
          <p:nvPr/>
        </p:nvSpPr>
        <p:spPr>
          <a:xfrm>
            <a:off x="548640" y="4768596"/>
            <a:ext cx="512064" cy="512064"/>
          </a:xfrm>
          <a:prstGeom prst="ellipse">
            <a:avLst/>
          </a:prstGeom>
          <a:solidFill>
            <a:srgbClr val="2E1A47"/>
          </a:solidFill>
          <a:ln/>
        </p:spPr>
      </p:sp>
      <p:pic>
        <p:nvPicPr>
          <p:cNvPr id="23" name="Image 5" descr="/tmp/claude-0/-home-user-gpa-academy1/adc6e4aa-3b77-57c1-ba92-a8d4ee625c84/scratchpad/ch5/icons/drop_white.png">    </p:cNvPr>
          <p:cNvPicPr>
            <a:picLocks noChangeAspect="1"/>
          </p:cNvPicPr>
          <p:nvPr/>
        </p:nvPicPr>
        <p:blipFill>
          <a:blip r:embed="rId6"/>
          <a:stretch>
            <a:fillRect/>
          </a:stretch>
        </p:blipFill>
        <p:spPr>
          <a:xfrm>
            <a:off x="663854" y="4883810"/>
            <a:ext cx="281635" cy="281635"/>
          </a:xfrm>
          <a:prstGeom prst="rect">
            <a:avLst/>
          </a:prstGeom>
        </p:spPr>
      </p:pic>
      <p:sp>
        <p:nvSpPr>
          <p:cNvPr id="24" name="Text 16"/>
          <p:cNvSpPr/>
          <p:nvPr/>
        </p:nvSpPr>
        <p:spPr>
          <a:xfrm>
            <a:off x="1261872" y="4732020"/>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Ventilación espontánea adecuada</a:t>
            </a:r>
            <a:endParaRPr lang="en-US" sz="1400" dirty="0"/>
          </a:p>
        </p:txBody>
      </p:sp>
      <p:sp>
        <p:nvSpPr>
          <p:cNvPr id="25" name="Text 17"/>
          <p:cNvSpPr/>
          <p:nvPr/>
        </p:nvSpPr>
        <p:spPr>
          <a:xfrm>
            <a:off x="1261872" y="5097780"/>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Volumen corriente y frecuencia respiratoria suficientes, con normocapnia y saturación de oxígeno adecuada.</a:t>
            </a:r>
            <a:endParaRPr lang="en-US" sz="1150" dirty="0"/>
          </a:p>
        </p:txBody>
      </p:sp>
      <p:sp>
        <p:nvSpPr>
          <p:cNvPr id="26" name="Shape 18"/>
          <p:cNvSpPr/>
          <p:nvPr/>
        </p:nvSpPr>
        <p:spPr>
          <a:xfrm>
            <a:off x="548640" y="5533644"/>
            <a:ext cx="512064" cy="512064"/>
          </a:xfrm>
          <a:prstGeom prst="ellipse">
            <a:avLst/>
          </a:prstGeom>
          <a:solidFill>
            <a:srgbClr val="6B4E8E"/>
          </a:solidFill>
          <a:ln/>
        </p:spPr>
      </p:sp>
      <p:pic>
        <p:nvPicPr>
          <p:cNvPr id="27" name="Image 6" descr="/tmp/claude-0/-home-user-gpa-academy1/adc6e4aa-3b77-57c1-ba92-a8d4ee625c84/scratchpad/ch5/icons/warning_white.png">    </p:cNvPr>
          <p:cNvPicPr>
            <a:picLocks noChangeAspect="1"/>
          </p:cNvPicPr>
          <p:nvPr/>
        </p:nvPicPr>
        <p:blipFill>
          <a:blip r:embed="rId7"/>
          <a:stretch>
            <a:fillRect/>
          </a:stretch>
        </p:blipFill>
        <p:spPr>
          <a:xfrm>
            <a:off x="663854" y="5648858"/>
            <a:ext cx="281635" cy="281635"/>
          </a:xfrm>
          <a:prstGeom prst="rect">
            <a:avLst/>
          </a:prstGeom>
        </p:spPr>
      </p:pic>
      <p:sp>
        <p:nvSpPr>
          <p:cNvPr id="28" name="Text 19"/>
          <p:cNvSpPr/>
          <p:nvPr/>
        </p:nvSpPr>
        <p:spPr>
          <a:xfrm>
            <a:off x="1261872" y="5497068"/>
            <a:ext cx="10381183"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Normotermia</a:t>
            </a:r>
            <a:endParaRPr lang="en-US" sz="1400" dirty="0"/>
          </a:p>
        </p:txBody>
      </p:sp>
      <p:sp>
        <p:nvSpPr>
          <p:cNvPr id="29" name="Text 20"/>
          <p:cNvSpPr/>
          <p:nvPr/>
        </p:nvSpPr>
        <p:spPr>
          <a:xfrm>
            <a:off x="1261872" y="5862828"/>
            <a:ext cx="10381183" cy="307848"/>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hipotermia y los escalofríos incontrolados pueden alterar la mecánica respiratoria y el nivel de conciencia postoperatorio.</a:t>
            </a:r>
            <a:endParaRPr lang="en-US" sz="1150" dirty="0"/>
          </a:p>
        </p:txBody>
      </p:sp>
      <p:sp>
        <p:nvSpPr>
          <p:cNvPr id="31" name="Text 2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32"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EMERGENCIA ANESTÉSICA</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Extubación: Técnica y Manejo de Complicaciones Asociadas</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lungs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64328" cy="4590288"/>
          </a:xfrm>
          <a:prstGeom prst="roundRect">
            <a:avLst>
              <a:gd name="adj" fmla="val 1793"/>
            </a:avLst>
          </a:prstGeom>
          <a:solidFill>
            <a:srgbClr val="F3EFF8"/>
          </a:solidFill>
          <a:ln/>
        </p:spPr>
      </p:sp>
      <p:sp>
        <p:nvSpPr>
          <p:cNvPr id="7" name="Shape 4"/>
          <p:cNvSpPr/>
          <p:nvPr/>
        </p:nvSpPr>
        <p:spPr>
          <a:xfrm>
            <a:off x="6278728" y="1627632"/>
            <a:ext cx="5364328" cy="4590288"/>
          </a:xfrm>
          <a:prstGeom prst="roundRect">
            <a:avLst>
              <a:gd name="adj" fmla="val 1793"/>
            </a:avLst>
          </a:prstGeom>
          <a:solidFill>
            <a:srgbClr val="ECE6F5"/>
          </a:solidFill>
          <a:ln/>
        </p:spPr>
      </p:sp>
      <p:sp>
        <p:nvSpPr>
          <p:cNvPr id="8" name="Shape 5"/>
          <p:cNvSpPr/>
          <p:nvPr/>
        </p:nvSpPr>
        <p:spPr>
          <a:xfrm>
            <a:off x="804672" y="1883664"/>
            <a:ext cx="457200" cy="457200"/>
          </a:xfrm>
          <a:prstGeom prst="ellipse">
            <a:avLst/>
          </a:prstGeom>
          <a:solidFill>
            <a:srgbClr val="2E1A47"/>
          </a:solidFill>
          <a:ln/>
        </p:spPr>
      </p:sp>
      <p:pic>
        <p:nvPicPr>
          <p:cNvPr id="9" name="Image 1" descr="/tmp/claude-0/-home-user-gpa-academy1/adc6e4aa-3b77-57c1-ba92-a8d4ee625c84/scratchpad/ch5/icons/checklist_white.png">    </p:cNvPr>
          <p:cNvPicPr>
            <a:picLocks noChangeAspect="1"/>
          </p:cNvPicPr>
          <p:nvPr/>
        </p:nvPicPr>
        <p:blipFill>
          <a:blip r:embed="rId2"/>
          <a:stretch>
            <a:fillRect/>
          </a:stretch>
        </p:blipFill>
        <p:spPr>
          <a:xfrm>
            <a:off x="907542" y="1986534"/>
            <a:ext cx="251460" cy="251460"/>
          </a:xfrm>
          <a:prstGeom prst="rect">
            <a:avLst/>
          </a:prstGeom>
        </p:spPr>
      </p:pic>
      <p:sp>
        <p:nvSpPr>
          <p:cNvPr id="10" name="Shape 6"/>
          <p:cNvSpPr/>
          <p:nvPr/>
        </p:nvSpPr>
        <p:spPr>
          <a:xfrm>
            <a:off x="6534760" y="1883664"/>
            <a:ext cx="457200" cy="457200"/>
          </a:xfrm>
          <a:prstGeom prst="ellipse">
            <a:avLst/>
          </a:prstGeom>
          <a:solidFill>
            <a:srgbClr val="6B4E8E"/>
          </a:solidFill>
          <a:ln/>
        </p:spPr>
      </p:sp>
      <p:pic>
        <p:nvPicPr>
          <p:cNvPr id="11" name="Image 2" descr="/tmp/claude-0/-home-user-gpa-academy1/adc6e4aa-3b77-57c1-ba92-a8d4ee625c84/scratchpad/ch5/icons/warning_white.png">    </p:cNvPr>
          <p:cNvPicPr>
            <a:picLocks noChangeAspect="1"/>
          </p:cNvPicPr>
          <p:nvPr/>
        </p:nvPicPr>
        <p:blipFill>
          <a:blip r:embed="rId3"/>
          <a:stretch>
            <a:fillRect/>
          </a:stretch>
        </p:blipFill>
        <p:spPr>
          <a:xfrm>
            <a:off x="6637630" y="1986534"/>
            <a:ext cx="251460" cy="251460"/>
          </a:xfrm>
          <a:prstGeom prst="rect">
            <a:avLst/>
          </a:prstGeom>
        </p:spPr>
      </p:pic>
      <p:sp>
        <p:nvSpPr>
          <p:cNvPr id="12" name="Text 7"/>
          <p:cNvSpPr/>
          <p:nvPr/>
        </p:nvSpPr>
        <p:spPr>
          <a:xfrm>
            <a:off x="1399032" y="1856232"/>
            <a:ext cx="4257904" cy="457200"/>
          </a:xfrm>
          <a:prstGeom prst="rect">
            <a:avLst/>
          </a:prstGeom>
          <a:noFill/>
          <a:ln/>
        </p:spPr>
        <p:txBody>
          <a:bodyPr wrap="square" lIns="0" tIns="0" rIns="0" bIns="0" rtlCol="0" anchor="ctr"/>
          <a:lstStyle/>
          <a:p>
            <a:pPr indent="0" marL="0">
              <a:buNone/>
            </a:pPr>
            <a:r>
              <a:rPr lang="en-US" sz="1550" b="1" dirty="0">
                <a:solidFill>
                  <a:srgbClr val="2E1A47"/>
                </a:solidFill>
                <a:latin typeface="Cambria" pitchFamily="34" charset="0"/>
                <a:ea typeface="Cambria" pitchFamily="34" charset="-122"/>
                <a:cs typeface="Cambria" pitchFamily="34" charset="-120"/>
              </a:rPr>
              <a:t>Técnica de extubación</a:t>
            </a:r>
            <a:endParaRPr lang="en-US" sz="1550" dirty="0"/>
          </a:p>
        </p:txBody>
      </p:sp>
      <p:sp>
        <p:nvSpPr>
          <p:cNvPr id="13" name="Text 8"/>
          <p:cNvSpPr/>
          <p:nvPr/>
        </p:nvSpPr>
        <p:spPr>
          <a:xfrm>
            <a:off x="7129120" y="1856232"/>
            <a:ext cx="4257904" cy="457200"/>
          </a:xfrm>
          <a:prstGeom prst="rect">
            <a:avLst/>
          </a:prstGeom>
          <a:noFill/>
          <a:ln/>
        </p:spPr>
        <p:txBody>
          <a:bodyPr wrap="square" lIns="0" tIns="0" rIns="0" bIns="0" rtlCol="0" anchor="ctr"/>
          <a:lstStyle/>
          <a:p>
            <a:pPr indent="0" marL="0">
              <a:buNone/>
            </a:pPr>
            <a:r>
              <a:rPr lang="en-US" sz="1550" b="1" dirty="0">
                <a:solidFill>
                  <a:srgbClr val="6B4E8E"/>
                </a:solidFill>
                <a:latin typeface="Cambria" pitchFamily="34" charset="0"/>
                <a:ea typeface="Cambria" pitchFamily="34" charset="-122"/>
                <a:cs typeface="Cambria" pitchFamily="34" charset="-120"/>
              </a:rPr>
              <a:t>Complicaciones postextubación</a:t>
            </a:r>
            <a:endParaRPr lang="en-US" sz="1550" dirty="0"/>
          </a:p>
        </p:txBody>
      </p:sp>
      <p:sp>
        <p:nvSpPr>
          <p:cNvPr id="14" name="Text 9"/>
          <p:cNvSpPr/>
          <p:nvPr/>
        </p:nvSpPr>
        <p:spPr>
          <a:xfrm>
            <a:off x="804672"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Aspiración previa: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aspirar secreciones de orofaringe y, si aplica, de la vía aérea antes de retirar el dispositivo.</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Oxigenación previa: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preoxigenar con FiO₂ elevada antes de la extubación para ampliar el margen de seguridad ante hipoventilación transitoria.</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Extubación "despierto" vs. "en plano profundo":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la elección depende del riesgo de aspiración, reactividad de la vía aérea y tipo de cirugía.</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Retiro coordinado: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desinflar el balón del tubo y retirarlo durante una inspiración o al final de una maniobra de presión positiva, minimizando el riesgo de laringoespasmo.</a:t>
            </a:r>
            <a:endParaRPr lang="en-US" sz="1200" dirty="0"/>
          </a:p>
        </p:txBody>
      </p:sp>
      <p:sp>
        <p:nvSpPr>
          <p:cNvPr id="15" name="Text 10"/>
          <p:cNvSpPr/>
          <p:nvPr/>
        </p:nvSpPr>
        <p:spPr>
          <a:xfrm>
            <a:off x="6534760" y="2450592"/>
            <a:ext cx="4852264" cy="3694176"/>
          </a:xfrm>
          <a:prstGeom prst="rect">
            <a:avLst/>
          </a:prstGeom>
          <a:noFill/>
          <a:ln/>
        </p:spPr>
        <p:txBody>
          <a:bodyPr wrap="square" lIns="0" tIns="0" rIns="0" bIns="0" rtlCol="0" anchor="t"/>
          <a:lstStyle/>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Laringoespasmo postextubación: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manejo inmediato con presión positiva, oxígeno al 100% y maniobra de Larson; succinilcolina en dosis baja si es refractario.</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Obstrucción de vía aérea superior: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por edema laríngeo o bloqueo neuromuscular residual; reposicionar, considerar cánula orofaríngea y evaluar reintubación.</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Depresión respiratoria residual: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por efecto opioide o hipnótico residual; soporte ventilatorio y, si corresponde, antagonización farmacológica cuidadosa.</a:t>
            </a:r>
            <a:endParaRPr lang="en-US" sz="1200" dirty="0"/>
          </a:p>
          <a:p>
            <a:pPr marL="342900" indent="-342900">
              <a:lnSpc>
                <a:spcPct val="114000"/>
              </a:lnSpc>
              <a:buSzPct val="100000"/>
              <a:buChar char="▪"/>
            </a:pPr>
            <a:r>
              <a:rPr lang="en-US" sz="1200" b="1" dirty="0">
                <a:solidFill>
                  <a:srgbClr val="2E1A47"/>
                </a:solidFill>
                <a:latin typeface="Calibri" pitchFamily="34" charset="0"/>
                <a:ea typeface="Calibri" pitchFamily="34" charset="-122"/>
                <a:cs typeface="Calibri" pitchFamily="34" charset="-120"/>
              </a:rPr>
              <a:t>Náusea, vómito y riesgo de aspiración:  </a:t>
            </a:r>
            <a:pPr indent="0" marL="0">
              <a:lnSpc>
                <a:spcPct val="114000"/>
              </a:lnSpc>
              <a:spcAft>
                <a:spcPts val="800"/>
              </a:spcAft>
              <a:buNone/>
            </a:pPr>
            <a:r>
              <a:rPr lang="en-US" sz="1200" dirty="0">
                <a:solidFill>
                  <a:srgbClr val="3A2C52"/>
                </a:solidFill>
                <a:latin typeface="Calibri" pitchFamily="34" charset="0"/>
                <a:ea typeface="Calibri" pitchFamily="34" charset="-122"/>
                <a:cs typeface="Calibri" pitchFamily="34" charset="-120"/>
              </a:rPr>
              <a:t>posición semisentada cuando sea posible y aspiración inmediata disponible.</a:t>
            </a:r>
            <a:endParaRPr lang="en-US" sz="1200" dirty="0"/>
          </a:p>
        </p:txBody>
      </p:sp>
      <p:sp>
        <p:nvSpPr>
          <p:cNvPr id="17" name="Text 11"/>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692640" cy="310896"/>
          </a:xfrm>
          <a:prstGeom prst="rect">
            <a:avLst/>
          </a:prstGeom>
          <a:noFill/>
          <a:ln/>
        </p:spPr>
        <p:txBody>
          <a:bodyPr wrap="square" lIns="0" tIns="0" rIns="0" bIns="0" rtlCol="0" anchor="ctr"/>
          <a:lstStyle/>
          <a:p>
            <a:pPr indent="0" marL="0">
              <a:buNone/>
            </a:pPr>
            <a:r>
              <a:rPr lang="en-US" sz="1250" b="1" spc="200" kern="0" dirty="0">
                <a:solidFill>
                  <a:srgbClr val="00B4A6"/>
                </a:solidFill>
                <a:latin typeface="Calibri" pitchFamily="34" charset="0"/>
                <a:ea typeface="Calibri" pitchFamily="34" charset="-122"/>
                <a:cs typeface="Calibri" pitchFamily="34" charset="-120"/>
              </a:rPr>
              <a:t>CIERRE DEL CAPÍTULO</a:t>
            </a:r>
            <a:endParaRPr lang="en-US" sz="1250" dirty="0"/>
          </a:p>
        </p:txBody>
      </p:sp>
      <p:sp>
        <p:nvSpPr>
          <p:cNvPr id="3" name="Text 1"/>
          <p:cNvSpPr/>
          <p:nvPr/>
        </p:nvSpPr>
        <p:spPr>
          <a:xfrm>
            <a:off x="548640" y="676656"/>
            <a:ext cx="9966960" cy="822960"/>
          </a:xfrm>
          <a:prstGeom prst="rect">
            <a:avLst/>
          </a:prstGeom>
          <a:noFill/>
          <a:ln/>
        </p:spPr>
        <p:txBody>
          <a:bodyPr wrap="square" lIns="0" tIns="0" rIns="0" bIns="0" rtlCol="0" anchor="ctr"/>
          <a:lstStyle/>
          <a:p>
            <a:pPr indent="0" marL="0">
              <a:lnSpc>
                <a:spcPct val="100000"/>
              </a:lnSpc>
              <a:buNone/>
            </a:pPr>
            <a:r>
              <a:rPr lang="en-US" sz="2700" b="1" dirty="0">
                <a:solidFill>
                  <a:srgbClr val="2E1A47"/>
                </a:solidFill>
                <a:latin typeface="Cambria" pitchFamily="34" charset="0"/>
                <a:ea typeface="Cambria" pitchFamily="34" charset="-122"/>
                <a:cs typeface="Cambria" pitchFamily="34" charset="-120"/>
              </a:rPr>
              <a:t>Resumen: Puntos Clave</a:t>
            </a:r>
            <a:endParaRPr lang="en-US" sz="2700" dirty="0"/>
          </a:p>
        </p:txBody>
      </p:sp>
      <p:sp>
        <p:nvSpPr>
          <p:cNvPr id="4" name="Shape 2"/>
          <p:cNvSpPr/>
          <p:nvPr/>
        </p:nvSpPr>
        <p:spPr>
          <a:xfrm>
            <a:off x="10835640" y="438912"/>
            <a:ext cx="777240" cy="777240"/>
          </a:xfrm>
          <a:prstGeom prst="ellipse">
            <a:avLst/>
          </a:prstGeom>
          <a:solidFill>
            <a:srgbClr val="2E1A47"/>
          </a:solidFill>
          <a:ln/>
        </p:spPr>
      </p:sp>
      <p:pic>
        <p:nvPicPr>
          <p:cNvPr id="5" name="Image 0" descr="/tmp/claude-0/-home-user-gpa-academy1/adc6e4aa-3b77-57c1-ba92-a8d4ee625c84/scratchpad/ch5/icons/checklist_white.png">    </p:cNvPr>
          <p:cNvPicPr>
            <a:picLocks noChangeAspect="1"/>
          </p:cNvPicPr>
          <p:nvPr/>
        </p:nvPicPr>
        <p:blipFill>
          <a:blip r:embed="rId1"/>
          <a:stretch>
            <a:fillRect/>
          </a:stretch>
        </p:blipFill>
        <p:spPr>
          <a:xfrm>
            <a:off x="11022178" y="625450"/>
            <a:ext cx="404165" cy="404165"/>
          </a:xfrm>
          <a:prstGeom prst="rect">
            <a:avLst/>
          </a:prstGeom>
        </p:spPr>
      </p:pic>
      <p:sp>
        <p:nvSpPr>
          <p:cNvPr id="6" name="Shape 3"/>
          <p:cNvSpPr/>
          <p:nvPr/>
        </p:nvSpPr>
        <p:spPr>
          <a:xfrm>
            <a:off x="548640" y="1627632"/>
            <a:ext cx="5387188" cy="1377696"/>
          </a:xfrm>
          <a:prstGeom prst="roundRect">
            <a:avLst>
              <a:gd name="adj" fmla="val 5310"/>
            </a:avLst>
          </a:prstGeom>
          <a:solidFill>
            <a:srgbClr val="F3EFF8"/>
          </a:solidFill>
          <a:ln/>
        </p:spPr>
      </p:sp>
      <p:sp>
        <p:nvSpPr>
          <p:cNvPr id="7" name="Shape 4"/>
          <p:cNvSpPr/>
          <p:nvPr/>
        </p:nvSpPr>
        <p:spPr>
          <a:xfrm>
            <a:off x="749808" y="1792224"/>
            <a:ext cx="530352" cy="530352"/>
          </a:xfrm>
          <a:prstGeom prst="ellipse">
            <a:avLst/>
          </a:prstGeom>
          <a:solidFill>
            <a:srgbClr val="2E1A47"/>
          </a:solidFill>
          <a:ln/>
        </p:spPr>
      </p:sp>
      <p:pic>
        <p:nvPicPr>
          <p:cNvPr id="8" name="Image 1" descr="/tmp/claude-0/-home-user-gpa-academy1/adc6e4aa-3b77-57c1-ba92-a8d4ee625c84/scratchpad/ch5/icons/brain_white.png">    </p:cNvPr>
          <p:cNvPicPr>
            <a:picLocks noChangeAspect="1"/>
          </p:cNvPicPr>
          <p:nvPr/>
        </p:nvPicPr>
        <p:blipFill>
          <a:blip r:embed="rId2"/>
          <a:stretch>
            <a:fillRect/>
          </a:stretch>
        </p:blipFill>
        <p:spPr>
          <a:xfrm>
            <a:off x="869137" y="1911553"/>
            <a:ext cx="291694" cy="291694"/>
          </a:xfrm>
          <a:prstGeom prst="rect">
            <a:avLst/>
          </a:prstGeom>
        </p:spPr>
      </p:pic>
      <p:sp>
        <p:nvSpPr>
          <p:cNvPr id="9" name="Text 5"/>
          <p:cNvSpPr/>
          <p:nvPr/>
        </p:nvSpPr>
        <p:spPr>
          <a:xfrm>
            <a:off x="1481328" y="1755648"/>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Mecanismo predominante</a:t>
            </a:r>
            <a:endParaRPr lang="en-US" sz="1400" dirty="0"/>
          </a:p>
        </p:txBody>
      </p:sp>
      <p:sp>
        <p:nvSpPr>
          <p:cNvPr id="10" name="Text 6"/>
          <p:cNvSpPr/>
          <p:nvPr/>
        </p:nvSpPr>
        <p:spPr>
          <a:xfrm>
            <a:off x="1481328" y="2121408"/>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mayoría de los anestésicos endovenosos actúan potenciando la neurotransmisión GABAérgica; la ketamina es la excepción relevante, actuando sobre el receptor NMDA.</a:t>
            </a:r>
            <a:endParaRPr lang="en-US" sz="1150" dirty="0"/>
          </a:p>
        </p:txBody>
      </p:sp>
      <p:sp>
        <p:nvSpPr>
          <p:cNvPr id="11" name="Shape 7"/>
          <p:cNvSpPr/>
          <p:nvPr/>
        </p:nvSpPr>
        <p:spPr>
          <a:xfrm>
            <a:off x="6255868" y="1627632"/>
            <a:ext cx="5387188" cy="1377696"/>
          </a:xfrm>
          <a:prstGeom prst="roundRect">
            <a:avLst>
              <a:gd name="adj" fmla="val 5310"/>
            </a:avLst>
          </a:prstGeom>
          <a:solidFill>
            <a:srgbClr val="F3EFF8"/>
          </a:solidFill>
          <a:ln/>
        </p:spPr>
      </p:sp>
      <p:sp>
        <p:nvSpPr>
          <p:cNvPr id="12" name="Shape 8"/>
          <p:cNvSpPr/>
          <p:nvPr/>
        </p:nvSpPr>
        <p:spPr>
          <a:xfrm>
            <a:off x="6457036" y="1792224"/>
            <a:ext cx="530352" cy="530352"/>
          </a:xfrm>
          <a:prstGeom prst="ellipse">
            <a:avLst/>
          </a:prstGeom>
          <a:solidFill>
            <a:srgbClr val="2E1A47"/>
          </a:solidFill>
          <a:ln/>
        </p:spPr>
      </p:sp>
      <p:pic>
        <p:nvPicPr>
          <p:cNvPr id="13" name="Image 2" descr="/tmp/claude-0/-home-user-gpa-academy1/adc6e4aa-3b77-57c1-ba92-a8d4ee625c84/scratchpad/ch5/icons/stopwatch_white.png">    </p:cNvPr>
          <p:cNvPicPr>
            <a:picLocks noChangeAspect="1"/>
          </p:cNvPicPr>
          <p:nvPr/>
        </p:nvPicPr>
        <p:blipFill>
          <a:blip r:embed="rId3"/>
          <a:stretch>
            <a:fillRect/>
          </a:stretch>
        </p:blipFill>
        <p:spPr>
          <a:xfrm>
            <a:off x="6576365" y="1911553"/>
            <a:ext cx="291694" cy="291694"/>
          </a:xfrm>
          <a:prstGeom prst="rect">
            <a:avLst/>
          </a:prstGeom>
        </p:spPr>
      </p:pic>
      <p:sp>
        <p:nvSpPr>
          <p:cNvPr id="14" name="Text 9"/>
          <p:cNvSpPr/>
          <p:nvPr/>
        </p:nvSpPr>
        <p:spPr>
          <a:xfrm>
            <a:off x="7188556" y="1755648"/>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Farmacocinética</a:t>
            </a:r>
            <a:endParaRPr lang="en-US" sz="1400" dirty="0"/>
          </a:p>
        </p:txBody>
      </p:sp>
      <p:sp>
        <p:nvSpPr>
          <p:cNvPr id="15" name="Text 10"/>
          <p:cNvSpPr/>
          <p:nvPr/>
        </p:nvSpPr>
        <p:spPr>
          <a:xfrm>
            <a:off x="7188556" y="2121408"/>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redistribución explica el despertar rápido tras dosis única; la vida media contexto-sensible determina la recuperación tras infusiones prolongadas.</a:t>
            </a:r>
            <a:endParaRPr lang="en-US" sz="1150" dirty="0"/>
          </a:p>
        </p:txBody>
      </p:sp>
      <p:sp>
        <p:nvSpPr>
          <p:cNvPr id="16" name="Shape 11"/>
          <p:cNvSpPr/>
          <p:nvPr/>
        </p:nvSpPr>
        <p:spPr>
          <a:xfrm>
            <a:off x="548640" y="3233928"/>
            <a:ext cx="5387188" cy="1377696"/>
          </a:xfrm>
          <a:prstGeom prst="roundRect">
            <a:avLst>
              <a:gd name="adj" fmla="val 5310"/>
            </a:avLst>
          </a:prstGeom>
          <a:solidFill>
            <a:srgbClr val="ECE6F5"/>
          </a:solidFill>
          <a:ln/>
        </p:spPr>
      </p:sp>
      <p:sp>
        <p:nvSpPr>
          <p:cNvPr id="17" name="Shape 12"/>
          <p:cNvSpPr/>
          <p:nvPr/>
        </p:nvSpPr>
        <p:spPr>
          <a:xfrm>
            <a:off x="749808" y="3398520"/>
            <a:ext cx="530352" cy="530352"/>
          </a:xfrm>
          <a:prstGeom prst="ellipse">
            <a:avLst/>
          </a:prstGeom>
          <a:solidFill>
            <a:srgbClr val="2E1A47"/>
          </a:solidFill>
          <a:ln/>
        </p:spPr>
      </p:sp>
      <p:pic>
        <p:nvPicPr>
          <p:cNvPr id="18" name="Image 3" descr="/tmp/claude-0/-home-user-gpa-academy1/adc6e4aa-3b77-57c1-ba92-a8d4ee625c84/scratchpad/ch5/icons/heart_white.png">    </p:cNvPr>
          <p:cNvPicPr>
            <a:picLocks noChangeAspect="1"/>
          </p:cNvPicPr>
          <p:nvPr/>
        </p:nvPicPr>
        <p:blipFill>
          <a:blip r:embed="rId4"/>
          <a:stretch>
            <a:fillRect/>
          </a:stretch>
        </p:blipFill>
        <p:spPr>
          <a:xfrm>
            <a:off x="869137" y="3517849"/>
            <a:ext cx="291694" cy="291694"/>
          </a:xfrm>
          <a:prstGeom prst="rect">
            <a:avLst/>
          </a:prstGeom>
        </p:spPr>
      </p:pic>
      <p:sp>
        <p:nvSpPr>
          <p:cNvPr id="19" name="Text 13"/>
          <p:cNvSpPr/>
          <p:nvPr/>
        </p:nvSpPr>
        <p:spPr>
          <a:xfrm>
            <a:off x="1481328" y="3361944"/>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Perfil hemodinámico</a:t>
            </a:r>
            <a:endParaRPr lang="en-US" sz="1400" dirty="0"/>
          </a:p>
        </p:txBody>
      </p:sp>
      <p:sp>
        <p:nvSpPr>
          <p:cNvPr id="20" name="Text 14"/>
          <p:cNvSpPr/>
          <p:nvPr/>
        </p:nvSpPr>
        <p:spPr>
          <a:xfrm>
            <a:off x="1481328" y="3727704"/>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Etomidato ofrece la mayor estabilidad cardiovascular; ketamina estimula el tono simpático; propofol y tiopental producen vasodilatación e hipotensión.</a:t>
            </a:r>
            <a:endParaRPr lang="en-US" sz="1150" dirty="0"/>
          </a:p>
        </p:txBody>
      </p:sp>
      <p:sp>
        <p:nvSpPr>
          <p:cNvPr id="21" name="Shape 15"/>
          <p:cNvSpPr/>
          <p:nvPr/>
        </p:nvSpPr>
        <p:spPr>
          <a:xfrm>
            <a:off x="6255868" y="3233928"/>
            <a:ext cx="5387188" cy="1377696"/>
          </a:xfrm>
          <a:prstGeom prst="roundRect">
            <a:avLst>
              <a:gd name="adj" fmla="val 5310"/>
            </a:avLst>
          </a:prstGeom>
          <a:solidFill>
            <a:srgbClr val="ECE6F5"/>
          </a:solidFill>
          <a:ln/>
        </p:spPr>
      </p:sp>
      <p:sp>
        <p:nvSpPr>
          <p:cNvPr id="22" name="Shape 16"/>
          <p:cNvSpPr/>
          <p:nvPr/>
        </p:nvSpPr>
        <p:spPr>
          <a:xfrm>
            <a:off x="6457036" y="3398520"/>
            <a:ext cx="530352" cy="530352"/>
          </a:xfrm>
          <a:prstGeom prst="ellipse">
            <a:avLst/>
          </a:prstGeom>
          <a:solidFill>
            <a:srgbClr val="2E1A47"/>
          </a:solidFill>
          <a:ln/>
        </p:spPr>
      </p:sp>
      <p:pic>
        <p:nvPicPr>
          <p:cNvPr id="23" name="Image 4" descr="/tmp/claude-0/-home-user-gpa-academy1/adc6e4aa-3b77-57c1-ba92-a8d4ee625c84/scratchpad/ch5/icons/target_white.png">    </p:cNvPr>
          <p:cNvPicPr>
            <a:picLocks noChangeAspect="1"/>
          </p:cNvPicPr>
          <p:nvPr/>
        </p:nvPicPr>
        <p:blipFill>
          <a:blip r:embed="rId5"/>
          <a:stretch>
            <a:fillRect/>
          </a:stretch>
        </p:blipFill>
        <p:spPr>
          <a:xfrm>
            <a:off x="6576365" y="3517849"/>
            <a:ext cx="291694" cy="291694"/>
          </a:xfrm>
          <a:prstGeom prst="rect">
            <a:avLst/>
          </a:prstGeom>
        </p:spPr>
      </p:pic>
      <p:sp>
        <p:nvSpPr>
          <p:cNvPr id="24" name="Text 17"/>
          <p:cNvSpPr/>
          <p:nvPr/>
        </p:nvSpPr>
        <p:spPr>
          <a:xfrm>
            <a:off x="7188556" y="3361944"/>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Selección racional</a:t>
            </a:r>
            <a:endParaRPr lang="en-US" sz="1400" dirty="0"/>
          </a:p>
        </p:txBody>
      </p:sp>
      <p:sp>
        <p:nvSpPr>
          <p:cNvPr id="25" name="Text 18"/>
          <p:cNvSpPr/>
          <p:nvPr/>
        </p:nvSpPr>
        <p:spPr>
          <a:xfrm>
            <a:off x="7188556" y="3727704"/>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elección del agente debe individualizarse según comorbilidad, estabilidad hemodinámica y tipo de procedimiento, no según preferencia habitual únicamente.</a:t>
            </a:r>
            <a:endParaRPr lang="en-US" sz="1150" dirty="0"/>
          </a:p>
        </p:txBody>
      </p:sp>
      <p:sp>
        <p:nvSpPr>
          <p:cNvPr id="26" name="Shape 19"/>
          <p:cNvSpPr/>
          <p:nvPr/>
        </p:nvSpPr>
        <p:spPr>
          <a:xfrm>
            <a:off x="548640" y="4840224"/>
            <a:ext cx="5387188" cy="1377696"/>
          </a:xfrm>
          <a:prstGeom prst="roundRect">
            <a:avLst>
              <a:gd name="adj" fmla="val 5310"/>
            </a:avLst>
          </a:prstGeom>
          <a:solidFill>
            <a:srgbClr val="F3EFF8"/>
          </a:solidFill>
          <a:ln/>
        </p:spPr>
      </p:sp>
      <p:sp>
        <p:nvSpPr>
          <p:cNvPr id="27" name="Shape 20"/>
          <p:cNvSpPr/>
          <p:nvPr/>
        </p:nvSpPr>
        <p:spPr>
          <a:xfrm>
            <a:off x="749808" y="5004816"/>
            <a:ext cx="530352" cy="530352"/>
          </a:xfrm>
          <a:prstGeom prst="ellipse">
            <a:avLst/>
          </a:prstGeom>
          <a:solidFill>
            <a:srgbClr val="2E1A47"/>
          </a:solidFill>
          <a:ln/>
        </p:spPr>
      </p:sp>
      <p:pic>
        <p:nvPicPr>
          <p:cNvPr id="28" name="Image 5" descr="/tmp/claude-0/-home-user-gpa-academy1/adc6e4aa-3b77-57c1-ba92-a8d4ee625c84/scratchpad/ch5/icons/warning_white.png">    </p:cNvPr>
          <p:cNvPicPr>
            <a:picLocks noChangeAspect="1"/>
          </p:cNvPicPr>
          <p:nvPr/>
        </p:nvPicPr>
        <p:blipFill>
          <a:blip r:embed="rId6"/>
          <a:stretch>
            <a:fillRect/>
          </a:stretch>
        </p:blipFill>
        <p:spPr>
          <a:xfrm>
            <a:off x="869137" y="5124145"/>
            <a:ext cx="291694" cy="291694"/>
          </a:xfrm>
          <a:prstGeom prst="rect">
            <a:avLst/>
          </a:prstGeom>
        </p:spPr>
      </p:pic>
      <p:sp>
        <p:nvSpPr>
          <p:cNvPr id="29" name="Text 21"/>
          <p:cNvSpPr/>
          <p:nvPr/>
        </p:nvSpPr>
        <p:spPr>
          <a:xfrm>
            <a:off x="1481328" y="4968240"/>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Vigilancia de efectos adversos</a:t>
            </a:r>
            <a:endParaRPr lang="en-US" sz="1400" dirty="0"/>
          </a:p>
        </p:txBody>
      </p:sp>
      <p:sp>
        <p:nvSpPr>
          <p:cNvPr id="30" name="Text 22"/>
          <p:cNvSpPr/>
          <p:nvPr/>
        </p:nvSpPr>
        <p:spPr>
          <a:xfrm>
            <a:off x="1481328" y="5334000"/>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Cada agente exige monitoreo dirigido a su perfil de riesgo particular: PRIS con propofol, supresión suprarrenal con etomidato, emergencia psicomimética con ketamina.</a:t>
            </a:r>
            <a:endParaRPr lang="en-US" sz="1150" dirty="0"/>
          </a:p>
        </p:txBody>
      </p:sp>
      <p:sp>
        <p:nvSpPr>
          <p:cNvPr id="31" name="Shape 23"/>
          <p:cNvSpPr/>
          <p:nvPr/>
        </p:nvSpPr>
        <p:spPr>
          <a:xfrm>
            <a:off x="6255868" y="4840224"/>
            <a:ext cx="5387188" cy="1377696"/>
          </a:xfrm>
          <a:prstGeom prst="roundRect">
            <a:avLst>
              <a:gd name="adj" fmla="val 5310"/>
            </a:avLst>
          </a:prstGeom>
          <a:solidFill>
            <a:srgbClr val="F3EFF8"/>
          </a:solidFill>
          <a:ln/>
        </p:spPr>
      </p:sp>
      <p:sp>
        <p:nvSpPr>
          <p:cNvPr id="32" name="Shape 24"/>
          <p:cNvSpPr/>
          <p:nvPr/>
        </p:nvSpPr>
        <p:spPr>
          <a:xfrm>
            <a:off x="6457036" y="5004816"/>
            <a:ext cx="530352" cy="530352"/>
          </a:xfrm>
          <a:prstGeom prst="ellipse">
            <a:avLst/>
          </a:prstGeom>
          <a:solidFill>
            <a:srgbClr val="2E1A47"/>
          </a:solidFill>
          <a:ln/>
        </p:spPr>
      </p:sp>
      <p:pic>
        <p:nvPicPr>
          <p:cNvPr id="33" name="Image 6" descr="/tmp/claude-0/-home-user-gpa-academy1/adc6e4aa-3b77-57c1-ba92-a8d4ee625c84/scratchpad/ch5/icons/lungs_white.png">    </p:cNvPr>
          <p:cNvPicPr>
            <a:picLocks noChangeAspect="1"/>
          </p:cNvPicPr>
          <p:nvPr/>
        </p:nvPicPr>
        <p:blipFill>
          <a:blip r:embed="rId7"/>
          <a:stretch>
            <a:fillRect/>
          </a:stretch>
        </p:blipFill>
        <p:spPr>
          <a:xfrm>
            <a:off x="6576365" y="5124145"/>
            <a:ext cx="291694" cy="291694"/>
          </a:xfrm>
          <a:prstGeom prst="rect">
            <a:avLst/>
          </a:prstGeom>
        </p:spPr>
      </p:pic>
      <p:sp>
        <p:nvSpPr>
          <p:cNvPr id="34" name="Text 25"/>
          <p:cNvSpPr/>
          <p:nvPr/>
        </p:nvSpPr>
        <p:spPr>
          <a:xfrm>
            <a:off x="7188556" y="4968240"/>
            <a:ext cx="4253332" cy="274320"/>
          </a:xfrm>
          <a:prstGeom prst="rect">
            <a:avLst/>
          </a:prstGeom>
          <a:noFill/>
          <a:ln/>
        </p:spPr>
        <p:txBody>
          <a:bodyPr wrap="square" lIns="0" tIns="0" rIns="0" bIns="0" rtlCol="0" anchor="t"/>
          <a:lstStyle/>
          <a:p>
            <a:pPr indent="0" marL="0">
              <a:buNone/>
            </a:pPr>
            <a:r>
              <a:rPr lang="en-US" sz="1400" b="1" dirty="0">
                <a:solidFill>
                  <a:srgbClr val="241636"/>
                </a:solidFill>
                <a:latin typeface="Cambria" pitchFamily="34" charset="0"/>
                <a:ea typeface="Cambria" pitchFamily="34" charset="-122"/>
                <a:cs typeface="Cambria" pitchFamily="34" charset="-120"/>
              </a:rPr>
              <a:t>Emergencia anestésica segura</a:t>
            </a:r>
            <a:endParaRPr lang="en-US" sz="1400" dirty="0"/>
          </a:p>
        </p:txBody>
      </p:sp>
      <p:sp>
        <p:nvSpPr>
          <p:cNvPr id="35" name="Text 26"/>
          <p:cNvSpPr/>
          <p:nvPr/>
        </p:nvSpPr>
        <p:spPr>
          <a:xfrm>
            <a:off x="7188556" y="5334000"/>
            <a:ext cx="4253332" cy="874776"/>
          </a:xfrm>
          <a:prstGeom prst="rect">
            <a:avLst/>
          </a:prstGeom>
          <a:noFill/>
          <a:ln/>
        </p:spPr>
        <p:txBody>
          <a:bodyPr wrap="square" lIns="0" tIns="0" rIns="0" bIns="0" rtlCol="0" anchor="t"/>
          <a:lstStyle/>
          <a:p>
            <a:pPr indent="0" marL="0">
              <a:lnSpc>
                <a:spcPct val="112000"/>
              </a:lnSpc>
              <a:buNone/>
            </a:pPr>
            <a:r>
              <a:rPr lang="en-US" sz="1150" dirty="0">
                <a:solidFill>
                  <a:srgbClr val="6E6382"/>
                </a:solidFill>
                <a:latin typeface="Calibri" pitchFamily="34" charset="0"/>
                <a:ea typeface="Calibri" pitchFamily="34" charset="-122"/>
                <a:cs typeface="Calibri" pitchFamily="34" charset="-120"/>
              </a:rPr>
              <a:t>La extubación exitosa depende de la integración de criterios neuromusculares, respiratorios, hemodinámicos y de conciencia, no de un único parámetro aislado.</a:t>
            </a:r>
            <a:endParaRPr lang="en-US" sz="1150" dirty="0"/>
          </a:p>
        </p:txBody>
      </p:sp>
      <p:sp>
        <p:nvSpPr>
          <p:cNvPr id="37" name="Text 27"/>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6E6382"/>
                </a:solidFill>
                <a:latin typeface="Calibri" pitchFamily="34" charset="0"/>
                <a:ea typeface="Calibri" pitchFamily="34" charset="-122"/>
                <a:cs typeface="Calibri" pitchFamily="34" charset="-120"/>
              </a:rPr>
              <a:t>Capítulo V · Los Anestésicos Endovenosos</a:t>
            </a:r>
            <a:endParaRPr lang="en-US" sz="900" dirty="0"/>
          </a:p>
        </p:txBody>
      </p:sp>
      <p:sp>
        <p:nvSpPr>
          <p:cNvPr id="38" name="Text 2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E638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1030"/>
        </a:solidFill>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2E1A47"/>
          </a:solidFill>
          <a:ln/>
        </p:spPr>
      </p:sp>
      <p:sp>
        <p:nvSpPr>
          <p:cNvPr id="3" name="Shape 1"/>
          <p:cNvSpPr/>
          <p:nvPr/>
        </p:nvSpPr>
        <p:spPr>
          <a:xfrm>
            <a:off x="-1463040" y="4937760"/>
            <a:ext cx="3108960" cy="3108960"/>
          </a:xfrm>
          <a:prstGeom prst="ellipse">
            <a:avLst/>
          </a:prstGeom>
          <a:solidFill>
            <a:srgbClr val="6B4E8E"/>
          </a:solidFill>
          <a:ln/>
        </p:spPr>
      </p:sp>
      <p:sp>
        <p:nvSpPr>
          <p:cNvPr id="4" name="Shape 2"/>
          <p:cNvSpPr/>
          <p:nvPr/>
        </p:nvSpPr>
        <p:spPr>
          <a:xfrm>
            <a:off x="822960" y="566928"/>
            <a:ext cx="777240" cy="777240"/>
          </a:xfrm>
          <a:prstGeom prst="ellipse">
            <a:avLst/>
          </a:prstGeom>
          <a:solidFill>
            <a:srgbClr val="00B4A6"/>
          </a:solidFill>
          <a:ln/>
        </p:spPr>
      </p:sp>
      <p:pic>
        <p:nvPicPr>
          <p:cNvPr id="5" name="Image 0" descr="/tmp/claude-0/-home-user-gpa-academy1/adc6e4aa-3b77-57c1-ba92-a8d4ee625c84/scratchpad/ch5/icons/book_white.png">    </p:cNvPr>
          <p:cNvPicPr>
            <a:picLocks noChangeAspect="1"/>
          </p:cNvPicPr>
          <p:nvPr/>
        </p:nvPicPr>
        <p:blipFill>
          <a:blip r:embed="rId1"/>
          <a:stretch>
            <a:fillRect/>
          </a:stretch>
        </p:blipFill>
        <p:spPr>
          <a:xfrm>
            <a:off x="1009498" y="753466"/>
            <a:ext cx="404165" cy="404165"/>
          </a:xfrm>
          <a:prstGeom prst="rect">
            <a:avLst/>
          </a:prstGeom>
        </p:spPr>
      </p:pic>
      <p:sp>
        <p:nvSpPr>
          <p:cNvPr id="6" name="Text 3"/>
          <p:cNvSpPr/>
          <p:nvPr/>
        </p:nvSpPr>
        <p:spPr>
          <a:xfrm>
            <a:off x="1828800" y="548640"/>
            <a:ext cx="7315200" cy="365760"/>
          </a:xfrm>
          <a:prstGeom prst="rect">
            <a:avLst/>
          </a:prstGeom>
          <a:noFill/>
          <a:ln/>
        </p:spPr>
        <p:txBody>
          <a:bodyPr wrap="square" lIns="0" tIns="0" rIns="0" bIns="0" rtlCol="0" anchor="ctr"/>
          <a:lstStyle/>
          <a:p>
            <a:pPr indent="0" marL="0">
              <a:buNone/>
            </a:pPr>
            <a:r>
              <a:rPr lang="en-US" sz="1400" b="1" spc="300" kern="0" dirty="0">
                <a:solidFill>
                  <a:srgbClr val="00B4A6"/>
                </a:solidFill>
                <a:latin typeface="Calibri" pitchFamily="34" charset="0"/>
                <a:ea typeface="Calibri" pitchFamily="34" charset="-122"/>
                <a:cs typeface="Calibri" pitchFamily="34" charset="-120"/>
              </a:rPr>
              <a:t>REFERENCIAS</a:t>
            </a:r>
            <a:endParaRPr lang="en-US" sz="1400" dirty="0"/>
          </a:p>
        </p:txBody>
      </p:sp>
      <p:sp>
        <p:nvSpPr>
          <p:cNvPr id="7" name="Text 4"/>
          <p:cNvSpPr/>
          <p:nvPr/>
        </p:nvSpPr>
        <p:spPr>
          <a:xfrm>
            <a:off x="1828800" y="841248"/>
            <a:ext cx="94183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Referencias Bibliográficas</a:t>
            </a:r>
            <a:endParaRPr lang="en-US" sz="2800" dirty="0"/>
          </a:p>
        </p:txBody>
      </p:sp>
      <p:sp>
        <p:nvSpPr>
          <p:cNvPr id="8" name="Text 5"/>
          <p:cNvSpPr/>
          <p:nvPr/>
        </p:nvSpPr>
        <p:spPr>
          <a:xfrm>
            <a:off x="548640" y="182880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Miller RD, Gropper MA (eds). Miller's Anesthesia. 9ª edición. Elsevier, Filadelfia.</a:t>
            </a:r>
            <a:endParaRPr lang="en-US" sz="1150" dirty="0"/>
          </a:p>
        </p:txBody>
      </p:sp>
      <p:sp>
        <p:nvSpPr>
          <p:cNvPr id="9" name="Text 6"/>
          <p:cNvSpPr/>
          <p:nvPr/>
        </p:nvSpPr>
        <p:spPr>
          <a:xfrm>
            <a:off x="6324448" y="182880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Barash PG, Cullen BF, Stoelting RK, et al. Clinical Anesthesia. 8ª edición. Wolters Kluwer.</a:t>
            </a:r>
            <a:endParaRPr lang="en-US" sz="1150" dirty="0"/>
          </a:p>
        </p:txBody>
      </p:sp>
      <p:sp>
        <p:nvSpPr>
          <p:cNvPr id="10" name="Text 7"/>
          <p:cNvSpPr/>
          <p:nvPr/>
        </p:nvSpPr>
        <p:spPr>
          <a:xfrm>
            <a:off x="548640" y="283464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Butterworth JF, Mackey DC, Wasnick JD. Morgan &amp; Mikhail's Clinical Anesthesiology. 6ª edición. McGraw-Hill.</a:t>
            </a:r>
            <a:endParaRPr lang="en-US" sz="1150" dirty="0"/>
          </a:p>
        </p:txBody>
      </p:sp>
      <p:sp>
        <p:nvSpPr>
          <p:cNvPr id="11" name="Text 8"/>
          <p:cNvSpPr/>
          <p:nvPr/>
        </p:nvSpPr>
        <p:spPr>
          <a:xfrm>
            <a:off x="6324448" y="283464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Flood P, Rathmell JP, Shafer S (eds). Stoelting's Pharmacology and Physiology in Anesthetic Practice. 6ª edición. Wolters Kluwer.</a:t>
            </a:r>
            <a:endParaRPr lang="en-US" sz="1150" dirty="0"/>
          </a:p>
        </p:txBody>
      </p:sp>
      <p:sp>
        <p:nvSpPr>
          <p:cNvPr id="12" name="Text 9"/>
          <p:cNvSpPr/>
          <p:nvPr/>
        </p:nvSpPr>
        <p:spPr>
          <a:xfrm>
            <a:off x="548640" y="384048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Evers AS, Maze M, Kharasch ED (eds). Anesthetic Pharmacology: Basic Principles and Clinical Practice. 2ª edición. Cambridge University Press.</a:t>
            </a:r>
            <a:endParaRPr lang="en-US" sz="1150" dirty="0"/>
          </a:p>
        </p:txBody>
      </p:sp>
      <p:sp>
        <p:nvSpPr>
          <p:cNvPr id="13" name="Text 10"/>
          <p:cNvSpPr/>
          <p:nvPr/>
        </p:nvSpPr>
        <p:spPr>
          <a:xfrm>
            <a:off x="6324448" y="384048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Hemmings HC, Egan TD (eds). Pharmacology and Physiology for Anesthesia: Foundations and Clinical Application. 2ª edición. Elsevier.</a:t>
            </a:r>
            <a:endParaRPr lang="en-US" sz="1150" dirty="0"/>
          </a:p>
        </p:txBody>
      </p:sp>
      <p:sp>
        <p:nvSpPr>
          <p:cNvPr id="14" name="Text 11"/>
          <p:cNvSpPr/>
          <p:nvPr/>
        </p:nvSpPr>
        <p:spPr>
          <a:xfrm>
            <a:off x="548640" y="484632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Reves JG, Glass PSA, Lubarsky DA, et al. Nonbarbiturate Intravenous Anesthetics. En: Miller's Anesthesia.</a:t>
            </a:r>
            <a:endParaRPr lang="en-US" sz="1150" dirty="0"/>
          </a:p>
        </p:txBody>
      </p:sp>
      <p:sp>
        <p:nvSpPr>
          <p:cNvPr id="15" name="Text 12"/>
          <p:cNvSpPr/>
          <p:nvPr/>
        </p:nvSpPr>
        <p:spPr>
          <a:xfrm>
            <a:off x="6324448" y="4846320"/>
            <a:ext cx="5318608" cy="932688"/>
          </a:xfrm>
          <a:prstGeom prst="rect">
            <a:avLst/>
          </a:prstGeom>
          <a:noFill/>
          <a:ln/>
        </p:spPr>
        <p:txBody>
          <a:bodyPr wrap="square" lIns="0" tIns="0" rIns="0" bIns="0" rtlCol="0" anchor="t"/>
          <a:lstStyle/>
          <a:p>
            <a:pPr indent="0" marL="0">
              <a:lnSpc>
                <a:spcPct val="114000"/>
              </a:lnSpc>
              <a:buNone/>
            </a:pPr>
            <a:r>
              <a:rPr lang="en-US" sz="1150" dirty="0">
                <a:solidFill>
                  <a:srgbClr val="E4D9F5"/>
                </a:solidFill>
                <a:latin typeface="Calibri" pitchFamily="34" charset="0"/>
                <a:ea typeface="Calibri" pitchFamily="34" charset="-122"/>
                <a:cs typeface="Calibri" pitchFamily="34" charset="-120"/>
              </a:rPr>
              <a:t>•  Sociedad Americana de Anestesiólogos (ASA). Practice Guidelines for Preoperative Fasting and Perioperative Management.</a:t>
            </a:r>
            <a:endParaRPr lang="en-US" sz="1150" dirty="0"/>
          </a:p>
        </p:txBody>
      </p:sp>
      <p:sp>
        <p:nvSpPr>
          <p:cNvPr id="17" name="Text 13"/>
          <p:cNvSpPr/>
          <p:nvPr/>
        </p:nvSpPr>
        <p:spPr>
          <a:xfrm>
            <a:off x="457200" y="6473952"/>
            <a:ext cx="6858000" cy="274320"/>
          </a:xfrm>
          <a:prstGeom prst="rect">
            <a:avLst/>
          </a:prstGeom>
          <a:noFill/>
          <a:ln/>
        </p:spPr>
        <p:txBody>
          <a:bodyPr wrap="square" lIns="0" tIns="0" rIns="0" bIns="0" rtlCol="0" anchor="ctr"/>
          <a:lstStyle/>
          <a:p>
            <a:pPr algn="l" indent="0" marL="0">
              <a:buNone/>
            </a:pPr>
            <a:r>
              <a:rPr lang="en-US" sz="900" dirty="0">
                <a:solidFill>
                  <a:srgbClr val="B9A9D6"/>
                </a:solidFill>
                <a:latin typeface="Calibri" pitchFamily="34" charset="0"/>
                <a:ea typeface="Calibri" pitchFamily="34" charset="-122"/>
                <a:cs typeface="Calibri" pitchFamily="34" charset="-120"/>
              </a:rPr>
              <a:t>Capítulo V · Los Anestésicos Endovenosos</a:t>
            </a:r>
            <a:endParaRPr lang="en-US" sz="900" dirty="0"/>
          </a:p>
        </p:txBody>
      </p:sp>
      <p:sp>
        <p:nvSpPr>
          <p:cNvPr id="18"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9A9D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2026-08-26T23:43:26Z</dcterms:created>
  <dcterms:modified xsi:type="dcterms:W3CDTF">2026-08-26T23:43:26Z</dcterms:modified>
</cp:coreProperties>
</file>