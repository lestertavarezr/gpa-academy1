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anestesiología moderna trasciende el quirófano: incluye clínicas de dolor, cuidados críticos y medicina perioperatoria. Es útil situar históricamente el éter de 1846 como el punto de partida de la especialidad y contrastarlo con el rol actual del anestesiólogo como médico perioperatorio, que optimiza al paciente antes, durante y después de la cirugía. Conviene mencionar que muchos programas de residencia integran rotaciones en medicina crítica precisamente por esta continuidad fisiológica.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la pena distinguir el sentido etimológico original (privación de toda sensación) del uso clínico contemporáneo, mucho más matizado: hoy hablamos de anestesia como un continuo de estados farmacológicos, no de un fenómeno binario. Es un buen gancho para introducir la definición moderna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estos cinco componentes no siempre están presentes simultáneamente ni en el mismo grado: una anestesia regional pura logra analgesia sin hipnosis, mientras que una anestesia general balanceada busca los cinco a la vez. Esta idea de 'anestesia como combinación modular' prepara el terreno conceptual para la tríada de la anestesia balanceada.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continuo es clínicamente crítico: un paciente sedado puede progresar involuntariamente a anestesia general si se sobredosifica, perdiendo reflejos protectores de la vía aérea sin que esa haya sido la intención. Por eso el proveedor que sede debe estar entrenado para rescatar al paciente del siguiente nivel de profundidad, no solo del nivel pretendido.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útil pedir a los residentes que asocien cada pilar con una clase farmacológica prototípica: hipnóticos IV/inhalatorios para hipnosis, opioides y anestésicos locales para analgesia, bloqueadores neuromusculares para relajación. La anestesia balanceada contrasta con la anestesia de agente único (por ejemplo, altas dosis de un solo inhalatorio), hoy en desuso por su peor perfil de efectos adversos hemodinámicos y de recuperación.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funciona como mapa de ruta: cada una de las seis casillas se desarrolla en profundidad en las próximas seis diapositivas. Conviene remarcar que ningún fármaco anestésico cumple los seis objetivos por sí solo —de ahí la necesidad de la anestesia balanceada revisada previamente.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analgesia multimodal es hoy el estándar: combinar mecanismos complementarios reduce la dosis necesaria de cada fármaco y por tanto sus efectos adversos, particularmente los relacionados con opioides (depresión respiratoria, íleo, náusea). Vale la pena mencionar que la analgesia preventiva —bloquear la señal nociceptiva antes de que llegue al asta dorsal— mejora los desenlaces de dolor crónico postquirúrgico.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hipnosis de sedación: la hipnosis en anestesia general implica ausencia total de respuesta, mientras que la sedación conserva grados variables de capacidad de respuesta. Los monitores de profundidad anestésica (BIS, entropía) son especialmente útiles cuando se usa relajación muscular, porque esta enmascara los signos clínicos clásicos de superficialización anestésica.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awareness intraoperatorio es una de las complicaciones más temidas por los pacientes y con mayor impacto medicolegal. Es importante enseñar a los residentes los grupos de riesgo (cirugía cardiaca, cesárea bajo anestesia general, trauma con inestabilidad hemodinámica) y el rol de los monitores de profundidad anestésica como herramienta complementaria, no sustitutiva, del juicio clínico.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bloqueo neuromuscular residual (recuperación incompleta de la función neuromuscular al extubar) es una causa reconocida de complicaciones respiratorias postoperatorias; de ahí la importancia de monitorizar objetivamente con TOF antes de retirar el tubo endotraqueal, y no basarse solo en signos clínicos subjetivos como la fuerza de prensión de la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objetivo conecta directamente con la medicina perioperatoria moderna: la evidencia de estudios como POISE ha mostrado que la modulación excesiva o insuficiente de la respuesta simpática tiene riesgos propios, por lo que el manejo debe ser individualizado. La anestesia regional, al interceptar la señal nociceptiva en su origen periférico, es particularmente eficaz para atenuar esta respuesta de estrés.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homeostasis es, en cierto sentido, el objetivo integrador de todos los demás: hipnosis, analgesia y relajación muscular deprimen funciones fisiológicas que el anestesiólogo debe sostener activamente con líquidos, vasopresores, ventilación mecánica ajustada y medidas de conservación térmica. Es un buen momento para introducir el concepto de manejo por metas (goal-directed therapy).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números son ilustrativos del orden de magnitud del avance en seguridad, no cifras de una única fuente citable con precisión; conviene presentarlos como tendencia histórica bien documentada en la literatura de seguridad anestésica, más que como un dato puntual verificable. El mensaje pedagógico central es que la seguridad no fue un accidente: resultó de estándares de monitorización, checklists y cultura de simulación deliberadamente construidos durante décadas.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cuatro categorías no son mutuamente excluyentes en la práctica: una anestesia general balanceada a menudo se complementa con un bloqueo regional para analgesia postoperatoria (anestesia combinada). Presentar el panorama aquí ayuda a organizar mentalmente el resto del capítulo, donde cada clase se detalla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importante que el residente distinga la anestesia general de la sedación profunda: aunque ambas pueden lucir clínicamente similares, la anestesia general se define por la ausencia de respuesta incluso a estímulo doloroso y por la necesidad frecuente de control activo de la vía aérea, mientras que la sedación profunda busca preservar, en lo posible, la ventilación espontánea.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de emergencia es tan crítica como la inducción: la extubación con bloqueo neuromuscular residual o sin adecuada recuperación de reflejos es causa reconocida de eventos respiratorios adversos. Vale la pena mencionar los criterios clínicos y objetivos (TOF ratio mayor a 0,9) que deben cumplirse antes de retirar el tubo endotraqueal.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Conviene anticipar aquí la subdivisión que se detallará en las próximas dos diapositivas: anestesia neuroaxial (que actúa sobre la médula espinal y sus raíces) frente a los bloqueos de nervio periférico (que actúan distalmente, sobre troncos nerviosos específicos). Ambas comparten el mecanismo farmacológico de bloqueo de canales de sodio, pero difieren en anatomía, extensión del bloqueo y riesgos asociados.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clínico clave: la epidural admite un catéter para dosificación continua o intermitente —de ahí su uso preferido en analgesia de parto prolongado o analgesia postoperatoria de varios días— mientras que la raquídea, al ser de dosis única (salvo catéteres intradurales excepcionales), se reserva típicamente para procedimientos de duración acotada y predecible.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ecográfica ha transformado la práctica de los bloqueos periféricos: permite visualizar directamente el nervio, la aguja y la dispersión del anestésico local, reduciendo el volumen de fármaco necesario y —según la evidencia— el riesgo de punción vascular o inyección intraneural inadvertida frente a las técnicas guiadas solo por referencias anatómicas o neuroestimulación.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Aunque conceptualmente simple, la anestesia local comparte el mismo mecanismo molecular que la anestesia regional y neuroaxial —bloqueo de canales de sodio— por lo que también comparte sus riesgos si se excede la dosis máxima permitida: toxicidad sistémica por anestésicos locales (LAST), con manifestaciones neurológicas y cardiovasculares que el residente debe saber reconocer y tratar con emulsión lipídica al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pedagógico esencial del continuo ASA es que la sedación no es un estado estático y predecible dosis-respuesta: un paciente puede progresar de sedación moderada a profunda —o incluso a anestesia general no intencionada— de forma súbita, especialmente en presencia de comorbilidades como apnea obstructiva del sueño. Por ello, quien administra sedación debe estar calificado para rescatar al paciente del nivel inmediatamente más profundo al pretendido.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cuadro sintetiza las cuatro clases estudiadas y funciona como puente hacia el bloque de equipos: nótese que a medida que se avanza de sedación a anestesia general aumenta la probabilidad de requerir instrumentación de la vía aérea y, por tanto, el equipo especializado que se revisará en las próximas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útil enmarcar la máquina de anestesia como un sistema de seguridad en capas: cada componente que se revisará a continuación —flujómetros, vaporizadores, absorbedor de CO2, ventilador— incorpora salvaguardas específicas (por ejemplo, el sistema de seguridad proporcional de oxígeno) diseñadas para prevenir errores humanos frecuentes, como la administración inadvertida de una mezcla hipóxica.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recomienda que el residente memorice la secuencia de verificación preanestésica de la máquina (machine check) recomendada por sociedades como la ASA o la FDA: comprobación de fuente de gases, sistema de respiración libre de fugas, absorbedor de CO2, alarmas activas y ventilador funcional, antes de cada lista quirúrgica y tras cada cambio de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error clásico y potencialmente fatal es intentar llenar un vaporizador con un agente distinto al que está calibrado: los sistemas de llenado codificados por agente (“keyed filling systems”) existen precisamente para prevenir esta confusión. También conviene explicar por qué el desflurano requiere tecnología diferente: su punto de ebullición cercano a la temperatura ambiente lo hace inestable en un vaporizador de derivación variable convencional.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anestesia de bajo flujo con circuito circular es hoy una práctica recomendada por razones económicas, ambientales (menor emisión de gases de efecto invernadero) y de conservación de la humedad de la vía aérea; sin embargo, exige mayor vigilancia porque los cambios en la concentración del agente inhalatorio se reflejan más lentamente que a flujos altos.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capnografía continua es, desde 2011, un estándar obligatorio de la ASA para todo paciente bajo anestesia general, precisamente porque detecta desconexiones del circuito o intubación esofágica antes de que la saturación de oxígeno caiga —es decir, ofrece una alarma más temprana que la pulsioximetría sola. La monitorización de la profundidad anestésica y del bloqueo neuromuscular son complementos, no estándares obligatorios universales, pero cada vez más recomendados.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de vía aérea difícil de la ASA organiza estos dispositivos en una secuencia lógica de rescate: de la máscara facial y el dispositivo supraglótico, pasando por la videolaringoscopía, hasta técnicas quirúrgicas como la cricotiroidotomía en el escenario “no se puede intubar, no se puede oxigenar”. Se recomienda que cada quirófano tenga acceso inmediato al carro de vía aérea difícil.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hipertermia maligna es una urgencia farmacogenética infrecuente pero potencialmente letal asociada a agentes inhalatorios halogenados y succinilcolina; el dantroleno es su tratamiento específico y debe estar disponible en cantidad suficiente y de acceso inmediato en cualquier centro donde se utilicen estos fármacos desencadenantes. Es un buen momento para recordar la importancia de simulacros periódicos de emergencias anestésicas.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resumen debe servir como lista de autoevaluación para el residente: ¿puede explicar cada uno de estos ocho puntos con sus propias palabras y ejemplificarlo clínicamente? Es un buen cierre para transicionar al Capítulo II, donde se profundizará en la farmacología específica de los agentes mencionados en este capítulo introductorio.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referencias corresponden a los textos de cabecera de la formación en anestesiología a nivel de postgrado; se recomienda consultar siempre la edición más reciente disponible en la biblioteca institucional, así como las guías y estándares actualizados de las sociedades científicas nacionales e internacionales pertinentes.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image" Target="../media/image-21-1.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1.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4206240"/>
            <a:ext cx="4206240" cy="4206240"/>
          </a:xfrm>
          <a:prstGeom prst="ellipse">
            <a:avLst/>
          </a:prstGeom>
          <a:solidFill>
            <a:srgbClr val="1B2450"/>
          </a:solidFill>
          <a:ln/>
        </p:spPr>
      </p:sp>
      <p:sp>
        <p:nvSpPr>
          <p:cNvPr id="3" name="Shape 1"/>
          <p:cNvSpPr/>
          <p:nvPr/>
        </p:nvSpPr>
        <p:spPr>
          <a:xfrm>
            <a:off x="10607040" y="5120640"/>
            <a:ext cx="2377440" cy="2377440"/>
          </a:xfrm>
          <a:prstGeom prst="ellipse">
            <a:avLst/>
          </a:prstGeom>
          <a:solidFill>
            <a:srgbClr val="182047"/>
          </a:solidFill>
          <a:ln/>
        </p:spPr>
      </p:sp>
      <p:sp>
        <p:nvSpPr>
          <p:cNvPr id="4" name="Text 2"/>
          <p:cNvSpPr txBox="1"/>
          <p:nvPr/>
        </p:nvSpPr>
        <p:spPr>
          <a:xfrm>
            <a:off x="822960" y="1463040"/>
            <a:ext cx="9601200" cy="36576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EDUCACIÓN MÉDICA DE POSTGRADO  ·  PROGRAMA DE ANESTESIOLOGÍA</a:t>
            </a:r>
            <a:endParaRPr lang="en-US" sz="1300" dirty="0"/>
          </a:p>
        </p:txBody>
      </p:sp>
      <p:sp>
        <p:nvSpPr>
          <p:cNvPr id="5" name="Text 3"/>
          <p:cNvSpPr txBox="1"/>
          <p:nvPr/>
        </p:nvSpPr>
        <p:spPr>
          <a:xfrm>
            <a:off x="822960" y="1965960"/>
            <a:ext cx="9601200" cy="914400"/>
          </a:xfrm>
          <a:prstGeom prst="rect">
            <a:avLst/>
          </a:prstGeom>
          <a:noFill/>
          <a:ln/>
        </p:spPr>
        <p:txBody>
          <a:bodyPr wrap="square" lIns="0" tIns="0" rIns="0" bIns="0" rtlCol="0" anchor="ctr"/>
          <a:lstStyle/>
          <a:p>
            <a:pPr indent="0" marL="0">
              <a:buNone/>
            </a:pPr>
            <a:r>
              <a:rPr lang="en-US" sz="3000" b="1" dirty="0">
                <a:solidFill>
                  <a:srgbClr val="DCE7F0"/>
                </a:solidFill>
                <a:latin typeface="Cambria" pitchFamily="34" charset="0"/>
                <a:ea typeface="Cambria" pitchFamily="34" charset="-122"/>
                <a:cs typeface="Cambria" pitchFamily="34" charset="-120"/>
              </a:rPr>
              <a:t>Capítulo I</a:t>
            </a:r>
            <a:endParaRPr lang="en-US" sz="3000" dirty="0"/>
          </a:p>
        </p:txBody>
      </p:sp>
      <p:sp>
        <p:nvSpPr>
          <p:cNvPr id="6" name="Text 4"/>
          <p:cNvSpPr txBox="1"/>
          <p:nvPr/>
        </p:nvSpPr>
        <p:spPr>
          <a:xfrm>
            <a:off x="777240" y="2514600"/>
            <a:ext cx="9601200" cy="137160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Anestesia</a:t>
            </a:r>
            <a:endParaRPr lang="en-US" sz="6600" dirty="0"/>
          </a:p>
        </p:txBody>
      </p:sp>
      <p:sp>
        <p:nvSpPr>
          <p:cNvPr id="7" name="Text 5"/>
          <p:cNvSpPr txBox="1"/>
          <p:nvPr/>
        </p:nvSpPr>
        <p:spPr>
          <a:xfrm>
            <a:off x="822960" y="3977640"/>
            <a:ext cx="7863840" cy="822960"/>
          </a:xfrm>
          <a:prstGeom prst="rect">
            <a:avLst/>
          </a:prstGeom>
          <a:noFill/>
          <a:ln/>
        </p:spPr>
        <p:txBody>
          <a:bodyPr wrap="square" lIns="0" tIns="0" rIns="0" bIns="0" rtlCol="0" anchor="ctr"/>
          <a:lstStyle/>
          <a:p>
            <a:pPr indent="0" marL="0">
              <a:lnSpc>
                <a:spcPts val="2200"/>
              </a:lnSpc>
              <a:buNone/>
            </a:pPr>
            <a:r>
              <a:rPr lang="en-US" sz="1600" dirty="0">
                <a:solidFill>
                  <a:srgbClr val="DCE7F0"/>
                </a:solidFill>
                <a:latin typeface="Calibri" pitchFamily="34" charset="0"/>
                <a:ea typeface="Calibri" pitchFamily="34" charset="-122"/>
                <a:cs typeface="Calibri" pitchFamily="34" charset="-120"/>
              </a:rPr>
              <a:t>Fundamentos, propósitos clínicos, clasificación y equipamiento: una introducción integral a la práctica anestésica para el médico residente.</a:t>
            </a:r>
            <a:endParaRPr lang="en-US" sz="1600" dirty="0"/>
          </a:p>
        </p:txBody>
      </p:sp>
      <p:sp>
        <p:nvSpPr>
          <p:cNvPr id="8" name="Shape 6"/>
          <p:cNvSpPr/>
          <p:nvPr/>
        </p:nvSpPr>
        <p:spPr>
          <a:xfrm>
            <a:off x="822960" y="5074920"/>
            <a:ext cx="566928" cy="566928"/>
          </a:xfrm>
          <a:prstGeom prst="ellipse">
            <a:avLst/>
          </a:prstGeom>
          <a:solidFill>
            <a:srgbClr val="1C7293"/>
          </a:solidFill>
          <a:ln/>
        </p:spPr>
      </p:sp>
      <p:pic>
        <p:nvPicPr>
          <p:cNvPr id="9" name="Image 0" descr="/tmp/claude-0/-home-user-gpa-academy1/adc6e4aa-3b77-57c1-ba92-a8d4ee625c84/scratchpad/icons/stethoscope_white.png">    </p:cNvPr>
          <p:cNvPicPr>
            <a:picLocks noChangeAspect="1"/>
          </p:cNvPicPr>
          <p:nvPr/>
        </p:nvPicPr>
        <p:blipFill>
          <a:blip r:embed="rId1"/>
          <a:stretch>
            <a:fillRect/>
          </a:stretch>
        </p:blipFill>
        <p:spPr>
          <a:xfrm>
            <a:off x="950519" y="5202479"/>
            <a:ext cx="311810" cy="311810"/>
          </a:xfrm>
          <a:prstGeom prst="rect">
            <a:avLst/>
          </a:prstGeom>
        </p:spPr>
      </p:pic>
      <p:sp>
        <p:nvSpPr>
          <p:cNvPr id="10" name="Text 7"/>
          <p:cNvSpPr txBox="1"/>
          <p:nvPr/>
        </p:nvSpPr>
        <p:spPr>
          <a:xfrm>
            <a:off x="1554480" y="5138928"/>
            <a:ext cx="7315200" cy="457200"/>
          </a:xfrm>
          <a:prstGeom prst="rect">
            <a:avLst/>
          </a:prstGeom>
          <a:noFill/>
          <a:ln/>
        </p:spPr>
        <p:txBody>
          <a:bodyPr wrap="square" lIns="0" tIns="0" rIns="0" bIns="0" rtlCol="0" anchor="ctr"/>
          <a:lstStyle/>
          <a:p>
            <a:pPr indent="0" marL="0">
              <a:buNone/>
            </a:pPr>
            <a:r>
              <a:rPr lang="en-US" sz="1300" dirty="0">
                <a:solidFill>
                  <a:srgbClr val="9FB2C9"/>
                </a:solidFill>
                <a:latin typeface="Calibri" pitchFamily="34" charset="0"/>
                <a:ea typeface="Calibri" pitchFamily="34" charset="-122"/>
                <a:cs typeface="Calibri" pitchFamily="34" charset="-120"/>
              </a:rPr>
              <a:t>Curso Base de Anestesiología  ·  Serie de 4 capítulos</a:t>
            </a:r>
            <a:endParaRPr lang="en-US" sz="1300" dirty="0"/>
          </a:p>
        </p:txBody>
      </p:sp>
      <p:sp>
        <p:nvSpPr>
          <p:cNvPr id="11" name="Text 8"/>
          <p:cNvSpPr txBox="1"/>
          <p:nvPr/>
        </p:nvSpPr>
        <p:spPr>
          <a:xfrm>
            <a:off x="822960" y="6217920"/>
            <a:ext cx="5486400" cy="320040"/>
          </a:xfrm>
          <a:prstGeom prst="rect">
            <a:avLst/>
          </a:prstGeom>
          <a:noFill/>
          <a:ln/>
        </p:spPr>
        <p:txBody>
          <a:bodyPr wrap="square" lIns="0" tIns="0" rIns="0" bIns="0" rtlCol="0" anchor="ctr"/>
          <a:lstStyle/>
          <a:p>
            <a:pPr indent="0" marL="0">
              <a:buNone/>
            </a:pPr>
            <a:r>
              <a:rPr lang="en-US" sz="1100" b="1" spc="200" kern="0" dirty="0">
                <a:solidFill>
                  <a:srgbClr val="9FB2C9"/>
                </a:solidFill>
                <a:latin typeface="Calibri" pitchFamily="34" charset="0"/>
                <a:ea typeface="Calibri" pitchFamily="34" charset="-122"/>
                <a:cs typeface="Calibri" pitchFamily="34" charset="-120"/>
              </a:rPr>
              <a:t>GPA ACADEMY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HOJA DE RUTA</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Contenido del capítulo</a:t>
            </a:r>
            <a:endParaRPr lang="en-US" sz="2900" dirty="0"/>
          </a:p>
        </p:txBody>
      </p:sp>
      <p:sp>
        <p:nvSpPr>
          <p:cNvPr id="4" name="Text 2"/>
          <p:cNvSpPr txBox="1"/>
          <p:nvPr/>
        </p:nvSpPr>
        <p:spPr>
          <a:xfrm>
            <a:off x="548640" y="1417320"/>
            <a:ext cx="10515600" cy="457200"/>
          </a:xfrm>
          <a:prstGeom prst="rect">
            <a:avLst/>
          </a:prstGeom>
          <a:noFill/>
          <a:ln/>
        </p:spPr>
        <p:txBody>
          <a:bodyPr wrap="square" lIns="0" tIns="0" rIns="0" bIns="0" rtlCol="0" anchor="t"/>
          <a:lstStyle/>
          <a:p>
            <a:pPr indent="0" marL="0">
              <a:lnSpc>
                <a:spcPts val="2200"/>
              </a:lnSpc>
              <a:buNone/>
            </a:pPr>
            <a:r>
              <a:rPr lang="en-US" sz="1450" dirty="0">
                <a:solidFill>
                  <a:srgbClr val="5C7181"/>
                </a:solidFill>
                <a:latin typeface="Calibri" pitchFamily="34" charset="0"/>
                <a:ea typeface="Calibri" pitchFamily="34" charset="-122"/>
                <a:cs typeface="Calibri" pitchFamily="34" charset="-120"/>
              </a:rPr>
              <a:t>Seis bloques temáticos que construyen, de manera progresiva, el marco conceptual de la anestesiología moderna.</a:t>
            </a:r>
            <a:endParaRPr lang="en-US" sz="1450" dirty="0"/>
          </a:p>
        </p:txBody>
      </p:sp>
      <p:sp>
        <p:nvSpPr>
          <p:cNvPr id="5" name="Shape 3"/>
          <p:cNvSpPr/>
          <p:nvPr/>
        </p:nvSpPr>
        <p:spPr>
          <a:xfrm>
            <a:off x="548640" y="2057400"/>
            <a:ext cx="5257800" cy="1298448"/>
          </a:xfrm>
          <a:prstGeom prst="roundRect">
            <a:avLst>
              <a:gd name="adj" fmla="val 5634"/>
            </a:avLst>
          </a:prstGeom>
          <a:solidFill>
            <a:srgbClr val="EAF3F7"/>
          </a:solidFill>
          <a:ln/>
          <a:effectLst>
            <a:outerShdw sx="100000" sy="100000" kx="0" ky="0" algn="bl" rotWithShape="0" blurRad="101600" dist="25400" dir="5400000">
              <a:srgbClr val="1B2A3A">
                <a:alpha val="12000"/>
              </a:srgbClr>
            </a:outerShdw>
          </a:effectLst>
        </p:spPr>
      </p:sp>
      <p:sp>
        <p:nvSpPr>
          <p:cNvPr id="6" name="Shape 4"/>
          <p:cNvSpPr/>
          <p:nvPr/>
        </p:nvSpPr>
        <p:spPr>
          <a:xfrm>
            <a:off x="777240" y="2386584"/>
            <a:ext cx="640080" cy="640080"/>
          </a:xfrm>
          <a:prstGeom prst="ellipse">
            <a:avLst/>
          </a:prstGeom>
          <a:solidFill>
            <a:srgbClr val="065A82"/>
          </a:solidFill>
          <a:ln/>
        </p:spPr>
      </p:sp>
      <p:pic>
        <p:nvPicPr>
          <p:cNvPr id="7" name="Image 0" descr="/tmp/claude-0/-home-user-gpa-academy1/adc6e4aa-3b77-57c1-ba92-a8d4ee625c84/scratchpad/icons/book_white.png">    </p:cNvPr>
          <p:cNvPicPr>
            <a:picLocks noChangeAspect="1"/>
          </p:cNvPicPr>
          <p:nvPr/>
        </p:nvPicPr>
        <p:blipFill>
          <a:blip r:embed="rId1"/>
          <a:stretch>
            <a:fillRect/>
          </a:stretch>
        </p:blipFill>
        <p:spPr>
          <a:xfrm>
            <a:off x="937260" y="2546604"/>
            <a:ext cx="320040" cy="320040"/>
          </a:xfrm>
          <a:prstGeom prst="rect">
            <a:avLst/>
          </a:prstGeom>
        </p:spPr>
      </p:pic>
      <p:sp>
        <p:nvSpPr>
          <p:cNvPr id="8" name="Text 5"/>
          <p:cNvSpPr txBox="1"/>
          <p:nvPr/>
        </p:nvSpPr>
        <p:spPr>
          <a:xfrm>
            <a:off x="4892040" y="2167128"/>
            <a:ext cx="777240" cy="365760"/>
          </a:xfrm>
          <a:prstGeom prst="rect">
            <a:avLst/>
          </a:prstGeom>
          <a:noFill/>
          <a:ln/>
        </p:spPr>
        <p:txBody>
          <a:bodyPr wrap="square" lIns="0" tIns="0" rIns="0" bIns="0" rtlCol="0" anchor="ctr"/>
          <a:lstStyle/>
          <a:p>
            <a:pPr algn="r" indent="0" marL="0">
              <a:buNone/>
            </a:pPr>
            <a:r>
              <a:rPr lang="en-US" sz="2000" b="1" dirty="0">
                <a:solidFill>
                  <a:srgbClr val="1C7293"/>
                </a:solidFill>
                <a:latin typeface="Cambria" pitchFamily="34" charset="0"/>
                <a:ea typeface="Cambria" pitchFamily="34" charset="-122"/>
                <a:cs typeface="Cambria" pitchFamily="34" charset="-120"/>
              </a:rPr>
              <a:t>01</a:t>
            </a:r>
            <a:endParaRPr lang="en-US" sz="2000" dirty="0"/>
          </a:p>
        </p:txBody>
      </p:sp>
      <p:sp>
        <p:nvSpPr>
          <p:cNvPr id="9" name="Text 6"/>
          <p:cNvSpPr txBox="1"/>
          <p:nvPr/>
        </p:nvSpPr>
        <p:spPr>
          <a:xfrm>
            <a:off x="1554480" y="2258568"/>
            <a:ext cx="4069080" cy="384048"/>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Fundamentos de la anestesia</a:t>
            </a:r>
            <a:endParaRPr lang="en-US" sz="1550" dirty="0"/>
          </a:p>
        </p:txBody>
      </p:sp>
      <p:sp>
        <p:nvSpPr>
          <p:cNvPr id="10" name="Text 7"/>
          <p:cNvSpPr txBox="1"/>
          <p:nvPr/>
        </p:nvSpPr>
        <p:spPr>
          <a:xfrm>
            <a:off x="1554480" y="2624328"/>
            <a:ext cx="4069080" cy="59436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Definición, etimología y diferenciación de conceptos clave</a:t>
            </a:r>
            <a:endParaRPr lang="en-US" sz="1150" dirty="0"/>
          </a:p>
        </p:txBody>
      </p:sp>
      <p:sp>
        <p:nvSpPr>
          <p:cNvPr id="11" name="Shape 8"/>
          <p:cNvSpPr/>
          <p:nvPr/>
        </p:nvSpPr>
        <p:spPr>
          <a:xfrm>
            <a:off x="6172200" y="2057400"/>
            <a:ext cx="5257800" cy="1298448"/>
          </a:xfrm>
          <a:prstGeom prst="roundRect">
            <a:avLst>
              <a:gd name="adj" fmla="val 5634"/>
            </a:avLst>
          </a:prstGeom>
          <a:solidFill>
            <a:srgbClr val="EAF3F7"/>
          </a:solidFill>
          <a:ln/>
          <a:effectLst>
            <a:outerShdw sx="100000" sy="100000" kx="0" ky="0" algn="bl" rotWithShape="0" blurRad="101600" dist="25400" dir="5400000">
              <a:srgbClr val="1B2A3A">
                <a:alpha val="12000"/>
              </a:srgbClr>
            </a:outerShdw>
          </a:effectLst>
        </p:spPr>
      </p:sp>
      <p:sp>
        <p:nvSpPr>
          <p:cNvPr id="12" name="Shape 9"/>
          <p:cNvSpPr/>
          <p:nvPr/>
        </p:nvSpPr>
        <p:spPr>
          <a:xfrm>
            <a:off x="6400800" y="2386584"/>
            <a:ext cx="640080" cy="640080"/>
          </a:xfrm>
          <a:prstGeom prst="ellipse">
            <a:avLst/>
          </a:prstGeom>
          <a:solidFill>
            <a:srgbClr val="065A82"/>
          </a:solidFill>
          <a:ln/>
        </p:spPr>
      </p:sp>
      <p:pic>
        <p:nvPicPr>
          <p:cNvPr id="13" name="Image 1" descr="/tmp/claude-0/-home-user-gpa-academy1/adc6e4aa-3b77-57c1-ba92-a8d4ee625c84/scratchpad/icons/balance_white.png">    </p:cNvPr>
          <p:cNvPicPr>
            <a:picLocks noChangeAspect="1"/>
          </p:cNvPicPr>
          <p:nvPr/>
        </p:nvPicPr>
        <p:blipFill>
          <a:blip r:embed="rId2"/>
          <a:stretch>
            <a:fillRect/>
          </a:stretch>
        </p:blipFill>
        <p:spPr>
          <a:xfrm>
            <a:off x="6560820" y="2546604"/>
            <a:ext cx="320040" cy="320040"/>
          </a:xfrm>
          <a:prstGeom prst="rect">
            <a:avLst/>
          </a:prstGeom>
        </p:spPr>
      </p:pic>
      <p:sp>
        <p:nvSpPr>
          <p:cNvPr id="14" name="Text 10"/>
          <p:cNvSpPr txBox="1"/>
          <p:nvPr/>
        </p:nvSpPr>
        <p:spPr>
          <a:xfrm>
            <a:off x="10515600" y="2167128"/>
            <a:ext cx="777240" cy="365760"/>
          </a:xfrm>
          <a:prstGeom prst="rect">
            <a:avLst/>
          </a:prstGeom>
          <a:noFill/>
          <a:ln/>
        </p:spPr>
        <p:txBody>
          <a:bodyPr wrap="square" lIns="0" tIns="0" rIns="0" bIns="0" rtlCol="0" anchor="ctr"/>
          <a:lstStyle/>
          <a:p>
            <a:pPr algn="r" indent="0" marL="0">
              <a:buNone/>
            </a:pPr>
            <a:r>
              <a:rPr lang="en-US" sz="2000" b="1" dirty="0">
                <a:solidFill>
                  <a:srgbClr val="1C7293"/>
                </a:solidFill>
                <a:latin typeface="Cambria" pitchFamily="34" charset="0"/>
                <a:ea typeface="Cambria" pitchFamily="34" charset="-122"/>
                <a:cs typeface="Cambria" pitchFamily="34" charset="-120"/>
              </a:rPr>
              <a:t>02</a:t>
            </a:r>
            <a:endParaRPr lang="en-US" sz="2000" dirty="0"/>
          </a:p>
        </p:txBody>
      </p:sp>
      <p:sp>
        <p:nvSpPr>
          <p:cNvPr id="15" name="Text 11"/>
          <p:cNvSpPr txBox="1"/>
          <p:nvPr/>
        </p:nvSpPr>
        <p:spPr>
          <a:xfrm>
            <a:off x="7178040" y="2258568"/>
            <a:ext cx="4069080" cy="384048"/>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Propósitos clínicos</a:t>
            </a:r>
            <a:endParaRPr lang="en-US" sz="1550" dirty="0"/>
          </a:p>
        </p:txBody>
      </p:sp>
      <p:sp>
        <p:nvSpPr>
          <p:cNvPr id="16" name="Text 12"/>
          <p:cNvSpPr txBox="1"/>
          <p:nvPr/>
        </p:nvSpPr>
        <p:spPr>
          <a:xfrm>
            <a:off x="7178040" y="2624328"/>
            <a:ext cx="4069080" cy="59436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Analgesia, hipnosis, amnesia, relajación y homeostasis</a:t>
            </a:r>
            <a:endParaRPr lang="en-US" sz="1150" dirty="0"/>
          </a:p>
        </p:txBody>
      </p:sp>
      <p:sp>
        <p:nvSpPr>
          <p:cNvPr id="17" name="Shape 13"/>
          <p:cNvSpPr/>
          <p:nvPr/>
        </p:nvSpPr>
        <p:spPr>
          <a:xfrm>
            <a:off x="548640" y="3520440"/>
            <a:ext cx="5257800" cy="1298448"/>
          </a:xfrm>
          <a:prstGeom prst="roundRect">
            <a:avLst>
              <a:gd name="adj" fmla="val 5634"/>
            </a:avLst>
          </a:prstGeom>
          <a:solidFill>
            <a:srgbClr val="EAF3F7"/>
          </a:solidFill>
          <a:ln/>
          <a:effectLst>
            <a:outerShdw sx="100000" sy="100000" kx="0" ky="0" algn="bl" rotWithShape="0" blurRad="101600" dist="25400" dir="5400000">
              <a:srgbClr val="1B2A3A">
                <a:alpha val="12000"/>
              </a:srgbClr>
            </a:outerShdw>
          </a:effectLst>
        </p:spPr>
      </p:sp>
      <p:sp>
        <p:nvSpPr>
          <p:cNvPr id="18" name="Shape 14"/>
          <p:cNvSpPr/>
          <p:nvPr/>
        </p:nvSpPr>
        <p:spPr>
          <a:xfrm>
            <a:off x="777240" y="3849624"/>
            <a:ext cx="640080" cy="640080"/>
          </a:xfrm>
          <a:prstGeom prst="ellipse">
            <a:avLst/>
          </a:prstGeom>
          <a:solidFill>
            <a:srgbClr val="065A82"/>
          </a:solidFill>
          <a:ln/>
        </p:spPr>
      </p:sp>
      <p:pic>
        <p:nvPicPr>
          <p:cNvPr id="19" name="Image 2" descr="/tmp/claude-0/-home-user-gpa-academy1/adc6e4aa-3b77-57c1-ba92-a8d4ee625c84/scratchpad/icons/shield_white.png">    </p:cNvPr>
          <p:cNvPicPr>
            <a:picLocks noChangeAspect="1"/>
          </p:cNvPicPr>
          <p:nvPr/>
        </p:nvPicPr>
        <p:blipFill>
          <a:blip r:embed="rId3"/>
          <a:stretch>
            <a:fillRect/>
          </a:stretch>
        </p:blipFill>
        <p:spPr>
          <a:xfrm>
            <a:off x="937260" y="4009644"/>
            <a:ext cx="320040" cy="320040"/>
          </a:xfrm>
          <a:prstGeom prst="rect">
            <a:avLst/>
          </a:prstGeom>
        </p:spPr>
      </p:pic>
      <p:sp>
        <p:nvSpPr>
          <p:cNvPr id="20" name="Text 15"/>
          <p:cNvSpPr txBox="1"/>
          <p:nvPr/>
        </p:nvSpPr>
        <p:spPr>
          <a:xfrm>
            <a:off x="4892040" y="3630168"/>
            <a:ext cx="777240" cy="365760"/>
          </a:xfrm>
          <a:prstGeom prst="rect">
            <a:avLst/>
          </a:prstGeom>
          <a:noFill/>
          <a:ln/>
        </p:spPr>
        <p:txBody>
          <a:bodyPr wrap="square" lIns="0" tIns="0" rIns="0" bIns="0" rtlCol="0" anchor="ctr"/>
          <a:lstStyle/>
          <a:p>
            <a:pPr algn="r" indent="0" marL="0">
              <a:buNone/>
            </a:pPr>
            <a:r>
              <a:rPr lang="en-US" sz="2000" b="1" dirty="0">
                <a:solidFill>
                  <a:srgbClr val="1C7293"/>
                </a:solidFill>
                <a:latin typeface="Cambria" pitchFamily="34" charset="0"/>
                <a:ea typeface="Cambria" pitchFamily="34" charset="-122"/>
                <a:cs typeface="Cambria" pitchFamily="34" charset="-120"/>
              </a:rPr>
              <a:t>03</a:t>
            </a:r>
            <a:endParaRPr lang="en-US" sz="2000" dirty="0"/>
          </a:p>
        </p:txBody>
      </p:sp>
      <p:sp>
        <p:nvSpPr>
          <p:cNvPr id="21" name="Text 16"/>
          <p:cNvSpPr txBox="1"/>
          <p:nvPr/>
        </p:nvSpPr>
        <p:spPr>
          <a:xfrm>
            <a:off x="1554480" y="3721608"/>
            <a:ext cx="4069080" cy="384048"/>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Relevancia quirúrgica</a:t>
            </a:r>
            <a:endParaRPr lang="en-US" sz="1550" dirty="0"/>
          </a:p>
        </p:txBody>
      </p:sp>
      <p:sp>
        <p:nvSpPr>
          <p:cNvPr id="22" name="Text 17"/>
          <p:cNvSpPr txBox="1"/>
          <p:nvPr/>
        </p:nvSpPr>
        <p:spPr>
          <a:xfrm>
            <a:off x="1554480" y="4087368"/>
            <a:ext cx="4069080" cy="59436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Impacto de la anestesia en la seguridad del paciente</a:t>
            </a:r>
            <a:endParaRPr lang="en-US" sz="1150" dirty="0"/>
          </a:p>
        </p:txBody>
      </p:sp>
      <p:sp>
        <p:nvSpPr>
          <p:cNvPr id="23" name="Shape 18"/>
          <p:cNvSpPr/>
          <p:nvPr/>
        </p:nvSpPr>
        <p:spPr>
          <a:xfrm>
            <a:off x="6172200" y="3520440"/>
            <a:ext cx="5257800" cy="1298448"/>
          </a:xfrm>
          <a:prstGeom prst="roundRect">
            <a:avLst>
              <a:gd name="adj" fmla="val 5634"/>
            </a:avLst>
          </a:prstGeom>
          <a:solidFill>
            <a:srgbClr val="EAF3F7"/>
          </a:solidFill>
          <a:ln/>
          <a:effectLst>
            <a:outerShdw sx="100000" sy="100000" kx="0" ky="0" algn="bl" rotWithShape="0" blurRad="101600" dist="25400" dir="5400000">
              <a:srgbClr val="1B2A3A">
                <a:alpha val="12000"/>
              </a:srgbClr>
            </a:outerShdw>
          </a:effectLst>
        </p:spPr>
      </p:sp>
      <p:sp>
        <p:nvSpPr>
          <p:cNvPr id="24" name="Shape 19"/>
          <p:cNvSpPr/>
          <p:nvPr/>
        </p:nvSpPr>
        <p:spPr>
          <a:xfrm>
            <a:off x="6400800" y="3849624"/>
            <a:ext cx="640080" cy="640080"/>
          </a:xfrm>
          <a:prstGeom prst="ellipse">
            <a:avLst/>
          </a:prstGeom>
          <a:solidFill>
            <a:srgbClr val="065A82"/>
          </a:solidFill>
          <a:ln/>
        </p:spPr>
      </p:sp>
      <p:pic>
        <p:nvPicPr>
          <p:cNvPr id="25" name="Image 3" descr="/tmp/claude-0/-home-user-gpa-academy1/adc6e4aa-3b77-57c1-ba92-a8d4ee625c84/scratchpad/icons/category_white.png">    </p:cNvPr>
          <p:cNvPicPr>
            <a:picLocks noChangeAspect="1"/>
          </p:cNvPicPr>
          <p:nvPr/>
        </p:nvPicPr>
        <p:blipFill>
          <a:blip r:embed="rId4"/>
          <a:stretch>
            <a:fillRect/>
          </a:stretch>
        </p:blipFill>
        <p:spPr>
          <a:xfrm>
            <a:off x="6560820" y="4009644"/>
            <a:ext cx="320040" cy="320040"/>
          </a:xfrm>
          <a:prstGeom prst="rect">
            <a:avLst/>
          </a:prstGeom>
        </p:spPr>
      </p:pic>
      <p:sp>
        <p:nvSpPr>
          <p:cNvPr id="26" name="Text 20"/>
          <p:cNvSpPr txBox="1"/>
          <p:nvPr/>
        </p:nvSpPr>
        <p:spPr>
          <a:xfrm>
            <a:off x="10515600" y="3630168"/>
            <a:ext cx="777240" cy="365760"/>
          </a:xfrm>
          <a:prstGeom prst="rect">
            <a:avLst/>
          </a:prstGeom>
          <a:noFill/>
          <a:ln/>
        </p:spPr>
        <p:txBody>
          <a:bodyPr wrap="square" lIns="0" tIns="0" rIns="0" bIns="0" rtlCol="0" anchor="ctr"/>
          <a:lstStyle/>
          <a:p>
            <a:pPr algn="r" indent="0" marL="0">
              <a:buNone/>
            </a:pPr>
            <a:r>
              <a:rPr lang="en-US" sz="2000" b="1" dirty="0">
                <a:solidFill>
                  <a:srgbClr val="1C7293"/>
                </a:solidFill>
                <a:latin typeface="Cambria" pitchFamily="34" charset="0"/>
                <a:ea typeface="Cambria" pitchFamily="34" charset="-122"/>
                <a:cs typeface="Cambria" pitchFamily="34" charset="-120"/>
              </a:rPr>
              <a:t>04</a:t>
            </a:r>
            <a:endParaRPr lang="en-US" sz="2000" dirty="0"/>
          </a:p>
        </p:txBody>
      </p:sp>
      <p:sp>
        <p:nvSpPr>
          <p:cNvPr id="27" name="Text 21"/>
          <p:cNvSpPr txBox="1"/>
          <p:nvPr/>
        </p:nvSpPr>
        <p:spPr>
          <a:xfrm>
            <a:off x="7178040" y="3721608"/>
            <a:ext cx="4069080" cy="384048"/>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Clases de anestesia</a:t>
            </a:r>
            <a:endParaRPr lang="en-US" sz="1550" dirty="0"/>
          </a:p>
        </p:txBody>
      </p:sp>
      <p:sp>
        <p:nvSpPr>
          <p:cNvPr id="28" name="Text 22"/>
          <p:cNvSpPr txBox="1"/>
          <p:nvPr/>
        </p:nvSpPr>
        <p:spPr>
          <a:xfrm>
            <a:off x="7178040" y="4087368"/>
            <a:ext cx="4069080" cy="59436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General, regional, local y sedación / MAC</a:t>
            </a:r>
            <a:endParaRPr lang="en-US" sz="1150" dirty="0"/>
          </a:p>
        </p:txBody>
      </p:sp>
      <p:sp>
        <p:nvSpPr>
          <p:cNvPr id="29" name="Shape 23"/>
          <p:cNvSpPr/>
          <p:nvPr/>
        </p:nvSpPr>
        <p:spPr>
          <a:xfrm>
            <a:off x="548640" y="4983480"/>
            <a:ext cx="5257800" cy="1298448"/>
          </a:xfrm>
          <a:prstGeom prst="roundRect">
            <a:avLst>
              <a:gd name="adj" fmla="val 5634"/>
            </a:avLst>
          </a:prstGeom>
          <a:solidFill>
            <a:srgbClr val="EAF3F7"/>
          </a:solidFill>
          <a:ln/>
          <a:effectLst>
            <a:outerShdw sx="100000" sy="100000" kx="0" ky="0" algn="bl" rotWithShape="0" blurRad="101600" dist="25400" dir="5400000">
              <a:srgbClr val="1B2A3A">
                <a:alpha val="12000"/>
              </a:srgbClr>
            </a:outerShdw>
          </a:effectLst>
        </p:spPr>
      </p:sp>
      <p:sp>
        <p:nvSpPr>
          <p:cNvPr id="30" name="Shape 24"/>
          <p:cNvSpPr/>
          <p:nvPr/>
        </p:nvSpPr>
        <p:spPr>
          <a:xfrm>
            <a:off x="777240" y="5312664"/>
            <a:ext cx="640080" cy="640080"/>
          </a:xfrm>
          <a:prstGeom prst="ellipse">
            <a:avLst/>
          </a:prstGeom>
          <a:solidFill>
            <a:srgbClr val="065A82"/>
          </a:solidFill>
          <a:ln/>
        </p:spPr>
      </p:sp>
      <p:pic>
        <p:nvPicPr>
          <p:cNvPr id="31" name="Image 4" descr="/tmp/claude-0/-home-user-gpa-academy1/adc6e4aa-3b77-57c1-ba92-a8d4ee625c84/scratchpad/icons/settings_white.png">    </p:cNvPr>
          <p:cNvPicPr>
            <a:picLocks noChangeAspect="1"/>
          </p:cNvPicPr>
          <p:nvPr/>
        </p:nvPicPr>
        <p:blipFill>
          <a:blip r:embed="rId5"/>
          <a:stretch>
            <a:fillRect/>
          </a:stretch>
        </p:blipFill>
        <p:spPr>
          <a:xfrm>
            <a:off x="937260" y="5472684"/>
            <a:ext cx="320040" cy="320040"/>
          </a:xfrm>
          <a:prstGeom prst="rect">
            <a:avLst/>
          </a:prstGeom>
        </p:spPr>
      </p:pic>
      <p:sp>
        <p:nvSpPr>
          <p:cNvPr id="32" name="Text 25"/>
          <p:cNvSpPr txBox="1"/>
          <p:nvPr/>
        </p:nvSpPr>
        <p:spPr>
          <a:xfrm>
            <a:off x="4892040" y="5093208"/>
            <a:ext cx="777240" cy="365760"/>
          </a:xfrm>
          <a:prstGeom prst="rect">
            <a:avLst/>
          </a:prstGeom>
          <a:noFill/>
          <a:ln/>
        </p:spPr>
        <p:txBody>
          <a:bodyPr wrap="square" lIns="0" tIns="0" rIns="0" bIns="0" rtlCol="0" anchor="ctr"/>
          <a:lstStyle/>
          <a:p>
            <a:pPr algn="r" indent="0" marL="0">
              <a:buNone/>
            </a:pPr>
            <a:r>
              <a:rPr lang="en-US" sz="2000" b="1" dirty="0">
                <a:solidFill>
                  <a:srgbClr val="1C7293"/>
                </a:solidFill>
                <a:latin typeface="Cambria" pitchFamily="34" charset="0"/>
                <a:ea typeface="Cambria" pitchFamily="34" charset="-122"/>
                <a:cs typeface="Cambria" pitchFamily="34" charset="-120"/>
              </a:rPr>
              <a:t>05</a:t>
            </a:r>
            <a:endParaRPr lang="en-US" sz="2000" dirty="0"/>
          </a:p>
        </p:txBody>
      </p:sp>
      <p:sp>
        <p:nvSpPr>
          <p:cNvPr id="33" name="Text 26"/>
          <p:cNvSpPr txBox="1"/>
          <p:nvPr/>
        </p:nvSpPr>
        <p:spPr>
          <a:xfrm>
            <a:off x="1554480" y="5184648"/>
            <a:ext cx="4069080" cy="384048"/>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Equipos y monitorización</a:t>
            </a:r>
            <a:endParaRPr lang="en-US" sz="1550" dirty="0"/>
          </a:p>
        </p:txBody>
      </p:sp>
      <p:sp>
        <p:nvSpPr>
          <p:cNvPr id="34" name="Text 27"/>
          <p:cNvSpPr txBox="1"/>
          <p:nvPr/>
        </p:nvSpPr>
        <p:spPr>
          <a:xfrm>
            <a:off x="1554480" y="5550408"/>
            <a:ext cx="4069080" cy="59436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Máquina de anestesia, circuitos y vigilancia intraoperatoria</a:t>
            </a:r>
            <a:endParaRPr lang="en-US" sz="1150" dirty="0"/>
          </a:p>
        </p:txBody>
      </p:sp>
      <p:sp>
        <p:nvSpPr>
          <p:cNvPr id="35" name="Shape 28"/>
          <p:cNvSpPr/>
          <p:nvPr/>
        </p:nvSpPr>
        <p:spPr>
          <a:xfrm>
            <a:off x="6172200" y="4983480"/>
            <a:ext cx="5257800" cy="1298448"/>
          </a:xfrm>
          <a:prstGeom prst="roundRect">
            <a:avLst>
              <a:gd name="adj" fmla="val 5634"/>
            </a:avLst>
          </a:prstGeom>
          <a:solidFill>
            <a:srgbClr val="EAF3F7"/>
          </a:solidFill>
          <a:ln/>
          <a:effectLst>
            <a:outerShdw sx="100000" sy="100000" kx="0" ky="0" algn="bl" rotWithShape="0" blurRad="101600" dist="25400" dir="5400000">
              <a:srgbClr val="1B2A3A">
                <a:alpha val="12000"/>
              </a:srgbClr>
            </a:outerShdw>
          </a:effectLst>
        </p:spPr>
      </p:sp>
      <p:sp>
        <p:nvSpPr>
          <p:cNvPr id="36" name="Shape 29"/>
          <p:cNvSpPr/>
          <p:nvPr/>
        </p:nvSpPr>
        <p:spPr>
          <a:xfrm>
            <a:off x="6400800" y="5312664"/>
            <a:ext cx="640080" cy="640080"/>
          </a:xfrm>
          <a:prstGeom prst="ellipse">
            <a:avLst/>
          </a:prstGeom>
          <a:solidFill>
            <a:srgbClr val="065A82"/>
          </a:solidFill>
          <a:ln/>
        </p:spPr>
      </p:sp>
      <p:pic>
        <p:nvPicPr>
          <p:cNvPr id="37" name="Image 5" descr="/tmp/claude-0/-home-user-gpa-academy1/adc6e4aa-3b77-57c1-ba92-a8d4ee625c84/scratchpad/icons/librarybooks_white.png">    </p:cNvPr>
          <p:cNvPicPr>
            <a:picLocks noChangeAspect="1"/>
          </p:cNvPicPr>
          <p:nvPr/>
        </p:nvPicPr>
        <p:blipFill>
          <a:blip r:embed="rId6"/>
          <a:stretch>
            <a:fillRect/>
          </a:stretch>
        </p:blipFill>
        <p:spPr>
          <a:xfrm>
            <a:off x="6560820" y="5472684"/>
            <a:ext cx="320040" cy="320040"/>
          </a:xfrm>
          <a:prstGeom prst="rect">
            <a:avLst/>
          </a:prstGeom>
        </p:spPr>
      </p:pic>
      <p:sp>
        <p:nvSpPr>
          <p:cNvPr id="38" name="Text 30"/>
          <p:cNvSpPr txBox="1"/>
          <p:nvPr/>
        </p:nvSpPr>
        <p:spPr>
          <a:xfrm>
            <a:off x="10515600" y="5093208"/>
            <a:ext cx="777240" cy="365760"/>
          </a:xfrm>
          <a:prstGeom prst="rect">
            <a:avLst/>
          </a:prstGeom>
          <a:noFill/>
          <a:ln/>
        </p:spPr>
        <p:txBody>
          <a:bodyPr wrap="square" lIns="0" tIns="0" rIns="0" bIns="0" rtlCol="0" anchor="ctr"/>
          <a:lstStyle/>
          <a:p>
            <a:pPr algn="r" indent="0" marL="0">
              <a:buNone/>
            </a:pPr>
            <a:r>
              <a:rPr lang="en-US" sz="2000" b="1" dirty="0">
                <a:solidFill>
                  <a:srgbClr val="1C7293"/>
                </a:solidFill>
                <a:latin typeface="Cambria" pitchFamily="34" charset="0"/>
                <a:ea typeface="Cambria" pitchFamily="34" charset="-122"/>
                <a:cs typeface="Cambria" pitchFamily="34" charset="-120"/>
              </a:rPr>
              <a:t>06</a:t>
            </a:r>
            <a:endParaRPr lang="en-US" sz="2000" dirty="0"/>
          </a:p>
        </p:txBody>
      </p:sp>
      <p:sp>
        <p:nvSpPr>
          <p:cNvPr id="39" name="Text 31"/>
          <p:cNvSpPr txBox="1"/>
          <p:nvPr/>
        </p:nvSpPr>
        <p:spPr>
          <a:xfrm>
            <a:off x="7178040" y="5184648"/>
            <a:ext cx="4069080" cy="384048"/>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Síntesis y referencias</a:t>
            </a:r>
            <a:endParaRPr lang="en-US" sz="1550" dirty="0"/>
          </a:p>
        </p:txBody>
      </p:sp>
      <p:sp>
        <p:nvSpPr>
          <p:cNvPr id="40" name="Text 32"/>
          <p:cNvSpPr txBox="1"/>
          <p:nvPr/>
        </p:nvSpPr>
        <p:spPr>
          <a:xfrm>
            <a:off x="7178040" y="5550408"/>
            <a:ext cx="4069080" cy="59436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Puntos clave del capítulo y bibliografía</a:t>
            </a:r>
            <a:endParaRPr lang="en-US" sz="1150" dirty="0"/>
          </a:p>
        </p:txBody>
      </p:sp>
      <p:sp>
        <p:nvSpPr>
          <p:cNvPr id="41" name="Text 3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42" name="Text 3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02 / 33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FUNDAMENTOS · 1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La anestesiología como especialidad médica</a:t>
            </a:r>
            <a:endParaRPr lang="en-US" sz="2900" dirty="0"/>
          </a:p>
        </p:txBody>
      </p:sp>
      <p:sp>
        <p:nvSpPr>
          <p:cNvPr id="4" name="Text 2"/>
          <p:cNvSpPr txBox="1"/>
          <p:nvPr/>
        </p:nvSpPr>
        <p:spPr>
          <a:xfrm>
            <a:off x="548640" y="1554480"/>
            <a:ext cx="6309360" cy="1828800"/>
          </a:xfrm>
          <a:prstGeom prst="rect">
            <a:avLst/>
          </a:prstGeom>
          <a:noFill/>
          <a:ln/>
        </p:spPr>
        <p:txBody>
          <a:bodyPr wrap="square" lIns="0" tIns="0" rIns="0" bIns="0" rtlCol="0" anchor="t"/>
          <a:lstStyle/>
          <a:p>
            <a:pPr indent="0" marL="0">
              <a:lnSpc>
                <a:spcPts val="2100"/>
              </a:lnSpc>
              <a:buNone/>
            </a:pPr>
            <a:r>
              <a:rPr lang="en-US" sz="1450" dirty="0">
                <a:solidFill>
                  <a:srgbClr val="2B3648"/>
                </a:solidFill>
                <a:latin typeface="Calibri" pitchFamily="34" charset="0"/>
                <a:ea typeface="Calibri" pitchFamily="34" charset="-122"/>
                <a:cs typeface="Calibri" pitchFamily="34" charset="-120"/>
              </a:rPr>
              <a:t>La anestesiología es la especialidad médica responsable del cuidado perioperatorio integral del paciente quirúrgico: evaluación preanestésica, manejo intraoperatorio de la anestesia y la fisiología del paciente, cuidados posanestésicos inmediatos, manejo del dolor agudo y crónico, y con frecuencia medicina crítica y reanimación.</a:t>
            </a:r>
            <a:endParaRPr lang="en-US" sz="1450" dirty="0"/>
          </a:p>
        </p:txBody>
      </p:sp>
      <p:sp>
        <p:nvSpPr>
          <p:cNvPr id="5" name="Text 3"/>
          <p:cNvSpPr txBox="1"/>
          <p:nvPr/>
        </p:nvSpPr>
        <p:spPr>
          <a:xfrm>
            <a:off x="548640" y="3429000"/>
            <a:ext cx="6309360" cy="1554480"/>
          </a:xfrm>
          <a:prstGeom prst="rect">
            <a:avLst/>
          </a:prstGeom>
          <a:noFill/>
          <a:ln/>
        </p:spPr>
        <p:txBody>
          <a:bodyPr wrap="square" lIns="0" tIns="0" rIns="0" bIns="0" rtlCol="0" anchor="t"/>
          <a:lstStyle/>
          <a:p>
            <a:pPr indent="0" marL="0">
              <a:lnSpc>
                <a:spcPts val="2100"/>
              </a:lnSpc>
              <a:buNone/>
            </a:pPr>
            <a:r>
              <a:rPr lang="en-US" sz="1450" dirty="0">
                <a:solidFill>
                  <a:srgbClr val="2B3648"/>
                </a:solidFill>
                <a:latin typeface="Calibri" pitchFamily="34" charset="0"/>
                <a:ea typeface="Calibri" pitchFamily="34" charset="-122"/>
                <a:cs typeface="Calibri" pitchFamily="34" charset="-120"/>
              </a:rPr>
              <a:t>El anestesiólogo funciona como el médico perioperatorio del equipo quirúrgico: optimiza comorbilidades antes de la cirugía, sostiene la homeostasis fisiológica durante el procedimiento y conduce la transición segura del paciente hacia la recuperación.</a:t>
            </a:r>
            <a:endParaRPr lang="en-US" sz="1450" dirty="0"/>
          </a:p>
        </p:txBody>
      </p:sp>
      <p:sp>
        <p:nvSpPr>
          <p:cNvPr id="6" name="Shape 4"/>
          <p:cNvSpPr/>
          <p:nvPr/>
        </p:nvSpPr>
        <p:spPr>
          <a:xfrm>
            <a:off x="7178040" y="1554480"/>
            <a:ext cx="4434840" cy="4343400"/>
          </a:xfrm>
          <a:prstGeom prst="roundRect">
            <a:avLst>
              <a:gd name="adj" fmla="val 1684"/>
            </a:avLst>
          </a:prstGeom>
          <a:solidFill>
            <a:srgbClr val="EAF3F7"/>
          </a:solidFill>
          <a:ln/>
          <a:effectLst>
            <a:outerShdw sx="100000" sy="100000" kx="0" ky="0" algn="bl" rotWithShape="0" blurRad="101600" dist="25400" dir="5400000">
              <a:srgbClr val="1B2A3A">
                <a:alpha val="12000"/>
              </a:srgbClr>
            </a:outerShdw>
          </a:effectLst>
        </p:spPr>
      </p:sp>
      <p:sp>
        <p:nvSpPr>
          <p:cNvPr id="7" name="Shape 5"/>
          <p:cNvSpPr/>
          <p:nvPr/>
        </p:nvSpPr>
        <p:spPr>
          <a:xfrm>
            <a:off x="7498080" y="1874520"/>
            <a:ext cx="777240" cy="777240"/>
          </a:xfrm>
          <a:prstGeom prst="ellipse">
            <a:avLst/>
          </a:prstGeom>
          <a:solidFill>
            <a:srgbClr val="1C7293"/>
          </a:solidFill>
          <a:ln/>
        </p:spPr>
      </p:sp>
      <p:pic>
        <p:nvPicPr>
          <p:cNvPr id="8" name="Image 0" descr="/tmp/claude-0/-home-user-gpa-academy1/adc6e4aa-3b77-57c1-ba92-a8d4ee625c84/scratchpad/icons/hospitalcross_white.png">    </p:cNvPr>
          <p:cNvPicPr>
            <a:picLocks noChangeAspect="1"/>
          </p:cNvPicPr>
          <p:nvPr/>
        </p:nvPicPr>
        <p:blipFill>
          <a:blip r:embed="rId1"/>
          <a:stretch>
            <a:fillRect/>
          </a:stretch>
        </p:blipFill>
        <p:spPr>
          <a:xfrm>
            <a:off x="7684618" y="2061058"/>
            <a:ext cx="404165" cy="404165"/>
          </a:xfrm>
          <a:prstGeom prst="rect">
            <a:avLst/>
          </a:prstGeom>
        </p:spPr>
      </p:pic>
      <p:sp>
        <p:nvSpPr>
          <p:cNvPr id="9" name="Text 6"/>
          <p:cNvSpPr txBox="1"/>
          <p:nvPr/>
        </p:nvSpPr>
        <p:spPr>
          <a:xfrm>
            <a:off x="7498080" y="2788920"/>
            <a:ext cx="3794760" cy="365760"/>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Un poco de historia</a:t>
            </a:r>
            <a:endParaRPr lang="en-US" sz="1600" dirty="0"/>
          </a:p>
        </p:txBody>
      </p:sp>
      <p:sp>
        <p:nvSpPr>
          <p:cNvPr id="10" name="Text 7"/>
          <p:cNvSpPr txBox="1"/>
          <p:nvPr/>
        </p:nvSpPr>
        <p:spPr>
          <a:xfrm>
            <a:off x="7498080" y="3200400"/>
            <a:ext cx="3840480" cy="256032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2B3648"/>
                </a:solidFill>
                <a:latin typeface="Calibri" pitchFamily="34" charset="0"/>
                <a:ea typeface="Calibri" pitchFamily="34" charset="-122"/>
                <a:cs typeface="Calibri" pitchFamily="34" charset="-120"/>
              </a:rPr>
              <a:t>1846 — William T. G. Morton demuestra públicamente el éter en el Massachusetts General Hospital ("Ether Dome").</a:t>
            </a:r>
            <a:endParaRPr lang="en-US" sz="1250" dirty="0"/>
          </a:p>
          <a:p>
            <a:pPr marL="203200" indent="-203200">
              <a:spcAft>
                <a:spcPts val="1000"/>
              </a:spcAft>
              <a:buSzPct val="100000"/>
              <a:buChar char="▪"/>
            </a:pPr>
            <a:r>
              <a:rPr lang="en-US" sz="1250" dirty="0">
                <a:solidFill>
                  <a:srgbClr val="2B3648"/>
                </a:solidFill>
                <a:latin typeface="Calibri" pitchFamily="34" charset="0"/>
                <a:ea typeface="Calibri" pitchFamily="34" charset="-122"/>
                <a:cs typeface="Calibri" pitchFamily="34" charset="-120"/>
              </a:rPr>
              <a:t>Siglo XX — consolidación de la anestesiología como especialidad médica independiente, con formación reglada.</a:t>
            </a:r>
            <a:endParaRPr lang="en-US" sz="1250" dirty="0"/>
          </a:p>
          <a:p>
            <a:pPr marL="203200" indent="-203200">
              <a:spcAft>
                <a:spcPts val="1000"/>
              </a:spcAft>
              <a:buSzPct val="100000"/>
              <a:buChar char="▪"/>
            </a:pPr>
            <a:r>
              <a:rPr lang="en-US" sz="1250" dirty="0">
                <a:solidFill>
                  <a:srgbClr val="2B3648"/>
                </a:solidFill>
                <a:latin typeface="Calibri" pitchFamily="34" charset="0"/>
                <a:ea typeface="Calibri" pitchFamily="34" charset="-122"/>
                <a:cs typeface="Calibri" pitchFamily="34" charset="-120"/>
              </a:rPr>
              <a:t>Actualidad — subespecialidades: cardiovascular, pediátrica, obstétrica, dolor, cuidados críticos y anestesia regional.</a:t>
            </a:r>
            <a:endParaRPr lang="en-US" sz="1250" dirty="0"/>
          </a:p>
        </p:txBody>
      </p:sp>
      <p:sp>
        <p:nvSpPr>
          <p:cNvPr id="12" name="Text 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3" name="Text 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03 / 33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FUNDAMENTOS · 2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Definición de anestesia: origen etimológico</a:t>
            </a:r>
            <a:endParaRPr lang="en-US" sz="2900" dirty="0"/>
          </a:p>
        </p:txBody>
      </p:sp>
      <p:sp>
        <p:nvSpPr>
          <p:cNvPr id="4" name="Shape 2"/>
          <p:cNvSpPr/>
          <p:nvPr/>
        </p:nvSpPr>
        <p:spPr>
          <a:xfrm>
            <a:off x="548640" y="1645920"/>
            <a:ext cx="5349240" cy="1965960"/>
          </a:xfrm>
          <a:prstGeom prst="roundRect">
            <a:avLst>
              <a:gd name="adj" fmla="val 3721"/>
            </a:avLst>
          </a:prstGeom>
          <a:solidFill>
            <a:srgbClr val="065A82"/>
          </a:solidFill>
          <a:ln/>
          <a:effectLst>
            <a:outerShdw sx="100000" sy="100000" kx="0" ky="0" algn="bl" rotWithShape="0" blurRad="101600" dist="25400" dir="5400000">
              <a:srgbClr val="1B2A3A">
                <a:alpha val="12000"/>
              </a:srgbClr>
            </a:outerShdw>
          </a:effectLst>
        </p:spPr>
      </p:sp>
      <p:sp>
        <p:nvSpPr>
          <p:cNvPr id="5" name="Text 3"/>
          <p:cNvSpPr txBox="1"/>
          <p:nvPr/>
        </p:nvSpPr>
        <p:spPr>
          <a:xfrm>
            <a:off x="822960" y="1783080"/>
            <a:ext cx="21031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AN-</a:t>
            </a:r>
            <a:endParaRPr lang="en-US" sz="4400" dirty="0"/>
          </a:p>
        </p:txBody>
      </p:sp>
      <p:sp>
        <p:nvSpPr>
          <p:cNvPr id="6" name="Text 4"/>
          <p:cNvSpPr txBox="1"/>
          <p:nvPr/>
        </p:nvSpPr>
        <p:spPr>
          <a:xfrm>
            <a:off x="822960" y="2606040"/>
            <a:ext cx="2194560" cy="731520"/>
          </a:xfrm>
          <a:prstGeom prst="rect">
            <a:avLst/>
          </a:prstGeom>
          <a:noFill/>
          <a:ln/>
        </p:spPr>
        <p:txBody>
          <a:bodyPr wrap="square" lIns="0" tIns="0" rIns="0" bIns="0" rtlCol="0" anchor="ctr"/>
          <a:lstStyle/>
          <a:p>
            <a:pPr indent="0" marL="0">
              <a:lnSpc>
                <a:spcPts val="1500"/>
              </a:lnSpc>
              <a:buNone/>
            </a:pPr>
            <a:r>
              <a:rPr lang="en-US" sz="1200" i="1" dirty="0">
                <a:solidFill>
                  <a:srgbClr val="CFE3EC"/>
                </a:solidFill>
                <a:latin typeface="Calibri" pitchFamily="34" charset="0"/>
                <a:ea typeface="Calibri" pitchFamily="34" charset="-122"/>
                <a:cs typeface="Calibri" pitchFamily="34" charset="-120"/>
              </a:rPr>
              <a:t>prefijo griego de</a:t>
            </a:r>
            <a:endParaRPr lang="en-US" sz="1200" dirty="0"/>
          </a:p>
          <a:p>
            <a:pPr indent="0" marL="0">
              <a:lnSpc>
                <a:spcPts val="1500"/>
              </a:lnSpc>
              <a:buNone/>
            </a:pPr>
            <a:r>
              <a:rPr lang="en-US" sz="1200" i="1" dirty="0">
                <a:solidFill>
                  <a:srgbClr val="CFE3EC"/>
                </a:solidFill>
                <a:latin typeface="Calibri" pitchFamily="34" charset="0"/>
                <a:ea typeface="Calibri" pitchFamily="34" charset="-122"/>
                <a:cs typeface="Calibri" pitchFamily="34" charset="-120"/>
              </a:rPr>
              <a:t>privación / negación</a:t>
            </a:r>
            <a:endParaRPr lang="en-US" sz="1200" dirty="0"/>
          </a:p>
        </p:txBody>
      </p:sp>
      <p:sp>
        <p:nvSpPr>
          <p:cNvPr id="7" name="Text 5"/>
          <p:cNvSpPr txBox="1"/>
          <p:nvPr/>
        </p:nvSpPr>
        <p:spPr>
          <a:xfrm>
            <a:off x="2926080" y="1783080"/>
            <a:ext cx="28346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AISTHESIS</a:t>
            </a:r>
            <a:endParaRPr lang="en-US" sz="3400" dirty="0"/>
          </a:p>
        </p:txBody>
      </p:sp>
      <p:sp>
        <p:nvSpPr>
          <p:cNvPr id="8" name="Text 6"/>
          <p:cNvSpPr txBox="1"/>
          <p:nvPr/>
        </p:nvSpPr>
        <p:spPr>
          <a:xfrm>
            <a:off x="2926080" y="2606040"/>
            <a:ext cx="2834640" cy="731520"/>
          </a:xfrm>
          <a:prstGeom prst="rect">
            <a:avLst/>
          </a:prstGeom>
          <a:noFill/>
          <a:ln/>
        </p:spPr>
        <p:txBody>
          <a:bodyPr wrap="square" lIns="0" tIns="0" rIns="0" bIns="0" rtlCol="0" anchor="ctr"/>
          <a:lstStyle/>
          <a:p>
            <a:pPr indent="0" marL="0">
              <a:lnSpc>
                <a:spcPts val="1500"/>
              </a:lnSpc>
              <a:buNone/>
            </a:pPr>
            <a:r>
              <a:rPr lang="en-US" sz="1200" i="1" dirty="0">
                <a:solidFill>
                  <a:srgbClr val="CFE3EC"/>
                </a:solidFill>
                <a:latin typeface="Calibri" pitchFamily="34" charset="0"/>
                <a:ea typeface="Calibri" pitchFamily="34" charset="-122"/>
                <a:cs typeface="Calibri" pitchFamily="34" charset="-120"/>
              </a:rPr>
              <a:t>del griego "aísthesis":</a:t>
            </a:r>
            <a:endParaRPr lang="en-US" sz="1200" dirty="0"/>
          </a:p>
          <a:p>
            <a:pPr indent="0" marL="0">
              <a:lnSpc>
                <a:spcPts val="1500"/>
              </a:lnSpc>
              <a:buNone/>
            </a:pPr>
            <a:r>
              <a:rPr lang="en-US" sz="1200" i="1" dirty="0">
                <a:solidFill>
                  <a:srgbClr val="CFE3EC"/>
                </a:solidFill>
                <a:latin typeface="Calibri" pitchFamily="34" charset="0"/>
                <a:ea typeface="Calibri" pitchFamily="34" charset="-122"/>
                <a:cs typeface="Calibri" pitchFamily="34" charset="-120"/>
              </a:rPr>
              <a:t>sensación / percepción</a:t>
            </a:r>
            <a:endParaRPr lang="en-US" sz="1200" dirty="0"/>
          </a:p>
        </p:txBody>
      </p:sp>
      <p:sp>
        <p:nvSpPr>
          <p:cNvPr id="9" name="Shape 7"/>
          <p:cNvSpPr/>
          <p:nvPr/>
        </p:nvSpPr>
        <p:spPr>
          <a:xfrm>
            <a:off x="548640" y="3794760"/>
            <a:ext cx="5349240" cy="1188720"/>
          </a:xfrm>
          <a:prstGeom prst="roundRect">
            <a:avLst>
              <a:gd name="adj" fmla="val 6154"/>
            </a:avLst>
          </a:prstGeom>
          <a:solidFill>
            <a:srgbClr val="EAF3F7"/>
          </a:solidFill>
          <a:ln/>
          <a:effectLst>
            <a:outerShdw sx="100000" sy="100000" kx="0" ky="0" algn="bl" rotWithShape="0" blurRad="101600" dist="25400" dir="5400000">
              <a:srgbClr val="1B2A3A">
                <a:alpha val="12000"/>
              </a:srgbClr>
            </a:outerShdw>
          </a:effectLst>
        </p:spPr>
      </p:sp>
      <p:sp>
        <p:nvSpPr>
          <p:cNvPr id="10" name="Text 8"/>
          <p:cNvSpPr txBox="1"/>
          <p:nvPr/>
        </p:nvSpPr>
        <p:spPr>
          <a:xfrm>
            <a:off x="822960" y="3977640"/>
            <a:ext cx="4846320" cy="457200"/>
          </a:xfrm>
          <a:prstGeom prst="rect">
            <a:avLst/>
          </a:prstGeom>
          <a:noFill/>
          <a:ln/>
        </p:spPr>
        <p:txBody>
          <a:bodyPr wrap="square" lIns="0" tIns="0" rIns="0" bIns="0" rtlCol="0" anchor="ctr"/>
          <a:lstStyle/>
          <a:p>
            <a:pPr indent="0" marL="0">
              <a:buNone/>
            </a:pPr>
            <a:r>
              <a:rPr lang="en-US" sz="2000" b="1" i="1" dirty="0">
                <a:solidFill>
                  <a:srgbClr val="1C7293"/>
                </a:solidFill>
                <a:latin typeface="Cambria" pitchFamily="34" charset="0"/>
                <a:ea typeface="Cambria" pitchFamily="34" charset="-122"/>
                <a:cs typeface="Cambria" pitchFamily="34" charset="-120"/>
              </a:rPr>
              <a:t>“Sin sensación”</a:t>
            </a:r>
            <a:endParaRPr lang="en-US" sz="2000" dirty="0"/>
          </a:p>
        </p:txBody>
      </p:sp>
      <p:sp>
        <p:nvSpPr>
          <p:cNvPr id="11" name="Text 9"/>
          <p:cNvSpPr txBox="1"/>
          <p:nvPr/>
        </p:nvSpPr>
        <p:spPr>
          <a:xfrm>
            <a:off x="822960" y="4434840"/>
            <a:ext cx="4846320" cy="50292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Traducción literal del término, entendido clásicamente como la abolición completa de toda percepción sensorial.</a:t>
            </a:r>
            <a:endParaRPr lang="en-US" sz="1150" dirty="0"/>
          </a:p>
        </p:txBody>
      </p:sp>
      <p:sp>
        <p:nvSpPr>
          <p:cNvPr id="12" name="Shape 10"/>
          <p:cNvSpPr/>
          <p:nvPr/>
        </p:nvSpPr>
        <p:spPr>
          <a:xfrm>
            <a:off x="6355080" y="1691640"/>
            <a:ext cx="685800" cy="685800"/>
          </a:xfrm>
          <a:prstGeom prst="ellipse">
            <a:avLst/>
          </a:prstGeom>
          <a:solidFill>
            <a:srgbClr val="1C7293"/>
          </a:solidFill>
          <a:ln/>
        </p:spPr>
      </p:sp>
      <p:pic>
        <p:nvPicPr>
          <p:cNvPr id="13" name="Image 0" descr="/tmp/claude-0/-home-user-gpa-academy1/adc6e4aa-3b77-57c1-ba92-a8d4ee625c84/scratchpad/icons/usermd_white.png">    </p:cNvPr>
          <p:cNvPicPr>
            <a:picLocks noChangeAspect="1"/>
          </p:cNvPicPr>
          <p:nvPr/>
        </p:nvPicPr>
        <p:blipFill>
          <a:blip r:embed="rId1"/>
          <a:stretch>
            <a:fillRect/>
          </a:stretch>
        </p:blipFill>
        <p:spPr>
          <a:xfrm>
            <a:off x="6519672" y="1856232"/>
            <a:ext cx="356616" cy="356616"/>
          </a:xfrm>
          <a:prstGeom prst="rect">
            <a:avLst/>
          </a:prstGeom>
        </p:spPr>
      </p:pic>
      <p:sp>
        <p:nvSpPr>
          <p:cNvPr id="14" name="Text 11"/>
          <p:cNvSpPr txBox="1"/>
          <p:nvPr/>
        </p:nvSpPr>
        <p:spPr>
          <a:xfrm>
            <a:off x="7223760" y="1737360"/>
            <a:ext cx="4389120" cy="182880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El término “anestesia” fue acuñado en 1846 por el médico y escritor Oliver Wendell Holmes, en una carta dirigida a William T. G. Morton tras la exitosa demostración pública del éter como agente para abolir el dolor quirúrgico.</a:t>
            </a:r>
            <a:endParaRPr lang="en-US" sz="1400" dirty="0"/>
          </a:p>
        </p:txBody>
      </p:sp>
      <p:sp>
        <p:nvSpPr>
          <p:cNvPr id="15" name="Text 12"/>
          <p:cNvSpPr txBox="1"/>
          <p:nvPr/>
        </p:nvSpPr>
        <p:spPr>
          <a:xfrm>
            <a:off x="7223760" y="3611880"/>
            <a:ext cx="4389120" cy="164592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Desde entonces, el vocablo dejó de referirse solo a la ausencia de sensación táctil y pasó a designar el estado clínico —inducido y reversible— que permite realizar procedimientos dolorosos de forma segura.</a:t>
            </a:r>
            <a:endParaRPr lang="en-US" sz="1400" dirty="0"/>
          </a:p>
        </p:txBody>
      </p:sp>
      <p:sp>
        <p:nvSpPr>
          <p:cNvPr id="17" name="Text 1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8" name="Text 1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04 / 33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FUNDAMENTOS · 3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Definición moderna: componentes integrados</a:t>
            </a:r>
            <a:endParaRPr lang="en-US" sz="2900" dirty="0"/>
          </a:p>
        </p:txBody>
      </p:sp>
      <p:sp>
        <p:nvSpPr>
          <p:cNvPr id="4" name="Text 2"/>
          <p:cNvSpPr txBox="1"/>
          <p:nvPr/>
        </p:nvSpPr>
        <p:spPr>
          <a:xfrm>
            <a:off x="548640" y="1508760"/>
            <a:ext cx="10972800" cy="1371600"/>
          </a:xfrm>
          <a:prstGeom prst="rect">
            <a:avLst/>
          </a:prstGeom>
          <a:noFill/>
          <a:ln/>
        </p:spPr>
        <p:txBody>
          <a:bodyPr wrap="square" lIns="0" tIns="0" rIns="0" bIns="0" rtlCol="0" anchor="t"/>
          <a:lstStyle/>
          <a:p>
            <a:pPr indent="0" marL="0">
              <a:lnSpc>
                <a:spcPts val="2100"/>
              </a:lnSpc>
              <a:buNone/>
            </a:pPr>
            <a:r>
              <a:rPr lang="en-US" sz="1450" dirty="0">
                <a:solidFill>
                  <a:srgbClr val="2B3648"/>
                </a:solidFill>
                <a:latin typeface="Calibri" pitchFamily="34" charset="0"/>
                <a:ea typeface="Calibri" pitchFamily="34" charset="-122"/>
                <a:cs typeface="Calibri" pitchFamily="34" charset="-120"/>
              </a:rPr>
              <a:t>La anestesia es un estado farmacológicamente inducido y reversible que combina, en proporciones variables según la técnica y el paciente, cinco componentes clínicos. No es un fenómeno único, sino un continuo dosis-dependiente producido por fármacos que actúan sobre múltiples dianas moleculares (receptores GABA-A, NMDA, canales de sodio, receptores opioides y alfa-2 adrenérgicos, entre otros).</a:t>
            </a:r>
            <a:endParaRPr lang="en-US" sz="1450" dirty="0"/>
          </a:p>
        </p:txBody>
      </p:sp>
      <p:sp>
        <p:nvSpPr>
          <p:cNvPr id="5" name="Shape 3"/>
          <p:cNvSpPr/>
          <p:nvPr/>
        </p:nvSpPr>
        <p:spPr>
          <a:xfrm>
            <a:off x="548640" y="3246120"/>
            <a:ext cx="2121408" cy="2331720"/>
          </a:xfrm>
          <a:prstGeom prst="roundRect">
            <a:avLst>
              <a:gd name="adj" fmla="val 3448"/>
            </a:avLst>
          </a:prstGeom>
          <a:solidFill>
            <a:srgbClr val="EAF3F7"/>
          </a:solidFill>
          <a:ln/>
          <a:effectLst>
            <a:outerShdw sx="100000" sy="100000" kx="0" ky="0" algn="bl" rotWithShape="0" blurRad="101600" dist="25400" dir="5400000">
              <a:srgbClr val="1B2A3A">
                <a:alpha val="12000"/>
              </a:srgbClr>
            </a:outerShdw>
          </a:effectLst>
        </p:spPr>
      </p:sp>
      <p:sp>
        <p:nvSpPr>
          <p:cNvPr id="6" name="Shape 4"/>
          <p:cNvSpPr/>
          <p:nvPr/>
        </p:nvSpPr>
        <p:spPr>
          <a:xfrm>
            <a:off x="1220724" y="3566160"/>
            <a:ext cx="777240" cy="777240"/>
          </a:xfrm>
          <a:prstGeom prst="ellipse">
            <a:avLst/>
          </a:prstGeom>
          <a:solidFill>
            <a:srgbClr val="065A82"/>
          </a:solidFill>
          <a:ln/>
        </p:spPr>
      </p:sp>
      <p:pic>
        <p:nvPicPr>
          <p:cNvPr id="7" name="Image 0" descr="/tmp/claude-0/-home-user-gpa-academy1/adc6e4aa-3b77-57c1-ba92-a8d4ee625c84/scratchpad/icons/moon_white.png">    </p:cNvPr>
          <p:cNvPicPr>
            <a:picLocks noChangeAspect="1"/>
          </p:cNvPicPr>
          <p:nvPr/>
        </p:nvPicPr>
        <p:blipFill>
          <a:blip r:embed="rId1"/>
          <a:stretch>
            <a:fillRect/>
          </a:stretch>
        </p:blipFill>
        <p:spPr>
          <a:xfrm>
            <a:off x="1407262" y="3752698"/>
            <a:ext cx="404165" cy="404165"/>
          </a:xfrm>
          <a:prstGeom prst="rect">
            <a:avLst/>
          </a:prstGeom>
        </p:spPr>
      </p:pic>
      <p:sp>
        <p:nvSpPr>
          <p:cNvPr id="8" name="Text 5"/>
          <p:cNvSpPr txBox="1"/>
          <p:nvPr/>
        </p:nvSpPr>
        <p:spPr>
          <a:xfrm>
            <a:off x="640080" y="4572000"/>
            <a:ext cx="1938528" cy="822960"/>
          </a:xfrm>
          <a:prstGeom prst="rect">
            <a:avLst/>
          </a:prstGeom>
          <a:noFill/>
          <a:ln/>
        </p:spPr>
        <p:txBody>
          <a:bodyPr wrap="square" lIns="0" tIns="0" rIns="0" bIns="0" rtlCol="0" anchor="t"/>
          <a:lstStyle/>
          <a:p>
            <a:pPr algn="ctr" indent="0" marL="0">
              <a:lnSpc>
                <a:spcPts val="1600"/>
              </a:lnSpc>
              <a:buNone/>
            </a:pPr>
            <a:r>
              <a:rPr lang="en-US" sz="1400" b="1" dirty="0">
                <a:solidFill>
                  <a:srgbClr val="21295C"/>
                </a:solidFill>
                <a:latin typeface="Cambria" pitchFamily="34" charset="0"/>
                <a:ea typeface="Cambria" pitchFamily="34" charset="-122"/>
                <a:cs typeface="Cambria" pitchFamily="34" charset="-120"/>
              </a:rPr>
              <a:t>Hipnosis</a:t>
            </a:r>
            <a:endParaRPr lang="en-US" sz="1400" dirty="0"/>
          </a:p>
        </p:txBody>
      </p:sp>
      <p:sp>
        <p:nvSpPr>
          <p:cNvPr id="9" name="Shape 6"/>
          <p:cNvSpPr/>
          <p:nvPr/>
        </p:nvSpPr>
        <p:spPr>
          <a:xfrm>
            <a:off x="2834640" y="3246120"/>
            <a:ext cx="2121408" cy="2331720"/>
          </a:xfrm>
          <a:prstGeom prst="roundRect">
            <a:avLst>
              <a:gd name="adj" fmla="val 3448"/>
            </a:avLst>
          </a:prstGeom>
          <a:solidFill>
            <a:srgbClr val="EAF3F7"/>
          </a:solidFill>
          <a:ln/>
          <a:effectLst>
            <a:outerShdw sx="100000" sy="100000" kx="0" ky="0" algn="bl" rotWithShape="0" blurRad="101600" dist="25400" dir="5400000">
              <a:srgbClr val="1B2A3A">
                <a:alpha val="12000"/>
              </a:srgbClr>
            </a:outerShdw>
          </a:effectLst>
        </p:spPr>
      </p:sp>
      <p:sp>
        <p:nvSpPr>
          <p:cNvPr id="10" name="Shape 7"/>
          <p:cNvSpPr/>
          <p:nvPr/>
        </p:nvSpPr>
        <p:spPr>
          <a:xfrm>
            <a:off x="3506724" y="3566160"/>
            <a:ext cx="777240" cy="777240"/>
          </a:xfrm>
          <a:prstGeom prst="ellipse">
            <a:avLst/>
          </a:prstGeom>
          <a:solidFill>
            <a:srgbClr val="1C7293"/>
          </a:solidFill>
          <a:ln/>
        </p:spPr>
      </p:sp>
      <p:pic>
        <p:nvPicPr>
          <p:cNvPr id="11" name="Image 1" descr="/tmp/claude-0/-home-user-gpa-academy1/adc6e4aa-3b77-57c1-ba92-a8d4ee625c84/scratchpad/icons/syringe_white.png">    </p:cNvPr>
          <p:cNvPicPr>
            <a:picLocks noChangeAspect="1"/>
          </p:cNvPicPr>
          <p:nvPr/>
        </p:nvPicPr>
        <p:blipFill>
          <a:blip r:embed="rId2"/>
          <a:stretch>
            <a:fillRect/>
          </a:stretch>
        </p:blipFill>
        <p:spPr>
          <a:xfrm>
            <a:off x="3693262" y="3752698"/>
            <a:ext cx="404165" cy="404165"/>
          </a:xfrm>
          <a:prstGeom prst="rect">
            <a:avLst/>
          </a:prstGeom>
        </p:spPr>
      </p:pic>
      <p:sp>
        <p:nvSpPr>
          <p:cNvPr id="12" name="Text 8"/>
          <p:cNvSpPr txBox="1"/>
          <p:nvPr/>
        </p:nvSpPr>
        <p:spPr>
          <a:xfrm>
            <a:off x="2926080" y="4572000"/>
            <a:ext cx="1938528" cy="822960"/>
          </a:xfrm>
          <a:prstGeom prst="rect">
            <a:avLst/>
          </a:prstGeom>
          <a:noFill/>
          <a:ln/>
        </p:spPr>
        <p:txBody>
          <a:bodyPr wrap="square" lIns="0" tIns="0" rIns="0" bIns="0" rtlCol="0" anchor="t"/>
          <a:lstStyle/>
          <a:p>
            <a:pPr algn="ctr" indent="0" marL="0">
              <a:lnSpc>
                <a:spcPts val="1600"/>
              </a:lnSpc>
              <a:buNone/>
            </a:pPr>
            <a:r>
              <a:rPr lang="en-US" sz="1400" b="1" dirty="0">
                <a:solidFill>
                  <a:srgbClr val="21295C"/>
                </a:solidFill>
                <a:latin typeface="Cambria" pitchFamily="34" charset="0"/>
                <a:ea typeface="Cambria" pitchFamily="34" charset="-122"/>
                <a:cs typeface="Cambria" pitchFamily="34" charset="-120"/>
              </a:rPr>
              <a:t>Analgesia</a:t>
            </a:r>
            <a:endParaRPr lang="en-US" sz="1400" dirty="0"/>
          </a:p>
        </p:txBody>
      </p:sp>
      <p:sp>
        <p:nvSpPr>
          <p:cNvPr id="13" name="Shape 9"/>
          <p:cNvSpPr/>
          <p:nvPr/>
        </p:nvSpPr>
        <p:spPr>
          <a:xfrm>
            <a:off x="5120640" y="3246120"/>
            <a:ext cx="2121408" cy="2331720"/>
          </a:xfrm>
          <a:prstGeom prst="roundRect">
            <a:avLst>
              <a:gd name="adj" fmla="val 3448"/>
            </a:avLst>
          </a:prstGeom>
          <a:solidFill>
            <a:srgbClr val="EAF3F7"/>
          </a:solidFill>
          <a:ln/>
          <a:effectLst>
            <a:outerShdw sx="100000" sy="100000" kx="0" ky="0" algn="bl" rotWithShape="0" blurRad="101600" dist="25400" dir="5400000">
              <a:srgbClr val="1B2A3A">
                <a:alpha val="12000"/>
              </a:srgbClr>
            </a:outerShdw>
          </a:effectLst>
        </p:spPr>
      </p:sp>
      <p:sp>
        <p:nvSpPr>
          <p:cNvPr id="14" name="Shape 10"/>
          <p:cNvSpPr/>
          <p:nvPr/>
        </p:nvSpPr>
        <p:spPr>
          <a:xfrm>
            <a:off x="5792724" y="3566160"/>
            <a:ext cx="777240" cy="777240"/>
          </a:xfrm>
          <a:prstGeom prst="ellipse">
            <a:avLst/>
          </a:prstGeom>
          <a:solidFill>
            <a:srgbClr val="065A82"/>
          </a:solidFill>
          <a:ln/>
        </p:spPr>
      </p:sp>
      <p:pic>
        <p:nvPicPr>
          <p:cNvPr id="15" name="Image 2" descr="/tmp/claude-0/-home-user-gpa-academy1/adc6e4aa-3b77-57c1-ba92-a8d4ee625c84/scratchpad/icons/psychology_white.png">    </p:cNvPr>
          <p:cNvPicPr>
            <a:picLocks noChangeAspect="1"/>
          </p:cNvPicPr>
          <p:nvPr/>
        </p:nvPicPr>
        <p:blipFill>
          <a:blip r:embed="rId3"/>
          <a:stretch>
            <a:fillRect/>
          </a:stretch>
        </p:blipFill>
        <p:spPr>
          <a:xfrm>
            <a:off x="5979262" y="3752698"/>
            <a:ext cx="404165" cy="404165"/>
          </a:xfrm>
          <a:prstGeom prst="rect">
            <a:avLst/>
          </a:prstGeom>
        </p:spPr>
      </p:pic>
      <p:sp>
        <p:nvSpPr>
          <p:cNvPr id="16" name="Text 11"/>
          <p:cNvSpPr txBox="1"/>
          <p:nvPr/>
        </p:nvSpPr>
        <p:spPr>
          <a:xfrm>
            <a:off x="5212080" y="4572000"/>
            <a:ext cx="1938528" cy="822960"/>
          </a:xfrm>
          <a:prstGeom prst="rect">
            <a:avLst/>
          </a:prstGeom>
          <a:noFill/>
          <a:ln/>
        </p:spPr>
        <p:txBody>
          <a:bodyPr wrap="square" lIns="0" tIns="0" rIns="0" bIns="0" rtlCol="0" anchor="t"/>
          <a:lstStyle/>
          <a:p>
            <a:pPr algn="ctr" indent="0" marL="0">
              <a:lnSpc>
                <a:spcPts val="1600"/>
              </a:lnSpc>
              <a:buNone/>
            </a:pPr>
            <a:r>
              <a:rPr lang="en-US" sz="1400" b="1" dirty="0">
                <a:solidFill>
                  <a:srgbClr val="21295C"/>
                </a:solidFill>
                <a:latin typeface="Cambria" pitchFamily="34" charset="0"/>
                <a:ea typeface="Cambria" pitchFamily="34" charset="-122"/>
                <a:cs typeface="Cambria" pitchFamily="34" charset="-120"/>
              </a:rPr>
              <a:t>Amnesia</a:t>
            </a:r>
            <a:endParaRPr lang="en-US" sz="1400" dirty="0"/>
          </a:p>
        </p:txBody>
      </p:sp>
      <p:sp>
        <p:nvSpPr>
          <p:cNvPr id="17" name="Shape 12"/>
          <p:cNvSpPr/>
          <p:nvPr/>
        </p:nvSpPr>
        <p:spPr>
          <a:xfrm>
            <a:off x="7406640" y="3246120"/>
            <a:ext cx="2121408" cy="2331720"/>
          </a:xfrm>
          <a:prstGeom prst="roundRect">
            <a:avLst>
              <a:gd name="adj" fmla="val 3448"/>
            </a:avLst>
          </a:prstGeom>
          <a:solidFill>
            <a:srgbClr val="EAF3F7"/>
          </a:solidFill>
          <a:ln/>
          <a:effectLst>
            <a:outerShdw sx="100000" sy="100000" kx="0" ky="0" algn="bl" rotWithShape="0" blurRad="101600" dist="25400" dir="5400000">
              <a:srgbClr val="1B2A3A">
                <a:alpha val="12000"/>
              </a:srgbClr>
            </a:outerShdw>
          </a:effectLst>
        </p:spPr>
      </p:sp>
      <p:sp>
        <p:nvSpPr>
          <p:cNvPr id="18" name="Shape 13"/>
          <p:cNvSpPr/>
          <p:nvPr/>
        </p:nvSpPr>
        <p:spPr>
          <a:xfrm>
            <a:off x="8078724" y="3566160"/>
            <a:ext cx="777240" cy="777240"/>
          </a:xfrm>
          <a:prstGeom prst="ellipse">
            <a:avLst/>
          </a:prstGeom>
          <a:solidFill>
            <a:srgbClr val="1C7293"/>
          </a:solidFill>
          <a:ln/>
        </p:spPr>
      </p:sp>
      <p:pic>
        <p:nvPicPr>
          <p:cNvPr id="19" name="Image 3" descr="/tmp/claude-0/-home-user-gpa-academy1/adc6e4aa-3b77-57c1-ba92-a8d4ee625c84/scratchpad/icons/muscle_white.png">    </p:cNvPr>
          <p:cNvPicPr>
            <a:picLocks noChangeAspect="1"/>
          </p:cNvPicPr>
          <p:nvPr/>
        </p:nvPicPr>
        <p:blipFill>
          <a:blip r:embed="rId4"/>
          <a:stretch>
            <a:fillRect/>
          </a:stretch>
        </p:blipFill>
        <p:spPr>
          <a:xfrm>
            <a:off x="8265262" y="3752698"/>
            <a:ext cx="404165" cy="404165"/>
          </a:xfrm>
          <a:prstGeom prst="rect">
            <a:avLst/>
          </a:prstGeom>
        </p:spPr>
      </p:pic>
      <p:sp>
        <p:nvSpPr>
          <p:cNvPr id="20" name="Text 14"/>
          <p:cNvSpPr txBox="1"/>
          <p:nvPr/>
        </p:nvSpPr>
        <p:spPr>
          <a:xfrm>
            <a:off x="7498080" y="4572000"/>
            <a:ext cx="1938528" cy="822960"/>
          </a:xfrm>
          <a:prstGeom prst="rect">
            <a:avLst/>
          </a:prstGeom>
          <a:noFill/>
          <a:ln/>
        </p:spPr>
        <p:txBody>
          <a:bodyPr wrap="square" lIns="0" tIns="0" rIns="0" bIns="0" rtlCol="0" anchor="t"/>
          <a:lstStyle/>
          <a:p>
            <a:pPr algn="ctr" indent="0" marL="0">
              <a:lnSpc>
                <a:spcPts val="1600"/>
              </a:lnSpc>
              <a:buNone/>
            </a:pPr>
            <a:r>
              <a:rPr lang="en-US" sz="1400" b="1" dirty="0">
                <a:solidFill>
                  <a:srgbClr val="21295C"/>
                </a:solidFill>
                <a:latin typeface="Cambria" pitchFamily="34" charset="0"/>
                <a:ea typeface="Cambria" pitchFamily="34" charset="-122"/>
                <a:cs typeface="Cambria" pitchFamily="34" charset="-120"/>
              </a:rPr>
              <a:t>Relajación</a:t>
            </a:r>
            <a:endParaRPr lang="en-US" sz="1400" dirty="0"/>
          </a:p>
          <a:p>
            <a:pPr algn="ctr" indent="0" marL="0">
              <a:lnSpc>
                <a:spcPts val="1600"/>
              </a:lnSpc>
              <a:buNone/>
            </a:pPr>
            <a:r>
              <a:rPr lang="en-US" sz="1400" b="1" dirty="0">
                <a:solidFill>
                  <a:srgbClr val="21295C"/>
                </a:solidFill>
                <a:latin typeface="Cambria" pitchFamily="34" charset="0"/>
                <a:ea typeface="Cambria" pitchFamily="34" charset="-122"/>
                <a:cs typeface="Cambria" pitchFamily="34" charset="-120"/>
              </a:rPr>
              <a:t>muscular</a:t>
            </a:r>
            <a:endParaRPr lang="en-US" sz="1400" dirty="0"/>
          </a:p>
        </p:txBody>
      </p:sp>
      <p:sp>
        <p:nvSpPr>
          <p:cNvPr id="21" name="Shape 15"/>
          <p:cNvSpPr/>
          <p:nvPr/>
        </p:nvSpPr>
        <p:spPr>
          <a:xfrm>
            <a:off x="9692640" y="3246120"/>
            <a:ext cx="2121408" cy="2331720"/>
          </a:xfrm>
          <a:prstGeom prst="roundRect">
            <a:avLst>
              <a:gd name="adj" fmla="val 3448"/>
            </a:avLst>
          </a:prstGeom>
          <a:solidFill>
            <a:srgbClr val="EAF3F7"/>
          </a:solidFill>
          <a:ln/>
          <a:effectLst>
            <a:outerShdw sx="100000" sy="100000" kx="0" ky="0" algn="bl" rotWithShape="0" blurRad="101600" dist="25400" dir="5400000">
              <a:srgbClr val="1B2A3A">
                <a:alpha val="12000"/>
              </a:srgbClr>
            </a:outerShdw>
          </a:effectLst>
        </p:spPr>
      </p:sp>
      <p:sp>
        <p:nvSpPr>
          <p:cNvPr id="22" name="Shape 16"/>
          <p:cNvSpPr/>
          <p:nvPr/>
        </p:nvSpPr>
        <p:spPr>
          <a:xfrm>
            <a:off x="10364724" y="3566160"/>
            <a:ext cx="777240" cy="777240"/>
          </a:xfrm>
          <a:prstGeom prst="ellipse">
            <a:avLst/>
          </a:prstGeom>
          <a:solidFill>
            <a:srgbClr val="065A82"/>
          </a:solidFill>
          <a:ln/>
        </p:spPr>
      </p:sp>
      <p:pic>
        <p:nvPicPr>
          <p:cNvPr id="23" name="Image 4" descr="/tmp/claude-0/-home-user-gpa-academy1/adc6e4aa-3b77-57c1-ba92-a8d4ee625c84/scratchpad/icons/heartbeat_white.png">    </p:cNvPr>
          <p:cNvPicPr>
            <a:picLocks noChangeAspect="1"/>
          </p:cNvPicPr>
          <p:nvPr/>
        </p:nvPicPr>
        <p:blipFill>
          <a:blip r:embed="rId5"/>
          <a:stretch>
            <a:fillRect/>
          </a:stretch>
        </p:blipFill>
        <p:spPr>
          <a:xfrm>
            <a:off x="10551262" y="3752698"/>
            <a:ext cx="404165" cy="404165"/>
          </a:xfrm>
          <a:prstGeom prst="rect">
            <a:avLst/>
          </a:prstGeom>
        </p:spPr>
      </p:pic>
      <p:sp>
        <p:nvSpPr>
          <p:cNvPr id="24" name="Text 17"/>
          <p:cNvSpPr txBox="1"/>
          <p:nvPr/>
        </p:nvSpPr>
        <p:spPr>
          <a:xfrm>
            <a:off x="9784080" y="4572000"/>
            <a:ext cx="1938528" cy="822960"/>
          </a:xfrm>
          <a:prstGeom prst="rect">
            <a:avLst/>
          </a:prstGeom>
          <a:noFill/>
          <a:ln/>
        </p:spPr>
        <p:txBody>
          <a:bodyPr wrap="square" lIns="0" tIns="0" rIns="0" bIns="0" rtlCol="0" anchor="t"/>
          <a:lstStyle/>
          <a:p>
            <a:pPr algn="ctr" indent="0" marL="0">
              <a:lnSpc>
                <a:spcPts val="1600"/>
              </a:lnSpc>
              <a:buNone/>
            </a:pPr>
            <a:r>
              <a:rPr lang="en-US" sz="1400" b="1" dirty="0">
                <a:solidFill>
                  <a:srgbClr val="21295C"/>
                </a:solidFill>
                <a:latin typeface="Cambria" pitchFamily="34" charset="0"/>
                <a:ea typeface="Cambria" pitchFamily="34" charset="-122"/>
                <a:cs typeface="Cambria" pitchFamily="34" charset="-120"/>
              </a:rPr>
              <a:t>Control</a:t>
            </a:r>
            <a:endParaRPr lang="en-US" sz="1400" dirty="0"/>
          </a:p>
          <a:p>
            <a:pPr algn="ctr" indent="0" marL="0">
              <a:lnSpc>
                <a:spcPts val="1600"/>
              </a:lnSpc>
              <a:buNone/>
            </a:pPr>
            <a:r>
              <a:rPr lang="en-US" sz="1400" b="1" dirty="0">
                <a:solidFill>
                  <a:srgbClr val="21295C"/>
                </a:solidFill>
                <a:latin typeface="Cambria" pitchFamily="34" charset="0"/>
                <a:ea typeface="Cambria" pitchFamily="34" charset="-122"/>
                <a:cs typeface="Cambria" pitchFamily="34" charset="-120"/>
              </a:rPr>
              <a:t>neurovegetativo</a:t>
            </a:r>
            <a:endParaRPr lang="en-US" sz="1400" dirty="0"/>
          </a:p>
        </p:txBody>
      </p:sp>
      <p:sp>
        <p:nvSpPr>
          <p:cNvPr id="25" name="Text 18"/>
          <p:cNvSpPr txBox="1"/>
          <p:nvPr/>
        </p:nvSpPr>
        <p:spPr>
          <a:xfrm>
            <a:off x="548640" y="5742432"/>
            <a:ext cx="10515600" cy="365760"/>
          </a:xfrm>
          <a:prstGeom prst="rect">
            <a:avLst/>
          </a:prstGeom>
          <a:noFill/>
          <a:ln/>
        </p:spPr>
        <p:txBody>
          <a:bodyPr wrap="square" lIns="0" tIns="0" rIns="0" bIns="0" rtlCol="0" anchor="ctr"/>
          <a:lstStyle/>
          <a:p>
            <a:pPr indent="0" marL="0">
              <a:buNone/>
            </a:pPr>
            <a:r>
              <a:rPr lang="en-US" sz="1200" i="1" dirty="0">
                <a:solidFill>
                  <a:srgbClr val="5C7181"/>
                </a:solidFill>
                <a:latin typeface="Calibri" pitchFamily="34" charset="0"/>
                <a:ea typeface="Calibri" pitchFamily="34" charset="-122"/>
                <a:cs typeface="Calibri" pitchFamily="34" charset="-120"/>
              </a:rPr>
              <a:t>Cada componente se detalla en el bloque de propósitos clínicos.</a:t>
            </a:r>
            <a:endParaRPr lang="en-US" sz="1200" dirty="0"/>
          </a:p>
        </p:txBody>
      </p:sp>
      <p:sp>
        <p:nvSpPr>
          <p:cNvPr id="27" name="Text 19"/>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8"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05 / 33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FUNDAMENTOS · 4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Anestesia, analgesia y sedación: un continuo, no sinónimos</a:t>
            </a:r>
            <a:endParaRPr lang="en-US" sz="2900" dirty="0"/>
          </a:p>
        </p:txBody>
      </p:sp>
      <p:sp>
        <p:nvSpPr>
          <p:cNvPr id="4" name="Shape 2"/>
          <p:cNvSpPr/>
          <p:nvPr/>
        </p:nvSpPr>
        <p:spPr>
          <a:xfrm>
            <a:off x="548640" y="1600200"/>
            <a:ext cx="3584448" cy="4434840"/>
          </a:xfrm>
          <a:prstGeom prst="roundRect">
            <a:avLst>
              <a:gd name="adj" fmla="val 2041"/>
            </a:avLst>
          </a:prstGeom>
          <a:solidFill>
            <a:srgbClr val="EAF3F7"/>
          </a:solidFill>
          <a:ln/>
          <a:effectLst>
            <a:outerShdw sx="100000" sy="100000" kx="0" ky="0" algn="bl" rotWithShape="0" blurRad="101600" dist="25400" dir="5400000">
              <a:srgbClr val="1B2A3A">
                <a:alpha val="12000"/>
              </a:srgbClr>
            </a:outerShdw>
          </a:effectLst>
        </p:spPr>
      </p:sp>
      <p:sp>
        <p:nvSpPr>
          <p:cNvPr id="5" name="Shape 3"/>
          <p:cNvSpPr/>
          <p:nvPr/>
        </p:nvSpPr>
        <p:spPr>
          <a:xfrm>
            <a:off x="1975104" y="1874520"/>
            <a:ext cx="731520" cy="731520"/>
          </a:xfrm>
          <a:prstGeom prst="ellipse">
            <a:avLst/>
          </a:prstGeom>
          <a:solidFill>
            <a:srgbClr val="1C7293"/>
          </a:solidFill>
          <a:ln/>
        </p:spPr>
      </p:sp>
      <p:pic>
        <p:nvPicPr>
          <p:cNvPr id="6" name="Image 0" descr="/tmp/claude-0/-home-user-gpa-academy1/adc6e4aa-3b77-57c1-ba92-a8d4ee625c84/scratchpad/icons/waterdrop_white.png">    </p:cNvPr>
          <p:cNvPicPr>
            <a:picLocks noChangeAspect="1"/>
          </p:cNvPicPr>
          <p:nvPr/>
        </p:nvPicPr>
        <p:blipFill>
          <a:blip r:embed="rId1"/>
          <a:stretch>
            <a:fillRect/>
          </a:stretch>
        </p:blipFill>
        <p:spPr>
          <a:xfrm>
            <a:off x="2150669" y="2050085"/>
            <a:ext cx="380390" cy="380390"/>
          </a:xfrm>
          <a:prstGeom prst="rect">
            <a:avLst/>
          </a:prstGeom>
        </p:spPr>
      </p:pic>
      <p:sp>
        <p:nvSpPr>
          <p:cNvPr id="7" name="Text 4"/>
          <p:cNvSpPr txBox="1"/>
          <p:nvPr/>
        </p:nvSpPr>
        <p:spPr>
          <a:xfrm>
            <a:off x="685800" y="2770632"/>
            <a:ext cx="3310128" cy="411480"/>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Analgesia</a:t>
            </a:r>
            <a:endParaRPr lang="en-US" sz="1700" dirty="0"/>
          </a:p>
        </p:txBody>
      </p:sp>
      <p:sp>
        <p:nvSpPr>
          <p:cNvPr id="8" name="Text 5"/>
          <p:cNvSpPr txBox="1"/>
          <p:nvPr/>
        </p:nvSpPr>
        <p:spPr>
          <a:xfrm>
            <a:off x="841248" y="3291840"/>
            <a:ext cx="3035808" cy="2560320"/>
          </a:xfrm>
          <a:prstGeom prst="rect">
            <a:avLst/>
          </a:prstGeom>
          <a:noFill/>
          <a:ln/>
        </p:spPr>
        <p:txBody>
          <a:bodyPr wrap="square" lIns="0" tIns="0" rIns="0" bIns="0" rtlCol="0" anchor="t"/>
          <a:lstStyle/>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Abolición o atenuación selectiva de la percepción dolorosa</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No implica pérdida de conciencia</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Vía aérea y reflejos protectores intactos</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Ej.: analgésico opioide para dolor postoperatorio</a:t>
            </a:r>
            <a:endParaRPr lang="en-US" sz="1180" dirty="0"/>
          </a:p>
        </p:txBody>
      </p:sp>
      <p:sp>
        <p:nvSpPr>
          <p:cNvPr id="9" name="Shape 6"/>
          <p:cNvSpPr/>
          <p:nvPr/>
        </p:nvSpPr>
        <p:spPr>
          <a:xfrm>
            <a:off x="4315968" y="1600200"/>
            <a:ext cx="3584448" cy="4434840"/>
          </a:xfrm>
          <a:prstGeom prst="roundRect">
            <a:avLst>
              <a:gd name="adj" fmla="val 2041"/>
            </a:avLst>
          </a:prstGeom>
          <a:solidFill>
            <a:srgbClr val="E3EEF3"/>
          </a:solidFill>
          <a:ln/>
          <a:effectLst>
            <a:outerShdw sx="100000" sy="100000" kx="0" ky="0" algn="bl" rotWithShape="0" blurRad="101600" dist="25400" dir="5400000">
              <a:srgbClr val="1B2A3A">
                <a:alpha val="12000"/>
              </a:srgbClr>
            </a:outerShdw>
          </a:effectLst>
        </p:spPr>
      </p:sp>
      <p:sp>
        <p:nvSpPr>
          <p:cNvPr id="10" name="Shape 7"/>
          <p:cNvSpPr/>
          <p:nvPr/>
        </p:nvSpPr>
        <p:spPr>
          <a:xfrm>
            <a:off x="5742432" y="1874520"/>
            <a:ext cx="731520" cy="731520"/>
          </a:xfrm>
          <a:prstGeom prst="ellipse">
            <a:avLst/>
          </a:prstGeom>
          <a:solidFill>
            <a:srgbClr val="065A82"/>
          </a:solidFill>
          <a:ln/>
        </p:spPr>
      </p:sp>
      <p:pic>
        <p:nvPicPr>
          <p:cNvPr id="11" name="Image 1" descr="/tmp/claude-0/-home-user-gpa-academy1/adc6e4aa-3b77-57c1-ba92-a8d4ee625c84/scratchpad/icons/visibility_white.png">    </p:cNvPr>
          <p:cNvPicPr>
            <a:picLocks noChangeAspect="1"/>
          </p:cNvPicPr>
          <p:nvPr/>
        </p:nvPicPr>
        <p:blipFill>
          <a:blip r:embed="rId2"/>
          <a:stretch>
            <a:fillRect/>
          </a:stretch>
        </p:blipFill>
        <p:spPr>
          <a:xfrm>
            <a:off x="5917997" y="2050085"/>
            <a:ext cx="380390" cy="380390"/>
          </a:xfrm>
          <a:prstGeom prst="rect">
            <a:avLst/>
          </a:prstGeom>
        </p:spPr>
      </p:pic>
      <p:sp>
        <p:nvSpPr>
          <p:cNvPr id="12" name="Text 8"/>
          <p:cNvSpPr txBox="1"/>
          <p:nvPr/>
        </p:nvSpPr>
        <p:spPr>
          <a:xfrm>
            <a:off x="4453128" y="2770632"/>
            <a:ext cx="3310128" cy="411480"/>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Sedación</a:t>
            </a:r>
            <a:endParaRPr lang="en-US" sz="1700" dirty="0"/>
          </a:p>
        </p:txBody>
      </p:sp>
      <p:sp>
        <p:nvSpPr>
          <p:cNvPr id="13" name="Text 9"/>
          <p:cNvSpPr txBox="1"/>
          <p:nvPr/>
        </p:nvSpPr>
        <p:spPr>
          <a:xfrm>
            <a:off x="4608576" y="3291840"/>
            <a:ext cx="3035808" cy="2560320"/>
          </a:xfrm>
          <a:prstGeom prst="rect">
            <a:avLst/>
          </a:prstGeom>
          <a:noFill/>
          <a:ln/>
        </p:spPr>
        <p:txBody>
          <a:bodyPr wrap="square" lIns="0" tIns="0" rIns="0" bIns="0" rtlCol="0" anchor="t"/>
          <a:lstStyle/>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Depresión progresiva del nivel de conciencia (continuo)</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De mínima a profunda, según respuesta a estímulos</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Reflejos y ventilación espontánea variables</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Ej.: sedación para endoscopia digestiva</a:t>
            </a:r>
            <a:endParaRPr lang="en-US" sz="1180" dirty="0"/>
          </a:p>
        </p:txBody>
      </p:sp>
      <p:sp>
        <p:nvSpPr>
          <p:cNvPr id="14" name="Shape 10"/>
          <p:cNvSpPr/>
          <p:nvPr/>
        </p:nvSpPr>
        <p:spPr>
          <a:xfrm>
            <a:off x="8083296" y="1600200"/>
            <a:ext cx="3584448" cy="4434840"/>
          </a:xfrm>
          <a:prstGeom prst="roundRect">
            <a:avLst>
              <a:gd name="adj" fmla="val 2041"/>
            </a:avLst>
          </a:prstGeom>
          <a:solidFill>
            <a:srgbClr val="EAF3F7"/>
          </a:solidFill>
          <a:ln/>
          <a:effectLst>
            <a:outerShdw sx="100000" sy="100000" kx="0" ky="0" algn="bl" rotWithShape="0" blurRad="101600" dist="25400" dir="5400000">
              <a:srgbClr val="1B2A3A">
                <a:alpha val="12000"/>
              </a:srgbClr>
            </a:outerShdw>
          </a:effectLst>
        </p:spPr>
      </p:sp>
      <p:sp>
        <p:nvSpPr>
          <p:cNvPr id="15" name="Shape 11"/>
          <p:cNvSpPr/>
          <p:nvPr/>
        </p:nvSpPr>
        <p:spPr>
          <a:xfrm>
            <a:off x="9509760" y="1874520"/>
            <a:ext cx="731520" cy="731520"/>
          </a:xfrm>
          <a:prstGeom prst="ellipse">
            <a:avLst/>
          </a:prstGeom>
          <a:solidFill>
            <a:srgbClr val="21295C"/>
          </a:solidFill>
          <a:ln/>
        </p:spPr>
      </p:sp>
      <p:pic>
        <p:nvPicPr>
          <p:cNvPr id="16" name="Image 2" descr="/tmp/claude-0/-home-user-gpa-academy1/adc6e4aa-3b77-57c1-ba92-a8d4ee625c84/scratchpad/icons/brain_white.png">    </p:cNvPr>
          <p:cNvPicPr>
            <a:picLocks noChangeAspect="1"/>
          </p:cNvPicPr>
          <p:nvPr/>
        </p:nvPicPr>
        <p:blipFill>
          <a:blip r:embed="rId3"/>
          <a:stretch>
            <a:fillRect/>
          </a:stretch>
        </p:blipFill>
        <p:spPr>
          <a:xfrm>
            <a:off x="9685325" y="2050085"/>
            <a:ext cx="380390" cy="380390"/>
          </a:xfrm>
          <a:prstGeom prst="rect">
            <a:avLst/>
          </a:prstGeom>
        </p:spPr>
      </p:pic>
      <p:sp>
        <p:nvSpPr>
          <p:cNvPr id="17" name="Text 12"/>
          <p:cNvSpPr txBox="1"/>
          <p:nvPr/>
        </p:nvSpPr>
        <p:spPr>
          <a:xfrm>
            <a:off x="8220456" y="2770632"/>
            <a:ext cx="3310128" cy="411480"/>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Anestesia general</a:t>
            </a:r>
            <a:endParaRPr lang="en-US" sz="1700" dirty="0"/>
          </a:p>
        </p:txBody>
      </p:sp>
      <p:sp>
        <p:nvSpPr>
          <p:cNvPr id="18" name="Text 13"/>
          <p:cNvSpPr txBox="1"/>
          <p:nvPr/>
        </p:nvSpPr>
        <p:spPr>
          <a:xfrm>
            <a:off x="8375904" y="3291840"/>
            <a:ext cx="3035808" cy="2560320"/>
          </a:xfrm>
          <a:prstGeom prst="rect">
            <a:avLst/>
          </a:prstGeom>
          <a:noFill/>
          <a:ln/>
        </p:spPr>
        <p:txBody>
          <a:bodyPr wrap="square" lIns="0" tIns="0" rIns="0" bIns="0" rtlCol="0" anchor="t"/>
          <a:lstStyle/>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Extremo del continuo: pérdida completa de conciencia</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Ausencia de respuesta incluso a estímulo doloroso</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Con frecuencia requiere manejo instrumentado de la vía aérea</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Ej.: cirugía abdominal mayor</a:t>
            </a:r>
            <a:endParaRPr lang="en-US" sz="1180" dirty="0"/>
          </a:p>
        </p:txBody>
      </p:sp>
      <p:sp>
        <p:nvSpPr>
          <p:cNvPr id="19" name="Text 14"/>
          <p:cNvSpPr txBox="1"/>
          <p:nvPr/>
        </p:nvSpPr>
        <p:spPr>
          <a:xfrm>
            <a:off x="548640" y="6126480"/>
            <a:ext cx="10607040" cy="365760"/>
          </a:xfrm>
          <a:prstGeom prst="rect">
            <a:avLst/>
          </a:prstGeom>
          <a:noFill/>
          <a:ln/>
        </p:spPr>
        <p:txBody>
          <a:bodyPr wrap="square" lIns="0" tIns="0" rIns="0" bIns="0" rtlCol="0" anchor="ctr"/>
          <a:lstStyle/>
          <a:p>
            <a:pPr indent="0" marL="0">
              <a:buNone/>
            </a:pPr>
            <a:r>
              <a:rPr lang="en-US" sz="1150" i="1" dirty="0">
                <a:solidFill>
                  <a:srgbClr val="5C7181"/>
                </a:solidFill>
                <a:latin typeface="Calibri" pitchFamily="34" charset="0"/>
                <a:ea typeface="Calibri" pitchFamily="34" charset="-122"/>
                <a:cs typeface="Calibri" pitchFamily="34" charset="-120"/>
              </a:rPr>
              <a:t>El continuo de sedación de la ASA describe transiciones progresivas y no siempre predecibles entre estos estados.</a:t>
            </a:r>
            <a:endParaRPr lang="en-US" sz="1150" dirty="0"/>
          </a:p>
        </p:txBody>
      </p:sp>
      <p:sp>
        <p:nvSpPr>
          <p:cNvPr id="21" name="Text 15"/>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2" name="Text 16"/>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06 / 33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FUNDAMENTOS · 5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Los pilares de la anestesia balanceada</a:t>
            </a:r>
            <a:endParaRPr lang="en-US" sz="2900" dirty="0"/>
          </a:p>
        </p:txBody>
      </p:sp>
      <p:sp>
        <p:nvSpPr>
          <p:cNvPr id="4" name="Text 2"/>
          <p:cNvSpPr txBox="1"/>
          <p:nvPr/>
        </p:nvSpPr>
        <p:spPr>
          <a:xfrm>
            <a:off x="548640" y="1481328"/>
            <a:ext cx="10972800" cy="105156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El concepto de “anestesia balanceada”, introducido por John Lundy en 1926, propone combinar varios fármacos a dosis bajas —cada uno dirigido a un objetivo específico— en lugar de emplear un único agente a dosis altas. Esta estrategia reduce los efectos adversos dosis-dependientes de cada fármaco individual.</a:t>
            </a:r>
            <a:endParaRPr lang="en-US" sz="1400" dirty="0"/>
          </a:p>
        </p:txBody>
      </p:sp>
      <p:sp>
        <p:nvSpPr>
          <p:cNvPr id="5" name="Shape 3"/>
          <p:cNvSpPr/>
          <p:nvPr/>
        </p:nvSpPr>
        <p:spPr>
          <a:xfrm>
            <a:off x="914400" y="2788920"/>
            <a:ext cx="3429000" cy="2331720"/>
          </a:xfrm>
          <a:prstGeom prst="roundRect">
            <a:avLst>
              <a:gd name="adj" fmla="val 3137"/>
            </a:avLst>
          </a:prstGeom>
          <a:solidFill>
            <a:srgbClr val="EAF3F7"/>
          </a:solidFill>
          <a:ln/>
          <a:effectLst>
            <a:outerShdw sx="100000" sy="100000" kx="0" ky="0" algn="bl" rotWithShape="0" blurRad="101600" dist="25400" dir="5400000">
              <a:srgbClr val="1B2A3A">
                <a:alpha val="12000"/>
              </a:srgbClr>
            </a:outerShdw>
          </a:effectLst>
        </p:spPr>
      </p:sp>
      <p:sp>
        <p:nvSpPr>
          <p:cNvPr id="6" name="Shape 4"/>
          <p:cNvSpPr/>
          <p:nvPr/>
        </p:nvSpPr>
        <p:spPr>
          <a:xfrm>
            <a:off x="2217420" y="3081528"/>
            <a:ext cx="822960" cy="822960"/>
          </a:xfrm>
          <a:prstGeom prst="ellipse">
            <a:avLst/>
          </a:prstGeom>
          <a:solidFill>
            <a:srgbClr val="1C7293"/>
          </a:solidFill>
          <a:ln/>
        </p:spPr>
      </p:sp>
      <p:pic>
        <p:nvPicPr>
          <p:cNvPr id="7" name="Image 0" descr="/tmp/claude-0/-home-user-gpa-academy1/adc6e4aa-3b77-57c1-ba92-a8d4ee625c84/scratchpad/icons/moon_white.png">    </p:cNvPr>
          <p:cNvPicPr>
            <a:picLocks noChangeAspect="1"/>
          </p:cNvPicPr>
          <p:nvPr/>
        </p:nvPicPr>
        <p:blipFill>
          <a:blip r:embed="rId1"/>
          <a:stretch>
            <a:fillRect/>
          </a:stretch>
        </p:blipFill>
        <p:spPr>
          <a:xfrm>
            <a:off x="2414930" y="3279038"/>
            <a:ext cx="427939" cy="427939"/>
          </a:xfrm>
          <a:prstGeom prst="rect">
            <a:avLst/>
          </a:prstGeom>
        </p:spPr>
      </p:pic>
      <p:sp>
        <p:nvSpPr>
          <p:cNvPr id="8" name="Text 5"/>
          <p:cNvSpPr txBox="1"/>
          <p:nvPr/>
        </p:nvSpPr>
        <p:spPr>
          <a:xfrm>
            <a:off x="1051560" y="4069080"/>
            <a:ext cx="3154680" cy="594360"/>
          </a:xfrm>
          <a:prstGeom prst="rect">
            <a:avLst/>
          </a:prstGeom>
          <a:noFill/>
          <a:ln/>
        </p:spPr>
        <p:txBody>
          <a:bodyPr wrap="square" lIns="0" tIns="0" rIns="0" bIns="0" rtlCol="0" anchor="ctr"/>
          <a:lstStyle/>
          <a:p>
            <a:pPr algn="ctr" indent="0" marL="0">
              <a:lnSpc>
                <a:spcPts val="1800"/>
              </a:lnSpc>
              <a:buNone/>
            </a:pPr>
            <a:r>
              <a:rPr lang="en-US" sz="1600" b="1" dirty="0">
                <a:solidFill>
                  <a:srgbClr val="21295C"/>
                </a:solidFill>
                <a:latin typeface="Cambria" pitchFamily="34" charset="0"/>
                <a:ea typeface="Cambria" pitchFamily="34" charset="-122"/>
                <a:cs typeface="Cambria" pitchFamily="34" charset="-120"/>
              </a:rPr>
              <a:t>Hipnosis</a:t>
            </a:r>
            <a:endParaRPr lang="en-US" sz="1600" dirty="0"/>
          </a:p>
        </p:txBody>
      </p:sp>
      <p:sp>
        <p:nvSpPr>
          <p:cNvPr id="9" name="Text 6"/>
          <p:cNvSpPr txBox="1"/>
          <p:nvPr/>
        </p:nvSpPr>
        <p:spPr>
          <a:xfrm>
            <a:off x="1188720" y="4636008"/>
            <a:ext cx="2880360" cy="457200"/>
          </a:xfrm>
          <a:prstGeom prst="rect">
            <a:avLst/>
          </a:prstGeom>
          <a:noFill/>
          <a:ln/>
        </p:spPr>
        <p:txBody>
          <a:bodyPr wrap="square" lIns="0" tIns="0" rIns="0" bIns="0" rtlCol="0" anchor="ctr"/>
          <a:lstStyle/>
          <a:p>
            <a:pPr algn="ctr" indent="0" marL="0">
              <a:lnSpc>
                <a:spcPts val="1300"/>
              </a:lnSpc>
              <a:buNone/>
            </a:pPr>
            <a:r>
              <a:rPr lang="en-US" sz="1100" dirty="0">
                <a:solidFill>
                  <a:srgbClr val="5C7181"/>
                </a:solidFill>
                <a:latin typeface="Calibri" pitchFamily="34" charset="0"/>
                <a:ea typeface="Calibri" pitchFamily="34" charset="-122"/>
                <a:cs typeface="Calibri" pitchFamily="34" charset="-120"/>
              </a:rPr>
              <a:t>Pérdida controlada de la conciencia</a:t>
            </a:r>
            <a:endParaRPr lang="en-US" sz="1100" dirty="0"/>
          </a:p>
        </p:txBody>
      </p:sp>
      <p:sp>
        <p:nvSpPr>
          <p:cNvPr id="10" name="Shape 7"/>
          <p:cNvSpPr/>
          <p:nvPr/>
        </p:nvSpPr>
        <p:spPr>
          <a:xfrm>
            <a:off x="4663440" y="2788920"/>
            <a:ext cx="3429000" cy="2331720"/>
          </a:xfrm>
          <a:prstGeom prst="roundRect">
            <a:avLst>
              <a:gd name="adj" fmla="val 3137"/>
            </a:avLst>
          </a:prstGeom>
          <a:solidFill>
            <a:srgbClr val="065A82"/>
          </a:solidFill>
          <a:ln/>
          <a:effectLst>
            <a:outerShdw sx="100000" sy="100000" kx="0" ky="0" algn="bl" rotWithShape="0" blurRad="101600" dist="25400" dir="5400000">
              <a:srgbClr val="1B2A3A">
                <a:alpha val="12000"/>
              </a:srgbClr>
            </a:outerShdw>
          </a:effectLst>
        </p:spPr>
      </p:sp>
      <p:sp>
        <p:nvSpPr>
          <p:cNvPr id="11" name="Shape 8"/>
          <p:cNvSpPr/>
          <p:nvPr/>
        </p:nvSpPr>
        <p:spPr>
          <a:xfrm>
            <a:off x="5966460" y="3081528"/>
            <a:ext cx="822960" cy="822960"/>
          </a:xfrm>
          <a:prstGeom prst="ellipse">
            <a:avLst/>
          </a:prstGeom>
          <a:solidFill>
            <a:srgbClr val="FFFFFF"/>
          </a:solidFill>
          <a:ln/>
        </p:spPr>
      </p:sp>
      <p:pic>
        <p:nvPicPr>
          <p:cNvPr id="12" name="Image 1" descr="/tmp/claude-0/-home-user-gpa-academy1/adc6e4aa-3b77-57c1-ba92-a8d4ee625c84/scratchpad/icons/syringe_deepblue.png">    </p:cNvPr>
          <p:cNvPicPr>
            <a:picLocks noChangeAspect="1"/>
          </p:cNvPicPr>
          <p:nvPr/>
        </p:nvPicPr>
        <p:blipFill>
          <a:blip r:embed="rId2"/>
          <a:stretch>
            <a:fillRect/>
          </a:stretch>
        </p:blipFill>
        <p:spPr>
          <a:xfrm>
            <a:off x="6163970" y="3279038"/>
            <a:ext cx="427939" cy="427939"/>
          </a:xfrm>
          <a:prstGeom prst="rect">
            <a:avLst/>
          </a:prstGeom>
        </p:spPr>
      </p:pic>
      <p:sp>
        <p:nvSpPr>
          <p:cNvPr id="13" name="Text 9"/>
          <p:cNvSpPr txBox="1"/>
          <p:nvPr/>
        </p:nvSpPr>
        <p:spPr>
          <a:xfrm>
            <a:off x="4800600" y="4069080"/>
            <a:ext cx="3154680" cy="594360"/>
          </a:xfrm>
          <a:prstGeom prst="rect">
            <a:avLst/>
          </a:prstGeom>
          <a:noFill/>
          <a:ln/>
        </p:spPr>
        <p:txBody>
          <a:bodyPr wrap="square" lIns="0" tIns="0" rIns="0" bIns="0" rtlCol="0" anchor="ctr"/>
          <a:lstStyle/>
          <a:p>
            <a:pPr algn="ctr" indent="0" marL="0">
              <a:lnSpc>
                <a:spcPts val="1800"/>
              </a:lnSpc>
              <a:buNone/>
            </a:pPr>
            <a:r>
              <a:rPr lang="en-US" sz="1600" b="1" dirty="0">
                <a:solidFill>
                  <a:srgbClr val="FFFFFF"/>
                </a:solidFill>
                <a:latin typeface="Cambria" pitchFamily="34" charset="0"/>
                <a:ea typeface="Cambria" pitchFamily="34" charset="-122"/>
                <a:cs typeface="Cambria" pitchFamily="34" charset="-120"/>
              </a:rPr>
              <a:t>Analgesia</a:t>
            </a:r>
            <a:endParaRPr lang="en-US" sz="1600" dirty="0"/>
          </a:p>
        </p:txBody>
      </p:sp>
      <p:sp>
        <p:nvSpPr>
          <p:cNvPr id="14" name="Text 10"/>
          <p:cNvSpPr txBox="1"/>
          <p:nvPr/>
        </p:nvSpPr>
        <p:spPr>
          <a:xfrm>
            <a:off x="4937760" y="4636008"/>
            <a:ext cx="2880360" cy="457200"/>
          </a:xfrm>
          <a:prstGeom prst="rect">
            <a:avLst/>
          </a:prstGeom>
          <a:noFill/>
          <a:ln/>
        </p:spPr>
        <p:txBody>
          <a:bodyPr wrap="square" lIns="0" tIns="0" rIns="0" bIns="0" rtlCol="0" anchor="ctr"/>
          <a:lstStyle/>
          <a:p>
            <a:pPr algn="ctr" indent="0" marL="0">
              <a:lnSpc>
                <a:spcPts val="1300"/>
              </a:lnSpc>
              <a:buNone/>
            </a:pPr>
            <a:r>
              <a:rPr lang="en-US" sz="1100" dirty="0">
                <a:solidFill>
                  <a:srgbClr val="CFE3EC"/>
                </a:solidFill>
                <a:latin typeface="Calibri" pitchFamily="34" charset="0"/>
                <a:ea typeface="Calibri" pitchFamily="34" charset="-122"/>
                <a:cs typeface="Calibri" pitchFamily="34" charset="-120"/>
              </a:rPr>
              <a:t>Control de la respuesta nociceptiva</a:t>
            </a:r>
            <a:endParaRPr lang="en-US" sz="1100" dirty="0"/>
          </a:p>
        </p:txBody>
      </p:sp>
      <p:sp>
        <p:nvSpPr>
          <p:cNvPr id="15" name="Shape 11"/>
          <p:cNvSpPr/>
          <p:nvPr/>
        </p:nvSpPr>
        <p:spPr>
          <a:xfrm>
            <a:off x="8412480" y="2788920"/>
            <a:ext cx="3429000" cy="2331720"/>
          </a:xfrm>
          <a:prstGeom prst="roundRect">
            <a:avLst>
              <a:gd name="adj" fmla="val 3137"/>
            </a:avLst>
          </a:prstGeom>
          <a:solidFill>
            <a:srgbClr val="EAF3F7"/>
          </a:solidFill>
          <a:ln/>
          <a:effectLst>
            <a:outerShdw sx="100000" sy="100000" kx="0" ky="0" algn="bl" rotWithShape="0" blurRad="101600" dist="25400" dir="5400000">
              <a:srgbClr val="1B2A3A">
                <a:alpha val="12000"/>
              </a:srgbClr>
            </a:outerShdw>
          </a:effectLst>
        </p:spPr>
      </p:sp>
      <p:sp>
        <p:nvSpPr>
          <p:cNvPr id="16" name="Shape 12"/>
          <p:cNvSpPr/>
          <p:nvPr/>
        </p:nvSpPr>
        <p:spPr>
          <a:xfrm>
            <a:off x="9715500" y="3081528"/>
            <a:ext cx="822960" cy="822960"/>
          </a:xfrm>
          <a:prstGeom prst="ellipse">
            <a:avLst/>
          </a:prstGeom>
          <a:solidFill>
            <a:srgbClr val="1C7293"/>
          </a:solidFill>
          <a:ln/>
        </p:spPr>
      </p:sp>
      <p:pic>
        <p:nvPicPr>
          <p:cNvPr id="17" name="Image 2" descr="/tmp/claude-0/-home-user-gpa-academy1/adc6e4aa-3b77-57c1-ba92-a8d4ee625c84/scratchpad/icons/muscle_white.png">    </p:cNvPr>
          <p:cNvPicPr>
            <a:picLocks noChangeAspect="1"/>
          </p:cNvPicPr>
          <p:nvPr/>
        </p:nvPicPr>
        <p:blipFill>
          <a:blip r:embed="rId3"/>
          <a:stretch>
            <a:fillRect/>
          </a:stretch>
        </p:blipFill>
        <p:spPr>
          <a:xfrm>
            <a:off x="9913010" y="3279038"/>
            <a:ext cx="427939" cy="427939"/>
          </a:xfrm>
          <a:prstGeom prst="rect">
            <a:avLst/>
          </a:prstGeom>
        </p:spPr>
      </p:pic>
      <p:sp>
        <p:nvSpPr>
          <p:cNvPr id="18" name="Text 13"/>
          <p:cNvSpPr txBox="1"/>
          <p:nvPr/>
        </p:nvSpPr>
        <p:spPr>
          <a:xfrm>
            <a:off x="8549640" y="4069080"/>
            <a:ext cx="3154680" cy="594360"/>
          </a:xfrm>
          <a:prstGeom prst="rect">
            <a:avLst/>
          </a:prstGeom>
          <a:noFill/>
          <a:ln/>
        </p:spPr>
        <p:txBody>
          <a:bodyPr wrap="square" lIns="0" tIns="0" rIns="0" bIns="0" rtlCol="0" anchor="ctr"/>
          <a:lstStyle/>
          <a:p>
            <a:pPr algn="ctr" indent="0" marL="0">
              <a:lnSpc>
                <a:spcPts val="1800"/>
              </a:lnSpc>
              <a:buNone/>
            </a:pPr>
            <a:r>
              <a:rPr lang="en-US" sz="1600" b="1" dirty="0">
                <a:solidFill>
                  <a:srgbClr val="21295C"/>
                </a:solidFill>
                <a:latin typeface="Cambria" pitchFamily="34" charset="0"/>
                <a:ea typeface="Cambria" pitchFamily="34" charset="-122"/>
                <a:cs typeface="Cambria" pitchFamily="34" charset="-120"/>
              </a:rPr>
              <a:t>Relajación</a:t>
            </a:r>
            <a:endParaRPr lang="en-US" sz="1600" dirty="0"/>
          </a:p>
          <a:p>
            <a:pPr algn="ctr" indent="0" marL="0">
              <a:lnSpc>
                <a:spcPts val="1800"/>
              </a:lnSpc>
              <a:buNone/>
            </a:pPr>
            <a:r>
              <a:rPr lang="en-US" sz="1600" b="1" dirty="0">
                <a:solidFill>
                  <a:srgbClr val="21295C"/>
                </a:solidFill>
                <a:latin typeface="Cambria" pitchFamily="34" charset="0"/>
                <a:ea typeface="Cambria" pitchFamily="34" charset="-122"/>
                <a:cs typeface="Cambria" pitchFamily="34" charset="-120"/>
              </a:rPr>
              <a:t>muscular</a:t>
            </a:r>
            <a:endParaRPr lang="en-US" sz="1600" dirty="0"/>
          </a:p>
        </p:txBody>
      </p:sp>
      <p:sp>
        <p:nvSpPr>
          <p:cNvPr id="19" name="Text 14"/>
          <p:cNvSpPr txBox="1"/>
          <p:nvPr/>
        </p:nvSpPr>
        <p:spPr>
          <a:xfrm>
            <a:off x="8686800" y="4636008"/>
            <a:ext cx="2880360" cy="457200"/>
          </a:xfrm>
          <a:prstGeom prst="rect">
            <a:avLst/>
          </a:prstGeom>
          <a:noFill/>
          <a:ln/>
        </p:spPr>
        <p:txBody>
          <a:bodyPr wrap="square" lIns="0" tIns="0" rIns="0" bIns="0" rtlCol="0" anchor="ctr"/>
          <a:lstStyle/>
          <a:p>
            <a:pPr algn="ctr" indent="0" marL="0">
              <a:lnSpc>
                <a:spcPts val="1300"/>
              </a:lnSpc>
              <a:buNone/>
            </a:pPr>
            <a:r>
              <a:rPr lang="en-US" sz="1100" dirty="0">
                <a:solidFill>
                  <a:srgbClr val="5C7181"/>
                </a:solidFill>
                <a:latin typeface="Calibri" pitchFamily="34" charset="0"/>
                <a:ea typeface="Calibri" pitchFamily="34" charset="-122"/>
                <a:cs typeface="Calibri" pitchFamily="34" charset="-120"/>
              </a:rPr>
              <a:t>Bloqueo neuromuscular cuando se requiere</a:t>
            </a:r>
            <a:endParaRPr lang="en-US" sz="1100" dirty="0"/>
          </a:p>
        </p:txBody>
      </p:sp>
      <p:sp>
        <p:nvSpPr>
          <p:cNvPr id="20" name="Text 15"/>
          <p:cNvSpPr txBox="1"/>
          <p:nvPr/>
        </p:nvSpPr>
        <p:spPr>
          <a:xfrm>
            <a:off x="548640" y="5440680"/>
            <a:ext cx="10607040" cy="502920"/>
          </a:xfrm>
          <a:prstGeom prst="rect">
            <a:avLst/>
          </a:prstGeom>
          <a:noFill/>
          <a:ln/>
        </p:spPr>
        <p:txBody>
          <a:bodyPr wrap="square" lIns="0" tIns="0" rIns="0" bIns="0" rtlCol="0" anchor="ctr"/>
          <a:lstStyle/>
          <a:p>
            <a:pPr indent="0" marL="0">
              <a:lnSpc>
                <a:spcPts val="1500"/>
              </a:lnSpc>
              <a:buNone/>
            </a:pPr>
            <a:r>
              <a:rPr lang="en-US" sz="1250" i="1" dirty="0">
                <a:solidFill>
                  <a:srgbClr val="5C7181"/>
                </a:solidFill>
                <a:latin typeface="Calibri" pitchFamily="34" charset="0"/>
                <a:ea typeface="Calibri" pitchFamily="34" charset="-122"/>
                <a:cs typeface="Calibri" pitchFamily="34" charset="-120"/>
              </a:rPr>
              <a:t>Un cuarto pilar, propuesto por algunos autores: el control de la respuesta neurovegetativa (estabilidad autonómica) frente al estrés quirúrgico.</a:t>
            </a:r>
            <a:endParaRPr lang="en-US" sz="1250" dirty="0"/>
          </a:p>
        </p:txBody>
      </p:sp>
      <p:sp>
        <p:nvSpPr>
          <p:cNvPr id="22" name="Text 16"/>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3" name="Text 1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07 / 33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FUNDAMENTOS · 6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Propósitos generales de la anestesia</a:t>
            </a:r>
            <a:endParaRPr lang="en-US" sz="2900" dirty="0"/>
          </a:p>
        </p:txBody>
      </p:sp>
      <p:sp>
        <p:nvSpPr>
          <p:cNvPr id="4" name="Text 2"/>
          <p:cNvSpPr txBox="1"/>
          <p:nvPr/>
        </p:nvSpPr>
        <p:spPr>
          <a:xfrm>
            <a:off x="548640" y="1417320"/>
            <a:ext cx="10515600" cy="457200"/>
          </a:xfrm>
          <a:prstGeom prst="rect">
            <a:avLst/>
          </a:prstGeom>
          <a:noFill/>
          <a:ln/>
        </p:spPr>
        <p:txBody>
          <a:bodyPr wrap="square" lIns="0" tIns="0" rIns="0" bIns="0" rtlCol="0" anchor="t"/>
          <a:lstStyle/>
          <a:p>
            <a:pPr indent="0" marL="0">
              <a:lnSpc>
                <a:spcPts val="2200"/>
              </a:lnSpc>
              <a:buNone/>
            </a:pPr>
            <a:r>
              <a:rPr lang="en-US" sz="1400" dirty="0">
                <a:solidFill>
                  <a:srgbClr val="5C7181"/>
                </a:solidFill>
                <a:latin typeface="Calibri" pitchFamily="34" charset="0"/>
                <a:ea typeface="Calibri" pitchFamily="34" charset="-122"/>
                <a:cs typeface="Calibri" pitchFamily="34" charset="-120"/>
              </a:rPr>
              <a:t>Seis objetivos clínicos que, combinados según la técnica elegida, definen el efecto terapéutico buscado en cada paciente.</a:t>
            </a:r>
            <a:endParaRPr lang="en-US" sz="1400" dirty="0"/>
          </a:p>
        </p:txBody>
      </p:sp>
      <p:sp>
        <p:nvSpPr>
          <p:cNvPr id="5" name="Shape 3"/>
          <p:cNvSpPr/>
          <p:nvPr/>
        </p:nvSpPr>
        <p:spPr>
          <a:xfrm>
            <a:off x="548640" y="205740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6" name="Shape 4"/>
          <p:cNvSpPr/>
          <p:nvPr/>
        </p:nvSpPr>
        <p:spPr>
          <a:xfrm>
            <a:off x="749808" y="2436876"/>
            <a:ext cx="658368" cy="658368"/>
          </a:xfrm>
          <a:prstGeom prst="ellipse">
            <a:avLst/>
          </a:prstGeom>
          <a:solidFill>
            <a:srgbClr val="065A82"/>
          </a:solidFill>
          <a:ln/>
        </p:spPr>
      </p:sp>
      <p:pic>
        <p:nvPicPr>
          <p:cNvPr id="7" name="Image 0" descr="/tmp/claude-0/-home-user-gpa-academy1/adc6e4aa-3b77-57c1-ba92-a8d4ee625c84/scratchpad/icons/syringe_white.png">    </p:cNvPr>
          <p:cNvPicPr>
            <a:picLocks noChangeAspect="1"/>
          </p:cNvPicPr>
          <p:nvPr/>
        </p:nvPicPr>
        <p:blipFill>
          <a:blip r:embed="rId1"/>
          <a:stretch>
            <a:fillRect/>
          </a:stretch>
        </p:blipFill>
        <p:spPr>
          <a:xfrm>
            <a:off x="914400" y="2601468"/>
            <a:ext cx="329184" cy="329184"/>
          </a:xfrm>
          <a:prstGeom prst="rect">
            <a:avLst/>
          </a:prstGeom>
        </p:spPr>
      </p:pic>
      <p:sp>
        <p:nvSpPr>
          <p:cNvPr id="8" name="Text 5"/>
          <p:cNvSpPr txBox="1"/>
          <p:nvPr/>
        </p:nvSpPr>
        <p:spPr>
          <a:xfrm>
            <a:off x="1554480" y="2258568"/>
            <a:ext cx="233172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Analgesia</a:t>
            </a:r>
            <a:endParaRPr lang="en-US" sz="1400" dirty="0"/>
          </a:p>
        </p:txBody>
      </p:sp>
      <p:sp>
        <p:nvSpPr>
          <p:cNvPr id="9" name="Text 6"/>
          <p:cNvSpPr txBox="1"/>
          <p:nvPr/>
        </p:nvSpPr>
        <p:spPr>
          <a:xfrm>
            <a:off x="1554480" y="2624328"/>
            <a:ext cx="2331720" cy="640080"/>
          </a:xfrm>
          <a:prstGeom prst="rect">
            <a:avLst/>
          </a:prstGeom>
          <a:noFill/>
          <a:ln/>
        </p:spPr>
        <p:txBody>
          <a:bodyPr wrap="square" lIns="0" tIns="0" rIns="0" bIns="0" rtlCol="0" anchor="ctr"/>
          <a:lstStyle/>
          <a:p>
            <a:pPr indent="0" marL="0">
              <a:lnSpc>
                <a:spcPts val="1300"/>
              </a:lnSpc>
              <a:buNone/>
            </a:pPr>
            <a:r>
              <a:rPr lang="en-US" sz="1100" dirty="0">
                <a:solidFill>
                  <a:srgbClr val="5C7181"/>
                </a:solidFill>
                <a:latin typeface="Calibri" pitchFamily="34" charset="0"/>
                <a:ea typeface="Calibri" pitchFamily="34" charset="-122"/>
                <a:cs typeface="Calibri" pitchFamily="34" charset="-120"/>
              </a:rPr>
              <a:t>Abolir el dolor quirúrgico</a:t>
            </a:r>
            <a:endParaRPr lang="en-US" sz="1100" dirty="0"/>
          </a:p>
        </p:txBody>
      </p:sp>
      <p:sp>
        <p:nvSpPr>
          <p:cNvPr id="10" name="Shape 7"/>
          <p:cNvSpPr/>
          <p:nvPr/>
        </p:nvSpPr>
        <p:spPr>
          <a:xfrm>
            <a:off x="4251960" y="205740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11" name="Shape 8"/>
          <p:cNvSpPr/>
          <p:nvPr/>
        </p:nvSpPr>
        <p:spPr>
          <a:xfrm>
            <a:off x="4453128" y="2436876"/>
            <a:ext cx="658368" cy="658368"/>
          </a:xfrm>
          <a:prstGeom prst="ellipse">
            <a:avLst/>
          </a:prstGeom>
          <a:solidFill>
            <a:srgbClr val="065A82"/>
          </a:solidFill>
          <a:ln/>
        </p:spPr>
      </p:sp>
      <p:pic>
        <p:nvPicPr>
          <p:cNvPr id="12" name="Image 1" descr="/tmp/claude-0/-home-user-gpa-academy1/adc6e4aa-3b77-57c1-ba92-a8d4ee625c84/scratchpad/icons/moon_white.png">    </p:cNvPr>
          <p:cNvPicPr>
            <a:picLocks noChangeAspect="1"/>
          </p:cNvPicPr>
          <p:nvPr/>
        </p:nvPicPr>
        <p:blipFill>
          <a:blip r:embed="rId2"/>
          <a:stretch>
            <a:fillRect/>
          </a:stretch>
        </p:blipFill>
        <p:spPr>
          <a:xfrm>
            <a:off x="4617720" y="2601468"/>
            <a:ext cx="329184" cy="329184"/>
          </a:xfrm>
          <a:prstGeom prst="rect">
            <a:avLst/>
          </a:prstGeom>
        </p:spPr>
      </p:pic>
      <p:sp>
        <p:nvSpPr>
          <p:cNvPr id="13" name="Text 9"/>
          <p:cNvSpPr txBox="1"/>
          <p:nvPr/>
        </p:nvSpPr>
        <p:spPr>
          <a:xfrm>
            <a:off x="5257800" y="2258568"/>
            <a:ext cx="233172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Hipnosis</a:t>
            </a:r>
            <a:endParaRPr lang="en-US" sz="1400" dirty="0"/>
          </a:p>
        </p:txBody>
      </p:sp>
      <p:sp>
        <p:nvSpPr>
          <p:cNvPr id="14" name="Text 10"/>
          <p:cNvSpPr txBox="1"/>
          <p:nvPr/>
        </p:nvSpPr>
        <p:spPr>
          <a:xfrm>
            <a:off x="5257800" y="2624328"/>
            <a:ext cx="2331720" cy="640080"/>
          </a:xfrm>
          <a:prstGeom prst="rect">
            <a:avLst/>
          </a:prstGeom>
          <a:noFill/>
          <a:ln/>
        </p:spPr>
        <p:txBody>
          <a:bodyPr wrap="square" lIns="0" tIns="0" rIns="0" bIns="0" rtlCol="0" anchor="ctr"/>
          <a:lstStyle/>
          <a:p>
            <a:pPr indent="0" marL="0">
              <a:lnSpc>
                <a:spcPts val="1300"/>
              </a:lnSpc>
              <a:buNone/>
            </a:pPr>
            <a:r>
              <a:rPr lang="en-US" sz="1100" dirty="0">
                <a:solidFill>
                  <a:srgbClr val="5C7181"/>
                </a:solidFill>
                <a:latin typeface="Calibri" pitchFamily="34" charset="0"/>
                <a:ea typeface="Calibri" pitchFamily="34" charset="-122"/>
                <a:cs typeface="Calibri" pitchFamily="34" charset="-120"/>
              </a:rPr>
              <a:t>Suprimir la conciencia</a:t>
            </a:r>
            <a:endParaRPr lang="en-US" sz="1100" dirty="0"/>
          </a:p>
        </p:txBody>
      </p:sp>
      <p:sp>
        <p:nvSpPr>
          <p:cNvPr id="15" name="Shape 11"/>
          <p:cNvSpPr/>
          <p:nvPr/>
        </p:nvSpPr>
        <p:spPr>
          <a:xfrm>
            <a:off x="7955280" y="205740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16" name="Shape 12"/>
          <p:cNvSpPr/>
          <p:nvPr/>
        </p:nvSpPr>
        <p:spPr>
          <a:xfrm>
            <a:off x="8156448" y="2436876"/>
            <a:ext cx="658368" cy="658368"/>
          </a:xfrm>
          <a:prstGeom prst="ellipse">
            <a:avLst/>
          </a:prstGeom>
          <a:solidFill>
            <a:srgbClr val="065A82"/>
          </a:solidFill>
          <a:ln/>
        </p:spPr>
      </p:sp>
      <p:pic>
        <p:nvPicPr>
          <p:cNvPr id="17" name="Image 2" descr="/tmp/claude-0/-home-user-gpa-academy1/adc6e4aa-3b77-57c1-ba92-a8d4ee625c84/scratchpad/icons/psychology_white.png">    </p:cNvPr>
          <p:cNvPicPr>
            <a:picLocks noChangeAspect="1"/>
          </p:cNvPicPr>
          <p:nvPr/>
        </p:nvPicPr>
        <p:blipFill>
          <a:blip r:embed="rId3"/>
          <a:stretch>
            <a:fillRect/>
          </a:stretch>
        </p:blipFill>
        <p:spPr>
          <a:xfrm>
            <a:off x="8321040" y="2601468"/>
            <a:ext cx="329184" cy="329184"/>
          </a:xfrm>
          <a:prstGeom prst="rect">
            <a:avLst/>
          </a:prstGeom>
        </p:spPr>
      </p:pic>
      <p:sp>
        <p:nvSpPr>
          <p:cNvPr id="18" name="Text 13"/>
          <p:cNvSpPr txBox="1"/>
          <p:nvPr/>
        </p:nvSpPr>
        <p:spPr>
          <a:xfrm>
            <a:off x="8961120" y="2258568"/>
            <a:ext cx="233172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Amnesia</a:t>
            </a:r>
            <a:endParaRPr lang="en-US" sz="1400" dirty="0"/>
          </a:p>
        </p:txBody>
      </p:sp>
      <p:sp>
        <p:nvSpPr>
          <p:cNvPr id="19" name="Text 14"/>
          <p:cNvSpPr txBox="1"/>
          <p:nvPr/>
        </p:nvSpPr>
        <p:spPr>
          <a:xfrm>
            <a:off x="8961120" y="2624328"/>
            <a:ext cx="2331720" cy="640080"/>
          </a:xfrm>
          <a:prstGeom prst="rect">
            <a:avLst/>
          </a:prstGeom>
          <a:noFill/>
          <a:ln/>
        </p:spPr>
        <p:txBody>
          <a:bodyPr wrap="square" lIns="0" tIns="0" rIns="0" bIns="0" rtlCol="0" anchor="ctr"/>
          <a:lstStyle/>
          <a:p>
            <a:pPr indent="0" marL="0">
              <a:lnSpc>
                <a:spcPts val="1300"/>
              </a:lnSpc>
              <a:buNone/>
            </a:pPr>
            <a:r>
              <a:rPr lang="en-US" sz="1100" dirty="0">
                <a:solidFill>
                  <a:srgbClr val="5C7181"/>
                </a:solidFill>
                <a:latin typeface="Calibri" pitchFamily="34" charset="0"/>
                <a:ea typeface="Calibri" pitchFamily="34" charset="-122"/>
                <a:cs typeface="Calibri" pitchFamily="34" charset="-120"/>
              </a:rPr>
              <a:t>Evitar el recuerdo explícito</a:t>
            </a:r>
            <a:endParaRPr lang="en-US" sz="1100" dirty="0"/>
          </a:p>
        </p:txBody>
      </p:sp>
      <p:sp>
        <p:nvSpPr>
          <p:cNvPr id="20" name="Shape 15"/>
          <p:cNvSpPr/>
          <p:nvPr/>
        </p:nvSpPr>
        <p:spPr>
          <a:xfrm>
            <a:off x="548640" y="365760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21" name="Shape 16"/>
          <p:cNvSpPr/>
          <p:nvPr/>
        </p:nvSpPr>
        <p:spPr>
          <a:xfrm>
            <a:off x="749808" y="4037076"/>
            <a:ext cx="658368" cy="658368"/>
          </a:xfrm>
          <a:prstGeom prst="ellipse">
            <a:avLst/>
          </a:prstGeom>
          <a:solidFill>
            <a:srgbClr val="065A82"/>
          </a:solidFill>
          <a:ln/>
        </p:spPr>
      </p:sp>
      <p:pic>
        <p:nvPicPr>
          <p:cNvPr id="22" name="Image 3" descr="/tmp/claude-0/-home-user-gpa-academy1/adc6e4aa-3b77-57c1-ba92-a8d4ee625c84/scratchpad/icons/muscle_white.png">    </p:cNvPr>
          <p:cNvPicPr>
            <a:picLocks noChangeAspect="1"/>
          </p:cNvPicPr>
          <p:nvPr/>
        </p:nvPicPr>
        <p:blipFill>
          <a:blip r:embed="rId4"/>
          <a:stretch>
            <a:fillRect/>
          </a:stretch>
        </p:blipFill>
        <p:spPr>
          <a:xfrm>
            <a:off x="914400" y="4201668"/>
            <a:ext cx="329184" cy="329184"/>
          </a:xfrm>
          <a:prstGeom prst="rect">
            <a:avLst/>
          </a:prstGeom>
        </p:spPr>
      </p:pic>
      <p:sp>
        <p:nvSpPr>
          <p:cNvPr id="23" name="Text 17"/>
          <p:cNvSpPr txBox="1"/>
          <p:nvPr/>
        </p:nvSpPr>
        <p:spPr>
          <a:xfrm>
            <a:off x="1554480" y="3858768"/>
            <a:ext cx="233172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Relajación muscular</a:t>
            </a:r>
            <a:endParaRPr lang="en-US" sz="1400" dirty="0"/>
          </a:p>
        </p:txBody>
      </p:sp>
      <p:sp>
        <p:nvSpPr>
          <p:cNvPr id="24" name="Text 18"/>
          <p:cNvSpPr txBox="1"/>
          <p:nvPr/>
        </p:nvSpPr>
        <p:spPr>
          <a:xfrm>
            <a:off x="1554480" y="4224528"/>
            <a:ext cx="2331720" cy="640080"/>
          </a:xfrm>
          <a:prstGeom prst="rect">
            <a:avLst/>
          </a:prstGeom>
          <a:noFill/>
          <a:ln/>
        </p:spPr>
        <p:txBody>
          <a:bodyPr wrap="square" lIns="0" tIns="0" rIns="0" bIns="0" rtlCol="0" anchor="ctr"/>
          <a:lstStyle/>
          <a:p>
            <a:pPr indent="0" marL="0">
              <a:lnSpc>
                <a:spcPts val="1300"/>
              </a:lnSpc>
              <a:buNone/>
            </a:pPr>
            <a:r>
              <a:rPr lang="en-US" sz="1100" dirty="0">
                <a:solidFill>
                  <a:srgbClr val="5C7181"/>
                </a:solidFill>
                <a:latin typeface="Calibri" pitchFamily="34" charset="0"/>
                <a:ea typeface="Calibri" pitchFamily="34" charset="-122"/>
                <a:cs typeface="Calibri" pitchFamily="34" charset="-120"/>
              </a:rPr>
              <a:t>Optimizar condiciones quirúrgicas</a:t>
            </a:r>
            <a:endParaRPr lang="en-US" sz="1100" dirty="0"/>
          </a:p>
        </p:txBody>
      </p:sp>
      <p:sp>
        <p:nvSpPr>
          <p:cNvPr id="25" name="Shape 19"/>
          <p:cNvSpPr/>
          <p:nvPr/>
        </p:nvSpPr>
        <p:spPr>
          <a:xfrm>
            <a:off x="4251960" y="365760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26" name="Shape 20"/>
          <p:cNvSpPr/>
          <p:nvPr/>
        </p:nvSpPr>
        <p:spPr>
          <a:xfrm>
            <a:off x="4453128" y="4037076"/>
            <a:ext cx="658368" cy="658368"/>
          </a:xfrm>
          <a:prstGeom prst="ellipse">
            <a:avLst/>
          </a:prstGeom>
          <a:solidFill>
            <a:srgbClr val="065A82"/>
          </a:solidFill>
          <a:ln/>
        </p:spPr>
      </p:sp>
      <p:pic>
        <p:nvPicPr>
          <p:cNvPr id="27" name="Image 4" descr="/tmp/claude-0/-home-user-gpa-academy1/adc6e4aa-3b77-57c1-ba92-a8d4ee625c84/scratchpad/icons/heartbeat_white.png">    </p:cNvPr>
          <p:cNvPicPr>
            <a:picLocks noChangeAspect="1"/>
          </p:cNvPicPr>
          <p:nvPr/>
        </p:nvPicPr>
        <p:blipFill>
          <a:blip r:embed="rId5"/>
          <a:stretch>
            <a:fillRect/>
          </a:stretch>
        </p:blipFill>
        <p:spPr>
          <a:xfrm>
            <a:off x="4617720" y="4201668"/>
            <a:ext cx="329184" cy="329184"/>
          </a:xfrm>
          <a:prstGeom prst="rect">
            <a:avLst/>
          </a:prstGeom>
        </p:spPr>
      </p:pic>
      <p:sp>
        <p:nvSpPr>
          <p:cNvPr id="28" name="Text 21"/>
          <p:cNvSpPr txBox="1"/>
          <p:nvPr/>
        </p:nvSpPr>
        <p:spPr>
          <a:xfrm>
            <a:off x="5257800" y="3858768"/>
            <a:ext cx="233172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Control neurovegetativo</a:t>
            </a:r>
            <a:endParaRPr lang="en-US" sz="1400" dirty="0"/>
          </a:p>
        </p:txBody>
      </p:sp>
      <p:sp>
        <p:nvSpPr>
          <p:cNvPr id="29" name="Text 22"/>
          <p:cNvSpPr txBox="1"/>
          <p:nvPr/>
        </p:nvSpPr>
        <p:spPr>
          <a:xfrm>
            <a:off x="5257800" y="4224528"/>
            <a:ext cx="2331720" cy="640080"/>
          </a:xfrm>
          <a:prstGeom prst="rect">
            <a:avLst/>
          </a:prstGeom>
          <a:noFill/>
          <a:ln/>
        </p:spPr>
        <p:txBody>
          <a:bodyPr wrap="square" lIns="0" tIns="0" rIns="0" bIns="0" rtlCol="0" anchor="ctr"/>
          <a:lstStyle/>
          <a:p>
            <a:pPr indent="0" marL="0">
              <a:lnSpc>
                <a:spcPts val="1300"/>
              </a:lnSpc>
              <a:buNone/>
            </a:pPr>
            <a:r>
              <a:rPr lang="en-US" sz="1100" dirty="0">
                <a:solidFill>
                  <a:srgbClr val="5C7181"/>
                </a:solidFill>
                <a:latin typeface="Calibri" pitchFamily="34" charset="0"/>
                <a:ea typeface="Calibri" pitchFamily="34" charset="-122"/>
                <a:cs typeface="Calibri" pitchFamily="34" charset="-120"/>
              </a:rPr>
              <a:t>Atenuar la respuesta al estrés</a:t>
            </a:r>
            <a:endParaRPr lang="en-US" sz="1100" dirty="0"/>
          </a:p>
        </p:txBody>
      </p:sp>
      <p:sp>
        <p:nvSpPr>
          <p:cNvPr id="30" name="Shape 23"/>
          <p:cNvSpPr/>
          <p:nvPr/>
        </p:nvSpPr>
        <p:spPr>
          <a:xfrm>
            <a:off x="7955280" y="365760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31" name="Shape 24"/>
          <p:cNvSpPr/>
          <p:nvPr/>
        </p:nvSpPr>
        <p:spPr>
          <a:xfrm>
            <a:off x="8156448" y="4037076"/>
            <a:ext cx="658368" cy="658368"/>
          </a:xfrm>
          <a:prstGeom prst="ellipse">
            <a:avLst/>
          </a:prstGeom>
          <a:solidFill>
            <a:srgbClr val="065A82"/>
          </a:solidFill>
          <a:ln/>
        </p:spPr>
      </p:sp>
      <p:pic>
        <p:nvPicPr>
          <p:cNvPr id="32" name="Image 5" descr="/tmp/claude-0/-home-user-gpa-academy1/adc6e4aa-3b77-57c1-ba92-a8d4ee625c84/scratchpad/icons/weightscale_white.png">    </p:cNvPr>
          <p:cNvPicPr>
            <a:picLocks noChangeAspect="1"/>
          </p:cNvPicPr>
          <p:nvPr/>
        </p:nvPicPr>
        <p:blipFill>
          <a:blip r:embed="rId6"/>
          <a:stretch>
            <a:fillRect/>
          </a:stretch>
        </p:blipFill>
        <p:spPr>
          <a:xfrm>
            <a:off x="8321040" y="4201668"/>
            <a:ext cx="329184" cy="329184"/>
          </a:xfrm>
          <a:prstGeom prst="rect">
            <a:avLst/>
          </a:prstGeom>
        </p:spPr>
      </p:pic>
      <p:sp>
        <p:nvSpPr>
          <p:cNvPr id="33" name="Text 25"/>
          <p:cNvSpPr txBox="1"/>
          <p:nvPr/>
        </p:nvSpPr>
        <p:spPr>
          <a:xfrm>
            <a:off x="8961120" y="3858768"/>
            <a:ext cx="2331720"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Homeostasis</a:t>
            </a:r>
            <a:endParaRPr lang="en-US" sz="1400" dirty="0"/>
          </a:p>
        </p:txBody>
      </p:sp>
      <p:sp>
        <p:nvSpPr>
          <p:cNvPr id="34" name="Text 26"/>
          <p:cNvSpPr txBox="1"/>
          <p:nvPr/>
        </p:nvSpPr>
        <p:spPr>
          <a:xfrm>
            <a:off x="8961120" y="4224528"/>
            <a:ext cx="2331720" cy="640080"/>
          </a:xfrm>
          <a:prstGeom prst="rect">
            <a:avLst/>
          </a:prstGeom>
          <a:noFill/>
          <a:ln/>
        </p:spPr>
        <p:txBody>
          <a:bodyPr wrap="square" lIns="0" tIns="0" rIns="0" bIns="0" rtlCol="0" anchor="ctr"/>
          <a:lstStyle/>
          <a:p>
            <a:pPr indent="0" marL="0">
              <a:lnSpc>
                <a:spcPts val="1300"/>
              </a:lnSpc>
              <a:buNone/>
            </a:pPr>
            <a:r>
              <a:rPr lang="en-US" sz="1100" dirty="0">
                <a:solidFill>
                  <a:srgbClr val="5C7181"/>
                </a:solidFill>
                <a:latin typeface="Calibri" pitchFamily="34" charset="0"/>
                <a:ea typeface="Calibri" pitchFamily="34" charset="-122"/>
                <a:cs typeface="Calibri" pitchFamily="34" charset="-120"/>
              </a:rPr>
              <a:t>Preservar el equilibrio fisiológico</a:t>
            </a:r>
            <a:endParaRPr lang="en-US" sz="1100" dirty="0"/>
          </a:p>
        </p:txBody>
      </p:sp>
      <p:sp>
        <p:nvSpPr>
          <p:cNvPr id="36" name="Text 2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37" name="Text 2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08 / 33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PROPÓSITOS CLÍNICOS · 1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Analgesia: abolición del dolor</a:t>
            </a:r>
            <a:endParaRPr lang="en-US" sz="2900" dirty="0"/>
          </a:p>
        </p:txBody>
      </p:sp>
      <p:sp>
        <p:nvSpPr>
          <p:cNvPr id="4" name="Shape 2"/>
          <p:cNvSpPr/>
          <p:nvPr/>
        </p:nvSpPr>
        <p:spPr>
          <a:xfrm>
            <a:off x="548640" y="1600200"/>
            <a:ext cx="914400" cy="914400"/>
          </a:xfrm>
          <a:prstGeom prst="ellipse">
            <a:avLst/>
          </a:prstGeom>
          <a:solidFill>
            <a:srgbClr val="1C7293"/>
          </a:solidFill>
          <a:ln/>
        </p:spPr>
      </p:sp>
      <p:pic>
        <p:nvPicPr>
          <p:cNvPr id="5" name="Image 0" descr="/tmp/claude-0/-home-user-gpa-academy1/adc6e4aa-3b77-57c1-ba92-a8d4ee625c84/scratchpad/icons/syringe_white.png">    </p:cNvPr>
          <p:cNvPicPr>
            <a:picLocks noChangeAspect="1"/>
          </p:cNvPicPr>
          <p:nvPr/>
        </p:nvPicPr>
        <p:blipFill>
          <a:blip r:embed="rId1"/>
          <a:stretch>
            <a:fillRect/>
          </a:stretch>
        </p:blipFill>
        <p:spPr>
          <a:xfrm>
            <a:off x="768096" y="1819656"/>
            <a:ext cx="475488" cy="475488"/>
          </a:xfrm>
          <a:prstGeom prst="rect">
            <a:avLst/>
          </a:prstGeom>
        </p:spPr>
      </p:pic>
      <p:sp>
        <p:nvSpPr>
          <p:cNvPr id="6" name="Text 3"/>
          <p:cNvSpPr txBox="1"/>
          <p:nvPr/>
        </p:nvSpPr>
        <p:spPr>
          <a:xfrm>
            <a:off x="548640" y="2743200"/>
            <a:ext cx="5486400" cy="192024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La analgesia es la abolición o atenuación de la percepción y de la respuesta al estímulo nociceptivo generado por la incisión quirúrgica, la manipulación tisular y la inflamación posoperatoria. Es, junto a la hipnosis, uno de los objetivos más constantes de cualquier técnica anestésica.</a:t>
            </a:r>
            <a:endParaRPr lang="en-US" sz="1400" dirty="0"/>
          </a:p>
        </p:txBody>
      </p:sp>
      <p:sp>
        <p:nvSpPr>
          <p:cNvPr id="7" name="Shape 4"/>
          <p:cNvSpPr/>
          <p:nvPr/>
        </p:nvSpPr>
        <p:spPr>
          <a:xfrm>
            <a:off x="6355080" y="1600200"/>
            <a:ext cx="5257800" cy="4434840"/>
          </a:xfrm>
          <a:prstGeom prst="roundRect">
            <a:avLst>
              <a:gd name="adj" fmla="val 1649"/>
            </a:avLst>
          </a:prstGeom>
          <a:solidFill>
            <a:srgbClr val="EAF3F7"/>
          </a:solidFill>
          <a:ln/>
          <a:effectLst>
            <a:outerShdw sx="100000" sy="100000" kx="0" ky="0" algn="bl" rotWithShape="0" blurRad="101600" dist="25400" dir="5400000">
              <a:srgbClr val="1B2A3A">
                <a:alpha val="12000"/>
              </a:srgbClr>
            </a:outerShdw>
          </a:effectLst>
        </p:spPr>
      </p:sp>
      <p:sp>
        <p:nvSpPr>
          <p:cNvPr id="8" name="Text 5"/>
          <p:cNvSpPr txBox="1"/>
          <p:nvPr/>
        </p:nvSpPr>
        <p:spPr>
          <a:xfrm>
            <a:off x="6629400" y="1810512"/>
            <a:ext cx="475488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Estrategias y mecanismos</a:t>
            </a:r>
            <a:endParaRPr lang="en-US" sz="1550" dirty="0"/>
          </a:p>
        </p:txBody>
      </p:sp>
      <p:sp>
        <p:nvSpPr>
          <p:cNvPr id="9" name="Text 6"/>
          <p:cNvSpPr txBox="1"/>
          <p:nvPr/>
        </p:nvSpPr>
        <p:spPr>
          <a:xfrm>
            <a:off x="6629400" y="2286000"/>
            <a:ext cx="4754880" cy="3566160"/>
          </a:xfrm>
          <a:prstGeom prst="rect">
            <a:avLst/>
          </a:prstGeom>
          <a:noFill/>
          <a:ln/>
        </p:spPr>
        <p:txBody>
          <a:bodyPr wrap="square" lIns="0" tIns="0" rIns="0" bIns="0" rtlCol="0" anchor="t"/>
          <a:lstStyle/>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Opioides: agonistas de receptores mu a nivel central y espinal.</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Anestésicos locales: bloqueo de canales de sodio voltaje-dependientes, aplicados por vía neuroaxial, perineural o local.</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Analgesia multimodal (“opioid-sparing”): AINEs, paracetamol, ketamina a dosis subanestésicas, gabapentinoides y alfa-2 agonistas.</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Se integra en protocolos ERAS (recuperación mejorada tras cirugía) para reducir consumo de opioides y sus efectos adversos.</a:t>
            </a:r>
            <a:endParaRPr lang="en-US" sz="1250" dirty="0"/>
          </a:p>
        </p:txBody>
      </p:sp>
      <p:sp>
        <p:nvSpPr>
          <p:cNvPr id="11" name="Text 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2"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09 / 33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PROPÓSITOS CLÍNICOS · 2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Hipnosis: pérdida de la conciencia</a:t>
            </a:r>
            <a:endParaRPr lang="en-US" sz="2900" dirty="0"/>
          </a:p>
        </p:txBody>
      </p:sp>
      <p:sp>
        <p:nvSpPr>
          <p:cNvPr id="4" name="Shape 2"/>
          <p:cNvSpPr/>
          <p:nvPr/>
        </p:nvSpPr>
        <p:spPr>
          <a:xfrm>
            <a:off x="548640" y="1600200"/>
            <a:ext cx="5257800" cy="4434840"/>
          </a:xfrm>
          <a:prstGeom prst="roundRect">
            <a:avLst>
              <a:gd name="adj" fmla="val 1649"/>
            </a:avLst>
          </a:prstGeom>
          <a:solidFill>
            <a:srgbClr val="EAF3F7"/>
          </a:solidFill>
          <a:ln/>
          <a:effectLst>
            <a:outerShdw sx="100000" sy="100000" kx="0" ky="0" algn="bl" rotWithShape="0" blurRad="101600" dist="25400" dir="5400000">
              <a:srgbClr val="1B2A3A">
                <a:alpha val="12000"/>
              </a:srgbClr>
            </a:outerShdw>
          </a:effectLst>
        </p:spPr>
      </p:sp>
      <p:sp>
        <p:nvSpPr>
          <p:cNvPr id="5" name="Text 3"/>
          <p:cNvSpPr txBox="1"/>
          <p:nvPr/>
        </p:nvSpPr>
        <p:spPr>
          <a:xfrm>
            <a:off x="822960" y="1810512"/>
            <a:ext cx="475488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Mecanismos farmacológicos</a:t>
            </a:r>
            <a:endParaRPr lang="en-US" sz="1550" dirty="0"/>
          </a:p>
        </p:txBody>
      </p:sp>
      <p:sp>
        <p:nvSpPr>
          <p:cNvPr id="6" name="Text 4"/>
          <p:cNvSpPr txBox="1"/>
          <p:nvPr/>
        </p:nvSpPr>
        <p:spPr>
          <a:xfrm>
            <a:off x="822960" y="2286000"/>
            <a:ext cx="4754880" cy="3566160"/>
          </a:xfrm>
          <a:prstGeom prst="rect">
            <a:avLst/>
          </a:prstGeom>
          <a:noFill/>
          <a:ln/>
        </p:spPr>
        <p:txBody>
          <a:bodyPr wrap="square" lIns="0" tIns="0" rIns="0" bIns="0" rtlCol="0" anchor="t"/>
          <a:lstStyle/>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Potenciación del receptor GABA-A: propofol, benzodiacepinas, barbitúricos.</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Antagonismo del receptor NMDA: ketamina (mecanismo disociativo).</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Agentes inhalatorios halogenados: acción sobre múltiples canales iónicos.</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Monitorización con índices EEG procesados (BIS, entropía) para ajustar la profundidad y prevenir el despertar intraoperatorio.</a:t>
            </a:r>
            <a:endParaRPr lang="en-US" sz="1250" dirty="0"/>
          </a:p>
        </p:txBody>
      </p:sp>
      <p:sp>
        <p:nvSpPr>
          <p:cNvPr id="7" name="Shape 5"/>
          <p:cNvSpPr/>
          <p:nvPr/>
        </p:nvSpPr>
        <p:spPr>
          <a:xfrm>
            <a:off x="10698480" y="1600200"/>
            <a:ext cx="914400" cy="914400"/>
          </a:xfrm>
          <a:prstGeom prst="ellipse">
            <a:avLst/>
          </a:prstGeom>
          <a:solidFill>
            <a:srgbClr val="065A82"/>
          </a:solidFill>
          <a:ln/>
        </p:spPr>
      </p:sp>
      <p:pic>
        <p:nvPicPr>
          <p:cNvPr id="8" name="Image 0" descr="/tmp/claude-0/-home-user-gpa-academy1/adc6e4aa-3b77-57c1-ba92-a8d4ee625c84/scratchpad/icons/moon_white.png">    </p:cNvPr>
          <p:cNvPicPr>
            <a:picLocks noChangeAspect="1"/>
          </p:cNvPicPr>
          <p:nvPr/>
        </p:nvPicPr>
        <p:blipFill>
          <a:blip r:embed="rId1"/>
          <a:stretch>
            <a:fillRect/>
          </a:stretch>
        </p:blipFill>
        <p:spPr>
          <a:xfrm>
            <a:off x="10917936" y="1819656"/>
            <a:ext cx="475488" cy="475488"/>
          </a:xfrm>
          <a:prstGeom prst="rect">
            <a:avLst/>
          </a:prstGeom>
        </p:spPr>
      </p:pic>
      <p:sp>
        <p:nvSpPr>
          <p:cNvPr id="9" name="Text 6"/>
          <p:cNvSpPr txBox="1"/>
          <p:nvPr/>
        </p:nvSpPr>
        <p:spPr>
          <a:xfrm>
            <a:off x="6355080" y="2743200"/>
            <a:ext cx="5257800" cy="155448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La hipnosis es la inducción farmacológica de un estado similar al sueño, reversible, en el que se suprime la conciencia y la capacidad de respuesta voluntaria a estímulos externos.</a:t>
            </a:r>
            <a:endParaRPr lang="en-US" sz="1400" dirty="0"/>
          </a:p>
        </p:txBody>
      </p:sp>
      <p:sp>
        <p:nvSpPr>
          <p:cNvPr id="10" name="Text 7"/>
          <p:cNvSpPr txBox="1"/>
          <p:nvPr/>
        </p:nvSpPr>
        <p:spPr>
          <a:xfrm>
            <a:off x="6355080" y="4160520"/>
            <a:ext cx="5257800" cy="137160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Su profundidad debe ajustarse con precisión: insuficiente expone al paciente a despertar intraoperatorio; excesiva puede comprometer la estabilidad hemodinámica.</a:t>
            </a:r>
            <a:endParaRPr lang="en-US" sz="1400" dirty="0"/>
          </a:p>
        </p:txBody>
      </p:sp>
      <p:sp>
        <p:nvSpPr>
          <p:cNvPr id="12" name="Text 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3" name="Text 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10 / 33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PROPÓSITOS CLÍNICOS · 3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Amnesia: prevención del recuerdo explícito</a:t>
            </a:r>
            <a:endParaRPr lang="en-US" sz="2900" dirty="0"/>
          </a:p>
        </p:txBody>
      </p:sp>
      <p:sp>
        <p:nvSpPr>
          <p:cNvPr id="4" name="Shape 2"/>
          <p:cNvSpPr/>
          <p:nvPr/>
        </p:nvSpPr>
        <p:spPr>
          <a:xfrm>
            <a:off x="548640" y="1600200"/>
            <a:ext cx="914400" cy="914400"/>
          </a:xfrm>
          <a:prstGeom prst="ellipse">
            <a:avLst/>
          </a:prstGeom>
          <a:solidFill>
            <a:srgbClr val="1C7293"/>
          </a:solidFill>
          <a:ln/>
        </p:spPr>
      </p:sp>
      <p:pic>
        <p:nvPicPr>
          <p:cNvPr id="5" name="Image 0" descr="/tmp/claude-0/-home-user-gpa-academy1/adc6e4aa-3b77-57c1-ba92-a8d4ee625c84/scratchpad/icons/psychology_white.png">    </p:cNvPr>
          <p:cNvPicPr>
            <a:picLocks noChangeAspect="1"/>
          </p:cNvPicPr>
          <p:nvPr/>
        </p:nvPicPr>
        <p:blipFill>
          <a:blip r:embed="rId1"/>
          <a:stretch>
            <a:fillRect/>
          </a:stretch>
        </p:blipFill>
        <p:spPr>
          <a:xfrm>
            <a:off x="768096" y="1819656"/>
            <a:ext cx="475488" cy="475488"/>
          </a:xfrm>
          <a:prstGeom prst="rect">
            <a:avLst/>
          </a:prstGeom>
        </p:spPr>
      </p:pic>
      <p:sp>
        <p:nvSpPr>
          <p:cNvPr id="6" name="Text 3"/>
          <p:cNvSpPr txBox="1"/>
          <p:nvPr/>
        </p:nvSpPr>
        <p:spPr>
          <a:xfrm>
            <a:off x="548640" y="2743200"/>
            <a:ext cx="5486400" cy="210312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La amnesia es la incapacidad de formar recuerdos explícitos de los eventos ocurridos durante el período perioperatorio. Es un componente farmacológico independiente de la hipnosis: un paciente puede estar inconsciente sin estar completamente amnésico, y viceversa en niveles superficiales de sedación.</a:t>
            </a:r>
            <a:endParaRPr lang="en-US" sz="1400" dirty="0"/>
          </a:p>
        </p:txBody>
      </p:sp>
      <p:sp>
        <p:nvSpPr>
          <p:cNvPr id="7" name="Text 4"/>
          <p:cNvSpPr txBox="1"/>
          <p:nvPr/>
        </p:nvSpPr>
        <p:spPr>
          <a:xfrm>
            <a:off x="548640" y="4709160"/>
            <a:ext cx="5486400" cy="914400"/>
          </a:xfrm>
          <a:prstGeom prst="rect">
            <a:avLst/>
          </a:prstGeom>
          <a:noFill/>
          <a:ln/>
        </p:spPr>
        <p:txBody>
          <a:bodyPr wrap="square" lIns="0" tIns="0" rIns="0" bIns="0" rtlCol="0" anchor="t"/>
          <a:lstStyle/>
          <a:p>
            <a:pPr indent="0" marL="0">
              <a:lnSpc>
                <a:spcPts val="2200"/>
              </a:lnSpc>
              <a:buNone/>
            </a:pPr>
            <a:r>
              <a:rPr lang="en-US" sz="1300" i="1" dirty="0">
                <a:solidFill>
                  <a:srgbClr val="5C7181"/>
                </a:solidFill>
                <a:latin typeface="Calibri" pitchFamily="34" charset="0"/>
                <a:ea typeface="Calibri" pitchFamily="34" charset="-122"/>
                <a:cs typeface="Calibri" pitchFamily="34" charset="-120"/>
              </a:rPr>
              <a:t>Las benzodiacepinas y los agentes inhalatorios potentes tienen efecto amnésico particularmente marcado, incluso a dosis subhipnóticas.</a:t>
            </a:r>
            <a:endParaRPr lang="en-US" sz="1300" dirty="0"/>
          </a:p>
        </p:txBody>
      </p:sp>
      <p:sp>
        <p:nvSpPr>
          <p:cNvPr id="8" name="Shape 5"/>
          <p:cNvSpPr/>
          <p:nvPr/>
        </p:nvSpPr>
        <p:spPr>
          <a:xfrm>
            <a:off x="6355080" y="1737360"/>
            <a:ext cx="5257800" cy="4114800"/>
          </a:xfrm>
          <a:prstGeom prst="roundRect">
            <a:avLst>
              <a:gd name="adj" fmla="val 1778"/>
            </a:avLst>
          </a:prstGeom>
          <a:solidFill>
            <a:srgbClr val="21295C"/>
          </a:solidFill>
          <a:ln/>
          <a:effectLst>
            <a:outerShdw sx="100000" sy="100000" kx="0" ky="0" algn="bl" rotWithShape="0" blurRad="101600" dist="25400" dir="5400000">
              <a:srgbClr val="1B2A3A">
                <a:alpha val="12000"/>
              </a:srgbClr>
            </a:outerShdw>
          </a:effectLst>
        </p:spPr>
      </p:sp>
      <p:sp>
        <p:nvSpPr>
          <p:cNvPr id="9" name="Text 6"/>
          <p:cNvSpPr txBox="1"/>
          <p:nvPr/>
        </p:nvSpPr>
        <p:spPr>
          <a:xfrm>
            <a:off x="6675120" y="1965960"/>
            <a:ext cx="45720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0,1 – 0,2 %</a:t>
            </a:r>
            <a:endParaRPr lang="en-US" sz="4600" dirty="0"/>
          </a:p>
        </p:txBody>
      </p:sp>
      <p:sp>
        <p:nvSpPr>
          <p:cNvPr id="10" name="Text 7"/>
          <p:cNvSpPr txBox="1"/>
          <p:nvPr/>
        </p:nvSpPr>
        <p:spPr>
          <a:xfrm>
            <a:off x="6675120" y="2880360"/>
            <a:ext cx="4663440" cy="822960"/>
          </a:xfrm>
          <a:prstGeom prst="rect">
            <a:avLst/>
          </a:prstGeom>
          <a:noFill/>
          <a:ln/>
        </p:spPr>
        <p:txBody>
          <a:bodyPr wrap="square" lIns="0" tIns="0" rIns="0" bIns="0" rtlCol="0" anchor="ctr"/>
          <a:lstStyle/>
          <a:p>
            <a:pPr indent="0" marL="0">
              <a:lnSpc>
                <a:spcPts val="1700"/>
              </a:lnSpc>
              <a:buNone/>
            </a:pPr>
            <a:r>
              <a:rPr lang="en-US" sz="1300" dirty="0">
                <a:solidFill>
                  <a:srgbClr val="CFE3EC"/>
                </a:solidFill>
                <a:latin typeface="Calibri" pitchFamily="34" charset="0"/>
                <a:ea typeface="Calibri" pitchFamily="34" charset="-122"/>
                <a:cs typeface="Calibri" pitchFamily="34" charset="-120"/>
              </a:rPr>
              <a:t>incidencia estimada de despertar intraoperatorio</a:t>
            </a:r>
            <a:endParaRPr lang="en-US" sz="1300" dirty="0"/>
          </a:p>
          <a:p>
            <a:pPr indent="0" marL="0">
              <a:lnSpc>
                <a:spcPts val="1700"/>
              </a:lnSpc>
              <a:buNone/>
            </a:pPr>
            <a:r>
              <a:rPr lang="en-US" sz="1300" dirty="0">
                <a:solidFill>
                  <a:srgbClr val="CFE3EC"/>
                </a:solidFill>
                <a:latin typeface="Calibri" pitchFamily="34" charset="0"/>
                <a:ea typeface="Calibri" pitchFamily="34" charset="-122"/>
                <a:cs typeface="Calibri" pitchFamily="34" charset="-120"/>
              </a:rPr>
              <a:t>con recuerdo explícito (“awareness”)</a:t>
            </a:r>
            <a:endParaRPr lang="en-US" sz="1300" dirty="0"/>
          </a:p>
        </p:txBody>
      </p:sp>
      <p:sp>
        <p:nvSpPr>
          <p:cNvPr id="11" name="Text 8"/>
          <p:cNvSpPr txBox="1"/>
          <p:nvPr/>
        </p:nvSpPr>
        <p:spPr>
          <a:xfrm>
            <a:off x="6675120" y="3794760"/>
            <a:ext cx="4663440" cy="1920240"/>
          </a:xfrm>
          <a:prstGeom prst="rect">
            <a:avLst/>
          </a:prstGeom>
          <a:noFill/>
          <a:ln/>
        </p:spPr>
        <p:txBody>
          <a:bodyPr wrap="square" lIns="0" tIns="0" rIns="0" bIns="0" rtlCol="0" anchor="t"/>
          <a:lstStyle/>
          <a:p>
            <a:pPr marL="203200" indent="-203200">
              <a:spcAft>
                <a:spcPts val="900"/>
              </a:spcAft>
              <a:buSzPct val="100000"/>
              <a:buChar char="▪"/>
            </a:pPr>
            <a:r>
              <a:rPr lang="en-US" sz="1180" dirty="0">
                <a:solidFill>
                  <a:srgbClr val="DCE7F0"/>
                </a:solidFill>
                <a:latin typeface="Calibri" pitchFamily="34" charset="0"/>
                <a:ea typeface="Calibri" pitchFamily="34" charset="-122"/>
                <a:cs typeface="Calibri" pitchFamily="34" charset="-120"/>
              </a:rPr>
              <a:t>Complicación psicológica grave: puede derivar en estrés postraumático.</a:t>
            </a:r>
            <a:endParaRPr lang="en-US" sz="1180" dirty="0"/>
          </a:p>
          <a:p>
            <a:pPr marL="203200" indent="-203200">
              <a:spcAft>
                <a:spcPts val="900"/>
              </a:spcAft>
              <a:buSzPct val="100000"/>
              <a:buChar char="▪"/>
            </a:pPr>
            <a:r>
              <a:rPr lang="en-US" sz="1180" dirty="0">
                <a:solidFill>
                  <a:srgbClr val="DCE7F0"/>
                </a:solidFill>
                <a:latin typeface="Calibri" pitchFamily="34" charset="0"/>
                <a:ea typeface="Calibri" pitchFamily="34" charset="-122"/>
                <a:cs typeface="Calibri" pitchFamily="34" charset="-120"/>
              </a:rPr>
              <a:t>Mayor riesgo en cirugía cardiaca, obstétrica y de trauma, donde se limita la profundidad anestésica por razones hemodinámicas.</a:t>
            </a:r>
            <a:endParaRPr lang="en-US" sz="1180" dirty="0"/>
          </a:p>
          <a:p>
            <a:pPr marL="203200" indent="-203200">
              <a:spcAft>
                <a:spcPts val="900"/>
              </a:spcAft>
              <a:buSzPct val="100000"/>
              <a:buChar char="▪"/>
            </a:pPr>
            <a:r>
              <a:rPr lang="en-US" sz="1180" dirty="0">
                <a:solidFill>
                  <a:srgbClr val="DCE7F0"/>
                </a:solidFill>
                <a:latin typeface="Calibri" pitchFamily="34" charset="0"/>
                <a:ea typeface="Calibri" pitchFamily="34" charset="-122"/>
                <a:cs typeface="Calibri" pitchFamily="34" charset="-120"/>
              </a:rPr>
              <a:t>El bloqueo neuromuscular, al abolir el movimiento como señal de alarma, incrementa el riesgo si no se monitoriza la profundidad anestésica.</a:t>
            </a:r>
            <a:endParaRPr lang="en-US" sz="1180" dirty="0"/>
          </a:p>
        </p:txBody>
      </p:sp>
      <p:sp>
        <p:nvSpPr>
          <p:cNvPr id="13" name="Text 9"/>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4" name="Text 1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11 / 33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PROPÓSITOS CLÍNICOS · 4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Relajación muscular</a:t>
            </a:r>
            <a:endParaRPr lang="en-US" sz="2900" dirty="0"/>
          </a:p>
        </p:txBody>
      </p:sp>
      <p:sp>
        <p:nvSpPr>
          <p:cNvPr id="4" name="Shape 2"/>
          <p:cNvSpPr/>
          <p:nvPr/>
        </p:nvSpPr>
        <p:spPr>
          <a:xfrm>
            <a:off x="548640" y="1600200"/>
            <a:ext cx="5257800" cy="4434840"/>
          </a:xfrm>
          <a:prstGeom prst="roundRect">
            <a:avLst>
              <a:gd name="adj" fmla="val 1649"/>
            </a:avLst>
          </a:prstGeom>
          <a:solidFill>
            <a:srgbClr val="EAF3F7"/>
          </a:solidFill>
          <a:ln/>
          <a:effectLst>
            <a:outerShdw sx="100000" sy="100000" kx="0" ky="0" algn="bl" rotWithShape="0" blurRad="101600" dist="25400" dir="5400000">
              <a:srgbClr val="1B2A3A">
                <a:alpha val="12000"/>
              </a:srgbClr>
            </a:outerShdw>
          </a:effectLst>
        </p:spPr>
      </p:sp>
      <p:sp>
        <p:nvSpPr>
          <p:cNvPr id="5" name="Text 3"/>
          <p:cNvSpPr txBox="1"/>
          <p:nvPr/>
        </p:nvSpPr>
        <p:spPr>
          <a:xfrm>
            <a:off x="822960" y="1810512"/>
            <a:ext cx="4754880" cy="548640"/>
          </a:xfrm>
          <a:prstGeom prst="rect">
            <a:avLst/>
          </a:prstGeom>
          <a:noFill/>
          <a:ln/>
        </p:spPr>
        <p:txBody>
          <a:bodyPr wrap="square" lIns="0" tIns="0" rIns="0" bIns="0" rtlCol="0" anchor="ctr"/>
          <a:lstStyle/>
          <a:p>
            <a:pPr indent="0" marL="0">
              <a:lnSpc>
                <a:spcPts val="1700"/>
              </a:lnSpc>
              <a:buNone/>
            </a:pPr>
            <a:r>
              <a:rPr lang="en-US" sz="1450" b="1" dirty="0">
                <a:solidFill>
                  <a:srgbClr val="21295C"/>
                </a:solidFill>
                <a:latin typeface="Cambria" pitchFamily="34" charset="0"/>
                <a:ea typeface="Cambria" pitchFamily="34" charset="-122"/>
                <a:cs typeface="Cambria" pitchFamily="34" charset="-120"/>
              </a:rPr>
              <a:t>Clasificación de bloqueadores neuromusculares</a:t>
            </a:r>
            <a:endParaRPr lang="en-US" sz="1450" dirty="0"/>
          </a:p>
        </p:txBody>
      </p:sp>
      <p:sp>
        <p:nvSpPr>
          <p:cNvPr id="6" name="Text 4"/>
          <p:cNvSpPr txBox="1"/>
          <p:nvPr/>
        </p:nvSpPr>
        <p:spPr>
          <a:xfrm>
            <a:off x="822960" y="2514600"/>
            <a:ext cx="4754880" cy="1828800"/>
          </a:xfrm>
          <a:prstGeom prst="rect">
            <a:avLst/>
          </a:prstGeom>
          <a:noFill/>
          <a:ln/>
        </p:spPr>
        <p:txBody>
          <a:bodyPr wrap="square" lIns="0" tIns="0" rIns="0" bIns="0" rtlCol="0" anchor="t"/>
          <a:lstStyle/>
          <a:p>
            <a:pPr marL="203200" indent="-203200">
              <a:spcAft>
                <a:spcPts val="1200"/>
              </a:spcAft>
              <a:buSzPct val="100000"/>
              <a:buChar char="▪"/>
            </a:pPr>
            <a:r>
              <a:rPr lang="en-US" sz="1280" dirty="0">
                <a:solidFill>
                  <a:srgbClr val="2B3648"/>
                </a:solidFill>
                <a:latin typeface="Calibri" pitchFamily="34" charset="0"/>
                <a:ea typeface="Calibri" pitchFamily="34" charset="-122"/>
                <a:cs typeface="Calibri" pitchFamily="34" charset="-120"/>
              </a:rPr>
              <a:t>Despolarizantes: succinilcolina — inicio ultrarrápido, uso en intubación de secuencia rápida.</a:t>
            </a:r>
            <a:endParaRPr lang="en-US" sz="1280" dirty="0"/>
          </a:p>
          <a:p>
            <a:pPr marL="203200" indent="-203200">
              <a:spcAft>
                <a:spcPts val="1200"/>
              </a:spcAft>
              <a:buSzPct val="100000"/>
              <a:buChar char="▪"/>
            </a:pPr>
            <a:r>
              <a:rPr lang="en-US" sz="1280" dirty="0">
                <a:solidFill>
                  <a:srgbClr val="2B3648"/>
                </a:solidFill>
                <a:latin typeface="Calibri" pitchFamily="34" charset="0"/>
                <a:ea typeface="Calibri" pitchFamily="34" charset="-122"/>
                <a:cs typeface="Calibri" pitchFamily="34" charset="-120"/>
              </a:rPr>
              <a:t>No despolarizantes: rocuronio, vecuronio, cisatracurio — de acción intermedia a prolongada, antagonismo competitivo en la placa motora.</a:t>
            </a:r>
            <a:endParaRPr lang="en-US" sz="1280" dirty="0"/>
          </a:p>
        </p:txBody>
      </p:sp>
      <p:sp>
        <p:nvSpPr>
          <p:cNvPr id="7" name="Text 5"/>
          <p:cNvSpPr txBox="1"/>
          <p:nvPr/>
        </p:nvSpPr>
        <p:spPr>
          <a:xfrm>
            <a:off x="822960" y="4709160"/>
            <a:ext cx="4754880" cy="1097280"/>
          </a:xfrm>
          <a:prstGeom prst="rect">
            <a:avLst/>
          </a:prstGeom>
          <a:noFill/>
          <a:ln/>
        </p:spPr>
        <p:txBody>
          <a:bodyPr wrap="square" lIns="0" tIns="0" rIns="0" bIns="0" rtlCol="0" anchor="ctr"/>
          <a:lstStyle/>
          <a:p>
            <a:pPr indent="0" marL="0">
              <a:lnSpc>
                <a:spcPts val="1500"/>
              </a:lnSpc>
              <a:buNone/>
            </a:pPr>
            <a:r>
              <a:rPr lang="en-US" sz="1200" i="1" dirty="0">
                <a:solidFill>
                  <a:srgbClr val="5C7181"/>
                </a:solidFill>
                <a:latin typeface="Calibri" pitchFamily="34" charset="0"/>
                <a:ea typeface="Calibri" pitchFamily="34" charset="-122"/>
                <a:cs typeface="Calibri" pitchFamily="34" charset="-120"/>
              </a:rPr>
              <a:t>Requieren monitorización objetiva (tren de cuatro / TOF) y reversión farmacológica (neostigmina o sugammadex) para evitar el bloqueo residual.</a:t>
            </a:r>
            <a:endParaRPr lang="en-US" sz="1200" dirty="0"/>
          </a:p>
        </p:txBody>
      </p:sp>
      <p:sp>
        <p:nvSpPr>
          <p:cNvPr id="8" name="Shape 6"/>
          <p:cNvSpPr/>
          <p:nvPr/>
        </p:nvSpPr>
        <p:spPr>
          <a:xfrm>
            <a:off x="10698480" y="1600200"/>
            <a:ext cx="914400" cy="914400"/>
          </a:xfrm>
          <a:prstGeom prst="ellipse">
            <a:avLst/>
          </a:prstGeom>
          <a:solidFill>
            <a:srgbClr val="065A82"/>
          </a:solidFill>
          <a:ln/>
        </p:spPr>
      </p:sp>
      <p:pic>
        <p:nvPicPr>
          <p:cNvPr id="9" name="Image 0" descr="/tmp/claude-0/-home-user-gpa-academy1/adc6e4aa-3b77-57c1-ba92-a8d4ee625c84/scratchpad/icons/muscle_white.png">    </p:cNvPr>
          <p:cNvPicPr>
            <a:picLocks noChangeAspect="1"/>
          </p:cNvPicPr>
          <p:nvPr/>
        </p:nvPicPr>
        <p:blipFill>
          <a:blip r:embed="rId1"/>
          <a:stretch>
            <a:fillRect/>
          </a:stretch>
        </p:blipFill>
        <p:spPr>
          <a:xfrm>
            <a:off x="10917936" y="1819656"/>
            <a:ext cx="475488" cy="475488"/>
          </a:xfrm>
          <a:prstGeom prst="rect">
            <a:avLst/>
          </a:prstGeom>
        </p:spPr>
      </p:pic>
      <p:sp>
        <p:nvSpPr>
          <p:cNvPr id="10" name="Text 7"/>
          <p:cNvSpPr txBox="1"/>
          <p:nvPr/>
        </p:nvSpPr>
        <p:spPr>
          <a:xfrm>
            <a:off x="6355080" y="2743200"/>
            <a:ext cx="5257800" cy="265176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El bloqueo reversible de la transmisión neuromuscular en la placa motora facilita la intubación traqueal, optimiza las condiciones quirúrgicas —relajación de la pared abdominal, cirugía laparoscópica, microcirugía— y reduce los movimientos reflejos del paciente.</a:t>
            </a:r>
            <a:endParaRPr lang="en-US" sz="1400" dirty="0"/>
          </a:p>
        </p:txBody>
      </p:sp>
      <p:sp>
        <p:nvSpPr>
          <p:cNvPr id="12" name="Text 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3" name="Text 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12 / 33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PROPÓSITOS CLÍNICOS · 5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Control de la respuesta neurovegetativa al estrés quirúrgico</a:t>
            </a:r>
            <a:endParaRPr lang="en-US" sz="2900" dirty="0"/>
          </a:p>
        </p:txBody>
      </p:sp>
      <p:sp>
        <p:nvSpPr>
          <p:cNvPr id="4" name="Shape 2"/>
          <p:cNvSpPr/>
          <p:nvPr/>
        </p:nvSpPr>
        <p:spPr>
          <a:xfrm>
            <a:off x="548640" y="1600200"/>
            <a:ext cx="914400" cy="914400"/>
          </a:xfrm>
          <a:prstGeom prst="ellipse">
            <a:avLst/>
          </a:prstGeom>
          <a:solidFill>
            <a:srgbClr val="1C7293"/>
          </a:solidFill>
          <a:ln/>
        </p:spPr>
      </p:sp>
      <p:pic>
        <p:nvPicPr>
          <p:cNvPr id="5" name="Image 0" descr="/tmp/claude-0/-home-user-gpa-academy1/adc6e4aa-3b77-57c1-ba92-a8d4ee625c84/scratchpad/icons/heartbeat_white.png">    </p:cNvPr>
          <p:cNvPicPr>
            <a:picLocks noChangeAspect="1"/>
          </p:cNvPicPr>
          <p:nvPr/>
        </p:nvPicPr>
        <p:blipFill>
          <a:blip r:embed="rId1"/>
          <a:stretch>
            <a:fillRect/>
          </a:stretch>
        </p:blipFill>
        <p:spPr>
          <a:xfrm>
            <a:off x="768096" y="1819656"/>
            <a:ext cx="475488" cy="475488"/>
          </a:xfrm>
          <a:prstGeom prst="rect">
            <a:avLst/>
          </a:prstGeom>
        </p:spPr>
      </p:pic>
      <p:sp>
        <p:nvSpPr>
          <p:cNvPr id="6" name="Text 3"/>
          <p:cNvSpPr txBox="1"/>
          <p:nvPr/>
        </p:nvSpPr>
        <p:spPr>
          <a:xfrm>
            <a:off x="548640" y="2743200"/>
            <a:ext cx="5486400" cy="219456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El trauma quirúrgico desencadena una respuesta neuroendocrina de estrés: liberación de catecolaminas y cortisol, y activación simpática. Sin control adecuado, esto se traduce en taquicardia, hipertensión, hiperglucemia e hipercoagulabilidad, con impacto directo en el desenlace cardiovascular perioperatorio.</a:t>
            </a:r>
            <a:endParaRPr lang="en-US" sz="1400" dirty="0"/>
          </a:p>
        </p:txBody>
      </p:sp>
      <p:sp>
        <p:nvSpPr>
          <p:cNvPr id="7" name="Shape 4"/>
          <p:cNvSpPr/>
          <p:nvPr/>
        </p:nvSpPr>
        <p:spPr>
          <a:xfrm>
            <a:off x="6355080" y="1737360"/>
            <a:ext cx="5257800" cy="4114800"/>
          </a:xfrm>
          <a:prstGeom prst="roundRect">
            <a:avLst>
              <a:gd name="adj" fmla="val 1778"/>
            </a:avLst>
          </a:prstGeom>
          <a:solidFill>
            <a:srgbClr val="EAF3F7"/>
          </a:solidFill>
          <a:ln/>
          <a:effectLst>
            <a:outerShdw sx="100000" sy="100000" kx="0" ky="0" algn="bl" rotWithShape="0" blurRad="101600" dist="25400" dir="5400000">
              <a:srgbClr val="1B2A3A">
                <a:alpha val="12000"/>
              </a:srgbClr>
            </a:outerShdw>
          </a:effectLst>
        </p:spPr>
      </p:sp>
      <p:sp>
        <p:nvSpPr>
          <p:cNvPr id="8" name="Text 5"/>
          <p:cNvSpPr txBox="1"/>
          <p:nvPr/>
        </p:nvSpPr>
        <p:spPr>
          <a:xfrm>
            <a:off x="6629400" y="1938528"/>
            <a:ext cx="4754880" cy="36576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Herramientas para atenuar la respuesta</a:t>
            </a:r>
            <a:endParaRPr lang="en-US" sz="1500" dirty="0"/>
          </a:p>
        </p:txBody>
      </p:sp>
      <p:sp>
        <p:nvSpPr>
          <p:cNvPr id="9" name="Text 6"/>
          <p:cNvSpPr txBox="1"/>
          <p:nvPr/>
        </p:nvSpPr>
        <p:spPr>
          <a:xfrm>
            <a:off x="6629400" y="2423160"/>
            <a:ext cx="4754880" cy="3291840"/>
          </a:xfrm>
          <a:prstGeom prst="rect">
            <a:avLst/>
          </a:prstGeom>
          <a:noFill/>
          <a:ln/>
        </p:spPr>
        <p:txBody>
          <a:bodyPr wrap="square" lIns="0" tIns="0" rIns="0" bIns="0" rtlCol="0" anchor="t"/>
          <a:lstStyle/>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Profundidad anestésica adecuada y sostenida durante los tiempos de mayor estímulo quirúrgico.</a:t>
            </a:r>
            <a:endParaRPr lang="en-US" sz="1230" dirty="0"/>
          </a:p>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Opioides sistémicos y agonistas alfa-2 (dexmedetomidina, clonidina).</a:t>
            </a:r>
            <a:endParaRPr lang="en-US" sz="1230" dirty="0"/>
          </a:p>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Beta-bloqueo perioperatorio seleccionado.</a:t>
            </a:r>
            <a:endParaRPr lang="en-US" sz="1230" dirty="0"/>
          </a:p>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Técnicas regionales que bloquean las aferencias nociceptivas antes de que alcancen el asta dorsal medular (analgesia preventiva).</a:t>
            </a:r>
            <a:endParaRPr lang="en-US" sz="1230" dirty="0"/>
          </a:p>
        </p:txBody>
      </p:sp>
      <p:sp>
        <p:nvSpPr>
          <p:cNvPr id="11" name="Text 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2"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13 / 33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PROPÓSITOS CLÍNICOS · 6 DE 6</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Mantenimiento de la homeostasis del paciente</a:t>
            </a:r>
            <a:endParaRPr lang="en-US" sz="2900" dirty="0"/>
          </a:p>
        </p:txBody>
      </p:sp>
      <p:sp>
        <p:nvSpPr>
          <p:cNvPr id="4" name="Text 2"/>
          <p:cNvSpPr txBox="1"/>
          <p:nvPr/>
        </p:nvSpPr>
        <p:spPr>
          <a:xfrm>
            <a:off x="548640" y="1463040"/>
            <a:ext cx="10972800" cy="960120"/>
          </a:xfrm>
          <a:prstGeom prst="rect">
            <a:avLst/>
          </a:prstGeom>
          <a:noFill/>
          <a:ln/>
        </p:spPr>
        <p:txBody>
          <a:bodyPr wrap="square" lIns="0" tIns="0" rIns="0" bIns="0" rtlCol="0" anchor="t"/>
          <a:lstStyle/>
          <a:p>
            <a:pPr indent="0" marL="0">
              <a:lnSpc>
                <a:spcPts val="1900"/>
              </a:lnSpc>
              <a:buNone/>
            </a:pPr>
            <a:r>
              <a:rPr lang="en-US" sz="1400" dirty="0">
                <a:solidFill>
                  <a:srgbClr val="2B3648"/>
                </a:solidFill>
                <a:latin typeface="Calibri" pitchFamily="34" charset="0"/>
                <a:ea typeface="Calibri" pitchFamily="34" charset="-122"/>
                <a:cs typeface="Calibri" pitchFamily="34" charset="-120"/>
              </a:rPr>
              <a:t>El anestesiólogo actúa como “guardián fisiológico”: compensa activamente la depresión cardiorrespiratoria inducida por los propios fármacos anestésicos y por el estrés quirúrgico, manteniendo los parámetros vitales dentro de rangos seguros durante todo el perioperatorio.</a:t>
            </a:r>
            <a:endParaRPr lang="en-US" sz="1400" dirty="0"/>
          </a:p>
        </p:txBody>
      </p:sp>
      <p:sp>
        <p:nvSpPr>
          <p:cNvPr id="5" name="Shape 3"/>
          <p:cNvSpPr/>
          <p:nvPr/>
        </p:nvSpPr>
        <p:spPr>
          <a:xfrm>
            <a:off x="548640" y="260604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6" name="Shape 4"/>
          <p:cNvSpPr/>
          <p:nvPr/>
        </p:nvSpPr>
        <p:spPr>
          <a:xfrm>
            <a:off x="749808" y="3003804"/>
            <a:ext cx="621792" cy="621792"/>
          </a:xfrm>
          <a:prstGeom prst="ellipse">
            <a:avLst/>
          </a:prstGeom>
          <a:solidFill>
            <a:srgbClr val="065A82"/>
          </a:solidFill>
          <a:ln/>
        </p:spPr>
      </p:sp>
      <p:pic>
        <p:nvPicPr>
          <p:cNvPr id="7" name="Image 0" descr="/tmp/claude-0/-home-user-gpa-academy1/adc6e4aa-3b77-57c1-ba92-a8d4ee625c84/scratchpad/icons/monitorheart_white.png">    </p:cNvPr>
          <p:cNvPicPr>
            <a:picLocks noChangeAspect="1"/>
          </p:cNvPicPr>
          <p:nvPr/>
        </p:nvPicPr>
        <p:blipFill>
          <a:blip r:embed="rId1"/>
          <a:stretch>
            <a:fillRect/>
          </a:stretch>
        </p:blipFill>
        <p:spPr>
          <a:xfrm>
            <a:off x="905256" y="3159252"/>
            <a:ext cx="310896" cy="310896"/>
          </a:xfrm>
          <a:prstGeom prst="rect">
            <a:avLst/>
          </a:prstGeom>
        </p:spPr>
      </p:pic>
      <p:sp>
        <p:nvSpPr>
          <p:cNvPr id="8" name="Text 5"/>
          <p:cNvSpPr txBox="1"/>
          <p:nvPr/>
        </p:nvSpPr>
        <p:spPr>
          <a:xfrm>
            <a:off x="1481328" y="2788920"/>
            <a:ext cx="2423160" cy="502920"/>
          </a:xfrm>
          <a:prstGeom prst="rect">
            <a:avLst/>
          </a:prstGeom>
          <a:noFill/>
          <a:ln/>
        </p:spPr>
        <p:txBody>
          <a:bodyPr wrap="square" lIns="0" tIns="0" rIns="0" bIns="0" rtlCol="0" anchor="ctr"/>
          <a:lstStyle/>
          <a:p>
            <a:pPr indent="0" marL="0">
              <a:lnSpc>
                <a:spcPts val="1400"/>
              </a:lnSpc>
              <a:buNone/>
            </a:pPr>
            <a:r>
              <a:rPr lang="en-US" sz="1250" b="1" dirty="0">
                <a:solidFill>
                  <a:srgbClr val="21295C"/>
                </a:solidFill>
                <a:latin typeface="Cambria" pitchFamily="34" charset="0"/>
                <a:ea typeface="Cambria" pitchFamily="34" charset="-122"/>
                <a:cs typeface="Cambria" pitchFamily="34" charset="-120"/>
              </a:rPr>
              <a:t>Normotermia</a:t>
            </a:r>
            <a:endParaRPr lang="en-US" sz="1250" dirty="0"/>
          </a:p>
        </p:txBody>
      </p:sp>
      <p:sp>
        <p:nvSpPr>
          <p:cNvPr id="9" name="Text 6"/>
          <p:cNvSpPr txBox="1"/>
          <p:nvPr/>
        </p:nvSpPr>
        <p:spPr>
          <a:xfrm>
            <a:off x="1481328" y="3264408"/>
            <a:ext cx="2423160" cy="548640"/>
          </a:xfrm>
          <a:prstGeom prst="rect">
            <a:avLst/>
          </a:prstGeom>
          <a:noFill/>
          <a:ln/>
        </p:spPr>
        <p:txBody>
          <a:bodyPr wrap="square" lIns="0" tIns="0" rIns="0" bIns="0" rtlCol="0" anchor="ctr"/>
          <a:lstStyle/>
          <a:p>
            <a:pPr indent="0" marL="0">
              <a:lnSpc>
                <a:spcPts val="1200"/>
              </a:lnSpc>
              <a:buNone/>
            </a:pPr>
            <a:r>
              <a:rPr lang="en-US" sz="1050" dirty="0">
                <a:solidFill>
                  <a:srgbClr val="5C7181"/>
                </a:solidFill>
                <a:latin typeface="Calibri" pitchFamily="34" charset="0"/>
                <a:ea typeface="Calibri" pitchFamily="34" charset="-122"/>
                <a:cs typeface="Calibri" pitchFamily="34" charset="-120"/>
              </a:rPr>
              <a:t>Prevenir hipotermia perioperatoria</a:t>
            </a:r>
            <a:endParaRPr lang="en-US" sz="1050" dirty="0"/>
          </a:p>
        </p:txBody>
      </p:sp>
      <p:sp>
        <p:nvSpPr>
          <p:cNvPr id="10" name="Shape 7"/>
          <p:cNvSpPr/>
          <p:nvPr/>
        </p:nvSpPr>
        <p:spPr>
          <a:xfrm>
            <a:off x="4251960" y="260604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11" name="Shape 8"/>
          <p:cNvSpPr/>
          <p:nvPr/>
        </p:nvSpPr>
        <p:spPr>
          <a:xfrm>
            <a:off x="4453128" y="3003804"/>
            <a:ext cx="621792" cy="621792"/>
          </a:xfrm>
          <a:prstGeom prst="ellipse">
            <a:avLst/>
          </a:prstGeom>
          <a:solidFill>
            <a:srgbClr val="065A82"/>
          </a:solidFill>
          <a:ln/>
        </p:spPr>
      </p:sp>
      <p:pic>
        <p:nvPicPr>
          <p:cNvPr id="12" name="Image 1" descr="/tmp/claude-0/-home-user-gpa-academy1/adc6e4aa-3b77-57c1-ba92-a8d4ee625c84/scratchpad/icons/waterdrop_white.png">    </p:cNvPr>
          <p:cNvPicPr>
            <a:picLocks noChangeAspect="1"/>
          </p:cNvPicPr>
          <p:nvPr/>
        </p:nvPicPr>
        <p:blipFill>
          <a:blip r:embed="rId2"/>
          <a:stretch>
            <a:fillRect/>
          </a:stretch>
        </p:blipFill>
        <p:spPr>
          <a:xfrm>
            <a:off x="4608576" y="3159252"/>
            <a:ext cx="310896" cy="310896"/>
          </a:xfrm>
          <a:prstGeom prst="rect">
            <a:avLst/>
          </a:prstGeom>
        </p:spPr>
      </p:pic>
      <p:sp>
        <p:nvSpPr>
          <p:cNvPr id="13" name="Text 9"/>
          <p:cNvSpPr txBox="1"/>
          <p:nvPr/>
        </p:nvSpPr>
        <p:spPr>
          <a:xfrm>
            <a:off x="5184648" y="2788920"/>
            <a:ext cx="2423160" cy="502920"/>
          </a:xfrm>
          <a:prstGeom prst="rect">
            <a:avLst/>
          </a:prstGeom>
          <a:noFill/>
          <a:ln/>
        </p:spPr>
        <p:txBody>
          <a:bodyPr wrap="square" lIns="0" tIns="0" rIns="0" bIns="0" rtlCol="0" anchor="ctr"/>
          <a:lstStyle/>
          <a:p>
            <a:pPr indent="0" marL="0">
              <a:lnSpc>
                <a:spcPts val="1400"/>
              </a:lnSpc>
              <a:buNone/>
            </a:pPr>
            <a:r>
              <a:rPr lang="en-US" sz="1250" b="1" dirty="0">
                <a:solidFill>
                  <a:srgbClr val="21295C"/>
                </a:solidFill>
                <a:latin typeface="Cambria" pitchFamily="34" charset="0"/>
                <a:ea typeface="Cambria" pitchFamily="34" charset="-122"/>
                <a:cs typeface="Cambria" pitchFamily="34" charset="-120"/>
              </a:rPr>
              <a:t>Normovolemia</a:t>
            </a:r>
            <a:endParaRPr lang="en-US" sz="1250" dirty="0"/>
          </a:p>
        </p:txBody>
      </p:sp>
      <p:sp>
        <p:nvSpPr>
          <p:cNvPr id="14" name="Text 10"/>
          <p:cNvSpPr txBox="1"/>
          <p:nvPr/>
        </p:nvSpPr>
        <p:spPr>
          <a:xfrm>
            <a:off x="5184648" y="3264408"/>
            <a:ext cx="2423160" cy="548640"/>
          </a:xfrm>
          <a:prstGeom prst="rect">
            <a:avLst/>
          </a:prstGeom>
          <a:noFill/>
          <a:ln/>
        </p:spPr>
        <p:txBody>
          <a:bodyPr wrap="square" lIns="0" tIns="0" rIns="0" bIns="0" rtlCol="0" anchor="ctr"/>
          <a:lstStyle/>
          <a:p>
            <a:pPr indent="0" marL="0">
              <a:lnSpc>
                <a:spcPts val="1200"/>
              </a:lnSpc>
              <a:buNone/>
            </a:pPr>
            <a:r>
              <a:rPr lang="en-US" sz="1050" dirty="0">
                <a:solidFill>
                  <a:srgbClr val="5C7181"/>
                </a:solidFill>
                <a:latin typeface="Calibri" pitchFamily="34" charset="0"/>
                <a:ea typeface="Calibri" pitchFamily="34" charset="-122"/>
                <a:cs typeface="Calibri" pitchFamily="34" charset="-120"/>
              </a:rPr>
              <a:t>Balance hídrico ajustado a pérdidas</a:t>
            </a:r>
            <a:endParaRPr lang="en-US" sz="1050" dirty="0"/>
          </a:p>
        </p:txBody>
      </p:sp>
      <p:sp>
        <p:nvSpPr>
          <p:cNvPr id="15" name="Shape 11"/>
          <p:cNvSpPr/>
          <p:nvPr/>
        </p:nvSpPr>
        <p:spPr>
          <a:xfrm>
            <a:off x="7955280" y="260604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16" name="Shape 12"/>
          <p:cNvSpPr/>
          <p:nvPr/>
        </p:nvSpPr>
        <p:spPr>
          <a:xfrm>
            <a:off x="8156448" y="3003804"/>
            <a:ext cx="621792" cy="621792"/>
          </a:xfrm>
          <a:prstGeom prst="ellipse">
            <a:avLst/>
          </a:prstGeom>
          <a:solidFill>
            <a:srgbClr val="065A82"/>
          </a:solidFill>
          <a:ln/>
        </p:spPr>
      </p:sp>
      <p:pic>
        <p:nvPicPr>
          <p:cNvPr id="17" name="Image 2" descr="/tmp/claude-0/-home-user-gpa-academy1/adc6e4aa-3b77-57c1-ba92-a8d4ee625c84/scratchpad/icons/balance_white.png">    </p:cNvPr>
          <p:cNvPicPr>
            <a:picLocks noChangeAspect="1"/>
          </p:cNvPicPr>
          <p:nvPr/>
        </p:nvPicPr>
        <p:blipFill>
          <a:blip r:embed="rId3"/>
          <a:stretch>
            <a:fillRect/>
          </a:stretch>
        </p:blipFill>
        <p:spPr>
          <a:xfrm>
            <a:off x="8311896" y="3159252"/>
            <a:ext cx="310896" cy="310896"/>
          </a:xfrm>
          <a:prstGeom prst="rect">
            <a:avLst/>
          </a:prstGeom>
        </p:spPr>
      </p:pic>
      <p:sp>
        <p:nvSpPr>
          <p:cNvPr id="18" name="Text 13"/>
          <p:cNvSpPr txBox="1"/>
          <p:nvPr/>
        </p:nvSpPr>
        <p:spPr>
          <a:xfrm>
            <a:off x="8887968" y="2788920"/>
            <a:ext cx="2423160" cy="502920"/>
          </a:xfrm>
          <a:prstGeom prst="rect">
            <a:avLst/>
          </a:prstGeom>
          <a:noFill/>
          <a:ln/>
        </p:spPr>
        <p:txBody>
          <a:bodyPr wrap="square" lIns="0" tIns="0" rIns="0" bIns="0" rtlCol="0" anchor="ctr"/>
          <a:lstStyle/>
          <a:p>
            <a:pPr indent="0" marL="0">
              <a:lnSpc>
                <a:spcPts val="1400"/>
              </a:lnSpc>
              <a:buNone/>
            </a:pPr>
            <a:r>
              <a:rPr lang="en-US" sz="1250" b="1" dirty="0">
                <a:solidFill>
                  <a:srgbClr val="21295C"/>
                </a:solidFill>
                <a:latin typeface="Cambria" pitchFamily="34" charset="0"/>
                <a:ea typeface="Cambria" pitchFamily="34" charset="-122"/>
                <a:cs typeface="Cambria" pitchFamily="34" charset="-120"/>
              </a:rPr>
              <a:t>Equilibrio ácido-base</a:t>
            </a:r>
            <a:endParaRPr lang="en-US" sz="1250" dirty="0"/>
          </a:p>
        </p:txBody>
      </p:sp>
      <p:sp>
        <p:nvSpPr>
          <p:cNvPr id="19" name="Text 14"/>
          <p:cNvSpPr txBox="1"/>
          <p:nvPr/>
        </p:nvSpPr>
        <p:spPr>
          <a:xfrm>
            <a:off x="8887968" y="3264408"/>
            <a:ext cx="2423160" cy="548640"/>
          </a:xfrm>
          <a:prstGeom prst="rect">
            <a:avLst/>
          </a:prstGeom>
          <a:noFill/>
          <a:ln/>
        </p:spPr>
        <p:txBody>
          <a:bodyPr wrap="square" lIns="0" tIns="0" rIns="0" bIns="0" rtlCol="0" anchor="ctr"/>
          <a:lstStyle/>
          <a:p>
            <a:pPr indent="0" marL="0">
              <a:lnSpc>
                <a:spcPts val="1200"/>
              </a:lnSpc>
              <a:buNone/>
            </a:pPr>
            <a:r>
              <a:rPr lang="en-US" sz="1050" dirty="0">
                <a:solidFill>
                  <a:srgbClr val="5C7181"/>
                </a:solidFill>
                <a:latin typeface="Calibri" pitchFamily="34" charset="0"/>
                <a:ea typeface="Calibri" pitchFamily="34" charset="-122"/>
                <a:cs typeface="Calibri" pitchFamily="34" charset="-120"/>
              </a:rPr>
              <a:t>Ventilación y perfusión adecuadas</a:t>
            </a:r>
            <a:endParaRPr lang="en-US" sz="1050" dirty="0"/>
          </a:p>
        </p:txBody>
      </p:sp>
      <p:sp>
        <p:nvSpPr>
          <p:cNvPr id="20" name="Shape 15"/>
          <p:cNvSpPr/>
          <p:nvPr/>
        </p:nvSpPr>
        <p:spPr>
          <a:xfrm>
            <a:off x="548640" y="420624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21" name="Shape 16"/>
          <p:cNvSpPr/>
          <p:nvPr/>
        </p:nvSpPr>
        <p:spPr>
          <a:xfrm>
            <a:off x="749808" y="4604004"/>
            <a:ext cx="621792" cy="621792"/>
          </a:xfrm>
          <a:prstGeom prst="ellipse">
            <a:avLst/>
          </a:prstGeom>
          <a:solidFill>
            <a:srgbClr val="065A82"/>
          </a:solidFill>
          <a:ln/>
        </p:spPr>
      </p:sp>
      <p:pic>
        <p:nvPicPr>
          <p:cNvPr id="22" name="Image 3" descr="/tmp/claude-0/-home-user-gpa-academy1/adc6e4aa-3b77-57c1-ba92-a8d4ee625c84/scratchpad/icons/lungs_white.png">    </p:cNvPr>
          <p:cNvPicPr>
            <a:picLocks noChangeAspect="1"/>
          </p:cNvPicPr>
          <p:nvPr/>
        </p:nvPicPr>
        <p:blipFill>
          <a:blip r:embed="rId4"/>
          <a:stretch>
            <a:fillRect/>
          </a:stretch>
        </p:blipFill>
        <p:spPr>
          <a:xfrm>
            <a:off x="905256" y="4759452"/>
            <a:ext cx="310896" cy="310896"/>
          </a:xfrm>
          <a:prstGeom prst="rect">
            <a:avLst/>
          </a:prstGeom>
        </p:spPr>
      </p:pic>
      <p:sp>
        <p:nvSpPr>
          <p:cNvPr id="23" name="Text 17"/>
          <p:cNvSpPr txBox="1"/>
          <p:nvPr/>
        </p:nvSpPr>
        <p:spPr>
          <a:xfrm>
            <a:off x="1481328" y="4389120"/>
            <a:ext cx="2423160" cy="502920"/>
          </a:xfrm>
          <a:prstGeom prst="rect">
            <a:avLst/>
          </a:prstGeom>
          <a:noFill/>
          <a:ln/>
        </p:spPr>
        <p:txBody>
          <a:bodyPr wrap="square" lIns="0" tIns="0" rIns="0" bIns="0" rtlCol="0" anchor="ctr"/>
          <a:lstStyle/>
          <a:p>
            <a:pPr indent="0" marL="0">
              <a:lnSpc>
                <a:spcPts val="1400"/>
              </a:lnSpc>
              <a:buNone/>
            </a:pPr>
            <a:r>
              <a:rPr lang="en-US" sz="1250" b="1" dirty="0">
                <a:solidFill>
                  <a:srgbClr val="21295C"/>
                </a:solidFill>
                <a:latin typeface="Cambria" pitchFamily="34" charset="0"/>
                <a:ea typeface="Cambria" pitchFamily="34" charset="-122"/>
                <a:cs typeface="Cambria" pitchFamily="34" charset="-120"/>
              </a:rPr>
              <a:t>Oxigenación / ventilación</a:t>
            </a:r>
            <a:endParaRPr lang="en-US" sz="1250" dirty="0"/>
          </a:p>
        </p:txBody>
      </p:sp>
      <p:sp>
        <p:nvSpPr>
          <p:cNvPr id="24" name="Text 18"/>
          <p:cNvSpPr txBox="1"/>
          <p:nvPr/>
        </p:nvSpPr>
        <p:spPr>
          <a:xfrm>
            <a:off x="1481328" y="4864608"/>
            <a:ext cx="2423160" cy="548640"/>
          </a:xfrm>
          <a:prstGeom prst="rect">
            <a:avLst/>
          </a:prstGeom>
          <a:noFill/>
          <a:ln/>
        </p:spPr>
        <p:txBody>
          <a:bodyPr wrap="square" lIns="0" tIns="0" rIns="0" bIns="0" rtlCol="0" anchor="ctr"/>
          <a:lstStyle/>
          <a:p>
            <a:pPr indent="0" marL="0">
              <a:lnSpc>
                <a:spcPts val="1200"/>
              </a:lnSpc>
              <a:buNone/>
            </a:pPr>
            <a:r>
              <a:rPr lang="en-US" sz="1050" dirty="0">
                <a:solidFill>
                  <a:srgbClr val="5C7181"/>
                </a:solidFill>
                <a:latin typeface="Calibri" pitchFamily="34" charset="0"/>
                <a:ea typeface="Calibri" pitchFamily="34" charset="-122"/>
                <a:cs typeface="Calibri" pitchFamily="34" charset="-120"/>
              </a:rPr>
              <a:t>Intercambio gaseoso óptimo</a:t>
            </a:r>
            <a:endParaRPr lang="en-US" sz="1050" dirty="0"/>
          </a:p>
        </p:txBody>
      </p:sp>
      <p:sp>
        <p:nvSpPr>
          <p:cNvPr id="25" name="Shape 19"/>
          <p:cNvSpPr/>
          <p:nvPr/>
        </p:nvSpPr>
        <p:spPr>
          <a:xfrm>
            <a:off x="4251960" y="420624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26" name="Shape 20"/>
          <p:cNvSpPr/>
          <p:nvPr/>
        </p:nvSpPr>
        <p:spPr>
          <a:xfrm>
            <a:off x="4453128" y="4604004"/>
            <a:ext cx="621792" cy="621792"/>
          </a:xfrm>
          <a:prstGeom prst="ellipse">
            <a:avLst/>
          </a:prstGeom>
          <a:solidFill>
            <a:srgbClr val="065A82"/>
          </a:solidFill>
          <a:ln/>
        </p:spPr>
      </p:sp>
      <p:pic>
        <p:nvPicPr>
          <p:cNvPr id="27" name="Image 4" descr="/tmp/claude-0/-home-user-gpa-academy1/adc6e4aa-3b77-57c1-ba92-a8d4ee625c84/scratchpad/icons/bolt_white.png">    </p:cNvPr>
          <p:cNvPicPr>
            <a:picLocks noChangeAspect="1"/>
          </p:cNvPicPr>
          <p:nvPr/>
        </p:nvPicPr>
        <p:blipFill>
          <a:blip r:embed="rId5"/>
          <a:stretch>
            <a:fillRect/>
          </a:stretch>
        </p:blipFill>
        <p:spPr>
          <a:xfrm>
            <a:off x="4608576" y="4759452"/>
            <a:ext cx="310896" cy="310896"/>
          </a:xfrm>
          <a:prstGeom prst="rect">
            <a:avLst/>
          </a:prstGeom>
        </p:spPr>
      </p:pic>
      <p:sp>
        <p:nvSpPr>
          <p:cNvPr id="28" name="Text 21"/>
          <p:cNvSpPr txBox="1"/>
          <p:nvPr/>
        </p:nvSpPr>
        <p:spPr>
          <a:xfrm>
            <a:off x="5184648" y="4389120"/>
            <a:ext cx="2423160" cy="502920"/>
          </a:xfrm>
          <a:prstGeom prst="rect">
            <a:avLst/>
          </a:prstGeom>
          <a:noFill/>
          <a:ln/>
        </p:spPr>
        <p:txBody>
          <a:bodyPr wrap="square" lIns="0" tIns="0" rIns="0" bIns="0" rtlCol="0" anchor="ctr"/>
          <a:lstStyle/>
          <a:p>
            <a:pPr indent="0" marL="0">
              <a:lnSpc>
                <a:spcPts val="1400"/>
              </a:lnSpc>
              <a:buNone/>
            </a:pPr>
            <a:r>
              <a:rPr lang="en-US" sz="1250" b="1" dirty="0">
                <a:solidFill>
                  <a:srgbClr val="21295C"/>
                </a:solidFill>
                <a:latin typeface="Cambria" pitchFamily="34" charset="0"/>
                <a:ea typeface="Cambria" pitchFamily="34" charset="-122"/>
                <a:cs typeface="Cambria" pitchFamily="34" charset="-120"/>
              </a:rPr>
              <a:t>Glucemia</a:t>
            </a:r>
            <a:endParaRPr lang="en-US" sz="1250" dirty="0"/>
          </a:p>
        </p:txBody>
      </p:sp>
      <p:sp>
        <p:nvSpPr>
          <p:cNvPr id="29" name="Text 22"/>
          <p:cNvSpPr txBox="1"/>
          <p:nvPr/>
        </p:nvSpPr>
        <p:spPr>
          <a:xfrm>
            <a:off x="5184648" y="4864608"/>
            <a:ext cx="2423160" cy="548640"/>
          </a:xfrm>
          <a:prstGeom prst="rect">
            <a:avLst/>
          </a:prstGeom>
          <a:noFill/>
          <a:ln/>
        </p:spPr>
        <p:txBody>
          <a:bodyPr wrap="square" lIns="0" tIns="0" rIns="0" bIns="0" rtlCol="0" anchor="ctr"/>
          <a:lstStyle/>
          <a:p>
            <a:pPr indent="0" marL="0">
              <a:lnSpc>
                <a:spcPts val="1200"/>
              </a:lnSpc>
              <a:buNone/>
            </a:pPr>
            <a:r>
              <a:rPr lang="en-US" sz="1050" dirty="0">
                <a:solidFill>
                  <a:srgbClr val="5C7181"/>
                </a:solidFill>
                <a:latin typeface="Calibri" pitchFamily="34" charset="0"/>
                <a:ea typeface="Calibri" pitchFamily="34" charset="-122"/>
                <a:cs typeface="Calibri" pitchFamily="34" charset="-120"/>
              </a:rPr>
              <a:t>Control metabólico perioperatorio</a:t>
            </a:r>
            <a:endParaRPr lang="en-US" sz="1050" dirty="0"/>
          </a:p>
        </p:txBody>
      </p:sp>
      <p:sp>
        <p:nvSpPr>
          <p:cNvPr id="30" name="Shape 23"/>
          <p:cNvSpPr/>
          <p:nvPr/>
        </p:nvSpPr>
        <p:spPr>
          <a:xfrm>
            <a:off x="7955280" y="420624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31" name="Shape 24"/>
          <p:cNvSpPr/>
          <p:nvPr/>
        </p:nvSpPr>
        <p:spPr>
          <a:xfrm>
            <a:off x="8156448" y="4604004"/>
            <a:ext cx="621792" cy="621792"/>
          </a:xfrm>
          <a:prstGeom prst="ellipse">
            <a:avLst/>
          </a:prstGeom>
          <a:solidFill>
            <a:srgbClr val="065A82"/>
          </a:solidFill>
          <a:ln/>
        </p:spPr>
      </p:sp>
      <p:pic>
        <p:nvPicPr>
          <p:cNvPr id="32" name="Image 5" descr="/tmp/claude-0/-home-user-gpa-academy1/adc6e4aa-3b77-57c1-ba92-a8d4ee625c84/scratchpad/icons/checkcircle_white.png">    </p:cNvPr>
          <p:cNvPicPr>
            <a:picLocks noChangeAspect="1"/>
          </p:cNvPicPr>
          <p:nvPr/>
        </p:nvPicPr>
        <p:blipFill>
          <a:blip r:embed="rId6"/>
          <a:stretch>
            <a:fillRect/>
          </a:stretch>
        </p:blipFill>
        <p:spPr>
          <a:xfrm>
            <a:off x="8311896" y="4759452"/>
            <a:ext cx="310896" cy="310896"/>
          </a:xfrm>
          <a:prstGeom prst="rect">
            <a:avLst/>
          </a:prstGeom>
        </p:spPr>
      </p:pic>
      <p:sp>
        <p:nvSpPr>
          <p:cNvPr id="33" name="Text 25"/>
          <p:cNvSpPr txBox="1"/>
          <p:nvPr/>
        </p:nvSpPr>
        <p:spPr>
          <a:xfrm>
            <a:off x="8887968" y="4389120"/>
            <a:ext cx="2423160" cy="502920"/>
          </a:xfrm>
          <a:prstGeom prst="rect">
            <a:avLst/>
          </a:prstGeom>
          <a:noFill/>
          <a:ln/>
        </p:spPr>
        <p:txBody>
          <a:bodyPr wrap="square" lIns="0" tIns="0" rIns="0" bIns="0" rtlCol="0" anchor="ctr"/>
          <a:lstStyle/>
          <a:p>
            <a:pPr indent="0" marL="0">
              <a:lnSpc>
                <a:spcPts val="1400"/>
              </a:lnSpc>
              <a:buNone/>
            </a:pPr>
            <a:r>
              <a:rPr lang="en-US" sz="1250" b="1" dirty="0">
                <a:solidFill>
                  <a:srgbClr val="21295C"/>
                </a:solidFill>
                <a:latin typeface="Cambria" pitchFamily="34" charset="0"/>
                <a:ea typeface="Cambria" pitchFamily="34" charset="-122"/>
                <a:cs typeface="Cambria" pitchFamily="34" charset="-120"/>
              </a:rPr>
              <a:t>Función renal y electrolitos</a:t>
            </a:r>
            <a:endParaRPr lang="en-US" sz="1250" dirty="0"/>
          </a:p>
        </p:txBody>
      </p:sp>
      <p:sp>
        <p:nvSpPr>
          <p:cNvPr id="34" name="Text 26"/>
          <p:cNvSpPr txBox="1"/>
          <p:nvPr/>
        </p:nvSpPr>
        <p:spPr>
          <a:xfrm>
            <a:off x="8887968" y="4864608"/>
            <a:ext cx="2423160" cy="548640"/>
          </a:xfrm>
          <a:prstGeom prst="rect">
            <a:avLst/>
          </a:prstGeom>
          <a:noFill/>
          <a:ln/>
        </p:spPr>
        <p:txBody>
          <a:bodyPr wrap="square" lIns="0" tIns="0" rIns="0" bIns="0" rtlCol="0" anchor="ctr"/>
          <a:lstStyle/>
          <a:p>
            <a:pPr indent="0" marL="0">
              <a:lnSpc>
                <a:spcPts val="1200"/>
              </a:lnSpc>
              <a:buNone/>
            </a:pPr>
            <a:r>
              <a:rPr lang="en-US" sz="1050" dirty="0">
                <a:solidFill>
                  <a:srgbClr val="5C7181"/>
                </a:solidFill>
                <a:latin typeface="Calibri" pitchFamily="34" charset="0"/>
                <a:ea typeface="Calibri" pitchFamily="34" charset="-122"/>
                <a:cs typeface="Calibri" pitchFamily="34" charset="-120"/>
              </a:rPr>
              <a:t>Perfusión y diuresis preservadas</a:t>
            </a:r>
            <a:endParaRPr lang="en-US" sz="1050" dirty="0"/>
          </a:p>
        </p:txBody>
      </p:sp>
      <p:sp>
        <p:nvSpPr>
          <p:cNvPr id="36" name="Text 2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37" name="Text 2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14 / 33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RELEVANCIA CLÍNICA</a:t>
            </a:r>
            <a:endParaRPr lang="en-US" sz="12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algn="l" indent="0" marL="0">
              <a:buNone/>
            </a:pPr>
            <a:r>
              <a:rPr lang="en-US" sz="2500" b="1" dirty="0">
                <a:solidFill>
                  <a:srgbClr val="21295C"/>
                </a:solidFill>
                <a:latin typeface="Cambria" pitchFamily="34" charset="0"/>
                <a:ea typeface="Cambria" pitchFamily="34" charset="-122"/>
                <a:cs typeface="Cambria" pitchFamily="34" charset="-120"/>
              </a:rPr>
              <a:t>Importancia de la anestesia en la cirugía moderna</a:t>
            </a:r>
            <a:endParaRPr lang="en-US" sz="2500" dirty="0"/>
          </a:p>
        </p:txBody>
      </p:sp>
      <p:sp>
        <p:nvSpPr>
          <p:cNvPr id="4" name="Text 2"/>
          <p:cNvSpPr txBox="1"/>
          <p:nvPr/>
        </p:nvSpPr>
        <p:spPr>
          <a:xfrm>
            <a:off x="548640" y="1572768"/>
            <a:ext cx="10972800" cy="868680"/>
          </a:xfrm>
          <a:prstGeom prst="rect">
            <a:avLst/>
          </a:prstGeom>
          <a:noFill/>
          <a:ln/>
        </p:spPr>
        <p:txBody>
          <a:bodyPr wrap="square" lIns="0" tIns="0" rIns="0" bIns="0" rtlCol="0" anchor="t"/>
          <a:lstStyle/>
          <a:p>
            <a:pPr indent="0" marL="0">
              <a:lnSpc>
                <a:spcPts val="1900"/>
              </a:lnSpc>
              <a:buNone/>
            </a:pPr>
            <a:r>
              <a:rPr lang="en-US" sz="1400" dirty="0">
                <a:solidFill>
                  <a:srgbClr val="2B3648"/>
                </a:solidFill>
                <a:latin typeface="Calibri" pitchFamily="34" charset="0"/>
                <a:ea typeface="Calibri" pitchFamily="34" charset="-122"/>
                <a:cs typeface="Calibri" pitchFamily="34" charset="-120"/>
              </a:rPr>
              <a:t>La anestesia moderna ha permitido la expansión de la cirugía compleja —trasplantes, cirugía cardiovascular, neurocirugía y procedimientos mínimamente invasivos— al tiempo que ha logrado mejoras drásticas en la seguridad del paciente.</a:t>
            </a:r>
            <a:endParaRPr lang="en-US" sz="1400" dirty="0"/>
          </a:p>
        </p:txBody>
      </p:sp>
      <p:sp>
        <p:nvSpPr>
          <p:cNvPr id="5" name="Shape 3"/>
          <p:cNvSpPr/>
          <p:nvPr/>
        </p:nvSpPr>
        <p:spPr>
          <a:xfrm>
            <a:off x="548640" y="2697480"/>
            <a:ext cx="3520440" cy="2194560"/>
          </a:xfrm>
          <a:prstGeom prst="roundRect">
            <a:avLst>
              <a:gd name="adj" fmla="val 3333"/>
            </a:avLst>
          </a:prstGeom>
          <a:solidFill>
            <a:srgbClr val="21295C"/>
          </a:solidFill>
          <a:ln/>
          <a:effectLst>
            <a:outerShdw sx="100000" sy="100000" kx="0" ky="0" algn="bl" rotWithShape="0" blurRad="101600" dist="25400" dir="5400000">
              <a:srgbClr val="1B2A3A">
                <a:alpha val="12000"/>
              </a:srgbClr>
            </a:outerShdw>
          </a:effectLst>
        </p:spPr>
      </p:sp>
      <p:sp>
        <p:nvSpPr>
          <p:cNvPr id="6" name="Text 4"/>
          <p:cNvSpPr txBox="1"/>
          <p:nvPr/>
        </p:nvSpPr>
        <p:spPr>
          <a:xfrm>
            <a:off x="777240" y="2926080"/>
            <a:ext cx="306324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1:200 000</a:t>
            </a:r>
            <a:endParaRPr lang="en-US" sz="3000" dirty="0"/>
          </a:p>
        </p:txBody>
      </p:sp>
      <p:sp>
        <p:nvSpPr>
          <p:cNvPr id="7" name="Text 5"/>
          <p:cNvSpPr txBox="1"/>
          <p:nvPr/>
        </p:nvSpPr>
        <p:spPr>
          <a:xfrm>
            <a:off x="777240" y="3749040"/>
            <a:ext cx="3063240" cy="1005840"/>
          </a:xfrm>
          <a:prstGeom prst="rect">
            <a:avLst/>
          </a:prstGeom>
          <a:noFill/>
          <a:ln/>
        </p:spPr>
        <p:txBody>
          <a:bodyPr wrap="square" lIns="0" tIns="0" rIns="0" bIns="0" rtlCol="0" anchor="ctr"/>
          <a:lstStyle/>
          <a:p>
            <a:pPr indent="0" marL="0">
              <a:lnSpc>
                <a:spcPts val="1400"/>
              </a:lnSpc>
              <a:buNone/>
            </a:pPr>
            <a:r>
              <a:rPr lang="en-US" sz="1150" dirty="0">
                <a:solidFill>
                  <a:srgbClr val="D8E6EE"/>
                </a:solidFill>
                <a:latin typeface="Calibri" pitchFamily="34" charset="0"/>
                <a:ea typeface="Calibri" pitchFamily="34" charset="-122"/>
                <a:cs typeface="Calibri" pitchFamily="34" charset="-120"/>
              </a:rPr>
              <a:t>mortalidad anestésica atribuible estimada hoy en países desarrollados, frente a cifras cercanas a 1:1 000 hace décadas</a:t>
            </a:r>
            <a:endParaRPr lang="en-US" sz="1150" dirty="0"/>
          </a:p>
        </p:txBody>
      </p:sp>
      <p:sp>
        <p:nvSpPr>
          <p:cNvPr id="8" name="Shape 6"/>
          <p:cNvSpPr/>
          <p:nvPr/>
        </p:nvSpPr>
        <p:spPr>
          <a:xfrm>
            <a:off x="4251960" y="2697480"/>
            <a:ext cx="3520440" cy="2194560"/>
          </a:xfrm>
          <a:prstGeom prst="roundRect">
            <a:avLst>
              <a:gd name="adj" fmla="val 3333"/>
            </a:avLst>
          </a:prstGeom>
          <a:solidFill>
            <a:srgbClr val="065A82"/>
          </a:solidFill>
          <a:ln/>
          <a:effectLst>
            <a:outerShdw sx="100000" sy="100000" kx="0" ky="0" algn="bl" rotWithShape="0" blurRad="101600" dist="25400" dir="5400000">
              <a:srgbClr val="1B2A3A">
                <a:alpha val="12000"/>
              </a:srgbClr>
            </a:outerShdw>
          </a:effectLst>
        </p:spPr>
      </p:sp>
      <p:sp>
        <p:nvSpPr>
          <p:cNvPr id="9" name="Text 7"/>
          <p:cNvSpPr txBox="1"/>
          <p:nvPr/>
        </p:nvSpPr>
        <p:spPr>
          <a:xfrm>
            <a:off x="4480560" y="2926080"/>
            <a:ext cx="306324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1986</a:t>
            </a:r>
            <a:endParaRPr lang="en-US" sz="3000" dirty="0"/>
          </a:p>
        </p:txBody>
      </p:sp>
      <p:sp>
        <p:nvSpPr>
          <p:cNvPr id="10" name="Text 8"/>
          <p:cNvSpPr txBox="1"/>
          <p:nvPr/>
        </p:nvSpPr>
        <p:spPr>
          <a:xfrm>
            <a:off x="4480560" y="3749040"/>
            <a:ext cx="3063240" cy="1005840"/>
          </a:xfrm>
          <a:prstGeom prst="rect">
            <a:avLst/>
          </a:prstGeom>
          <a:noFill/>
          <a:ln/>
        </p:spPr>
        <p:txBody>
          <a:bodyPr wrap="square" lIns="0" tIns="0" rIns="0" bIns="0" rtlCol="0" anchor="ctr"/>
          <a:lstStyle/>
          <a:p>
            <a:pPr indent="0" marL="0">
              <a:lnSpc>
                <a:spcPts val="1400"/>
              </a:lnSpc>
              <a:buNone/>
            </a:pPr>
            <a:r>
              <a:rPr lang="en-US" sz="1150" dirty="0">
                <a:solidFill>
                  <a:srgbClr val="D8E6EE"/>
                </a:solidFill>
                <a:latin typeface="Calibri" pitchFamily="34" charset="0"/>
                <a:ea typeface="Calibri" pitchFamily="34" charset="-122"/>
                <a:cs typeface="Calibri" pitchFamily="34" charset="-120"/>
              </a:rPr>
              <a:t>año en que la ASA estableció los primeros estándares de monitorización básica intraoperatoria</a:t>
            </a:r>
            <a:endParaRPr lang="en-US" sz="1150" dirty="0"/>
          </a:p>
        </p:txBody>
      </p:sp>
      <p:sp>
        <p:nvSpPr>
          <p:cNvPr id="11" name="Shape 9"/>
          <p:cNvSpPr/>
          <p:nvPr/>
        </p:nvSpPr>
        <p:spPr>
          <a:xfrm>
            <a:off x="7955280" y="2697480"/>
            <a:ext cx="3520440" cy="2194560"/>
          </a:xfrm>
          <a:prstGeom prst="roundRect">
            <a:avLst>
              <a:gd name="adj" fmla="val 3333"/>
            </a:avLst>
          </a:prstGeom>
          <a:solidFill>
            <a:srgbClr val="21295C"/>
          </a:solidFill>
          <a:ln/>
          <a:effectLst>
            <a:outerShdw sx="100000" sy="100000" kx="0" ky="0" algn="bl" rotWithShape="0" blurRad="101600" dist="25400" dir="5400000">
              <a:srgbClr val="1B2A3A">
                <a:alpha val="12000"/>
              </a:srgbClr>
            </a:outerShdw>
          </a:effectLst>
        </p:spPr>
      </p:sp>
      <p:sp>
        <p:nvSpPr>
          <p:cNvPr id="12" name="Text 10"/>
          <p:cNvSpPr txBox="1"/>
          <p:nvPr/>
        </p:nvSpPr>
        <p:spPr>
          <a:xfrm>
            <a:off x="8183880" y="2926080"/>
            <a:ext cx="306324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OMS</a:t>
            </a:r>
            <a:endParaRPr lang="en-US" sz="3000" dirty="0"/>
          </a:p>
        </p:txBody>
      </p:sp>
      <p:sp>
        <p:nvSpPr>
          <p:cNvPr id="13" name="Text 11"/>
          <p:cNvSpPr txBox="1"/>
          <p:nvPr/>
        </p:nvSpPr>
        <p:spPr>
          <a:xfrm>
            <a:off x="8183880" y="3749040"/>
            <a:ext cx="3063240" cy="1005840"/>
          </a:xfrm>
          <a:prstGeom prst="rect">
            <a:avLst/>
          </a:prstGeom>
          <a:noFill/>
          <a:ln/>
        </p:spPr>
        <p:txBody>
          <a:bodyPr wrap="square" lIns="0" tIns="0" rIns="0" bIns="0" rtlCol="0" anchor="ctr"/>
          <a:lstStyle/>
          <a:p>
            <a:pPr indent="0" marL="0">
              <a:lnSpc>
                <a:spcPts val="1400"/>
              </a:lnSpc>
              <a:buNone/>
            </a:pPr>
            <a:r>
              <a:rPr lang="en-US" sz="1150" dirty="0">
                <a:solidFill>
                  <a:srgbClr val="D8E6EE"/>
                </a:solidFill>
                <a:latin typeface="Calibri" pitchFamily="34" charset="0"/>
                <a:ea typeface="Calibri" pitchFamily="34" charset="-122"/>
                <a:cs typeface="Calibri" pitchFamily="34" charset="-120"/>
              </a:rPr>
              <a:t>lista de verificación de seguridad quirúrgica (“surgical safety checklist”) adoptada globalmente</a:t>
            </a:r>
            <a:endParaRPr lang="en-US" sz="1150" dirty="0"/>
          </a:p>
        </p:txBody>
      </p:sp>
      <p:sp>
        <p:nvSpPr>
          <p:cNvPr id="14" name="Text 12"/>
          <p:cNvSpPr txBox="1"/>
          <p:nvPr/>
        </p:nvSpPr>
        <p:spPr>
          <a:xfrm>
            <a:off x="548640" y="5166360"/>
            <a:ext cx="10972800" cy="822960"/>
          </a:xfrm>
          <a:prstGeom prst="rect">
            <a:avLst/>
          </a:prstGeom>
          <a:noFill/>
          <a:ln/>
        </p:spPr>
        <p:txBody>
          <a:bodyPr wrap="square" lIns="0" tIns="0" rIns="0" bIns="0" rtlCol="0" anchor="t"/>
          <a:lstStyle/>
          <a:p>
            <a:pPr indent="0" marL="0">
              <a:lnSpc>
                <a:spcPts val="1800"/>
              </a:lnSpc>
              <a:buNone/>
            </a:pPr>
            <a:r>
              <a:rPr lang="en-US" sz="1350" dirty="0">
                <a:solidFill>
                  <a:srgbClr val="5C7181"/>
                </a:solidFill>
                <a:latin typeface="Calibri" pitchFamily="34" charset="0"/>
                <a:ea typeface="Calibri" pitchFamily="34" charset="-122"/>
                <a:cs typeface="Calibri" pitchFamily="34" charset="-120"/>
              </a:rPr>
              <a:t>Estos avances derivan de la monitorización estándar obligatoria, la pulsioximetría y capnografía sistemáticas, fármacos más seguros y de vida media corta, y una cultura de simulación y entrenamiento estructurado.</a:t>
            </a:r>
            <a:endParaRPr lang="en-US" sz="1350" dirty="0"/>
          </a:p>
        </p:txBody>
      </p:sp>
      <p:sp>
        <p:nvSpPr>
          <p:cNvPr id="16" name="Text 1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7" name="Text 1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15 / 33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CLASES DE ANESTESIA · PANORAMA</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Clases de anestesia: clasificación general</a:t>
            </a:r>
            <a:endParaRPr lang="en-US" sz="2900" dirty="0"/>
          </a:p>
        </p:txBody>
      </p:sp>
      <p:sp>
        <p:nvSpPr>
          <p:cNvPr id="4" name="Text 2"/>
          <p:cNvSpPr txBox="1"/>
          <p:nvPr/>
        </p:nvSpPr>
        <p:spPr>
          <a:xfrm>
            <a:off x="548640" y="1417320"/>
            <a:ext cx="10515600" cy="457200"/>
          </a:xfrm>
          <a:prstGeom prst="rect">
            <a:avLst/>
          </a:prstGeom>
          <a:noFill/>
          <a:ln/>
        </p:spPr>
        <p:txBody>
          <a:bodyPr wrap="square" lIns="0" tIns="0" rIns="0" bIns="0" rtlCol="0" anchor="t"/>
          <a:lstStyle/>
          <a:p>
            <a:pPr indent="0" marL="0">
              <a:lnSpc>
                <a:spcPts val="2200"/>
              </a:lnSpc>
              <a:buNone/>
            </a:pPr>
            <a:r>
              <a:rPr lang="en-US" sz="1400" dirty="0">
                <a:solidFill>
                  <a:srgbClr val="5C7181"/>
                </a:solidFill>
                <a:latin typeface="Calibri" pitchFamily="34" charset="0"/>
                <a:ea typeface="Calibri" pitchFamily="34" charset="-122"/>
                <a:cs typeface="Calibri" pitchFamily="34" charset="-120"/>
              </a:rPr>
              <a:t>Cuatro grandes categorías, seleccionadas según el tipo de cirugía, el estado clínico del paciente y la evidencia disponible.</a:t>
            </a:r>
            <a:endParaRPr lang="en-US" sz="1400" dirty="0"/>
          </a:p>
        </p:txBody>
      </p:sp>
      <p:sp>
        <p:nvSpPr>
          <p:cNvPr id="5" name="Shape 3"/>
          <p:cNvSpPr/>
          <p:nvPr/>
        </p:nvSpPr>
        <p:spPr>
          <a:xfrm>
            <a:off x="548640" y="2057400"/>
            <a:ext cx="2606040" cy="3931920"/>
          </a:xfrm>
          <a:prstGeom prst="roundRect">
            <a:avLst>
              <a:gd name="adj" fmla="val 2807"/>
            </a:avLst>
          </a:prstGeom>
          <a:solidFill>
            <a:srgbClr val="065A82"/>
          </a:solidFill>
          <a:ln/>
          <a:effectLst>
            <a:outerShdw sx="100000" sy="100000" kx="0" ky="0" algn="bl" rotWithShape="0" blurRad="101600" dist="25400" dir="5400000">
              <a:srgbClr val="1B2A3A">
                <a:alpha val="12000"/>
              </a:srgbClr>
            </a:outerShdw>
          </a:effectLst>
        </p:spPr>
      </p:sp>
      <p:sp>
        <p:nvSpPr>
          <p:cNvPr id="6" name="Shape 4"/>
          <p:cNvSpPr/>
          <p:nvPr/>
        </p:nvSpPr>
        <p:spPr>
          <a:xfrm>
            <a:off x="1463040" y="2423160"/>
            <a:ext cx="777240" cy="777240"/>
          </a:xfrm>
          <a:prstGeom prst="ellipse">
            <a:avLst/>
          </a:prstGeom>
          <a:solidFill>
            <a:srgbClr val="FFFFFF"/>
          </a:solidFill>
          <a:ln/>
        </p:spPr>
      </p:sp>
      <p:pic>
        <p:nvPicPr>
          <p:cNvPr id="7" name="Image 0" descr="/tmp/claude-0/-home-user-gpa-academy1/adc6e4aa-3b77-57c1-ba92-a8d4ee625c84/scratchpad/icons/brain_deepblue.png">    </p:cNvPr>
          <p:cNvPicPr>
            <a:picLocks noChangeAspect="1"/>
          </p:cNvPicPr>
          <p:nvPr/>
        </p:nvPicPr>
        <p:blipFill>
          <a:blip r:embed="rId1"/>
          <a:stretch>
            <a:fillRect/>
          </a:stretch>
        </p:blipFill>
        <p:spPr>
          <a:xfrm>
            <a:off x="1649578" y="2609698"/>
            <a:ext cx="404165" cy="404165"/>
          </a:xfrm>
          <a:prstGeom prst="rect">
            <a:avLst/>
          </a:prstGeom>
        </p:spPr>
      </p:pic>
      <p:sp>
        <p:nvSpPr>
          <p:cNvPr id="8" name="Text 5"/>
          <p:cNvSpPr txBox="1"/>
          <p:nvPr/>
        </p:nvSpPr>
        <p:spPr>
          <a:xfrm>
            <a:off x="685800" y="3474720"/>
            <a:ext cx="2331720" cy="731520"/>
          </a:xfrm>
          <a:prstGeom prst="rect">
            <a:avLst/>
          </a:prstGeom>
          <a:noFill/>
          <a:ln/>
        </p:spPr>
        <p:txBody>
          <a:bodyPr wrap="square" lIns="0" tIns="0" rIns="0" bIns="0" rtlCol="0" anchor="ctr"/>
          <a:lstStyle/>
          <a:p>
            <a:pPr algn="ctr" indent="0" marL="0">
              <a:lnSpc>
                <a:spcPts val="1700"/>
              </a:lnSpc>
              <a:buNone/>
            </a:pPr>
            <a:r>
              <a:rPr lang="en-US" sz="1550" b="1" dirty="0">
                <a:solidFill>
                  <a:srgbClr val="FFFFFF"/>
                </a:solidFill>
                <a:latin typeface="Cambria" pitchFamily="34" charset="0"/>
                <a:ea typeface="Cambria" pitchFamily="34" charset="-122"/>
                <a:cs typeface="Cambria" pitchFamily="34" charset="-120"/>
              </a:rPr>
              <a:t>Anestesia general</a:t>
            </a:r>
            <a:endParaRPr lang="en-US" sz="1550" dirty="0"/>
          </a:p>
        </p:txBody>
      </p:sp>
      <p:sp>
        <p:nvSpPr>
          <p:cNvPr id="9" name="Text 6"/>
          <p:cNvSpPr txBox="1"/>
          <p:nvPr/>
        </p:nvSpPr>
        <p:spPr>
          <a:xfrm>
            <a:off x="777240" y="4343400"/>
            <a:ext cx="2148840" cy="1463040"/>
          </a:xfrm>
          <a:prstGeom prst="rect">
            <a:avLst/>
          </a:prstGeom>
          <a:noFill/>
          <a:ln/>
        </p:spPr>
        <p:txBody>
          <a:bodyPr wrap="square" lIns="0" tIns="0" rIns="0" bIns="0" rtlCol="0" anchor="ctr"/>
          <a:lstStyle/>
          <a:p>
            <a:pPr algn="ctr" indent="0" marL="0">
              <a:lnSpc>
                <a:spcPts val="1500"/>
              </a:lnSpc>
              <a:buNone/>
            </a:pPr>
            <a:r>
              <a:rPr lang="en-US" sz="1150" dirty="0">
                <a:solidFill>
                  <a:srgbClr val="E6F0F5"/>
                </a:solidFill>
                <a:latin typeface="Calibri" pitchFamily="34" charset="0"/>
                <a:ea typeface="Calibri" pitchFamily="34" charset="-122"/>
                <a:cs typeface="Calibri" pitchFamily="34" charset="-120"/>
              </a:rPr>
              <a:t>Inconsciencia completa, con o sin relajación muscular</a:t>
            </a:r>
            <a:endParaRPr lang="en-US" sz="1150" dirty="0"/>
          </a:p>
        </p:txBody>
      </p:sp>
      <p:sp>
        <p:nvSpPr>
          <p:cNvPr id="10" name="Shape 7"/>
          <p:cNvSpPr/>
          <p:nvPr/>
        </p:nvSpPr>
        <p:spPr>
          <a:xfrm>
            <a:off x="3355848" y="2057400"/>
            <a:ext cx="2606040" cy="3931920"/>
          </a:xfrm>
          <a:prstGeom prst="roundRect">
            <a:avLst>
              <a:gd name="adj" fmla="val 2807"/>
            </a:avLst>
          </a:prstGeom>
          <a:solidFill>
            <a:srgbClr val="1C7293"/>
          </a:solidFill>
          <a:ln/>
          <a:effectLst>
            <a:outerShdw sx="100000" sy="100000" kx="0" ky="0" algn="bl" rotWithShape="0" blurRad="101600" dist="25400" dir="5400000">
              <a:srgbClr val="1B2A3A">
                <a:alpha val="12000"/>
              </a:srgbClr>
            </a:outerShdw>
          </a:effectLst>
        </p:spPr>
      </p:sp>
      <p:sp>
        <p:nvSpPr>
          <p:cNvPr id="11" name="Shape 8"/>
          <p:cNvSpPr/>
          <p:nvPr/>
        </p:nvSpPr>
        <p:spPr>
          <a:xfrm>
            <a:off x="4270248" y="2423160"/>
            <a:ext cx="777240" cy="777240"/>
          </a:xfrm>
          <a:prstGeom prst="ellipse">
            <a:avLst/>
          </a:prstGeom>
          <a:solidFill>
            <a:srgbClr val="FFFFFF"/>
          </a:solidFill>
          <a:ln/>
        </p:spPr>
      </p:sp>
      <p:pic>
        <p:nvPicPr>
          <p:cNvPr id="12" name="Image 1" descr="/tmp/claude-0/-home-user-gpa-academy1/adc6e4aa-3b77-57c1-ba92-a8d4ee625c84/scratchpad/icons/spinalcoil_deepblue.png">    </p:cNvPr>
          <p:cNvPicPr>
            <a:picLocks noChangeAspect="1"/>
          </p:cNvPicPr>
          <p:nvPr/>
        </p:nvPicPr>
        <p:blipFill>
          <a:blip r:embed="rId2"/>
          <a:stretch>
            <a:fillRect/>
          </a:stretch>
        </p:blipFill>
        <p:spPr>
          <a:xfrm>
            <a:off x="4456786" y="2609698"/>
            <a:ext cx="404165" cy="404165"/>
          </a:xfrm>
          <a:prstGeom prst="rect">
            <a:avLst/>
          </a:prstGeom>
        </p:spPr>
      </p:pic>
      <p:sp>
        <p:nvSpPr>
          <p:cNvPr id="13" name="Text 9"/>
          <p:cNvSpPr txBox="1"/>
          <p:nvPr/>
        </p:nvSpPr>
        <p:spPr>
          <a:xfrm>
            <a:off x="3493008" y="3474720"/>
            <a:ext cx="2331720" cy="731520"/>
          </a:xfrm>
          <a:prstGeom prst="rect">
            <a:avLst/>
          </a:prstGeom>
          <a:noFill/>
          <a:ln/>
        </p:spPr>
        <p:txBody>
          <a:bodyPr wrap="square" lIns="0" tIns="0" rIns="0" bIns="0" rtlCol="0" anchor="ctr"/>
          <a:lstStyle/>
          <a:p>
            <a:pPr algn="ctr" indent="0" marL="0">
              <a:lnSpc>
                <a:spcPts val="1700"/>
              </a:lnSpc>
              <a:buNone/>
            </a:pPr>
            <a:r>
              <a:rPr lang="en-US" sz="1550" b="1" dirty="0">
                <a:solidFill>
                  <a:srgbClr val="FFFFFF"/>
                </a:solidFill>
                <a:latin typeface="Cambria" pitchFamily="34" charset="0"/>
                <a:ea typeface="Cambria" pitchFamily="34" charset="-122"/>
                <a:cs typeface="Cambria" pitchFamily="34" charset="-120"/>
              </a:rPr>
              <a:t>Anestesia regional</a:t>
            </a:r>
            <a:endParaRPr lang="en-US" sz="1550" dirty="0"/>
          </a:p>
        </p:txBody>
      </p:sp>
      <p:sp>
        <p:nvSpPr>
          <p:cNvPr id="14" name="Text 10"/>
          <p:cNvSpPr txBox="1"/>
          <p:nvPr/>
        </p:nvSpPr>
        <p:spPr>
          <a:xfrm>
            <a:off x="3584448" y="4343400"/>
            <a:ext cx="2148840" cy="1463040"/>
          </a:xfrm>
          <a:prstGeom prst="rect">
            <a:avLst/>
          </a:prstGeom>
          <a:noFill/>
          <a:ln/>
        </p:spPr>
        <p:txBody>
          <a:bodyPr wrap="square" lIns="0" tIns="0" rIns="0" bIns="0" rtlCol="0" anchor="ctr"/>
          <a:lstStyle/>
          <a:p>
            <a:pPr algn="ctr" indent="0" marL="0">
              <a:lnSpc>
                <a:spcPts val="1500"/>
              </a:lnSpc>
              <a:buNone/>
            </a:pPr>
            <a:r>
              <a:rPr lang="en-US" sz="1150" dirty="0">
                <a:solidFill>
                  <a:srgbClr val="E6F0F5"/>
                </a:solidFill>
                <a:latin typeface="Calibri" pitchFamily="34" charset="0"/>
                <a:ea typeface="Calibri" pitchFamily="34" charset="-122"/>
                <a:cs typeface="Calibri" pitchFamily="34" charset="-120"/>
              </a:rPr>
              <a:t>Bloqueo neuroaxial o de nervio periférico</a:t>
            </a:r>
            <a:endParaRPr lang="en-US" sz="1150" dirty="0"/>
          </a:p>
        </p:txBody>
      </p:sp>
      <p:sp>
        <p:nvSpPr>
          <p:cNvPr id="15" name="Shape 11"/>
          <p:cNvSpPr/>
          <p:nvPr/>
        </p:nvSpPr>
        <p:spPr>
          <a:xfrm>
            <a:off x="6163056" y="2057400"/>
            <a:ext cx="2606040" cy="3931920"/>
          </a:xfrm>
          <a:prstGeom prst="roundRect">
            <a:avLst>
              <a:gd name="adj" fmla="val 2807"/>
            </a:avLst>
          </a:prstGeom>
          <a:solidFill>
            <a:srgbClr val="065A82"/>
          </a:solidFill>
          <a:ln/>
          <a:effectLst>
            <a:outerShdw sx="100000" sy="100000" kx="0" ky="0" algn="bl" rotWithShape="0" blurRad="101600" dist="25400" dir="5400000">
              <a:srgbClr val="1B2A3A">
                <a:alpha val="12000"/>
              </a:srgbClr>
            </a:outerShdw>
          </a:effectLst>
        </p:spPr>
      </p:sp>
      <p:sp>
        <p:nvSpPr>
          <p:cNvPr id="16" name="Shape 12"/>
          <p:cNvSpPr/>
          <p:nvPr/>
        </p:nvSpPr>
        <p:spPr>
          <a:xfrm>
            <a:off x="7077456" y="2423160"/>
            <a:ext cx="777240" cy="777240"/>
          </a:xfrm>
          <a:prstGeom prst="ellipse">
            <a:avLst/>
          </a:prstGeom>
          <a:solidFill>
            <a:srgbClr val="FFFFFF"/>
          </a:solidFill>
          <a:ln/>
        </p:spPr>
      </p:sp>
      <p:pic>
        <p:nvPicPr>
          <p:cNvPr id="17" name="Image 2" descr="/tmp/claude-0/-home-user-gpa-academy1/adc6e4aa-3b77-57c1-ba92-a8d4ee625c84/scratchpad/icons/waterdrop_deepblue.png">    </p:cNvPr>
          <p:cNvPicPr>
            <a:picLocks noChangeAspect="1"/>
          </p:cNvPicPr>
          <p:nvPr/>
        </p:nvPicPr>
        <p:blipFill>
          <a:blip r:embed="rId3"/>
          <a:stretch>
            <a:fillRect/>
          </a:stretch>
        </p:blipFill>
        <p:spPr>
          <a:xfrm>
            <a:off x="7263994" y="2609698"/>
            <a:ext cx="404165" cy="404165"/>
          </a:xfrm>
          <a:prstGeom prst="rect">
            <a:avLst/>
          </a:prstGeom>
        </p:spPr>
      </p:pic>
      <p:sp>
        <p:nvSpPr>
          <p:cNvPr id="18" name="Text 13"/>
          <p:cNvSpPr txBox="1"/>
          <p:nvPr/>
        </p:nvSpPr>
        <p:spPr>
          <a:xfrm>
            <a:off x="6300216" y="3474720"/>
            <a:ext cx="2331720" cy="731520"/>
          </a:xfrm>
          <a:prstGeom prst="rect">
            <a:avLst/>
          </a:prstGeom>
          <a:noFill/>
          <a:ln/>
        </p:spPr>
        <p:txBody>
          <a:bodyPr wrap="square" lIns="0" tIns="0" rIns="0" bIns="0" rtlCol="0" anchor="ctr"/>
          <a:lstStyle/>
          <a:p>
            <a:pPr algn="ctr" indent="0" marL="0">
              <a:lnSpc>
                <a:spcPts val="1700"/>
              </a:lnSpc>
              <a:buNone/>
            </a:pPr>
            <a:r>
              <a:rPr lang="en-US" sz="1550" b="1" dirty="0">
                <a:solidFill>
                  <a:srgbClr val="FFFFFF"/>
                </a:solidFill>
                <a:latin typeface="Cambria" pitchFamily="34" charset="0"/>
                <a:ea typeface="Cambria" pitchFamily="34" charset="-122"/>
                <a:cs typeface="Cambria" pitchFamily="34" charset="-120"/>
              </a:rPr>
              <a:t>Anestesia local</a:t>
            </a:r>
            <a:endParaRPr lang="en-US" sz="1550" dirty="0"/>
          </a:p>
        </p:txBody>
      </p:sp>
      <p:sp>
        <p:nvSpPr>
          <p:cNvPr id="19" name="Text 14"/>
          <p:cNvSpPr txBox="1"/>
          <p:nvPr/>
        </p:nvSpPr>
        <p:spPr>
          <a:xfrm>
            <a:off x="6391656" y="4343400"/>
            <a:ext cx="2148840" cy="1463040"/>
          </a:xfrm>
          <a:prstGeom prst="rect">
            <a:avLst/>
          </a:prstGeom>
          <a:noFill/>
          <a:ln/>
        </p:spPr>
        <p:txBody>
          <a:bodyPr wrap="square" lIns="0" tIns="0" rIns="0" bIns="0" rtlCol="0" anchor="ctr"/>
          <a:lstStyle/>
          <a:p>
            <a:pPr algn="ctr" indent="0" marL="0">
              <a:lnSpc>
                <a:spcPts val="1500"/>
              </a:lnSpc>
              <a:buNone/>
            </a:pPr>
            <a:r>
              <a:rPr lang="en-US" sz="1150" dirty="0">
                <a:solidFill>
                  <a:srgbClr val="E6F0F5"/>
                </a:solidFill>
                <a:latin typeface="Calibri" pitchFamily="34" charset="0"/>
                <a:ea typeface="Calibri" pitchFamily="34" charset="-122"/>
                <a:cs typeface="Calibri" pitchFamily="34" charset="-120"/>
              </a:rPr>
              <a:t>Bloqueo tisular localizado, paciente consciente</a:t>
            </a:r>
            <a:endParaRPr lang="en-US" sz="1150" dirty="0"/>
          </a:p>
        </p:txBody>
      </p:sp>
      <p:sp>
        <p:nvSpPr>
          <p:cNvPr id="20" name="Shape 15"/>
          <p:cNvSpPr/>
          <p:nvPr/>
        </p:nvSpPr>
        <p:spPr>
          <a:xfrm>
            <a:off x="8970264" y="2057400"/>
            <a:ext cx="2606040" cy="3931920"/>
          </a:xfrm>
          <a:prstGeom prst="roundRect">
            <a:avLst>
              <a:gd name="adj" fmla="val 2807"/>
            </a:avLst>
          </a:prstGeom>
          <a:solidFill>
            <a:srgbClr val="1C7293"/>
          </a:solidFill>
          <a:ln/>
          <a:effectLst>
            <a:outerShdw sx="100000" sy="100000" kx="0" ky="0" algn="bl" rotWithShape="0" blurRad="101600" dist="25400" dir="5400000">
              <a:srgbClr val="1B2A3A">
                <a:alpha val="12000"/>
              </a:srgbClr>
            </a:outerShdw>
          </a:effectLst>
        </p:spPr>
      </p:sp>
      <p:sp>
        <p:nvSpPr>
          <p:cNvPr id="21" name="Shape 16"/>
          <p:cNvSpPr/>
          <p:nvPr/>
        </p:nvSpPr>
        <p:spPr>
          <a:xfrm>
            <a:off x="9884664" y="2423160"/>
            <a:ext cx="777240" cy="777240"/>
          </a:xfrm>
          <a:prstGeom prst="ellipse">
            <a:avLst/>
          </a:prstGeom>
          <a:solidFill>
            <a:srgbClr val="FFFFFF"/>
          </a:solidFill>
          <a:ln/>
        </p:spPr>
      </p:sp>
      <p:pic>
        <p:nvPicPr>
          <p:cNvPr id="22" name="Image 3" descr="/tmp/claude-0/-home-user-gpa-academy1/adc6e4aa-3b77-57c1-ba92-a8d4ee625c84/scratchpad/icons/visibility_deepblue.png">    </p:cNvPr>
          <p:cNvPicPr>
            <a:picLocks noChangeAspect="1"/>
          </p:cNvPicPr>
          <p:nvPr/>
        </p:nvPicPr>
        <p:blipFill>
          <a:blip r:embed="rId4"/>
          <a:stretch>
            <a:fillRect/>
          </a:stretch>
        </p:blipFill>
        <p:spPr>
          <a:xfrm>
            <a:off x="10071202" y="2609698"/>
            <a:ext cx="404165" cy="404165"/>
          </a:xfrm>
          <a:prstGeom prst="rect">
            <a:avLst/>
          </a:prstGeom>
        </p:spPr>
      </p:pic>
      <p:sp>
        <p:nvSpPr>
          <p:cNvPr id="23" name="Text 17"/>
          <p:cNvSpPr txBox="1"/>
          <p:nvPr/>
        </p:nvSpPr>
        <p:spPr>
          <a:xfrm>
            <a:off x="9107424" y="3474720"/>
            <a:ext cx="2331720" cy="731520"/>
          </a:xfrm>
          <a:prstGeom prst="rect">
            <a:avLst/>
          </a:prstGeom>
          <a:noFill/>
          <a:ln/>
        </p:spPr>
        <p:txBody>
          <a:bodyPr wrap="square" lIns="0" tIns="0" rIns="0" bIns="0" rtlCol="0" anchor="ctr"/>
          <a:lstStyle/>
          <a:p>
            <a:pPr algn="ctr" indent="0" marL="0">
              <a:lnSpc>
                <a:spcPts val="1700"/>
              </a:lnSpc>
              <a:buNone/>
            </a:pPr>
            <a:r>
              <a:rPr lang="en-US" sz="1550" b="1" dirty="0">
                <a:solidFill>
                  <a:srgbClr val="FFFFFF"/>
                </a:solidFill>
                <a:latin typeface="Cambria" pitchFamily="34" charset="0"/>
                <a:ea typeface="Cambria" pitchFamily="34" charset="-122"/>
                <a:cs typeface="Cambria" pitchFamily="34" charset="-120"/>
              </a:rPr>
              <a:t>Sedación / MAC</a:t>
            </a:r>
            <a:endParaRPr lang="en-US" sz="1550" dirty="0"/>
          </a:p>
        </p:txBody>
      </p:sp>
      <p:sp>
        <p:nvSpPr>
          <p:cNvPr id="24" name="Text 18"/>
          <p:cNvSpPr txBox="1"/>
          <p:nvPr/>
        </p:nvSpPr>
        <p:spPr>
          <a:xfrm>
            <a:off x="9198864" y="4343400"/>
            <a:ext cx="2148840" cy="1463040"/>
          </a:xfrm>
          <a:prstGeom prst="rect">
            <a:avLst/>
          </a:prstGeom>
          <a:noFill/>
          <a:ln/>
        </p:spPr>
        <p:txBody>
          <a:bodyPr wrap="square" lIns="0" tIns="0" rIns="0" bIns="0" rtlCol="0" anchor="ctr"/>
          <a:lstStyle/>
          <a:p>
            <a:pPr algn="ctr" indent="0" marL="0">
              <a:lnSpc>
                <a:spcPts val="1500"/>
              </a:lnSpc>
              <a:buNone/>
            </a:pPr>
            <a:r>
              <a:rPr lang="en-US" sz="1150" dirty="0">
                <a:solidFill>
                  <a:srgbClr val="E6F0F5"/>
                </a:solidFill>
                <a:latin typeface="Calibri" pitchFamily="34" charset="0"/>
                <a:ea typeface="Calibri" pitchFamily="34" charset="-122"/>
                <a:cs typeface="Calibri" pitchFamily="34" charset="-120"/>
              </a:rPr>
              <a:t>Continuo de profundidad, cuidado monitorizado</a:t>
            </a:r>
            <a:endParaRPr lang="en-US" sz="1150" dirty="0"/>
          </a:p>
        </p:txBody>
      </p:sp>
      <p:sp>
        <p:nvSpPr>
          <p:cNvPr id="26" name="Text 19"/>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7"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16 / 33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ANESTESIA GENERAL · 1 DE 2</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Anestesia general: definición y características</a:t>
            </a:r>
            <a:endParaRPr lang="en-US" sz="2900" dirty="0"/>
          </a:p>
        </p:txBody>
      </p:sp>
      <p:sp>
        <p:nvSpPr>
          <p:cNvPr id="4" name="Shape 2"/>
          <p:cNvSpPr/>
          <p:nvPr/>
        </p:nvSpPr>
        <p:spPr>
          <a:xfrm>
            <a:off x="548640" y="1600200"/>
            <a:ext cx="914400" cy="914400"/>
          </a:xfrm>
          <a:prstGeom prst="ellipse">
            <a:avLst/>
          </a:prstGeom>
          <a:solidFill>
            <a:srgbClr val="065A82"/>
          </a:solidFill>
          <a:ln/>
        </p:spPr>
      </p:sp>
      <p:pic>
        <p:nvPicPr>
          <p:cNvPr id="5" name="Image 0" descr="/tmp/claude-0/-home-user-gpa-academy1/adc6e4aa-3b77-57c1-ba92-a8d4ee625c84/scratchpad/icons/brain_white.png">    </p:cNvPr>
          <p:cNvPicPr>
            <a:picLocks noChangeAspect="1"/>
          </p:cNvPicPr>
          <p:nvPr/>
        </p:nvPicPr>
        <p:blipFill>
          <a:blip r:embed="rId1"/>
          <a:stretch>
            <a:fillRect/>
          </a:stretch>
        </p:blipFill>
        <p:spPr>
          <a:xfrm>
            <a:off x="768096" y="1819656"/>
            <a:ext cx="475488" cy="475488"/>
          </a:xfrm>
          <a:prstGeom prst="rect">
            <a:avLst/>
          </a:prstGeom>
        </p:spPr>
      </p:pic>
      <p:sp>
        <p:nvSpPr>
          <p:cNvPr id="6" name="Text 3"/>
          <p:cNvSpPr txBox="1"/>
          <p:nvPr/>
        </p:nvSpPr>
        <p:spPr>
          <a:xfrm>
            <a:off x="548640" y="2743200"/>
            <a:ext cx="5486400" cy="210312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Estado reversible de inconsciencia, inducido farmacológicamente, que integra hipnosis, analgesia, amnesia y —con frecuencia— relajación muscular. Se acompaña de pérdida de los reflejos protectores de la vía aérea, lo que habitualmente exige soporte ventilatorio y manejo instrumentado de la vía aérea.</a:t>
            </a:r>
            <a:endParaRPr lang="en-US" sz="1400" dirty="0"/>
          </a:p>
        </p:txBody>
      </p:sp>
      <p:sp>
        <p:nvSpPr>
          <p:cNvPr id="7" name="Shape 4"/>
          <p:cNvSpPr/>
          <p:nvPr/>
        </p:nvSpPr>
        <p:spPr>
          <a:xfrm>
            <a:off x="6355080" y="1600200"/>
            <a:ext cx="5257800" cy="4434840"/>
          </a:xfrm>
          <a:prstGeom prst="roundRect">
            <a:avLst>
              <a:gd name="adj" fmla="val 1649"/>
            </a:avLst>
          </a:prstGeom>
          <a:solidFill>
            <a:srgbClr val="EAF3F7"/>
          </a:solidFill>
          <a:ln/>
          <a:effectLst>
            <a:outerShdw sx="100000" sy="100000" kx="0" ky="0" algn="bl" rotWithShape="0" blurRad="101600" dist="25400" dir="5400000">
              <a:srgbClr val="1B2A3A">
                <a:alpha val="12000"/>
              </a:srgbClr>
            </a:outerShdw>
          </a:effectLst>
        </p:spPr>
      </p:sp>
      <p:sp>
        <p:nvSpPr>
          <p:cNvPr id="8" name="Text 5"/>
          <p:cNvSpPr txBox="1"/>
          <p:nvPr/>
        </p:nvSpPr>
        <p:spPr>
          <a:xfrm>
            <a:off x="6629400" y="1810512"/>
            <a:ext cx="475488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Modalidades de administración</a:t>
            </a:r>
            <a:endParaRPr lang="en-US" sz="1550" dirty="0"/>
          </a:p>
        </p:txBody>
      </p:sp>
      <p:sp>
        <p:nvSpPr>
          <p:cNvPr id="9" name="Text 6"/>
          <p:cNvSpPr txBox="1"/>
          <p:nvPr/>
        </p:nvSpPr>
        <p:spPr>
          <a:xfrm>
            <a:off x="6629400" y="2286000"/>
            <a:ext cx="4754880" cy="3566160"/>
          </a:xfrm>
          <a:prstGeom prst="rect">
            <a:avLst/>
          </a:prstGeom>
          <a:noFill/>
          <a:ln/>
        </p:spPr>
        <p:txBody>
          <a:bodyPr wrap="square" lIns="0" tIns="0" rIns="0" bIns="0" rtlCol="0" anchor="t"/>
          <a:lstStyle/>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Anestesia inhalatoria: mantenimiento con agentes halogenados administrados por vía respiratoria.</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Anestesia intravenosa total (TIVA): infusión continua de hipnóticos y opioides, sin agentes inhalatorios.</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Anestesia balanceada: combinación de agentes inhalatorios e intravenosos, la modalidad más frecuente en la práctica.</a:t>
            </a:r>
            <a:endParaRPr lang="en-US" sz="1250" dirty="0"/>
          </a:p>
          <a:p>
            <a:pPr marL="203200" indent="-203200">
              <a:spcAft>
                <a:spcPts val="1100"/>
              </a:spcAft>
              <a:buSzPct val="100000"/>
              <a:buChar char="▪"/>
            </a:pPr>
            <a:r>
              <a:rPr lang="en-US" sz="1250" dirty="0">
                <a:solidFill>
                  <a:srgbClr val="2B3648"/>
                </a:solidFill>
                <a:latin typeface="Calibri" pitchFamily="34" charset="0"/>
                <a:ea typeface="Calibri" pitchFamily="34" charset="-122"/>
                <a:cs typeface="Calibri" pitchFamily="34" charset="-120"/>
              </a:rPr>
              <a:t>La elección depende del paciente, la cirugía y los recursos de monitorización disponibles (p. ej., índice biespectral en TIVA).</a:t>
            </a:r>
            <a:endParaRPr lang="en-US" sz="1250" dirty="0"/>
          </a:p>
        </p:txBody>
      </p:sp>
      <p:sp>
        <p:nvSpPr>
          <p:cNvPr id="11" name="Text 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2"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17 / 33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ANESTESIA GENERAL · 2 DE 2</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Fases de la anestesia general</a:t>
            </a:r>
            <a:endParaRPr lang="en-US" sz="2900" dirty="0"/>
          </a:p>
        </p:txBody>
      </p:sp>
      <p:sp>
        <p:nvSpPr>
          <p:cNvPr id="4" name="Shape 2"/>
          <p:cNvSpPr/>
          <p:nvPr/>
        </p:nvSpPr>
        <p:spPr>
          <a:xfrm>
            <a:off x="4123944" y="2487168"/>
            <a:ext cx="393192" cy="320040"/>
          </a:xfrm>
          <a:prstGeom prst="rightArrow">
            <a:avLst/>
          </a:prstGeom>
          <a:solidFill>
            <a:srgbClr val="1C7293"/>
          </a:solidFill>
          <a:ln/>
        </p:spPr>
      </p:sp>
      <p:sp>
        <p:nvSpPr>
          <p:cNvPr id="5" name="Shape 3"/>
          <p:cNvSpPr/>
          <p:nvPr/>
        </p:nvSpPr>
        <p:spPr>
          <a:xfrm>
            <a:off x="685800" y="1920240"/>
            <a:ext cx="3383280" cy="3749040"/>
          </a:xfrm>
          <a:prstGeom prst="roundRect">
            <a:avLst>
              <a:gd name="adj" fmla="val 2162"/>
            </a:avLst>
          </a:prstGeom>
          <a:solidFill>
            <a:srgbClr val="EAF3F7"/>
          </a:solidFill>
          <a:ln/>
          <a:effectLst>
            <a:outerShdw sx="100000" sy="100000" kx="0" ky="0" algn="bl" rotWithShape="0" blurRad="101600" dist="25400" dir="5400000">
              <a:srgbClr val="1B2A3A">
                <a:alpha val="12000"/>
              </a:srgbClr>
            </a:outerShdw>
          </a:effectLst>
        </p:spPr>
      </p:sp>
      <p:sp>
        <p:nvSpPr>
          <p:cNvPr id="6" name="Shape 4"/>
          <p:cNvSpPr/>
          <p:nvPr/>
        </p:nvSpPr>
        <p:spPr>
          <a:xfrm>
            <a:off x="914400" y="1600200"/>
            <a:ext cx="640080" cy="640080"/>
          </a:xfrm>
          <a:prstGeom prst="ellipse">
            <a:avLst/>
          </a:prstGeom>
          <a:solidFill>
            <a:srgbClr val="21295C"/>
          </a:solidFill>
          <a:ln w="38100">
            <a:solidFill>
              <a:srgbClr val="FFFFFF"/>
            </a:solidFill>
            <a:prstDash val="solid"/>
          </a:ln>
        </p:spPr>
      </p:sp>
      <p:sp>
        <p:nvSpPr>
          <p:cNvPr id="7" name="Text 5"/>
          <p:cNvSpPr txBox="1"/>
          <p:nvPr/>
        </p:nvSpPr>
        <p:spPr>
          <a:xfrm>
            <a:off x="914400" y="1600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Shape 6"/>
          <p:cNvSpPr/>
          <p:nvPr/>
        </p:nvSpPr>
        <p:spPr>
          <a:xfrm>
            <a:off x="3108960" y="2240280"/>
            <a:ext cx="640080" cy="640080"/>
          </a:xfrm>
          <a:prstGeom prst="ellipse">
            <a:avLst/>
          </a:prstGeom>
          <a:solidFill>
            <a:srgbClr val="065A82"/>
          </a:solidFill>
          <a:ln/>
        </p:spPr>
      </p:sp>
      <p:pic>
        <p:nvPicPr>
          <p:cNvPr id="9" name="Image 0" descr="/tmp/claude-0/-home-user-gpa-academy1/adc6e4aa-3b77-57c1-ba92-a8d4ee625c84/scratchpad/icons/syringe_white.png">    </p:cNvPr>
          <p:cNvPicPr>
            <a:picLocks noChangeAspect="1"/>
          </p:cNvPicPr>
          <p:nvPr/>
        </p:nvPicPr>
        <p:blipFill>
          <a:blip r:embed="rId1"/>
          <a:stretch>
            <a:fillRect/>
          </a:stretch>
        </p:blipFill>
        <p:spPr>
          <a:xfrm>
            <a:off x="3268980" y="2400300"/>
            <a:ext cx="320040" cy="320040"/>
          </a:xfrm>
          <a:prstGeom prst="rect">
            <a:avLst/>
          </a:prstGeom>
        </p:spPr>
      </p:pic>
      <p:sp>
        <p:nvSpPr>
          <p:cNvPr id="10" name="Text 7"/>
          <p:cNvSpPr txBox="1"/>
          <p:nvPr/>
        </p:nvSpPr>
        <p:spPr>
          <a:xfrm>
            <a:off x="914400" y="3063240"/>
            <a:ext cx="2926080" cy="45720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Inducción</a:t>
            </a:r>
            <a:endParaRPr lang="en-US" sz="1800" dirty="0"/>
          </a:p>
        </p:txBody>
      </p:sp>
      <p:sp>
        <p:nvSpPr>
          <p:cNvPr id="11" name="Text 8"/>
          <p:cNvSpPr txBox="1"/>
          <p:nvPr/>
        </p:nvSpPr>
        <p:spPr>
          <a:xfrm>
            <a:off x="914400" y="3611880"/>
            <a:ext cx="2926080" cy="1920240"/>
          </a:xfrm>
          <a:prstGeom prst="rect">
            <a:avLst/>
          </a:prstGeom>
          <a:noFill/>
          <a:ln/>
        </p:spPr>
        <p:txBody>
          <a:bodyPr wrap="square" lIns="0" tIns="0" rIns="0" bIns="0" rtlCol="0" anchor="ctr"/>
          <a:lstStyle/>
          <a:p>
            <a:pPr indent="0" marL="0">
              <a:lnSpc>
                <a:spcPts val="1600"/>
              </a:lnSpc>
              <a:buNone/>
            </a:pPr>
            <a:r>
              <a:rPr lang="en-US" sz="1200" dirty="0">
                <a:solidFill>
                  <a:srgbClr val="2B3648"/>
                </a:solidFill>
                <a:latin typeface="Calibri" pitchFamily="34" charset="0"/>
                <a:ea typeface="Calibri" pitchFamily="34" charset="-122"/>
                <a:cs typeface="Calibri" pitchFamily="34" charset="-120"/>
              </a:rPr>
              <a:t>Transición de vigilia a inconsciencia mediante agentes intravenosos de acción rápida (propofol) o inhalatorios en población pediátrica; incluye el manejo inicial de la vía aérea.</a:t>
            </a:r>
            <a:endParaRPr lang="en-US" sz="1200" dirty="0"/>
          </a:p>
        </p:txBody>
      </p:sp>
      <p:sp>
        <p:nvSpPr>
          <p:cNvPr id="12" name="Shape 9"/>
          <p:cNvSpPr/>
          <p:nvPr/>
        </p:nvSpPr>
        <p:spPr>
          <a:xfrm>
            <a:off x="8010144" y="2487168"/>
            <a:ext cx="393192" cy="320040"/>
          </a:xfrm>
          <a:prstGeom prst="rightArrow">
            <a:avLst/>
          </a:prstGeom>
          <a:solidFill>
            <a:srgbClr val="1C7293"/>
          </a:solidFill>
          <a:ln/>
        </p:spPr>
      </p:sp>
      <p:sp>
        <p:nvSpPr>
          <p:cNvPr id="13" name="Shape 10"/>
          <p:cNvSpPr/>
          <p:nvPr/>
        </p:nvSpPr>
        <p:spPr>
          <a:xfrm>
            <a:off x="4572000" y="1920240"/>
            <a:ext cx="3383280" cy="3749040"/>
          </a:xfrm>
          <a:prstGeom prst="roundRect">
            <a:avLst>
              <a:gd name="adj" fmla="val 2162"/>
            </a:avLst>
          </a:prstGeom>
          <a:solidFill>
            <a:srgbClr val="EAF3F7"/>
          </a:solidFill>
          <a:ln/>
          <a:effectLst>
            <a:outerShdw sx="100000" sy="100000" kx="0" ky="0" algn="bl" rotWithShape="0" blurRad="101600" dist="25400" dir="5400000">
              <a:srgbClr val="1B2A3A">
                <a:alpha val="12000"/>
              </a:srgbClr>
            </a:outerShdw>
          </a:effectLst>
        </p:spPr>
      </p:sp>
      <p:sp>
        <p:nvSpPr>
          <p:cNvPr id="14" name="Shape 11"/>
          <p:cNvSpPr/>
          <p:nvPr/>
        </p:nvSpPr>
        <p:spPr>
          <a:xfrm>
            <a:off x="4800600" y="1600200"/>
            <a:ext cx="640080" cy="640080"/>
          </a:xfrm>
          <a:prstGeom prst="ellipse">
            <a:avLst/>
          </a:prstGeom>
          <a:solidFill>
            <a:srgbClr val="21295C"/>
          </a:solidFill>
          <a:ln w="38100">
            <a:solidFill>
              <a:srgbClr val="FFFFFF"/>
            </a:solidFill>
            <a:prstDash val="solid"/>
          </a:ln>
        </p:spPr>
      </p:sp>
      <p:sp>
        <p:nvSpPr>
          <p:cNvPr id="15" name="Text 12"/>
          <p:cNvSpPr txBox="1"/>
          <p:nvPr/>
        </p:nvSpPr>
        <p:spPr>
          <a:xfrm>
            <a:off x="4800600" y="1600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6" name="Shape 13"/>
          <p:cNvSpPr/>
          <p:nvPr/>
        </p:nvSpPr>
        <p:spPr>
          <a:xfrm>
            <a:off x="6995160" y="2240280"/>
            <a:ext cx="640080" cy="640080"/>
          </a:xfrm>
          <a:prstGeom prst="ellipse">
            <a:avLst/>
          </a:prstGeom>
          <a:solidFill>
            <a:srgbClr val="065A82"/>
          </a:solidFill>
          <a:ln/>
        </p:spPr>
      </p:sp>
      <p:pic>
        <p:nvPicPr>
          <p:cNvPr id="17" name="Image 1" descr="/tmp/claude-0/-home-user-gpa-academy1/adc6e4aa-3b77-57c1-ba92-a8d4ee625c84/scratchpad/icons/settings_white.png">    </p:cNvPr>
          <p:cNvPicPr>
            <a:picLocks noChangeAspect="1"/>
          </p:cNvPicPr>
          <p:nvPr/>
        </p:nvPicPr>
        <p:blipFill>
          <a:blip r:embed="rId2"/>
          <a:stretch>
            <a:fillRect/>
          </a:stretch>
        </p:blipFill>
        <p:spPr>
          <a:xfrm>
            <a:off x="7155180" y="2400300"/>
            <a:ext cx="320040" cy="320040"/>
          </a:xfrm>
          <a:prstGeom prst="rect">
            <a:avLst/>
          </a:prstGeom>
        </p:spPr>
      </p:pic>
      <p:sp>
        <p:nvSpPr>
          <p:cNvPr id="18" name="Text 14"/>
          <p:cNvSpPr txBox="1"/>
          <p:nvPr/>
        </p:nvSpPr>
        <p:spPr>
          <a:xfrm>
            <a:off x="4800600" y="3063240"/>
            <a:ext cx="2926080" cy="45720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Mantenimiento</a:t>
            </a:r>
            <a:endParaRPr lang="en-US" sz="1800" dirty="0"/>
          </a:p>
        </p:txBody>
      </p:sp>
      <p:sp>
        <p:nvSpPr>
          <p:cNvPr id="19" name="Text 15"/>
          <p:cNvSpPr txBox="1"/>
          <p:nvPr/>
        </p:nvSpPr>
        <p:spPr>
          <a:xfrm>
            <a:off x="4800600" y="3611880"/>
            <a:ext cx="2926080" cy="1920240"/>
          </a:xfrm>
          <a:prstGeom prst="rect">
            <a:avLst/>
          </a:prstGeom>
          <a:noFill/>
          <a:ln/>
        </p:spPr>
        <p:txBody>
          <a:bodyPr wrap="square" lIns="0" tIns="0" rIns="0" bIns="0" rtlCol="0" anchor="ctr"/>
          <a:lstStyle/>
          <a:p>
            <a:pPr indent="0" marL="0">
              <a:lnSpc>
                <a:spcPts val="1600"/>
              </a:lnSpc>
              <a:buNone/>
            </a:pPr>
            <a:r>
              <a:rPr lang="en-US" sz="1200" dirty="0">
                <a:solidFill>
                  <a:srgbClr val="2B3648"/>
                </a:solidFill>
                <a:latin typeface="Calibri" pitchFamily="34" charset="0"/>
                <a:ea typeface="Calibri" pitchFamily="34" charset="-122"/>
                <a:cs typeface="Calibri" pitchFamily="34" charset="-120"/>
              </a:rPr>
              <a:t>Sostenimiento de la profundidad anestésica adecuada durante todo el procedimiento mediante agentes inhalatorios y/o TIVA, junto con analgesia continuada y monitorización constante.</a:t>
            </a:r>
            <a:endParaRPr lang="en-US" sz="1200" dirty="0"/>
          </a:p>
        </p:txBody>
      </p:sp>
      <p:sp>
        <p:nvSpPr>
          <p:cNvPr id="20" name="Shape 16"/>
          <p:cNvSpPr/>
          <p:nvPr/>
        </p:nvSpPr>
        <p:spPr>
          <a:xfrm>
            <a:off x="8458200" y="1920240"/>
            <a:ext cx="3383280" cy="3749040"/>
          </a:xfrm>
          <a:prstGeom prst="roundRect">
            <a:avLst>
              <a:gd name="adj" fmla="val 2162"/>
            </a:avLst>
          </a:prstGeom>
          <a:solidFill>
            <a:srgbClr val="EAF3F7"/>
          </a:solidFill>
          <a:ln/>
          <a:effectLst>
            <a:outerShdw sx="100000" sy="100000" kx="0" ky="0" algn="bl" rotWithShape="0" blurRad="101600" dist="25400" dir="5400000">
              <a:srgbClr val="1B2A3A">
                <a:alpha val="12000"/>
              </a:srgbClr>
            </a:outerShdw>
          </a:effectLst>
        </p:spPr>
      </p:sp>
      <p:sp>
        <p:nvSpPr>
          <p:cNvPr id="21" name="Shape 17"/>
          <p:cNvSpPr/>
          <p:nvPr/>
        </p:nvSpPr>
        <p:spPr>
          <a:xfrm>
            <a:off x="8686800" y="1600200"/>
            <a:ext cx="640080" cy="640080"/>
          </a:xfrm>
          <a:prstGeom prst="ellipse">
            <a:avLst/>
          </a:prstGeom>
          <a:solidFill>
            <a:srgbClr val="21295C"/>
          </a:solidFill>
          <a:ln w="38100">
            <a:solidFill>
              <a:srgbClr val="FFFFFF"/>
            </a:solidFill>
            <a:prstDash val="solid"/>
          </a:ln>
        </p:spPr>
      </p:sp>
      <p:sp>
        <p:nvSpPr>
          <p:cNvPr id="22" name="Text 18"/>
          <p:cNvSpPr txBox="1"/>
          <p:nvPr/>
        </p:nvSpPr>
        <p:spPr>
          <a:xfrm>
            <a:off x="8686800" y="1600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3" name="Shape 19"/>
          <p:cNvSpPr/>
          <p:nvPr/>
        </p:nvSpPr>
        <p:spPr>
          <a:xfrm>
            <a:off x="10881360" y="2240280"/>
            <a:ext cx="640080" cy="640080"/>
          </a:xfrm>
          <a:prstGeom prst="ellipse">
            <a:avLst/>
          </a:prstGeom>
          <a:solidFill>
            <a:srgbClr val="065A82"/>
          </a:solidFill>
          <a:ln/>
        </p:spPr>
      </p:sp>
      <p:pic>
        <p:nvPicPr>
          <p:cNvPr id="24" name="Image 2" descr="/tmp/claude-0/-home-user-gpa-academy1/adc6e4aa-3b77-57c1-ba92-a8d4ee625c84/scratchpad/icons/checkcircle_white.png">    </p:cNvPr>
          <p:cNvPicPr>
            <a:picLocks noChangeAspect="1"/>
          </p:cNvPicPr>
          <p:nvPr/>
        </p:nvPicPr>
        <p:blipFill>
          <a:blip r:embed="rId3"/>
          <a:stretch>
            <a:fillRect/>
          </a:stretch>
        </p:blipFill>
        <p:spPr>
          <a:xfrm>
            <a:off x="11041380" y="2400300"/>
            <a:ext cx="320040" cy="320040"/>
          </a:xfrm>
          <a:prstGeom prst="rect">
            <a:avLst/>
          </a:prstGeom>
        </p:spPr>
      </p:pic>
      <p:sp>
        <p:nvSpPr>
          <p:cNvPr id="25" name="Text 20"/>
          <p:cNvSpPr txBox="1"/>
          <p:nvPr/>
        </p:nvSpPr>
        <p:spPr>
          <a:xfrm>
            <a:off x="8686800" y="3063240"/>
            <a:ext cx="2926080" cy="457200"/>
          </a:xfrm>
          <a:prstGeom prst="rect">
            <a:avLst/>
          </a:prstGeom>
          <a:noFill/>
          <a:ln/>
        </p:spPr>
        <p:txBody>
          <a:bodyPr wrap="square" lIns="0" tIns="0" rIns="0" bIns="0" rtlCol="0" anchor="ctr"/>
          <a:lstStyle/>
          <a:p>
            <a:pPr indent="0" marL="0">
              <a:buNone/>
            </a:pPr>
            <a:r>
              <a:rPr lang="en-US" sz="1800" b="1" dirty="0">
                <a:solidFill>
                  <a:srgbClr val="21295C"/>
                </a:solidFill>
                <a:latin typeface="Cambria" pitchFamily="34" charset="0"/>
                <a:ea typeface="Cambria" pitchFamily="34" charset="-122"/>
                <a:cs typeface="Cambria" pitchFamily="34" charset="-120"/>
              </a:rPr>
              <a:t>Emergencia</a:t>
            </a:r>
            <a:endParaRPr lang="en-US" sz="1800" dirty="0"/>
          </a:p>
        </p:txBody>
      </p:sp>
      <p:sp>
        <p:nvSpPr>
          <p:cNvPr id="26" name="Text 21"/>
          <p:cNvSpPr txBox="1"/>
          <p:nvPr/>
        </p:nvSpPr>
        <p:spPr>
          <a:xfrm>
            <a:off x="8686800" y="3611880"/>
            <a:ext cx="2926080" cy="1920240"/>
          </a:xfrm>
          <a:prstGeom prst="rect">
            <a:avLst/>
          </a:prstGeom>
          <a:noFill/>
          <a:ln/>
        </p:spPr>
        <p:txBody>
          <a:bodyPr wrap="square" lIns="0" tIns="0" rIns="0" bIns="0" rtlCol="0" anchor="ctr"/>
          <a:lstStyle/>
          <a:p>
            <a:pPr indent="0" marL="0">
              <a:lnSpc>
                <a:spcPts val="1600"/>
              </a:lnSpc>
              <a:buNone/>
            </a:pPr>
            <a:r>
              <a:rPr lang="en-US" sz="1200" dirty="0">
                <a:solidFill>
                  <a:srgbClr val="2B3648"/>
                </a:solidFill>
                <a:latin typeface="Calibri" pitchFamily="34" charset="0"/>
                <a:ea typeface="Calibri" pitchFamily="34" charset="-122"/>
                <a:cs typeface="Calibri" pitchFamily="34" charset="-120"/>
              </a:rPr>
              <a:t>Despertar controlado: reversión del bloqueo neuromuscular, recuperación de reflejos protectores y extubación segura, con transferencia a la unidad de cuidados posanestésicos.</a:t>
            </a:r>
            <a:endParaRPr lang="en-US" sz="1200" dirty="0"/>
          </a:p>
        </p:txBody>
      </p:sp>
      <p:sp>
        <p:nvSpPr>
          <p:cNvPr id="28" name="Text 2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9" name="Text 2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18 / 33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ANESTESIA REGIONAL · 1 DE 3</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Anestesia regional: definición</a:t>
            </a:r>
            <a:endParaRPr lang="en-US" sz="2900" dirty="0"/>
          </a:p>
        </p:txBody>
      </p:sp>
      <p:sp>
        <p:nvSpPr>
          <p:cNvPr id="4" name="Shape 2"/>
          <p:cNvSpPr/>
          <p:nvPr/>
        </p:nvSpPr>
        <p:spPr>
          <a:xfrm>
            <a:off x="548640" y="1645920"/>
            <a:ext cx="914400" cy="914400"/>
          </a:xfrm>
          <a:prstGeom prst="ellipse">
            <a:avLst/>
          </a:prstGeom>
          <a:solidFill>
            <a:srgbClr val="1C7293"/>
          </a:solidFill>
          <a:ln/>
        </p:spPr>
      </p:sp>
      <p:pic>
        <p:nvPicPr>
          <p:cNvPr id="5" name="Image 0" descr="/tmp/claude-0/-home-user-gpa-academy1/adc6e4aa-3b77-57c1-ba92-a8d4ee625c84/scratchpad/icons/spinalcoil_white.png">    </p:cNvPr>
          <p:cNvPicPr>
            <a:picLocks noChangeAspect="1"/>
          </p:cNvPicPr>
          <p:nvPr/>
        </p:nvPicPr>
        <p:blipFill>
          <a:blip r:embed="rId1"/>
          <a:stretch>
            <a:fillRect/>
          </a:stretch>
        </p:blipFill>
        <p:spPr>
          <a:xfrm>
            <a:off x="768096" y="1865376"/>
            <a:ext cx="475488" cy="475488"/>
          </a:xfrm>
          <a:prstGeom prst="rect">
            <a:avLst/>
          </a:prstGeom>
        </p:spPr>
      </p:pic>
      <p:sp>
        <p:nvSpPr>
          <p:cNvPr id="6" name="Text 3"/>
          <p:cNvSpPr txBox="1"/>
          <p:nvPr/>
        </p:nvSpPr>
        <p:spPr>
          <a:xfrm>
            <a:off x="548640" y="2788920"/>
            <a:ext cx="5486400" cy="219456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Técnica que produce un bloqueo reversible de la conducción nerviosa en una región específica del cuerpo, mediante el depósito de anestésico local cerca de estructuras neurales —nervios periféricos, plexos o el neuroeje— preservando la conciencia del paciente, salvo que se combine deliberadamente con sedación.</a:t>
            </a:r>
            <a:endParaRPr lang="en-US" sz="1400" dirty="0"/>
          </a:p>
        </p:txBody>
      </p:sp>
      <p:sp>
        <p:nvSpPr>
          <p:cNvPr id="7" name="Shape 4"/>
          <p:cNvSpPr/>
          <p:nvPr/>
        </p:nvSpPr>
        <p:spPr>
          <a:xfrm>
            <a:off x="6355080" y="1645920"/>
            <a:ext cx="5257800" cy="4389120"/>
          </a:xfrm>
          <a:prstGeom prst="roundRect">
            <a:avLst>
              <a:gd name="adj" fmla="val 1667"/>
            </a:avLst>
          </a:prstGeom>
          <a:solidFill>
            <a:srgbClr val="EAF3F7"/>
          </a:solidFill>
          <a:ln/>
          <a:effectLst>
            <a:outerShdw sx="100000" sy="100000" kx="0" ky="0" algn="bl" rotWithShape="0" blurRad="101600" dist="25400" dir="5400000">
              <a:srgbClr val="1B2A3A">
                <a:alpha val="12000"/>
              </a:srgbClr>
            </a:outerShdw>
          </a:effectLst>
        </p:spPr>
      </p:sp>
      <p:sp>
        <p:nvSpPr>
          <p:cNvPr id="8" name="Text 5"/>
          <p:cNvSpPr txBox="1"/>
          <p:nvPr/>
        </p:nvSpPr>
        <p:spPr>
          <a:xfrm>
            <a:off x="6629400" y="1847088"/>
            <a:ext cx="475488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Ventajas frente a la anestesia general</a:t>
            </a:r>
            <a:endParaRPr lang="en-US" sz="1550" dirty="0"/>
          </a:p>
        </p:txBody>
      </p:sp>
      <p:sp>
        <p:nvSpPr>
          <p:cNvPr id="9" name="Text 6"/>
          <p:cNvSpPr txBox="1"/>
          <p:nvPr/>
        </p:nvSpPr>
        <p:spPr>
          <a:xfrm>
            <a:off x="6629400" y="2331720"/>
            <a:ext cx="4754880" cy="3566160"/>
          </a:xfrm>
          <a:prstGeom prst="rect">
            <a:avLst/>
          </a:prstGeom>
          <a:noFill/>
          <a:ln/>
        </p:spPr>
        <p:txBody>
          <a:bodyPr wrap="square" lIns="0" tIns="0" rIns="0" bIns="0" rtlCol="0" anchor="t"/>
          <a:lstStyle/>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Analgesia postoperatoria superior y más prolongada.</a:t>
            </a:r>
            <a:endParaRPr lang="en-US" sz="1230" dirty="0"/>
          </a:p>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Menor respuesta neuroendocrina de estrés quirúrgico.</a:t>
            </a:r>
            <a:endParaRPr lang="en-US" sz="1230" dirty="0"/>
          </a:p>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Reducción del consumo de opioides sistémicos y sus efectos adversos.</a:t>
            </a:r>
            <a:endParaRPr lang="en-US" sz="1230" dirty="0"/>
          </a:p>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Recuperación funcional más rápida en contextos seleccionados (ortopedia, cirugía ambulatoria).</a:t>
            </a:r>
            <a:endParaRPr lang="en-US" sz="1230" dirty="0"/>
          </a:p>
          <a:p>
            <a:pPr marL="203200" indent="-203200">
              <a:spcAft>
                <a:spcPts val="1000"/>
              </a:spcAft>
              <a:buSzPct val="100000"/>
              <a:buChar char="▪"/>
            </a:pPr>
            <a:r>
              <a:rPr lang="en-US" sz="1230" dirty="0">
                <a:solidFill>
                  <a:srgbClr val="2B3648"/>
                </a:solidFill>
                <a:latin typeface="Calibri" pitchFamily="34" charset="0"/>
                <a:ea typeface="Calibri" pitchFamily="34" charset="-122"/>
                <a:cs typeface="Calibri" pitchFamily="34" charset="-120"/>
              </a:rPr>
              <a:t>Se subdivide en anestesia neuroaxial (raquídea, epidural) y bloqueos de nervio periférico.</a:t>
            </a:r>
            <a:endParaRPr lang="en-US" sz="1230" dirty="0"/>
          </a:p>
        </p:txBody>
      </p:sp>
      <p:sp>
        <p:nvSpPr>
          <p:cNvPr id="11" name="Text 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2"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19 / 33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ANESTESIA REGIONAL · 2 DE 3</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Anestesia regional neuroaxial: raquídea y epidural</a:t>
            </a:r>
            <a:endParaRPr lang="en-US" sz="2900" dirty="0"/>
          </a:p>
        </p:txBody>
      </p:sp>
      <p:sp>
        <p:nvSpPr>
          <p:cNvPr id="4" name="Shape 2"/>
          <p:cNvSpPr/>
          <p:nvPr/>
        </p:nvSpPr>
        <p:spPr>
          <a:xfrm>
            <a:off x="548640" y="1874520"/>
            <a:ext cx="2377440" cy="777240"/>
          </a:xfrm>
          <a:prstGeom prst="roundRect">
            <a:avLst>
              <a:gd name="adj" fmla="val 9412"/>
            </a:avLst>
          </a:prstGeom>
          <a:solidFill>
            <a:srgbClr val="21295C"/>
          </a:solidFill>
          <a:ln/>
          <a:effectLst>
            <a:outerShdw sx="100000" sy="100000" kx="0" ky="0" algn="bl" rotWithShape="0" blurRad="101600" dist="25400" dir="5400000">
              <a:srgbClr val="1B2A3A">
                <a:alpha val="12000"/>
              </a:srgbClr>
            </a:outerShdw>
          </a:effectLst>
        </p:spPr>
      </p:sp>
      <p:sp>
        <p:nvSpPr>
          <p:cNvPr id="5" name="Shape 3"/>
          <p:cNvSpPr/>
          <p:nvPr/>
        </p:nvSpPr>
        <p:spPr>
          <a:xfrm>
            <a:off x="3063240" y="1874520"/>
            <a:ext cx="4160520" cy="777240"/>
          </a:xfrm>
          <a:prstGeom prst="roundRect">
            <a:avLst>
              <a:gd name="adj" fmla="val 9412"/>
            </a:avLst>
          </a:prstGeom>
          <a:solidFill>
            <a:srgbClr val="065A82"/>
          </a:solidFill>
          <a:ln/>
          <a:effectLst>
            <a:outerShdw sx="100000" sy="100000" kx="0" ky="0" algn="bl" rotWithShape="0" blurRad="101600" dist="25400" dir="5400000">
              <a:srgbClr val="1B2A3A">
                <a:alpha val="12000"/>
              </a:srgbClr>
            </a:outerShdw>
          </a:effectLst>
        </p:spPr>
      </p:sp>
      <p:sp>
        <p:nvSpPr>
          <p:cNvPr id="6" name="Shape 4"/>
          <p:cNvSpPr/>
          <p:nvPr/>
        </p:nvSpPr>
        <p:spPr>
          <a:xfrm>
            <a:off x="7360920" y="1874520"/>
            <a:ext cx="4160520" cy="777240"/>
          </a:xfrm>
          <a:prstGeom prst="roundRect">
            <a:avLst>
              <a:gd name="adj" fmla="val 9412"/>
            </a:avLst>
          </a:prstGeom>
          <a:solidFill>
            <a:srgbClr val="1C7293"/>
          </a:solidFill>
          <a:ln/>
          <a:effectLst>
            <a:outerShdw sx="100000" sy="100000" kx="0" ky="0" algn="bl" rotWithShape="0" blurRad="101600" dist="25400" dir="5400000">
              <a:srgbClr val="1B2A3A">
                <a:alpha val="12000"/>
              </a:srgbClr>
            </a:outerShdw>
          </a:effectLst>
        </p:spPr>
      </p:sp>
      <p:sp>
        <p:nvSpPr>
          <p:cNvPr id="7" name="Text 5"/>
          <p:cNvSpPr txBox="1"/>
          <p:nvPr/>
        </p:nvSpPr>
        <p:spPr>
          <a:xfrm>
            <a:off x="548640" y="1874520"/>
            <a:ext cx="2377440"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PARÁMETRO</a:t>
            </a:r>
            <a:endParaRPr lang="en-US" sz="1250" dirty="0"/>
          </a:p>
        </p:txBody>
      </p:sp>
      <p:sp>
        <p:nvSpPr>
          <p:cNvPr id="8" name="Text 6"/>
          <p:cNvSpPr txBox="1"/>
          <p:nvPr/>
        </p:nvSpPr>
        <p:spPr>
          <a:xfrm>
            <a:off x="3063240" y="1874520"/>
            <a:ext cx="416052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Raquídea (espinal)</a:t>
            </a:r>
            <a:endParaRPr lang="en-US" sz="1500" dirty="0"/>
          </a:p>
        </p:txBody>
      </p:sp>
      <p:sp>
        <p:nvSpPr>
          <p:cNvPr id="9" name="Text 7"/>
          <p:cNvSpPr txBox="1"/>
          <p:nvPr/>
        </p:nvSpPr>
        <p:spPr>
          <a:xfrm>
            <a:off x="7360920" y="1874520"/>
            <a:ext cx="4160520"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Epidural</a:t>
            </a:r>
            <a:endParaRPr lang="en-US" sz="1500" dirty="0"/>
          </a:p>
        </p:txBody>
      </p:sp>
      <p:sp>
        <p:nvSpPr>
          <p:cNvPr id="10" name="Shape 8"/>
          <p:cNvSpPr/>
          <p:nvPr/>
        </p:nvSpPr>
        <p:spPr>
          <a:xfrm>
            <a:off x="548640" y="2743200"/>
            <a:ext cx="2377440" cy="658368"/>
          </a:xfrm>
          <a:prstGeom prst="roundRect">
            <a:avLst>
              <a:gd name="adj" fmla="val 11111"/>
            </a:avLst>
          </a:prstGeom>
          <a:solidFill>
            <a:srgbClr val="E3EEF3"/>
          </a:solidFill>
          <a:ln/>
          <a:effectLst>
            <a:outerShdw sx="100000" sy="100000" kx="0" ky="0" algn="bl" rotWithShape="0" blurRad="101600" dist="25400" dir="5400000">
              <a:srgbClr val="1B2A3A">
                <a:alpha val="12000"/>
              </a:srgbClr>
            </a:outerShdw>
          </a:effectLst>
        </p:spPr>
      </p:sp>
      <p:sp>
        <p:nvSpPr>
          <p:cNvPr id="11" name="Shape 9"/>
          <p:cNvSpPr/>
          <p:nvPr/>
        </p:nvSpPr>
        <p:spPr>
          <a:xfrm>
            <a:off x="3063240" y="2743200"/>
            <a:ext cx="4160520" cy="658368"/>
          </a:xfrm>
          <a:prstGeom prst="roundRect">
            <a:avLst>
              <a:gd name="adj" fmla="val 11111"/>
            </a:avLst>
          </a:prstGeom>
          <a:solidFill>
            <a:srgbClr val="EAF3F7"/>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12" name="Shape 10"/>
          <p:cNvSpPr/>
          <p:nvPr/>
        </p:nvSpPr>
        <p:spPr>
          <a:xfrm>
            <a:off x="7360920" y="2743200"/>
            <a:ext cx="4160520" cy="658368"/>
          </a:xfrm>
          <a:prstGeom prst="roundRect">
            <a:avLst>
              <a:gd name="adj" fmla="val 11111"/>
            </a:avLst>
          </a:prstGeom>
          <a:solidFill>
            <a:srgbClr val="EAF3F7"/>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13" name="Text 11"/>
          <p:cNvSpPr txBox="1"/>
          <p:nvPr/>
        </p:nvSpPr>
        <p:spPr>
          <a:xfrm>
            <a:off x="658368" y="2743200"/>
            <a:ext cx="2194560" cy="658368"/>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Espacio de punción</a:t>
            </a:r>
            <a:endParaRPr lang="en-US" sz="1100" dirty="0"/>
          </a:p>
        </p:txBody>
      </p:sp>
      <p:sp>
        <p:nvSpPr>
          <p:cNvPr id="14" name="Text 12"/>
          <p:cNvSpPr txBox="1"/>
          <p:nvPr/>
        </p:nvSpPr>
        <p:spPr>
          <a:xfrm>
            <a:off x="3200400" y="2743200"/>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Subaracnoideo (LCR)</a:t>
            </a:r>
            <a:endParaRPr lang="en-US" sz="1150" dirty="0"/>
          </a:p>
        </p:txBody>
      </p:sp>
      <p:sp>
        <p:nvSpPr>
          <p:cNvPr id="15" name="Text 13"/>
          <p:cNvSpPr txBox="1"/>
          <p:nvPr/>
        </p:nvSpPr>
        <p:spPr>
          <a:xfrm>
            <a:off x="7498080" y="2743200"/>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Espacio epidural</a:t>
            </a:r>
            <a:endParaRPr lang="en-US" sz="1150" dirty="0"/>
          </a:p>
        </p:txBody>
      </p:sp>
      <p:sp>
        <p:nvSpPr>
          <p:cNvPr id="16" name="Shape 14"/>
          <p:cNvSpPr/>
          <p:nvPr/>
        </p:nvSpPr>
        <p:spPr>
          <a:xfrm>
            <a:off x="548640" y="3465576"/>
            <a:ext cx="2377440" cy="658368"/>
          </a:xfrm>
          <a:prstGeom prst="roundRect">
            <a:avLst>
              <a:gd name="adj" fmla="val 11111"/>
            </a:avLst>
          </a:prstGeom>
          <a:solidFill>
            <a:srgbClr val="E3EEF3"/>
          </a:solidFill>
          <a:ln/>
          <a:effectLst>
            <a:outerShdw sx="100000" sy="100000" kx="0" ky="0" algn="bl" rotWithShape="0" blurRad="101600" dist="25400" dir="5400000">
              <a:srgbClr val="1B2A3A">
                <a:alpha val="12000"/>
              </a:srgbClr>
            </a:outerShdw>
          </a:effectLst>
        </p:spPr>
      </p:sp>
      <p:sp>
        <p:nvSpPr>
          <p:cNvPr id="17" name="Shape 15"/>
          <p:cNvSpPr/>
          <p:nvPr/>
        </p:nvSpPr>
        <p:spPr>
          <a:xfrm>
            <a:off x="3063240" y="3465576"/>
            <a:ext cx="4160520" cy="658368"/>
          </a:xfrm>
          <a:prstGeom prst="roundRect">
            <a:avLst>
              <a:gd name="adj" fmla="val 11111"/>
            </a:avLst>
          </a:prstGeom>
          <a:solidFill>
            <a:srgbClr val="FFFFFF"/>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18" name="Shape 16"/>
          <p:cNvSpPr/>
          <p:nvPr/>
        </p:nvSpPr>
        <p:spPr>
          <a:xfrm>
            <a:off x="7360920" y="3465576"/>
            <a:ext cx="4160520" cy="658368"/>
          </a:xfrm>
          <a:prstGeom prst="roundRect">
            <a:avLst>
              <a:gd name="adj" fmla="val 11111"/>
            </a:avLst>
          </a:prstGeom>
          <a:solidFill>
            <a:srgbClr val="FFFFFF"/>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19" name="Text 17"/>
          <p:cNvSpPr txBox="1"/>
          <p:nvPr/>
        </p:nvSpPr>
        <p:spPr>
          <a:xfrm>
            <a:off x="658368" y="3465576"/>
            <a:ext cx="2194560" cy="658368"/>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Inicio de acción</a:t>
            </a:r>
            <a:endParaRPr lang="en-US" sz="1100" dirty="0"/>
          </a:p>
        </p:txBody>
      </p:sp>
      <p:sp>
        <p:nvSpPr>
          <p:cNvPr id="20" name="Text 18"/>
          <p:cNvSpPr txBox="1"/>
          <p:nvPr/>
        </p:nvSpPr>
        <p:spPr>
          <a:xfrm>
            <a:off x="3200400" y="3465576"/>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Rápido (minutos)</a:t>
            </a:r>
            <a:endParaRPr lang="en-US" sz="1150" dirty="0"/>
          </a:p>
        </p:txBody>
      </p:sp>
      <p:sp>
        <p:nvSpPr>
          <p:cNvPr id="21" name="Text 19"/>
          <p:cNvSpPr txBox="1"/>
          <p:nvPr/>
        </p:nvSpPr>
        <p:spPr>
          <a:xfrm>
            <a:off x="7498080" y="3465576"/>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Más lento (10–20 min)</a:t>
            </a:r>
            <a:endParaRPr lang="en-US" sz="1150" dirty="0"/>
          </a:p>
        </p:txBody>
      </p:sp>
      <p:sp>
        <p:nvSpPr>
          <p:cNvPr id="22" name="Shape 20"/>
          <p:cNvSpPr/>
          <p:nvPr/>
        </p:nvSpPr>
        <p:spPr>
          <a:xfrm>
            <a:off x="548640" y="4187952"/>
            <a:ext cx="2377440" cy="658368"/>
          </a:xfrm>
          <a:prstGeom prst="roundRect">
            <a:avLst>
              <a:gd name="adj" fmla="val 11111"/>
            </a:avLst>
          </a:prstGeom>
          <a:solidFill>
            <a:srgbClr val="E3EEF3"/>
          </a:solidFill>
          <a:ln/>
          <a:effectLst>
            <a:outerShdw sx="100000" sy="100000" kx="0" ky="0" algn="bl" rotWithShape="0" blurRad="101600" dist="25400" dir="5400000">
              <a:srgbClr val="1B2A3A">
                <a:alpha val="12000"/>
              </a:srgbClr>
            </a:outerShdw>
          </a:effectLst>
        </p:spPr>
      </p:sp>
      <p:sp>
        <p:nvSpPr>
          <p:cNvPr id="23" name="Shape 21"/>
          <p:cNvSpPr/>
          <p:nvPr/>
        </p:nvSpPr>
        <p:spPr>
          <a:xfrm>
            <a:off x="3063240" y="4187952"/>
            <a:ext cx="4160520" cy="658368"/>
          </a:xfrm>
          <a:prstGeom prst="roundRect">
            <a:avLst>
              <a:gd name="adj" fmla="val 11111"/>
            </a:avLst>
          </a:prstGeom>
          <a:solidFill>
            <a:srgbClr val="EAF3F7"/>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24" name="Shape 22"/>
          <p:cNvSpPr/>
          <p:nvPr/>
        </p:nvSpPr>
        <p:spPr>
          <a:xfrm>
            <a:off x="7360920" y="4187952"/>
            <a:ext cx="4160520" cy="658368"/>
          </a:xfrm>
          <a:prstGeom prst="roundRect">
            <a:avLst>
              <a:gd name="adj" fmla="val 11111"/>
            </a:avLst>
          </a:prstGeom>
          <a:solidFill>
            <a:srgbClr val="EAF3F7"/>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25" name="Text 23"/>
          <p:cNvSpPr txBox="1"/>
          <p:nvPr/>
        </p:nvSpPr>
        <p:spPr>
          <a:xfrm>
            <a:off x="658368" y="4187952"/>
            <a:ext cx="2194560" cy="658368"/>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Densidad del bloqueo</a:t>
            </a:r>
            <a:endParaRPr lang="en-US" sz="1100" dirty="0"/>
          </a:p>
        </p:txBody>
      </p:sp>
      <p:sp>
        <p:nvSpPr>
          <p:cNvPr id="26" name="Text 24"/>
          <p:cNvSpPr txBox="1"/>
          <p:nvPr/>
        </p:nvSpPr>
        <p:spPr>
          <a:xfrm>
            <a:off x="3200400" y="4187952"/>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Denso y profundo</a:t>
            </a:r>
            <a:endParaRPr lang="en-US" sz="1150" dirty="0"/>
          </a:p>
        </p:txBody>
      </p:sp>
      <p:sp>
        <p:nvSpPr>
          <p:cNvPr id="27" name="Text 25"/>
          <p:cNvSpPr txBox="1"/>
          <p:nvPr/>
        </p:nvSpPr>
        <p:spPr>
          <a:xfrm>
            <a:off x="7498080" y="4187952"/>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Graduable, segmentario</a:t>
            </a:r>
            <a:endParaRPr lang="en-US" sz="1150" dirty="0"/>
          </a:p>
        </p:txBody>
      </p:sp>
      <p:sp>
        <p:nvSpPr>
          <p:cNvPr id="28" name="Shape 26"/>
          <p:cNvSpPr/>
          <p:nvPr/>
        </p:nvSpPr>
        <p:spPr>
          <a:xfrm>
            <a:off x="548640" y="4910328"/>
            <a:ext cx="2377440" cy="658368"/>
          </a:xfrm>
          <a:prstGeom prst="roundRect">
            <a:avLst>
              <a:gd name="adj" fmla="val 11111"/>
            </a:avLst>
          </a:prstGeom>
          <a:solidFill>
            <a:srgbClr val="E3EEF3"/>
          </a:solidFill>
          <a:ln/>
          <a:effectLst>
            <a:outerShdw sx="100000" sy="100000" kx="0" ky="0" algn="bl" rotWithShape="0" blurRad="101600" dist="25400" dir="5400000">
              <a:srgbClr val="1B2A3A">
                <a:alpha val="12000"/>
              </a:srgbClr>
            </a:outerShdw>
          </a:effectLst>
        </p:spPr>
      </p:sp>
      <p:sp>
        <p:nvSpPr>
          <p:cNvPr id="29" name="Shape 27"/>
          <p:cNvSpPr/>
          <p:nvPr/>
        </p:nvSpPr>
        <p:spPr>
          <a:xfrm>
            <a:off x="3063240" y="4910328"/>
            <a:ext cx="4160520" cy="658368"/>
          </a:xfrm>
          <a:prstGeom prst="roundRect">
            <a:avLst>
              <a:gd name="adj" fmla="val 11111"/>
            </a:avLst>
          </a:prstGeom>
          <a:solidFill>
            <a:srgbClr val="FFFFFF"/>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30" name="Shape 28"/>
          <p:cNvSpPr/>
          <p:nvPr/>
        </p:nvSpPr>
        <p:spPr>
          <a:xfrm>
            <a:off x="7360920" y="4910328"/>
            <a:ext cx="4160520" cy="658368"/>
          </a:xfrm>
          <a:prstGeom prst="roundRect">
            <a:avLst>
              <a:gd name="adj" fmla="val 11111"/>
            </a:avLst>
          </a:prstGeom>
          <a:solidFill>
            <a:srgbClr val="FFFFFF"/>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31" name="Text 29"/>
          <p:cNvSpPr txBox="1"/>
          <p:nvPr/>
        </p:nvSpPr>
        <p:spPr>
          <a:xfrm>
            <a:off x="658368" y="4910328"/>
            <a:ext cx="2194560" cy="658368"/>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Duración</a:t>
            </a:r>
            <a:endParaRPr lang="en-US" sz="1100" dirty="0"/>
          </a:p>
        </p:txBody>
      </p:sp>
      <p:sp>
        <p:nvSpPr>
          <p:cNvPr id="32" name="Text 30"/>
          <p:cNvSpPr txBox="1"/>
          <p:nvPr/>
        </p:nvSpPr>
        <p:spPr>
          <a:xfrm>
            <a:off x="3200400" y="4910328"/>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Limitada por el fármaco (dosis única)</a:t>
            </a:r>
            <a:endParaRPr lang="en-US" sz="1150" dirty="0"/>
          </a:p>
        </p:txBody>
      </p:sp>
      <p:sp>
        <p:nvSpPr>
          <p:cNvPr id="33" name="Text 31"/>
          <p:cNvSpPr txBox="1"/>
          <p:nvPr/>
        </p:nvSpPr>
        <p:spPr>
          <a:xfrm>
            <a:off x="7498080" y="4910328"/>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Prolongable con catéter continuo</a:t>
            </a:r>
            <a:endParaRPr lang="en-US" sz="1150" dirty="0"/>
          </a:p>
        </p:txBody>
      </p:sp>
      <p:sp>
        <p:nvSpPr>
          <p:cNvPr id="34" name="Shape 32"/>
          <p:cNvSpPr/>
          <p:nvPr/>
        </p:nvSpPr>
        <p:spPr>
          <a:xfrm>
            <a:off x="548640" y="5632704"/>
            <a:ext cx="2377440" cy="658368"/>
          </a:xfrm>
          <a:prstGeom prst="roundRect">
            <a:avLst>
              <a:gd name="adj" fmla="val 11111"/>
            </a:avLst>
          </a:prstGeom>
          <a:solidFill>
            <a:srgbClr val="E3EEF3"/>
          </a:solidFill>
          <a:ln/>
          <a:effectLst>
            <a:outerShdw sx="100000" sy="100000" kx="0" ky="0" algn="bl" rotWithShape="0" blurRad="101600" dist="25400" dir="5400000">
              <a:srgbClr val="1B2A3A">
                <a:alpha val="12000"/>
              </a:srgbClr>
            </a:outerShdw>
          </a:effectLst>
        </p:spPr>
      </p:sp>
      <p:sp>
        <p:nvSpPr>
          <p:cNvPr id="35" name="Shape 33"/>
          <p:cNvSpPr/>
          <p:nvPr/>
        </p:nvSpPr>
        <p:spPr>
          <a:xfrm>
            <a:off x="3063240" y="5632704"/>
            <a:ext cx="4160520" cy="658368"/>
          </a:xfrm>
          <a:prstGeom prst="roundRect">
            <a:avLst>
              <a:gd name="adj" fmla="val 11111"/>
            </a:avLst>
          </a:prstGeom>
          <a:solidFill>
            <a:srgbClr val="EAF3F7"/>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36" name="Shape 34"/>
          <p:cNvSpPr/>
          <p:nvPr/>
        </p:nvSpPr>
        <p:spPr>
          <a:xfrm>
            <a:off x="7360920" y="5632704"/>
            <a:ext cx="4160520" cy="658368"/>
          </a:xfrm>
          <a:prstGeom prst="roundRect">
            <a:avLst>
              <a:gd name="adj" fmla="val 11111"/>
            </a:avLst>
          </a:prstGeom>
          <a:solidFill>
            <a:srgbClr val="EAF3F7"/>
          </a:solidFill>
          <a:ln w="9525">
            <a:solidFill>
              <a:srgbClr val="D3E3EA"/>
            </a:solidFill>
            <a:prstDash val="solid"/>
          </a:ln>
          <a:effectLst>
            <a:outerShdw sx="100000" sy="100000" kx="0" ky="0" algn="bl" rotWithShape="0" blurRad="101600" dist="25400" dir="5400000">
              <a:srgbClr val="1B2A3A">
                <a:alpha val="12000"/>
              </a:srgbClr>
            </a:outerShdw>
          </a:effectLst>
        </p:spPr>
      </p:sp>
      <p:sp>
        <p:nvSpPr>
          <p:cNvPr id="37" name="Text 35"/>
          <p:cNvSpPr txBox="1"/>
          <p:nvPr/>
        </p:nvSpPr>
        <p:spPr>
          <a:xfrm>
            <a:off x="658368" y="5632704"/>
            <a:ext cx="2194560" cy="658368"/>
          </a:xfrm>
          <a:prstGeom prst="rect">
            <a:avLst/>
          </a:prstGeom>
          <a:noFill/>
          <a:ln/>
        </p:spPr>
        <p:txBody>
          <a:bodyPr wrap="square" lIns="0" tIns="0" rIns="0" bIns="0" rtlCol="0" anchor="ctr"/>
          <a:lstStyle/>
          <a:p>
            <a:pPr indent="0" marL="0">
              <a:buNone/>
            </a:pPr>
            <a:r>
              <a:rPr lang="en-US" sz="1100" b="1" dirty="0">
                <a:solidFill>
                  <a:srgbClr val="21295C"/>
                </a:solidFill>
                <a:latin typeface="Calibri" pitchFamily="34" charset="0"/>
                <a:ea typeface="Calibri" pitchFamily="34" charset="-122"/>
                <a:cs typeface="Calibri" pitchFamily="34" charset="-120"/>
              </a:rPr>
              <a:t>Uso típico</a:t>
            </a:r>
            <a:endParaRPr lang="en-US" sz="1100" dirty="0"/>
          </a:p>
        </p:txBody>
      </p:sp>
      <p:sp>
        <p:nvSpPr>
          <p:cNvPr id="38" name="Text 36"/>
          <p:cNvSpPr txBox="1"/>
          <p:nvPr/>
        </p:nvSpPr>
        <p:spPr>
          <a:xfrm>
            <a:off x="3200400" y="5632704"/>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Cirugía de miembros inferiores, cesárea</a:t>
            </a:r>
            <a:endParaRPr lang="en-US" sz="1150" dirty="0"/>
          </a:p>
        </p:txBody>
      </p:sp>
      <p:sp>
        <p:nvSpPr>
          <p:cNvPr id="39" name="Text 37"/>
          <p:cNvSpPr txBox="1"/>
          <p:nvPr/>
        </p:nvSpPr>
        <p:spPr>
          <a:xfrm>
            <a:off x="7498080" y="5632704"/>
            <a:ext cx="3886200" cy="658368"/>
          </a:xfrm>
          <a:prstGeom prst="rect">
            <a:avLst/>
          </a:prstGeom>
          <a:noFill/>
          <a:ln/>
        </p:spPr>
        <p:txBody>
          <a:bodyPr wrap="square" lIns="0" tIns="0" rIns="0" bIns="0" rtlCol="0" anchor="ctr"/>
          <a:lstStyle/>
          <a:p>
            <a:pPr indent="0" marL="0">
              <a:lnSpc>
                <a:spcPts val="1300"/>
              </a:lnSpc>
              <a:buNone/>
            </a:pPr>
            <a:r>
              <a:rPr lang="en-US" sz="1150" dirty="0">
                <a:solidFill>
                  <a:srgbClr val="2B3648"/>
                </a:solidFill>
                <a:latin typeface="Calibri" pitchFamily="34" charset="0"/>
                <a:ea typeface="Calibri" pitchFamily="34" charset="-122"/>
                <a:cs typeface="Calibri" pitchFamily="34" charset="-120"/>
              </a:rPr>
              <a:t>Analgesia de trabajo de parto, dolor postoperatorio</a:t>
            </a:r>
            <a:endParaRPr lang="en-US" sz="1150" dirty="0"/>
          </a:p>
        </p:txBody>
      </p:sp>
      <p:sp>
        <p:nvSpPr>
          <p:cNvPr id="41" name="Text 3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42" name="Text 3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20 / 33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ANESTESIA REGIONAL · 3 DE 3</a:t>
            </a:r>
            <a:endParaRPr lang="en-US" sz="12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algn="l" indent="0" marL="0">
              <a:buNone/>
            </a:pPr>
            <a:r>
              <a:rPr lang="en-US" sz="2500" b="1" dirty="0">
                <a:solidFill>
                  <a:srgbClr val="21295C"/>
                </a:solidFill>
                <a:latin typeface="Cambria" pitchFamily="34" charset="0"/>
                <a:ea typeface="Cambria" pitchFamily="34" charset="-122"/>
                <a:cs typeface="Cambria" pitchFamily="34" charset="-120"/>
              </a:rPr>
              <a:t>Anestesia regional: bloqueos de nervio periférico</a:t>
            </a:r>
            <a:endParaRPr lang="en-US" sz="2500" dirty="0"/>
          </a:p>
        </p:txBody>
      </p:sp>
      <p:sp>
        <p:nvSpPr>
          <p:cNvPr id="4" name="Text 2"/>
          <p:cNvSpPr txBox="1"/>
          <p:nvPr/>
        </p:nvSpPr>
        <p:spPr>
          <a:xfrm>
            <a:off x="548640" y="1536192"/>
            <a:ext cx="10972800" cy="868680"/>
          </a:xfrm>
          <a:prstGeom prst="rect">
            <a:avLst/>
          </a:prstGeom>
          <a:noFill/>
          <a:ln/>
        </p:spPr>
        <p:txBody>
          <a:bodyPr wrap="square" lIns="0" tIns="0" rIns="0" bIns="0" rtlCol="0" anchor="t"/>
          <a:lstStyle/>
          <a:p>
            <a:pPr indent="0" marL="0">
              <a:lnSpc>
                <a:spcPts val="1900"/>
              </a:lnSpc>
              <a:buNone/>
            </a:pPr>
            <a:r>
              <a:rPr lang="en-US" sz="1400" dirty="0">
                <a:solidFill>
                  <a:srgbClr val="2B3648"/>
                </a:solidFill>
                <a:latin typeface="Calibri" pitchFamily="34" charset="0"/>
                <a:ea typeface="Calibri" pitchFamily="34" charset="-122"/>
                <a:cs typeface="Calibri" pitchFamily="34" charset="-120"/>
              </a:rPr>
              <a:t>Depósito de anestésico local alrededor de nervios o plexos específicos para producir bloqueo sensitivo y/o motor de un territorio anatómico definido, guiado hoy predominantemente por ecografía (estándar actual) o por neuroestimulación.</a:t>
            </a:r>
            <a:endParaRPr lang="en-US" sz="1400" dirty="0"/>
          </a:p>
        </p:txBody>
      </p:sp>
      <p:sp>
        <p:nvSpPr>
          <p:cNvPr id="5" name="Shape 3"/>
          <p:cNvSpPr/>
          <p:nvPr/>
        </p:nvSpPr>
        <p:spPr>
          <a:xfrm>
            <a:off x="548640" y="2743200"/>
            <a:ext cx="3520440" cy="2148840"/>
          </a:xfrm>
          <a:prstGeom prst="roundRect">
            <a:avLst>
              <a:gd name="adj" fmla="val 3404"/>
            </a:avLst>
          </a:prstGeom>
          <a:solidFill>
            <a:srgbClr val="EAF3F7"/>
          </a:solidFill>
          <a:ln/>
          <a:effectLst>
            <a:outerShdw sx="100000" sy="100000" kx="0" ky="0" algn="bl" rotWithShape="0" blurRad="101600" dist="25400" dir="5400000">
              <a:srgbClr val="1B2A3A">
                <a:alpha val="12000"/>
              </a:srgbClr>
            </a:outerShdw>
          </a:effectLst>
        </p:spPr>
      </p:sp>
      <p:sp>
        <p:nvSpPr>
          <p:cNvPr id="6" name="Shape 4"/>
          <p:cNvSpPr/>
          <p:nvPr/>
        </p:nvSpPr>
        <p:spPr>
          <a:xfrm>
            <a:off x="777240" y="2999232"/>
            <a:ext cx="621792" cy="621792"/>
          </a:xfrm>
          <a:prstGeom prst="ellipse">
            <a:avLst/>
          </a:prstGeom>
          <a:solidFill>
            <a:srgbClr val="1C7293"/>
          </a:solidFill>
          <a:ln/>
        </p:spPr>
      </p:sp>
      <p:pic>
        <p:nvPicPr>
          <p:cNvPr id="7" name="Image 0" descr="/tmp/claude-0/-home-user-gpa-academy1/adc6e4aa-3b77-57c1-ba92-a8d4ee625c84/scratchpad/icons/bolt_white.png">    </p:cNvPr>
          <p:cNvPicPr>
            <a:picLocks noChangeAspect="1"/>
          </p:cNvPicPr>
          <p:nvPr/>
        </p:nvPicPr>
        <p:blipFill>
          <a:blip r:embed="rId1"/>
          <a:stretch>
            <a:fillRect/>
          </a:stretch>
        </p:blipFill>
        <p:spPr>
          <a:xfrm>
            <a:off x="932688" y="3154680"/>
            <a:ext cx="310896" cy="310896"/>
          </a:xfrm>
          <a:prstGeom prst="rect">
            <a:avLst/>
          </a:prstGeom>
        </p:spPr>
      </p:pic>
      <p:sp>
        <p:nvSpPr>
          <p:cNvPr id="8" name="Text 5"/>
          <p:cNvSpPr txBox="1"/>
          <p:nvPr/>
        </p:nvSpPr>
        <p:spPr>
          <a:xfrm>
            <a:off x="1508760" y="2971800"/>
            <a:ext cx="2377440" cy="640080"/>
          </a:xfrm>
          <a:prstGeom prst="rect">
            <a:avLst/>
          </a:prstGeom>
          <a:noFill/>
          <a:ln/>
        </p:spPr>
        <p:txBody>
          <a:bodyPr wrap="square" lIns="0" tIns="0" rIns="0" bIns="0" rtlCol="0" anchor="ctr"/>
          <a:lstStyle/>
          <a:p>
            <a:pPr indent="0" marL="0">
              <a:lnSpc>
                <a:spcPts val="1500"/>
              </a:lnSpc>
              <a:buNone/>
            </a:pPr>
            <a:r>
              <a:rPr lang="en-US" sz="1350" b="1" dirty="0">
                <a:solidFill>
                  <a:srgbClr val="21295C"/>
                </a:solidFill>
                <a:latin typeface="Cambria" pitchFamily="34" charset="0"/>
                <a:ea typeface="Cambria" pitchFamily="34" charset="-122"/>
                <a:cs typeface="Cambria" pitchFamily="34" charset="-120"/>
              </a:rPr>
              <a:t>Plexo braquial</a:t>
            </a:r>
            <a:endParaRPr lang="en-US" sz="1350" dirty="0"/>
          </a:p>
        </p:txBody>
      </p:sp>
      <p:sp>
        <p:nvSpPr>
          <p:cNvPr id="9" name="Text 6"/>
          <p:cNvSpPr txBox="1"/>
          <p:nvPr/>
        </p:nvSpPr>
        <p:spPr>
          <a:xfrm>
            <a:off x="777240" y="3703320"/>
            <a:ext cx="3063240" cy="1097280"/>
          </a:xfrm>
          <a:prstGeom prst="rect">
            <a:avLst/>
          </a:prstGeom>
          <a:noFill/>
          <a:ln/>
        </p:spPr>
        <p:txBody>
          <a:bodyPr wrap="square" lIns="0" tIns="0" rIns="0" bIns="0" rtlCol="0" anchor="ctr"/>
          <a:lstStyle/>
          <a:p>
            <a:pPr indent="0" marL="0">
              <a:lnSpc>
                <a:spcPts val="1350"/>
              </a:lnSpc>
              <a:buNone/>
            </a:pPr>
            <a:r>
              <a:rPr lang="en-US" sz="1100" dirty="0">
                <a:solidFill>
                  <a:srgbClr val="5C7181"/>
                </a:solidFill>
                <a:latin typeface="Calibri" pitchFamily="34" charset="0"/>
                <a:ea typeface="Calibri" pitchFamily="34" charset="-122"/>
                <a:cs typeface="Calibri" pitchFamily="34" charset="-120"/>
              </a:rPr>
              <a:t>Abordajes interescalénico, supraclavicular, infraclavicular y axilar para cirugía de miembro superior</a:t>
            </a:r>
            <a:endParaRPr lang="en-US" sz="1100" dirty="0"/>
          </a:p>
        </p:txBody>
      </p:sp>
      <p:sp>
        <p:nvSpPr>
          <p:cNvPr id="10" name="Shape 7"/>
          <p:cNvSpPr/>
          <p:nvPr/>
        </p:nvSpPr>
        <p:spPr>
          <a:xfrm>
            <a:off x="4251960" y="2743200"/>
            <a:ext cx="3520440" cy="2148840"/>
          </a:xfrm>
          <a:prstGeom prst="roundRect">
            <a:avLst>
              <a:gd name="adj" fmla="val 3404"/>
            </a:avLst>
          </a:prstGeom>
          <a:solidFill>
            <a:srgbClr val="EAF3F7"/>
          </a:solidFill>
          <a:ln/>
          <a:effectLst>
            <a:outerShdw sx="100000" sy="100000" kx="0" ky="0" algn="bl" rotWithShape="0" blurRad="101600" dist="25400" dir="5400000">
              <a:srgbClr val="1B2A3A">
                <a:alpha val="12000"/>
              </a:srgbClr>
            </a:outerShdw>
          </a:effectLst>
        </p:spPr>
      </p:sp>
      <p:sp>
        <p:nvSpPr>
          <p:cNvPr id="11" name="Shape 8"/>
          <p:cNvSpPr/>
          <p:nvPr/>
        </p:nvSpPr>
        <p:spPr>
          <a:xfrm>
            <a:off x="4480560" y="2999232"/>
            <a:ext cx="621792" cy="621792"/>
          </a:xfrm>
          <a:prstGeom prst="ellipse">
            <a:avLst/>
          </a:prstGeom>
          <a:solidFill>
            <a:srgbClr val="1C7293"/>
          </a:solidFill>
          <a:ln/>
        </p:spPr>
      </p:sp>
      <p:pic>
        <p:nvPicPr>
          <p:cNvPr id="12" name="Image 1" descr="/tmp/claude-0/-home-user-gpa-academy1/adc6e4aa-3b77-57c1-ba92-a8d4ee625c84/scratchpad/icons/bolt_white.png">    </p:cNvPr>
          <p:cNvPicPr>
            <a:picLocks noChangeAspect="1"/>
          </p:cNvPicPr>
          <p:nvPr/>
        </p:nvPicPr>
        <p:blipFill>
          <a:blip r:embed="rId2"/>
          <a:stretch>
            <a:fillRect/>
          </a:stretch>
        </p:blipFill>
        <p:spPr>
          <a:xfrm>
            <a:off x="4636008" y="3154680"/>
            <a:ext cx="310896" cy="310896"/>
          </a:xfrm>
          <a:prstGeom prst="rect">
            <a:avLst/>
          </a:prstGeom>
        </p:spPr>
      </p:pic>
      <p:sp>
        <p:nvSpPr>
          <p:cNvPr id="13" name="Text 9"/>
          <p:cNvSpPr txBox="1"/>
          <p:nvPr/>
        </p:nvSpPr>
        <p:spPr>
          <a:xfrm>
            <a:off x="5212080" y="2971800"/>
            <a:ext cx="2377440" cy="640080"/>
          </a:xfrm>
          <a:prstGeom prst="rect">
            <a:avLst/>
          </a:prstGeom>
          <a:noFill/>
          <a:ln/>
        </p:spPr>
        <p:txBody>
          <a:bodyPr wrap="square" lIns="0" tIns="0" rIns="0" bIns="0" rtlCol="0" anchor="ctr"/>
          <a:lstStyle/>
          <a:p>
            <a:pPr indent="0" marL="0">
              <a:lnSpc>
                <a:spcPts val="1500"/>
              </a:lnSpc>
              <a:buNone/>
            </a:pPr>
            <a:r>
              <a:rPr lang="en-US" sz="1350" b="1" dirty="0">
                <a:solidFill>
                  <a:srgbClr val="21295C"/>
                </a:solidFill>
                <a:latin typeface="Cambria" pitchFamily="34" charset="0"/>
                <a:ea typeface="Cambria" pitchFamily="34" charset="-122"/>
                <a:cs typeface="Cambria" pitchFamily="34" charset="-120"/>
              </a:rPr>
              <a:t>Miembro inferior</a:t>
            </a:r>
            <a:endParaRPr lang="en-US" sz="1350" dirty="0"/>
          </a:p>
        </p:txBody>
      </p:sp>
      <p:sp>
        <p:nvSpPr>
          <p:cNvPr id="14" name="Text 10"/>
          <p:cNvSpPr txBox="1"/>
          <p:nvPr/>
        </p:nvSpPr>
        <p:spPr>
          <a:xfrm>
            <a:off x="4480560" y="3703320"/>
            <a:ext cx="3063240" cy="1097280"/>
          </a:xfrm>
          <a:prstGeom prst="rect">
            <a:avLst/>
          </a:prstGeom>
          <a:noFill/>
          <a:ln/>
        </p:spPr>
        <p:txBody>
          <a:bodyPr wrap="square" lIns="0" tIns="0" rIns="0" bIns="0" rtlCol="0" anchor="ctr"/>
          <a:lstStyle/>
          <a:p>
            <a:pPr indent="0" marL="0">
              <a:lnSpc>
                <a:spcPts val="1350"/>
              </a:lnSpc>
              <a:buNone/>
            </a:pPr>
            <a:r>
              <a:rPr lang="en-US" sz="1100" dirty="0">
                <a:solidFill>
                  <a:srgbClr val="5C7181"/>
                </a:solidFill>
                <a:latin typeface="Calibri" pitchFamily="34" charset="0"/>
                <a:ea typeface="Calibri" pitchFamily="34" charset="-122"/>
                <a:cs typeface="Calibri" pitchFamily="34" charset="-120"/>
              </a:rPr>
              <a:t>Bloqueos femoral y ciático, entre otros, para cirugía de cadera, rodilla y pie</a:t>
            </a:r>
            <a:endParaRPr lang="en-US" sz="1100" dirty="0"/>
          </a:p>
        </p:txBody>
      </p:sp>
      <p:sp>
        <p:nvSpPr>
          <p:cNvPr id="15" name="Shape 11"/>
          <p:cNvSpPr/>
          <p:nvPr/>
        </p:nvSpPr>
        <p:spPr>
          <a:xfrm>
            <a:off x="7955280" y="2743200"/>
            <a:ext cx="3520440" cy="2148840"/>
          </a:xfrm>
          <a:prstGeom prst="roundRect">
            <a:avLst>
              <a:gd name="adj" fmla="val 3404"/>
            </a:avLst>
          </a:prstGeom>
          <a:solidFill>
            <a:srgbClr val="EAF3F7"/>
          </a:solidFill>
          <a:ln/>
          <a:effectLst>
            <a:outerShdw sx="100000" sy="100000" kx="0" ky="0" algn="bl" rotWithShape="0" blurRad="101600" dist="25400" dir="5400000">
              <a:srgbClr val="1B2A3A">
                <a:alpha val="12000"/>
              </a:srgbClr>
            </a:outerShdw>
          </a:effectLst>
        </p:spPr>
      </p:sp>
      <p:sp>
        <p:nvSpPr>
          <p:cNvPr id="16" name="Shape 12"/>
          <p:cNvSpPr/>
          <p:nvPr/>
        </p:nvSpPr>
        <p:spPr>
          <a:xfrm>
            <a:off x="8183880" y="2999232"/>
            <a:ext cx="621792" cy="621792"/>
          </a:xfrm>
          <a:prstGeom prst="ellipse">
            <a:avLst/>
          </a:prstGeom>
          <a:solidFill>
            <a:srgbClr val="1C7293"/>
          </a:solidFill>
          <a:ln/>
        </p:spPr>
      </p:sp>
      <p:pic>
        <p:nvPicPr>
          <p:cNvPr id="17" name="Image 2" descr="/tmp/claude-0/-home-user-gpa-academy1/adc6e4aa-3b77-57c1-ba92-a8d4ee625c84/scratchpad/icons/bolt_white.png">    </p:cNvPr>
          <p:cNvPicPr>
            <a:picLocks noChangeAspect="1"/>
          </p:cNvPicPr>
          <p:nvPr/>
        </p:nvPicPr>
        <p:blipFill>
          <a:blip r:embed="rId3"/>
          <a:stretch>
            <a:fillRect/>
          </a:stretch>
        </p:blipFill>
        <p:spPr>
          <a:xfrm>
            <a:off x="8339328" y="3154680"/>
            <a:ext cx="310896" cy="310896"/>
          </a:xfrm>
          <a:prstGeom prst="rect">
            <a:avLst/>
          </a:prstGeom>
        </p:spPr>
      </p:pic>
      <p:sp>
        <p:nvSpPr>
          <p:cNvPr id="18" name="Text 13"/>
          <p:cNvSpPr txBox="1"/>
          <p:nvPr/>
        </p:nvSpPr>
        <p:spPr>
          <a:xfrm>
            <a:off x="8915400" y="2971800"/>
            <a:ext cx="2377440" cy="640080"/>
          </a:xfrm>
          <a:prstGeom prst="rect">
            <a:avLst/>
          </a:prstGeom>
          <a:noFill/>
          <a:ln/>
        </p:spPr>
        <p:txBody>
          <a:bodyPr wrap="square" lIns="0" tIns="0" rIns="0" bIns="0" rtlCol="0" anchor="ctr"/>
          <a:lstStyle/>
          <a:p>
            <a:pPr indent="0" marL="0">
              <a:lnSpc>
                <a:spcPts val="1500"/>
              </a:lnSpc>
              <a:buNone/>
            </a:pPr>
            <a:r>
              <a:rPr lang="en-US" sz="1350" b="1" dirty="0">
                <a:solidFill>
                  <a:srgbClr val="21295C"/>
                </a:solidFill>
                <a:latin typeface="Cambria" pitchFamily="34" charset="0"/>
                <a:ea typeface="Cambria" pitchFamily="34" charset="-122"/>
                <a:cs typeface="Cambria" pitchFamily="34" charset="-120"/>
              </a:rPr>
              <a:t>Bloqueos de tronco</a:t>
            </a:r>
            <a:endParaRPr lang="en-US" sz="1350" dirty="0"/>
          </a:p>
        </p:txBody>
      </p:sp>
      <p:sp>
        <p:nvSpPr>
          <p:cNvPr id="19" name="Text 14"/>
          <p:cNvSpPr txBox="1"/>
          <p:nvPr/>
        </p:nvSpPr>
        <p:spPr>
          <a:xfrm>
            <a:off x="8183880" y="3703320"/>
            <a:ext cx="3063240" cy="1097280"/>
          </a:xfrm>
          <a:prstGeom prst="rect">
            <a:avLst/>
          </a:prstGeom>
          <a:noFill/>
          <a:ln/>
        </p:spPr>
        <p:txBody>
          <a:bodyPr wrap="square" lIns="0" tIns="0" rIns="0" bIns="0" rtlCol="0" anchor="ctr"/>
          <a:lstStyle/>
          <a:p>
            <a:pPr indent="0" marL="0">
              <a:lnSpc>
                <a:spcPts val="1350"/>
              </a:lnSpc>
              <a:buNone/>
            </a:pPr>
            <a:r>
              <a:rPr lang="en-US" sz="1100" dirty="0">
                <a:solidFill>
                  <a:srgbClr val="5C7181"/>
                </a:solidFill>
                <a:latin typeface="Calibri" pitchFamily="34" charset="0"/>
                <a:ea typeface="Calibri" pitchFamily="34" charset="-122"/>
                <a:cs typeface="Calibri" pitchFamily="34" charset="-120"/>
              </a:rPr>
              <a:t>TAP (plano transverso abdominal), paravertebral y erector spinae, para analgesia de pared abdominal y torácica</a:t>
            </a:r>
            <a:endParaRPr lang="en-US" sz="1100" dirty="0"/>
          </a:p>
        </p:txBody>
      </p:sp>
      <p:sp>
        <p:nvSpPr>
          <p:cNvPr id="20" name="Text 15"/>
          <p:cNvSpPr txBox="1"/>
          <p:nvPr/>
        </p:nvSpPr>
        <p:spPr>
          <a:xfrm>
            <a:off x="548640" y="5120640"/>
            <a:ext cx="10972800" cy="640080"/>
          </a:xfrm>
          <a:prstGeom prst="rect">
            <a:avLst/>
          </a:prstGeom>
          <a:noFill/>
          <a:ln/>
        </p:spPr>
        <p:txBody>
          <a:bodyPr wrap="square" lIns="0" tIns="0" rIns="0" bIns="0" rtlCol="0" anchor="ctr"/>
          <a:lstStyle/>
          <a:p>
            <a:pPr indent="0" marL="0">
              <a:lnSpc>
                <a:spcPts val="1600"/>
              </a:lnSpc>
              <a:buNone/>
            </a:pPr>
            <a:r>
              <a:rPr lang="en-US" sz="1250" i="1" dirty="0">
                <a:solidFill>
                  <a:srgbClr val="5C7181"/>
                </a:solidFill>
                <a:latin typeface="Calibri" pitchFamily="34" charset="0"/>
                <a:ea typeface="Calibri" pitchFamily="34" charset="-122"/>
                <a:cs typeface="Calibri" pitchFamily="34" charset="-120"/>
              </a:rPr>
              <a:t>Utilidad clínica: anestesia quirúrgica primaria en cirugía de extremidades y analgesia postoperatoria multimodal, con reducción demostrada del consumo de opioides.</a:t>
            </a:r>
            <a:endParaRPr lang="en-US" sz="1250" dirty="0"/>
          </a:p>
        </p:txBody>
      </p:sp>
      <p:sp>
        <p:nvSpPr>
          <p:cNvPr id="22" name="Text 16"/>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3" name="Text 1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21 / 33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CLASES DE ANESTESIA</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Anestesia local: definición, usos e indicaciones</a:t>
            </a:r>
            <a:endParaRPr lang="en-US" sz="2900" dirty="0"/>
          </a:p>
        </p:txBody>
      </p:sp>
      <p:sp>
        <p:nvSpPr>
          <p:cNvPr id="4" name="Shape 2"/>
          <p:cNvSpPr/>
          <p:nvPr/>
        </p:nvSpPr>
        <p:spPr>
          <a:xfrm>
            <a:off x="548640" y="1645920"/>
            <a:ext cx="914400" cy="914400"/>
          </a:xfrm>
          <a:prstGeom prst="ellipse">
            <a:avLst/>
          </a:prstGeom>
          <a:solidFill>
            <a:srgbClr val="065A82"/>
          </a:solidFill>
          <a:ln/>
        </p:spPr>
      </p:sp>
      <p:pic>
        <p:nvPicPr>
          <p:cNvPr id="5" name="Image 0" descr="/tmp/claude-0/-home-user-gpa-academy1/adc6e4aa-3b77-57c1-ba92-a8d4ee625c84/scratchpad/icons/waterdrop_white.png">    </p:cNvPr>
          <p:cNvPicPr>
            <a:picLocks noChangeAspect="1"/>
          </p:cNvPicPr>
          <p:nvPr/>
        </p:nvPicPr>
        <p:blipFill>
          <a:blip r:embed="rId1"/>
          <a:stretch>
            <a:fillRect/>
          </a:stretch>
        </p:blipFill>
        <p:spPr>
          <a:xfrm>
            <a:off x="768096" y="1865376"/>
            <a:ext cx="475488" cy="475488"/>
          </a:xfrm>
          <a:prstGeom prst="rect">
            <a:avLst/>
          </a:prstGeom>
        </p:spPr>
      </p:pic>
      <p:sp>
        <p:nvSpPr>
          <p:cNvPr id="6" name="Text 3"/>
          <p:cNvSpPr txBox="1"/>
          <p:nvPr/>
        </p:nvSpPr>
        <p:spPr>
          <a:xfrm>
            <a:off x="548640" y="2788920"/>
            <a:ext cx="5486400" cy="155448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Aplicación directa —tópica, por infiltración o bloqueo de campo— de un anestésico local sobre piel, mucosas o tejido subcutáneo, para procedimientos menores, sin afectar el estado de conciencia del paciente.</a:t>
            </a:r>
            <a:endParaRPr lang="en-US" sz="1400" dirty="0"/>
          </a:p>
        </p:txBody>
      </p:sp>
      <p:sp>
        <p:nvSpPr>
          <p:cNvPr id="7" name="Shape 4"/>
          <p:cNvSpPr/>
          <p:nvPr/>
        </p:nvSpPr>
        <p:spPr>
          <a:xfrm>
            <a:off x="548640" y="4434840"/>
            <a:ext cx="5486400" cy="1508760"/>
          </a:xfrm>
          <a:prstGeom prst="roundRect">
            <a:avLst>
              <a:gd name="adj" fmla="val 4848"/>
            </a:avLst>
          </a:prstGeom>
          <a:solidFill>
            <a:srgbClr val="EAF3F7"/>
          </a:solidFill>
          <a:ln/>
          <a:effectLst>
            <a:outerShdw sx="100000" sy="100000" kx="0" ky="0" algn="bl" rotWithShape="0" blurRad="101600" dist="25400" dir="5400000">
              <a:srgbClr val="1B2A3A">
                <a:alpha val="12000"/>
              </a:srgbClr>
            </a:outerShdw>
          </a:effectLst>
        </p:spPr>
      </p:sp>
      <p:sp>
        <p:nvSpPr>
          <p:cNvPr id="8" name="Text 5"/>
          <p:cNvSpPr txBox="1"/>
          <p:nvPr/>
        </p:nvSpPr>
        <p:spPr>
          <a:xfrm>
            <a:off x="777240" y="4572000"/>
            <a:ext cx="5029200" cy="32004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Mecanismo de acción</a:t>
            </a:r>
            <a:endParaRPr lang="en-US" sz="1350" dirty="0"/>
          </a:p>
        </p:txBody>
      </p:sp>
      <p:sp>
        <p:nvSpPr>
          <p:cNvPr id="9" name="Text 6"/>
          <p:cNvSpPr txBox="1"/>
          <p:nvPr/>
        </p:nvSpPr>
        <p:spPr>
          <a:xfrm>
            <a:off x="777240" y="4892040"/>
            <a:ext cx="5029200" cy="914400"/>
          </a:xfrm>
          <a:prstGeom prst="rect">
            <a:avLst/>
          </a:prstGeom>
          <a:noFill/>
          <a:ln/>
        </p:spPr>
        <p:txBody>
          <a:bodyPr wrap="square" lIns="0" tIns="0" rIns="0" bIns="0" rtlCol="0" anchor="ctr"/>
          <a:lstStyle/>
          <a:p>
            <a:pPr indent="0" marL="0">
              <a:lnSpc>
                <a:spcPts val="1400"/>
              </a:lnSpc>
              <a:buNone/>
            </a:pPr>
            <a:r>
              <a:rPr lang="en-US" sz="1150" dirty="0">
                <a:solidFill>
                  <a:srgbClr val="5C7181"/>
                </a:solidFill>
                <a:latin typeface="Calibri" pitchFamily="34" charset="0"/>
                <a:ea typeface="Calibri" pitchFamily="34" charset="-122"/>
                <a:cs typeface="Calibri" pitchFamily="34" charset="-120"/>
              </a:rPr>
              <a:t>Bloqueo reversible de los canales de sodio voltaje-dependientes en la membrana neuronal, impidiendo la generación y propagación del potencial de acción.</a:t>
            </a:r>
            <a:endParaRPr lang="en-US" sz="1150" dirty="0"/>
          </a:p>
        </p:txBody>
      </p:sp>
      <p:sp>
        <p:nvSpPr>
          <p:cNvPr id="10" name="Shape 7"/>
          <p:cNvSpPr/>
          <p:nvPr/>
        </p:nvSpPr>
        <p:spPr>
          <a:xfrm>
            <a:off x="6355080" y="1645920"/>
            <a:ext cx="5257800" cy="4297680"/>
          </a:xfrm>
          <a:prstGeom prst="roundRect">
            <a:avLst>
              <a:gd name="adj" fmla="val 1702"/>
            </a:avLst>
          </a:prstGeom>
          <a:solidFill>
            <a:srgbClr val="E3EEF3"/>
          </a:solidFill>
          <a:ln/>
          <a:effectLst>
            <a:outerShdw sx="100000" sy="100000" kx="0" ky="0" algn="bl" rotWithShape="0" blurRad="101600" dist="25400" dir="5400000">
              <a:srgbClr val="1B2A3A">
                <a:alpha val="12000"/>
              </a:srgbClr>
            </a:outerShdw>
          </a:effectLst>
        </p:spPr>
      </p:sp>
      <p:sp>
        <p:nvSpPr>
          <p:cNvPr id="11" name="Text 8"/>
          <p:cNvSpPr txBox="1"/>
          <p:nvPr/>
        </p:nvSpPr>
        <p:spPr>
          <a:xfrm>
            <a:off x="6629400" y="1847088"/>
            <a:ext cx="475488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Indicaciones frecuentes</a:t>
            </a:r>
            <a:endParaRPr lang="en-US" sz="1550" dirty="0"/>
          </a:p>
        </p:txBody>
      </p:sp>
      <p:sp>
        <p:nvSpPr>
          <p:cNvPr id="12" name="Text 9"/>
          <p:cNvSpPr txBox="1"/>
          <p:nvPr/>
        </p:nvSpPr>
        <p:spPr>
          <a:xfrm>
            <a:off x="6629400" y="2331720"/>
            <a:ext cx="4754880" cy="3383280"/>
          </a:xfrm>
          <a:prstGeom prst="rect">
            <a:avLst/>
          </a:prstGeom>
          <a:noFill/>
          <a:ln/>
        </p:spPr>
        <p:txBody>
          <a:bodyPr wrap="square" lIns="0" tIns="0" rIns="0" bIns="0" rtlCol="0" anchor="t"/>
          <a:lstStyle/>
          <a:p>
            <a:pPr marL="203200" indent="-203200">
              <a:spcAft>
                <a:spcPts val="1200"/>
              </a:spcAft>
              <a:buSzPct val="100000"/>
              <a:buChar char="▪"/>
            </a:pPr>
            <a:r>
              <a:rPr lang="en-US" sz="1280" dirty="0">
                <a:solidFill>
                  <a:srgbClr val="2B3648"/>
                </a:solidFill>
                <a:latin typeface="Calibri" pitchFamily="34" charset="0"/>
                <a:ea typeface="Calibri" pitchFamily="34" charset="-122"/>
                <a:cs typeface="Calibri" pitchFamily="34" charset="-120"/>
              </a:rPr>
              <a:t>Sutura de heridas y reparación de laceraciones.</a:t>
            </a:r>
            <a:endParaRPr lang="en-US" sz="1280" dirty="0"/>
          </a:p>
          <a:p>
            <a:pPr marL="203200" indent="-203200">
              <a:spcAft>
                <a:spcPts val="1200"/>
              </a:spcAft>
              <a:buSzPct val="100000"/>
              <a:buChar char="▪"/>
            </a:pPr>
            <a:r>
              <a:rPr lang="en-US" sz="1280" dirty="0">
                <a:solidFill>
                  <a:srgbClr val="2B3648"/>
                </a:solidFill>
                <a:latin typeface="Calibri" pitchFamily="34" charset="0"/>
                <a:ea typeface="Calibri" pitchFamily="34" charset="-122"/>
                <a:cs typeface="Calibri" pitchFamily="34" charset="-120"/>
              </a:rPr>
              <a:t>Biopsias cutáneas y procedimientos dermatológicos menores.</a:t>
            </a:r>
            <a:endParaRPr lang="en-US" sz="1280" dirty="0"/>
          </a:p>
          <a:p>
            <a:pPr marL="203200" indent="-203200">
              <a:spcAft>
                <a:spcPts val="1200"/>
              </a:spcAft>
              <a:buSzPct val="100000"/>
              <a:buChar char="▪"/>
            </a:pPr>
            <a:r>
              <a:rPr lang="en-US" sz="1280" dirty="0">
                <a:solidFill>
                  <a:srgbClr val="2B3648"/>
                </a:solidFill>
                <a:latin typeface="Calibri" pitchFamily="34" charset="0"/>
                <a:ea typeface="Calibri" pitchFamily="34" charset="-122"/>
                <a:cs typeface="Calibri" pitchFamily="34" charset="-120"/>
              </a:rPr>
              <a:t>Procedimientos odontológicos.</a:t>
            </a:r>
            <a:endParaRPr lang="en-US" sz="1280" dirty="0"/>
          </a:p>
          <a:p>
            <a:pPr marL="203200" indent="-203200">
              <a:spcAft>
                <a:spcPts val="1200"/>
              </a:spcAft>
              <a:buSzPct val="100000"/>
              <a:buChar char="▪"/>
            </a:pPr>
            <a:r>
              <a:rPr lang="en-US" sz="1280" dirty="0">
                <a:solidFill>
                  <a:srgbClr val="2B3648"/>
                </a:solidFill>
                <a:latin typeface="Calibri" pitchFamily="34" charset="0"/>
                <a:ea typeface="Calibri" pitchFamily="34" charset="-122"/>
                <a:cs typeface="Calibri" pitchFamily="34" charset="-120"/>
              </a:rPr>
              <a:t>Como componente complementario dentro de una estrategia analgésica multimodal, incluso en cirugía mayor.</a:t>
            </a:r>
            <a:endParaRPr lang="en-US" sz="1280" dirty="0"/>
          </a:p>
        </p:txBody>
      </p:sp>
      <p:sp>
        <p:nvSpPr>
          <p:cNvPr id="14" name="Text 10"/>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5" name="Text 1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22 / 33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CLASES DE ANESTESIA</a:t>
            </a:r>
            <a:endParaRPr lang="en-US" sz="12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algn="l" indent="0" marL="0">
              <a:buNone/>
            </a:pPr>
            <a:r>
              <a:rPr lang="en-US" sz="2500" b="1" dirty="0">
                <a:solidFill>
                  <a:srgbClr val="21295C"/>
                </a:solidFill>
                <a:latin typeface="Cambria" pitchFamily="34" charset="0"/>
                <a:ea typeface="Cambria" pitchFamily="34" charset="-122"/>
                <a:cs typeface="Cambria" pitchFamily="34" charset="-120"/>
              </a:rPr>
              <a:t>Sedación y cuidado anestésico monitorizado (MAC)</a:t>
            </a:r>
            <a:endParaRPr lang="en-US" sz="2500" dirty="0"/>
          </a:p>
        </p:txBody>
      </p:sp>
      <p:sp>
        <p:nvSpPr>
          <p:cNvPr id="4" name="Text 2"/>
          <p:cNvSpPr txBox="1"/>
          <p:nvPr/>
        </p:nvSpPr>
        <p:spPr>
          <a:xfrm>
            <a:off x="548640" y="1481328"/>
            <a:ext cx="10972800" cy="868680"/>
          </a:xfrm>
          <a:prstGeom prst="rect">
            <a:avLst/>
          </a:prstGeom>
          <a:noFill/>
          <a:ln/>
        </p:spPr>
        <p:txBody>
          <a:bodyPr wrap="square" lIns="0" tIns="0" rIns="0" bIns="0" rtlCol="0" anchor="t"/>
          <a:lstStyle/>
          <a:p>
            <a:pPr indent="0" marL="0">
              <a:lnSpc>
                <a:spcPts val="1900"/>
              </a:lnSpc>
              <a:buNone/>
            </a:pPr>
            <a:r>
              <a:rPr lang="en-US" sz="1400" dirty="0">
                <a:solidFill>
                  <a:srgbClr val="2B3648"/>
                </a:solidFill>
                <a:latin typeface="Calibri" pitchFamily="34" charset="0"/>
                <a:ea typeface="Calibri" pitchFamily="34" charset="-122"/>
                <a:cs typeface="Calibri" pitchFamily="34" charset="-120"/>
              </a:rPr>
              <a:t>El continuo de sedación de la ASA describe cuatro niveles de profundidad progresiva. El MAC implica la presencia de un anestesiólogo que monitoriza continuamente al paciente y está preparado para convertir a anestesia general si fuera necesario.</a:t>
            </a:r>
            <a:endParaRPr lang="en-US" sz="1400" dirty="0"/>
          </a:p>
        </p:txBody>
      </p:sp>
      <p:sp>
        <p:nvSpPr>
          <p:cNvPr id="5" name="Shape 3"/>
          <p:cNvSpPr/>
          <p:nvPr/>
        </p:nvSpPr>
        <p:spPr>
          <a:xfrm>
            <a:off x="548640" y="2606040"/>
            <a:ext cx="2606040" cy="3520440"/>
          </a:xfrm>
          <a:prstGeom prst="roundRect">
            <a:avLst>
              <a:gd name="adj" fmla="val 2807"/>
            </a:avLst>
          </a:prstGeom>
          <a:solidFill>
            <a:srgbClr val="1C7293"/>
          </a:solidFill>
          <a:ln/>
          <a:effectLst>
            <a:outerShdw sx="100000" sy="100000" kx="0" ky="0" algn="bl" rotWithShape="0" blurRad="101600" dist="25400" dir="5400000">
              <a:srgbClr val="1B2A3A">
                <a:alpha val="12000"/>
              </a:srgbClr>
            </a:outerShdw>
          </a:effectLst>
        </p:spPr>
      </p:sp>
      <p:sp>
        <p:nvSpPr>
          <p:cNvPr id="6" name="Text 4"/>
          <p:cNvSpPr txBox="1"/>
          <p:nvPr/>
        </p:nvSpPr>
        <p:spPr>
          <a:xfrm>
            <a:off x="731520" y="2770632"/>
            <a:ext cx="548640" cy="457200"/>
          </a:xfrm>
          <a:prstGeom prst="rect">
            <a:avLst/>
          </a:prstGeom>
          <a:noFill/>
          <a:ln/>
        </p:spPr>
        <p:txBody>
          <a:bodyPr wrap="square" lIns="0" tIns="0" rIns="0" bIns="0" rtlCol="0" anchor="ctr"/>
          <a:lstStyle/>
          <a:p>
            <a:pPr indent="0" marL="0">
              <a:buNone/>
            </a:pPr>
            <a:r>
              <a:rPr lang="en-US" sz="2000" b="1" dirty="0">
                <a:solidFill>
                  <a:srgbClr val="BFD8E3"/>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731520" y="3227832"/>
            <a:ext cx="2240280" cy="502920"/>
          </a:xfrm>
          <a:prstGeom prst="rect">
            <a:avLst/>
          </a:prstGeom>
          <a:noFill/>
          <a:ln/>
        </p:spPr>
        <p:txBody>
          <a:bodyPr wrap="square" lIns="0" tIns="0" rIns="0" bIns="0" rtlCol="0" anchor="ctr"/>
          <a:lstStyle/>
          <a:p>
            <a:pPr indent="0" marL="0">
              <a:lnSpc>
                <a:spcPts val="1700"/>
              </a:lnSpc>
              <a:buNone/>
            </a:pPr>
            <a:r>
              <a:rPr lang="en-US" sz="1550" b="1" dirty="0">
                <a:solidFill>
                  <a:srgbClr val="FFFFFF"/>
                </a:solidFill>
                <a:latin typeface="Cambria" pitchFamily="34" charset="0"/>
                <a:ea typeface="Cambria" pitchFamily="34" charset="-122"/>
                <a:cs typeface="Cambria" pitchFamily="34" charset="-120"/>
              </a:rPr>
              <a:t>Mínima</a:t>
            </a:r>
            <a:endParaRPr lang="en-US" sz="1550" dirty="0"/>
          </a:p>
        </p:txBody>
      </p:sp>
      <p:sp>
        <p:nvSpPr>
          <p:cNvPr id="8" name="Text 6"/>
          <p:cNvSpPr txBox="1"/>
          <p:nvPr/>
        </p:nvSpPr>
        <p:spPr>
          <a:xfrm>
            <a:off x="731520" y="3721608"/>
            <a:ext cx="2240280" cy="320040"/>
          </a:xfrm>
          <a:prstGeom prst="rect">
            <a:avLst/>
          </a:prstGeom>
          <a:noFill/>
          <a:ln/>
        </p:spPr>
        <p:txBody>
          <a:bodyPr wrap="square" lIns="0" tIns="0" rIns="0" bIns="0" rtlCol="0" anchor="ctr"/>
          <a:lstStyle/>
          <a:p>
            <a:pPr indent="0" marL="0">
              <a:buNone/>
            </a:pPr>
            <a:r>
              <a:rPr lang="en-US" sz="1050" i="1" dirty="0">
                <a:solidFill>
                  <a:srgbClr val="CFE3EC"/>
                </a:solidFill>
                <a:latin typeface="Calibri" pitchFamily="34" charset="0"/>
                <a:ea typeface="Calibri" pitchFamily="34" charset="-122"/>
                <a:cs typeface="Calibri" pitchFamily="34" charset="-120"/>
              </a:rPr>
              <a:t>Ansiólisis</a:t>
            </a:r>
            <a:endParaRPr lang="en-US" sz="1050" dirty="0"/>
          </a:p>
        </p:txBody>
      </p:sp>
      <p:sp>
        <p:nvSpPr>
          <p:cNvPr id="9" name="Text 7"/>
          <p:cNvSpPr txBox="1"/>
          <p:nvPr/>
        </p:nvSpPr>
        <p:spPr>
          <a:xfrm>
            <a:off x="731520" y="4142232"/>
            <a:ext cx="2240280" cy="1828800"/>
          </a:xfrm>
          <a:prstGeom prst="rect">
            <a:avLst/>
          </a:prstGeom>
          <a:noFill/>
          <a:ln/>
        </p:spPr>
        <p:txBody>
          <a:bodyPr wrap="square" lIns="0" tIns="0" rIns="0" bIns="0" rtlCol="0" anchor="ctr"/>
          <a:lstStyle/>
          <a:p>
            <a:pPr indent="0" marL="0">
              <a:lnSpc>
                <a:spcPts val="1350"/>
              </a:lnSpc>
              <a:buNone/>
            </a:pPr>
            <a:r>
              <a:rPr lang="en-US" sz="1050" dirty="0">
                <a:solidFill>
                  <a:srgbClr val="E6F0F5"/>
                </a:solidFill>
                <a:latin typeface="Calibri" pitchFamily="34" charset="0"/>
                <a:ea typeface="Calibri" pitchFamily="34" charset="-122"/>
                <a:cs typeface="Calibri" pitchFamily="34" charset="-120"/>
              </a:rPr>
              <a:t>Responde con normalidad al estímulo verbal. Vía aérea, ventilación y función cardiovascular no afectadas.</a:t>
            </a:r>
            <a:endParaRPr lang="en-US" sz="1050" dirty="0"/>
          </a:p>
        </p:txBody>
      </p:sp>
      <p:sp>
        <p:nvSpPr>
          <p:cNvPr id="10" name="Shape 8"/>
          <p:cNvSpPr/>
          <p:nvPr/>
        </p:nvSpPr>
        <p:spPr>
          <a:xfrm>
            <a:off x="3172968" y="4229100"/>
            <a:ext cx="164592" cy="274320"/>
          </a:xfrm>
          <a:prstGeom prst="rightArrow">
            <a:avLst/>
          </a:prstGeom>
          <a:solidFill>
            <a:srgbClr val="5C7181"/>
          </a:solidFill>
          <a:ln/>
        </p:spPr>
      </p:sp>
      <p:sp>
        <p:nvSpPr>
          <p:cNvPr id="11" name="Shape 9"/>
          <p:cNvSpPr/>
          <p:nvPr/>
        </p:nvSpPr>
        <p:spPr>
          <a:xfrm>
            <a:off x="3355848" y="2606040"/>
            <a:ext cx="2606040" cy="3520440"/>
          </a:xfrm>
          <a:prstGeom prst="roundRect">
            <a:avLst>
              <a:gd name="adj" fmla="val 2807"/>
            </a:avLst>
          </a:prstGeom>
          <a:solidFill>
            <a:srgbClr val="065A82"/>
          </a:solidFill>
          <a:ln/>
          <a:effectLst>
            <a:outerShdw sx="100000" sy="100000" kx="0" ky="0" algn="bl" rotWithShape="0" blurRad="101600" dist="25400" dir="5400000">
              <a:srgbClr val="1B2A3A">
                <a:alpha val="12000"/>
              </a:srgbClr>
            </a:outerShdw>
          </a:effectLst>
        </p:spPr>
      </p:sp>
      <p:sp>
        <p:nvSpPr>
          <p:cNvPr id="12" name="Text 10"/>
          <p:cNvSpPr txBox="1"/>
          <p:nvPr/>
        </p:nvSpPr>
        <p:spPr>
          <a:xfrm>
            <a:off x="3538728" y="2770632"/>
            <a:ext cx="548640" cy="457200"/>
          </a:xfrm>
          <a:prstGeom prst="rect">
            <a:avLst/>
          </a:prstGeom>
          <a:noFill/>
          <a:ln/>
        </p:spPr>
        <p:txBody>
          <a:bodyPr wrap="square" lIns="0" tIns="0" rIns="0" bIns="0" rtlCol="0" anchor="ctr"/>
          <a:lstStyle/>
          <a:p>
            <a:pPr indent="0" marL="0">
              <a:buNone/>
            </a:pPr>
            <a:r>
              <a:rPr lang="en-US" sz="2000" b="1" dirty="0">
                <a:solidFill>
                  <a:srgbClr val="BFD8E3"/>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3538728" y="3227832"/>
            <a:ext cx="2240280" cy="502920"/>
          </a:xfrm>
          <a:prstGeom prst="rect">
            <a:avLst/>
          </a:prstGeom>
          <a:noFill/>
          <a:ln/>
        </p:spPr>
        <p:txBody>
          <a:bodyPr wrap="square" lIns="0" tIns="0" rIns="0" bIns="0" rtlCol="0" anchor="ctr"/>
          <a:lstStyle/>
          <a:p>
            <a:pPr indent="0" marL="0">
              <a:lnSpc>
                <a:spcPts val="1700"/>
              </a:lnSpc>
              <a:buNone/>
            </a:pPr>
            <a:r>
              <a:rPr lang="en-US" sz="1550" b="1" dirty="0">
                <a:solidFill>
                  <a:srgbClr val="FFFFFF"/>
                </a:solidFill>
                <a:latin typeface="Cambria" pitchFamily="34" charset="0"/>
                <a:ea typeface="Cambria" pitchFamily="34" charset="-122"/>
                <a:cs typeface="Cambria" pitchFamily="34" charset="-120"/>
              </a:rPr>
              <a:t>Moderada</a:t>
            </a:r>
            <a:endParaRPr lang="en-US" sz="1550" dirty="0"/>
          </a:p>
        </p:txBody>
      </p:sp>
      <p:sp>
        <p:nvSpPr>
          <p:cNvPr id="14" name="Text 12"/>
          <p:cNvSpPr txBox="1"/>
          <p:nvPr/>
        </p:nvSpPr>
        <p:spPr>
          <a:xfrm>
            <a:off x="3538728" y="3721608"/>
            <a:ext cx="2240280" cy="320040"/>
          </a:xfrm>
          <a:prstGeom prst="rect">
            <a:avLst/>
          </a:prstGeom>
          <a:noFill/>
          <a:ln/>
        </p:spPr>
        <p:txBody>
          <a:bodyPr wrap="square" lIns="0" tIns="0" rIns="0" bIns="0" rtlCol="0" anchor="ctr"/>
          <a:lstStyle/>
          <a:p>
            <a:pPr indent="0" marL="0">
              <a:buNone/>
            </a:pPr>
            <a:r>
              <a:rPr lang="en-US" sz="1050" i="1" dirty="0">
                <a:solidFill>
                  <a:srgbClr val="CFE3EC"/>
                </a:solidFill>
                <a:latin typeface="Calibri" pitchFamily="34" charset="0"/>
                <a:ea typeface="Calibri" pitchFamily="34" charset="-122"/>
                <a:cs typeface="Calibri" pitchFamily="34" charset="-120"/>
              </a:rPr>
              <a:t>Sedación consciente</a:t>
            </a:r>
            <a:endParaRPr lang="en-US" sz="1050" dirty="0"/>
          </a:p>
        </p:txBody>
      </p:sp>
      <p:sp>
        <p:nvSpPr>
          <p:cNvPr id="15" name="Text 13"/>
          <p:cNvSpPr txBox="1"/>
          <p:nvPr/>
        </p:nvSpPr>
        <p:spPr>
          <a:xfrm>
            <a:off x="3538728" y="4142232"/>
            <a:ext cx="2240280" cy="1828800"/>
          </a:xfrm>
          <a:prstGeom prst="rect">
            <a:avLst/>
          </a:prstGeom>
          <a:noFill/>
          <a:ln/>
        </p:spPr>
        <p:txBody>
          <a:bodyPr wrap="square" lIns="0" tIns="0" rIns="0" bIns="0" rtlCol="0" anchor="ctr"/>
          <a:lstStyle/>
          <a:p>
            <a:pPr indent="0" marL="0">
              <a:lnSpc>
                <a:spcPts val="1350"/>
              </a:lnSpc>
              <a:buNone/>
            </a:pPr>
            <a:r>
              <a:rPr lang="en-US" sz="1050" dirty="0">
                <a:solidFill>
                  <a:srgbClr val="E6F0F5"/>
                </a:solidFill>
                <a:latin typeface="Calibri" pitchFamily="34" charset="0"/>
                <a:ea typeface="Calibri" pitchFamily="34" charset="-122"/>
                <a:cs typeface="Calibri" pitchFamily="34" charset="-120"/>
              </a:rPr>
              <a:t>Responde intencionalmente al estímulo verbal o táctil. La vía aérea no suele requerir intervención.</a:t>
            </a:r>
            <a:endParaRPr lang="en-US" sz="1050" dirty="0"/>
          </a:p>
        </p:txBody>
      </p:sp>
      <p:sp>
        <p:nvSpPr>
          <p:cNvPr id="16" name="Shape 14"/>
          <p:cNvSpPr/>
          <p:nvPr/>
        </p:nvSpPr>
        <p:spPr>
          <a:xfrm>
            <a:off x="5980176" y="4229100"/>
            <a:ext cx="164592" cy="274320"/>
          </a:xfrm>
          <a:prstGeom prst="rightArrow">
            <a:avLst/>
          </a:prstGeom>
          <a:solidFill>
            <a:srgbClr val="5C7181"/>
          </a:solidFill>
          <a:ln/>
        </p:spPr>
      </p:sp>
      <p:sp>
        <p:nvSpPr>
          <p:cNvPr id="17" name="Shape 15"/>
          <p:cNvSpPr/>
          <p:nvPr/>
        </p:nvSpPr>
        <p:spPr>
          <a:xfrm>
            <a:off x="6163056" y="2606040"/>
            <a:ext cx="2606040" cy="3520440"/>
          </a:xfrm>
          <a:prstGeom prst="roundRect">
            <a:avLst>
              <a:gd name="adj" fmla="val 2807"/>
            </a:avLst>
          </a:prstGeom>
          <a:solidFill>
            <a:srgbClr val="16465F"/>
          </a:solidFill>
          <a:ln/>
          <a:effectLst>
            <a:outerShdw sx="100000" sy="100000" kx="0" ky="0" algn="bl" rotWithShape="0" blurRad="101600" dist="25400" dir="5400000">
              <a:srgbClr val="1B2A3A">
                <a:alpha val="12000"/>
              </a:srgbClr>
            </a:outerShdw>
          </a:effectLst>
        </p:spPr>
      </p:sp>
      <p:sp>
        <p:nvSpPr>
          <p:cNvPr id="18" name="Text 16"/>
          <p:cNvSpPr txBox="1"/>
          <p:nvPr/>
        </p:nvSpPr>
        <p:spPr>
          <a:xfrm>
            <a:off x="6345936" y="2770632"/>
            <a:ext cx="548640" cy="457200"/>
          </a:xfrm>
          <a:prstGeom prst="rect">
            <a:avLst/>
          </a:prstGeom>
          <a:noFill/>
          <a:ln/>
        </p:spPr>
        <p:txBody>
          <a:bodyPr wrap="square" lIns="0" tIns="0" rIns="0" bIns="0" rtlCol="0" anchor="ctr"/>
          <a:lstStyle/>
          <a:p>
            <a:pPr indent="0" marL="0">
              <a:buNone/>
            </a:pPr>
            <a:r>
              <a:rPr lang="en-US" sz="2000" b="1" dirty="0">
                <a:solidFill>
                  <a:srgbClr val="BFD8E3"/>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6345936" y="3227832"/>
            <a:ext cx="2240280" cy="502920"/>
          </a:xfrm>
          <a:prstGeom prst="rect">
            <a:avLst/>
          </a:prstGeom>
          <a:noFill/>
          <a:ln/>
        </p:spPr>
        <p:txBody>
          <a:bodyPr wrap="square" lIns="0" tIns="0" rIns="0" bIns="0" rtlCol="0" anchor="ctr"/>
          <a:lstStyle/>
          <a:p>
            <a:pPr indent="0" marL="0">
              <a:lnSpc>
                <a:spcPts val="1700"/>
              </a:lnSpc>
              <a:buNone/>
            </a:pPr>
            <a:r>
              <a:rPr lang="en-US" sz="1550" b="1" dirty="0">
                <a:solidFill>
                  <a:srgbClr val="FFFFFF"/>
                </a:solidFill>
                <a:latin typeface="Cambria" pitchFamily="34" charset="0"/>
                <a:ea typeface="Cambria" pitchFamily="34" charset="-122"/>
                <a:cs typeface="Cambria" pitchFamily="34" charset="-120"/>
              </a:rPr>
              <a:t>Profunda</a:t>
            </a:r>
            <a:endParaRPr lang="en-US" sz="1550" dirty="0"/>
          </a:p>
        </p:txBody>
      </p:sp>
      <p:sp>
        <p:nvSpPr>
          <p:cNvPr id="20" name="Text 18"/>
          <p:cNvSpPr txBox="1"/>
          <p:nvPr/>
        </p:nvSpPr>
        <p:spPr>
          <a:xfrm>
            <a:off x="6345936" y="3721608"/>
            <a:ext cx="2240280" cy="320040"/>
          </a:xfrm>
          <a:prstGeom prst="rect">
            <a:avLst/>
          </a:prstGeom>
          <a:noFill/>
          <a:ln/>
        </p:spPr>
        <p:txBody>
          <a:bodyPr wrap="square" lIns="0" tIns="0" rIns="0" bIns="0" rtlCol="0" anchor="ctr"/>
          <a:lstStyle/>
          <a:p>
            <a:pPr indent="0" marL="0">
              <a:buNone/>
            </a:pPr>
            <a:r>
              <a:rPr lang="en-US" sz="1050" i="1" dirty="0">
                <a:solidFill>
                  <a:srgbClr val="CFE3EC"/>
                </a:solidFill>
                <a:latin typeface="Calibri" pitchFamily="34" charset="0"/>
                <a:ea typeface="Calibri" pitchFamily="34" charset="-122"/>
                <a:cs typeface="Calibri" pitchFamily="34" charset="-120"/>
              </a:rPr>
              <a:t>Sedación profunda</a:t>
            </a:r>
            <a:endParaRPr lang="en-US" sz="1050" dirty="0"/>
          </a:p>
        </p:txBody>
      </p:sp>
      <p:sp>
        <p:nvSpPr>
          <p:cNvPr id="21" name="Text 19"/>
          <p:cNvSpPr txBox="1"/>
          <p:nvPr/>
        </p:nvSpPr>
        <p:spPr>
          <a:xfrm>
            <a:off x="6345936" y="4142232"/>
            <a:ext cx="2240280" cy="1828800"/>
          </a:xfrm>
          <a:prstGeom prst="rect">
            <a:avLst/>
          </a:prstGeom>
          <a:noFill/>
          <a:ln/>
        </p:spPr>
        <p:txBody>
          <a:bodyPr wrap="square" lIns="0" tIns="0" rIns="0" bIns="0" rtlCol="0" anchor="ctr"/>
          <a:lstStyle/>
          <a:p>
            <a:pPr indent="0" marL="0">
              <a:lnSpc>
                <a:spcPts val="1350"/>
              </a:lnSpc>
              <a:buNone/>
            </a:pPr>
            <a:r>
              <a:rPr lang="en-US" sz="1050" dirty="0">
                <a:solidFill>
                  <a:srgbClr val="E6F0F5"/>
                </a:solidFill>
                <a:latin typeface="Calibri" pitchFamily="34" charset="0"/>
                <a:ea typeface="Calibri" pitchFamily="34" charset="-122"/>
                <a:cs typeface="Calibri" pitchFamily="34" charset="-120"/>
              </a:rPr>
              <a:t>Responde solo tras estímulo repetido o doloroso. Puede requerir asistencia de la vía aérea.</a:t>
            </a:r>
            <a:endParaRPr lang="en-US" sz="1050" dirty="0"/>
          </a:p>
        </p:txBody>
      </p:sp>
      <p:sp>
        <p:nvSpPr>
          <p:cNvPr id="22" name="Shape 20"/>
          <p:cNvSpPr/>
          <p:nvPr/>
        </p:nvSpPr>
        <p:spPr>
          <a:xfrm>
            <a:off x="8787384" y="4229100"/>
            <a:ext cx="164592" cy="274320"/>
          </a:xfrm>
          <a:prstGeom prst="rightArrow">
            <a:avLst/>
          </a:prstGeom>
          <a:solidFill>
            <a:srgbClr val="5C7181"/>
          </a:solidFill>
          <a:ln/>
        </p:spPr>
      </p:sp>
      <p:sp>
        <p:nvSpPr>
          <p:cNvPr id="23" name="Shape 21"/>
          <p:cNvSpPr/>
          <p:nvPr/>
        </p:nvSpPr>
        <p:spPr>
          <a:xfrm>
            <a:off x="8970264" y="2606040"/>
            <a:ext cx="2606040" cy="3520440"/>
          </a:xfrm>
          <a:prstGeom prst="roundRect">
            <a:avLst>
              <a:gd name="adj" fmla="val 2807"/>
            </a:avLst>
          </a:prstGeom>
          <a:solidFill>
            <a:srgbClr val="21295C"/>
          </a:solidFill>
          <a:ln/>
          <a:effectLst>
            <a:outerShdw sx="100000" sy="100000" kx="0" ky="0" algn="bl" rotWithShape="0" blurRad="101600" dist="25400" dir="5400000">
              <a:srgbClr val="1B2A3A">
                <a:alpha val="12000"/>
              </a:srgbClr>
            </a:outerShdw>
          </a:effectLst>
        </p:spPr>
      </p:sp>
      <p:sp>
        <p:nvSpPr>
          <p:cNvPr id="24" name="Text 22"/>
          <p:cNvSpPr txBox="1"/>
          <p:nvPr/>
        </p:nvSpPr>
        <p:spPr>
          <a:xfrm>
            <a:off x="9153144" y="2770632"/>
            <a:ext cx="548640" cy="457200"/>
          </a:xfrm>
          <a:prstGeom prst="rect">
            <a:avLst/>
          </a:prstGeom>
          <a:noFill/>
          <a:ln/>
        </p:spPr>
        <p:txBody>
          <a:bodyPr wrap="square" lIns="0" tIns="0" rIns="0" bIns="0" rtlCol="0" anchor="ctr"/>
          <a:lstStyle/>
          <a:p>
            <a:pPr indent="0" marL="0">
              <a:buNone/>
            </a:pPr>
            <a:r>
              <a:rPr lang="en-US" sz="2000" b="1" dirty="0">
                <a:solidFill>
                  <a:srgbClr val="BFD8E3"/>
                </a:solidFill>
                <a:latin typeface="Cambria" pitchFamily="34" charset="0"/>
                <a:ea typeface="Cambria" pitchFamily="34" charset="-122"/>
                <a:cs typeface="Cambria" pitchFamily="34" charset="-120"/>
              </a:rPr>
              <a:t>4</a:t>
            </a:r>
            <a:endParaRPr lang="en-US" sz="2000" dirty="0"/>
          </a:p>
        </p:txBody>
      </p:sp>
      <p:sp>
        <p:nvSpPr>
          <p:cNvPr id="25" name="Text 23"/>
          <p:cNvSpPr txBox="1"/>
          <p:nvPr/>
        </p:nvSpPr>
        <p:spPr>
          <a:xfrm>
            <a:off x="9153144" y="3227832"/>
            <a:ext cx="2240280" cy="502920"/>
          </a:xfrm>
          <a:prstGeom prst="rect">
            <a:avLst/>
          </a:prstGeom>
          <a:noFill/>
          <a:ln/>
        </p:spPr>
        <p:txBody>
          <a:bodyPr wrap="square" lIns="0" tIns="0" rIns="0" bIns="0" rtlCol="0" anchor="ctr"/>
          <a:lstStyle/>
          <a:p>
            <a:pPr indent="0" marL="0">
              <a:lnSpc>
                <a:spcPts val="1700"/>
              </a:lnSpc>
              <a:buNone/>
            </a:pPr>
            <a:r>
              <a:rPr lang="en-US" sz="1550" b="1" dirty="0">
                <a:solidFill>
                  <a:srgbClr val="FFFFFF"/>
                </a:solidFill>
                <a:latin typeface="Cambria" pitchFamily="34" charset="0"/>
                <a:ea typeface="Cambria" pitchFamily="34" charset="-122"/>
                <a:cs typeface="Cambria" pitchFamily="34" charset="-120"/>
              </a:rPr>
              <a:t>Anestesia general</a:t>
            </a:r>
            <a:endParaRPr lang="en-US" sz="1550" dirty="0"/>
          </a:p>
        </p:txBody>
      </p:sp>
      <p:sp>
        <p:nvSpPr>
          <p:cNvPr id="26" name="Text 24"/>
          <p:cNvSpPr txBox="1"/>
          <p:nvPr/>
        </p:nvSpPr>
        <p:spPr>
          <a:xfrm>
            <a:off x="9153144" y="3721608"/>
            <a:ext cx="2240280" cy="320040"/>
          </a:xfrm>
          <a:prstGeom prst="rect">
            <a:avLst/>
          </a:prstGeom>
          <a:noFill/>
          <a:ln/>
        </p:spPr>
        <p:txBody>
          <a:bodyPr wrap="square" lIns="0" tIns="0" rIns="0" bIns="0" rtlCol="0" anchor="ctr"/>
          <a:lstStyle/>
          <a:p>
            <a:pPr indent="0" marL="0">
              <a:buNone/>
            </a:pPr>
            <a:r>
              <a:rPr lang="en-US" sz="1050" i="1" dirty="0">
                <a:solidFill>
                  <a:srgbClr val="CFE3EC"/>
                </a:solidFill>
                <a:latin typeface="Calibri" pitchFamily="34" charset="0"/>
                <a:ea typeface="Calibri" pitchFamily="34" charset="-122"/>
                <a:cs typeface="Calibri" pitchFamily="34" charset="-120"/>
              </a:rPr>
              <a:t>Extremo del continuo</a:t>
            </a:r>
            <a:endParaRPr lang="en-US" sz="1050" dirty="0"/>
          </a:p>
        </p:txBody>
      </p:sp>
      <p:sp>
        <p:nvSpPr>
          <p:cNvPr id="27" name="Text 25"/>
          <p:cNvSpPr txBox="1"/>
          <p:nvPr/>
        </p:nvSpPr>
        <p:spPr>
          <a:xfrm>
            <a:off x="9153144" y="4142232"/>
            <a:ext cx="2240280" cy="1828800"/>
          </a:xfrm>
          <a:prstGeom prst="rect">
            <a:avLst/>
          </a:prstGeom>
          <a:noFill/>
          <a:ln/>
        </p:spPr>
        <p:txBody>
          <a:bodyPr wrap="square" lIns="0" tIns="0" rIns="0" bIns="0" rtlCol="0" anchor="ctr"/>
          <a:lstStyle/>
          <a:p>
            <a:pPr indent="0" marL="0">
              <a:lnSpc>
                <a:spcPts val="1350"/>
              </a:lnSpc>
              <a:buNone/>
            </a:pPr>
            <a:r>
              <a:rPr lang="en-US" sz="1050" dirty="0">
                <a:solidFill>
                  <a:srgbClr val="E6F0F5"/>
                </a:solidFill>
                <a:latin typeface="Calibri" pitchFamily="34" charset="0"/>
                <a:ea typeface="Calibri" pitchFamily="34" charset="-122"/>
                <a:cs typeface="Calibri" pitchFamily="34" charset="-120"/>
              </a:rPr>
              <a:t>No hay respuesta ni siquiera al estímulo doloroso. Con frecuencia requiere manejo instrumentado de la vía aérea.</a:t>
            </a:r>
            <a:endParaRPr lang="en-US" sz="1050" dirty="0"/>
          </a:p>
        </p:txBody>
      </p:sp>
      <p:sp>
        <p:nvSpPr>
          <p:cNvPr id="29" name="Text 26"/>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30" name="Text 2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23 / 33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CLASES DE ANESTESIA · SÍNTESIS</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Cuadro comparativo de los tipos de anestesia</a:t>
            </a:r>
            <a:endParaRPr lang="en-US" sz="2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73384" cy="914400"/>
        </p:xfrm>
        <a:graphic>
          <a:graphicData uri="http://schemas.openxmlformats.org/drawingml/2006/table">
            <a:tbl>
              <a:tblPr/>
              <a:tblGrid>
                <a:gridCol w="2148840"/>
                <a:gridCol w="2231136"/>
                <a:gridCol w="2231136"/>
                <a:gridCol w="2231136"/>
                <a:gridCol w="2231136"/>
              </a:tblGrid>
              <a:tr h="640080">
                <a:tc>
                  <a:txBody>
                    <a:bodyPr/>
                    <a:lstStyle/>
                    <a:p>
                      <a:pPr algn="l" indent="0" marL="0">
                        <a:buNone/>
                      </a:pPr>
                      <a:endParaRPr lang="en-US" sz="1300" dirty="0">
                        <a:latin typeface="Cambria" charset="0"/>
                        <a:ea typeface="Cambria" charset="0"/>
                        <a:cs typeface="Cambria"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21295C"/>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General</a:t>
                      </a:r>
                      <a:endParaRPr lang="en-US" sz="1300" dirty="0">
                        <a:latin typeface="Cambria" charset="0"/>
                        <a:ea typeface="Cambria" charset="0"/>
                        <a:cs typeface="Cambria"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Regional</a:t>
                      </a:r>
                      <a:endParaRPr lang="en-US" sz="1300" dirty="0">
                        <a:latin typeface="Cambria" charset="0"/>
                        <a:ea typeface="Cambria" charset="0"/>
                        <a:cs typeface="Cambria"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Local</a:t>
                      </a:r>
                      <a:endParaRPr lang="en-US" sz="1300" dirty="0">
                        <a:latin typeface="Cambria" charset="0"/>
                        <a:ea typeface="Cambria" charset="0"/>
                        <a:cs typeface="Cambria"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Cambria" pitchFamily="34" charset="0"/>
                          <a:ea typeface="Cambria" pitchFamily="34" charset="-122"/>
                          <a:cs typeface="Cambria" pitchFamily="34" charset="-120"/>
                        </a:rPr>
                        <a:t>Sedación / MAC</a:t>
                      </a:r>
                      <a:endParaRPr lang="en-US" sz="1300" dirty="0">
                        <a:latin typeface="Cambria" charset="0"/>
                        <a:ea typeface="Cambria" charset="0"/>
                        <a:cs typeface="Cambria"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065A82"/>
                    </a:solidFill>
                  </a:tcPr>
                </a:tc>
              </a:tr>
              <a:tr h="566928">
                <a:tc>
                  <a:txBody>
                    <a:bodyPr/>
                    <a:lstStyle/>
                    <a:p>
                      <a:pPr algn="l" indent="0" marL="0">
                        <a:buNone/>
                      </a:pPr>
                      <a:r>
                        <a:rPr lang="en-US" sz="1150" b="1" dirty="0">
                          <a:solidFill>
                            <a:srgbClr val="21295C"/>
                          </a:solidFill>
                          <a:latin typeface="Calibri" pitchFamily="34" charset="0"/>
                          <a:ea typeface="Calibri" pitchFamily="34" charset="-122"/>
                          <a:cs typeface="Calibri" pitchFamily="34" charset="-120"/>
                        </a:rPr>
                        <a:t>Conciencia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Abolida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Preservada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Preservada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Variable (continuo)</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r>
              <a:tr h="566928">
                <a:tc>
                  <a:txBody>
                    <a:bodyPr/>
                    <a:lstStyle/>
                    <a:p>
                      <a:pPr algn="l" indent="0" marL="0">
                        <a:buNone/>
                      </a:pPr>
                      <a:r>
                        <a:rPr lang="en-US" sz="1150" b="1" dirty="0">
                          <a:solidFill>
                            <a:srgbClr val="21295C"/>
                          </a:solidFill>
                          <a:latin typeface="Calibri" pitchFamily="34" charset="0"/>
                          <a:ea typeface="Calibri" pitchFamily="34" charset="-122"/>
                          <a:cs typeface="Calibri" pitchFamily="34" charset="-120"/>
                        </a:rPr>
                        <a:t>Área afectada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Todo el organismo</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Región / segmento corporal</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Área tisular puntual</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No aplica (SNC deprimido)</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r>
              <a:tr h="566928">
                <a:tc>
                  <a:txBody>
                    <a:bodyPr/>
                    <a:lstStyle/>
                    <a:p>
                      <a:pPr algn="l" indent="0" marL="0">
                        <a:buNone/>
                      </a:pPr>
                      <a:r>
                        <a:rPr lang="en-US" sz="1150" b="1" dirty="0">
                          <a:solidFill>
                            <a:srgbClr val="21295C"/>
                          </a:solidFill>
                          <a:latin typeface="Calibri" pitchFamily="34" charset="0"/>
                          <a:ea typeface="Calibri" pitchFamily="34" charset="-122"/>
                          <a:cs typeface="Calibri" pitchFamily="34" charset="-120"/>
                        </a:rPr>
                        <a:t>Vía aérea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Con frecuencia instrumentada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Reflejos preservados</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Reflejos preservados</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Vigilancia continua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EAF3F7"/>
                    </a:solidFill>
                  </a:tcPr>
                </a:tc>
              </a:tr>
              <a:tr h="566928">
                <a:tc>
                  <a:txBody>
                    <a:bodyPr/>
                    <a:lstStyle/>
                    <a:p>
                      <a:pPr algn="l" indent="0" marL="0">
                        <a:buNone/>
                      </a:pPr>
                      <a:r>
                        <a:rPr lang="en-US" sz="1150" b="1" dirty="0">
                          <a:solidFill>
                            <a:srgbClr val="21295C"/>
                          </a:solidFill>
                          <a:latin typeface="Calibri" pitchFamily="34" charset="0"/>
                          <a:ea typeface="Calibri" pitchFamily="34" charset="-122"/>
                          <a:cs typeface="Calibri" pitchFamily="34" charset="-120"/>
                        </a:rPr>
                        <a:t>Indicación típica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Cirugía mayor / abdominal</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Ortopedia, obstetricia</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Procedimientos menores</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3648"/>
                          </a:solidFill>
                          <a:latin typeface="Calibri" pitchFamily="34" charset="0"/>
                          <a:ea typeface="Calibri" pitchFamily="34" charset="-122"/>
                          <a:cs typeface="Calibri" pitchFamily="34" charset="-120"/>
                        </a:rPr>
                        <a:t>Endoscopia, procedimientos cortos</a:t>
                      </a:r>
                      <a:endParaRPr lang="en-US" sz="1150" dirty="0">
                        <a:latin typeface="Calibri" charset="0"/>
                        <a:ea typeface="Calibri" charset="0"/>
                        <a:cs typeface="Calibri" charset="0"/>
                      </a:endParaRPr>
                    </a:p>
                  </a:txBody>
                  <a:tcPr marL="76200" marR="76200" marT="50800" marB="50800" anchor="ctr">
                    <a:lnL w="9525" cap="flat" cmpd="sng" algn="ctr">
                      <a:solidFill>
                        <a:srgbClr val="D3E3EA"/>
                      </a:solidFill>
                      <a:prstDash val="solid"/>
                      <a:round/>
                      <a:headEnd type="none" w="med" len="med"/>
                      <a:tailEnd type="none" w="med" len="med"/>
                    </a:lnL>
                    <a:lnR w="9525" cap="flat" cmpd="sng" algn="ctr">
                      <a:solidFill>
                        <a:srgbClr val="D3E3EA"/>
                      </a:solidFill>
                      <a:prstDash val="solid"/>
                      <a:round/>
                      <a:headEnd type="none" w="med" len="med"/>
                      <a:tailEnd type="none" w="med" len="med"/>
                    </a:lnR>
                    <a:lnT w="9525" cap="flat" cmpd="sng" algn="ctr">
                      <a:solidFill>
                        <a:srgbClr val="D3E3EA"/>
                      </a:solidFill>
                      <a:prstDash val="solid"/>
                      <a:round/>
                      <a:headEnd type="none" w="med" len="med"/>
                      <a:tailEnd type="none" w="med" len="med"/>
                    </a:lnT>
                    <a:lnB w="9525" cap="flat" cmpd="sng" algn="ctr">
                      <a:solidFill>
                        <a:srgbClr val="D3E3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7"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24 / 33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EQUIPOS DE ANESTESIA · 1 DE 7</a:t>
            </a:r>
            <a:endParaRPr lang="en-US" sz="12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algn="l" indent="0" marL="0">
              <a:buNone/>
            </a:pPr>
            <a:r>
              <a:rPr lang="en-US" sz="2400" b="1" dirty="0">
                <a:solidFill>
                  <a:srgbClr val="21295C"/>
                </a:solidFill>
                <a:latin typeface="Cambria" pitchFamily="34" charset="0"/>
                <a:ea typeface="Cambria" pitchFamily="34" charset="-122"/>
                <a:cs typeface="Cambria" pitchFamily="34" charset="-120"/>
              </a:rPr>
              <a:t>Equipos de anestesia: objetivos de la máquina de anestesia</a:t>
            </a:r>
            <a:endParaRPr lang="en-US" sz="2400" dirty="0"/>
          </a:p>
        </p:txBody>
      </p:sp>
      <p:sp>
        <p:nvSpPr>
          <p:cNvPr id="4" name="Text 2"/>
          <p:cNvSpPr txBox="1"/>
          <p:nvPr/>
        </p:nvSpPr>
        <p:spPr>
          <a:xfrm>
            <a:off x="548640" y="1536192"/>
            <a:ext cx="10972800" cy="777240"/>
          </a:xfrm>
          <a:prstGeom prst="rect">
            <a:avLst/>
          </a:prstGeom>
          <a:noFill/>
          <a:ln/>
        </p:spPr>
        <p:txBody>
          <a:bodyPr wrap="square" lIns="0" tIns="0" rIns="0" bIns="0" rtlCol="0" anchor="t"/>
          <a:lstStyle/>
          <a:p>
            <a:pPr indent="0" marL="0">
              <a:lnSpc>
                <a:spcPts val="1900"/>
              </a:lnSpc>
              <a:buNone/>
            </a:pPr>
            <a:r>
              <a:rPr lang="en-US" sz="1400" dirty="0">
                <a:solidFill>
                  <a:srgbClr val="2B3648"/>
                </a:solidFill>
                <a:latin typeface="Calibri" pitchFamily="34" charset="0"/>
                <a:ea typeface="Calibri" pitchFamily="34" charset="-122"/>
                <a:cs typeface="Calibri" pitchFamily="34" charset="-120"/>
              </a:rPr>
              <a:t>La máquina de anestesia es la plataforma tecnológica central del quirófano. Su diseño responde a cuatro objetivos de seguridad que deben cumplirse de forma simultánea y continua durante todo el procedimiento.</a:t>
            </a:r>
            <a:endParaRPr lang="en-US" sz="1400" dirty="0"/>
          </a:p>
        </p:txBody>
      </p:sp>
      <p:sp>
        <p:nvSpPr>
          <p:cNvPr id="5" name="Shape 3"/>
          <p:cNvSpPr/>
          <p:nvPr/>
        </p:nvSpPr>
        <p:spPr>
          <a:xfrm>
            <a:off x="548640" y="2514600"/>
            <a:ext cx="2606040" cy="3520440"/>
          </a:xfrm>
          <a:prstGeom prst="roundRect">
            <a:avLst>
              <a:gd name="adj" fmla="val 2807"/>
            </a:avLst>
          </a:prstGeom>
          <a:solidFill>
            <a:srgbClr val="EAF3F7"/>
          </a:solidFill>
          <a:ln/>
          <a:effectLst>
            <a:outerShdw sx="100000" sy="100000" kx="0" ky="0" algn="bl" rotWithShape="0" blurRad="101600" dist="25400" dir="5400000">
              <a:srgbClr val="1B2A3A">
                <a:alpha val="12000"/>
              </a:srgbClr>
            </a:outerShdw>
          </a:effectLst>
        </p:spPr>
      </p:sp>
      <p:sp>
        <p:nvSpPr>
          <p:cNvPr id="6" name="Shape 4"/>
          <p:cNvSpPr/>
          <p:nvPr/>
        </p:nvSpPr>
        <p:spPr>
          <a:xfrm>
            <a:off x="1485900" y="2807208"/>
            <a:ext cx="731520" cy="731520"/>
          </a:xfrm>
          <a:prstGeom prst="ellipse">
            <a:avLst/>
          </a:prstGeom>
          <a:solidFill>
            <a:srgbClr val="065A82"/>
          </a:solidFill>
          <a:ln/>
        </p:spPr>
      </p:sp>
      <p:pic>
        <p:nvPicPr>
          <p:cNvPr id="7" name="Image 0" descr="/tmp/claude-0/-home-user-gpa-academy1/adc6e4aa-3b77-57c1-ba92-a8d4ee625c84/scratchpad/icons/gasmask_white.png">    </p:cNvPr>
          <p:cNvPicPr>
            <a:picLocks noChangeAspect="1"/>
          </p:cNvPicPr>
          <p:nvPr/>
        </p:nvPicPr>
        <p:blipFill>
          <a:blip r:embed="rId1"/>
          <a:stretch>
            <a:fillRect/>
          </a:stretch>
        </p:blipFill>
        <p:spPr>
          <a:xfrm>
            <a:off x="1661465" y="2982773"/>
            <a:ext cx="380390" cy="380390"/>
          </a:xfrm>
          <a:prstGeom prst="rect">
            <a:avLst/>
          </a:prstGeom>
        </p:spPr>
      </p:pic>
      <p:sp>
        <p:nvSpPr>
          <p:cNvPr id="8" name="Text 5"/>
          <p:cNvSpPr txBox="1"/>
          <p:nvPr/>
        </p:nvSpPr>
        <p:spPr>
          <a:xfrm>
            <a:off x="685800" y="3749040"/>
            <a:ext cx="2331720" cy="731520"/>
          </a:xfrm>
          <a:prstGeom prst="rect">
            <a:avLst/>
          </a:prstGeom>
          <a:noFill/>
          <a:ln/>
        </p:spPr>
        <p:txBody>
          <a:bodyPr wrap="square" lIns="0" tIns="0" rIns="0" bIns="0" rtlCol="0" anchor="ctr"/>
          <a:lstStyle/>
          <a:p>
            <a:pPr algn="ctr" indent="0" marL="0">
              <a:lnSpc>
                <a:spcPts val="1500"/>
              </a:lnSpc>
              <a:buNone/>
            </a:pPr>
            <a:r>
              <a:rPr lang="en-US" sz="1300" b="1" dirty="0">
                <a:solidFill>
                  <a:srgbClr val="21295C"/>
                </a:solidFill>
                <a:latin typeface="Cambria" pitchFamily="34" charset="0"/>
                <a:ea typeface="Cambria" pitchFamily="34" charset="-122"/>
                <a:cs typeface="Cambria" pitchFamily="34" charset="-120"/>
              </a:rPr>
              <a:t>Suministro preciso de gases</a:t>
            </a:r>
            <a:endParaRPr lang="en-US" sz="1300" dirty="0"/>
          </a:p>
        </p:txBody>
      </p:sp>
      <p:sp>
        <p:nvSpPr>
          <p:cNvPr id="9" name="Text 6"/>
          <p:cNvSpPr txBox="1"/>
          <p:nvPr/>
        </p:nvSpPr>
        <p:spPr>
          <a:xfrm>
            <a:off x="731520" y="4572000"/>
            <a:ext cx="2240280" cy="1371600"/>
          </a:xfrm>
          <a:prstGeom prst="rect">
            <a:avLst/>
          </a:prstGeom>
          <a:noFill/>
          <a:ln/>
        </p:spPr>
        <p:txBody>
          <a:bodyPr wrap="square" lIns="0" tIns="0" rIns="0" bIns="0" rtlCol="0" anchor="ctr"/>
          <a:lstStyle/>
          <a:p>
            <a:pPr algn="ctr" indent="0" marL="0">
              <a:lnSpc>
                <a:spcPts val="1300"/>
              </a:lnSpc>
              <a:buNone/>
            </a:pPr>
            <a:r>
              <a:rPr lang="en-US" sz="1050" dirty="0">
                <a:solidFill>
                  <a:srgbClr val="5C7181"/>
                </a:solidFill>
                <a:latin typeface="Calibri" pitchFamily="34" charset="0"/>
                <a:ea typeface="Calibri" pitchFamily="34" charset="-122"/>
                <a:cs typeface="Calibri" pitchFamily="34" charset="-120"/>
              </a:rPr>
              <a:t>Mezcla segura de O2, aire y N2O, junto con el agente anestésico inhalatorio, a la concentración deseada</a:t>
            </a:r>
            <a:endParaRPr lang="en-US" sz="1050" dirty="0"/>
          </a:p>
        </p:txBody>
      </p:sp>
      <p:sp>
        <p:nvSpPr>
          <p:cNvPr id="10" name="Shape 7"/>
          <p:cNvSpPr/>
          <p:nvPr/>
        </p:nvSpPr>
        <p:spPr>
          <a:xfrm>
            <a:off x="3355848" y="2514600"/>
            <a:ext cx="2606040" cy="3520440"/>
          </a:xfrm>
          <a:prstGeom prst="roundRect">
            <a:avLst>
              <a:gd name="adj" fmla="val 2807"/>
            </a:avLst>
          </a:prstGeom>
          <a:solidFill>
            <a:srgbClr val="EAF3F7"/>
          </a:solidFill>
          <a:ln/>
          <a:effectLst>
            <a:outerShdw sx="100000" sy="100000" kx="0" ky="0" algn="bl" rotWithShape="0" blurRad="101600" dist="25400" dir="5400000">
              <a:srgbClr val="1B2A3A">
                <a:alpha val="12000"/>
              </a:srgbClr>
            </a:outerShdw>
          </a:effectLst>
        </p:spPr>
      </p:sp>
      <p:sp>
        <p:nvSpPr>
          <p:cNvPr id="11" name="Shape 8"/>
          <p:cNvSpPr/>
          <p:nvPr/>
        </p:nvSpPr>
        <p:spPr>
          <a:xfrm>
            <a:off x="4293108" y="2807208"/>
            <a:ext cx="731520" cy="731520"/>
          </a:xfrm>
          <a:prstGeom prst="ellipse">
            <a:avLst/>
          </a:prstGeom>
          <a:solidFill>
            <a:srgbClr val="1C7293"/>
          </a:solidFill>
          <a:ln/>
        </p:spPr>
      </p:sp>
      <p:pic>
        <p:nvPicPr>
          <p:cNvPr id="12" name="Image 1" descr="/tmp/claude-0/-home-user-gpa-academy1/adc6e4aa-3b77-57c1-ba92-a8d4ee625c84/scratchpad/icons/lungs_white.png">    </p:cNvPr>
          <p:cNvPicPr>
            <a:picLocks noChangeAspect="1"/>
          </p:cNvPicPr>
          <p:nvPr/>
        </p:nvPicPr>
        <p:blipFill>
          <a:blip r:embed="rId2"/>
          <a:stretch>
            <a:fillRect/>
          </a:stretch>
        </p:blipFill>
        <p:spPr>
          <a:xfrm>
            <a:off x="4468673" y="2982773"/>
            <a:ext cx="380390" cy="380390"/>
          </a:xfrm>
          <a:prstGeom prst="rect">
            <a:avLst/>
          </a:prstGeom>
        </p:spPr>
      </p:pic>
      <p:sp>
        <p:nvSpPr>
          <p:cNvPr id="13" name="Text 9"/>
          <p:cNvSpPr txBox="1"/>
          <p:nvPr/>
        </p:nvSpPr>
        <p:spPr>
          <a:xfrm>
            <a:off x="3493008" y="3749040"/>
            <a:ext cx="2331720" cy="731520"/>
          </a:xfrm>
          <a:prstGeom prst="rect">
            <a:avLst/>
          </a:prstGeom>
          <a:noFill/>
          <a:ln/>
        </p:spPr>
        <p:txBody>
          <a:bodyPr wrap="square" lIns="0" tIns="0" rIns="0" bIns="0" rtlCol="0" anchor="ctr"/>
          <a:lstStyle/>
          <a:p>
            <a:pPr algn="ctr" indent="0" marL="0">
              <a:lnSpc>
                <a:spcPts val="1500"/>
              </a:lnSpc>
              <a:buNone/>
            </a:pPr>
            <a:r>
              <a:rPr lang="en-US" sz="1300" b="1" dirty="0">
                <a:solidFill>
                  <a:srgbClr val="21295C"/>
                </a:solidFill>
                <a:latin typeface="Cambria" pitchFamily="34" charset="0"/>
                <a:ea typeface="Cambria" pitchFamily="34" charset="-122"/>
                <a:cs typeface="Cambria" pitchFamily="34" charset="-120"/>
              </a:rPr>
              <a:t>Ventilación del paciente</a:t>
            </a:r>
            <a:endParaRPr lang="en-US" sz="1300" dirty="0"/>
          </a:p>
        </p:txBody>
      </p:sp>
      <p:sp>
        <p:nvSpPr>
          <p:cNvPr id="14" name="Text 10"/>
          <p:cNvSpPr txBox="1"/>
          <p:nvPr/>
        </p:nvSpPr>
        <p:spPr>
          <a:xfrm>
            <a:off x="3538728" y="4572000"/>
            <a:ext cx="2240280" cy="1371600"/>
          </a:xfrm>
          <a:prstGeom prst="rect">
            <a:avLst/>
          </a:prstGeom>
          <a:noFill/>
          <a:ln/>
        </p:spPr>
        <p:txBody>
          <a:bodyPr wrap="square" lIns="0" tIns="0" rIns="0" bIns="0" rtlCol="0" anchor="ctr"/>
          <a:lstStyle/>
          <a:p>
            <a:pPr algn="ctr" indent="0" marL="0">
              <a:lnSpc>
                <a:spcPts val="1300"/>
              </a:lnSpc>
              <a:buNone/>
            </a:pPr>
            <a:r>
              <a:rPr lang="en-US" sz="1050" dirty="0">
                <a:solidFill>
                  <a:srgbClr val="5C7181"/>
                </a:solidFill>
                <a:latin typeface="Calibri" pitchFamily="34" charset="0"/>
                <a:ea typeface="Calibri" pitchFamily="34" charset="-122"/>
                <a:cs typeface="Calibri" pitchFamily="34" charset="-120"/>
              </a:rPr>
              <a:t>Soporte ventilatorio controlado o asistido cuando la respiración espontánea no es adecuada</a:t>
            </a:r>
            <a:endParaRPr lang="en-US" sz="1050" dirty="0"/>
          </a:p>
        </p:txBody>
      </p:sp>
      <p:sp>
        <p:nvSpPr>
          <p:cNvPr id="15" name="Shape 11"/>
          <p:cNvSpPr/>
          <p:nvPr/>
        </p:nvSpPr>
        <p:spPr>
          <a:xfrm>
            <a:off x="6163056" y="2514600"/>
            <a:ext cx="2606040" cy="3520440"/>
          </a:xfrm>
          <a:prstGeom prst="roundRect">
            <a:avLst>
              <a:gd name="adj" fmla="val 2807"/>
            </a:avLst>
          </a:prstGeom>
          <a:solidFill>
            <a:srgbClr val="EAF3F7"/>
          </a:solidFill>
          <a:ln/>
          <a:effectLst>
            <a:outerShdw sx="100000" sy="100000" kx="0" ky="0" algn="bl" rotWithShape="0" blurRad="101600" dist="25400" dir="5400000">
              <a:srgbClr val="1B2A3A">
                <a:alpha val="12000"/>
              </a:srgbClr>
            </a:outerShdw>
          </a:effectLst>
        </p:spPr>
      </p:sp>
      <p:sp>
        <p:nvSpPr>
          <p:cNvPr id="16" name="Shape 12"/>
          <p:cNvSpPr/>
          <p:nvPr/>
        </p:nvSpPr>
        <p:spPr>
          <a:xfrm>
            <a:off x="7100316" y="2807208"/>
            <a:ext cx="731520" cy="731520"/>
          </a:xfrm>
          <a:prstGeom prst="ellipse">
            <a:avLst/>
          </a:prstGeom>
          <a:solidFill>
            <a:srgbClr val="065A82"/>
          </a:solidFill>
          <a:ln/>
        </p:spPr>
      </p:sp>
      <p:pic>
        <p:nvPicPr>
          <p:cNvPr id="17" name="Image 2" descr="/tmp/claude-0/-home-user-gpa-academy1/adc6e4aa-3b77-57c1-ba92-a8d4ee625c84/scratchpad/icons/pipes_white.png">    </p:cNvPr>
          <p:cNvPicPr>
            <a:picLocks noChangeAspect="1"/>
          </p:cNvPicPr>
          <p:nvPr/>
        </p:nvPicPr>
        <p:blipFill>
          <a:blip r:embed="rId3"/>
          <a:stretch>
            <a:fillRect/>
          </a:stretch>
        </p:blipFill>
        <p:spPr>
          <a:xfrm>
            <a:off x="7275881" y="2982773"/>
            <a:ext cx="380390" cy="380390"/>
          </a:xfrm>
          <a:prstGeom prst="rect">
            <a:avLst/>
          </a:prstGeom>
        </p:spPr>
      </p:pic>
      <p:sp>
        <p:nvSpPr>
          <p:cNvPr id="18" name="Text 13"/>
          <p:cNvSpPr txBox="1"/>
          <p:nvPr/>
        </p:nvSpPr>
        <p:spPr>
          <a:xfrm>
            <a:off x="6300216" y="3749040"/>
            <a:ext cx="2331720" cy="731520"/>
          </a:xfrm>
          <a:prstGeom prst="rect">
            <a:avLst/>
          </a:prstGeom>
          <a:noFill/>
          <a:ln/>
        </p:spPr>
        <p:txBody>
          <a:bodyPr wrap="square" lIns="0" tIns="0" rIns="0" bIns="0" rtlCol="0" anchor="ctr"/>
          <a:lstStyle/>
          <a:p>
            <a:pPr algn="ctr" indent="0" marL="0">
              <a:lnSpc>
                <a:spcPts val="1500"/>
              </a:lnSpc>
              <a:buNone/>
            </a:pPr>
            <a:r>
              <a:rPr lang="en-US" sz="1300" b="1" dirty="0">
                <a:solidFill>
                  <a:srgbClr val="21295C"/>
                </a:solidFill>
                <a:latin typeface="Cambria" pitchFamily="34" charset="0"/>
                <a:ea typeface="Cambria" pitchFamily="34" charset="-122"/>
                <a:cs typeface="Cambria" pitchFamily="34" charset="-120"/>
              </a:rPr>
              <a:t>Eliminación de CO2</a:t>
            </a:r>
            <a:endParaRPr lang="en-US" sz="1300" dirty="0"/>
          </a:p>
        </p:txBody>
      </p:sp>
      <p:sp>
        <p:nvSpPr>
          <p:cNvPr id="19" name="Text 14"/>
          <p:cNvSpPr txBox="1"/>
          <p:nvPr/>
        </p:nvSpPr>
        <p:spPr>
          <a:xfrm>
            <a:off x="6345936" y="4572000"/>
            <a:ext cx="2240280" cy="1371600"/>
          </a:xfrm>
          <a:prstGeom prst="rect">
            <a:avLst/>
          </a:prstGeom>
          <a:noFill/>
          <a:ln/>
        </p:spPr>
        <p:txBody>
          <a:bodyPr wrap="square" lIns="0" tIns="0" rIns="0" bIns="0" rtlCol="0" anchor="ctr"/>
          <a:lstStyle/>
          <a:p>
            <a:pPr algn="ctr" indent="0" marL="0">
              <a:lnSpc>
                <a:spcPts val="1300"/>
              </a:lnSpc>
              <a:buNone/>
            </a:pPr>
            <a:r>
              <a:rPr lang="en-US" sz="1050" dirty="0">
                <a:solidFill>
                  <a:srgbClr val="5C7181"/>
                </a:solidFill>
                <a:latin typeface="Calibri" pitchFamily="34" charset="0"/>
                <a:ea typeface="Calibri" pitchFamily="34" charset="-122"/>
                <a:cs typeface="Calibri" pitchFamily="34" charset="-120"/>
              </a:rPr>
              <a:t>Absorción del dióxido de carbono espirado mediante cal sodada, permitiendo la reinhalación segura de gases</a:t>
            </a:r>
            <a:endParaRPr lang="en-US" sz="1050" dirty="0"/>
          </a:p>
        </p:txBody>
      </p:sp>
      <p:sp>
        <p:nvSpPr>
          <p:cNvPr id="20" name="Shape 15"/>
          <p:cNvSpPr/>
          <p:nvPr/>
        </p:nvSpPr>
        <p:spPr>
          <a:xfrm>
            <a:off x="8970264" y="2514600"/>
            <a:ext cx="2606040" cy="3520440"/>
          </a:xfrm>
          <a:prstGeom prst="roundRect">
            <a:avLst>
              <a:gd name="adj" fmla="val 2807"/>
            </a:avLst>
          </a:prstGeom>
          <a:solidFill>
            <a:srgbClr val="EAF3F7"/>
          </a:solidFill>
          <a:ln/>
          <a:effectLst>
            <a:outerShdw sx="100000" sy="100000" kx="0" ky="0" algn="bl" rotWithShape="0" blurRad="101600" dist="25400" dir="5400000">
              <a:srgbClr val="1B2A3A">
                <a:alpha val="12000"/>
              </a:srgbClr>
            </a:outerShdw>
          </a:effectLst>
        </p:spPr>
      </p:sp>
      <p:sp>
        <p:nvSpPr>
          <p:cNvPr id="21" name="Shape 16"/>
          <p:cNvSpPr/>
          <p:nvPr/>
        </p:nvSpPr>
        <p:spPr>
          <a:xfrm>
            <a:off x="9907524" y="2807208"/>
            <a:ext cx="731520" cy="731520"/>
          </a:xfrm>
          <a:prstGeom prst="ellipse">
            <a:avLst/>
          </a:prstGeom>
          <a:solidFill>
            <a:srgbClr val="1C7293"/>
          </a:solidFill>
          <a:ln/>
        </p:spPr>
      </p:sp>
      <p:pic>
        <p:nvPicPr>
          <p:cNvPr id="22" name="Image 3" descr="/tmp/claude-0/-home-user-gpa-academy1/adc6e4aa-3b77-57c1-ba92-a8d4ee625c84/scratchpad/icons/monitorheart_white.png">    </p:cNvPr>
          <p:cNvPicPr>
            <a:picLocks noChangeAspect="1"/>
          </p:cNvPicPr>
          <p:nvPr/>
        </p:nvPicPr>
        <p:blipFill>
          <a:blip r:embed="rId4"/>
          <a:stretch>
            <a:fillRect/>
          </a:stretch>
        </p:blipFill>
        <p:spPr>
          <a:xfrm>
            <a:off x="10083089" y="2982773"/>
            <a:ext cx="380390" cy="380390"/>
          </a:xfrm>
          <a:prstGeom prst="rect">
            <a:avLst/>
          </a:prstGeom>
        </p:spPr>
      </p:pic>
      <p:sp>
        <p:nvSpPr>
          <p:cNvPr id="23" name="Text 17"/>
          <p:cNvSpPr txBox="1"/>
          <p:nvPr/>
        </p:nvSpPr>
        <p:spPr>
          <a:xfrm>
            <a:off x="9107424" y="3749040"/>
            <a:ext cx="2331720" cy="731520"/>
          </a:xfrm>
          <a:prstGeom prst="rect">
            <a:avLst/>
          </a:prstGeom>
          <a:noFill/>
          <a:ln/>
        </p:spPr>
        <p:txBody>
          <a:bodyPr wrap="square" lIns="0" tIns="0" rIns="0" bIns="0" rtlCol="0" anchor="ctr"/>
          <a:lstStyle/>
          <a:p>
            <a:pPr algn="ctr" indent="0" marL="0">
              <a:lnSpc>
                <a:spcPts val="1500"/>
              </a:lnSpc>
              <a:buNone/>
            </a:pPr>
            <a:r>
              <a:rPr lang="en-US" sz="1300" b="1" dirty="0">
                <a:solidFill>
                  <a:srgbClr val="21295C"/>
                </a:solidFill>
                <a:latin typeface="Cambria" pitchFamily="34" charset="0"/>
                <a:ea typeface="Cambria" pitchFamily="34" charset="-122"/>
                <a:cs typeface="Cambria" pitchFamily="34" charset="-120"/>
              </a:rPr>
              <a:t>Vigilancia continua</a:t>
            </a:r>
            <a:endParaRPr lang="en-US" sz="1300" dirty="0"/>
          </a:p>
        </p:txBody>
      </p:sp>
      <p:sp>
        <p:nvSpPr>
          <p:cNvPr id="24" name="Text 18"/>
          <p:cNvSpPr txBox="1"/>
          <p:nvPr/>
        </p:nvSpPr>
        <p:spPr>
          <a:xfrm>
            <a:off x="9153144" y="4572000"/>
            <a:ext cx="2240280" cy="1371600"/>
          </a:xfrm>
          <a:prstGeom prst="rect">
            <a:avLst/>
          </a:prstGeom>
          <a:noFill/>
          <a:ln/>
        </p:spPr>
        <p:txBody>
          <a:bodyPr wrap="square" lIns="0" tIns="0" rIns="0" bIns="0" rtlCol="0" anchor="ctr"/>
          <a:lstStyle/>
          <a:p>
            <a:pPr algn="ctr" indent="0" marL="0">
              <a:lnSpc>
                <a:spcPts val="1300"/>
              </a:lnSpc>
              <a:buNone/>
            </a:pPr>
            <a:r>
              <a:rPr lang="en-US" sz="1050" dirty="0">
                <a:solidFill>
                  <a:srgbClr val="5C7181"/>
                </a:solidFill>
                <a:latin typeface="Calibri" pitchFamily="34" charset="0"/>
                <a:ea typeface="Calibri" pitchFamily="34" charset="-122"/>
                <a:cs typeface="Calibri" pitchFamily="34" charset="-120"/>
              </a:rPr>
              <a:t>Monitorización del paciente y del propio equipo, con alarmas y verificación previa (“machine check”)</a:t>
            </a:r>
            <a:endParaRPr lang="en-US" sz="1050" dirty="0"/>
          </a:p>
        </p:txBody>
      </p:sp>
      <p:sp>
        <p:nvSpPr>
          <p:cNvPr id="26" name="Text 19"/>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7"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25 / 33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EQUIPOS DE ANESTESIA · 2 DE 7</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La máquina de anestesia: componentes principales</a:t>
            </a:r>
            <a:endParaRPr lang="en-US" sz="2900" dirty="0"/>
          </a:p>
        </p:txBody>
      </p:sp>
      <p:sp>
        <p:nvSpPr>
          <p:cNvPr id="4" name="Shape 2"/>
          <p:cNvSpPr/>
          <p:nvPr/>
        </p:nvSpPr>
        <p:spPr>
          <a:xfrm>
            <a:off x="548640" y="169164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5" name="Shape 3"/>
          <p:cNvSpPr/>
          <p:nvPr/>
        </p:nvSpPr>
        <p:spPr>
          <a:xfrm>
            <a:off x="749808" y="2071116"/>
            <a:ext cx="658368" cy="658368"/>
          </a:xfrm>
          <a:prstGeom prst="ellipse">
            <a:avLst/>
          </a:prstGeom>
          <a:solidFill>
            <a:srgbClr val="065A82"/>
          </a:solidFill>
          <a:ln/>
        </p:spPr>
      </p:sp>
      <p:pic>
        <p:nvPicPr>
          <p:cNvPr id="6" name="Image 0" descr="/tmp/claude-0/-home-user-gpa-academy1/adc6e4aa-3b77-57c1-ba92-a8d4ee625c84/scratchpad/icons/gasmask_white.png">    </p:cNvPr>
          <p:cNvPicPr>
            <a:picLocks noChangeAspect="1"/>
          </p:cNvPicPr>
          <p:nvPr/>
        </p:nvPicPr>
        <p:blipFill>
          <a:blip r:embed="rId1"/>
          <a:stretch>
            <a:fillRect/>
          </a:stretch>
        </p:blipFill>
        <p:spPr>
          <a:xfrm>
            <a:off x="914400" y="2235708"/>
            <a:ext cx="329184" cy="329184"/>
          </a:xfrm>
          <a:prstGeom prst="rect">
            <a:avLst/>
          </a:prstGeom>
        </p:spPr>
      </p:pic>
      <p:sp>
        <p:nvSpPr>
          <p:cNvPr id="7" name="Text 4"/>
          <p:cNvSpPr txBox="1"/>
          <p:nvPr/>
        </p:nvSpPr>
        <p:spPr>
          <a:xfrm>
            <a:off x="1554480" y="185623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Fuente de gases</a:t>
            </a:r>
            <a:endParaRPr lang="en-US" sz="1300" dirty="0"/>
          </a:p>
        </p:txBody>
      </p:sp>
      <p:sp>
        <p:nvSpPr>
          <p:cNvPr id="8" name="Text 5"/>
          <p:cNvSpPr txBox="1"/>
          <p:nvPr/>
        </p:nvSpPr>
        <p:spPr>
          <a:xfrm>
            <a:off x="1554480" y="224028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Cilindros portátiles y toma central (pipeline) de O2, aire y N2O</a:t>
            </a:r>
            <a:endParaRPr lang="en-US" sz="1050" dirty="0"/>
          </a:p>
        </p:txBody>
      </p:sp>
      <p:sp>
        <p:nvSpPr>
          <p:cNvPr id="9" name="Shape 6"/>
          <p:cNvSpPr/>
          <p:nvPr/>
        </p:nvSpPr>
        <p:spPr>
          <a:xfrm>
            <a:off x="4251960" y="169164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10" name="Shape 7"/>
          <p:cNvSpPr/>
          <p:nvPr/>
        </p:nvSpPr>
        <p:spPr>
          <a:xfrm>
            <a:off x="4453128" y="2071116"/>
            <a:ext cx="658368" cy="658368"/>
          </a:xfrm>
          <a:prstGeom prst="ellipse">
            <a:avLst/>
          </a:prstGeom>
          <a:solidFill>
            <a:srgbClr val="065A82"/>
          </a:solidFill>
          <a:ln/>
        </p:spPr>
      </p:sp>
      <p:pic>
        <p:nvPicPr>
          <p:cNvPr id="11" name="Image 1" descr="/tmp/claude-0/-home-user-gpa-academy1/adc6e4aa-3b77-57c1-ba92-a8d4ee625c84/scratchpad/icons/settings_white.png">    </p:cNvPr>
          <p:cNvPicPr>
            <a:picLocks noChangeAspect="1"/>
          </p:cNvPicPr>
          <p:nvPr/>
        </p:nvPicPr>
        <p:blipFill>
          <a:blip r:embed="rId2"/>
          <a:stretch>
            <a:fillRect/>
          </a:stretch>
        </p:blipFill>
        <p:spPr>
          <a:xfrm>
            <a:off x="4617720" y="2235708"/>
            <a:ext cx="329184" cy="329184"/>
          </a:xfrm>
          <a:prstGeom prst="rect">
            <a:avLst/>
          </a:prstGeom>
        </p:spPr>
      </p:pic>
      <p:sp>
        <p:nvSpPr>
          <p:cNvPr id="12" name="Text 8"/>
          <p:cNvSpPr txBox="1"/>
          <p:nvPr/>
        </p:nvSpPr>
        <p:spPr>
          <a:xfrm>
            <a:off x="5257800" y="185623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Flujómetros</a:t>
            </a:r>
            <a:endParaRPr lang="en-US" sz="1300" dirty="0"/>
          </a:p>
        </p:txBody>
      </p:sp>
      <p:sp>
        <p:nvSpPr>
          <p:cNvPr id="13" name="Text 9"/>
          <p:cNvSpPr txBox="1"/>
          <p:nvPr/>
        </p:nvSpPr>
        <p:spPr>
          <a:xfrm>
            <a:off x="5257800" y="224028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Regulan y muestran el caudal de cada gas medicinal</a:t>
            </a:r>
            <a:endParaRPr lang="en-US" sz="1050" dirty="0"/>
          </a:p>
        </p:txBody>
      </p:sp>
      <p:sp>
        <p:nvSpPr>
          <p:cNvPr id="14" name="Shape 10"/>
          <p:cNvSpPr/>
          <p:nvPr/>
        </p:nvSpPr>
        <p:spPr>
          <a:xfrm>
            <a:off x="7955280" y="169164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15" name="Shape 11"/>
          <p:cNvSpPr/>
          <p:nvPr/>
        </p:nvSpPr>
        <p:spPr>
          <a:xfrm>
            <a:off x="8156448" y="2071116"/>
            <a:ext cx="658368" cy="658368"/>
          </a:xfrm>
          <a:prstGeom prst="ellipse">
            <a:avLst/>
          </a:prstGeom>
          <a:solidFill>
            <a:srgbClr val="065A82"/>
          </a:solidFill>
          <a:ln/>
        </p:spPr>
      </p:sp>
      <p:pic>
        <p:nvPicPr>
          <p:cNvPr id="16" name="Image 2" descr="/tmp/claude-0/-home-user-gpa-academy1/adc6e4aa-3b77-57c1-ba92-a8d4ee625c84/scratchpad/icons/waterdrop_white.png">    </p:cNvPr>
          <p:cNvPicPr>
            <a:picLocks noChangeAspect="1"/>
          </p:cNvPicPr>
          <p:nvPr/>
        </p:nvPicPr>
        <p:blipFill>
          <a:blip r:embed="rId3"/>
          <a:stretch>
            <a:fillRect/>
          </a:stretch>
        </p:blipFill>
        <p:spPr>
          <a:xfrm>
            <a:off x="8321040" y="2235708"/>
            <a:ext cx="329184" cy="329184"/>
          </a:xfrm>
          <a:prstGeom prst="rect">
            <a:avLst/>
          </a:prstGeom>
        </p:spPr>
      </p:pic>
      <p:sp>
        <p:nvSpPr>
          <p:cNvPr id="17" name="Text 12"/>
          <p:cNvSpPr txBox="1"/>
          <p:nvPr/>
        </p:nvSpPr>
        <p:spPr>
          <a:xfrm>
            <a:off x="8961120" y="185623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Vaporizadores calibrados</a:t>
            </a:r>
            <a:endParaRPr lang="en-US" sz="1300" dirty="0"/>
          </a:p>
        </p:txBody>
      </p:sp>
      <p:sp>
        <p:nvSpPr>
          <p:cNvPr id="18" name="Text 13"/>
          <p:cNvSpPr txBox="1"/>
          <p:nvPr/>
        </p:nvSpPr>
        <p:spPr>
          <a:xfrm>
            <a:off x="8961120" y="224028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Uno por agente inhalatorio, de derivación variable</a:t>
            </a:r>
            <a:endParaRPr lang="en-US" sz="1050" dirty="0"/>
          </a:p>
        </p:txBody>
      </p:sp>
      <p:sp>
        <p:nvSpPr>
          <p:cNvPr id="19" name="Shape 14"/>
          <p:cNvSpPr/>
          <p:nvPr/>
        </p:nvSpPr>
        <p:spPr>
          <a:xfrm>
            <a:off x="548640" y="329184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20" name="Shape 15"/>
          <p:cNvSpPr/>
          <p:nvPr/>
        </p:nvSpPr>
        <p:spPr>
          <a:xfrm>
            <a:off x="749808" y="3671316"/>
            <a:ext cx="658368" cy="658368"/>
          </a:xfrm>
          <a:prstGeom prst="ellipse">
            <a:avLst/>
          </a:prstGeom>
          <a:solidFill>
            <a:srgbClr val="065A82"/>
          </a:solidFill>
          <a:ln/>
        </p:spPr>
      </p:sp>
      <p:pic>
        <p:nvPicPr>
          <p:cNvPr id="21" name="Image 3" descr="/tmp/claude-0/-home-user-gpa-academy1/adc6e4aa-3b77-57c1-ba92-a8d4ee625c84/scratchpad/icons/pipes_white.png">    </p:cNvPr>
          <p:cNvPicPr>
            <a:picLocks noChangeAspect="1"/>
          </p:cNvPicPr>
          <p:nvPr/>
        </p:nvPicPr>
        <p:blipFill>
          <a:blip r:embed="rId4"/>
          <a:stretch>
            <a:fillRect/>
          </a:stretch>
        </p:blipFill>
        <p:spPr>
          <a:xfrm>
            <a:off x="914400" y="3835908"/>
            <a:ext cx="329184" cy="329184"/>
          </a:xfrm>
          <a:prstGeom prst="rect">
            <a:avLst/>
          </a:prstGeom>
        </p:spPr>
      </p:pic>
      <p:sp>
        <p:nvSpPr>
          <p:cNvPr id="22" name="Text 16"/>
          <p:cNvSpPr txBox="1"/>
          <p:nvPr/>
        </p:nvSpPr>
        <p:spPr>
          <a:xfrm>
            <a:off x="1554480" y="345643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Absorbedor de CO2</a:t>
            </a:r>
            <a:endParaRPr lang="en-US" sz="1300" dirty="0"/>
          </a:p>
        </p:txBody>
      </p:sp>
      <p:sp>
        <p:nvSpPr>
          <p:cNvPr id="23" name="Text 17"/>
          <p:cNvSpPr txBox="1"/>
          <p:nvPr/>
        </p:nvSpPr>
        <p:spPr>
          <a:xfrm>
            <a:off x="1554480" y="384048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Cal sodada; permite la reinhalación parcial de gases</a:t>
            </a:r>
            <a:endParaRPr lang="en-US" sz="1050" dirty="0"/>
          </a:p>
        </p:txBody>
      </p:sp>
      <p:sp>
        <p:nvSpPr>
          <p:cNvPr id="24" name="Shape 18"/>
          <p:cNvSpPr/>
          <p:nvPr/>
        </p:nvSpPr>
        <p:spPr>
          <a:xfrm>
            <a:off x="4251960" y="329184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25" name="Shape 19"/>
          <p:cNvSpPr/>
          <p:nvPr/>
        </p:nvSpPr>
        <p:spPr>
          <a:xfrm>
            <a:off x="4453128" y="3671316"/>
            <a:ext cx="658368" cy="658368"/>
          </a:xfrm>
          <a:prstGeom prst="ellipse">
            <a:avLst/>
          </a:prstGeom>
          <a:solidFill>
            <a:srgbClr val="065A82"/>
          </a:solidFill>
          <a:ln/>
        </p:spPr>
      </p:sp>
      <p:pic>
        <p:nvPicPr>
          <p:cNvPr id="26" name="Image 4" descr="/tmp/claude-0/-home-user-gpa-academy1/adc6e4aa-3b77-57c1-ba92-a8d4ee625c84/scratchpad/icons/lungs_white.png">    </p:cNvPr>
          <p:cNvPicPr>
            <a:picLocks noChangeAspect="1"/>
          </p:cNvPicPr>
          <p:nvPr/>
        </p:nvPicPr>
        <p:blipFill>
          <a:blip r:embed="rId5"/>
          <a:stretch>
            <a:fillRect/>
          </a:stretch>
        </p:blipFill>
        <p:spPr>
          <a:xfrm>
            <a:off x="4617720" y="3835908"/>
            <a:ext cx="329184" cy="329184"/>
          </a:xfrm>
          <a:prstGeom prst="rect">
            <a:avLst/>
          </a:prstGeom>
        </p:spPr>
      </p:pic>
      <p:sp>
        <p:nvSpPr>
          <p:cNvPr id="27" name="Text 20"/>
          <p:cNvSpPr txBox="1"/>
          <p:nvPr/>
        </p:nvSpPr>
        <p:spPr>
          <a:xfrm>
            <a:off x="5257800" y="345643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Ventilador integrado</a:t>
            </a:r>
            <a:endParaRPr lang="en-US" sz="1300" dirty="0"/>
          </a:p>
        </p:txBody>
      </p:sp>
      <p:sp>
        <p:nvSpPr>
          <p:cNvPr id="28" name="Text 21"/>
          <p:cNvSpPr txBox="1"/>
          <p:nvPr/>
        </p:nvSpPr>
        <p:spPr>
          <a:xfrm>
            <a:off x="5257800" y="384048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Soporte ventilatorio mecánico controlado o asistido</a:t>
            </a:r>
            <a:endParaRPr lang="en-US" sz="1050" dirty="0"/>
          </a:p>
        </p:txBody>
      </p:sp>
      <p:sp>
        <p:nvSpPr>
          <p:cNvPr id="29" name="Shape 22"/>
          <p:cNvSpPr/>
          <p:nvPr/>
        </p:nvSpPr>
        <p:spPr>
          <a:xfrm>
            <a:off x="7955280" y="3291840"/>
            <a:ext cx="3520440" cy="1417320"/>
          </a:xfrm>
          <a:prstGeom prst="roundRect">
            <a:avLst>
              <a:gd name="adj" fmla="val 5161"/>
            </a:avLst>
          </a:prstGeom>
          <a:solidFill>
            <a:srgbClr val="EAF3F7"/>
          </a:solidFill>
          <a:ln/>
          <a:effectLst>
            <a:outerShdw sx="100000" sy="100000" kx="0" ky="0" algn="bl" rotWithShape="0" blurRad="101600" dist="25400" dir="5400000">
              <a:srgbClr val="1B2A3A">
                <a:alpha val="12000"/>
              </a:srgbClr>
            </a:outerShdw>
          </a:effectLst>
        </p:spPr>
      </p:sp>
      <p:sp>
        <p:nvSpPr>
          <p:cNvPr id="30" name="Shape 23"/>
          <p:cNvSpPr/>
          <p:nvPr/>
        </p:nvSpPr>
        <p:spPr>
          <a:xfrm>
            <a:off x="8156448" y="3671316"/>
            <a:ext cx="658368" cy="658368"/>
          </a:xfrm>
          <a:prstGeom prst="ellipse">
            <a:avLst/>
          </a:prstGeom>
          <a:solidFill>
            <a:srgbClr val="065A82"/>
          </a:solidFill>
          <a:ln/>
        </p:spPr>
      </p:sp>
      <p:pic>
        <p:nvPicPr>
          <p:cNvPr id="31" name="Image 5" descr="/tmp/claude-0/-home-user-gpa-academy1/adc6e4aa-3b77-57c1-ba92-a8d4ee625c84/scratchpad/icons/shield_white.png">    </p:cNvPr>
          <p:cNvPicPr>
            <a:picLocks noChangeAspect="1"/>
          </p:cNvPicPr>
          <p:nvPr/>
        </p:nvPicPr>
        <p:blipFill>
          <a:blip r:embed="rId6"/>
          <a:stretch>
            <a:fillRect/>
          </a:stretch>
        </p:blipFill>
        <p:spPr>
          <a:xfrm>
            <a:off x="8321040" y="3835908"/>
            <a:ext cx="329184" cy="329184"/>
          </a:xfrm>
          <a:prstGeom prst="rect">
            <a:avLst/>
          </a:prstGeom>
        </p:spPr>
      </p:pic>
      <p:sp>
        <p:nvSpPr>
          <p:cNvPr id="32" name="Text 24"/>
          <p:cNvSpPr txBox="1"/>
          <p:nvPr/>
        </p:nvSpPr>
        <p:spPr>
          <a:xfrm>
            <a:off x="8961120" y="345643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Sistemas de seguridad</a:t>
            </a:r>
            <a:endParaRPr lang="en-US" sz="1300" dirty="0"/>
          </a:p>
        </p:txBody>
      </p:sp>
      <p:sp>
        <p:nvSpPr>
          <p:cNvPr id="33" name="Text 25"/>
          <p:cNvSpPr txBox="1"/>
          <p:nvPr/>
        </p:nvSpPr>
        <p:spPr>
          <a:xfrm>
            <a:off x="8961120" y="384048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Alarma de O2 bajo, válvulas de liberación, evacuación de gases residuales (scavenging)</a:t>
            </a:r>
            <a:endParaRPr lang="en-US" sz="1050" dirty="0"/>
          </a:p>
        </p:txBody>
      </p:sp>
      <p:sp>
        <p:nvSpPr>
          <p:cNvPr id="34" name="Text 26"/>
          <p:cNvSpPr txBox="1"/>
          <p:nvPr/>
        </p:nvSpPr>
        <p:spPr>
          <a:xfrm>
            <a:off x="548640" y="5349240"/>
            <a:ext cx="10607040" cy="548640"/>
          </a:xfrm>
          <a:prstGeom prst="rect">
            <a:avLst/>
          </a:prstGeom>
          <a:noFill/>
          <a:ln/>
        </p:spPr>
        <p:txBody>
          <a:bodyPr wrap="square" lIns="0" tIns="0" rIns="0" bIns="0" rtlCol="0" anchor="ctr"/>
          <a:lstStyle/>
          <a:p>
            <a:pPr indent="0" marL="0">
              <a:lnSpc>
                <a:spcPts val="1400"/>
              </a:lnSpc>
              <a:buNone/>
            </a:pPr>
            <a:r>
              <a:rPr lang="en-US" sz="1150" i="1" dirty="0">
                <a:solidFill>
                  <a:srgbClr val="5C7181"/>
                </a:solidFill>
                <a:latin typeface="Calibri" pitchFamily="34" charset="0"/>
                <a:ea typeface="Calibri" pitchFamily="34" charset="-122"/>
                <a:cs typeface="Calibri" pitchFamily="34" charset="-120"/>
              </a:rPr>
              <a:t>El pin index safety system y el diameter index safety system (DISS) previenen la conexión errónea de cilindros y mangueras entre gases distintos.</a:t>
            </a:r>
            <a:endParaRPr lang="en-US" sz="1150" dirty="0"/>
          </a:p>
        </p:txBody>
      </p:sp>
      <p:sp>
        <p:nvSpPr>
          <p:cNvPr id="36" name="Text 2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37" name="Text 2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26 / 33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EQUIPOS DE ANESTESIA · 3 DE 7</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Sistema de suministro de gases y vaporizadores</a:t>
            </a:r>
            <a:endParaRPr lang="en-US" sz="2900" dirty="0"/>
          </a:p>
        </p:txBody>
      </p:sp>
      <p:sp>
        <p:nvSpPr>
          <p:cNvPr id="4" name="Shape 2"/>
          <p:cNvSpPr/>
          <p:nvPr/>
        </p:nvSpPr>
        <p:spPr>
          <a:xfrm>
            <a:off x="548640" y="1600200"/>
            <a:ext cx="5257800" cy="4434840"/>
          </a:xfrm>
          <a:prstGeom prst="roundRect">
            <a:avLst>
              <a:gd name="adj" fmla="val 1649"/>
            </a:avLst>
          </a:prstGeom>
          <a:solidFill>
            <a:srgbClr val="EAF3F7"/>
          </a:solidFill>
          <a:ln/>
          <a:effectLst>
            <a:outerShdw sx="100000" sy="100000" kx="0" ky="0" algn="bl" rotWithShape="0" blurRad="101600" dist="25400" dir="5400000">
              <a:srgbClr val="1B2A3A">
                <a:alpha val="12000"/>
              </a:srgbClr>
            </a:outerShdw>
          </a:effectLst>
        </p:spPr>
      </p:sp>
      <p:sp>
        <p:nvSpPr>
          <p:cNvPr id="5" name="Shape 3"/>
          <p:cNvSpPr/>
          <p:nvPr/>
        </p:nvSpPr>
        <p:spPr>
          <a:xfrm>
            <a:off x="822960" y="1828800"/>
            <a:ext cx="685800" cy="685800"/>
          </a:xfrm>
          <a:prstGeom prst="ellipse">
            <a:avLst/>
          </a:prstGeom>
          <a:solidFill>
            <a:srgbClr val="065A82"/>
          </a:solidFill>
          <a:ln/>
        </p:spPr>
      </p:sp>
      <p:pic>
        <p:nvPicPr>
          <p:cNvPr id="6" name="Image 0" descr="/tmp/claude-0/-home-user-gpa-academy1/adc6e4aa-3b77-57c1-ba92-a8d4ee625c84/scratchpad/icons/gasmask_white.png">    </p:cNvPr>
          <p:cNvPicPr>
            <a:picLocks noChangeAspect="1"/>
          </p:cNvPicPr>
          <p:nvPr/>
        </p:nvPicPr>
        <p:blipFill>
          <a:blip r:embed="rId1"/>
          <a:stretch>
            <a:fillRect/>
          </a:stretch>
        </p:blipFill>
        <p:spPr>
          <a:xfrm>
            <a:off x="987552" y="1993392"/>
            <a:ext cx="356616" cy="356616"/>
          </a:xfrm>
          <a:prstGeom prst="rect">
            <a:avLst/>
          </a:prstGeom>
        </p:spPr>
      </p:pic>
      <p:sp>
        <p:nvSpPr>
          <p:cNvPr id="7" name="Text 4"/>
          <p:cNvSpPr txBox="1"/>
          <p:nvPr/>
        </p:nvSpPr>
        <p:spPr>
          <a:xfrm>
            <a:off x="1691640" y="1938528"/>
            <a:ext cx="4023360" cy="45720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Fuentes de suministro</a:t>
            </a:r>
            <a:endParaRPr lang="en-US" sz="1550" dirty="0"/>
          </a:p>
        </p:txBody>
      </p:sp>
      <p:sp>
        <p:nvSpPr>
          <p:cNvPr id="8" name="Text 5"/>
          <p:cNvSpPr txBox="1"/>
          <p:nvPr/>
        </p:nvSpPr>
        <p:spPr>
          <a:xfrm>
            <a:off x="822960" y="2743200"/>
            <a:ext cx="4754880" cy="310896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2B3648"/>
                </a:solidFill>
                <a:latin typeface="Calibri" pitchFamily="34" charset="0"/>
                <a:ea typeface="Calibri" pitchFamily="34" charset="-122"/>
                <a:cs typeface="Calibri" pitchFamily="34" charset="-120"/>
              </a:rPr>
              <a:t>Cilindros tipo E: portátiles, con código de colores estandarizado por gas.</a:t>
            </a:r>
            <a:endParaRPr lang="en-US" sz="1250" dirty="0"/>
          </a:p>
          <a:p>
            <a:pPr marL="203200" indent="-203200">
              <a:spcAft>
                <a:spcPts val="1200"/>
              </a:spcAft>
              <a:buSzPct val="100000"/>
              <a:buChar char="▪"/>
            </a:pPr>
            <a:r>
              <a:rPr lang="en-US" sz="1250" dirty="0">
                <a:solidFill>
                  <a:srgbClr val="2B3648"/>
                </a:solidFill>
                <a:latin typeface="Calibri" pitchFamily="34" charset="0"/>
                <a:ea typeface="Calibri" pitchFamily="34" charset="-122"/>
                <a:cs typeface="Calibri" pitchFamily="34" charset="-120"/>
              </a:rPr>
              <a:t>Toma central (pipeline): suministro continuo desde planta, presión regulada (~50–55 psi).</a:t>
            </a:r>
            <a:endParaRPr lang="en-US" sz="1250" dirty="0"/>
          </a:p>
          <a:p>
            <a:pPr marL="203200" indent="-203200">
              <a:spcAft>
                <a:spcPts val="1200"/>
              </a:spcAft>
              <a:buSzPct val="100000"/>
              <a:buChar char="▪"/>
            </a:pPr>
            <a:r>
              <a:rPr lang="en-US" sz="1250" dirty="0">
                <a:solidFill>
                  <a:srgbClr val="2B3648"/>
                </a:solidFill>
                <a:latin typeface="Calibri" pitchFamily="34" charset="0"/>
                <a:ea typeface="Calibri" pitchFamily="34" charset="-122"/>
                <a:cs typeface="Calibri" pitchFamily="34" charset="-120"/>
              </a:rPr>
              <a:t>Sistemas pin-index y diameter-index (DISS): impiden la conexión cruzada entre gases distintos.</a:t>
            </a:r>
            <a:endParaRPr lang="en-US" sz="1250" dirty="0"/>
          </a:p>
        </p:txBody>
      </p:sp>
      <p:sp>
        <p:nvSpPr>
          <p:cNvPr id="9" name="Shape 6"/>
          <p:cNvSpPr/>
          <p:nvPr/>
        </p:nvSpPr>
        <p:spPr>
          <a:xfrm>
            <a:off x="6355080" y="1600200"/>
            <a:ext cx="5257800" cy="4434840"/>
          </a:xfrm>
          <a:prstGeom prst="roundRect">
            <a:avLst>
              <a:gd name="adj" fmla="val 1649"/>
            </a:avLst>
          </a:prstGeom>
          <a:solidFill>
            <a:srgbClr val="E3EEF3"/>
          </a:solidFill>
          <a:ln/>
          <a:effectLst>
            <a:outerShdw sx="100000" sy="100000" kx="0" ky="0" algn="bl" rotWithShape="0" blurRad="101600" dist="25400" dir="5400000">
              <a:srgbClr val="1B2A3A">
                <a:alpha val="12000"/>
              </a:srgbClr>
            </a:outerShdw>
          </a:effectLst>
        </p:spPr>
      </p:sp>
      <p:sp>
        <p:nvSpPr>
          <p:cNvPr id="10" name="Shape 7"/>
          <p:cNvSpPr/>
          <p:nvPr/>
        </p:nvSpPr>
        <p:spPr>
          <a:xfrm>
            <a:off x="6629400" y="1828800"/>
            <a:ext cx="685800" cy="685800"/>
          </a:xfrm>
          <a:prstGeom prst="ellipse">
            <a:avLst/>
          </a:prstGeom>
          <a:solidFill>
            <a:srgbClr val="1C7293"/>
          </a:solidFill>
          <a:ln/>
        </p:spPr>
      </p:sp>
      <p:pic>
        <p:nvPicPr>
          <p:cNvPr id="11" name="Image 1" descr="/tmp/claude-0/-home-user-gpa-academy1/adc6e4aa-3b77-57c1-ba92-a8d4ee625c84/scratchpad/icons/waterdrop_white.png">    </p:cNvPr>
          <p:cNvPicPr>
            <a:picLocks noChangeAspect="1"/>
          </p:cNvPicPr>
          <p:nvPr/>
        </p:nvPicPr>
        <p:blipFill>
          <a:blip r:embed="rId2"/>
          <a:stretch>
            <a:fillRect/>
          </a:stretch>
        </p:blipFill>
        <p:spPr>
          <a:xfrm>
            <a:off x="6793992" y="1993392"/>
            <a:ext cx="356616" cy="356616"/>
          </a:xfrm>
          <a:prstGeom prst="rect">
            <a:avLst/>
          </a:prstGeom>
        </p:spPr>
      </p:pic>
      <p:sp>
        <p:nvSpPr>
          <p:cNvPr id="12" name="Text 8"/>
          <p:cNvSpPr txBox="1"/>
          <p:nvPr/>
        </p:nvSpPr>
        <p:spPr>
          <a:xfrm>
            <a:off x="7498080" y="1938528"/>
            <a:ext cx="3931920" cy="45720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Vaporizadores calibrados</a:t>
            </a:r>
            <a:endParaRPr lang="en-US" sz="1550" dirty="0"/>
          </a:p>
        </p:txBody>
      </p:sp>
      <p:sp>
        <p:nvSpPr>
          <p:cNvPr id="13" name="Text 9"/>
          <p:cNvSpPr txBox="1"/>
          <p:nvPr/>
        </p:nvSpPr>
        <p:spPr>
          <a:xfrm>
            <a:off x="6629400" y="2743200"/>
            <a:ext cx="4754880" cy="310896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2B3648"/>
                </a:solidFill>
                <a:latin typeface="Calibri" pitchFamily="34" charset="0"/>
                <a:ea typeface="Calibri" pitchFamily="34" charset="-122"/>
                <a:cs typeface="Calibri" pitchFamily="34" charset="-120"/>
              </a:rPr>
              <a:t>Específicos para cada agente (sevoflurano, isoflurano, desflurano).</a:t>
            </a:r>
            <a:endParaRPr lang="en-US" sz="1250" dirty="0"/>
          </a:p>
          <a:p>
            <a:pPr marL="203200" indent="-203200">
              <a:spcAft>
                <a:spcPts val="1200"/>
              </a:spcAft>
              <a:buSzPct val="100000"/>
              <a:buChar char="▪"/>
            </a:pPr>
            <a:r>
              <a:rPr lang="en-US" sz="1250" dirty="0">
                <a:solidFill>
                  <a:srgbClr val="2B3648"/>
                </a:solidFill>
                <a:latin typeface="Calibri" pitchFamily="34" charset="0"/>
                <a:ea typeface="Calibri" pitchFamily="34" charset="-122"/>
                <a:cs typeface="Calibri" pitchFamily="34" charset="-120"/>
              </a:rPr>
              <a:t>Principio de derivación variable (“variable bypass”): concentración de salida precisa e independiente del flujo y la temperatura dentro de su rango de diseño.</a:t>
            </a:r>
            <a:endParaRPr lang="en-US" sz="1250" dirty="0"/>
          </a:p>
          <a:p>
            <a:pPr marL="203200" indent="-203200">
              <a:spcAft>
                <a:spcPts val="1200"/>
              </a:spcAft>
              <a:buSzPct val="100000"/>
              <a:buChar char="▪"/>
            </a:pPr>
            <a:r>
              <a:rPr lang="en-US" sz="1250" dirty="0">
                <a:solidFill>
                  <a:srgbClr val="2B3648"/>
                </a:solidFill>
                <a:latin typeface="Calibri" pitchFamily="34" charset="0"/>
                <a:ea typeface="Calibri" pitchFamily="34" charset="-122"/>
                <a:cs typeface="Calibri" pitchFamily="34" charset="-120"/>
              </a:rPr>
              <a:t>El desflurano, por su bajo punto de ebullición, requiere un vaporizador especial con calentamiento activo y presurización.</a:t>
            </a:r>
            <a:endParaRPr lang="en-US" sz="1250" dirty="0"/>
          </a:p>
        </p:txBody>
      </p:sp>
      <p:sp>
        <p:nvSpPr>
          <p:cNvPr id="15" name="Text 10"/>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6" name="Text 11"/>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27 / 33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EQUIPOS DE ANESTESIA · 4 DE 7</a:t>
            </a:r>
            <a:endParaRPr lang="en-US" sz="1200" dirty="0"/>
          </a:p>
        </p:txBody>
      </p:sp>
      <p:sp>
        <p:nvSpPr>
          <p:cNvPr id="3" name="Text 1"/>
          <p:cNvSpPr txBox="1"/>
          <p:nvPr/>
        </p:nvSpPr>
        <p:spPr>
          <a:xfrm>
            <a:off x="548640" y="658368"/>
            <a:ext cx="11064240" cy="868680"/>
          </a:xfrm>
          <a:prstGeom prst="rect">
            <a:avLst/>
          </a:prstGeom>
          <a:noFill/>
          <a:ln/>
        </p:spPr>
        <p:txBody>
          <a:bodyPr wrap="square" lIns="0" tIns="0" rIns="0" bIns="0" rtlCol="0" anchor="t"/>
          <a:lstStyle/>
          <a:p>
            <a:pPr algn="l" indent="0" marL="0">
              <a:buNone/>
            </a:pPr>
            <a:r>
              <a:rPr lang="en-US" sz="2500" b="1" dirty="0">
                <a:solidFill>
                  <a:srgbClr val="21295C"/>
                </a:solidFill>
                <a:latin typeface="Cambria" pitchFamily="34" charset="0"/>
                <a:ea typeface="Cambria" pitchFamily="34" charset="-122"/>
                <a:cs typeface="Cambria" pitchFamily="34" charset="-120"/>
              </a:rPr>
              <a:t>Circuitos respiratorios y sistemas de ventilación</a:t>
            </a:r>
            <a:endParaRPr lang="en-US" sz="2500" dirty="0"/>
          </a:p>
        </p:txBody>
      </p:sp>
      <p:sp>
        <p:nvSpPr>
          <p:cNvPr id="4" name="Shape 2"/>
          <p:cNvSpPr/>
          <p:nvPr/>
        </p:nvSpPr>
        <p:spPr>
          <a:xfrm>
            <a:off x="548640" y="1645920"/>
            <a:ext cx="5349240" cy="3246120"/>
          </a:xfrm>
          <a:prstGeom prst="roundRect">
            <a:avLst>
              <a:gd name="adj" fmla="val 2254"/>
            </a:avLst>
          </a:prstGeom>
          <a:solidFill>
            <a:srgbClr val="EAF3F7"/>
          </a:solidFill>
          <a:ln/>
          <a:effectLst>
            <a:outerShdw sx="100000" sy="100000" kx="0" ky="0" algn="bl" rotWithShape="0" blurRad="101600" dist="25400" dir="5400000">
              <a:srgbClr val="1B2A3A">
                <a:alpha val="12000"/>
              </a:srgbClr>
            </a:outerShdw>
          </a:effectLst>
        </p:spPr>
      </p:sp>
      <p:sp>
        <p:nvSpPr>
          <p:cNvPr id="5" name="Shape 3"/>
          <p:cNvSpPr/>
          <p:nvPr/>
        </p:nvSpPr>
        <p:spPr>
          <a:xfrm>
            <a:off x="822960" y="1920240"/>
            <a:ext cx="685800" cy="685800"/>
          </a:xfrm>
          <a:prstGeom prst="ellipse">
            <a:avLst/>
          </a:prstGeom>
          <a:solidFill>
            <a:srgbClr val="065A82"/>
          </a:solidFill>
          <a:ln/>
        </p:spPr>
      </p:sp>
      <p:pic>
        <p:nvPicPr>
          <p:cNvPr id="6" name="Image 0" descr="/tmp/claude-0/-home-user-gpa-academy1/adc6e4aa-3b77-57c1-ba92-a8d4ee625c84/scratchpad/icons/pipes_white.png">    </p:cNvPr>
          <p:cNvPicPr>
            <a:picLocks noChangeAspect="1"/>
          </p:cNvPicPr>
          <p:nvPr/>
        </p:nvPicPr>
        <p:blipFill>
          <a:blip r:embed="rId1"/>
          <a:stretch>
            <a:fillRect/>
          </a:stretch>
        </p:blipFill>
        <p:spPr>
          <a:xfrm>
            <a:off x="987552" y="2084832"/>
            <a:ext cx="356616" cy="356616"/>
          </a:xfrm>
          <a:prstGeom prst="rect">
            <a:avLst/>
          </a:prstGeom>
        </p:spPr>
      </p:pic>
      <p:sp>
        <p:nvSpPr>
          <p:cNvPr id="7" name="Text 4"/>
          <p:cNvSpPr txBox="1"/>
          <p:nvPr/>
        </p:nvSpPr>
        <p:spPr>
          <a:xfrm>
            <a:off x="1645920" y="1965960"/>
            <a:ext cx="4069080" cy="640080"/>
          </a:xfrm>
          <a:prstGeom prst="rect">
            <a:avLst/>
          </a:prstGeom>
          <a:noFill/>
          <a:ln/>
        </p:spPr>
        <p:txBody>
          <a:bodyPr wrap="square" lIns="0" tIns="0" rIns="0" bIns="0" rtlCol="0" anchor="ctr"/>
          <a:lstStyle/>
          <a:p>
            <a:pPr indent="0" marL="0">
              <a:lnSpc>
                <a:spcPts val="1600"/>
              </a:lnSpc>
              <a:buNone/>
            </a:pPr>
            <a:r>
              <a:rPr lang="en-US" sz="1500" b="1" dirty="0">
                <a:solidFill>
                  <a:srgbClr val="21295C"/>
                </a:solidFill>
                <a:latin typeface="Cambria" pitchFamily="34" charset="0"/>
                <a:ea typeface="Cambria" pitchFamily="34" charset="-122"/>
                <a:cs typeface="Cambria" pitchFamily="34" charset="-120"/>
              </a:rPr>
              <a:t>Sistema circular</a:t>
            </a:r>
            <a:endParaRPr lang="en-US" sz="1500" dirty="0"/>
          </a:p>
        </p:txBody>
      </p:sp>
      <p:sp>
        <p:nvSpPr>
          <p:cNvPr id="8" name="Text 5"/>
          <p:cNvSpPr txBox="1"/>
          <p:nvPr/>
        </p:nvSpPr>
        <p:spPr>
          <a:xfrm>
            <a:off x="822960" y="2788920"/>
            <a:ext cx="4800600" cy="2011680"/>
          </a:xfrm>
          <a:prstGeom prst="rect">
            <a:avLst/>
          </a:prstGeom>
          <a:noFill/>
          <a:ln/>
        </p:spPr>
        <p:txBody>
          <a:bodyPr wrap="square" lIns="0" tIns="0" rIns="0" bIns="0" rtlCol="0" anchor="t"/>
          <a:lstStyle/>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El más utilizado en la práctica actual</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Permite reinhalación parcial con absorción de CO2 (cal sodada)</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Conserva calor y humedad de la vía aérea</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Economiza el flujo de gases frescos (anestesia de bajo flujo)</a:t>
            </a:r>
            <a:endParaRPr lang="en-US" sz="1180" dirty="0"/>
          </a:p>
        </p:txBody>
      </p:sp>
      <p:sp>
        <p:nvSpPr>
          <p:cNvPr id="9" name="Shape 6"/>
          <p:cNvSpPr/>
          <p:nvPr/>
        </p:nvSpPr>
        <p:spPr>
          <a:xfrm>
            <a:off x="6172200" y="1645920"/>
            <a:ext cx="5349240" cy="3246120"/>
          </a:xfrm>
          <a:prstGeom prst="roundRect">
            <a:avLst>
              <a:gd name="adj" fmla="val 2254"/>
            </a:avLst>
          </a:prstGeom>
          <a:solidFill>
            <a:srgbClr val="EAF3F7"/>
          </a:solidFill>
          <a:ln/>
          <a:effectLst>
            <a:outerShdw sx="100000" sy="100000" kx="0" ky="0" algn="bl" rotWithShape="0" blurRad="101600" dist="25400" dir="5400000">
              <a:srgbClr val="1B2A3A">
                <a:alpha val="12000"/>
              </a:srgbClr>
            </a:outerShdw>
          </a:effectLst>
        </p:spPr>
      </p:sp>
      <p:sp>
        <p:nvSpPr>
          <p:cNvPr id="10" name="Shape 7"/>
          <p:cNvSpPr/>
          <p:nvPr/>
        </p:nvSpPr>
        <p:spPr>
          <a:xfrm>
            <a:off x="6446520" y="1920240"/>
            <a:ext cx="685800" cy="685800"/>
          </a:xfrm>
          <a:prstGeom prst="ellipse">
            <a:avLst/>
          </a:prstGeom>
          <a:solidFill>
            <a:srgbClr val="1C7293"/>
          </a:solidFill>
          <a:ln/>
        </p:spPr>
      </p:sp>
      <p:pic>
        <p:nvPicPr>
          <p:cNvPr id="11" name="Image 1" descr="/tmp/claude-0/-home-user-gpa-academy1/adc6e4aa-3b77-57c1-ba92-a8d4ee625c84/scratchpad/icons/lungs_white.png">    </p:cNvPr>
          <p:cNvPicPr>
            <a:picLocks noChangeAspect="1"/>
          </p:cNvPicPr>
          <p:nvPr/>
        </p:nvPicPr>
        <p:blipFill>
          <a:blip r:embed="rId2"/>
          <a:stretch>
            <a:fillRect/>
          </a:stretch>
        </p:blipFill>
        <p:spPr>
          <a:xfrm>
            <a:off x="6611112" y="2084832"/>
            <a:ext cx="356616" cy="356616"/>
          </a:xfrm>
          <a:prstGeom prst="rect">
            <a:avLst/>
          </a:prstGeom>
        </p:spPr>
      </p:pic>
      <p:sp>
        <p:nvSpPr>
          <p:cNvPr id="12" name="Text 8"/>
          <p:cNvSpPr txBox="1"/>
          <p:nvPr/>
        </p:nvSpPr>
        <p:spPr>
          <a:xfrm>
            <a:off x="7269480" y="1965960"/>
            <a:ext cx="4069080" cy="640080"/>
          </a:xfrm>
          <a:prstGeom prst="rect">
            <a:avLst/>
          </a:prstGeom>
          <a:noFill/>
          <a:ln/>
        </p:spPr>
        <p:txBody>
          <a:bodyPr wrap="square" lIns="0" tIns="0" rIns="0" bIns="0" rtlCol="0" anchor="ctr"/>
          <a:lstStyle/>
          <a:p>
            <a:pPr indent="0" marL="0">
              <a:lnSpc>
                <a:spcPts val="1600"/>
              </a:lnSpc>
              <a:buNone/>
            </a:pPr>
            <a:r>
              <a:rPr lang="en-US" sz="1500" b="1" dirty="0">
                <a:solidFill>
                  <a:srgbClr val="21295C"/>
                </a:solidFill>
                <a:latin typeface="Cambria" pitchFamily="34" charset="0"/>
                <a:ea typeface="Cambria" pitchFamily="34" charset="-122"/>
                <a:cs typeface="Cambria" pitchFamily="34" charset="-120"/>
              </a:rPr>
              <a:t>Sistemas sin reinhalación (Mapleson)</a:t>
            </a:r>
            <a:endParaRPr lang="en-US" sz="1500" dirty="0"/>
          </a:p>
        </p:txBody>
      </p:sp>
      <p:sp>
        <p:nvSpPr>
          <p:cNvPr id="13" name="Text 9"/>
          <p:cNvSpPr txBox="1"/>
          <p:nvPr/>
        </p:nvSpPr>
        <p:spPr>
          <a:xfrm>
            <a:off x="6446520" y="2788920"/>
            <a:ext cx="4800600" cy="2011680"/>
          </a:xfrm>
          <a:prstGeom prst="rect">
            <a:avLst/>
          </a:prstGeom>
          <a:noFill/>
          <a:ln/>
        </p:spPr>
        <p:txBody>
          <a:bodyPr wrap="square" lIns="0" tIns="0" rIns="0" bIns="0" rtlCol="0" anchor="t"/>
          <a:lstStyle/>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Ej.: circuito de Bain (Mapleson D)</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Simplicidad estructural y bajo espacio muerto</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Preferidos en pediatría y transporte de pacientes</a:t>
            </a:r>
            <a:endParaRPr lang="en-US" sz="1180" dirty="0"/>
          </a:p>
          <a:p>
            <a:pPr marL="203200" indent="-203200">
              <a:spcAft>
                <a:spcPts val="900"/>
              </a:spcAft>
              <a:buSzPct val="100000"/>
              <a:buChar char="▪"/>
            </a:pPr>
            <a:r>
              <a:rPr lang="en-US" sz="1180" dirty="0">
                <a:solidFill>
                  <a:srgbClr val="2B3648"/>
                </a:solidFill>
                <a:latin typeface="Calibri" pitchFamily="34" charset="0"/>
                <a:ea typeface="Calibri" pitchFamily="34" charset="-122"/>
                <a:cs typeface="Calibri" pitchFamily="34" charset="-120"/>
              </a:rPr>
              <a:t>Requieren flujos de gas fresco comparativamente altos</a:t>
            </a:r>
            <a:endParaRPr lang="en-US" sz="1180" dirty="0"/>
          </a:p>
        </p:txBody>
      </p:sp>
      <p:sp>
        <p:nvSpPr>
          <p:cNvPr id="14" name="Shape 10"/>
          <p:cNvSpPr/>
          <p:nvPr/>
        </p:nvSpPr>
        <p:spPr>
          <a:xfrm>
            <a:off x="548640" y="5074920"/>
            <a:ext cx="11064240" cy="1005840"/>
          </a:xfrm>
          <a:prstGeom prst="roundRect">
            <a:avLst>
              <a:gd name="adj" fmla="val 7273"/>
            </a:avLst>
          </a:prstGeom>
          <a:solidFill>
            <a:srgbClr val="21295C"/>
          </a:solidFill>
          <a:ln/>
          <a:effectLst>
            <a:outerShdw sx="100000" sy="100000" kx="0" ky="0" algn="bl" rotWithShape="0" blurRad="101600" dist="25400" dir="5400000">
              <a:srgbClr val="1B2A3A">
                <a:alpha val="12000"/>
              </a:srgbClr>
            </a:outerShdw>
          </a:effectLst>
        </p:spPr>
      </p:sp>
      <p:sp>
        <p:nvSpPr>
          <p:cNvPr id="15" name="Text 11"/>
          <p:cNvSpPr txBox="1"/>
          <p:nvPr/>
        </p:nvSpPr>
        <p:spPr>
          <a:xfrm>
            <a:off x="822960" y="5193792"/>
            <a:ext cx="2743200" cy="7315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Componentes del circuito circular:</a:t>
            </a:r>
            <a:endParaRPr lang="en-US" sz="1250" dirty="0"/>
          </a:p>
        </p:txBody>
      </p:sp>
      <p:sp>
        <p:nvSpPr>
          <p:cNvPr id="16" name="Text 12"/>
          <p:cNvSpPr txBox="1"/>
          <p:nvPr/>
        </p:nvSpPr>
        <p:spPr>
          <a:xfrm>
            <a:off x="3566160" y="5193792"/>
            <a:ext cx="7772400" cy="731520"/>
          </a:xfrm>
          <a:prstGeom prst="rect">
            <a:avLst/>
          </a:prstGeom>
          <a:noFill/>
          <a:ln/>
        </p:spPr>
        <p:txBody>
          <a:bodyPr wrap="square" lIns="0" tIns="0" rIns="0" bIns="0" rtlCol="0" anchor="ctr"/>
          <a:lstStyle/>
          <a:p>
            <a:pPr indent="0" marL="0">
              <a:lnSpc>
                <a:spcPts val="1500"/>
              </a:lnSpc>
              <a:buNone/>
            </a:pPr>
            <a:r>
              <a:rPr lang="en-US" sz="1200" dirty="0">
                <a:solidFill>
                  <a:srgbClr val="D8E6EE"/>
                </a:solidFill>
                <a:latin typeface="Calibri" pitchFamily="34" charset="0"/>
                <a:ea typeface="Calibri" pitchFamily="34" charset="-122"/>
                <a:cs typeface="Calibri" pitchFamily="34" charset="-120"/>
              </a:rPr>
              <a:t>válvulas unidireccionales · bolsa reservorio / conexión al ventilador · absorbedor de CO2 · puertos de monitorización de gases</a:t>
            </a:r>
            <a:endParaRPr lang="en-US" sz="1200" dirty="0"/>
          </a:p>
        </p:txBody>
      </p:sp>
      <p:sp>
        <p:nvSpPr>
          <p:cNvPr id="18" name="Text 13"/>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9" name="Text 1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28 / 33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EQUIPOS DE ANESTESIA · 5 DE 7</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Monitorización en anestesia</a:t>
            </a:r>
            <a:endParaRPr lang="en-US" sz="2900" dirty="0"/>
          </a:p>
        </p:txBody>
      </p:sp>
      <p:sp>
        <p:nvSpPr>
          <p:cNvPr id="4" name="Text 2"/>
          <p:cNvSpPr txBox="1"/>
          <p:nvPr/>
        </p:nvSpPr>
        <p:spPr>
          <a:xfrm>
            <a:off x="548640" y="1417320"/>
            <a:ext cx="10789920" cy="457200"/>
          </a:xfrm>
          <a:prstGeom prst="rect">
            <a:avLst/>
          </a:prstGeom>
          <a:noFill/>
          <a:ln/>
        </p:spPr>
        <p:txBody>
          <a:bodyPr wrap="square" lIns="0" tIns="0" rIns="0" bIns="0" rtlCol="0" anchor="t"/>
          <a:lstStyle/>
          <a:p>
            <a:pPr indent="0" marL="0">
              <a:lnSpc>
                <a:spcPts val="2200"/>
              </a:lnSpc>
              <a:buNone/>
            </a:pPr>
            <a:r>
              <a:rPr lang="en-US" sz="1350" dirty="0">
                <a:solidFill>
                  <a:srgbClr val="5C7181"/>
                </a:solidFill>
                <a:latin typeface="Calibri" pitchFamily="34" charset="0"/>
                <a:ea typeface="Calibri" pitchFamily="34" charset="-122"/>
                <a:cs typeface="Calibri" pitchFamily="34" charset="-120"/>
              </a:rPr>
              <a:t>Estándares ASA de monitorización básica intraoperatoria: oxigenación, ventilación, circulación y temperatura, con vigilancia complementaria según el caso.</a:t>
            </a:r>
            <a:endParaRPr lang="en-US" sz="1350" dirty="0"/>
          </a:p>
        </p:txBody>
      </p:sp>
      <p:sp>
        <p:nvSpPr>
          <p:cNvPr id="5" name="Shape 3"/>
          <p:cNvSpPr/>
          <p:nvPr/>
        </p:nvSpPr>
        <p:spPr>
          <a:xfrm>
            <a:off x="548640" y="201168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6" name="Shape 4"/>
          <p:cNvSpPr/>
          <p:nvPr/>
        </p:nvSpPr>
        <p:spPr>
          <a:xfrm>
            <a:off x="749808" y="2391156"/>
            <a:ext cx="658368" cy="658368"/>
          </a:xfrm>
          <a:prstGeom prst="ellipse">
            <a:avLst/>
          </a:prstGeom>
          <a:solidFill>
            <a:srgbClr val="1C7293"/>
          </a:solidFill>
          <a:ln/>
        </p:spPr>
      </p:sp>
      <p:pic>
        <p:nvPicPr>
          <p:cNvPr id="7" name="Image 0" descr="/tmp/claude-0/-home-user-gpa-academy1/adc6e4aa-3b77-57c1-ba92-a8d4ee625c84/scratchpad/icons/monitorheart_white.png">    </p:cNvPr>
          <p:cNvPicPr>
            <a:picLocks noChangeAspect="1"/>
          </p:cNvPicPr>
          <p:nvPr/>
        </p:nvPicPr>
        <p:blipFill>
          <a:blip r:embed="rId1"/>
          <a:stretch>
            <a:fillRect/>
          </a:stretch>
        </p:blipFill>
        <p:spPr>
          <a:xfrm>
            <a:off x="914400" y="2555748"/>
            <a:ext cx="329184" cy="329184"/>
          </a:xfrm>
          <a:prstGeom prst="rect">
            <a:avLst/>
          </a:prstGeom>
        </p:spPr>
      </p:pic>
      <p:sp>
        <p:nvSpPr>
          <p:cNvPr id="8" name="Text 5"/>
          <p:cNvSpPr txBox="1"/>
          <p:nvPr/>
        </p:nvSpPr>
        <p:spPr>
          <a:xfrm>
            <a:off x="1554480" y="217627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Pulsioximetría</a:t>
            </a:r>
            <a:endParaRPr lang="en-US" sz="1300" dirty="0"/>
          </a:p>
        </p:txBody>
      </p:sp>
      <p:sp>
        <p:nvSpPr>
          <p:cNvPr id="9" name="Text 6"/>
          <p:cNvSpPr txBox="1"/>
          <p:nvPr/>
        </p:nvSpPr>
        <p:spPr>
          <a:xfrm>
            <a:off x="1554480" y="256032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Saturación de oxígeno continua</a:t>
            </a:r>
            <a:endParaRPr lang="en-US" sz="1050" dirty="0"/>
          </a:p>
        </p:txBody>
      </p:sp>
      <p:sp>
        <p:nvSpPr>
          <p:cNvPr id="10" name="Shape 7"/>
          <p:cNvSpPr/>
          <p:nvPr/>
        </p:nvSpPr>
        <p:spPr>
          <a:xfrm>
            <a:off x="4251960" y="201168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11" name="Shape 8"/>
          <p:cNvSpPr/>
          <p:nvPr/>
        </p:nvSpPr>
        <p:spPr>
          <a:xfrm>
            <a:off x="4453128" y="2391156"/>
            <a:ext cx="658368" cy="658368"/>
          </a:xfrm>
          <a:prstGeom prst="ellipse">
            <a:avLst/>
          </a:prstGeom>
          <a:solidFill>
            <a:srgbClr val="1C7293"/>
          </a:solidFill>
          <a:ln/>
        </p:spPr>
      </p:sp>
      <p:pic>
        <p:nvPicPr>
          <p:cNvPr id="12" name="Image 1" descr="/tmp/claude-0/-home-user-gpa-academy1/adc6e4aa-3b77-57c1-ba92-a8d4ee625c84/scratchpad/icons/lungs_white.png">    </p:cNvPr>
          <p:cNvPicPr>
            <a:picLocks noChangeAspect="1"/>
          </p:cNvPicPr>
          <p:nvPr/>
        </p:nvPicPr>
        <p:blipFill>
          <a:blip r:embed="rId2"/>
          <a:stretch>
            <a:fillRect/>
          </a:stretch>
        </p:blipFill>
        <p:spPr>
          <a:xfrm>
            <a:off x="4617720" y="2555748"/>
            <a:ext cx="329184" cy="329184"/>
          </a:xfrm>
          <a:prstGeom prst="rect">
            <a:avLst/>
          </a:prstGeom>
        </p:spPr>
      </p:pic>
      <p:sp>
        <p:nvSpPr>
          <p:cNvPr id="13" name="Text 9"/>
          <p:cNvSpPr txBox="1"/>
          <p:nvPr/>
        </p:nvSpPr>
        <p:spPr>
          <a:xfrm>
            <a:off x="5257800" y="217627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Capnografía</a:t>
            </a:r>
            <a:endParaRPr lang="en-US" sz="1300" dirty="0"/>
          </a:p>
        </p:txBody>
      </p:sp>
      <p:sp>
        <p:nvSpPr>
          <p:cNvPr id="14" name="Text 10"/>
          <p:cNvSpPr txBox="1"/>
          <p:nvPr/>
        </p:nvSpPr>
        <p:spPr>
          <a:xfrm>
            <a:off x="5257800" y="256032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EtCO2 — obligatoria en anestesia general</a:t>
            </a:r>
            <a:endParaRPr lang="en-US" sz="1050" dirty="0"/>
          </a:p>
        </p:txBody>
      </p:sp>
      <p:sp>
        <p:nvSpPr>
          <p:cNvPr id="15" name="Shape 11"/>
          <p:cNvSpPr/>
          <p:nvPr/>
        </p:nvSpPr>
        <p:spPr>
          <a:xfrm>
            <a:off x="7955280" y="201168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16" name="Shape 12"/>
          <p:cNvSpPr/>
          <p:nvPr/>
        </p:nvSpPr>
        <p:spPr>
          <a:xfrm>
            <a:off x="8156448" y="2391156"/>
            <a:ext cx="658368" cy="658368"/>
          </a:xfrm>
          <a:prstGeom prst="ellipse">
            <a:avLst/>
          </a:prstGeom>
          <a:solidFill>
            <a:srgbClr val="1C7293"/>
          </a:solidFill>
          <a:ln/>
        </p:spPr>
      </p:sp>
      <p:pic>
        <p:nvPicPr>
          <p:cNvPr id="17" name="Image 2" descr="/tmp/claude-0/-home-user-gpa-academy1/adc6e4aa-3b77-57c1-ba92-a8d4ee625c84/scratchpad/icons/heartbeat_white.png">    </p:cNvPr>
          <p:cNvPicPr>
            <a:picLocks noChangeAspect="1"/>
          </p:cNvPicPr>
          <p:nvPr/>
        </p:nvPicPr>
        <p:blipFill>
          <a:blip r:embed="rId3"/>
          <a:stretch>
            <a:fillRect/>
          </a:stretch>
        </p:blipFill>
        <p:spPr>
          <a:xfrm>
            <a:off x="8321040" y="2555748"/>
            <a:ext cx="329184" cy="329184"/>
          </a:xfrm>
          <a:prstGeom prst="rect">
            <a:avLst/>
          </a:prstGeom>
        </p:spPr>
      </p:pic>
      <p:sp>
        <p:nvSpPr>
          <p:cNvPr id="18" name="Text 13"/>
          <p:cNvSpPr txBox="1"/>
          <p:nvPr/>
        </p:nvSpPr>
        <p:spPr>
          <a:xfrm>
            <a:off x="8961120" y="217627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Electrocardiograma</a:t>
            </a:r>
            <a:endParaRPr lang="en-US" sz="1300" dirty="0"/>
          </a:p>
        </p:txBody>
      </p:sp>
      <p:sp>
        <p:nvSpPr>
          <p:cNvPr id="19" name="Text 14"/>
          <p:cNvSpPr txBox="1"/>
          <p:nvPr/>
        </p:nvSpPr>
        <p:spPr>
          <a:xfrm>
            <a:off x="8961120" y="256032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Ritmo e isquemia cardíaca</a:t>
            </a:r>
            <a:endParaRPr lang="en-US" sz="1050" dirty="0"/>
          </a:p>
        </p:txBody>
      </p:sp>
      <p:sp>
        <p:nvSpPr>
          <p:cNvPr id="20" name="Shape 15"/>
          <p:cNvSpPr/>
          <p:nvPr/>
        </p:nvSpPr>
        <p:spPr>
          <a:xfrm>
            <a:off x="548640" y="361188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21" name="Shape 16"/>
          <p:cNvSpPr/>
          <p:nvPr/>
        </p:nvSpPr>
        <p:spPr>
          <a:xfrm>
            <a:off x="749808" y="3991356"/>
            <a:ext cx="658368" cy="658368"/>
          </a:xfrm>
          <a:prstGeom prst="ellipse">
            <a:avLst/>
          </a:prstGeom>
          <a:solidFill>
            <a:srgbClr val="1C7293"/>
          </a:solidFill>
          <a:ln/>
        </p:spPr>
      </p:sp>
      <p:pic>
        <p:nvPicPr>
          <p:cNvPr id="22" name="Image 3" descr="/tmp/claude-0/-home-user-gpa-academy1/adc6e4aa-3b77-57c1-ba92-a8d4ee625c84/scratchpad/icons/waterdrop_white.png">    </p:cNvPr>
          <p:cNvPicPr>
            <a:picLocks noChangeAspect="1"/>
          </p:cNvPicPr>
          <p:nvPr/>
        </p:nvPicPr>
        <p:blipFill>
          <a:blip r:embed="rId4"/>
          <a:stretch>
            <a:fillRect/>
          </a:stretch>
        </p:blipFill>
        <p:spPr>
          <a:xfrm>
            <a:off x="914400" y="4155948"/>
            <a:ext cx="329184" cy="329184"/>
          </a:xfrm>
          <a:prstGeom prst="rect">
            <a:avLst/>
          </a:prstGeom>
        </p:spPr>
      </p:pic>
      <p:sp>
        <p:nvSpPr>
          <p:cNvPr id="23" name="Text 17"/>
          <p:cNvSpPr txBox="1"/>
          <p:nvPr/>
        </p:nvSpPr>
        <p:spPr>
          <a:xfrm>
            <a:off x="1554480" y="377647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Presión arterial</a:t>
            </a:r>
            <a:endParaRPr lang="en-US" sz="1300" dirty="0"/>
          </a:p>
        </p:txBody>
      </p:sp>
      <p:sp>
        <p:nvSpPr>
          <p:cNvPr id="24" name="Text 18"/>
          <p:cNvSpPr txBox="1"/>
          <p:nvPr/>
        </p:nvSpPr>
        <p:spPr>
          <a:xfrm>
            <a:off x="1554480" y="416052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No invasiva periódica o invasiva continua</a:t>
            </a:r>
            <a:endParaRPr lang="en-US" sz="1050" dirty="0"/>
          </a:p>
        </p:txBody>
      </p:sp>
      <p:sp>
        <p:nvSpPr>
          <p:cNvPr id="25" name="Shape 19"/>
          <p:cNvSpPr/>
          <p:nvPr/>
        </p:nvSpPr>
        <p:spPr>
          <a:xfrm>
            <a:off x="4251960" y="361188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26" name="Shape 20"/>
          <p:cNvSpPr/>
          <p:nvPr/>
        </p:nvSpPr>
        <p:spPr>
          <a:xfrm>
            <a:off x="4453128" y="3991356"/>
            <a:ext cx="658368" cy="658368"/>
          </a:xfrm>
          <a:prstGeom prst="ellipse">
            <a:avLst/>
          </a:prstGeom>
          <a:solidFill>
            <a:srgbClr val="1C7293"/>
          </a:solidFill>
          <a:ln/>
        </p:spPr>
      </p:sp>
      <p:pic>
        <p:nvPicPr>
          <p:cNvPr id="27" name="Image 4" descr="/tmp/claude-0/-home-user-gpa-academy1/adc6e4aa-3b77-57c1-ba92-a8d4ee625c84/scratchpad/icons/brain_white.png">    </p:cNvPr>
          <p:cNvPicPr>
            <a:picLocks noChangeAspect="1"/>
          </p:cNvPicPr>
          <p:nvPr/>
        </p:nvPicPr>
        <p:blipFill>
          <a:blip r:embed="rId5"/>
          <a:stretch>
            <a:fillRect/>
          </a:stretch>
        </p:blipFill>
        <p:spPr>
          <a:xfrm>
            <a:off x="4617720" y="4155948"/>
            <a:ext cx="329184" cy="329184"/>
          </a:xfrm>
          <a:prstGeom prst="rect">
            <a:avLst/>
          </a:prstGeom>
        </p:spPr>
      </p:pic>
      <p:sp>
        <p:nvSpPr>
          <p:cNvPr id="28" name="Text 21"/>
          <p:cNvSpPr txBox="1"/>
          <p:nvPr/>
        </p:nvSpPr>
        <p:spPr>
          <a:xfrm>
            <a:off x="5257800" y="377647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Profundidad anestésica</a:t>
            </a:r>
            <a:endParaRPr lang="en-US" sz="1300" dirty="0"/>
          </a:p>
        </p:txBody>
      </p:sp>
      <p:sp>
        <p:nvSpPr>
          <p:cNvPr id="29" name="Text 22"/>
          <p:cNvSpPr txBox="1"/>
          <p:nvPr/>
        </p:nvSpPr>
        <p:spPr>
          <a:xfrm>
            <a:off x="5257800" y="416052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Índices EEG procesados (BIS, entropía)</a:t>
            </a:r>
            <a:endParaRPr lang="en-US" sz="1050" dirty="0"/>
          </a:p>
        </p:txBody>
      </p:sp>
      <p:sp>
        <p:nvSpPr>
          <p:cNvPr id="30" name="Shape 23"/>
          <p:cNvSpPr/>
          <p:nvPr/>
        </p:nvSpPr>
        <p:spPr>
          <a:xfrm>
            <a:off x="7955280" y="3611880"/>
            <a:ext cx="3520440" cy="1417320"/>
          </a:xfrm>
          <a:prstGeom prst="roundRect">
            <a:avLst>
              <a:gd name="adj" fmla="val 5161"/>
            </a:avLst>
          </a:prstGeom>
          <a:solidFill>
            <a:srgbClr val="E3EEF3"/>
          </a:solidFill>
          <a:ln/>
          <a:effectLst>
            <a:outerShdw sx="100000" sy="100000" kx="0" ky="0" algn="bl" rotWithShape="0" blurRad="101600" dist="25400" dir="5400000">
              <a:srgbClr val="1B2A3A">
                <a:alpha val="12000"/>
              </a:srgbClr>
            </a:outerShdw>
          </a:effectLst>
        </p:spPr>
      </p:sp>
      <p:sp>
        <p:nvSpPr>
          <p:cNvPr id="31" name="Shape 24"/>
          <p:cNvSpPr/>
          <p:nvPr/>
        </p:nvSpPr>
        <p:spPr>
          <a:xfrm>
            <a:off x="8156448" y="3991356"/>
            <a:ext cx="658368" cy="658368"/>
          </a:xfrm>
          <a:prstGeom prst="ellipse">
            <a:avLst/>
          </a:prstGeom>
          <a:solidFill>
            <a:srgbClr val="1C7293"/>
          </a:solidFill>
          <a:ln/>
        </p:spPr>
      </p:sp>
      <p:pic>
        <p:nvPicPr>
          <p:cNvPr id="32" name="Image 5" descr="/tmp/claude-0/-home-user-gpa-academy1/adc6e4aa-3b77-57c1-ba92-a8d4ee625c84/scratchpad/icons/bolt_white.png">    </p:cNvPr>
          <p:cNvPicPr>
            <a:picLocks noChangeAspect="1"/>
          </p:cNvPicPr>
          <p:nvPr/>
        </p:nvPicPr>
        <p:blipFill>
          <a:blip r:embed="rId6"/>
          <a:stretch>
            <a:fillRect/>
          </a:stretch>
        </p:blipFill>
        <p:spPr>
          <a:xfrm>
            <a:off x="8321040" y="4155948"/>
            <a:ext cx="329184" cy="329184"/>
          </a:xfrm>
          <a:prstGeom prst="rect">
            <a:avLst/>
          </a:prstGeom>
        </p:spPr>
      </p:pic>
      <p:sp>
        <p:nvSpPr>
          <p:cNvPr id="33" name="Text 25"/>
          <p:cNvSpPr txBox="1"/>
          <p:nvPr/>
        </p:nvSpPr>
        <p:spPr>
          <a:xfrm>
            <a:off x="8961120" y="3776472"/>
            <a:ext cx="233172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Temperatura</a:t>
            </a:r>
            <a:endParaRPr lang="en-US" sz="1300" dirty="0"/>
          </a:p>
        </p:txBody>
      </p:sp>
      <p:sp>
        <p:nvSpPr>
          <p:cNvPr id="34" name="Text 26"/>
          <p:cNvSpPr txBox="1"/>
          <p:nvPr/>
        </p:nvSpPr>
        <p:spPr>
          <a:xfrm>
            <a:off x="8961120" y="4160520"/>
            <a:ext cx="2331720" cy="777240"/>
          </a:xfrm>
          <a:prstGeom prst="rect">
            <a:avLst/>
          </a:prstGeom>
          <a:noFill/>
          <a:ln/>
        </p:spPr>
        <p:txBody>
          <a:bodyPr wrap="square" lIns="0" tIns="0" rIns="0" bIns="0" rtlCol="0" anchor="ctr"/>
          <a:lstStyle/>
          <a:p>
            <a:pPr indent="0" marL="0">
              <a:lnSpc>
                <a:spcPts val="1300"/>
              </a:lnSpc>
              <a:buNone/>
            </a:pPr>
            <a:r>
              <a:rPr lang="en-US" sz="1050" dirty="0">
                <a:solidFill>
                  <a:srgbClr val="5C7181"/>
                </a:solidFill>
                <a:latin typeface="Calibri" pitchFamily="34" charset="0"/>
                <a:ea typeface="Calibri" pitchFamily="34" charset="-122"/>
                <a:cs typeface="Calibri" pitchFamily="34" charset="-120"/>
              </a:rPr>
              <a:t>Vigilancia ante cambios térmicos significativos</a:t>
            </a:r>
            <a:endParaRPr lang="en-US" sz="1050" dirty="0"/>
          </a:p>
        </p:txBody>
      </p:sp>
      <p:sp>
        <p:nvSpPr>
          <p:cNvPr id="36" name="Text 2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37" name="Text 2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29 / 33</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EQUIPOS DE ANESTESIA · 6 DE 7</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Equipos de manejo de la vía aérea</a:t>
            </a:r>
            <a:endParaRPr lang="en-US" sz="2900" dirty="0"/>
          </a:p>
        </p:txBody>
      </p:sp>
      <p:sp>
        <p:nvSpPr>
          <p:cNvPr id="4" name="Shape 2"/>
          <p:cNvSpPr/>
          <p:nvPr/>
        </p:nvSpPr>
        <p:spPr>
          <a:xfrm>
            <a:off x="548640" y="1691640"/>
            <a:ext cx="5349240" cy="1965960"/>
          </a:xfrm>
          <a:prstGeom prst="roundRect">
            <a:avLst>
              <a:gd name="adj" fmla="val 3721"/>
            </a:avLst>
          </a:prstGeom>
          <a:solidFill>
            <a:srgbClr val="EAF3F7"/>
          </a:solidFill>
          <a:ln/>
          <a:effectLst>
            <a:outerShdw sx="100000" sy="100000" kx="0" ky="0" algn="bl" rotWithShape="0" blurRad="101600" dist="25400" dir="5400000">
              <a:srgbClr val="1B2A3A">
                <a:alpha val="12000"/>
              </a:srgbClr>
            </a:outerShdw>
          </a:effectLst>
        </p:spPr>
      </p:sp>
      <p:sp>
        <p:nvSpPr>
          <p:cNvPr id="5" name="Shape 3"/>
          <p:cNvSpPr/>
          <p:nvPr/>
        </p:nvSpPr>
        <p:spPr>
          <a:xfrm>
            <a:off x="804672" y="1984248"/>
            <a:ext cx="777240" cy="777240"/>
          </a:xfrm>
          <a:prstGeom prst="ellipse">
            <a:avLst/>
          </a:prstGeom>
          <a:solidFill>
            <a:srgbClr val="065A82"/>
          </a:solidFill>
          <a:ln/>
        </p:spPr>
      </p:sp>
      <p:pic>
        <p:nvPicPr>
          <p:cNvPr id="6" name="Image 0" descr="/tmp/claude-0/-home-user-gpa-academy1/adc6e4aa-3b77-57c1-ba92-a8d4ee625c84/scratchpad/icons/visibility_white.png">    </p:cNvPr>
          <p:cNvPicPr>
            <a:picLocks noChangeAspect="1"/>
          </p:cNvPicPr>
          <p:nvPr/>
        </p:nvPicPr>
        <p:blipFill>
          <a:blip r:embed="rId1"/>
          <a:stretch>
            <a:fillRect/>
          </a:stretch>
        </p:blipFill>
        <p:spPr>
          <a:xfrm>
            <a:off x="991210" y="2170786"/>
            <a:ext cx="404165" cy="404165"/>
          </a:xfrm>
          <a:prstGeom prst="rect">
            <a:avLst/>
          </a:prstGeom>
        </p:spPr>
      </p:pic>
      <p:sp>
        <p:nvSpPr>
          <p:cNvPr id="7" name="Text 4"/>
          <p:cNvSpPr txBox="1"/>
          <p:nvPr/>
        </p:nvSpPr>
        <p:spPr>
          <a:xfrm>
            <a:off x="1783080" y="1947672"/>
            <a:ext cx="388620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Laringoscopios</a:t>
            </a:r>
            <a:endParaRPr lang="en-US" sz="1500" dirty="0"/>
          </a:p>
        </p:txBody>
      </p:sp>
      <p:sp>
        <p:nvSpPr>
          <p:cNvPr id="8" name="Text 5"/>
          <p:cNvSpPr txBox="1"/>
          <p:nvPr/>
        </p:nvSpPr>
        <p:spPr>
          <a:xfrm>
            <a:off x="1783080" y="2404872"/>
            <a:ext cx="3886200" cy="1143000"/>
          </a:xfrm>
          <a:prstGeom prst="rect">
            <a:avLst/>
          </a:prstGeom>
          <a:noFill/>
          <a:ln/>
        </p:spPr>
        <p:txBody>
          <a:bodyPr wrap="square" lIns="0" tIns="0" rIns="0" bIns="0" rtlCol="0" anchor="ctr"/>
          <a:lstStyle/>
          <a:p>
            <a:pPr indent="0" marL="0">
              <a:lnSpc>
                <a:spcPts val="1450"/>
              </a:lnSpc>
              <a:buNone/>
            </a:pPr>
            <a:r>
              <a:rPr lang="en-US" sz="1150" dirty="0">
                <a:solidFill>
                  <a:srgbClr val="5C7181"/>
                </a:solidFill>
                <a:latin typeface="Calibri" pitchFamily="34" charset="0"/>
                <a:ea typeface="Calibri" pitchFamily="34" charset="-122"/>
                <a:cs typeface="Calibri" pitchFamily="34" charset="-120"/>
              </a:rPr>
              <a:t>Hojas convencionales (Macintosh, Miller) y videolaringoscopios, hoy estándar creciente para la vía aérea difícil</a:t>
            </a:r>
            <a:endParaRPr lang="en-US" sz="1150" dirty="0"/>
          </a:p>
        </p:txBody>
      </p:sp>
      <p:sp>
        <p:nvSpPr>
          <p:cNvPr id="9" name="Shape 6"/>
          <p:cNvSpPr/>
          <p:nvPr/>
        </p:nvSpPr>
        <p:spPr>
          <a:xfrm>
            <a:off x="6172200" y="1691640"/>
            <a:ext cx="5349240" cy="1965960"/>
          </a:xfrm>
          <a:prstGeom prst="roundRect">
            <a:avLst>
              <a:gd name="adj" fmla="val 3721"/>
            </a:avLst>
          </a:prstGeom>
          <a:solidFill>
            <a:srgbClr val="EAF3F7"/>
          </a:solidFill>
          <a:ln/>
          <a:effectLst>
            <a:outerShdw sx="100000" sy="100000" kx="0" ky="0" algn="bl" rotWithShape="0" blurRad="101600" dist="25400" dir="5400000">
              <a:srgbClr val="1B2A3A">
                <a:alpha val="12000"/>
              </a:srgbClr>
            </a:outerShdw>
          </a:effectLst>
        </p:spPr>
      </p:sp>
      <p:sp>
        <p:nvSpPr>
          <p:cNvPr id="10" name="Shape 7"/>
          <p:cNvSpPr/>
          <p:nvPr/>
        </p:nvSpPr>
        <p:spPr>
          <a:xfrm>
            <a:off x="6428232" y="1984248"/>
            <a:ext cx="777240" cy="777240"/>
          </a:xfrm>
          <a:prstGeom prst="ellipse">
            <a:avLst/>
          </a:prstGeom>
          <a:solidFill>
            <a:srgbClr val="065A82"/>
          </a:solidFill>
          <a:ln/>
        </p:spPr>
      </p:sp>
      <p:pic>
        <p:nvPicPr>
          <p:cNvPr id="11" name="Image 1" descr="/tmp/claude-0/-home-user-gpa-academy1/adc6e4aa-3b77-57c1-ba92-a8d4ee625c84/scratchpad/icons/pipes_white.png">    </p:cNvPr>
          <p:cNvPicPr>
            <a:picLocks noChangeAspect="1"/>
          </p:cNvPicPr>
          <p:nvPr/>
        </p:nvPicPr>
        <p:blipFill>
          <a:blip r:embed="rId2"/>
          <a:stretch>
            <a:fillRect/>
          </a:stretch>
        </p:blipFill>
        <p:spPr>
          <a:xfrm>
            <a:off x="6614770" y="2170786"/>
            <a:ext cx="404165" cy="404165"/>
          </a:xfrm>
          <a:prstGeom prst="rect">
            <a:avLst/>
          </a:prstGeom>
        </p:spPr>
      </p:pic>
      <p:sp>
        <p:nvSpPr>
          <p:cNvPr id="12" name="Text 8"/>
          <p:cNvSpPr txBox="1"/>
          <p:nvPr/>
        </p:nvSpPr>
        <p:spPr>
          <a:xfrm>
            <a:off x="7406640" y="1947672"/>
            <a:ext cx="388620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Tubos endotraqueales</a:t>
            </a:r>
            <a:endParaRPr lang="en-US" sz="1500" dirty="0"/>
          </a:p>
        </p:txBody>
      </p:sp>
      <p:sp>
        <p:nvSpPr>
          <p:cNvPr id="13" name="Text 9"/>
          <p:cNvSpPr txBox="1"/>
          <p:nvPr/>
        </p:nvSpPr>
        <p:spPr>
          <a:xfrm>
            <a:off x="7406640" y="2404872"/>
            <a:ext cx="3886200" cy="1143000"/>
          </a:xfrm>
          <a:prstGeom prst="rect">
            <a:avLst/>
          </a:prstGeom>
          <a:noFill/>
          <a:ln/>
        </p:spPr>
        <p:txBody>
          <a:bodyPr wrap="square" lIns="0" tIns="0" rIns="0" bIns="0" rtlCol="0" anchor="ctr"/>
          <a:lstStyle/>
          <a:p>
            <a:pPr indent="0" marL="0">
              <a:lnSpc>
                <a:spcPts val="1450"/>
              </a:lnSpc>
              <a:buNone/>
            </a:pPr>
            <a:r>
              <a:rPr lang="en-US" sz="1150" dirty="0">
                <a:solidFill>
                  <a:srgbClr val="5C7181"/>
                </a:solidFill>
                <a:latin typeface="Calibri" pitchFamily="34" charset="0"/>
                <a:ea typeface="Calibri" pitchFamily="34" charset="-122"/>
                <a:cs typeface="Calibri" pitchFamily="34" charset="-120"/>
              </a:rPr>
              <a:t>Diversos calibres, con o sin balón, reforzados o tipo RAE según el procedimiento</a:t>
            </a:r>
            <a:endParaRPr lang="en-US" sz="1150" dirty="0"/>
          </a:p>
        </p:txBody>
      </p:sp>
      <p:sp>
        <p:nvSpPr>
          <p:cNvPr id="14" name="Shape 10"/>
          <p:cNvSpPr/>
          <p:nvPr/>
        </p:nvSpPr>
        <p:spPr>
          <a:xfrm>
            <a:off x="548640" y="3886200"/>
            <a:ext cx="5349240" cy="1965960"/>
          </a:xfrm>
          <a:prstGeom prst="roundRect">
            <a:avLst>
              <a:gd name="adj" fmla="val 3721"/>
            </a:avLst>
          </a:prstGeom>
          <a:solidFill>
            <a:srgbClr val="EAF3F7"/>
          </a:solidFill>
          <a:ln/>
          <a:effectLst>
            <a:outerShdw sx="100000" sy="100000" kx="0" ky="0" algn="bl" rotWithShape="0" blurRad="101600" dist="25400" dir="5400000">
              <a:srgbClr val="1B2A3A">
                <a:alpha val="12000"/>
              </a:srgbClr>
            </a:outerShdw>
          </a:effectLst>
        </p:spPr>
      </p:sp>
      <p:sp>
        <p:nvSpPr>
          <p:cNvPr id="15" name="Shape 11"/>
          <p:cNvSpPr/>
          <p:nvPr/>
        </p:nvSpPr>
        <p:spPr>
          <a:xfrm>
            <a:off x="804672" y="4178808"/>
            <a:ext cx="777240" cy="777240"/>
          </a:xfrm>
          <a:prstGeom prst="ellipse">
            <a:avLst/>
          </a:prstGeom>
          <a:solidFill>
            <a:srgbClr val="065A82"/>
          </a:solidFill>
          <a:ln/>
        </p:spPr>
      </p:sp>
      <p:pic>
        <p:nvPicPr>
          <p:cNvPr id="16" name="Image 2" descr="/tmp/claude-0/-home-user-gpa-academy1/adc6e4aa-3b77-57c1-ba92-a8d4ee625c84/scratchpad/icons/lungs_white.png">    </p:cNvPr>
          <p:cNvPicPr>
            <a:picLocks noChangeAspect="1"/>
          </p:cNvPicPr>
          <p:nvPr/>
        </p:nvPicPr>
        <p:blipFill>
          <a:blip r:embed="rId3"/>
          <a:stretch>
            <a:fillRect/>
          </a:stretch>
        </p:blipFill>
        <p:spPr>
          <a:xfrm>
            <a:off x="991210" y="4365346"/>
            <a:ext cx="404165" cy="404165"/>
          </a:xfrm>
          <a:prstGeom prst="rect">
            <a:avLst/>
          </a:prstGeom>
        </p:spPr>
      </p:pic>
      <p:sp>
        <p:nvSpPr>
          <p:cNvPr id="17" name="Text 12"/>
          <p:cNvSpPr txBox="1"/>
          <p:nvPr/>
        </p:nvSpPr>
        <p:spPr>
          <a:xfrm>
            <a:off x="1783080" y="4142232"/>
            <a:ext cx="388620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Mascarillas laríngeas</a:t>
            </a:r>
            <a:endParaRPr lang="en-US" sz="1500" dirty="0"/>
          </a:p>
        </p:txBody>
      </p:sp>
      <p:sp>
        <p:nvSpPr>
          <p:cNvPr id="18" name="Text 13"/>
          <p:cNvSpPr txBox="1"/>
          <p:nvPr/>
        </p:nvSpPr>
        <p:spPr>
          <a:xfrm>
            <a:off x="1783080" y="4599432"/>
            <a:ext cx="3886200" cy="1143000"/>
          </a:xfrm>
          <a:prstGeom prst="rect">
            <a:avLst/>
          </a:prstGeom>
          <a:noFill/>
          <a:ln/>
        </p:spPr>
        <p:txBody>
          <a:bodyPr wrap="square" lIns="0" tIns="0" rIns="0" bIns="0" rtlCol="0" anchor="ctr"/>
          <a:lstStyle/>
          <a:p>
            <a:pPr indent="0" marL="0">
              <a:lnSpc>
                <a:spcPts val="1450"/>
              </a:lnSpc>
              <a:buNone/>
            </a:pPr>
            <a:r>
              <a:rPr lang="en-US" sz="1150" dirty="0">
                <a:solidFill>
                  <a:srgbClr val="5C7181"/>
                </a:solidFill>
                <a:latin typeface="Calibri" pitchFamily="34" charset="0"/>
                <a:ea typeface="Calibri" pitchFamily="34" charset="-122"/>
                <a:cs typeface="Calibri" pitchFamily="34" charset="-120"/>
              </a:rPr>
              <a:t>Dispositivos supraglóticos (LMA clásica, ProSeal, i-gel); alternativa menos invasiva a la intubación</a:t>
            </a:r>
            <a:endParaRPr lang="en-US" sz="1150" dirty="0"/>
          </a:p>
        </p:txBody>
      </p:sp>
      <p:sp>
        <p:nvSpPr>
          <p:cNvPr id="19" name="Shape 14"/>
          <p:cNvSpPr/>
          <p:nvPr/>
        </p:nvSpPr>
        <p:spPr>
          <a:xfrm>
            <a:off x="6172200" y="3886200"/>
            <a:ext cx="5349240" cy="1965960"/>
          </a:xfrm>
          <a:prstGeom prst="roundRect">
            <a:avLst>
              <a:gd name="adj" fmla="val 3721"/>
            </a:avLst>
          </a:prstGeom>
          <a:solidFill>
            <a:srgbClr val="EAF3F7"/>
          </a:solidFill>
          <a:ln/>
          <a:effectLst>
            <a:outerShdw sx="100000" sy="100000" kx="0" ky="0" algn="bl" rotWithShape="0" blurRad="101600" dist="25400" dir="5400000">
              <a:srgbClr val="1B2A3A">
                <a:alpha val="12000"/>
              </a:srgbClr>
            </a:outerShdw>
          </a:effectLst>
        </p:spPr>
      </p:sp>
      <p:sp>
        <p:nvSpPr>
          <p:cNvPr id="20" name="Shape 15"/>
          <p:cNvSpPr/>
          <p:nvPr/>
        </p:nvSpPr>
        <p:spPr>
          <a:xfrm>
            <a:off x="6428232" y="4178808"/>
            <a:ext cx="777240" cy="777240"/>
          </a:xfrm>
          <a:prstGeom prst="ellipse">
            <a:avLst/>
          </a:prstGeom>
          <a:solidFill>
            <a:srgbClr val="065A82"/>
          </a:solidFill>
          <a:ln/>
        </p:spPr>
      </p:sp>
      <p:pic>
        <p:nvPicPr>
          <p:cNvPr id="21" name="Image 3" descr="/tmp/claude-0/-home-user-gpa-academy1/adc6e4aa-3b77-57c1-ba92-a8d4ee625c84/scratchpad/icons/shield_white.png">    </p:cNvPr>
          <p:cNvPicPr>
            <a:picLocks noChangeAspect="1"/>
          </p:cNvPicPr>
          <p:nvPr/>
        </p:nvPicPr>
        <p:blipFill>
          <a:blip r:embed="rId4"/>
          <a:stretch>
            <a:fillRect/>
          </a:stretch>
        </p:blipFill>
        <p:spPr>
          <a:xfrm>
            <a:off x="6614770" y="4365346"/>
            <a:ext cx="404165" cy="404165"/>
          </a:xfrm>
          <a:prstGeom prst="rect">
            <a:avLst/>
          </a:prstGeom>
        </p:spPr>
      </p:pic>
      <p:sp>
        <p:nvSpPr>
          <p:cNvPr id="22" name="Text 16"/>
          <p:cNvSpPr txBox="1"/>
          <p:nvPr/>
        </p:nvSpPr>
        <p:spPr>
          <a:xfrm>
            <a:off x="7406640" y="4142232"/>
            <a:ext cx="3886200" cy="45720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Vía aérea difícil</a:t>
            </a:r>
            <a:endParaRPr lang="en-US" sz="1500" dirty="0"/>
          </a:p>
        </p:txBody>
      </p:sp>
      <p:sp>
        <p:nvSpPr>
          <p:cNvPr id="23" name="Text 17"/>
          <p:cNvSpPr txBox="1"/>
          <p:nvPr/>
        </p:nvSpPr>
        <p:spPr>
          <a:xfrm>
            <a:off x="7406640" y="4599432"/>
            <a:ext cx="3886200" cy="1143000"/>
          </a:xfrm>
          <a:prstGeom prst="rect">
            <a:avLst/>
          </a:prstGeom>
          <a:noFill/>
          <a:ln/>
        </p:spPr>
        <p:txBody>
          <a:bodyPr wrap="square" lIns="0" tIns="0" rIns="0" bIns="0" rtlCol="0" anchor="ctr"/>
          <a:lstStyle/>
          <a:p>
            <a:pPr indent="0" marL="0">
              <a:lnSpc>
                <a:spcPts val="1450"/>
              </a:lnSpc>
              <a:buNone/>
            </a:pPr>
            <a:r>
              <a:rPr lang="en-US" sz="1150" dirty="0">
                <a:solidFill>
                  <a:srgbClr val="5C7181"/>
                </a:solidFill>
                <a:latin typeface="Calibri" pitchFamily="34" charset="0"/>
                <a:ea typeface="Calibri" pitchFamily="34" charset="-122"/>
                <a:cs typeface="Calibri" pitchFamily="34" charset="-120"/>
              </a:rPr>
              <a:t>Carro específico: bougies, fibrobroncoscopio, dispositivos de rescate supraglóticos y kit de cricotiroidotomía</a:t>
            </a:r>
            <a:endParaRPr lang="en-US" sz="1150" dirty="0"/>
          </a:p>
        </p:txBody>
      </p:sp>
      <p:sp>
        <p:nvSpPr>
          <p:cNvPr id="25" name="Text 18"/>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26" name="Text 1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30 / 33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EQUIPOS DE ANESTESIA · 7 DE 7</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21295C"/>
                </a:solidFill>
                <a:latin typeface="Cambria" pitchFamily="34" charset="0"/>
                <a:ea typeface="Cambria" pitchFamily="34" charset="-122"/>
                <a:cs typeface="Cambria" pitchFamily="34" charset="-120"/>
              </a:rPr>
              <a:t>Equipos y carro de emergencia / paro cardiorrespiratorio</a:t>
            </a:r>
            <a:endParaRPr lang="en-US" sz="2900" dirty="0"/>
          </a:p>
        </p:txBody>
      </p:sp>
      <p:sp>
        <p:nvSpPr>
          <p:cNvPr id="4" name="Shape 2"/>
          <p:cNvSpPr/>
          <p:nvPr/>
        </p:nvSpPr>
        <p:spPr>
          <a:xfrm>
            <a:off x="548640" y="1645920"/>
            <a:ext cx="914400" cy="914400"/>
          </a:xfrm>
          <a:prstGeom prst="ellipse">
            <a:avLst/>
          </a:prstGeom>
          <a:solidFill>
            <a:srgbClr val="21295C"/>
          </a:solidFill>
          <a:ln/>
        </p:spPr>
      </p:sp>
      <p:pic>
        <p:nvPicPr>
          <p:cNvPr id="5" name="Image 0" descr="/tmp/claude-0/-home-user-gpa-academy1/adc6e4aa-3b77-57c1-ba92-a8d4ee625c84/scratchpad/icons/briefcasemed_white.png">    </p:cNvPr>
          <p:cNvPicPr>
            <a:picLocks noChangeAspect="1"/>
          </p:cNvPicPr>
          <p:nvPr/>
        </p:nvPicPr>
        <p:blipFill>
          <a:blip r:embed="rId1"/>
          <a:stretch>
            <a:fillRect/>
          </a:stretch>
        </p:blipFill>
        <p:spPr>
          <a:xfrm>
            <a:off x="768096" y="1865376"/>
            <a:ext cx="475488" cy="475488"/>
          </a:xfrm>
          <a:prstGeom prst="rect">
            <a:avLst/>
          </a:prstGeom>
        </p:spPr>
      </p:pic>
      <p:sp>
        <p:nvSpPr>
          <p:cNvPr id="6" name="Text 3"/>
          <p:cNvSpPr txBox="1"/>
          <p:nvPr/>
        </p:nvSpPr>
        <p:spPr>
          <a:xfrm>
            <a:off x="548640" y="2743200"/>
            <a:ext cx="5486400" cy="1828800"/>
          </a:xfrm>
          <a:prstGeom prst="rect">
            <a:avLst/>
          </a:prstGeom>
          <a:noFill/>
          <a:ln/>
        </p:spPr>
        <p:txBody>
          <a:bodyPr wrap="square" lIns="0" tIns="0" rIns="0" bIns="0" rtlCol="0" anchor="t"/>
          <a:lstStyle/>
          <a:p>
            <a:pPr indent="0" marL="0">
              <a:lnSpc>
                <a:spcPts val="2000"/>
              </a:lnSpc>
              <a:buNone/>
            </a:pPr>
            <a:r>
              <a:rPr lang="en-US" sz="1400" dirty="0">
                <a:solidFill>
                  <a:srgbClr val="2B3648"/>
                </a:solidFill>
                <a:latin typeface="Calibri" pitchFamily="34" charset="0"/>
                <a:ea typeface="Calibri" pitchFamily="34" charset="-122"/>
                <a:cs typeface="Calibri" pitchFamily="34" charset="-120"/>
              </a:rPr>
              <a:t>Todo quirófano debe contar con acceso inmediato a un carro de paro cardiorrespiratorio completo, revisado y sellado periódicamente, cuyo contenido y disponibilidad deben verificarse mediante una lista de chequeo diaria.</a:t>
            </a:r>
            <a:endParaRPr lang="en-US" sz="1400" dirty="0"/>
          </a:p>
        </p:txBody>
      </p:sp>
      <p:sp>
        <p:nvSpPr>
          <p:cNvPr id="7" name="Shape 4"/>
          <p:cNvSpPr/>
          <p:nvPr/>
        </p:nvSpPr>
        <p:spPr>
          <a:xfrm>
            <a:off x="6355080" y="1645920"/>
            <a:ext cx="5257800" cy="4434840"/>
          </a:xfrm>
          <a:prstGeom prst="roundRect">
            <a:avLst>
              <a:gd name="adj" fmla="val 1649"/>
            </a:avLst>
          </a:prstGeom>
          <a:solidFill>
            <a:srgbClr val="EAF3F7"/>
          </a:solidFill>
          <a:ln/>
          <a:effectLst>
            <a:outerShdw sx="100000" sy="100000" kx="0" ky="0" algn="bl" rotWithShape="0" blurRad="101600" dist="25400" dir="5400000">
              <a:srgbClr val="1B2A3A">
                <a:alpha val="12000"/>
              </a:srgbClr>
            </a:outerShdw>
          </a:effectLst>
        </p:spPr>
      </p:sp>
      <p:sp>
        <p:nvSpPr>
          <p:cNvPr id="8" name="Text 5"/>
          <p:cNvSpPr txBox="1"/>
          <p:nvPr/>
        </p:nvSpPr>
        <p:spPr>
          <a:xfrm>
            <a:off x="6629400" y="1847088"/>
            <a:ext cx="4754880" cy="365760"/>
          </a:xfrm>
          <a:prstGeom prst="rect">
            <a:avLst/>
          </a:prstGeom>
          <a:noFill/>
          <a:ln/>
        </p:spPr>
        <p:txBody>
          <a:bodyPr wrap="square" lIns="0" tIns="0" rIns="0" bIns="0" rtlCol="0" anchor="ctr"/>
          <a:lstStyle/>
          <a:p>
            <a:pPr indent="0" marL="0">
              <a:buNone/>
            </a:pPr>
            <a:r>
              <a:rPr lang="en-US" sz="1550" b="1" dirty="0">
                <a:solidFill>
                  <a:srgbClr val="21295C"/>
                </a:solidFill>
                <a:latin typeface="Cambria" pitchFamily="34" charset="0"/>
                <a:ea typeface="Cambria" pitchFamily="34" charset="-122"/>
                <a:cs typeface="Cambria" pitchFamily="34" charset="-120"/>
              </a:rPr>
              <a:t>Contenido esencial del carro</a:t>
            </a:r>
            <a:endParaRPr lang="en-US" sz="1550" dirty="0"/>
          </a:p>
        </p:txBody>
      </p:sp>
      <p:sp>
        <p:nvSpPr>
          <p:cNvPr id="9" name="Text 6"/>
          <p:cNvSpPr txBox="1"/>
          <p:nvPr/>
        </p:nvSpPr>
        <p:spPr>
          <a:xfrm>
            <a:off x="6629400" y="2286000"/>
            <a:ext cx="4754880" cy="3657600"/>
          </a:xfrm>
          <a:prstGeom prst="rect">
            <a:avLst/>
          </a:prstGeom>
          <a:noFill/>
          <a:ln/>
        </p:spPr>
        <p:txBody>
          <a:bodyPr wrap="square" lIns="0" tIns="0" rIns="0" bIns="0" rtlCol="0" anchor="t"/>
          <a:lstStyle/>
          <a:p>
            <a:pPr marL="203200" indent="-203200">
              <a:spcAft>
                <a:spcPts val="1000"/>
              </a:spcAft>
              <a:buSzPct val="100000"/>
              <a:buChar char="▪"/>
            </a:pPr>
            <a:r>
              <a:rPr lang="en-US" sz="1200" dirty="0">
                <a:solidFill>
                  <a:srgbClr val="2B3648"/>
                </a:solidFill>
                <a:latin typeface="Calibri" pitchFamily="34" charset="0"/>
                <a:ea typeface="Calibri" pitchFamily="34" charset="-122"/>
                <a:cs typeface="Calibri" pitchFamily="34" charset="-120"/>
              </a:rPr>
              <a:t>Desfibrilador / monitor cardíaco.</a:t>
            </a:r>
            <a:endParaRPr lang="en-US" sz="1200" dirty="0"/>
          </a:p>
          <a:p>
            <a:pPr marL="203200" indent="-203200">
              <a:spcAft>
                <a:spcPts val="1000"/>
              </a:spcAft>
              <a:buSzPct val="100000"/>
              <a:buChar char="▪"/>
            </a:pPr>
            <a:r>
              <a:rPr lang="en-US" sz="1200" dirty="0">
                <a:solidFill>
                  <a:srgbClr val="2B3648"/>
                </a:solidFill>
                <a:latin typeface="Calibri" pitchFamily="34" charset="0"/>
                <a:ea typeface="Calibri" pitchFamily="34" charset="-122"/>
                <a:cs typeface="Calibri" pitchFamily="34" charset="-120"/>
              </a:rPr>
              <a:t>Fármacos de reanimación: adrenalina, atropina, amiodarona y afines, según algoritmos ACLS.</a:t>
            </a:r>
            <a:endParaRPr lang="en-US" sz="1200" dirty="0"/>
          </a:p>
          <a:p>
            <a:pPr marL="203200" indent="-203200">
              <a:spcAft>
                <a:spcPts val="1000"/>
              </a:spcAft>
              <a:buSzPct val="100000"/>
              <a:buChar char="▪"/>
            </a:pPr>
            <a:r>
              <a:rPr lang="en-US" sz="1200" dirty="0">
                <a:solidFill>
                  <a:srgbClr val="2B3648"/>
                </a:solidFill>
                <a:latin typeface="Calibri" pitchFamily="34" charset="0"/>
                <a:ea typeface="Calibri" pitchFamily="34" charset="-122"/>
                <a:cs typeface="Calibri" pitchFamily="34" charset="-120"/>
              </a:rPr>
              <a:t>Fármacos y protocolo para anafilaxia perioperatoria.</a:t>
            </a:r>
            <a:endParaRPr lang="en-US" sz="1200" dirty="0"/>
          </a:p>
          <a:p>
            <a:pPr marL="203200" indent="-203200">
              <a:spcAft>
                <a:spcPts val="1000"/>
              </a:spcAft>
              <a:buSzPct val="100000"/>
              <a:buChar char="▪"/>
            </a:pPr>
            <a:r>
              <a:rPr lang="en-US" sz="1200" dirty="0">
                <a:solidFill>
                  <a:srgbClr val="2B3648"/>
                </a:solidFill>
                <a:latin typeface="Calibri" pitchFamily="34" charset="0"/>
                <a:ea typeface="Calibri" pitchFamily="34" charset="-122"/>
                <a:cs typeface="Calibri" pitchFamily="34" charset="-120"/>
              </a:rPr>
              <a:t>Dantroleno y carro específico para hipertermia maligna, cuando el centro maneja agentes desencadenantes.</a:t>
            </a:r>
            <a:endParaRPr lang="en-US" sz="1200" dirty="0"/>
          </a:p>
          <a:p>
            <a:pPr marL="203200" indent="-203200">
              <a:spcAft>
                <a:spcPts val="1000"/>
              </a:spcAft>
              <a:buSzPct val="100000"/>
              <a:buChar char="▪"/>
            </a:pPr>
            <a:r>
              <a:rPr lang="en-US" sz="1200" dirty="0">
                <a:solidFill>
                  <a:srgbClr val="2B3648"/>
                </a:solidFill>
                <a:latin typeface="Calibri" pitchFamily="34" charset="0"/>
                <a:ea typeface="Calibri" pitchFamily="34" charset="-122"/>
                <a:cs typeface="Calibri" pitchFamily="34" charset="-120"/>
              </a:rPr>
              <a:t>Equipo de vía aérea de emergencia y tabla de reanimación (superficie rígida).</a:t>
            </a:r>
            <a:endParaRPr lang="en-US" sz="1200" dirty="0"/>
          </a:p>
        </p:txBody>
      </p:sp>
      <p:sp>
        <p:nvSpPr>
          <p:cNvPr id="11" name="Text 7"/>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5C7181"/>
                </a:solidFill>
                <a:latin typeface="Calibri" pitchFamily="34" charset="0"/>
                <a:ea typeface="Calibri" pitchFamily="34" charset="-122"/>
                <a:cs typeface="Calibri" pitchFamily="34" charset="-120"/>
              </a:rPr>
              <a:t>CAPÍTULO I  ·  ANESTESIA</a:t>
            </a:r>
            <a:endParaRPr lang="en-US" sz="900" dirty="0"/>
          </a:p>
        </p:txBody>
      </p:sp>
      <p:sp>
        <p:nvSpPr>
          <p:cNvPr id="12"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5C7181"/>
                </a:solidFill>
                <a:latin typeface="Calibri" pitchFamily="34" charset="0"/>
                <a:ea typeface="Calibri" pitchFamily="34" charset="-122"/>
                <a:cs typeface="Calibri" pitchFamily="34" charset="-120"/>
              </a:rPr>
              <a:t>31 / 33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7FB3CC"/>
                </a:solidFill>
                <a:latin typeface="Calibri" pitchFamily="34" charset="0"/>
                <a:ea typeface="Calibri" pitchFamily="34" charset="-122"/>
                <a:cs typeface="Calibri" pitchFamily="34" charset="-120"/>
              </a:rPr>
              <a:t>CIERRE DEL CAPÍTULO</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FFFFFF"/>
                </a:solidFill>
                <a:latin typeface="Cambria" pitchFamily="34" charset="0"/>
                <a:ea typeface="Cambria" pitchFamily="34" charset="-122"/>
                <a:cs typeface="Cambria" pitchFamily="34" charset="-120"/>
              </a:rPr>
              <a:t>Resumen: puntos clave</a:t>
            </a:r>
            <a:endParaRPr lang="en-US" sz="2900" dirty="0"/>
          </a:p>
        </p:txBody>
      </p:sp>
      <p:sp>
        <p:nvSpPr>
          <p:cNvPr id="4" name="Shape 2"/>
          <p:cNvSpPr/>
          <p:nvPr/>
        </p:nvSpPr>
        <p:spPr>
          <a:xfrm>
            <a:off x="548640" y="1783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5" name="Shape 3"/>
          <p:cNvSpPr/>
          <p:nvPr/>
        </p:nvSpPr>
        <p:spPr>
          <a:xfrm>
            <a:off x="1563624" y="2002536"/>
            <a:ext cx="566928" cy="566928"/>
          </a:xfrm>
          <a:prstGeom prst="ellipse">
            <a:avLst/>
          </a:prstGeom>
          <a:solidFill>
            <a:srgbClr val="FFFFFF"/>
          </a:solidFill>
          <a:ln/>
        </p:spPr>
      </p:sp>
      <p:pic>
        <p:nvPicPr>
          <p:cNvPr id="6" name="Image 0" descr="/tmp/claude-0/-home-user-gpa-academy1/adc6e4aa-3b77-57c1-ba92-a8d4ee625c84/scratchpad/icons/book_deepblue.png">    </p:cNvPr>
          <p:cNvPicPr>
            <a:picLocks noChangeAspect="1"/>
          </p:cNvPicPr>
          <p:nvPr/>
        </p:nvPicPr>
        <p:blipFill>
          <a:blip r:embed="rId1"/>
          <a:stretch>
            <a:fillRect/>
          </a:stretch>
        </p:blipFill>
        <p:spPr>
          <a:xfrm>
            <a:off x="1705356" y="2144268"/>
            <a:ext cx="283464" cy="283464"/>
          </a:xfrm>
          <a:prstGeom prst="rect">
            <a:avLst/>
          </a:prstGeom>
        </p:spPr>
      </p:pic>
      <p:sp>
        <p:nvSpPr>
          <p:cNvPr id="7" name="Text 4"/>
          <p:cNvSpPr txBox="1"/>
          <p:nvPr/>
        </p:nvSpPr>
        <p:spPr>
          <a:xfrm>
            <a:off x="658368" y="2715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Definición</a:t>
            </a:r>
            <a:endParaRPr lang="en-US" sz="1250" dirty="0"/>
          </a:p>
        </p:txBody>
      </p:sp>
      <p:sp>
        <p:nvSpPr>
          <p:cNvPr id="8" name="Text 5"/>
          <p:cNvSpPr txBox="1"/>
          <p:nvPr/>
        </p:nvSpPr>
        <p:spPr>
          <a:xfrm>
            <a:off x="685800" y="3154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“An-” + “aisthesis”: estado inducido y reversible que combina múltiples componentes clínicos</a:t>
            </a:r>
            <a:endParaRPr lang="en-US" sz="900" dirty="0"/>
          </a:p>
        </p:txBody>
      </p:sp>
      <p:sp>
        <p:nvSpPr>
          <p:cNvPr id="9" name="Shape 6"/>
          <p:cNvSpPr/>
          <p:nvPr/>
        </p:nvSpPr>
        <p:spPr>
          <a:xfrm>
            <a:off x="3364992" y="1783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10" name="Shape 7"/>
          <p:cNvSpPr/>
          <p:nvPr/>
        </p:nvSpPr>
        <p:spPr>
          <a:xfrm>
            <a:off x="4379976" y="2002536"/>
            <a:ext cx="566928" cy="566928"/>
          </a:xfrm>
          <a:prstGeom prst="ellipse">
            <a:avLst/>
          </a:prstGeom>
          <a:solidFill>
            <a:srgbClr val="FFFFFF"/>
          </a:solidFill>
          <a:ln/>
        </p:spPr>
      </p:sp>
      <p:pic>
        <p:nvPicPr>
          <p:cNvPr id="11" name="Image 1" descr="/tmp/claude-0/-home-user-gpa-academy1/adc6e4aa-3b77-57c1-ba92-a8d4ee625c84/scratchpad/icons/compare_deepblue.png">    </p:cNvPr>
          <p:cNvPicPr>
            <a:picLocks noChangeAspect="1"/>
          </p:cNvPicPr>
          <p:nvPr/>
        </p:nvPicPr>
        <p:blipFill>
          <a:blip r:embed="rId2"/>
          <a:stretch>
            <a:fillRect/>
          </a:stretch>
        </p:blipFill>
        <p:spPr>
          <a:xfrm>
            <a:off x="4521708" y="2144268"/>
            <a:ext cx="283464" cy="283464"/>
          </a:xfrm>
          <a:prstGeom prst="rect">
            <a:avLst/>
          </a:prstGeom>
        </p:spPr>
      </p:pic>
      <p:sp>
        <p:nvSpPr>
          <p:cNvPr id="12" name="Text 8"/>
          <p:cNvSpPr txBox="1"/>
          <p:nvPr/>
        </p:nvSpPr>
        <p:spPr>
          <a:xfrm>
            <a:off x="3474720" y="2715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Un continuo</a:t>
            </a:r>
            <a:endParaRPr lang="en-US" sz="1250" dirty="0"/>
          </a:p>
        </p:txBody>
      </p:sp>
      <p:sp>
        <p:nvSpPr>
          <p:cNvPr id="13" name="Text 9"/>
          <p:cNvSpPr txBox="1"/>
          <p:nvPr/>
        </p:nvSpPr>
        <p:spPr>
          <a:xfrm>
            <a:off x="3502152" y="3154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Anestesia, analgesia y sedación no son sinónimos; forman un continuo de profundidad</a:t>
            </a:r>
            <a:endParaRPr lang="en-US" sz="900" dirty="0"/>
          </a:p>
        </p:txBody>
      </p:sp>
      <p:sp>
        <p:nvSpPr>
          <p:cNvPr id="14" name="Shape 10"/>
          <p:cNvSpPr/>
          <p:nvPr/>
        </p:nvSpPr>
        <p:spPr>
          <a:xfrm>
            <a:off x="6181344" y="1783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15" name="Shape 11"/>
          <p:cNvSpPr/>
          <p:nvPr/>
        </p:nvSpPr>
        <p:spPr>
          <a:xfrm>
            <a:off x="7196328" y="2002536"/>
            <a:ext cx="566928" cy="566928"/>
          </a:xfrm>
          <a:prstGeom prst="ellipse">
            <a:avLst/>
          </a:prstGeom>
          <a:solidFill>
            <a:srgbClr val="FFFFFF"/>
          </a:solidFill>
          <a:ln/>
        </p:spPr>
      </p:sp>
      <p:pic>
        <p:nvPicPr>
          <p:cNvPr id="16" name="Image 2" descr="/tmp/claude-0/-home-user-gpa-academy1/adc6e4aa-3b77-57c1-ba92-a8d4ee625c84/scratchpad/icons/balance_deepblue.png">    </p:cNvPr>
          <p:cNvPicPr>
            <a:picLocks noChangeAspect="1"/>
          </p:cNvPicPr>
          <p:nvPr/>
        </p:nvPicPr>
        <p:blipFill>
          <a:blip r:embed="rId3"/>
          <a:stretch>
            <a:fillRect/>
          </a:stretch>
        </p:blipFill>
        <p:spPr>
          <a:xfrm>
            <a:off x="7338060" y="2144268"/>
            <a:ext cx="283464" cy="283464"/>
          </a:xfrm>
          <a:prstGeom prst="rect">
            <a:avLst/>
          </a:prstGeom>
        </p:spPr>
      </p:pic>
      <p:sp>
        <p:nvSpPr>
          <p:cNvPr id="17" name="Text 12"/>
          <p:cNvSpPr txBox="1"/>
          <p:nvPr/>
        </p:nvSpPr>
        <p:spPr>
          <a:xfrm>
            <a:off x="6291072" y="2715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Anestesia balanceada</a:t>
            </a:r>
            <a:endParaRPr lang="en-US" sz="1250" dirty="0"/>
          </a:p>
        </p:txBody>
      </p:sp>
      <p:sp>
        <p:nvSpPr>
          <p:cNvPr id="18" name="Text 13"/>
          <p:cNvSpPr txBox="1"/>
          <p:nvPr/>
        </p:nvSpPr>
        <p:spPr>
          <a:xfrm>
            <a:off x="6318504" y="3154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Combinar fármacos a dosis bajas reduce efectos adversos frente al agente único</a:t>
            </a:r>
            <a:endParaRPr lang="en-US" sz="900" dirty="0"/>
          </a:p>
        </p:txBody>
      </p:sp>
      <p:sp>
        <p:nvSpPr>
          <p:cNvPr id="19" name="Shape 14"/>
          <p:cNvSpPr/>
          <p:nvPr/>
        </p:nvSpPr>
        <p:spPr>
          <a:xfrm>
            <a:off x="8997696" y="1783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20" name="Shape 15"/>
          <p:cNvSpPr/>
          <p:nvPr/>
        </p:nvSpPr>
        <p:spPr>
          <a:xfrm>
            <a:off x="10012680" y="2002536"/>
            <a:ext cx="566928" cy="566928"/>
          </a:xfrm>
          <a:prstGeom prst="ellipse">
            <a:avLst/>
          </a:prstGeom>
          <a:solidFill>
            <a:srgbClr val="FFFFFF"/>
          </a:solidFill>
          <a:ln/>
        </p:spPr>
      </p:sp>
      <p:pic>
        <p:nvPicPr>
          <p:cNvPr id="21" name="Image 3" descr="/tmp/claude-0/-home-user-gpa-academy1/adc6e4aa-3b77-57c1-ba92-a8d4ee625c84/scratchpad/icons/category_deepblue.png">    </p:cNvPr>
          <p:cNvPicPr>
            <a:picLocks noChangeAspect="1"/>
          </p:cNvPicPr>
          <p:nvPr/>
        </p:nvPicPr>
        <p:blipFill>
          <a:blip r:embed="rId4"/>
          <a:stretch>
            <a:fillRect/>
          </a:stretch>
        </p:blipFill>
        <p:spPr>
          <a:xfrm>
            <a:off x="10154412" y="2144268"/>
            <a:ext cx="283464" cy="283464"/>
          </a:xfrm>
          <a:prstGeom prst="rect">
            <a:avLst/>
          </a:prstGeom>
        </p:spPr>
      </p:pic>
      <p:sp>
        <p:nvSpPr>
          <p:cNvPr id="22" name="Text 16"/>
          <p:cNvSpPr txBox="1"/>
          <p:nvPr/>
        </p:nvSpPr>
        <p:spPr>
          <a:xfrm>
            <a:off x="9107424" y="2715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Cuatro clases</a:t>
            </a:r>
            <a:endParaRPr lang="en-US" sz="1250" dirty="0"/>
          </a:p>
        </p:txBody>
      </p:sp>
      <p:sp>
        <p:nvSpPr>
          <p:cNvPr id="23" name="Text 17"/>
          <p:cNvSpPr txBox="1"/>
          <p:nvPr/>
        </p:nvSpPr>
        <p:spPr>
          <a:xfrm>
            <a:off x="9134856" y="3154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General, regional, local y sedación / MAC, seleccionadas según cada caso</a:t>
            </a:r>
            <a:endParaRPr lang="en-US" sz="900" dirty="0"/>
          </a:p>
        </p:txBody>
      </p:sp>
      <p:sp>
        <p:nvSpPr>
          <p:cNvPr id="24" name="Shape 18"/>
          <p:cNvSpPr/>
          <p:nvPr/>
        </p:nvSpPr>
        <p:spPr>
          <a:xfrm>
            <a:off x="548640" y="4069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25" name="Shape 19"/>
          <p:cNvSpPr/>
          <p:nvPr/>
        </p:nvSpPr>
        <p:spPr>
          <a:xfrm>
            <a:off x="1563624" y="4288536"/>
            <a:ext cx="566928" cy="566928"/>
          </a:xfrm>
          <a:prstGeom prst="ellipse">
            <a:avLst/>
          </a:prstGeom>
          <a:solidFill>
            <a:srgbClr val="FFFFFF"/>
          </a:solidFill>
          <a:ln/>
        </p:spPr>
      </p:sp>
      <p:pic>
        <p:nvPicPr>
          <p:cNvPr id="26" name="Image 4" descr="/tmp/claude-0/-home-user-gpa-academy1/adc6e4aa-3b77-57c1-ba92-a8d4ee625c84/scratchpad/icons/timeline_deepblue.png">    </p:cNvPr>
          <p:cNvPicPr>
            <a:picLocks noChangeAspect="1"/>
          </p:cNvPicPr>
          <p:nvPr/>
        </p:nvPicPr>
        <p:blipFill>
          <a:blip r:embed="rId5"/>
          <a:stretch>
            <a:fillRect/>
          </a:stretch>
        </p:blipFill>
        <p:spPr>
          <a:xfrm>
            <a:off x="1705356" y="4430268"/>
            <a:ext cx="283464" cy="283464"/>
          </a:xfrm>
          <a:prstGeom prst="rect">
            <a:avLst/>
          </a:prstGeom>
        </p:spPr>
      </p:pic>
      <p:sp>
        <p:nvSpPr>
          <p:cNvPr id="27" name="Text 20"/>
          <p:cNvSpPr txBox="1"/>
          <p:nvPr/>
        </p:nvSpPr>
        <p:spPr>
          <a:xfrm>
            <a:off x="658368" y="5001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Tres fases</a:t>
            </a:r>
            <a:endParaRPr lang="en-US" sz="1250" dirty="0"/>
          </a:p>
        </p:txBody>
      </p:sp>
      <p:sp>
        <p:nvSpPr>
          <p:cNvPr id="28" name="Text 21"/>
          <p:cNvSpPr txBox="1"/>
          <p:nvPr/>
        </p:nvSpPr>
        <p:spPr>
          <a:xfrm>
            <a:off x="685800" y="5440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Inducción, mantenimiento y emergencia estructuran la anestesia general</a:t>
            </a:r>
            <a:endParaRPr lang="en-US" sz="900" dirty="0"/>
          </a:p>
        </p:txBody>
      </p:sp>
      <p:sp>
        <p:nvSpPr>
          <p:cNvPr id="29" name="Shape 22"/>
          <p:cNvSpPr/>
          <p:nvPr/>
        </p:nvSpPr>
        <p:spPr>
          <a:xfrm>
            <a:off x="3364992" y="4069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30" name="Shape 23"/>
          <p:cNvSpPr/>
          <p:nvPr/>
        </p:nvSpPr>
        <p:spPr>
          <a:xfrm>
            <a:off x="4379976" y="4288536"/>
            <a:ext cx="566928" cy="566928"/>
          </a:xfrm>
          <a:prstGeom prst="ellipse">
            <a:avLst/>
          </a:prstGeom>
          <a:solidFill>
            <a:srgbClr val="FFFFFF"/>
          </a:solidFill>
          <a:ln/>
        </p:spPr>
      </p:sp>
      <p:pic>
        <p:nvPicPr>
          <p:cNvPr id="31" name="Image 5" descr="/tmp/claude-0/-home-user-gpa-academy1/adc6e4aa-3b77-57c1-ba92-a8d4ee625c84/scratchpad/icons/settings_deepblue.png">    </p:cNvPr>
          <p:cNvPicPr>
            <a:picLocks noChangeAspect="1"/>
          </p:cNvPicPr>
          <p:nvPr/>
        </p:nvPicPr>
        <p:blipFill>
          <a:blip r:embed="rId6"/>
          <a:stretch>
            <a:fillRect/>
          </a:stretch>
        </p:blipFill>
        <p:spPr>
          <a:xfrm>
            <a:off x="4521708" y="4430268"/>
            <a:ext cx="283464" cy="283464"/>
          </a:xfrm>
          <a:prstGeom prst="rect">
            <a:avLst/>
          </a:prstGeom>
        </p:spPr>
      </p:pic>
      <p:sp>
        <p:nvSpPr>
          <p:cNvPr id="32" name="Text 24"/>
          <p:cNvSpPr txBox="1"/>
          <p:nvPr/>
        </p:nvSpPr>
        <p:spPr>
          <a:xfrm>
            <a:off x="3474720" y="5001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La máquina de anestesia</a:t>
            </a:r>
            <a:endParaRPr lang="en-US" sz="1250" dirty="0"/>
          </a:p>
        </p:txBody>
      </p:sp>
      <p:sp>
        <p:nvSpPr>
          <p:cNvPr id="33" name="Text 25"/>
          <p:cNvSpPr txBox="1"/>
          <p:nvPr/>
        </p:nvSpPr>
        <p:spPr>
          <a:xfrm>
            <a:off x="3502152" y="5440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Suministra gases, ventila, elimina CO2 y monitoriza de forma continua</a:t>
            </a:r>
            <a:endParaRPr lang="en-US" sz="900" dirty="0"/>
          </a:p>
        </p:txBody>
      </p:sp>
      <p:sp>
        <p:nvSpPr>
          <p:cNvPr id="34" name="Shape 26"/>
          <p:cNvSpPr/>
          <p:nvPr/>
        </p:nvSpPr>
        <p:spPr>
          <a:xfrm>
            <a:off x="6181344" y="4069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35" name="Shape 27"/>
          <p:cNvSpPr/>
          <p:nvPr/>
        </p:nvSpPr>
        <p:spPr>
          <a:xfrm>
            <a:off x="7196328" y="4288536"/>
            <a:ext cx="566928" cy="566928"/>
          </a:xfrm>
          <a:prstGeom prst="ellipse">
            <a:avLst/>
          </a:prstGeom>
          <a:solidFill>
            <a:srgbClr val="FFFFFF"/>
          </a:solidFill>
          <a:ln/>
        </p:spPr>
      </p:sp>
      <p:pic>
        <p:nvPicPr>
          <p:cNvPr id="36" name="Image 6" descr="/tmp/claude-0/-home-user-gpa-academy1/adc6e4aa-3b77-57c1-ba92-a8d4ee625c84/scratchpad/icons/monitorheart_deepblue.png">    </p:cNvPr>
          <p:cNvPicPr>
            <a:picLocks noChangeAspect="1"/>
          </p:cNvPicPr>
          <p:nvPr/>
        </p:nvPicPr>
        <p:blipFill>
          <a:blip r:embed="rId7"/>
          <a:stretch>
            <a:fillRect/>
          </a:stretch>
        </p:blipFill>
        <p:spPr>
          <a:xfrm>
            <a:off x="7338060" y="4430268"/>
            <a:ext cx="283464" cy="283464"/>
          </a:xfrm>
          <a:prstGeom prst="rect">
            <a:avLst/>
          </a:prstGeom>
        </p:spPr>
      </p:pic>
      <p:sp>
        <p:nvSpPr>
          <p:cNvPr id="37" name="Text 28"/>
          <p:cNvSpPr txBox="1"/>
          <p:nvPr/>
        </p:nvSpPr>
        <p:spPr>
          <a:xfrm>
            <a:off x="6291072" y="5001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Monitorización estándar</a:t>
            </a:r>
            <a:endParaRPr lang="en-US" sz="1250" dirty="0"/>
          </a:p>
        </p:txBody>
      </p:sp>
      <p:sp>
        <p:nvSpPr>
          <p:cNvPr id="38" name="Text 29"/>
          <p:cNvSpPr txBox="1"/>
          <p:nvPr/>
        </p:nvSpPr>
        <p:spPr>
          <a:xfrm>
            <a:off x="6318504" y="5440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Oxigenación, ventilación, circulación y temperatura: pilares de seguridad</a:t>
            </a:r>
            <a:endParaRPr lang="en-US" sz="900" dirty="0"/>
          </a:p>
        </p:txBody>
      </p:sp>
      <p:sp>
        <p:nvSpPr>
          <p:cNvPr id="39" name="Shape 30"/>
          <p:cNvSpPr/>
          <p:nvPr/>
        </p:nvSpPr>
        <p:spPr>
          <a:xfrm>
            <a:off x="8997696" y="4069080"/>
            <a:ext cx="2596896" cy="2057400"/>
          </a:xfrm>
          <a:prstGeom prst="roundRect">
            <a:avLst>
              <a:gd name="adj" fmla="val 3556"/>
            </a:avLst>
          </a:prstGeom>
          <a:solidFill>
            <a:srgbClr val="2A3568"/>
          </a:solidFill>
          <a:ln/>
          <a:effectLst>
            <a:outerShdw sx="100000" sy="100000" kx="0" ky="0" algn="bl" rotWithShape="0" blurRad="101600" dist="25400" dir="5400000">
              <a:srgbClr val="1B2A3A">
                <a:alpha val="12000"/>
              </a:srgbClr>
            </a:outerShdw>
          </a:effectLst>
        </p:spPr>
      </p:sp>
      <p:sp>
        <p:nvSpPr>
          <p:cNvPr id="40" name="Shape 31"/>
          <p:cNvSpPr/>
          <p:nvPr/>
        </p:nvSpPr>
        <p:spPr>
          <a:xfrm>
            <a:off x="10012680" y="4288536"/>
            <a:ext cx="566928" cy="566928"/>
          </a:xfrm>
          <a:prstGeom prst="ellipse">
            <a:avLst/>
          </a:prstGeom>
          <a:solidFill>
            <a:srgbClr val="FFFFFF"/>
          </a:solidFill>
          <a:ln/>
        </p:spPr>
      </p:sp>
      <p:pic>
        <p:nvPicPr>
          <p:cNvPr id="41" name="Image 7" descr="/tmp/claude-0/-home-user-gpa-academy1/adc6e4aa-3b77-57c1-ba92-a8d4ee625c84/scratchpad/icons/shield_deepblue.png">    </p:cNvPr>
          <p:cNvPicPr>
            <a:picLocks noChangeAspect="1"/>
          </p:cNvPicPr>
          <p:nvPr/>
        </p:nvPicPr>
        <p:blipFill>
          <a:blip r:embed="rId8"/>
          <a:stretch>
            <a:fillRect/>
          </a:stretch>
        </p:blipFill>
        <p:spPr>
          <a:xfrm>
            <a:off x="10154412" y="4430268"/>
            <a:ext cx="283464" cy="283464"/>
          </a:xfrm>
          <a:prstGeom prst="rect">
            <a:avLst/>
          </a:prstGeom>
        </p:spPr>
      </p:pic>
      <p:sp>
        <p:nvSpPr>
          <p:cNvPr id="42" name="Text 32"/>
          <p:cNvSpPr txBox="1"/>
          <p:nvPr/>
        </p:nvSpPr>
        <p:spPr>
          <a:xfrm>
            <a:off x="9107424" y="5001768"/>
            <a:ext cx="2377440" cy="457200"/>
          </a:xfrm>
          <a:prstGeom prst="rect">
            <a:avLst/>
          </a:prstGeom>
          <a:noFill/>
          <a:ln/>
        </p:spPr>
        <p:txBody>
          <a:bodyPr wrap="square" lIns="0" tIns="0" rIns="0" bIns="0" rtlCol="0" anchor="t"/>
          <a:lstStyle/>
          <a:p>
            <a:pPr algn="ctr" indent="0" marL="0">
              <a:lnSpc>
                <a:spcPts val="1400"/>
              </a:lnSpc>
              <a:buNone/>
            </a:pPr>
            <a:r>
              <a:rPr lang="en-US" sz="1250" b="1" dirty="0">
                <a:solidFill>
                  <a:srgbClr val="FFFFFF"/>
                </a:solidFill>
                <a:latin typeface="Cambria" pitchFamily="34" charset="0"/>
                <a:ea typeface="Cambria" pitchFamily="34" charset="-122"/>
                <a:cs typeface="Cambria" pitchFamily="34" charset="-120"/>
              </a:rPr>
              <a:t>Seguridad del paciente</a:t>
            </a:r>
            <a:endParaRPr lang="en-US" sz="1250" dirty="0"/>
          </a:p>
        </p:txBody>
      </p:sp>
      <p:sp>
        <p:nvSpPr>
          <p:cNvPr id="43" name="Text 33"/>
          <p:cNvSpPr txBox="1"/>
          <p:nvPr/>
        </p:nvSpPr>
        <p:spPr>
          <a:xfrm>
            <a:off x="9134856" y="5440680"/>
            <a:ext cx="2322576" cy="621792"/>
          </a:xfrm>
          <a:prstGeom prst="rect">
            <a:avLst/>
          </a:prstGeom>
          <a:noFill/>
          <a:ln/>
        </p:spPr>
        <p:txBody>
          <a:bodyPr wrap="square" lIns="0" tIns="0" rIns="0" bIns="0" rtlCol="0" anchor="t"/>
          <a:lstStyle/>
          <a:p>
            <a:pPr algn="ctr" indent="0" marL="0">
              <a:lnSpc>
                <a:spcPts val="1100"/>
              </a:lnSpc>
              <a:buNone/>
            </a:pPr>
            <a:r>
              <a:rPr lang="en-US" sz="900" dirty="0">
                <a:solidFill>
                  <a:srgbClr val="9FB2C9"/>
                </a:solidFill>
                <a:latin typeface="Calibri" pitchFamily="34" charset="0"/>
                <a:ea typeface="Calibri" pitchFamily="34" charset="-122"/>
                <a:cs typeface="Calibri" pitchFamily="34" charset="-120"/>
              </a:rPr>
              <a:t>Estándares, checklists y equipos de emergencia redujeron drásticamente la mortalidad</a:t>
            </a:r>
            <a:endParaRPr lang="en-US" sz="900" dirty="0"/>
          </a:p>
        </p:txBody>
      </p:sp>
      <p:sp>
        <p:nvSpPr>
          <p:cNvPr id="44" name="Text 34"/>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9FB2C9"/>
                </a:solidFill>
                <a:latin typeface="Calibri" pitchFamily="34" charset="0"/>
                <a:ea typeface="Calibri" pitchFamily="34" charset="-122"/>
                <a:cs typeface="Calibri" pitchFamily="34" charset="-120"/>
              </a:rPr>
              <a:t>CAPÍTULO I  ·  ANESTESIA</a:t>
            </a:r>
            <a:endParaRPr lang="en-US" sz="900" dirty="0"/>
          </a:p>
        </p:txBody>
      </p:sp>
      <p:sp>
        <p:nvSpPr>
          <p:cNvPr id="45" name="Text 3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FB2C9"/>
                </a:solidFill>
                <a:latin typeface="Calibri" pitchFamily="34" charset="0"/>
                <a:ea typeface="Calibri" pitchFamily="34" charset="-122"/>
                <a:cs typeface="Calibri" pitchFamily="34" charset="-120"/>
              </a:rPr>
              <a:t>32 / 33</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274320"/>
          </a:xfrm>
          <a:prstGeom prst="rect">
            <a:avLst/>
          </a:prstGeom>
          <a:noFill/>
          <a:ln/>
        </p:spPr>
        <p:txBody>
          <a:bodyPr wrap="square" lIns="0" tIns="0" rIns="0" bIns="0" rtlCol="0" anchor="ctr"/>
          <a:lstStyle/>
          <a:p>
            <a:pPr indent="0" marL="0">
              <a:buNone/>
            </a:pPr>
            <a:r>
              <a:rPr lang="en-US" sz="1200" b="1" spc="200" kern="0" dirty="0">
                <a:solidFill>
                  <a:srgbClr val="7FB3CC"/>
                </a:solidFill>
                <a:latin typeface="Calibri" pitchFamily="34" charset="0"/>
                <a:ea typeface="Calibri" pitchFamily="34" charset="-122"/>
                <a:cs typeface="Calibri" pitchFamily="34" charset="-120"/>
              </a:rPr>
              <a:t>CIERRE DEL CAPÍTULO</a:t>
            </a:r>
            <a:endParaRPr lang="en-US" sz="1200" dirty="0"/>
          </a:p>
        </p:txBody>
      </p:sp>
      <p:sp>
        <p:nvSpPr>
          <p:cNvPr id="3" name="Text 1"/>
          <p:cNvSpPr txBox="1"/>
          <p:nvPr/>
        </p:nvSpPr>
        <p:spPr>
          <a:xfrm>
            <a:off x="548640" y="658368"/>
            <a:ext cx="9875520" cy="868680"/>
          </a:xfrm>
          <a:prstGeom prst="rect">
            <a:avLst/>
          </a:prstGeom>
          <a:noFill/>
          <a:ln/>
        </p:spPr>
        <p:txBody>
          <a:bodyPr wrap="square" lIns="0" tIns="0" rIns="0" bIns="0" rtlCol="0" anchor="t"/>
          <a:lstStyle/>
          <a:p>
            <a:pPr algn="l" indent="0" marL="0">
              <a:buNone/>
            </a:pPr>
            <a:r>
              <a:rPr lang="en-US" sz="2900" b="1" dirty="0">
                <a:solidFill>
                  <a:srgbClr val="FFFFFF"/>
                </a:solidFill>
                <a:latin typeface="Cambria" pitchFamily="34" charset="0"/>
                <a:ea typeface="Cambria" pitchFamily="34" charset="-122"/>
                <a:cs typeface="Cambria" pitchFamily="34" charset="-120"/>
              </a:rPr>
              <a:t>Referencias bibliográficas</a:t>
            </a:r>
            <a:endParaRPr lang="en-US" sz="2900" dirty="0"/>
          </a:p>
        </p:txBody>
      </p:sp>
      <p:sp>
        <p:nvSpPr>
          <p:cNvPr id="4" name="Text 2"/>
          <p:cNvSpPr txBox="1"/>
          <p:nvPr/>
        </p:nvSpPr>
        <p:spPr>
          <a:xfrm>
            <a:off x="548640" y="1737360"/>
            <a:ext cx="5349240" cy="4480560"/>
          </a:xfrm>
          <a:prstGeom prst="rect">
            <a:avLst/>
          </a:prstGeom>
          <a:noFill/>
          <a:ln/>
        </p:spPr>
        <p:txBody>
          <a:bodyPr wrap="square" lIns="0" tIns="0" rIns="0" bIns="0" rtlCol="0" anchor="t"/>
          <a:lstStyle/>
          <a:p>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1.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Gropper MA, Eriksson LI, Fleisher LA, Wiener-Kronish JP, Cohen NH, Leslie K, eds. Miller's Anesthesia. Última edición. Filadelfia: Elsevier.
</a:t>
            </a:r>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2.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Butterworth JF, Mackey DC, Wasnick JD. Morgan &amp; Mikhail's Clinical Anesthesiology. Última edición. Nueva York: McGraw Hill.
</a:t>
            </a:r>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3.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Barash PG, Cullen BF, Stoelting RK, et al., eds. Clinical Anesthesia. Última edición. Filadelfia: Wolters Kluwer.
</a:t>
            </a:r>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4.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Pardo MC, Miller RD. Basics of Anesthesia. Última edición. Filadelfia: Elsevier.
</a:t>
            </a:r>
            <a:endParaRPr lang="en-US" sz="1250" dirty="0"/>
          </a:p>
        </p:txBody>
      </p:sp>
      <p:sp>
        <p:nvSpPr>
          <p:cNvPr id="5" name="Text 3"/>
          <p:cNvSpPr txBox="1"/>
          <p:nvPr/>
        </p:nvSpPr>
        <p:spPr>
          <a:xfrm>
            <a:off x="6263640" y="1737360"/>
            <a:ext cx="5349240" cy="4480560"/>
          </a:xfrm>
          <a:prstGeom prst="rect">
            <a:avLst/>
          </a:prstGeom>
          <a:noFill/>
          <a:ln/>
        </p:spPr>
        <p:txBody>
          <a:bodyPr wrap="square" lIns="0" tIns="0" rIns="0" bIns="0" rtlCol="0" anchor="t"/>
          <a:lstStyle/>
          <a:p>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5.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American Society of Anesthesiologists (ASA). Standards for Basic Anesthetic Monitoring. Comité de Normas y Práctica de Seguridad de Pacientes.
</a:t>
            </a:r>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6.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American Society of Anesthesiologists (ASA). Continuum of Depth of Sedation: Definition of General Anesthesia and Levels of Sedation/Analgesia.
</a:t>
            </a:r>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7.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Organización Mundial de la Salud (OMS). Lista de verificación de la seguridad de la cirugía (“Surgical Safety Checklist”).
</a:t>
            </a:r>
            <a:pPr indent="0" marL="0">
              <a:lnSpc>
                <a:spcPts val="1700"/>
              </a:lnSpc>
              <a:buNone/>
            </a:pPr>
            <a:r>
              <a:rPr lang="en-US" sz="1250" b="1" dirty="0">
                <a:solidFill>
                  <a:srgbClr val="7FB3CC"/>
                </a:solidFill>
                <a:latin typeface="Calibri" pitchFamily="34" charset="0"/>
                <a:ea typeface="Calibri" pitchFamily="34" charset="-122"/>
                <a:cs typeface="Calibri" pitchFamily="34" charset="-120"/>
              </a:rPr>
              <a:t>8.  </a:t>
            </a:r>
            <a:pPr indent="0" marL="0">
              <a:lnSpc>
                <a:spcPts val="1700"/>
              </a:lnSpc>
              <a:buNone/>
            </a:pPr>
            <a:r>
              <a:rPr lang="en-US" sz="1250" dirty="0">
                <a:solidFill>
                  <a:srgbClr val="DCE7F0"/>
                </a:solidFill>
                <a:latin typeface="Calibri" pitchFamily="34" charset="0"/>
                <a:ea typeface="Calibri" pitchFamily="34" charset="-122"/>
                <a:cs typeface="Calibri" pitchFamily="34" charset="-120"/>
              </a:rPr>
              <a:t>Sociedades y guías de práctica clínica vigentes en anestesiología regional, vía aérea difícil y reanimación cardiopulmonar (ACLS).
</a:t>
            </a:r>
            <a:endParaRPr lang="en-US" sz="1250" dirty="0"/>
          </a:p>
        </p:txBody>
      </p:sp>
      <p:sp>
        <p:nvSpPr>
          <p:cNvPr id="6" name="Text 4"/>
          <p:cNvSpPr txBox="1"/>
          <p:nvPr/>
        </p:nvSpPr>
        <p:spPr>
          <a:xfrm>
            <a:off x="548640" y="6473952"/>
            <a:ext cx="5486400" cy="274320"/>
          </a:xfrm>
          <a:prstGeom prst="rect">
            <a:avLst/>
          </a:prstGeom>
          <a:noFill/>
          <a:ln/>
        </p:spPr>
        <p:txBody>
          <a:bodyPr wrap="square" lIns="0" tIns="0" rIns="0" bIns="0" rtlCol="0" anchor="ctr"/>
          <a:lstStyle/>
          <a:p>
            <a:pPr algn="l" indent="0" marL="0">
              <a:buNone/>
            </a:pPr>
            <a:r>
              <a:rPr lang="en-US" sz="900" spc="100" kern="0" dirty="0">
                <a:solidFill>
                  <a:srgbClr val="9FB2C9"/>
                </a:solidFill>
                <a:latin typeface="Calibri" pitchFamily="34" charset="0"/>
                <a:ea typeface="Calibri" pitchFamily="34" charset="-122"/>
                <a:cs typeface="Calibri" pitchFamily="34" charset="-120"/>
              </a:rPr>
              <a:t>CAPÍTULO I  ·  ANESTESIA</a:t>
            </a:r>
            <a:endParaRPr lang="en-US" sz="900" dirty="0"/>
          </a:p>
        </p:txBody>
      </p:sp>
      <p:sp>
        <p:nvSpPr>
          <p:cNvPr id="7"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FB2C9"/>
                </a:solidFill>
                <a:latin typeface="Calibri" pitchFamily="34" charset="0"/>
                <a:ea typeface="Calibri" pitchFamily="34" charset="-122"/>
                <a:cs typeface="Calibri" pitchFamily="34" charset="-120"/>
              </a:rPr>
              <a:t>33 / 33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2026-08-26T23:12:13Z</dcterms:created>
  <dcterms:modified xsi:type="dcterms:W3CDTF">2026-08-26T23:12:13Z</dcterms:modified>
</cp:coreProperties>
</file>