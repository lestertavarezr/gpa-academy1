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capítulo recorre la evolución de la anestesia desde las prácticas empíricas de la antigüedad hasta su consolidación como especialidad médica científica. Se enfatizan los hitos farmacológicos, técnicos y organizativos que hicieron posible la cirugía moderna segura. El enfoque es global; no se aborda en este capítulo la historia local de ningún país en particular.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Insista en que la historia de la anestesia no es anecdótica: cada hito clínico (dosificación, vía aérea, monitorización) surgió de errores y complicaciones reales que costaron vidas. Use esta introducción para motivar una lectura crítica de las secciones siguientes, conectando cada avance con un problema clínico concreto que resolvió.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Todos estos métodos compartían dos limitaciones: dosificación imprecisa y ausencia de reversibilidad controlada. Ninguno lograba la trilogía moderna de hipnosis, analgesia y relajación muscular de forma simultánea y titulable. Esto explica por qué la cirugía mayor siguió siendo una experiencia extremadamente traumática hasta bien entrado el siglo XIX.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Enfatice el concepto de 'cirugía como espectáculo de velocidad': teatros quirúrgicos con público, cirujanos cronometrados. Relacione esto con la altísima mortalidad operatoria de la época (shock, hemorragia, infección) y con la ausencia de anestesia como una barrera estructural, no solo una incomodidad, para el desarrollo de la cirugía mayor.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funciona como mapa mental antes de entrar al detalle biográfico. Señale que la prioridad histórica (quién fue 'el primero') fue objeto de disputas encarnizadas —especialmente entre Wells, Morton, Long y Jackson— y que ese conflicto de prioridad es en sí mismo una lección sobre la importancia de la publicación científica oportuna.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fracaso de la demostración de Wells probablemente se debió a una dosis insuficiente de óxido nitroso, no a una falla conceptual. Es un caso de estudio útil sobre la importancia de la dosificación adecuada y de una demostración pública convincente para la adopción de una innovación clínica. Contrástelo con el éxito de Morton dos años después.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Long es el ejemplo clásico de una prioridad científica perdida por falta de publicación oportuna. Use este caso para reforzar la importancia de la documentación y difusión temprana de los hallazgos clínicos, un tema que se retomará en la lección final del capítulo.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diferencia de Wells, Morton documentó el procedimiento, lo hizo ante testigos médicos prominentes y buscó (controvertidamente) patentar el uso del éter bajo el nombre 'Letheon'. La disputa de prioridad entre Wells, Morton, Long y el químico Charles Jackson se prolongó por décadas y ilustra los riesgos de mezclar el reconocimiento científico con intereses comerciales.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Subraye la velocidad de difusión: en menos de dos meses el éter pasó de Boston a los principales quirófanos europeos, algo excepcional para las comunicaciones de mediados del siglo XIX. Este episodio ilustra cómo una innovación clínica bien documentada y demostrada puede difundirse globalmente incluso sin los medios de comunicación modernos.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cloroformo desplazó parcialmente al éter en el Reino Unido y Europa continental durante décadas, pese a un perfil de seguridad objetivamente peor (mayor cardiotoxicidad y hepatotoxicidad). Es un buen ejemplo de cómo la percepción de comodidad clínica (inducción rápida, no inflamable) puede primar sobre la seguridad objetiva hasta que la evidencia de eventos adversos se acumula.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Enfatice el paralelismo metodológico: Snow no fue un simple 'aplicador' de anestésicos, sino un científico que cuantificó dosis-respuesta antes de que existiera ese vocabulario. Su trabajo en la epidemia de cólera de 1854 es considerado el nacimiento de la epidemiología moderna y suele enseñarse independientemente en cursos de salud pública.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episodio no fue un avance farmacológico, sino un punto de inflexión social: demostró que la analgesia obstétrica era compatible con la respetabilidad victoriana. Es útil para discutir cómo factores culturales y de autoridad social —no solo la evidencia clínica— han influido históricamente en la adopción de prácticas anestésicas.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Koller trabajaba en el mismo entorno académico que Freud, quien también investigaba la cocaína pero con fines psiquiátricos; Koller fue quien reconoció y validó clínicamente su propiedad anestésica local. Este descubrimiento es el punto de partida de toda la farmacología de anestésicos locales que se desarrolla en las siguientes diapositivas.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caso de Halsted es una lección aleccionadora sobre riesgo ocupacional y autoexperimentación no regulada, un tema recurrente en esta historia (compárese con Bier). Su capacidad de continuar produciendo aportes quirúrgicos trascendentales mientras luchaba contra la adicción también ilustra la complejidad humana detrás de los avances médicos.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anestesia raquídea de Bier sienta las bases de toda la anestesia neuroaxial moderna, incluida la anestesia epidural desarrollada posteriormente. Destaque que la cefalea postpunción dural —descrita desde el primer caso— sigue siendo una complicación reconocida hoy, y que su fisiopatología (fuga de LCR) motivó décadas después el desarrollo de agujas de punta de lápiz (Whitacre, Sprotte) para reducirla.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Explique la distinción química fundamental entre anestésicos locales tipo éster (cocaína, procaína) y tipo amida (lidocaína y sucesores): los ésteres se metabolizan por pseudocolinesterasa plasmática y tienen mayor potencial alergénico; las amidas se metabolizan en el hígado y son hoy la base de la práctica clínica. Esta diapositiva conecta el descubrimiento de Koller con el arsenal farmacológico moderno.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Guedel desarrolló su clasificación observando cientos de inducciones con éter durante la Primera Guerra Mundial y después, correlacionando signos oculares (posición y tamaño pupilar, movimientos oculares) y patrón respiratorio con la profundidad anestésica. Aclare que la etapa IV es una zona de sobredosis a evitar, no un objetivo clínico — un error conceptual frecuente entre residentes nuevos.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Waters representa el paso definitivo de la anestesia de 'oficio aprendido junto a la cama del paciente' a disciplina académica con investigación propia, publicaciones y programas de formación estructurados. Su modelo de departamento académico se replicó en universidades de todo el mundo y es la base organizativa de los programas de residencia en anestesiología actuales.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contexto bélico es clave para entender esta innovación: la cirugía reconstructiva facial de guerra exigía una vía aérea que no interfiriera con el campo operatorio, un problema que el equipo de Gillies-Rowbotham-Magill resolvió con ingenio práctico más que con teoría. Las pinzas y el tubo de Magill siguen llevando su nombre en el instrumental de cualquier quirófano actual.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introducción del curare es tan significativa como el descubrimiento del éter mismo, porque separa conceptualmente los tres componentes de la anestesia general moderna. Antes de Griffith, 'más relajación' solo se lograba profundizando la anestesia, con el consiguiente riesgo cardiovascular; después de él, la relajación se convierte en una variable controlable de forma independiente.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halotano representa el primer gran triunfo de la química industrial aplicada deliberadamente a la anestesiología (a diferencia de los descubrimientos empíricos previos). La hepatitis por halotano, aunque infrecuente, tuvo suficiente impacto clínico como para impulsar toda una generación de halogenados más seguros; hoy el halotano es de uso marginal en anestesia de adultos en la mayoría de los sistemas de salud.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episodio de Pearl Harbor (1941) es un caso de enseñanza clásico sobre farmacología clínica en contexto de shock hemorrágico: el tiopental, administrado a pacientes hipovolémicos, se asoció a colapso cardiovascular severo, lo que generó controversia sobre su seguridad y reforzó la importancia de ajustar la inducción anestésica al estado hemodinámico del paciente — principio que sigue vigente hoy.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Score de Apgar sigue siendo, siete décadas después, una de las herramientas clínicas más utilizadas en toda la medicina. Destaque que Apgar fue pionera doble: como una de las primeras mujeres especialistas certificadas en anestesiología en EE. UU., y como investigadora que vinculó sistemáticamente las prácticas anestésicas obstétricas (tipo de anestesia materna, fármacos utilizados) con los resultados neonatales.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creación de juntas certificadoras y sociedades científicas fue tan importante como los descubrimientos farmacológicos: transformó la anestesia de una habilidad individual transmitida informalmente a una disciplina con estándares de formación, códigos éticos y mecanismos de actualización continua del conocimiento mediante congresos y revistas especializadas.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esta diapositiva para conectar los hitos clínicos previos (Waters, Guedel, Griffith) con su consecuencia institucional: la anestesiología deja de ser un conjunto de técnicas aplicadas por practicantes individuales y se convierte en una especialidad médica con cuerpo de conocimiento, literatura científica y estándares de certificación propios, equiparable a cualquier otra especialidad médica.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Enlace esta diapositiva con el concepto de 'cultura de seguridad del paciente', hoy central en anestesiología. La combinación de pulsioximetría, capnografía y los estándares mínimos de monitorización (ASA/Harvard, 1986) es frecuentemente citada como el paquete de intervenciones que más ha contribuido a la reducción de la mortalidad directamente atribuible a la anestesia en las últimas décadas.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Utilice esta línea de tiempo como repaso integrador antes de pasar a las lecciones finales del capítulo. Pida a los residentes que, sin mirar la diapositiva, intenten reconstruir el orden cronológico de memoria — es un buen ejercicio de consolidación antes de una evaluación.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funciona como puente entre el contenido histórico y la práctica clínica actual: invite a los residentes a identificar, en su propia práctica diaria, en qué medida se apoyan (a menudo sin saberlo) en soluciones desarrolladas a partir de errores y complicaciones documentados a lo largo de esta historia.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este resumen como guion para una sesión de repaso oral: pida a cada residente que desarrolle uno de los seis puntos con sus propias palabras, incluyendo al menos un nombre propio, una fecha y una consecuencia clínica concreta, antes de avanzar al capítulo siguiente.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referencias corresponden a textos de referencia estándar en la enseñanza de la historia de la anestesiología a nivel de postgrado; se recomienda a los residentes consultar las ediciones vigentes de los tratados mayores (Miller, Barash, Morgan &amp; Mikhail) para profundizar en cualquiera de los hitos discutidos en este capítulo.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slideLayout" Target="../slideLayouts/slideLayout1.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slideLayout" Target="../slideLayouts/slideLayout1.xml"/><Relationship Id="rId7"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118"/>
        </a:solidFill>
      </p:bgPr>
    </p:bg>
    <p:spTree>
      <p:nvGrpSpPr>
        <p:cNvPr id="1" name=""/>
        <p:cNvGrpSpPr/>
        <p:nvPr/>
      </p:nvGrpSpPr>
      <p:grpSpPr>
        <a:xfrm>
          <a:off x="0" y="0"/>
          <a:ext cx="0" cy="0"/>
          <a:chOff x="0" y="0"/>
          <a:chExt cx="0" cy="0"/>
        </a:xfrm>
      </p:grpSpPr>
      <p:sp>
        <p:nvSpPr>
          <p:cNvPr id="2" name="Shape 0"/>
          <p:cNvSpPr/>
          <p:nvPr/>
        </p:nvSpPr>
        <p:spPr>
          <a:xfrm>
            <a:off x="8595360" y="3566160"/>
            <a:ext cx="4754880" cy="4754880"/>
          </a:xfrm>
          <a:prstGeom prst="ellipse">
            <a:avLst/>
          </a:prstGeom>
          <a:ln w="12700">
            <a:solidFill>
              <a:srgbClr val="8B5E3C">
                <a:alpha val="45000"/>
              </a:srgbClr>
            </a:solidFill>
            <a:prstDash val="solid"/>
          </a:ln>
        </p:spPr>
      </p:sp>
      <p:sp>
        <p:nvSpPr>
          <p:cNvPr id="3" name="Shape 1"/>
          <p:cNvSpPr/>
          <p:nvPr/>
        </p:nvSpPr>
        <p:spPr>
          <a:xfrm>
            <a:off x="9326880" y="4297680"/>
            <a:ext cx="3291840" cy="3291840"/>
          </a:xfrm>
          <a:prstGeom prst="ellipse">
            <a:avLst/>
          </a:prstGeom>
          <a:ln w="12700">
            <a:solidFill>
              <a:srgbClr val="C9A66B">
                <a:alpha val="55000"/>
              </a:srgbClr>
            </a:solidFill>
            <a:prstDash val="solid"/>
          </a:ln>
        </p:spPr>
      </p:sp>
      <p:sp>
        <p:nvSpPr>
          <p:cNvPr id="4" name="Shape 2"/>
          <p:cNvSpPr/>
          <p:nvPr/>
        </p:nvSpPr>
        <p:spPr>
          <a:xfrm>
            <a:off x="822960" y="777240"/>
            <a:ext cx="1051560" cy="1051560"/>
          </a:xfrm>
          <a:prstGeom prst="ellipse">
            <a:avLst/>
          </a:prstGeom>
          <a:solidFill>
            <a:srgbClr val="C9A66B"/>
          </a:solidFill>
          <a:ln/>
          <a:effectLst>
            <a:outerShdw sx="100000" sy="100000" kx="0" ky="0" algn="bl" rotWithShape="0" blurRad="101600" dist="38100" dir="5400000">
              <a:srgbClr val="2B2118">
                <a:alpha val="28000"/>
              </a:srgbClr>
            </a:outerShdw>
          </a:effectLst>
        </p:spPr>
      </p:sp>
      <p:pic>
        <p:nvPicPr>
          <p:cNvPr id="5" name="Image 0" descr="preencoded.png">    </p:cNvPr>
          <p:cNvPicPr>
            <a:picLocks noChangeAspect="1"/>
          </p:cNvPicPr>
          <p:nvPr/>
        </p:nvPicPr>
        <p:blipFill>
          <a:blip r:embed="rId1"/>
          <a:stretch>
            <a:fillRect/>
          </a:stretch>
        </p:blipFill>
        <p:spPr>
          <a:xfrm>
            <a:off x="1085850" y="1040130"/>
            <a:ext cx="525780" cy="525780"/>
          </a:xfrm>
          <a:prstGeom prst="rect">
            <a:avLst/>
          </a:prstGeom>
        </p:spPr>
      </p:pic>
      <p:sp>
        <p:nvSpPr>
          <p:cNvPr id="6" name="Text 3"/>
          <p:cNvSpPr/>
          <p:nvPr/>
        </p:nvSpPr>
        <p:spPr>
          <a:xfrm>
            <a:off x="822960" y="2148840"/>
            <a:ext cx="9601200" cy="320040"/>
          </a:xfrm>
          <a:prstGeom prst="rect">
            <a:avLst/>
          </a:prstGeom>
          <a:noFill/>
          <a:ln/>
        </p:spPr>
        <p:txBody>
          <a:bodyPr wrap="square" lIns="0" tIns="0" rIns="0" bIns="0" rtlCol="0" anchor="ctr"/>
          <a:lstStyle/>
          <a:p>
            <a:pPr indent="0" marL="0">
              <a:buNone/>
            </a:pPr>
            <a:r>
              <a:rPr lang="en-US" sz="1300" b="1" spc="250" kern="0" dirty="0">
                <a:solidFill>
                  <a:srgbClr val="C9A66B"/>
                </a:solidFill>
                <a:latin typeface="Calibri" pitchFamily="34" charset="0"/>
                <a:ea typeface="Calibri" pitchFamily="34" charset="-122"/>
                <a:cs typeface="Calibri" pitchFamily="34" charset="-120"/>
              </a:rPr>
              <a:t>CURSO DE POSTGRADO EN ANESTESIOLOGÍA</a:t>
            </a:r>
            <a:endParaRPr lang="en-US" sz="1300" dirty="0"/>
          </a:p>
        </p:txBody>
      </p:sp>
      <p:sp>
        <p:nvSpPr>
          <p:cNvPr id="7" name="Text 4"/>
          <p:cNvSpPr/>
          <p:nvPr/>
        </p:nvSpPr>
        <p:spPr>
          <a:xfrm>
            <a:off x="822960" y="2468880"/>
            <a:ext cx="9601200" cy="640080"/>
          </a:xfrm>
          <a:prstGeom prst="rect">
            <a:avLst/>
          </a:prstGeom>
          <a:noFill/>
          <a:ln/>
        </p:spPr>
        <p:txBody>
          <a:bodyPr wrap="square" lIns="0" tIns="0" rIns="0" bIns="0" rtlCol="0" anchor="ctr"/>
          <a:lstStyle/>
          <a:p>
            <a:pPr indent="0" marL="0">
              <a:buNone/>
            </a:pPr>
            <a:r>
              <a:rPr lang="en-US" sz="2600" dirty="0">
                <a:solidFill>
                  <a:srgbClr val="C9B8A0"/>
                </a:solidFill>
                <a:latin typeface="Cambria" pitchFamily="34" charset="0"/>
                <a:ea typeface="Cambria" pitchFamily="34" charset="-122"/>
                <a:cs typeface="Cambria" pitchFamily="34" charset="-120"/>
              </a:rPr>
              <a:t>Capítulo II</a:t>
            </a:r>
            <a:endParaRPr lang="en-US" sz="2600" dirty="0"/>
          </a:p>
        </p:txBody>
      </p:sp>
      <p:sp>
        <p:nvSpPr>
          <p:cNvPr id="8" name="Text 5"/>
          <p:cNvSpPr/>
          <p:nvPr/>
        </p:nvSpPr>
        <p:spPr>
          <a:xfrm>
            <a:off x="822960" y="3063240"/>
            <a:ext cx="9875520" cy="137160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Historia de la Anestesia</a:t>
            </a:r>
            <a:endParaRPr lang="en-US" sz="4800" dirty="0"/>
          </a:p>
        </p:txBody>
      </p:sp>
      <p:sp>
        <p:nvSpPr>
          <p:cNvPr id="9" name="Text 6"/>
          <p:cNvSpPr/>
          <p:nvPr/>
        </p:nvSpPr>
        <p:spPr>
          <a:xfrm>
            <a:off x="822960" y="4434840"/>
            <a:ext cx="7863840" cy="914400"/>
          </a:xfrm>
          <a:prstGeom prst="rect">
            <a:avLst/>
          </a:prstGeom>
          <a:noFill/>
          <a:ln/>
        </p:spPr>
        <p:txBody>
          <a:bodyPr wrap="square" lIns="0" tIns="0" rIns="0" bIns="0" rtlCol="0" anchor="ctr"/>
          <a:lstStyle/>
          <a:p>
            <a:pPr indent="0" marL="0">
              <a:lnSpc>
                <a:spcPct val="125000"/>
              </a:lnSpc>
              <a:buNone/>
            </a:pPr>
            <a:r>
              <a:rPr lang="en-US" sz="1450" i="1" dirty="0">
                <a:solidFill>
                  <a:srgbClr val="F3ECE0"/>
                </a:solidFill>
                <a:latin typeface="Calibri" pitchFamily="34" charset="0"/>
                <a:ea typeface="Calibri" pitchFamily="34" charset="-122"/>
                <a:cs typeface="Calibri" pitchFamily="34" charset="-120"/>
              </a:rPr>
              <a:t>De los remedios empíricos de la antigüedad al nacimiento de una especialidad médica basada en evidencia: pioneros, descubrimientos y hitos que transformaron la cirugía moderna.</a:t>
            </a:r>
            <a:endParaRPr lang="en-US" sz="1450" dirty="0"/>
          </a:p>
        </p:txBody>
      </p:sp>
      <p:sp>
        <p:nvSpPr>
          <p:cNvPr id="10" name="Text 7"/>
          <p:cNvSpPr/>
          <p:nvPr/>
        </p:nvSpPr>
        <p:spPr>
          <a:xfrm>
            <a:off x="822960" y="6291072"/>
            <a:ext cx="9144000" cy="274320"/>
          </a:xfrm>
          <a:prstGeom prst="rect">
            <a:avLst/>
          </a:prstGeom>
          <a:noFill/>
          <a:ln/>
        </p:spPr>
        <p:txBody>
          <a:bodyPr wrap="square" lIns="0" tIns="0" rIns="0" bIns="0" rtlCol="0" anchor="ctr"/>
          <a:lstStyle/>
          <a:p>
            <a:pPr indent="0" marL="0">
              <a:buNone/>
            </a:pPr>
            <a:r>
              <a:rPr lang="en-US" sz="1000" spc="150" kern="0" dirty="0">
                <a:solidFill>
                  <a:srgbClr val="C9B8A0"/>
                </a:solidFill>
                <a:latin typeface="Calibri" pitchFamily="34" charset="0"/>
                <a:ea typeface="Calibri" pitchFamily="34" charset="-122"/>
                <a:cs typeface="Calibri" pitchFamily="34" charset="-120"/>
              </a:rPr>
              <a:t>EDUCACIÓN MÉDICA DE POSTGRADO EN ANESTESIOLOGÍA</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lIns="0" tIns="0" rIns="0" bIns="0" rtlCol="0" anchor="ctr"/>
          <a:lstStyle/>
          <a:p>
            <a:pPr indent="0" marL="0">
              <a:buNone/>
            </a:pPr>
            <a:r>
              <a:rPr lang="en-US" sz="1200" b="1" spc="200" kern="0" dirty="0">
                <a:solidFill>
                  <a:srgbClr val="8B5E3C"/>
                </a:solidFill>
                <a:latin typeface="Calibri" pitchFamily="34" charset="0"/>
                <a:ea typeface="Calibri" pitchFamily="34" charset="-122"/>
                <a:cs typeface="Calibri" pitchFamily="34" charset="-120"/>
              </a:rPr>
              <a:t>AGENDA</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t"/>
          <a:lstStyle/>
          <a:p>
            <a:pPr indent="0" marL="0">
              <a:buNone/>
            </a:pPr>
            <a:r>
              <a:rPr lang="en-US" sz="2900" b="1" dirty="0">
                <a:solidFill>
                  <a:srgbClr val="5C3A21"/>
                </a:solidFill>
                <a:latin typeface="Cambria" pitchFamily="34" charset="0"/>
                <a:ea typeface="Cambria" pitchFamily="34" charset="-122"/>
                <a:cs typeface="Cambria" pitchFamily="34" charset="-120"/>
              </a:rPr>
              <a:t>Contenido del capítulo</a:t>
            </a:r>
            <a:endParaRPr lang="en-US" sz="2900" dirty="0"/>
          </a:p>
        </p:txBody>
      </p:sp>
      <p:sp>
        <p:nvSpPr>
          <p:cNvPr id="4" name="Shape 2"/>
          <p:cNvSpPr/>
          <p:nvPr/>
        </p:nvSpPr>
        <p:spPr>
          <a:xfrm>
            <a:off x="548640" y="1783080"/>
            <a:ext cx="566928" cy="566928"/>
          </a:xfrm>
          <a:prstGeom prst="ellipse">
            <a:avLst/>
          </a:prstGeom>
          <a:solidFill>
            <a:srgbClr val="C9A66B">
              <a:alpha val="18000"/>
            </a:srgbClr>
          </a:solidFill>
          <a:ln w="12700">
            <a:solidFill>
              <a:srgbClr val="8B5E3C"/>
            </a:solidFill>
            <a:prstDash val="solid"/>
          </a:ln>
        </p:spPr>
      </p:sp>
      <p:sp>
        <p:nvSpPr>
          <p:cNvPr id="5" name="Text 3"/>
          <p:cNvSpPr/>
          <p:nvPr/>
        </p:nvSpPr>
        <p:spPr>
          <a:xfrm>
            <a:off x="548640" y="1783080"/>
            <a:ext cx="566928" cy="566928"/>
          </a:xfrm>
          <a:prstGeom prst="rect">
            <a:avLst/>
          </a:prstGeom>
          <a:noFill/>
          <a:ln/>
        </p:spPr>
        <p:txBody>
          <a:bodyPr wrap="square" lIns="0" tIns="0" rIns="0" bIns="0" rtlCol="0" anchor="ctr"/>
          <a:lstStyle/>
          <a:p>
            <a:pPr algn="ctr" indent="0" marL="0">
              <a:buNone/>
            </a:pPr>
            <a:r>
              <a:rPr lang="en-US" sz="1600" b="1" dirty="0">
                <a:solidFill>
                  <a:srgbClr val="5C3A21"/>
                </a:solidFill>
                <a:latin typeface="Cambria" pitchFamily="34" charset="0"/>
                <a:ea typeface="Cambria" pitchFamily="34" charset="-122"/>
                <a:cs typeface="Cambria" pitchFamily="34" charset="-120"/>
              </a:rPr>
              <a:t>01</a:t>
            </a:r>
            <a:endParaRPr lang="en-US" sz="1600" dirty="0"/>
          </a:p>
        </p:txBody>
      </p:sp>
      <p:sp>
        <p:nvSpPr>
          <p:cNvPr id="6" name="Text 4"/>
          <p:cNvSpPr/>
          <p:nvPr/>
        </p:nvSpPr>
        <p:spPr>
          <a:xfrm>
            <a:off x="1298448" y="1764792"/>
            <a:ext cx="4572000" cy="822960"/>
          </a:xfrm>
          <a:prstGeom prst="rect">
            <a:avLst/>
          </a:prstGeom>
          <a:noFill/>
          <a:ln/>
        </p:spPr>
        <p:txBody>
          <a:bodyPr wrap="square" lIns="0" tIns="0" rIns="0" bIns="0" rtlCol="0" anchor="ctr"/>
          <a:lstStyle/>
          <a:p>
            <a:pPr indent="0" marL="0">
              <a:lnSpc>
                <a:spcPct val="110000"/>
              </a:lnSpc>
              <a:buNone/>
            </a:pPr>
            <a:r>
              <a:rPr lang="en-US" sz="1350" dirty="0">
                <a:solidFill>
                  <a:srgbClr val="3A2E22"/>
                </a:solidFill>
                <a:latin typeface="Calibri" pitchFamily="34" charset="0"/>
                <a:ea typeface="Calibri" pitchFamily="34" charset="-122"/>
                <a:cs typeface="Calibri" pitchFamily="34" charset="-120"/>
              </a:rPr>
              <a:t>Introducción al estudio de la historia de la anestesia</a:t>
            </a:r>
            <a:endParaRPr lang="en-US" sz="1350" dirty="0"/>
          </a:p>
        </p:txBody>
      </p:sp>
      <p:sp>
        <p:nvSpPr>
          <p:cNvPr id="7" name="Shape 5"/>
          <p:cNvSpPr/>
          <p:nvPr/>
        </p:nvSpPr>
        <p:spPr>
          <a:xfrm>
            <a:off x="548640" y="2807208"/>
            <a:ext cx="566928" cy="566928"/>
          </a:xfrm>
          <a:prstGeom prst="ellipse">
            <a:avLst/>
          </a:prstGeom>
          <a:solidFill>
            <a:srgbClr val="C9A66B">
              <a:alpha val="18000"/>
            </a:srgbClr>
          </a:solidFill>
          <a:ln w="12700">
            <a:solidFill>
              <a:srgbClr val="8B5E3C"/>
            </a:solidFill>
            <a:prstDash val="solid"/>
          </a:ln>
        </p:spPr>
      </p:sp>
      <p:sp>
        <p:nvSpPr>
          <p:cNvPr id="8" name="Text 6"/>
          <p:cNvSpPr/>
          <p:nvPr/>
        </p:nvSpPr>
        <p:spPr>
          <a:xfrm>
            <a:off x="548640" y="2807208"/>
            <a:ext cx="566928" cy="566928"/>
          </a:xfrm>
          <a:prstGeom prst="rect">
            <a:avLst/>
          </a:prstGeom>
          <a:noFill/>
          <a:ln/>
        </p:spPr>
        <p:txBody>
          <a:bodyPr wrap="square" lIns="0" tIns="0" rIns="0" bIns="0" rtlCol="0" anchor="ctr"/>
          <a:lstStyle/>
          <a:p>
            <a:pPr algn="ctr" indent="0" marL="0">
              <a:buNone/>
            </a:pPr>
            <a:r>
              <a:rPr lang="en-US" sz="1600" b="1" dirty="0">
                <a:solidFill>
                  <a:srgbClr val="5C3A21"/>
                </a:solidFill>
                <a:latin typeface="Cambria" pitchFamily="34" charset="0"/>
                <a:ea typeface="Cambria" pitchFamily="34" charset="-122"/>
                <a:cs typeface="Cambria" pitchFamily="34" charset="-120"/>
              </a:rPr>
              <a:t>02</a:t>
            </a:r>
            <a:endParaRPr lang="en-US" sz="1600" dirty="0"/>
          </a:p>
        </p:txBody>
      </p:sp>
      <p:sp>
        <p:nvSpPr>
          <p:cNvPr id="9" name="Text 7"/>
          <p:cNvSpPr/>
          <p:nvPr/>
        </p:nvSpPr>
        <p:spPr>
          <a:xfrm>
            <a:off x="1298448" y="2788920"/>
            <a:ext cx="4572000" cy="822960"/>
          </a:xfrm>
          <a:prstGeom prst="rect">
            <a:avLst/>
          </a:prstGeom>
          <a:noFill/>
          <a:ln/>
        </p:spPr>
        <p:txBody>
          <a:bodyPr wrap="square" lIns="0" tIns="0" rIns="0" bIns="0" rtlCol="0" anchor="ctr"/>
          <a:lstStyle/>
          <a:p>
            <a:pPr indent="0" marL="0">
              <a:lnSpc>
                <a:spcPct val="110000"/>
              </a:lnSpc>
              <a:buNone/>
            </a:pPr>
            <a:r>
              <a:rPr lang="en-US" sz="1350" dirty="0">
                <a:solidFill>
                  <a:srgbClr val="3A2E22"/>
                </a:solidFill>
                <a:latin typeface="Calibri" pitchFamily="34" charset="0"/>
                <a:ea typeface="Calibri" pitchFamily="34" charset="-122"/>
                <a:cs typeface="Calibri" pitchFamily="34" charset="-120"/>
              </a:rPr>
              <a:t>La anestesia en la antigüedad y el problema del dolor quirúrgico</a:t>
            </a:r>
            <a:endParaRPr lang="en-US" sz="1350" dirty="0"/>
          </a:p>
        </p:txBody>
      </p:sp>
      <p:sp>
        <p:nvSpPr>
          <p:cNvPr id="10" name="Shape 8"/>
          <p:cNvSpPr/>
          <p:nvPr/>
        </p:nvSpPr>
        <p:spPr>
          <a:xfrm>
            <a:off x="548640" y="3831336"/>
            <a:ext cx="566928" cy="566928"/>
          </a:xfrm>
          <a:prstGeom prst="ellipse">
            <a:avLst/>
          </a:prstGeom>
          <a:solidFill>
            <a:srgbClr val="C9A66B">
              <a:alpha val="18000"/>
            </a:srgbClr>
          </a:solidFill>
          <a:ln w="12700">
            <a:solidFill>
              <a:srgbClr val="8B5E3C"/>
            </a:solidFill>
            <a:prstDash val="solid"/>
          </a:ln>
        </p:spPr>
      </p:sp>
      <p:sp>
        <p:nvSpPr>
          <p:cNvPr id="11" name="Text 9"/>
          <p:cNvSpPr/>
          <p:nvPr/>
        </p:nvSpPr>
        <p:spPr>
          <a:xfrm>
            <a:off x="548640" y="3831336"/>
            <a:ext cx="566928" cy="566928"/>
          </a:xfrm>
          <a:prstGeom prst="rect">
            <a:avLst/>
          </a:prstGeom>
          <a:noFill/>
          <a:ln/>
        </p:spPr>
        <p:txBody>
          <a:bodyPr wrap="square" lIns="0" tIns="0" rIns="0" bIns="0" rtlCol="0" anchor="ctr"/>
          <a:lstStyle/>
          <a:p>
            <a:pPr algn="ctr" indent="0" marL="0">
              <a:buNone/>
            </a:pPr>
            <a:r>
              <a:rPr lang="en-US" sz="1600" b="1" dirty="0">
                <a:solidFill>
                  <a:srgbClr val="5C3A21"/>
                </a:solidFill>
                <a:latin typeface="Cambria" pitchFamily="34" charset="0"/>
                <a:ea typeface="Cambria" pitchFamily="34" charset="-122"/>
                <a:cs typeface="Cambria" pitchFamily="34" charset="-120"/>
              </a:rPr>
              <a:t>03</a:t>
            </a:r>
            <a:endParaRPr lang="en-US" sz="1600" dirty="0"/>
          </a:p>
        </p:txBody>
      </p:sp>
      <p:sp>
        <p:nvSpPr>
          <p:cNvPr id="12" name="Text 10"/>
          <p:cNvSpPr/>
          <p:nvPr/>
        </p:nvSpPr>
        <p:spPr>
          <a:xfrm>
            <a:off x="1298448" y="3813048"/>
            <a:ext cx="4572000" cy="822960"/>
          </a:xfrm>
          <a:prstGeom prst="rect">
            <a:avLst/>
          </a:prstGeom>
          <a:noFill/>
          <a:ln/>
        </p:spPr>
        <p:txBody>
          <a:bodyPr wrap="square" lIns="0" tIns="0" rIns="0" bIns="0" rtlCol="0" anchor="ctr"/>
          <a:lstStyle/>
          <a:p>
            <a:pPr indent="0" marL="0">
              <a:lnSpc>
                <a:spcPct val="110000"/>
              </a:lnSpc>
              <a:buNone/>
            </a:pPr>
            <a:r>
              <a:rPr lang="en-US" sz="1350" dirty="0">
                <a:solidFill>
                  <a:srgbClr val="3A2E22"/>
                </a:solidFill>
                <a:latin typeface="Calibri" pitchFamily="34" charset="0"/>
                <a:ea typeface="Calibri" pitchFamily="34" charset="-122"/>
                <a:cs typeface="Calibri" pitchFamily="34" charset="-120"/>
              </a:rPr>
              <a:t>Los grandes pioneros: éter, óxido nitroso y cloroformo</a:t>
            </a:r>
            <a:endParaRPr lang="en-US" sz="1350" dirty="0"/>
          </a:p>
        </p:txBody>
      </p:sp>
      <p:sp>
        <p:nvSpPr>
          <p:cNvPr id="13" name="Shape 11"/>
          <p:cNvSpPr/>
          <p:nvPr/>
        </p:nvSpPr>
        <p:spPr>
          <a:xfrm>
            <a:off x="548640" y="4855464"/>
            <a:ext cx="566928" cy="566928"/>
          </a:xfrm>
          <a:prstGeom prst="ellipse">
            <a:avLst/>
          </a:prstGeom>
          <a:solidFill>
            <a:srgbClr val="C9A66B">
              <a:alpha val="18000"/>
            </a:srgbClr>
          </a:solidFill>
          <a:ln w="12700">
            <a:solidFill>
              <a:srgbClr val="8B5E3C"/>
            </a:solidFill>
            <a:prstDash val="solid"/>
          </a:ln>
        </p:spPr>
      </p:sp>
      <p:sp>
        <p:nvSpPr>
          <p:cNvPr id="14" name="Text 12"/>
          <p:cNvSpPr/>
          <p:nvPr/>
        </p:nvSpPr>
        <p:spPr>
          <a:xfrm>
            <a:off x="548640" y="4855464"/>
            <a:ext cx="566928" cy="566928"/>
          </a:xfrm>
          <a:prstGeom prst="rect">
            <a:avLst/>
          </a:prstGeom>
          <a:noFill/>
          <a:ln/>
        </p:spPr>
        <p:txBody>
          <a:bodyPr wrap="square" lIns="0" tIns="0" rIns="0" bIns="0" rtlCol="0" anchor="ctr"/>
          <a:lstStyle/>
          <a:p>
            <a:pPr algn="ctr" indent="0" marL="0">
              <a:buNone/>
            </a:pPr>
            <a:r>
              <a:rPr lang="en-US" sz="1600" b="1" dirty="0">
                <a:solidFill>
                  <a:srgbClr val="5C3A21"/>
                </a:solidFill>
                <a:latin typeface="Cambria" pitchFamily="34" charset="0"/>
                <a:ea typeface="Cambria" pitchFamily="34" charset="-122"/>
                <a:cs typeface="Cambria" pitchFamily="34" charset="-120"/>
              </a:rPr>
              <a:t>04</a:t>
            </a:r>
            <a:endParaRPr lang="en-US" sz="1600" dirty="0"/>
          </a:p>
        </p:txBody>
      </p:sp>
      <p:sp>
        <p:nvSpPr>
          <p:cNvPr id="15" name="Text 13"/>
          <p:cNvSpPr/>
          <p:nvPr/>
        </p:nvSpPr>
        <p:spPr>
          <a:xfrm>
            <a:off x="1298448" y="4837176"/>
            <a:ext cx="4572000" cy="822960"/>
          </a:xfrm>
          <a:prstGeom prst="rect">
            <a:avLst/>
          </a:prstGeom>
          <a:noFill/>
          <a:ln/>
        </p:spPr>
        <p:txBody>
          <a:bodyPr wrap="square" lIns="0" tIns="0" rIns="0" bIns="0" rtlCol="0" anchor="ctr"/>
          <a:lstStyle/>
          <a:p>
            <a:pPr indent="0" marL="0">
              <a:lnSpc>
                <a:spcPct val="110000"/>
              </a:lnSpc>
              <a:buNone/>
            </a:pPr>
            <a:r>
              <a:rPr lang="en-US" sz="1350" dirty="0">
                <a:solidFill>
                  <a:srgbClr val="3A2E22"/>
                </a:solidFill>
                <a:latin typeface="Calibri" pitchFamily="34" charset="0"/>
                <a:ea typeface="Calibri" pitchFamily="34" charset="-122"/>
                <a:cs typeface="Calibri" pitchFamily="34" charset="-120"/>
              </a:rPr>
              <a:t>Nacimiento de la anestesia local y regional</a:t>
            </a:r>
            <a:endParaRPr lang="en-US" sz="1350" dirty="0"/>
          </a:p>
        </p:txBody>
      </p:sp>
      <p:sp>
        <p:nvSpPr>
          <p:cNvPr id="16" name="Shape 14"/>
          <p:cNvSpPr/>
          <p:nvPr/>
        </p:nvSpPr>
        <p:spPr>
          <a:xfrm>
            <a:off x="6355080" y="1783080"/>
            <a:ext cx="566928" cy="566928"/>
          </a:xfrm>
          <a:prstGeom prst="ellipse">
            <a:avLst/>
          </a:prstGeom>
          <a:solidFill>
            <a:srgbClr val="C9A66B">
              <a:alpha val="18000"/>
            </a:srgbClr>
          </a:solidFill>
          <a:ln w="12700">
            <a:solidFill>
              <a:srgbClr val="8B5E3C"/>
            </a:solidFill>
            <a:prstDash val="solid"/>
          </a:ln>
        </p:spPr>
      </p:sp>
      <p:sp>
        <p:nvSpPr>
          <p:cNvPr id="17" name="Text 15"/>
          <p:cNvSpPr/>
          <p:nvPr/>
        </p:nvSpPr>
        <p:spPr>
          <a:xfrm>
            <a:off x="6355080" y="1783080"/>
            <a:ext cx="566928" cy="566928"/>
          </a:xfrm>
          <a:prstGeom prst="rect">
            <a:avLst/>
          </a:prstGeom>
          <a:noFill/>
          <a:ln/>
        </p:spPr>
        <p:txBody>
          <a:bodyPr wrap="square" lIns="0" tIns="0" rIns="0" bIns="0" rtlCol="0" anchor="ctr"/>
          <a:lstStyle/>
          <a:p>
            <a:pPr algn="ctr" indent="0" marL="0">
              <a:buNone/>
            </a:pPr>
            <a:r>
              <a:rPr lang="en-US" sz="1600" b="1" dirty="0">
                <a:solidFill>
                  <a:srgbClr val="5C3A21"/>
                </a:solidFill>
                <a:latin typeface="Cambria" pitchFamily="34" charset="0"/>
                <a:ea typeface="Cambria" pitchFamily="34" charset="-122"/>
                <a:cs typeface="Cambria" pitchFamily="34" charset="-120"/>
              </a:rPr>
              <a:t>05</a:t>
            </a:r>
            <a:endParaRPr lang="en-US" sz="1600" dirty="0"/>
          </a:p>
        </p:txBody>
      </p:sp>
      <p:sp>
        <p:nvSpPr>
          <p:cNvPr id="18" name="Text 16"/>
          <p:cNvSpPr/>
          <p:nvPr/>
        </p:nvSpPr>
        <p:spPr>
          <a:xfrm>
            <a:off x="7104888" y="1764792"/>
            <a:ext cx="4572000" cy="822960"/>
          </a:xfrm>
          <a:prstGeom prst="rect">
            <a:avLst/>
          </a:prstGeom>
          <a:noFill/>
          <a:ln/>
        </p:spPr>
        <p:txBody>
          <a:bodyPr wrap="square" lIns="0" tIns="0" rIns="0" bIns="0" rtlCol="0" anchor="ctr"/>
          <a:lstStyle/>
          <a:p>
            <a:pPr indent="0" marL="0">
              <a:lnSpc>
                <a:spcPct val="110000"/>
              </a:lnSpc>
              <a:buNone/>
            </a:pPr>
            <a:r>
              <a:rPr lang="en-US" sz="1350" dirty="0">
                <a:solidFill>
                  <a:srgbClr val="3A2E22"/>
                </a:solidFill>
                <a:latin typeface="Calibri" pitchFamily="34" charset="0"/>
                <a:ea typeface="Calibri" pitchFamily="34" charset="-122"/>
                <a:cs typeface="Calibri" pitchFamily="34" charset="-120"/>
              </a:rPr>
              <a:t>Consolidación técnica y farmacológica en el siglo XX</a:t>
            </a:r>
            <a:endParaRPr lang="en-US" sz="1350" dirty="0"/>
          </a:p>
        </p:txBody>
      </p:sp>
      <p:sp>
        <p:nvSpPr>
          <p:cNvPr id="19" name="Shape 17"/>
          <p:cNvSpPr/>
          <p:nvPr/>
        </p:nvSpPr>
        <p:spPr>
          <a:xfrm>
            <a:off x="6355080" y="2807208"/>
            <a:ext cx="566928" cy="566928"/>
          </a:xfrm>
          <a:prstGeom prst="ellipse">
            <a:avLst/>
          </a:prstGeom>
          <a:solidFill>
            <a:srgbClr val="C9A66B">
              <a:alpha val="18000"/>
            </a:srgbClr>
          </a:solidFill>
          <a:ln w="12700">
            <a:solidFill>
              <a:srgbClr val="8B5E3C"/>
            </a:solidFill>
            <a:prstDash val="solid"/>
          </a:ln>
        </p:spPr>
      </p:sp>
      <p:sp>
        <p:nvSpPr>
          <p:cNvPr id="20" name="Text 18"/>
          <p:cNvSpPr/>
          <p:nvPr/>
        </p:nvSpPr>
        <p:spPr>
          <a:xfrm>
            <a:off x="6355080" y="2807208"/>
            <a:ext cx="566928" cy="566928"/>
          </a:xfrm>
          <a:prstGeom prst="rect">
            <a:avLst/>
          </a:prstGeom>
          <a:noFill/>
          <a:ln/>
        </p:spPr>
        <p:txBody>
          <a:bodyPr wrap="square" lIns="0" tIns="0" rIns="0" bIns="0" rtlCol="0" anchor="ctr"/>
          <a:lstStyle/>
          <a:p>
            <a:pPr algn="ctr" indent="0" marL="0">
              <a:buNone/>
            </a:pPr>
            <a:r>
              <a:rPr lang="en-US" sz="1600" b="1" dirty="0">
                <a:solidFill>
                  <a:srgbClr val="5C3A21"/>
                </a:solidFill>
                <a:latin typeface="Cambria" pitchFamily="34" charset="0"/>
                <a:ea typeface="Cambria" pitchFamily="34" charset="-122"/>
                <a:cs typeface="Cambria" pitchFamily="34" charset="-120"/>
              </a:rPr>
              <a:t>06</a:t>
            </a:r>
            <a:endParaRPr lang="en-US" sz="1600" dirty="0"/>
          </a:p>
        </p:txBody>
      </p:sp>
      <p:sp>
        <p:nvSpPr>
          <p:cNvPr id="21" name="Text 19"/>
          <p:cNvSpPr/>
          <p:nvPr/>
        </p:nvSpPr>
        <p:spPr>
          <a:xfrm>
            <a:off x="7104888" y="2788920"/>
            <a:ext cx="4572000" cy="822960"/>
          </a:xfrm>
          <a:prstGeom prst="rect">
            <a:avLst/>
          </a:prstGeom>
          <a:noFill/>
          <a:ln/>
        </p:spPr>
        <p:txBody>
          <a:bodyPr wrap="square" lIns="0" tIns="0" rIns="0" bIns="0" rtlCol="0" anchor="ctr"/>
          <a:lstStyle/>
          <a:p>
            <a:pPr indent="0" marL="0">
              <a:lnSpc>
                <a:spcPct val="110000"/>
              </a:lnSpc>
              <a:buNone/>
            </a:pPr>
            <a:r>
              <a:rPr lang="en-US" sz="1350" dirty="0">
                <a:solidFill>
                  <a:srgbClr val="3A2E22"/>
                </a:solidFill>
                <a:latin typeface="Calibri" pitchFamily="34" charset="0"/>
                <a:ea typeface="Calibri" pitchFamily="34" charset="-122"/>
                <a:cs typeface="Calibri" pitchFamily="34" charset="-120"/>
              </a:rPr>
              <a:t>Profesionalización: sociedades científicas y formación académica</a:t>
            </a:r>
            <a:endParaRPr lang="en-US" sz="1350" dirty="0"/>
          </a:p>
        </p:txBody>
      </p:sp>
      <p:sp>
        <p:nvSpPr>
          <p:cNvPr id="22" name="Shape 20"/>
          <p:cNvSpPr/>
          <p:nvPr/>
        </p:nvSpPr>
        <p:spPr>
          <a:xfrm>
            <a:off x="6355080" y="3831336"/>
            <a:ext cx="566928" cy="566928"/>
          </a:xfrm>
          <a:prstGeom prst="ellipse">
            <a:avLst/>
          </a:prstGeom>
          <a:solidFill>
            <a:srgbClr val="C9A66B">
              <a:alpha val="18000"/>
            </a:srgbClr>
          </a:solidFill>
          <a:ln w="12700">
            <a:solidFill>
              <a:srgbClr val="8B5E3C"/>
            </a:solidFill>
            <a:prstDash val="solid"/>
          </a:ln>
        </p:spPr>
      </p:sp>
      <p:sp>
        <p:nvSpPr>
          <p:cNvPr id="23" name="Text 21"/>
          <p:cNvSpPr/>
          <p:nvPr/>
        </p:nvSpPr>
        <p:spPr>
          <a:xfrm>
            <a:off x="6355080" y="3831336"/>
            <a:ext cx="566928" cy="566928"/>
          </a:xfrm>
          <a:prstGeom prst="rect">
            <a:avLst/>
          </a:prstGeom>
          <a:noFill/>
          <a:ln/>
        </p:spPr>
        <p:txBody>
          <a:bodyPr wrap="square" lIns="0" tIns="0" rIns="0" bIns="0" rtlCol="0" anchor="ctr"/>
          <a:lstStyle/>
          <a:p>
            <a:pPr algn="ctr" indent="0" marL="0">
              <a:buNone/>
            </a:pPr>
            <a:r>
              <a:rPr lang="en-US" sz="1600" b="1" dirty="0">
                <a:solidFill>
                  <a:srgbClr val="5C3A21"/>
                </a:solidFill>
                <a:latin typeface="Cambria" pitchFamily="34" charset="0"/>
                <a:ea typeface="Cambria" pitchFamily="34" charset="-122"/>
                <a:cs typeface="Cambria" pitchFamily="34" charset="-120"/>
              </a:rPr>
              <a:t>07</a:t>
            </a:r>
            <a:endParaRPr lang="en-US" sz="1600" dirty="0"/>
          </a:p>
        </p:txBody>
      </p:sp>
      <p:sp>
        <p:nvSpPr>
          <p:cNvPr id="24" name="Text 22"/>
          <p:cNvSpPr/>
          <p:nvPr/>
        </p:nvSpPr>
        <p:spPr>
          <a:xfrm>
            <a:off x="7104888" y="3813048"/>
            <a:ext cx="4572000" cy="822960"/>
          </a:xfrm>
          <a:prstGeom prst="rect">
            <a:avLst/>
          </a:prstGeom>
          <a:noFill/>
          <a:ln/>
        </p:spPr>
        <p:txBody>
          <a:bodyPr wrap="square" lIns="0" tIns="0" rIns="0" bIns="0" rtlCol="0" anchor="ctr"/>
          <a:lstStyle/>
          <a:p>
            <a:pPr indent="0" marL="0">
              <a:lnSpc>
                <a:spcPct val="110000"/>
              </a:lnSpc>
              <a:buNone/>
            </a:pPr>
            <a:r>
              <a:rPr lang="en-US" sz="1350" dirty="0">
                <a:solidFill>
                  <a:srgbClr val="3A2E22"/>
                </a:solidFill>
                <a:latin typeface="Calibri" pitchFamily="34" charset="0"/>
                <a:ea typeface="Calibri" pitchFamily="34" charset="-122"/>
                <a:cs typeface="Calibri" pitchFamily="34" charset="-120"/>
              </a:rPr>
              <a:t>Seguridad del paciente y monitorización moderna</a:t>
            </a:r>
            <a:endParaRPr lang="en-US" sz="1350" dirty="0"/>
          </a:p>
        </p:txBody>
      </p:sp>
      <p:sp>
        <p:nvSpPr>
          <p:cNvPr id="25" name="Shape 23"/>
          <p:cNvSpPr/>
          <p:nvPr/>
        </p:nvSpPr>
        <p:spPr>
          <a:xfrm>
            <a:off x="6355080" y="4855464"/>
            <a:ext cx="566928" cy="566928"/>
          </a:xfrm>
          <a:prstGeom prst="ellipse">
            <a:avLst/>
          </a:prstGeom>
          <a:solidFill>
            <a:srgbClr val="C9A66B">
              <a:alpha val="18000"/>
            </a:srgbClr>
          </a:solidFill>
          <a:ln w="12700">
            <a:solidFill>
              <a:srgbClr val="8B5E3C"/>
            </a:solidFill>
            <a:prstDash val="solid"/>
          </a:ln>
        </p:spPr>
      </p:sp>
      <p:sp>
        <p:nvSpPr>
          <p:cNvPr id="26" name="Text 24"/>
          <p:cNvSpPr/>
          <p:nvPr/>
        </p:nvSpPr>
        <p:spPr>
          <a:xfrm>
            <a:off x="6355080" y="4855464"/>
            <a:ext cx="566928" cy="566928"/>
          </a:xfrm>
          <a:prstGeom prst="rect">
            <a:avLst/>
          </a:prstGeom>
          <a:noFill/>
          <a:ln/>
        </p:spPr>
        <p:txBody>
          <a:bodyPr wrap="square" lIns="0" tIns="0" rIns="0" bIns="0" rtlCol="0" anchor="ctr"/>
          <a:lstStyle/>
          <a:p>
            <a:pPr algn="ctr" indent="0" marL="0">
              <a:buNone/>
            </a:pPr>
            <a:r>
              <a:rPr lang="en-US" sz="1600" b="1" dirty="0">
                <a:solidFill>
                  <a:srgbClr val="5C3A21"/>
                </a:solidFill>
                <a:latin typeface="Cambria" pitchFamily="34" charset="0"/>
                <a:ea typeface="Cambria" pitchFamily="34" charset="-122"/>
                <a:cs typeface="Cambria" pitchFamily="34" charset="-120"/>
              </a:rPr>
              <a:t>08</a:t>
            </a:r>
            <a:endParaRPr lang="en-US" sz="1600" dirty="0"/>
          </a:p>
        </p:txBody>
      </p:sp>
      <p:sp>
        <p:nvSpPr>
          <p:cNvPr id="27" name="Text 25"/>
          <p:cNvSpPr/>
          <p:nvPr/>
        </p:nvSpPr>
        <p:spPr>
          <a:xfrm>
            <a:off x="7104888" y="4837176"/>
            <a:ext cx="4572000" cy="822960"/>
          </a:xfrm>
          <a:prstGeom prst="rect">
            <a:avLst/>
          </a:prstGeom>
          <a:noFill/>
          <a:ln/>
        </p:spPr>
        <p:txBody>
          <a:bodyPr wrap="square" lIns="0" tIns="0" rIns="0" bIns="0" rtlCol="0" anchor="ctr"/>
          <a:lstStyle/>
          <a:p>
            <a:pPr indent="0" marL="0">
              <a:lnSpc>
                <a:spcPct val="110000"/>
              </a:lnSpc>
              <a:buNone/>
            </a:pPr>
            <a:r>
              <a:rPr lang="en-US" sz="1350" dirty="0">
                <a:solidFill>
                  <a:srgbClr val="3A2E22"/>
                </a:solidFill>
                <a:latin typeface="Calibri" pitchFamily="34" charset="0"/>
                <a:ea typeface="Calibri" pitchFamily="34" charset="-122"/>
                <a:cs typeface="Calibri" pitchFamily="34" charset="-120"/>
              </a:rPr>
              <a:t>Línea de tiempo, lecciones y síntesis del capítulo</a:t>
            </a:r>
            <a:endParaRPr lang="en-US" sz="1350" dirty="0"/>
          </a:p>
        </p:txBody>
      </p:sp>
      <p:sp>
        <p:nvSpPr>
          <p:cNvPr id="28" name="Text 26"/>
          <p:cNvSpPr/>
          <p:nvPr/>
        </p:nvSpPr>
        <p:spPr>
          <a:xfrm>
            <a:off x="548640" y="6473952"/>
            <a:ext cx="6400800" cy="274320"/>
          </a:xfrm>
          <a:prstGeom prst="rect">
            <a:avLst/>
          </a:prstGeom>
          <a:noFill/>
          <a:ln/>
        </p:spPr>
        <p:txBody>
          <a:bodyPr wrap="square" lIns="0" tIns="0" rIns="0" bIns="0" rtlCol="0" anchor="ctr"/>
          <a:lstStyle/>
          <a:p>
            <a:pPr indent="0" marL="0">
              <a:buNone/>
            </a:pPr>
            <a:r>
              <a:rPr lang="en-US" sz="850" spc="100" kern="0" dirty="0">
                <a:solidFill>
                  <a:srgbClr val="7A6A57"/>
                </a:solidFill>
                <a:latin typeface="Calibri" pitchFamily="34" charset="0"/>
                <a:ea typeface="Calibri" pitchFamily="34" charset="-122"/>
                <a:cs typeface="Calibri" pitchFamily="34" charset="-120"/>
              </a:rPr>
              <a:t>CAPÍTULO II  ·  HISTORIA DE LA ANESTESIA</a:t>
            </a:r>
            <a:endParaRPr lang="en-US" sz="850" dirty="0"/>
          </a:p>
        </p:txBody>
      </p:sp>
      <p:sp>
        <p:nvSpPr>
          <p:cNvPr id="29" name="Text 27"/>
          <p:cNvSpPr/>
          <p:nvPr/>
        </p:nvSpPr>
        <p:spPr>
          <a:xfrm>
            <a:off x="10728655" y="6473952"/>
            <a:ext cx="914400" cy="274320"/>
          </a:xfrm>
          <a:prstGeom prst="rect">
            <a:avLst/>
          </a:prstGeom>
          <a:noFill/>
          <a:ln/>
        </p:spPr>
        <p:txBody>
          <a:bodyPr wrap="square" lIns="0" tIns="0" rIns="0" bIns="0" rtlCol="0" anchor="ctr"/>
          <a:lstStyle/>
          <a:p>
            <a:pPr algn="r" indent="0" marL="0">
              <a:buNone/>
            </a:pPr>
            <a:r>
              <a:rPr lang="en-US" sz="850" dirty="0">
                <a:solidFill>
                  <a:srgbClr val="7A6A57"/>
                </a:solidFill>
                <a:latin typeface="Calibri" pitchFamily="34" charset="0"/>
                <a:ea typeface="Calibri" pitchFamily="34" charset="-122"/>
                <a:cs typeface="Calibri" pitchFamily="34" charset="-120"/>
              </a:rPr>
              <a:t>02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lIns="0" tIns="0" rIns="0" bIns="0" rtlCol="0" anchor="ctr"/>
          <a:lstStyle/>
          <a:p>
            <a:pPr indent="0" marL="0">
              <a:buNone/>
            </a:pPr>
            <a:r>
              <a:rPr lang="en-US" sz="1200" b="1" spc="200" kern="0" dirty="0">
                <a:solidFill>
                  <a:srgbClr val="8B5E3C"/>
                </a:solidFill>
                <a:latin typeface="Calibri" pitchFamily="34" charset="0"/>
                <a:ea typeface="Calibri" pitchFamily="34" charset="-122"/>
                <a:cs typeface="Calibri" pitchFamily="34" charset="-120"/>
              </a:rPr>
              <a:t>INTRODUCCIÓN</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t"/>
          <a:lstStyle/>
          <a:p>
            <a:pPr indent="0" marL="0">
              <a:buNone/>
            </a:pPr>
            <a:r>
              <a:rPr lang="en-US" sz="2900" b="1" dirty="0">
                <a:solidFill>
                  <a:srgbClr val="5C3A21"/>
                </a:solidFill>
                <a:latin typeface="Cambria" pitchFamily="34" charset="0"/>
                <a:ea typeface="Cambria" pitchFamily="34" charset="-122"/>
                <a:cs typeface="Cambria" pitchFamily="34" charset="-120"/>
              </a:rPr>
              <a:t>¿Por qué estudiar la historia de la anestesia?</a:t>
            </a:r>
            <a:endParaRPr lang="en-US" sz="2900" dirty="0"/>
          </a:p>
        </p:txBody>
      </p:sp>
      <p:sp>
        <p:nvSpPr>
          <p:cNvPr id="4" name="Shape 2"/>
          <p:cNvSpPr/>
          <p:nvPr/>
        </p:nvSpPr>
        <p:spPr>
          <a:xfrm>
            <a:off x="548640" y="1691640"/>
            <a:ext cx="5029200" cy="4434840"/>
          </a:xfrm>
          <a:prstGeom prst="roundRect">
            <a:avLst>
              <a:gd name="adj" fmla="val 1649"/>
            </a:avLst>
          </a:prstGeom>
          <a:solidFill>
            <a:srgbClr val="C9A66B">
              <a:alpha val="10000"/>
            </a:srgbClr>
          </a:solidFill>
          <a:ln/>
        </p:spPr>
      </p:sp>
      <p:sp>
        <p:nvSpPr>
          <p:cNvPr id="5" name="Shape 3"/>
          <p:cNvSpPr/>
          <p:nvPr/>
        </p:nvSpPr>
        <p:spPr>
          <a:xfrm>
            <a:off x="1005840" y="2057400"/>
            <a:ext cx="1188720" cy="1188720"/>
          </a:xfrm>
          <a:prstGeom prst="ellipse">
            <a:avLst/>
          </a:prstGeom>
          <a:solidFill>
            <a:srgbClr val="5C3A21"/>
          </a:solidFill>
          <a:ln/>
          <a:effectLst>
            <a:outerShdw sx="100000" sy="100000" kx="0" ky="0" algn="bl" rotWithShape="0" blurRad="101600" dist="38100" dir="5400000">
              <a:srgbClr val="2B2118">
                <a:alpha val="28000"/>
              </a:srgbClr>
            </a:outerShdw>
          </a:effectLst>
        </p:spPr>
      </p:sp>
      <p:pic>
        <p:nvPicPr>
          <p:cNvPr id="6" name="Image 0" descr="preencoded.png">    </p:cNvPr>
          <p:cNvPicPr>
            <a:picLocks noChangeAspect="1"/>
          </p:cNvPicPr>
          <p:nvPr/>
        </p:nvPicPr>
        <p:blipFill>
          <a:blip r:embed="rId1"/>
          <a:stretch>
            <a:fillRect/>
          </a:stretch>
        </p:blipFill>
        <p:spPr>
          <a:xfrm>
            <a:off x="1303020" y="2354580"/>
            <a:ext cx="594360" cy="594360"/>
          </a:xfrm>
          <a:prstGeom prst="rect">
            <a:avLst/>
          </a:prstGeom>
        </p:spPr>
      </p:pic>
      <p:sp>
        <p:nvSpPr>
          <p:cNvPr id="7" name="Text 4"/>
          <p:cNvSpPr/>
          <p:nvPr/>
        </p:nvSpPr>
        <p:spPr>
          <a:xfrm>
            <a:off x="914400" y="3429000"/>
            <a:ext cx="4297680" cy="2468880"/>
          </a:xfrm>
          <a:prstGeom prst="rect">
            <a:avLst/>
          </a:prstGeom>
          <a:noFill/>
          <a:ln/>
        </p:spPr>
        <p:txBody>
          <a:bodyPr wrap="square" lIns="0" tIns="0" rIns="0" bIns="0" rtlCol="0" anchor="ctr"/>
          <a:lstStyle/>
          <a:p>
            <a:pPr indent="0" marL="0">
              <a:lnSpc>
                <a:spcPct val="128000"/>
              </a:lnSpc>
              <a:buNone/>
            </a:pPr>
            <a:r>
              <a:rPr lang="en-US" sz="1350" i="1" dirty="0">
                <a:solidFill>
                  <a:srgbClr val="3A2E22"/>
                </a:solidFill>
                <a:latin typeface="Calibri" pitchFamily="34" charset="0"/>
                <a:ea typeface="Calibri" pitchFamily="34" charset="-122"/>
                <a:cs typeface="Calibri" pitchFamily="34" charset="-120"/>
              </a:rPr>
              <a:t>La anestesiología moderna es, ante todo, el resultado acumulado de dos siglos de observación clínica, experimentación —muchas veces autoexperimentación— y estandarización progresiva. Conocer ese recorrido permite comprender por qué practicamos como practicamos hoy.</a:t>
            </a:r>
            <a:endParaRPr lang="en-US" sz="1350" dirty="0"/>
          </a:p>
        </p:txBody>
      </p:sp>
      <p:sp>
        <p:nvSpPr>
          <p:cNvPr id="8" name="Text 5"/>
          <p:cNvSpPr/>
          <p:nvPr/>
        </p:nvSpPr>
        <p:spPr>
          <a:xfrm>
            <a:off x="5943600" y="1783080"/>
            <a:ext cx="5669280" cy="4206240"/>
          </a:xfrm>
          <a:prstGeom prst="rect">
            <a:avLst/>
          </a:prstGeom>
          <a:noFill/>
          <a:ln/>
        </p:spPr>
        <p:txBody>
          <a:bodyPr wrap="square" lIns="0" tIns="0" rIns="0" bIns="0" rtlCol="0" anchor="t"/>
          <a:lstStyle/>
          <a:p>
            <a:pPr marL="203200" indent="-203200">
              <a:lnSpc>
                <a:spcPct val="105000"/>
              </a:lnSpc>
              <a:spcAft>
                <a:spcPts val="1600"/>
              </a:spcAft>
              <a:buSzPct val="100000"/>
              <a:buChar char="•"/>
            </a:pPr>
            <a:r>
              <a:rPr lang="en-US" sz="1400" dirty="0">
                <a:solidFill>
                  <a:srgbClr val="3A2E22"/>
                </a:solidFill>
                <a:latin typeface="Calibri" pitchFamily="34" charset="0"/>
                <a:ea typeface="Calibri" pitchFamily="34" charset="-122"/>
                <a:cs typeface="Calibri" pitchFamily="34" charset="-120"/>
              </a:rPr>
              <a:t>Comprender la lógica clínica detrás de conceptos que hoy damos por sentados (planos anestésicos, monitorización, consentimiento informado).</a:t>
            </a:r>
            <a:endParaRPr lang="en-US" sz="1400" dirty="0"/>
          </a:p>
          <a:p>
            <a:pPr marL="203200" indent="-203200">
              <a:lnSpc>
                <a:spcPct val="105000"/>
              </a:lnSpc>
              <a:spcAft>
                <a:spcPts val="1600"/>
              </a:spcAft>
              <a:buSzPct val="100000"/>
              <a:buChar char="•"/>
            </a:pPr>
            <a:r>
              <a:rPr lang="en-US" sz="1400" dirty="0">
                <a:solidFill>
                  <a:srgbClr val="3A2E22"/>
                </a:solidFill>
                <a:latin typeface="Calibri" pitchFamily="34" charset="0"/>
                <a:ea typeface="Calibri" pitchFamily="34" charset="-122"/>
                <a:cs typeface="Calibri" pitchFamily="34" charset="-120"/>
              </a:rPr>
              <a:t>Dimensionar cuánto ha mejorado la seguridad del paciente y por qué la vigilancia continua sigue siendo indispensable.</a:t>
            </a:r>
            <a:endParaRPr lang="en-US" sz="1400" dirty="0"/>
          </a:p>
          <a:p>
            <a:pPr marL="203200" indent="-203200">
              <a:lnSpc>
                <a:spcPct val="105000"/>
              </a:lnSpc>
              <a:spcAft>
                <a:spcPts val="1600"/>
              </a:spcAft>
              <a:buSzPct val="100000"/>
              <a:buChar char="•"/>
            </a:pPr>
            <a:r>
              <a:rPr lang="en-US" sz="1400" dirty="0">
                <a:solidFill>
                  <a:srgbClr val="3A2E22"/>
                </a:solidFill>
                <a:latin typeface="Calibri" pitchFamily="34" charset="0"/>
                <a:ea typeface="Calibri" pitchFamily="34" charset="-122"/>
                <a:cs typeface="Calibri" pitchFamily="34" charset="-120"/>
              </a:rPr>
              <a:t>Reconocer el papel de la observación clínica rigurosa y la publicación científica en la validación de nuevas técnicas.</a:t>
            </a:r>
            <a:endParaRPr lang="en-US" sz="1400" dirty="0"/>
          </a:p>
          <a:p>
            <a:pPr marL="203200" indent="-203200">
              <a:lnSpc>
                <a:spcPct val="105000"/>
              </a:lnSpc>
              <a:spcAft>
                <a:spcPts val="1600"/>
              </a:spcAft>
              <a:buSzPct val="100000"/>
              <a:buChar char="•"/>
            </a:pPr>
            <a:r>
              <a:rPr lang="en-US" sz="1400" dirty="0">
                <a:solidFill>
                  <a:srgbClr val="3A2E22"/>
                </a:solidFill>
                <a:latin typeface="Calibri" pitchFamily="34" charset="0"/>
                <a:ea typeface="Calibri" pitchFamily="34" charset="-122"/>
                <a:cs typeface="Calibri" pitchFamily="34" charset="-120"/>
              </a:rPr>
              <a:t>Fortalecer la identidad profesional del anestesiólogo como especialista médico, heredero de una tradición científica propia.</a:t>
            </a:r>
            <a:endParaRPr lang="en-US" sz="1400" dirty="0"/>
          </a:p>
        </p:txBody>
      </p:sp>
      <p:sp>
        <p:nvSpPr>
          <p:cNvPr id="9" name="Text 6"/>
          <p:cNvSpPr/>
          <p:nvPr/>
        </p:nvSpPr>
        <p:spPr>
          <a:xfrm>
            <a:off x="548640" y="6473952"/>
            <a:ext cx="6400800" cy="274320"/>
          </a:xfrm>
          <a:prstGeom prst="rect">
            <a:avLst/>
          </a:prstGeom>
          <a:noFill/>
          <a:ln/>
        </p:spPr>
        <p:txBody>
          <a:bodyPr wrap="square" lIns="0" tIns="0" rIns="0" bIns="0" rtlCol="0" anchor="ctr"/>
          <a:lstStyle/>
          <a:p>
            <a:pPr indent="0" marL="0">
              <a:buNone/>
            </a:pPr>
            <a:r>
              <a:rPr lang="en-US" sz="850" spc="100" kern="0" dirty="0">
                <a:solidFill>
                  <a:srgbClr val="7A6A57"/>
                </a:solidFill>
                <a:latin typeface="Calibri" pitchFamily="34" charset="0"/>
                <a:ea typeface="Calibri" pitchFamily="34" charset="-122"/>
                <a:cs typeface="Calibri" pitchFamily="34" charset="-120"/>
              </a:rPr>
              <a:t>CAPÍTULO II  ·  HISTORIA DE LA ANESTESIA</a:t>
            </a:r>
            <a:endParaRPr lang="en-US" sz="850" dirty="0"/>
          </a:p>
        </p:txBody>
      </p:sp>
      <p:sp>
        <p:nvSpPr>
          <p:cNvPr id="10" name="Text 7"/>
          <p:cNvSpPr/>
          <p:nvPr/>
        </p:nvSpPr>
        <p:spPr>
          <a:xfrm>
            <a:off x="10728655" y="6473952"/>
            <a:ext cx="914400" cy="274320"/>
          </a:xfrm>
          <a:prstGeom prst="rect">
            <a:avLst/>
          </a:prstGeom>
          <a:noFill/>
          <a:ln/>
        </p:spPr>
        <p:txBody>
          <a:bodyPr wrap="square" lIns="0" tIns="0" rIns="0" bIns="0" rtlCol="0" anchor="ctr"/>
          <a:lstStyle/>
          <a:p>
            <a:pPr algn="r" indent="0" marL="0">
              <a:buNone/>
            </a:pPr>
            <a:r>
              <a:rPr lang="en-US" sz="850" dirty="0">
                <a:solidFill>
                  <a:srgbClr val="7A6A57"/>
                </a:solidFill>
                <a:latin typeface="Calibri" pitchFamily="34" charset="0"/>
                <a:ea typeface="Calibri" pitchFamily="34" charset="-122"/>
                <a:cs typeface="Calibri" pitchFamily="34" charset="-120"/>
              </a:rPr>
              <a:t>03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lIns="0" tIns="0" rIns="0" bIns="0" rtlCol="0" anchor="ctr"/>
          <a:lstStyle/>
          <a:p>
            <a:pPr indent="0" marL="0">
              <a:buNone/>
            </a:pPr>
            <a:r>
              <a:rPr lang="en-US" sz="1200" b="1" spc="200" kern="0" dirty="0">
                <a:solidFill>
                  <a:srgbClr val="8B5E3C"/>
                </a:solidFill>
                <a:latin typeface="Calibri" pitchFamily="34" charset="0"/>
                <a:ea typeface="Calibri" pitchFamily="34" charset="-122"/>
                <a:cs typeface="Calibri" pitchFamily="34" charset="-120"/>
              </a:rPr>
              <a:t>ANTECEDENTES</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t"/>
          <a:lstStyle/>
          <a:p>
            <a:pPr indent="0" marL="0">
              <a:buNone/>
            </a:pPr>
            <a:r>
              <a:rPr lang="en-US" sz="2900" b="1" dirty="0">
                <a:solidFill>
                  <a:srgbClr val="5C3A21"/>
                </a:solidFill>
                <a:latin typeface="Cambria" pitchFamily="34" charset="0"/>
                <a:ea typeface="Cambria" pitchFamily="34" charset="-122"/>
                <a:cs typeface="Cambria" pitchFamily="34" charset="-120"/>
              </a:rPr>
              <a:t>La anestesia en la antigüedad</a:t>
            </a:r>
            <a:endParaRPr lang="en-US" sz="2900" dirty="0"/>
          </a:p>
        </p:txBody>
      </p:sp>
      <p:sp>
        <p:nvSpPr>
          <p:cNvPr id="4" name="Shape 2"/>
          <p:cNvSpPr/>
          <p:nvPr/>
        </p:nvSpPr>
        <p:spPr>
          <a:xfrm>
            <a:off x="548640" y="1783080"/>
            <a:ext cx="2084832" cy="4343400"/>
          </a:xfrm>
          <a:prstGeom prst="roundRect">
            <a:avLst>
              <a:gd name="adj" fmla="val 3509"/>
            </a:avLst>
          </a:prstGeom>
          <a:solidFill>
            <a:srgbClr val="C9A66B">
              <a:alpha val="10000"/>
            </a:srgbClr>
          </a:solidFill>
          <a:ln/>
        </p:spPr>
      </p:sp>
      <p:sp>
        <p:nvSpPr>
          <p:cNvPr id="5" name="Shape 3"/>
          <p:cNvSpPr/>
          <p:nvPr/>
        </p:nvSpPr>
        <p:spPr>
          <a:xfrm>
            <a:off x="2798064" y="1783080"/>
            <a:ext cx="2084832" cy="4343400"/>
          </a:xfrm>
          <a:prstGeom prst="roundRect">
            <a:avLst>
              <a:gd name="adj" fmla="val 3509"/>
            </a:avLst>
          </a:prstGeom>
          <a:solidFill>
            <a:srgbClr val="C9A66B">
              <a:alpha val="10000"/>
            </a:srgbClr>
          </a:solidFill>
          <a:ln/>
        </p:spPr>
      </p:sp>
      <p:sp>
        <p:nvSpPr>
          <p:cNvPr id="6" name="Shape 4"/>
          <p:cNvSpPr/>
          <p:nvPr/>
        </p:nvSpPr>
        <p:spPr>
          <a:xfrm>
            <a:off x="5047488" y="1783080"/>
            <a:ext cx="2084832" cy="4343400"/>
          </a:xfrm>
          <a:prstGeom prst="roundRect">
            <a:avLst>
              <a:gd name="adj" fmla="val 3509"/>
            </a:avLst>
          </a:prstGeom>
          <a:solidFill>
            <a:srgbClr val="C9A66B">
              <a:alpha val="10000"/>
            </a:srgbClr>
          </a:solidFill>
          <a:ln/>
        </p:spPr>
      </p:sp>
      <p:sp>
        <p:nvSpPr>
          <p:cNvPr id="7" name="Shape 5"/>
          <p:cNvSpPr/>
          <p:nvPr/>
        </p:nvSpPr>
        <p:spPr>
          <a:xfrm>
            <a:off x="7296912" y="1783080"/>
            <a:ext cx="2084832" cy="4343400"/>
          </a:xfrm>
          <a:prstGeom prst="roundRect">
            <a:avLst>
              <a:gd name="adj" fmla="val 3509"/>
            </a:avLst>
          </a:prstGeom>
          <a:solidFill>
            <a:srgbClr val="C9A66B">
              <a:alpha val="10000"/>
            </a:srgbClr>
          </a:solidFill>
          <a:ln/>
        </p:spPr>
      </p:sp>
      <p:sp>
        <p:nvSpPr>
          <p:cNvPr id="8" name="Shape 6"/>
          <p:cNvSpPr/>
          <p:nvPr/>
        </p:nvSpPr>
        <p:spPr>
          <a:xfrm>
            <a:off x="9546336" y="1783080"/>
            <a:ext cx="2084832" cy="4343400"/>
          </a:xfrm>
          <a:prstGeom prst="roundRect">
            <a:avLst>
              <a:gd name="adj" fmla="val 3509"/>
            </a:avLst>
          </a:prstGeom>
          <a:solidFill>
            <a:srgbClr val="C9A66B">
              <a:alpha val="10000"/>
            </a:srgbClr>
          </a:solidFill>
          <a:ln/>
        </p:spPr>
      </p:sp>
      <p:sp>
        <p:nvSpPr>
          <p:cNvPr id="9" name="Shape 7"/>
          <p:cNvSpPr/>
          <p:nvPr/>
        </p:nvSpPr>
        <p:spPr>
          <a:xfrm>
            <a:off x="1202436" y="2057400"/>
            <a:ext cx="777240" cy="777240"/>
          </a:xfrm>
          <a:prstGeom prst="ellipse">
            <a:avLst/>
          </a:prstGeom>
          <a:solidFill>
            <a:srgbClr val="5C3A21"/>
          </a:solidFill>
          <a:ln/>
          <a:effectLst>
            <a:outerShdw sx="100000" sy="100000" kx="0" ky="0" algn="bl" rotWithShape="0" blurRad="101600" dist="38100" dir="5400000">
              <a:srgbClr val="2B2118">
                <a:alpha val="28000"/>
              </a:srgbClr>
            </a:outerShdw>
          </a:effectLst>
        </p:spPr>
      </p:sp>
      <p:pic>
        <p:nvPicPr>
          <p:cNvPr id="10" name="Image 0" descr="preencoded.png">    </p:cNvPr>
          <p:cNvPicPr>
            <a:picLocks noChangeAspect="1"/>
          </p:cNvPicPr>
          <p:nvPr/>
        </p:nvPicPr>
        <p:blipFill>
          <a:blip r:embed="rId1"/>
          <a:stretch>
            <a:fillRect/>
          </a:stretch>
        </p:blipFill>
        <p:spPr>
          <a:xfrm>
            <a:off x="1377315" y="2232279"/>
            <a:ext cx="427482" cy="427482"/>
          </a:xfrm>
          <a:prstGeom prst="rect">
            <a:avLst/>
          </a:prstGeom>
        </p:spPr>
      </p:pic>
      <p:sp>
        <p:nvSpPr>
          <p:cNvPr id="11" name="Text 8"/>
          <p:cNvSpPr/>
          <p:nvPr/>
        </p:nvSpPr>
        <p:spPr>
          <a:xfrm>
            <a:off x="640080" y="3017520"/>
            <a:ext cx="1901952" cy="365760"/>
          </a:xfrm>
          <a:prstGeom prst="rect">
            <a:avLst/>
          </a:prstGeom>
          <a:noFill/>
          <a:ln/>
        </p:spPr>
        <p:txBody>
          <a:bodyPr wrap="square" lIns="0" tIns="0" rIns="0" bIns="0" rtlCol="0" anchor="ctr"/>
          <a:lstStyle/>
          <a:p>
            <a:pPr algn="ctr" indent="0" marL="0">
              <a:buNone/>
            </a:pPr>
            <a:r>
              <a:rPr lang="en-US" sz="1400" b="1" dirty="0">
                <a:solidFill>
                  <a:srgbClr val="5C3A21"/>
                </a:solidFill>
                <a:latin typeface="Cambria" pitchFamily="34" charset="0"/>
                <a:ea typeface="Cambria" pitchFamily="34" charset="-122"/>
                <a:cs typeface="Cambria" pitchFamily="34" charset="-120"/>
              </a:rPr>
              <a:t>Opio</a:t>
            </a:r>
            <a:endParaRPr lang="en-US" sz="1400" dirty="0"/>
          </a:p>
        </p:txBody>
      </p:sp>
      <p:sp>
        <p:nvSpPr>
          <p:cNvPr id="12" name="Text 9"/>
          <p:cNvSpPr/>
          <p:nvPr/>
        </p:nvSpPr>
        <p:spPr>
          <a:xfrm>
            <a:off x="713232" y="3429000"/>
            <a:ext cx="1755648" cy="2606040"/>
          </a:xfrm>
          <a:prstGeom prst="rect">
            <a:avLst/>
          </a:prstGeom>
          <a:noFill/>
          <a:ln/>
        </p:spPr>
        <p:txBody>
          <a:bodyPr wrap="square" lIns="0" tIns="0" rIns="0" bIns="0" rtlCol="0" anchor="t"/>
          <a:lstStyle/>
          <a:p>
            <a:pPr algn="l" indent="0" marL="0">
              <a:lnSpc>
                <a:spcPct val="118000"/>
              </a:lnSpc>
              <a:buNone/>
            </a:pPr>
            <a:r>
              <a:rPr lang="en-US" sz="1050" dirty="0">
                <a:solidFill>
                  <a:srgbClr val="3A2E22"/>
                </a:solidFill>
                <a:latin typeface="Calibri" pitchFamily="34" charset="0"/>
                <a:ea typeface="Calibri" pitchFamily="34" charset="-122"/>
                <a:cs typeface="Calibri" pitchFamily="34" charset="-120"/>
              </a:rPr>
              <a:t>Papaver somniferum, usado desde Sumeria y el Antiguo Egipto. Potente analgésico narcótico; su margen terapéutico estrecho y el riesgo de depresión respiratoria y dependencia limitaban su uso quirúrgico.</a:t>
            </a:r>
            <a:endParaRPr lang="en-US" sz="1050" dirty="0"/>
          </a:p>
        </p:txBody>
      </p:sp>
      <p:sp>
        <p:nvSpPr>
          <p:cNvPr id="13" name="Shape 10"/>
          <p:cNvSpPr/>
          <p:nvPr/>
        </p:nvSpPr>
        <p:spPr>
          <a:xfrm>
            <a:off x="3451860" y="2057400"/>
            <a:ext cx="777240" cy="777240"/>
          </a:xfrm>
          <a:prstGeom prst="ellipse">
            <a:avLst/>
          </a:prstGeom>
          <a:solidFill>
            <a:srgbClr val="5C3A21"/>
          </a:solidFill>
          <a:ln/>
          <a:effectLst>
            <a:outerShdw sx="100000" sy="100000" kx="0" ky="0" algn="bl" rotWithShape="0" blurRad="101600" dist="38100" dir="5400000">
              <a:srgbClr val="2B2118">
                <a:alpha val="28000"/>
              </a:srgbClr>
            </a:outerShdw>
          </a:effectLst>
        </p:spPr>
      </p:sp>
      <p:pic>
        <p:nvPicPr>
          <p:cNvPr id="14" name="Image 1" descr="preencoded.png">    </p:cNvPr>
          <p:cNvPicPr>
            <a:picLocks noChangeAspect="1"/>
          </p:cNvPicPr>
          <p:nvPr/>
        </p:nvPicPr>
        <p:blipFill>
          <a:blip r:embed="rId2"/>
          <a:stretch>
            <a:fillRect/>
          </a:stretch>
        </p:blipFill>
        <p:spPr>
          <a:xfrm>
            <a:off x="3626739" y="2232279"/>
            <a:ext cx="427482" cy="427482"/>
          </a:xfrm>
          <a:prstGeom prst="rect">
            <a:avLst/>
          </a:prstGeom>
        </p:spPr>
      </p:pic>
      <p:sp>
        <p:nvSpPr>
          <p:cNvPr id="15" name="Text 11"/>
          <p:cNvSpPr/>
          <p:nvPr/>
        </p:nvSpPr>
        <p:spPr>
          <a:xfrm>
            <a:off x="2889504" y="3017520"/>
            <a:ext cx="1901952" cy="365760"/>
          </a:xfrm>
          <a:prstGeom prst="rect">
            <a:avLst/>
          </a:prstGeom>
          <a:noFill/>
          <a:ln/>
        </p:spPr>
        <p:txBody>
          <a:bodyPr wrap="square" lIns="0" tIns="0" rIns="0" bIns="0" rtlCol="0" anchor="ctr"/>
          <a:lstStyle/>
          <a:p>
            <a:pPr algn="ctr" indent="0" marL="0">
              <a:buNone/>
            </a:pPr>
            <a:r>
              <a:rPr lang="en-US" sz="1400" b="1" dirty="0">
                <a:solidFill>
                  <a:srgbClr val="5C3A21"/>
                </a:solidFill>
                <a:latin typeface="Cambria" pitchFamily="34" charset="0"/>
                <a:ea typeface="Cambria" pitchFamily="34" charset="-122"/>
                <a:cs typeface="Cambria" pitchFamily="34" charset="-120"/>
              </a:rPr>
              <a:t>Mandrágora</a:t>
            </a:r>
            <a:endParaRPr lang="en-US" sz="1400" dirty="0"/>
          </a:p>
        </p:txBody>
      </p:sp>
      <p:sp>
        <p:nvSpPr>
          <p:cNvPr id="16" name="Text 12"/>
          <p:cNvSpPr/>
          <p:nvPr/>
        </p:nvSpPr>
        <p:spPr>
          <a:xfrm>
            <a:off x="2962656" y="3429000"/>
            <a:ext cx="1755648" cy="2606040"/>
          </a:xfrm>
          <a:prstGeom prst="rect">
            <a:avLst/>
          </a:prstGeom>
          <a:noFill/>
          <a:ln/>
        </p:spPr>
        <p:txBody>
          <a:bodyPr wrap="square" lIns="0" tIns="0" rIns="0" bIns="0" rtlCol="0" anchor="t"/>
          <a:lstStyle/>
          <a:p>
            <a:pPr algn="l" indent="0" marL="0">
              <a:lnSpc>
                <a:spcPct val="118000"/>
              </a:lnSpc>
              <a:buNone/>
            </a:pPr>
            <a:r>
              <a:rPr lang="en-US" sz="1050" dirty="0">
                <a:solidFill>
                  <a:srgbClr val="3A2E22"/>
                </a:solidFill>
                <a:latin typeface="Calibri" pitchFamily="34" charset="0"/>
                <a:ea typeface="Calibri" pitchFamily="34" charset="-122"/>
                <a:cs typeface="Calibri" pitchFamily="34" charset="-120"/>
              </a:rPr>
              <a:t>Mandragora officinarum, alcaloides con efecto sedante-hipnótico. Base de la 'esponja soporífera' medieval, empapada también en opio y beleño, aplicada sobre nariz y boca del paciente.</a:t>
            </a:r>
            <a:endParaRPr lang="en-US" sz="1050" dirty="0"/>
          </a:p>
        </p:txBody>
      </p:sp>
      <p:sp>
        <p:nvSpPr>
          <p:cNvPr id="17" name="Shape 13"/>
          <p:cNvSpPr/>
          <p:nvPr/>
        </p:nvSpPr>
        <p:spPr>
          <a:xfrm>
            <a:off x="5701284" y="2057400"/>
            <a:ext cx="777240" cy="777240"/>
          </a:xfrm>
          <a:prstGeom prst="ellipse">
            <a:avLst/>
          </a:prstGeom>
          <a:solidFill>
            <a:srgbClr val="5C3A21"/>
          </a:solidFill>
          <a:ln/>
          <a:effectLst>
            <a:outerShdw sx="100000" sy="100000" kx="0" ky="0" algn="bl" rotWithShape="0" blurRad="101600" dist="38100" dir="5400000">
              <a:srgbClr val="2B2118">
                <a:alpha val="28000"/>
              </a:srgbClr>
            </a:outerShdw>
          </a:effectLst>
        </p:spPr>
      </p:sp>
      <p:pic>
        <p:nvPicPr>
          <p:cNvPr id="18" name="Image 2" descr="preencoded.png">    </p:cNvPr>
          <p:cNvPicPr>
            <a:picLocks noChangeAspect="1"/>
          </p:cNvPicPr>
          <p:nvPr/>
        </p:nvPicPr>
        <p:blipFill>
          <a:blip r:embed="rId3"/>
          <a:stretch>
            <a:fillRect/>
          </a:stretch>
        </p:blipFill>
        <p:spPr>
          <a:xfrm>
            <a:off x="5876163" y="2232279"/>
            <a:ext cx="427482" cy="427482"/>
          </a:xfrm>
          <a:prstGeom prst="rect">
            <a:avLst/>
          </a:prstGeom>
        </p:spPr>
      </p:pic>
      <p:sp>
        <p:nvSpPr>
          <p:cNvPr id="19" name="Text 14"/>
          <p:cNvSpPr/>
          <p:nvPr/>
        </p:nvSpPr>
        <p:spPr>
          <a:xfrm>
            <a:off x="5138928" y="3017520"/>
            <a:ext cx="1901952" cy="365760"/>
          </a:xfrm>
          <a:prstGeom prst="rect">
            <a:avLst/>
          </a:prstGeom>
          <a:noFill/>
          <a:ln/>
        </p:spPr>
        <p:txBody>
          <a:bodyPr wrap="square" lIns="0" tIns="0" rIns="0" bIns="0" rtlCol="0" anchor="ctr"/>
          <a:lstStyle/>
          <a:p>
            <a:pPr algn="ctr" indent="0" marL="0">
              <a:buNone/>
            </a:pPr>
            <a:r>
              <a:rPr lang="en-US" sz="1400" b="1" dirty="0">
                <a:solidFill>
                  <a:srgbClr val="5C3A21"/>
                </a:solidFill>
                <a:latin typeface="Cambria" pitchFamily="34" charset="0"/>
                <a:ea typeface="Cambria" pitchFamily="34" charset="-122"/>
                <a:cs typeface="Cambria" pitchFamily="34" charset="-120"/>
              </a:rPr>
              <a:t>Alcohol</a:t>
            </a:r>
            <a:endParaRPr lang="en-US" sz="1400" dirty="0"/>
          </a:p>
        </p:txBody>
      </p:sp>
      <p:sp>
        <p:nvSpPr>
          <p:cNvPr id="20" name="Text 15"/>
          <p:cNvSpPr/>
          <p:nvPr/>
        </p:nvSpPr>
        <p:spPr>
          <a:xfrm>
            <a:off x="5212080" y="3429000"/>
            <a:ext cx="1755648" cy="2606040"/>
          </a:xfrm>
          <a:prstGeom prst="rect">
            <a:avLst/>
          </a:prstGeom>
          <a:noFill/>
          <a:ln/>
        </p:spPr>
        <p:txBody>
          <a:bodyPr wrap="square" lIns="0" tIns="0" rIns="0" bIns="0" rtlCol="0" anchor="t"/>
          <a:lstStyle/>
          <a:p>
            <a:pPr algn="l" indent="0" marL="0">
              <a:lnSpc>
                <a:spcPct val="118000"/>
              </a:lnSpc>
              <a:buNone/>
            </a:pPr>
            <a:r>
              <a:rPr lang="en-US" sz="1050" dirty="0">
                <a:solidFill>
                  <a:srgbClr val="3A2E22"/>
                </a:solidFill>
                <a:latin typeface="Calibri" pitchFamily="34" charset="0"/>
                <a:ea typeface="Calibri" pitchFamily="34" charset="-122"/>
                <a:cs typeface="Calibri" pitchFamily="34" charset="-120"/>
              </a:rPr>
              <a:t>Depresor del sistema nervioso central de amplio uso histórico. Rango terapéutico estrecho: la dosis sedante se acercaba peligrosamente a la dosis tóxica, con recuperación errática.</a:t>
            </a:r>
            <a:endParaRPr lang="en-US" sz="1050" dirty="0"/>
          </a:p>
        </p:txBody>
      </p:sp>
      <p:sp>
        <p:nvSpPr>
          <p:cNvPr id="21" name="Shape 16"/>
          <p:cNvSpPr/>
          <p:nvPr/>
        </p:nvSpPr>
        <p:spPr>
          <a:xfrm>
            <a:off x="7950708" y="2057400"/>
            <a:ext cx="777240" cy="777240"/>
          </a:xfrm>
          <a:prstGeom prst="ellipse">
            <a:avLst/>
          </a:prstGeom>
          <a:solidFill>
            <a:srgbClr val="5C3A21"/>
          </a:solidFill>
          <a:ln/>
          <a:effectLst>
            <a:outerShdw sx="100000" sy="100000" kx="0" ky="0" algn="bl" rotWithShape="0" blurRad="101600" dist="38100" dir="5400000">
              <a:srgbClr val="2B2118">
                <a:alpha val="28000"/>
              </a:srgbClr>
            </a:outerShdw>
          </a:effectLst>
        </p:spPr>
      </p:sp>
      <p:pic>
        <p:nvPicPr>
          <p:cNvPr id="22" name="Image 3" descr="preencoded.png">    </p:cNvPr>
          <p:cNvPicPr>
            <a:picLocks noChangeAspect="1"/>
          </p:cNvPicPr>
          <p:nvPr/>
        </p:nvPicPr>
        <p:blipFill>
          <a:blip r:embed="rId4"/>
          <a:stretch>
            <a:fillRect/>
          </a:stretch>
        </p:blipFill>
        <p:spPr>
          <a:xfrm>
            <a:off x="8125587" y="2232279"/>
            <a:ext cx="427482" cy="427482"/>
          </a:xfrm>
          <a:prstGeom prst="rect">
            <a:avLst/>
          </a:prstGeom>
        </p:spPr>
      </p:pic>
      <p:sp>
        <p:nvSpPr>
          <p:cNvPr id="23" name="Text 17"/>
          <p:cNvSpPr/>
          <p:nvPr/>
        </p:nvSpPr>
        <p:spPr>
          <a:xfrm>
            <a:off x="7388352" y="3017520"/>
            <a:ext cx="1901952" cy="365760"/>
          </a:xfrm>
          <a:prstGeom prst="rect">
            <a:avLst/>
          </a:prstGeom>
          <a:noFill/>
          <a:ln/>
        </p:spPr>
        <p:txBody>
          <a:bodyPr wrap="square" lIns="0" tIns="0" rIns="0" bIns="0" rtlCol="0" anchor="ctr"/>
          <a:lstStyle/>
          <a:p>
            <a:pPr algn="ctr" indent="0" marL="0">
              <a:buNone/>
            </a:pPr>
            <a:r>
              <a:rPr lang="en-US" sz="1400" b="1" dirty="0">
                <a:solidFill>
                  <a:srgbClr val="5C3A21"/>
                </a:solidFill>
                <a:latin typeface="Cambria" pitchFamily="34" charset="0"/>
                <a:ea typeface="Cambria" pitchFamily="34" charset="-122"/>
                <a:cs typeface="Cambria" pitchFamily="34" charset="-120"/>
              </a:rPr>
              <a:t>Hielo y frío</a:t>
            </a:r>
            <a:endParaRPr lang="en-US" sz="1400" dirty="0"/>
          </a:p>
        </p:txBody>
      </p:sp>
      <p:sp>
        <p:nvSpPr>
          <p:cNvPr id="24" name="Text 18"/>
          <p:cNvSpPr/>
          <p:nvPr/>
        </p:nvSpPr>
        <p:spPr>
          <a:xfrm>
            <a:off x="7461504" y="3429000"/>
            <a:ext cx="1755648" cy="2606040"/>
          </a:xfrm>
          <a:prstGeom prst="rect">
            <a:avLst/>
          </a:prstGeom>
          <a:noFill/>
          <a:ln/>
        </p:spPr>
        <p:txBody>
          <a:bodyPr wrap="square" lIns="0" tIns="0" rIns="0" bIns="0" rtlCol="0" anchor="t"/>
          <a:lstStyle/>
          <a:p>
            <a:pPr algn="l" indent="0" marL="0">
              <a:lnSpc>
                <a:spcPct val="118000"/>
              </a:lnSpc>
              <a:buNone/>
            </a:pPr>
            <a:r>
              <a:rPr lang="en-US" sz="1050" dirty="0">
                <a:solidFill>
                  <a:srgbClr val="3A2E22"/>
                </a:solidFill>
                <a:latin typeface="Calibri" pitchFamily="34" charset="0"/>
                <a:ea typeface="Calibri" pitchFamily="34" charset="-122"/>
                <a:cs typeface="Calibri" pitchFamily="34" charset="-120"/>
              </a:rPr>
              <a:t>Crioanalgesia superficial descrita por Ambroise Paré y Marco Aurelio Severino (siglo XVI-XVII); enfriamiento local previo a incisiones menores y amputaciones.</a:t>
            </a:r>
            <a:endParaRPr lang="en-US" sz="1050" dirty="0"/>
          </a:p>
        </p:txBody>
      </p:sp>
      <p:sp>
        <p:nvSpPr>
          <p:cNvPr id="25" name="Shape 19"/>
          <p:cNvSpPr/>
          <p:nvPr/>
        </p:nvSpPr>
        <p:spPr>
          <a:xfrm>
            <a:off x="10200132" y="2057400"/>
            <a:ext cx="777240" cy="777240"/>
          </a:xfrm>
          <a:prstGeom prst="ellipse">
            <a:avLst/>
          </a:prstGeom>
          <a:solidFill>
            <a:srgbClr val="5C3A21"/>
          </a:solidFill>
          <a:ln/>
          <a:effectLst>
            <a:outerShdw sx="100000" sy="100000" kx="0" ky="0" algn="bl" rotWithShape="0" blurRad="101600" dist="38100" dir="5400000">
              <a:srgbClr val="2B2118">
                <a:alpha val="28000"/>
              </a:srgbClr>
            </a:outerShdw>
          </a:effectLst>
        </p:spPr>
      </p:sp>
      <p:pic>
        <p:nvPicPr>
          <p:cNvPr id="26" name="Image 4" descr="preencoded.png">    </p:cNvPr>
          <p:cNvPicPr>
            <a:picLocks noChangeAspect="1"/>
          </p:cNvPicPr>
          <p:nvPr/>
        </p:nvPicPr>
        <p:blipFill>
          <a:blip r:embed="rId5"/>
          <a:stretch>
            <a:fillRect/>
          </a:stretch>
        </p:blipFill>
        <p:spPr>
          <a:xfrm>
            <a:off x="10375011" y="2232279"/>
            <a:ext cx="427482" cy="427482"/>
          </a:xfrm>
          <a:prstGeom prst="rect">
            <a:avLst/>
          </a:prstGeom>
        </p:spPr>
      </p:pic>
      <p:sp>
        <p:nvSpPr>
          <p:cNvPr id="27" name="Text 20"/>
          <p:cNvSpPr/>
          <p:nvPr/>
        </p:nvSpPr>
        <p:spPr>
          <a:xfrm>
            <a:off x="9637776" y="3017520"/>
            <a:ext cx="1901952" cy="365760"/>
          </a:xfrm>
          <a:prstGeom prst="rect">
            <a:avLst/>
          </a:prstGeom>
          <a:noFill/>
          <a:ln/>
        </p:spPr>
        <p:txBody>
          <a:bodyPr wrap="square" lIns="0" tIns="0" rIns="0" bIns="0" rtlCol="0" anchor="ctr"/>
          <a:lstStyle/>
          <a:p>
            <a:pPr algn="ctr" indent="0" marL="0">
              <a:buNone/>
            </a:pPr>
            <a:r>
              <a:rPr lang="en-US" sz="1400" b="1" dirty="0">
                <a:solidFill>
                  <a:srgbClr val="5C3A21"/>
                </a:solidFill>
                <a:latin typeface="Cambria" pitchFamily="34" charset="0"/>
                <a:ea typeface="Cambria" pitchFamily="34" charset="-122"/>
                <a:cs typeface="Cambria" pitchFamily="34" charset="-120"/>
              </a:rPr>
              <a:t>Compresión nerviosa</a:t>
            </a:r>
            <a:endParaRPr lang="en-US" sz="1400" dirty="0"/>
          </a:p>
        </p:txBody>
      </p:sp>
      <p:sp>
        <p:nvSpPr>
          <p:cNvPr id="28" name="Text 21"/>
          <p:cNvSpPr/>
          <p:nvPr/>
        </p:nvSpPr>
        <p:spPr>
          <a:xfrm>
            <a:off x="9710928" y="3429000"/>
            <a:ext cx="1755648" cy="2606040"/>
          </a:xfrm>
          <a:prstGeom prst="rect">
            <a:avLst/>
          </a:prstGeom>
          <a:noFill/>
          <a:ln/>
        </p:spPr>
        <p:txBody>
          <a:bodyPr wrap="square" lIns="0" tIns="0" rIns="0" bIns="0" rtlCol="0" anchor="t"/>
          <a:lstStyle/>
          <a:p>
            <a:pPr algn="l" indent="0" marL="0">
              <a:lnSpc>
                <a:spcPct val="118000"/>
              </a:lnSpc>
              <a:buNone/>
            </a:pPr>
            <a:r>
              <a:rPr lang="en-US" sz="1050" dirty="0">
                <a:solidFill>
                  <a:srgbClr val="3A2E22"/>
                </a:solidFill>
                <a:latin typeface="Calibri" pitchFamily="34" charset="0"/>
                <a:ea typeface="Calibri" pitchFamily="34" charset="-122"/>
                <a:cs typeface="Calibri" pitchFamily="34" charset="-120"/>
              </a:rPr>
              <a:t>Compresión de troncos nerviosos para inducir isquemia y anestesia local, técnica sistematizada por James Moore en 1784 mediante torniquetes mecánicos.</a:t>
            </a:r>
            <a:endParaRPr lang="en-US" sz="1050" dirty="0"/>
          </a:p>
        </p:txBody>
      </p:sp>
      <p:sp>
        <p:nvSpPr>
          <p:cNvPr id="29" name="Text 22"/>
          <p:cNvSpPr/>
          <p:nvPr/>
        </p:nvSpPr>
        <p:spPr>
          <a:xfrm>
            <a:off x="548640" y="6473952"/>
            <a:ext cx="6400800" cy="274320"/>
          </a:xfrm>
          <a:prstGeom prst="rect">
            <a:avLst/>
          </a:prstGeom>
          <a:noFill/>
          <a:ln/>
        </p:spPr>
        <p:txBody>
          <a:bodyPr wrap="square" lIns="0" tIns="0" rIns="0" bIns="0" rtlCol="0" anchor="ctr"/>
          <a:lstStyle/>
          <a:p>
            <a:pPr indent="0" marL="0">
              <a:buNone/>
            </a:pPr>
            <a:r>
              <a:rPr lang="en-US" sz="850" spc="100" kern="0" dirty="0">
                <a:solidFill>
                  <a:srgbClr val="7A6A57"/>
                </a:solidFill>
                <a:latin typeface="Calibri" pitchFamily="34" charset="0"/>
                <a:ea typeface="Calibri" pitchFamily="34" charset="-122"/>
                <a:cs typeface="Calibri" pitchFamily="34" charset="-120"/>
              </a:rPr>
              <a:t>CAPÍTULO II  ·  HISTORIA DE LA ANESTESIA</a:t>
            </a:r>
            <a:endParaRPr lang="en-US" sz="850" dirty="0"/>
          </a:p>
        </p:txBody>
      </p:sp>
      <p:sp>
        <p:nvSpPr>
          <p:cNvPr id="30" name="Text 23"/>
          <p:cNvSpPr/>
          <p:nvPr/>
        </p:nvSpPr>
        <p:spPr>
          <a:xfrm>
            <a:off x="10728655" y="6473952"/>
            <a:ext cx="914400" cy="274320"/>
          </a:xfrm>
          <a:prstGeom prst="rect">
            <a:avLst/>
          </a:prstGeom>
          <a:noFill/>
          <a:ln/>
        </p:spPr>
        <p:txBody>
          <a:bodyPr wrap="square" lIns="0" tIns="0" rIns="0" bIns="0" rtlCol="0" anchor="ctr"/>
          <a:lstStyle/>
          <a:p>
            <a:pPr algn="r" indent="0" marL="0">
              <a:buNone/>
            </a:pPr>
            <a:r>
              <a:rPr lang="en-US" sz="850" dirty="0">
                <a:solidFill>
                  <a:srgbClr val="7A6A57"/>
                </a:solidFill>
                <a:latin typeface="Calibri" pitchFamily="34" charset="0"/>
                <a:ea typeface="Calibri" pitchFamily="34" charset="-122"/>
                <a:cs typeface="Calibri" pitchFamily="34" charset="-120"/>
              </a:rPr>
              <a:t>04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lIns="0" tIns="0" rIns="0" bIns="0" rtlCol="0" anchor="ctr"/>
          <a:lstStyle/>
          <a:p>
            <a:pPr indent="0" marL="0">
              <a:buNone/>
            </a:pPr>
            <a:r>
              <a:rPr lang="en-US" sz="1200" b="1" spc="200" kern="0" dirty="0">
                <a:solidFill>
                  <a:srgbClr val="8B5E3C"/>
                </a:solidFill>
                <a:latin typeface="Calibri" pitchFamily="34" charset="0"/>
                <a:ea typeface="Calibri" pitchFamily="34" charset="-122"/>
                <a:cs typeface="Calibri" pitchFamily="34" charset="-120"/>
              </a:rPr>
              <a:t>CONTEXTO HISTÓRICO</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t"/>
          <a:lstStyle/>
          <a:p>
            <a:pPr indent="0" marL="0">
              <a:buNone/>
            </a:pPr>
            <a:r>
              <a:rPr lang="en-US" sz="2900" b="1" dirty="0">
                <a:solidFill>
                  <a:srgbClr val="5C3A21"/>
                </a:solidFill>
                <a:latin typeface="Cambria" pitchFamily="34" charset="0"/>
                <a:ea typeface="Cambria" pitchFamily="34" charset="-122"/>
                <a:cs typeface="Cambria" pitchFamily="34" charset="-120"/>
              </a:rPr>
              <a:t>El problema del dolor quirúrgico antes del siglo XIX</a:t>
            </a:r>
            <a:endParaRPr lang="en-US" sz="2900" dirty="0"/>
          </a:p>
        </p:txBody>
      </p:sp>
      <p:sp>
        <p:nvSpPr>
          <p:cNvPr id="4" name="Text 2"/>
          <p:cNvSpPr/>
          <p:nvPr/>
        </p:nvSpPr>
        <p:spPr>
          <a:xfrm>
            <a:off x="548640" y="1783080"/>
            <a:ext cx="11064240" cy="822960"/>
          </a:xfrm>
          <a:prstGeom prst="rect">
            <a:avLst/>
          </a:prstGeom>
          <a:noFill/>
          <a:ln/>
        </p:spPr>
        <p:txBody>
          <a:bodyPr wrap="square" lIns="0" tIns="0" rIns="0" bIns="0" rtlCol="0" anchor="ctr"/>
          <a:lstStyle/>
          <a:p>
            <a:pPr indent="0" marL="0">
              <a:lnSpc>
                <a:spcPct val="125000"/>
              </a:lnSpc>
              <a:buNone/>
            </a:pPr>
            <a:r>
              <a:rPr lang="en-US" sz="1400" dirty="0">
                <a:solidFill>
                  <a:srgbClr val="3A2E22"/>
                </a:solidFill>
                <a:latin typeface="Calibri" pitchFamily="34" charset="0"/>
                <a:ea typeface="Calibri" pitchFamily="34" charset="-122"/>
                <a:cs typeface="Calibri" pitchFamily="34" charset="-120"/>
              </a:rPr>
              <a:t>Sin un método fiable de analgesia, la cirugía era un último recurso reservado a situaciones de vida o muerte. El éxito quirúrgico dependía tanto de la destreza técnica como de la tolerancia del paciente al dolor y al shock hemodinámico que este provocaba.</a:t>
            </a:r>
            <a:endParaRPr lang="en-US" sz="1400" dirty="0"/>
          </a:p>
        </p:txBody>
      </p:sp>
      <p:sp>
        <p:nvSpPr>
          <p:cNvPr id="5" name="Shape 3"/>
          <p:cNvSpPr/>
          <p:nvPr/>
        </p:nvSpPr>
        <p:spPr>
          <a:xfrm>
            <a:off x="548640" y="2834640"/>
            <a:ext cx="3566160" cy="1965960"/>
          </a:xfrm>
          <a:prstGeom prst="roundRect">
            <a:avLst>
              <a:gd name="adj" fmla="val 3721"/>
            </a:avLst>
          </a:prstGeom>
          <a:solidFill>
            <a:srgbClr val="8B5E3C">
              <a:alpha val="12000"/>
            </a:srgbClr>
          </a:solidFill>
          <a:ln/>
        </p:spPr>
      </p:sp>
      <p:sp>
        <p:nvSpPr>
          <p:cNvPr id="6" name="Text 4"/>
          <p:cNvSpPr/>
          <p:nvPr/>
        </p:nvSpPr>
        <p:spPr>
          <a:xfrm>
            <a:off x="777240" y="3017520"/>
            <a:ext cx="3108960" cy="777240"/>
          </a:xfrm>
          <a:prstGeom prst="rect">
            <a:avLst/>
          </a:prstGeom>
          <a:noFill/>
          <a:ln/>
        </p:spPr>
        <p:txBody>
          <a:bodyPr wrap="square" lIns="0" tIns="0" rIns="0" bIns="0" rtlCol="0" anchor="ctr"/>
          <a:lstStyle/>
          <a:p>
            <a:pPr indent="0" marL="0">
              <a:buNone/>
            </a:pPr>
            <a:r>
              <a:rPr lang="en-US" sz="3400" b="1" dirty="0">
                <a:solidFill>
                  <a:srgbClr val="5C3A21"/>
                </a:solidFill>
                <a:latin typeface="Cambria" pitchFamily="34" charset="0"/>
                <a:ea typeface="Cambria" pitchFamily="34" charset="-122"/>
                <a:cs typeface="Cambria" pitchFamily="34" charset="-120"/>
              </a:rPr>
              <a:t>&lt; 2 min</a:t>
            </a:r>
            <a:endParaRPr lang="en-US" sz="3400" dirty="0"/>
          </a:p>
        </p:txBody>
      </p:sp>
      <p:sp>
        <p:nvSpPr>
          <p:cNvPr id="7" name="Text 5"/>
          <p:cNvSpPr/>
          <p:nvPr/>
        </p:nvSpPr>
        <p:spPr>
          <a:xfrm>
            <a:off x="777240" y="3794760"/>
            <a:ext cx="3108960" cy="914400"/>
          </a:xfrm>
          <a:prstGeom prst="rect">
            <a:avLst/>
          </a:prstGeom>
          <a:noFill/>
          <a:ln/>
        </p:spPr>
        <p:txBody>
          <a:bodyPr wrap="square" lIns="0" tIns="0" rIns="0" bIns="0" rtlCol="0" anchor="ctr"/>
          <a:lstStyle/>
          <a:p>
            <a:pPr indent="0" marL="0">
              <a:lnSpc>
                <a:spcPct val="120000"/>
              </a:lnSpc>
              <a:buNone/>
            </a:pPr>
            <a:r>
              <a:rPr lang="en-US" sz="1150" dirty="0">
                <a:solidFill>
                  <a:srgbClr val="3A2E22"/>
                </a:solidFill>
                <a:latin typeface="Calibri" pitchFamily="34" charset="0"/>
                <a:ea typeface="Calibri" pitchFamily="34" charset="-122"/>
                <a:cs typeface="Calibri" pitchFamily="34" charset="-120"/>
              </a:rPr>
              <a:t>Tiempo objetivo de una amputación de muslo para minimizar el sufrimiento; Robert Liston llegó a operar en menos de 30 segundos.</a:t>
            </a:r>
            <a:endParaRPr lang="en-US" sz="1150" dirty="0"/>
          </a:p>
        </p:txBody>
      </p:sp>
      <p:sp>
        <p:nvSpPr>
          <p:cNvPr id="8" name="Shape 6"/>
          <p:cNvSpPr/>
          <p:nvPr/>
        </p:nvSpPr>
        <p:spPr>
          <a:xfrm>
            <a:off x="4315968" y="2834640"/>
            <a:ext cx="3566160" cy="1965960"/>
          </a:xfrm>
          <a:prstGeom prst="roundRect">
            <a:avLst>
              <a:gd name="adj" fmla="val 3721"/>
            </a:avLst>
          </a:prstGeom>
          <a:solidFill>
            <a:srgbClr val="8B5E3C">
              <a:alpha val="12000"/>
            </a:srgbClr>
          </a:solidFill>
          <a:ln/>
        </p:spPr>
      </p:sp>
      <p:sp>
        <p:nvSpPr>
          <p:cNvPr id="9" name="Text 7"/>
          <p:cNvSpPr/>
          <p:nvPr/>
        </p:nvSpPr>
        <p:spPr>
          <a:xfrm>
            <a:off x="4544568" y="3017520"/>
            <a:ext cx="3108960" cy="777240"/>
          </a:xfrm>
          <a:prstGeom prst="rect">
            <a:avLst/>
          </a:prstGeom>
          <a:noFill/>
          <a:ln/>
        </p:spPr>
        <p:txBody>
          <a:bodyPr wrap="square" lIns="0" tIns="0" rIns="0" bIns="0" rtlCol="0" anchor="ctr"/>
          <a:lstStyle/>
          <a:p>
            <a:pPr indent="0" marL="0">
              <a:buNone/>
            </a:pPr>
            <a:r>
              <a:rPr lang="en-US" sz="3400" b="1" dirty="0">
                <a:solidFill>
                  <a:srgbClr val="5C3A21"/>
                </a:solidFill>
                <a:latin typeface="Cambria" pitchFamily="34" charset="0"/>
                <a:ea typeface="Cambria" pitchFamily="34" charset="-122"/>
                <a:cs typeface="Cambria" pitchFamily="34" charset="-120"/>
              </a:rPr>
              <a:t>4-6</a:t>
            </a:r>
            <a:endParaRPr lang="en-US" sz="3400" dirty="0"/>
          </a:p>
        </p:txBody>
      </p:sp>
      <p:sp>
        <p:nvSpPr>
          <p:cNvPr id="10" name="Text 8"/>
          <p:cNvSpPr/>
          <p:nvPr/>
        </p:nvSpPr>
        <p:spPr>
          <a:xfrm>
            <a:off x="4544568" y="3794760"/>
            <a:ext cx="3108960" cy="914400"/>
          </a:xfrm>
          <a:prstGeom prst="rect">
            <a:avLst/>
          </a:prstGeom>
          <a:noFill/>
          <a:ln/>
        </p:spPr>
        <p:txBody>
          <a:bodyPr wrap="square" lIns="0" tIns="0" rIns="0" bIns="0" rtlCol="0" anchor="ctr"/>
          <a:lstStyle/>
          <a:p>
            <a:pPr indent="0" marL="0">
              <a:lnSpc>
                <a:spcPct val="120000"/>
              </a:lnSpc>
              <a:buNone/>
            </a:pPr>
            <a:r>
              <a:rPr lang="en-US" sz="1150" dirty="0">
                <a:solidFill>
                  <a:srgbClr val="3A2E22"/>
                </a:solidFill>
                <a:latin typeface="Calibri" pitchFamily="34" charset="0"/>
                <a:ea typeface="Calibri" pitchFamily="34" charset="-122"/>
                <a:cs typeface="Calibri" pitchFamily="34" charset="-120"/>
              </a:rPr>
              <a:t>Ayudantes requeridos para sujetar físicamente al paciente consciente durante la intervención.</a:t>
            </a:r>
            <a:endParaRPr lang="en-US" sz="1150" dirty="0"/>
          </a:p>
        </p:txBody>
      </p:sp>
      <p:sp>
        <p:nvSpPr>
          <p:cNvPr id="11" name="Shape 9"/>
          <p:cNvSpPr/>
          <p:nvPr/>
        </p:nvSpPr>
        <p:spPr>
          <a:xfrm>
            <a:off x="8083296" y="2834640"/>
            <a:ext cx="3566160" cy="1965960"/>
          </a:xfrm>
          <a:prstGeom prst="roundRect">
            <a:avLst>
              <a:gd name="adj" fmla="val 3721"/>
            </a:avLst>
          </a:prstGeom>
          <a:solidFill>
            <a:srgbClr val="8B5E3C">
              <a:alpha val="12000"/>
            </a:srgbClr>
          </a:solidFill>
          <a:ln/>
        </p:spPr>
      </p:sp>
      <p:sp>
        <p:nvSpPr>
          <p:cNvPr id="12" name="Text 10"/>
          <p:cNvSpPr/>
          <p:nvPr/>
        </p:nvSpPr>
        <p:spPr>
          <a:xfrm>
            <a:off x="8311896" y="3017520"/>
            <a:ext cx="3108960" cy="777240"/>
          </a:xfrm>
          <a:prstGeom prst="rect">
            <a:avLst/>
          </a:prstGeom>
          <a:noFill/>
          <a:ln/>
        </p:spPr>
        <p:txBody>
          <a:bodyPr wrap="square" lIns="0" tIns="0" rIns="0" bIns="0" rtlCol="0" anchor="ctr"/>
          <a:lstStyle/>
          <a:p>
            <a:pPr indent="0" marL="0">
              <a:buNone/>
            </a:pPr>
            <a:r>
              <a:rPr lang="en-US" sz="3400" b="1" dirty="0">
                <a:solidFill>
                  <a:srgbClr val="5C3A21"/>
                </a:solidFill>
                <a:latin typeface="Cambria" pitchFamily="34" charset="0"/>
                <a:ea typeface="Cambria" pitchFamily="34" charset="-122"/>
                <a:cs typeface="Cambria" pitchFamily="34" charset="-120"/>
              </a:rPr>
              <a:t>Shock</a:t>
            </a:r>
            <a:endParaRPr lang="en-US" sz="3400" dirty="0"/>
          </a:p>
        </p:txBody>
      </p:sp>
      <p:sp>
        <p:nvSpPr>
          <p:cNvPr id="13" name="Text 11"/>
          <p:cNvSpPr/>
          <p:nvPr/>
        </p:nvSpPr>
        <p:spPr>
          <a:xfrm>
            <a:off x="8311896" y="3794760"/>
            <a:ext cx="3108960" cy="914400"/>
          </a:xfrm>
          <a:prstGeom prst="rect">
            <a:avLst/>
          </a:prstGeom>
          <a:noFill/>
          <a:ln/>
        </p:spPr>
        <p:txBody>
          <a:bodyPr wrap="square" lIns="0" tIns="0" rIns="0" bIns="0" rtlCol="0" anchor="ctr"/>
          <a:lstStyle/>
          <a:p>
            <a:pPr indent="0" marL="0">
              <a:lnSpc>
                <a:spcPct val="120000"/>
              </a:lnSpc>
              <a:buNone/>
            </a:pPr>
            <a:r>
              <a:rPr lang="en-US" sz="1150" dirty="0">
                <a:solidFill>
                  <a:srgbClr val="3A2E22"/>
                </a:solidFill>
                <a:latin typeface="Calibri" pitchFamily="34" charset="0"/>
                <a:ea typeface="Calibri" pitchFamily="34" charset="-122"/>
                <a:cs typeface="Calibri" pitchFamily="34" charset="-120"/>
              </a:rPr>
              <a:t>Principal causa de muerte perioperatoria, exacerbado por dolor no controlado, hemorragia y ausencia de reposición de líquidos.</a:t>
            </a:r>
            <a:endParaRPr lang="en-US" sz="1150" dirty="0"/>
          </a:p>
        </p:txBody>
      </p:sp>
      <p:sp>
        <p:nvSpPr>
          <p:cNvPr id="14" name="Text 12"/>
          <p:cNvSpPr/>
          <p:nvPr/>
        </p:nvSpPr>
        <p:spPr>
          <a:xfrm>
            <a:off x="548640" y="5074920"/>
            <a:ext cx="11064240" cy="1005840"/>
          </a:xfrm>
          <a:prstGeom prst="rect">
            <a:avLst/>
          </a:prstGeom>
          <a:noFill/>
          <a:ln/>
        </p:spPr>
        <p:txBody>
          <a:bodyPr wrap="square" lIns="0" tIns="0" rIns="0" bIns="0" rtlCol="0" anchor="ctr"/>
          <a:lstStyle/>
          <a:p>
            <a:pPr indent="0" marL="0">
              <a:lnSpc>
                <a:spcPct val="125000"/>
              </a:lnSpc>
              <a:buNone/>
            </a:pPr>
            <a:r>
              <a:rPr lang="en-US" sz="1300" i="1" dirty="0">
                <a:solidFill>
                  <a:srgbClr val="7A6A57"/>
                </a:solidFill>
                <a:latin typeface="Calibri" pitchFamily="34" charset="0"/>
                <a:ea typeface="Calibri" pitchFamily="34" charset="-122"/>
                <a:cs typeface="Calibri" pitchFamily="34" charset="-120"/>
              </a:rPr>
              <a:t>La velocidad quirúrgica —no la precisión— era la principal virtud valorada en un cirujano, y la cirugía mayor electiva era prácticamente inexistente. Este contexto explica la urgencia con que la comunidad médica adoptó el éter apenas se demostró su eficacia en 1846.</a:t>
            </a:r>
            <a:endParaRPr lang="en-US" sz="1300" dirty="0"/>
          </a:p>
        </p:txBody>
      </p:sp>
      <p:sp>
        <p:nvSpPr>
          <p:cNvPr id="15" name="Text 13"/>
          <p:cNvSpPr/>
          <p:nvPr/>
        </p:nvSpPr>
        <p:spPr>
          <a:xfrm>
            <a:off x="548640" y="6473952"/>
            <a:ext cx="6400800" cy="274320"/>
          </a:xfrm>
          <a:prstGeom prst="rect">
            <a:avLst/>
          </a:prstGeom>
          <a:noFill/>
          <a:ln/>
        </p:spPr>
        <p:txBody>
          <a:bodyPr wrap="square" lIns="0" tIns="0" rIns="0" bIns="0" rtlCol="0" anchor="ctr"/>
          <a:lstStyle/>
          <a:p>
            <a:pPr indent="0" marL="0">
              <a:buNone/>
            </a:pPr>
            <a:r>
              <a:rPr lang="en-US" sz="850" spc="100" kern="0" dirty="0">
                <a:solidFill>
                  <a:srgbClr val="7A6A57"/>
                </a:solidFill>
                <a:latin typeface="Calibri" pitchFamily="34" charset="0"/>
                <a:ea typeface="Calibri" pitchFamily="34" charset="-122"/>
                <a:cs typeface="Calibri" pitchFamily="34" charset="-120"/>
              </a:rPr>
              <a:t>CAPÍTULO II  ·  HISTORIA DE LA ANESTESIA</a:t>
            </a:r>
            <a:endParaRPr lang="en-US" sz="850" dirty="0"/>
          </a:p>
        </p:txBody>
      </p:sp>
      <p:sp>
        <p:nvSpPr>
          <p:cNvPr id="16" name="Text 14"/>
          <p:cNvSpPr/>
          <p:nvPr/>
        </p:nvSpPr>
        <p:spPr>
          <a:xfrm>
            <a:off x="10728655" y="6473952"/>
            <a:ext cx="914400" cy="274320"/>
          </a:xfrm>
          <a:prstGeom prst="rect">
            <a:avLst/>
          </a:prstGeom>
          <a:noFill/>
          <a:ln/>
        </p:spPr>
        <p:txBody>
          <a:bodyPr wrap="square" lIns="0" tIns="0" rIns="0" bIns="0" rtlCol="0" anchor="ctr"/>
          <a:lstStyle/>
          <a:p>
            <a:pPr algn="r" indent="0" marL="0">
              <a:buNone/>
            </a:pPr>
            <a:r>
              <a:rPr lang="en-US" sz="850" dirty="0">
                <a:solidFill>
                  <a:srgbClr val="7A6A57"/>
                </a:solidFill>
                <a:latin typeface="Calibri" pitchFamily="34" charset="0"/>
                <a:ea typeface="Calibri" pitchFamily="34" charset="-122"/>
                <a:cs typeface="Calibri" pitchFamily="34" charset="-120"/>
              </a:rPr>
              <a:t>05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lIns="0" tIns="0" rIns="0" bIns="0" rtlCol="0" anchor="ctr"/>
          <a:lstStyle/>
          <a:p>
            <a:pPr indent="0" marL="0">
              <a:buNone/>
            </a:pPr>
            <a:r>
              <a:rPr lang="en-US" sz="1200" b="1" spc="200" kern="0" dirty="0">
                <a:solidFill>
                  <a:srgbClr val="8B5E3C"/>
                </a:solidFill>
                <a:latin typeface="Calibri" pitchFamily="34" charset="0"/>
                <a:ea typeface="Calibri" pitchFamily="34" charset="-122"/>
                <a:cs typeface="Calibri" pitchFamily="34" charset="-120"/>
              </a:rPr>
              <a:t>PANORAMA GENERAL</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t"/>
          <a:lstStyle/>
          <a:p>
            <a:pPr indent="0" marL="0">
              <a:buNone/>
            </a:pPr>
            <a:r>
              <a:rPr lang="en-US" sz="2900" b="1" dirty="0">
                <a:solidFill>
                  <a:srgbClr val="5C3A21"/>
                </a:solidFill>
                <a:latin typeface="Cambria" pitchFamily="34" charset="0"/>
                <a:ea typeface="Cambria" pitchFamily="34" charset="-122"/>
                <a:cs typeface="Cambria" pitchFamily="34" charset="-120"/>
              </a:rPr>
              <a:t>Los pioneros de la anestesia: una visión introductoria</a:t>
            </a:r>
            <a:endParaRPr lang="en-US" sz="2900" dirty="0"/>
          </a:p>
        </p:txBody>
      </p:sp>
      <p:sp>
        <p:nvSpPr>
          <p:cNvPr id="4" name="Text 2"/>
          <p:cNvSpPr/>
          <p:nvPr/>
        </p:nvSpPr>
        <p:spPr>
          <a:xfrm>
            <a:off x="548640" y="1691640"/>
            <a:ext cx="11064240" cy="731520"/>
          </a:xfrm>
          <a:prstGeom prst="rect">
            <a:avLst/>
          </a:prstGeom>
          <a:noFill/>
          <a:ln/>
        </p:spPr>
        <p:txBody>
          <a:bodyPr wrap="square" lIns="0" tIns="0" rIns="0" bIns="0" rtlCol="0" anchor="ctr"/>
          <a:lstStyle/>
          <a:p>
            <a:pPr indent="0" marL="0">
              <a:lnSpc>
                <a:spcPct val="122000"/>
              </a:lnSpc>
              <a:buNone/>
            </a:pPr>
            <a:r>
              <a:rPr lang="en-US" sz="1350" dirty="0">
                <a:solidFill>
                  <a:srgbClr val="3A2E22"/>
                </a:solidFill>
                <a:latin typeface="Calibri" pitchFamily="34" charset="0"/>
                <a:ea typeface="Calibri" pitchFamily="34" charset="-122"/>
                <a:cs typeface="Calibri" pitchFamily="34" charset="-120"/>
              </a:rPr>
              <a:t>Entre 1842 y 1898, un grupo reducido de médicos, dentistas y cirujanos —trabajando de forma independiente y a menudo en competencia— transformó la práctica quirúrgica mundial. Sus descubrimientos, aunque dispersos geográficamente, convergieron en menos de seis décadas.</a:t>
            </a:r>
            <a:endParaRPr lang="en-US" sz="1350" dirty="0"/>
          </a:p>
        </p:txBody>
      </p:sp>
      <p:sp>
        <p:nvSpPr>
          <p:cNvPr id="5" name="Shape 3"/>
          <p:cNvSpPr/>
          <p:nvPr/>
        </p:nvSpPr>
        <p:spPr>
          <a:xfrm>
            <a:off x="914400" y="3246120"/>
            <a:ext cx="10378440" cy="0"/>
          </a:xfrm>
          <a:prstGeom prst="line">
            <a:avLst/>
          </a:prstGeom>
          <a:noFill/>
          <a:ln w="31750">
            <a:solidFill>
              <a:srgbClr val="C9A66B"/>
            </a:solidFill>
            <a:prstDash val="solid"/>
          </a:ln>
        </p:spPr>
      </p:sp>
      <p:sp>
        <p:nvSpPr>
          <p:cNvPr id="6" name="Shape 4"/>
          <p:cNvSpPr/>
          <p:nvPr/>
        </p:nvSpPr>
        <p:spPr>
          <a:xfrm>
            <a:off x="813816" y="3145536"/>
            <a:ext cx="201168" cy="201168"/>
          </a:xfrm>
          <a:prstGeom prst="ellipse">
            <a:avLst/>
          </a:prstGeom>
          <a:solidFill>
            <a:srgbClr val="5C3A21"/>
          </a:solidFill>
          <a:ln w="25400">
            <a:solidFill>
              <a:srgbClr val="FFFFFF"/>
            </a:solidFill>
            <a:prstDash val="solid"/>
          </a:ln>
        </p:spPr>
      </p:sp>
      <p:sp>
        <p:nvSpPr>
          <p:cNvPr id="7" name="Text 5"/>
          <p:cNvSpPr/>
          <p:nvPr/>
        </p:nvSpPr>
        <p:spPr>
          <a:xfrm>
            <a:off x="365760" y="2560320"/>
            <a:ext cx="1097280" cy="320040"/>
          </a:xfrm>
          <a:prstGeom prst="rect">
            <a:avLst/>
          </a:prstGeom>
          <a:noFill/>
          <a:ln/>
        </p:spPr>
        <p:txBody>
          <a:bodyPr wrap="square" lIns="0" tIns="0" rIns="0" bIns="0" rtlCol="0" anchor="ctr"/>
          <a:lstStyle/>
          <a:p>
            <a:pPr algn="ctr" indent="0" marL="0">
              <a:buNone/>
            </a:pPr>
            <a:r>
              <a:rPr lang="en-US" sz="1500" b="1" dirty="0">
                <a:solidFill>
                  <a:srgbClr val="5C3A21"/>
                </a:solidFill>
                <a:latin typeface="Cambria" pitchFamily="34" charset="0"/>
                <a:ea typeface="Cambria" pitchFamily="34" charset="-122"/>
                <a:cs typeface="Cambria" pitchFamily="34" charset="-120"/>
              </a:rPr>
              <a:t>1842</a:t>
            </a:r>
            <a:endParaRPr lang="en-US" sz="1500" dirty="0"/>
          </a:p>
        </p:txBody>
      </p:sp>
      <p:sp>
        <p:nvSpPr>
          <p:cNvPr id="8" name="Text 6"/>
          <p:cNvSpPr/>
          <p:nvPr/>
        </p:nvSpPr>
        <p:spPr>
          <a:xfrm>
            <a:off x="137160" y="3429000"/>
            <a:ext cx="1554480" cy="320040"/>
          </a:xfrm>
          <a:prstGeom prst="rect">
            <a:avLst/>
          </a:prstGeom>
          <a:noFill/>
          <a:ln/>
        </p:spPr>
        <p:txBody>
          <a:bodyPr wrap="square" lIns="0" tIns="0" rIns="0" bIns="0" rtlCol="0" anchor="ctr"/>
          <a:lstStyle/>
          <a:p>
            <a:pPr algn="ctr" indent="0" marL="0">
              <a:buNone/>
            </a:pPr>
            <a:r>
              <a:rPr lang="en-US" sz="1050" b="1" dirty="0">
                <a:solidFill>
                  <a:srgbClr val="3A2E22"/>
                </a:solidFill>
                <a:latin typeface="Calibri" pitchFamily="34" charset="0"/>
                <a:ea typeface="Calibri" pitchFamily="34" charset="-122"/>
                <a:cs typeface="Calibri" pitchFamily="34" charset="-120"/>
              </a:rPr>
              <a:t>Crawford Long</a:t>
            </a:r>
            <a:endParaRPr lang="en-US" sz="1050" dirty="0"/>
          </a:p>
        </p:txBody>
      </p:sp>
      <p:sp>
        <p:nvSpPr>
          <p:cNvPr id="9" name="Text 7"/>
          <p:cNvSpPr/>
          <p:nvPr/>
        </p:nvSpPr>
        <p:spPr>
          <a:xfrm>
            <a:off x="137160" y="3749040"/>
            <a:ext cx="1554480" cy="640080"/>
          </a:xfrm>
          <a:prstGeom prst="rect">
            <a:avLst/>
          </a:prstGeom>
          <a:noFill/>
          <a:ln/>
        </p:spPr>
        <p:txBody>
          <a:bodyPr wrap="square" lIns="0" tIns="0" rIns="0" bIns="0" rtlCol="0" anchor="ctr"/>
          <a:lstStyle/>
          <a:p>
            <a:pPr algn="ctr" indent="0" marL="0">
              <a:lnSpc>
                <a:spcPct val="110000"/>
              </a:lnSpc>
              <a:buNone/>
            </a:pPr>
            <a:r>
              <a:rPr lang="en-US" sz="950" dirty="0">
                <a:solidFill>
                  <a:srgbClr val="7A6A57"/>
                </a:solidFill>
                <a:latin typeface="Calibri" pitchFamily="34" charset="0"/>
                <a:ea typeface="Calibri" pitchFamily="34" charset="-122"/>
                <a:cs typeface="Calibri" pitchFamily="34" charset="-120"/>
              </a:rPr>
              <a:t>Éter dietílico (no publicado)</a:t>
            </a:r>
            <a:endParaRPr lang="en-US" sz="950" dirty="0"/>
          </a:p>
        </p:txBody>
      </p:sp>
      <p:sp>
        <p:nvSpPr>
          <p:cNvPr id="10" name="Shape 8"/>
          <p:cNvSpPr/>
          <p:nvPr/>
        </p:nvSpPr>
        <p:spPr>
          <a:xfrm>
            <a:off x="2889504" y="3145536"/>
            <a:ext cx="201168" cy="201168"/>
          </a:xfrm>
          <a:prstGeom prst="ellipse">
            <a:avLst/>
          </a:prstGeom>
          <a:solidFill>
            <a:srgbClr val="5C3A21"/>
          </a:solidFill>
          <a:ln w="25400">
            <a:solidFill>
              <a:srgbClr val="FFFFFF"/>
            </a:solidFill>
            <a:prstDash val="solid"/>
          </a:ln>
        </p:spPr>
      </p:sp>
      <p:sp>
        <p:nvSpPr>
          <p:cNvPr id="11" name="Text 9"/>
          <p:cNvSpPr/>
          <p:nvPr/>
        </p:nvSpPr>
        <p:spPr>
          <a:xfrm>
            <a:off x="2441448" y="2560320"/>
            <a:ext cx="1097280" cy="320040"/>
          </a:xfrm>
          <a:prstGeom prst="rect">
            <a:avLst/>
          </a:prstGeom>
          <a:noFill/>
          <a:ln/>
        </p:spPr>
        <p:txBody>
          <a:bodyPr wrap="square" lIns="0" tIns="0" rIns="0" bIns="0" rtlCol="0" anchor="ctr"/>
          <a:lstStyle/>
          <a:p>
            <a:pPr algn="ctr" indent="0" marL="0">
              <a:buNone/>
            </a:pPr>
            <a:r>
              <a:rPr lang="en-US" sz="1500" b="1" dirty="0">
                <a:solidFill>
                  <a:srgbClr val="5C3A21"/>
                </a:solidFill>
                <a:latin typeface="Cambria" pitchFamily="34" charset="0"/>
                <a:ea typeface="Cambria" pitchFamily="34" charset="-122"/>
                <a:cs typeface="Cambria" pitchFamily="34" charset="-120"/>
              </a:rPr>
              <a:t>1844</a:t>
            </a:r>
            <a:endParaRPr lang="en-US" sz="1500" dirty="0"/>
          </a:p>
        </p:txBody>
      </p:sp>
      <p:sp>
        <p:nvSpPr>
          <p:cNvPr id="12" name="Text 10"/>
          <p:cNvSpPr/>
          <p:nvPr/>
        </p:nvSpPr>
        <p:spPr>
          <a:xfrm>
            <a:off x="2212848" y="3429000"/>
            <a:ext cx="1554480" cy="320040"/>
          </a:xfrm>
          <a:prstGeom prst="rect">
            <a:avLst/>
          </a:prstGeom>
          <a:noFill/>
          <a:ln/>
        </p:spPr>
        <p:txBody>
          <a:bodyPr wrap="square" lIns="0" tIns="0" rIns="0" bIns="0" rtlCol="0" anchor="ctr"/>
          <a:lstStyle/>
          <a:p>
            <a:pPr algn="ctr" indent="0" marL="0">
              <a:buNone/>
            </a:pPr>
            <a:r>
              <a:rPr lang="en-US" sz="1050" b="1" dirty="0">
                <a:solidFill>
                  <a:srgbClr val="3A2E22"/>
                </a:solidFill>
                <a:latin typeface="Calibri" pitchFamily="34" charset="0"/>
                <a:ea typeface="Calibri" pitchFamily="34" charset="-122"/>
                <a:cs typeface="Calibri" pitchFamily="34" charset="-120"/>
              </a:rPr>
              <a:t>Horace Wells</a:t>
            </a:r>
            <a:endParaRPr lang="en-US" sz="1050" dirty="0"/>
          </a:p>
        </p:txBody>
      </p:sp>
      <p:sp>
        <p:nvSpPr>
          <p:cNvPr id="13" name="Text 11"/>
          <p:cNvSpPr/>
          <p:nvPr/>
        </p:nvSpPr>
        <p:spPr>
          <a:xfrm>
            <a:off x="2212848" y="3749040"/>
            <a:ext cx="1554480" cy="640080"/>
          </a:xfrm>
          <a:prstGeom prst="rect">
            <a:avLst/>
          </a:prstGeom>
          <a:noFill/>
          <a:ln/>
        </p:spPr>
        <p:txBody>
          <a:bodyPr wrap="square" lIns="0" tIns="0" rIns="0" bIns="0" rtlCol="0" anchor="ctr"/>
          <a:lstStyle/>
          <a:p>
            <a:pPr algn="ctr" indent="0" marL="0">
              <a:lnSpc>
                <a:spcPct val="110000"/>
              </a:lnSpc>
              <a:buNone/>
            </a:pPr>
            <a:r>
              <a:rPr lang="en-US" sz="950" dirty="0">
                <a:solidFill>
                  <a:srgbClr val="7A6A57"/>
                </a:solidFill>
                <a:latin typeface="Calibri" pitchFamily="34" charset="0"/>
                <a:ea typeface="Calibri" pitchFamily="34" charset="-122"/>
                <a:cs typeface="Calibri" pitchFamily="34" charset="-120"/>
              </a:rPr>
              <a:t>Óxido nitroso</a:t>
            </a:r>
            <a:endParaRPr lang="en-US" sz="950" dirty="0"/>
          </a:p>
        </p:txBody>
      </p:sp>
      <p:sp>
        <p:nvSpPr>
          <p:cNvPr id="14" name="Shape 12"/>
          <p:cNvSpPr/>
          <p:nvPr/>
        </p:nvSpPr>
        <p:spPr>
          <a:xfrm>
            <a:off x="4965192" y="3145536"/>
            <a:ext cx="201168" cy="201168"/>
          </a:xfrm>
          <a:prstGeom prst="ellipse">
            <a:avLst/>
          </a:prstGeom>
          <a:solidFill>
            <a:srgbClr val="5C3A21"/>
          </a:solidFill>
          <a:ln w="25400">
            <a:solidFill>
              <a:srgbClr val="FFFFFF"/>
            </a:solidFill>
            <a:prstDash val="solid"/>
          </a:ln>
        </p:spPr>
      </p:sp>
      <p:sp>
        <p:nvSpPr>
          <p:cNvPr id="15" name="Text 13"/>
          <p:cNvSpPr/>
          <p:nvPr/>
        </p:nvSpPr>
        <p:spPr>
          <a:xfrm>
            <a:off x="4517136" y="2560320"/>
            <a:ext cx="1097280" cy="320040"/>
          </a:xfrm>
          <a:prstGeom prst="rect">
            <a:avLst/>
          </a:prstGeom>
          <a:noFill/>
          <a:ln/>
        </p:spPr>
        <p:txBody>
          <a:bodyPr wrap="square" lIns="0" tIns="0" rIns="0" bIns="0" rtlCol="0" anchor="ctr"/>
          <a:lstStyle/>
          <a:p>
            <a:pPr algn="ctr" indent="0" marL="0">
              <a:buNone/>
            </a:pPr>
            <a:r>
              <a:rPr lang="en-US" sz="1500" b="1" dirty="0">
                <a:solidFill>
                  <a:srgbClr val="5C3A21"/>
                </a:solidFill>
                <a:latin typeface="Cambria" pitchFamily="34" charset="0"/>
                <a:ea typeface="Cambria" pitchFamily="34" charset="-122"/>
                <a:cs typeface="Cambria" pitchFamily="34" charset="-120"/>
              </a:rPr>
              <a:t>1846</a:t>
            </a:r>
            <a:endParaRPr lang="en-US" sz="1500" dirty="0"/>
          </a:p>
        </p:txBody>
      </p:sp>
      <p:sp>
        <p:nvSpPr>
          <p:cNvPr id="16" name="Text 14"/>
          <p:cNvSpPr/>
          <p:nvPr/>
        </p:nvSpPr>
        <p:spPr>
          <a:xfrm>
            <a:off x="4288536" y="3429000"/>
            <a:ext cx="1554480" cy="320040"/>
          </a:xfrm>
          <a:prstGeom prst="rect">
            <a:avLst/>
          </a:prstGeom>
          <a:noFill/>
          <a:ln/>
        </p:spPr>
        <p:txBody>
          <a:bodyPr wrap="square" lIns="0" tIns="0" rIns="0" bIns="0" rtlCol="0" anchor="ctr"/>
          <a:lstStyle/>
          <a:p>
            <a:pPr algn="ctr" indent="0" marL="0">
              <a:buNone/>
            </a:pPr>
            <a:r>
              <a:rPr lang="en-US" sz="1050" b="1" dirty="0">
                <a:solidFill>
                  <a:srgbClr val="3A2E22"/>
                </a:solidFill>
                <a:latin typeface="Calibri" pitchFamily="34" charset="0"/>
                <a:ea typeface="Calibri" pitchFamily="34" charset="-122"/>
                <a:cs typeface="Calibri" pitchFamily="34" charset="-120"/>
              </a:rPr>
              <a:t>William Morton</a:t>
            </a:r>
            <a:endParaRPr lang="en-US" sz="1050" dirty="0"/>
          </a:p>
        </p:txBody>
      </p:sp>
      <p:sp>
        <p:nvSpPr>
          <p:cNvPr id="17" name="Text 15"/>
          <p:cNvSpPr/>
          <p:nvPr/>
        </p:nvSpPr>
        <p:spPr>
          <a:xfrm>
            <a:off x="4288536" y="3749040"/>
            <a:ext cx="1554480" cy="640080"/>
          </a:xfrm>
          <a:prstGeom prst="rect">
            <a:avLst/>
          </a:prstGeom>
          <a:noFill/>
          <a:ln/>
        </p:spPr>
        <p:txBody>
          <a:bodyPr wrap="square" lIns="0" tIns="0" rIns="0" bIns="0" rtlCol="0" anchor="ctr"/>
          <a:lstStyle/>
          <a:p>
            <a:pPr algn="ctr" indent="0" marL="0">
              <a:lnSpc>
                <a:spcPct val="110000"/>
              </a:lnSpc>
              <a:buNone/>
            </a:pPr>
            <a:r>
              <a:rPr lang="en-US" sz="950" dirty="0">
                <a:solidFill>
                  <a:srgbClr val="7A6A57"/>
                </a:solidFill>
                <a:latin typeface="Calibri" pitchFamily="34" charset="0"/>
                <a:ea typeface="Calibri" pitchFamily="34" charset="-122"/>
                <a:cs typeface="Calibri" pitchFamily="34" charset="-120"/>
              </a:rPr>
              <a:t>Éter, demostración pública</a:t>
            </a:r>
            <a:endParaRPr lang="en-US" sz="950" dirty="0"/>
          </a:p>
        </p:txBody>
      </p:sp>
      <p:sp>
        <p:nvSpPr>
          <p:cNvPr id="18" name="Shape 16"/>
          <p:cNvSpPr/>
          <p:nvPr/>
        </p:nvSpPr>
        <p:spPr>
          <a:xfrm>
            <a:off x="7040880" y="3145536"/>
            <a:ext cx="201168" cy="201168"/>
          </a:xfrm>
          <a:prstGeom prst="ellipse">
            <a:avLst/>
          </a:prstGeom>
          <a:solidFill>
            <a:srgbClr val="5C3A21"/>
          </a:solidFill>
          <a:ln w="25400">
            <a:solidFill>
              <a:srgbClr val="FFFFFF"/>
            </a:solidFill>
            <a:prstDash val="solid"/>
          </a:ln>
        </p:spPr>
      </p:sp>
      <p:sp>
        <p:nvSpPr>
          <p:cNvPr id="19" name="Text 17"/>
          <p:cNvSpPr/>
          <p:nvPr/>
        </p:nvSpPr>
        <p:spPr>
          <a:xfrm>
            <a:off x="6592824" y="2560320"/>
            <a:ext cx="1097280" cy="320040"/>
          </a:xfrm>
          <a:prstGeom prst="rect">
            <a:avLst/>
          </a:prstGeom>
          <a:noFill/>
          <a:ln/>
        </p:spPr>
        <p:txBody>
          <a:bodyPr wrap="square" lIns="0" tIns="0" rIns="0" bIns="0" rtlCol="0" anchor="ctr"/>
          <a:lstStyle/>
          <a:p>
            <a:pPr algn="ctr" indent="0" marL="0">
              <a:buNone/>
            </a:pPr>
            <a:r>
              <a:rPr lang="en-US" sz="1500" b="1" dirty="0">
                <a:solidFill>
                  <a:srgbClr val="5C3A21"/>
                </a:solidFill>
                <a:latin typeface="Cambria" pitchFamily="34" charset="0"/>
                <a:ea typeface="Cambria" pitchFamily="34" charset="-122"/>
                <a:cs typeface="Cambria" pitchFamily="34" charset="-120"/>
              </a:rPr>
              <a:t>1847</a:t>
            </a:r>
            <a:endParaRPr lang="en-US" sz="1500" dirty="0"/>
          </a:p>
        </p:txBody>
      </p:sp>
      <p:sp>
        <p:nvSpPr>
          <p:cNvPr id="20" name="Text 18"/>
          <p:cNvSpPr/>
          <p:nvPr/>
        </p:nvSpPr>
        <p:spPr>
          <a:xfrm>
            <a:off x="6364224" y="3429000"/>
            <a:ext cx="1554480" cy="320040"/>
          </a:xfrm>
          <a:prstGeom prst="rect">
            <a:avLst/>
          </a:prstGeom>
          <a:noFill/>
          <a:ln/>
        </p:spPr>
        <p:txBody>
          <a:bodyPr wrap="square" lIns="0" tIns="0" rIns="0" bIns="0" rtlCol="0" anchor="ctr"/>
          <a:lstStyle/>
          <a:p>
            <a:pPr algn="ctr" indent="0" marL="0">
              <a:buNone/>
            </a:pPr>
            <a:r>
              <a:rPr lang="en-US" sz="1050" b="1" dirty="0">
                <a:solidFill>
                  <a:srgbClr val="3A2E22"/>
                </a:solidFill>
                <a:latin typeface="Calibri" pitchFamily="34" charset="0"/>
                <a:ea typeface="Calibri" pitchFamily="34" charset="-122"/>
                <a:cs typeface="Calibri" pitchFamily="34" charset="-120"/>
              </a:rPr>
              <a:t>James Simpson</a:t>
            </a:r>
            <a:endParaRPr lang="en-US" sz="1050" dirty="0"/>
          </a:p>
        </p:txBody>
      </p:sp>
      <p:sp>
        <p:nvSpPr>
          <p:cNvPr id="21" name="Text 19"/>
          <p:cNvSpPr/>
          <p:nvPr/>
        </p:nvSpPr>
        <p:spPr>
          <a:xfrm>
            <a:off x="6364224" y="3749040"/>
            <a:ext cx="1554480" cy="640080"/>
          </a:xfrm>
          <a:prstGeom prst="rect">
            <a:avLst/>
          </a:prstGeom>
          <a:noFill/>
          <a:ln/>
        </p:spPr>
        <p:txBody>
          <a:bodyPr wrap="square" lIns="0" tIns="0" rIns="0" bIns="0" rtlCol="0" anchor="ctr"/>
          <a:lstStyle/>
          <a:p>
            <a:pPr algn="ctr" indent="0" marL="0">
              <a:lnSpc>
                <a:spcPct val="110000"/>
              </a:lnSpc>
              <a:buNone/>
            </a:pPr>
            <a:r>
              <a:rPr lang="en-US" sz="950" dirty="0">
                <a:solidFill>
                  <a:srgbClr val="7A6A57"/>
                </a:solidFill>
                <a:latin typeface="Calibri" pitchFamily="34" charset="0"/>
                <a:ea typeface="Calibri" pitchFamily="34" charset="-122"/>
                <a:cs typeface="Calibri" pitchFamily="34" charset="-120"/>
              </a:rPr>
              <a:t>Cloroformo</a:t>
            </a:r>
            <a:endParaRPr lang="en-US" sz="950" dirty="0"/>
          </a:p>
        </p:txBody>
      </p:sp>
      <p:sp>
        <p:nvSpPr>
          <p:cNvPr id="22" name="Shape 20"/>
          <p:cNvSpPr/>
          <p:nvPr/>
        </p:nvSpPr>
        <p:spPr>
          <a:xfrm>
            <a:off x="9116568" y="3145536"/>
            <a:ext cx="201168" cy="201168"/>
          </a:xfrm>
          <a:prstGeom prst="ellipse">
            <a:avLst/>
          </a:prstGeom>
          <a:solidFill>
            <a:srgbClr val="5C3A21"/>
          </a:solidFill>
          <a:ln w="25400">
            <a:solidFill>
              <a:srgbClr val="FFFFFF"/>
            </a:solidFill>
            <a:prstDash val="solid"/>
          </a:ln>
        </p:spPr>
      </p:sp>
      <p:sp>
        <p:nvSpPr>
          <p:cNvPr id="23" name="Text 21"/>
          <p:cNvSpPr/>
          <p:nvPr/>
        </p:nvSpPr>
        <p:spPr>
          <a:xfrm>
            <a:off x="8668512" y="2560320"/>
            <a:ext cx="1097280" cy="320040"/>
          </a:xfrm>
          <a:prstGeom prst="rect">
            <a:avLst/>
          </a:prstGeom>
          <a:noFill/>
          <a:ln/>
        </p:spPr>
        <p:txBody>
          <a:bodyPr wrap="square" lIns="0" tIns="0" rIns="0" bIns="0" rtlCol="0" anchor="ctr"/>
          <a:lstStyle/>
          <a:p>
            <a:pPr algn="ctr" indent="0" marL="0">
              <a:buNone/>
            </a:pPr>
            <a:r>
              <a:rPr lang="en-US" sz="1500" b="1" dirty="0">
                <a:solidFill>
                  <a:srgbClr val="5C3A21"/>
                </a:solidFill>
                <a:latin typeface="Cambria" pitchFamily="34" charset="0"/>
                <a:ea typeface="Cambria" pitchFamily="34" charset="-122"/>
                <a:cs typeface="Cambria" pitchFamily="34" charset="-120"/>
              </a:rPr>
              <a:t>1884</a:t>
            </a:r>
            <a:endParaRPr lang="en-US" sz="1500" dirty="0"/>
          </a:p>
        </p:txBody>
      </p:sp>
      <p:sp>
        <p:nvSpPr>
          <p:cNvPr id="24" name="Text 22"/>
          <p:cNvSpPr/>
          <p:nvPr/>
        </p:nvSpPr>
        <p:spPr>
          <a:xfrm>
            <a:off x="8439912" y="3429000"/>
            <a:ext cx="1554480" cy="320040"/>
          </a:xfrm>
          <a:prstGeom prst="rect">
            <a:avLst/>
          </a:prstGeom>
          <a:noFill/>
          <a:ln/>
        </p:spPr>
        <p:txBody>
          <a:bodyPr wrap="square" lIns="0" tIns="0" rIns="0" bIns="0" rtlCol="0" anchor="ctr"/>
          <a:lstStyle/>
          <a:p>
            <a:pPr algn="ctr" indent="0" marL="0">
              <a:buNone/>
            </a:pPr>
            <a:r>
              <a:rPr lang="en-US" sz="1050" b="1" dirty="0">
                <a:solidFill>
                  <a:srgbClr val="3A2E22"/>
                </a:solidFill>
                <a:latin typeface="Calibri" pitchFamily="34" charset="0"/>
                <a:ea typeface="Calibri" pitchFamily="34" charset="-122"/>
                <a:cs typeface="Calibri" pitchFamily="34" charset="-120"/>
              </a:rPr>
              <a:t>Carl Koller</a:t>
            </a:r>
            <a:endParaRPr lang="en-US" sz="1050" dirty="0"/>
          </a:p>
        </p:txBody>
      </p:sp>
      <p:sp>
        <p:nvSpPr>
          <p:cNvPr id="25" name="Text 23"/>
          <p:cNvSpPr/>
          <p:nvPr/>
        </p:nvSpPr>
        <p:spPr>
          <a:xfrm>
            <a:off x="8439912" y="3749040"/>
            <a:ext cx="1554480" cy="640080"/>
          </a:xfrm>
          <a:prstGeom prst="rect">
            <a:avLst/>
          </a:prstGeom>
          <a:noFill/>
          <a:ln/>
        </p:spPr>
        <p:txBody>
          <a:bodyPr wrap="square" lIns="0" tIns="0" rIns="0" bIns="0" rtlCol="0" anchor="ctr"/>
          <a:lstStyle/>
          <a:p>
            <a:pPr algn="ctr" indent="0" marL="0">
              <a:lnSpc>
                <a:spcPct val="110000"/>
              </a:lnSpc>
              <a:buNone/>
            </a:pPr>
            <a:r>
              <a:rPr lang="en-US" sz="950" dirty="0">
                <a:solidFill>
                  <a:srgbClr val="7A6A57"/>
                </a:solidFill>
                <a:latin typeface="Calibri" pitchFamily="34" charset="0"/>
                <a:ea typeface="Calibri" pitchFamily="34" charset="-122"/>
                <a:cs typeface="Calibri" pitchFamily="34" charset="-120"/>
              </a:rPr>
              <a:t>Cocaína, anestesia local</a:t>
            </a:r>
            <a:endParaRPr lang="en-US" sz="950" dirty="0"/>
          </a:p>
        </p:txBody>
      </p:sp>
      <p:sp>
        <p:nvSpPr>
          <p:cNvPr id="26" name="Shape 24"/>
          <p:cNvSpPr/>
          <p:nvPr/>
        </p:nvSpPr>
        <p:spPr>
          <a:xfrm>
            <a:off x="11192256" y="3145536"/>
            <a:ext cx="201168" cy="201168"/>
          </a:xfrm>
          <a:prstGeom prst="ellipse">
            <a:avLst/>
          </a:prstGeom>
          <a:solidFill>
            <a:srgbClr val="5C3A21"/>
          </a:solidFill>
          <a:ln w="25400">
            <a:solidFill>
              <a:srgbClr val="FFFFFF"/>
            </a:solidFill>
            <a:prstDash val="solid"/>
          </a:ln>
        </p:spPr>
      </p:sp>
      <p:sp>
        <p:nvSpPr>
          <p:cNvPr id="27" name="Text 25"/>
          <p:cNvSpPr/>
          <p:nvPr/>
        </p:nvSpPr>
        <p:spPr>
          <a:xfrm>
            <a:off x="10744200" y="2560320"/>
            <a:ext cx="1097280" cy="320040"/>
          </a:xfrm>
          <a:prstGeom prst="rect">
            <a:avLst/>
          </a:prstGeom>
          <a:noFill/>
          <a:ln/>
        </p:spPr>
        <p:txBody>
          <a:bodyPr wrap="square" lIns="0" tIns="0" rIns="0" bIns="0" rtlCol="0" anchor="ctr"/>
          <a:lstStyle/>
          <a:p>
            <a:pPr algn="ctr" indent="0" marL="0">
              <a:buNone/>
            </a:pPr>
            <a:r>
              <a:rPr lang="en-US" sz="1500" b="1" dirty="0">
                <a:solidFill>
                  <a:srgbClr val="5C3A21"/>
                </a:solidFill>
                <a:latin typeface="Cambria" pitchFamily="34" charset="0"/>
                <a:ea typeface="Cambria" pitchFamily="34" charset="-122"/>
                <a:cs typeface="Cambria" pitchFamily="34" charset="-120"/>
              </a:rPr>
              <a:t>1898</a:t>
            </a:r>
            <a:endParaRPr lang="en-US" sz="1500" dirty="0"/>
          </a:p>
        </p:txBody>
      </p:sp>
      <p:sp>
        <p:nvSpPr>
          <p:cNvPr id="28" name="Text 26"/>
          <p:cNvSpPr/>
          <p:nvPr/>
        </p:nvSpPr>
        <p:spPr>
          <a:xfrm>
            <a:off x="10515600" y="3429000"/>
            <a:ext cx="1554480" cy="320040"/>
          </a:xfrm>
          <a:prstGeom prst="rect">
            <a:avLst/>
          </a:prstGeom>
          <a:noFill/>
          <a:ln/>
        </p:spPr>
        <p:txBody>
          <a:bodyPr wrap="square" lIns="0" tIns="0" rIns="0" bIns="0" rtlCol="0" anchor="ctr"/>
          <a:lstStyle/>
          <a:p>
            <a:pPr algn="ctr" indent="0" marL="0">
              <a:buNone/>
            </a:pPr>
            <a:r>
              <a:rPr lang="en-US" sz="1050" b="1" dirty="0">
                <a:solidFill>
                  <a:srgbClr val="3A2E22"/>
                </a:solidFill>
                <a:latin typeface="Calibri" pitchFamily="34" charset="0"/>
                <a:ea typeface="Calibri" pitchFamily="34" charset="-122"/>
                <a:cs typeface="Calibri" pitchFamily="34" charset="-120"/>
              </a:rPr>
              <a:t>August Bier</a:t>
            </a:r>
            <a:endParaRPr lang="en-US" sz="1050" dirty="0"/>
          </a:p>
        </p:txBody>
      </p:sp>
      <p:sp>
        <p:nvSpPr>
          <p:cNvPr id="29" name="Text 27"/>
          <p:cNvSpPr/>
          <p:nvPr/>
        </p:nvSpPr>
        <p:spPr>
          <a:xfrm>
            <a:off x="10515600" y="3749040"/>
            <a:ext cx="1554480" cy="640080"/>
          </a:xfrm>
          <a:prstGeom prst="rect">
            <a:avLst/>
          </a:prstGeom>
          <a:noFill/>
          <a:ln/>
        </p:spPr>
        <p:txBody>
          <a:bodyPr wrap="square" lIns="0" tIns="0" rIns="0" bIns="0" rtlCol="0" anchor="ctr"/>
          <a:lstStyle/>
          <a:p>
            <a:pPr algn="ctr" indent="0" marL="0">
              <a:lnSpc>
                <a:spcPct val="110000"/>
              </a:lnSpc>
              <a:buNone/>
            </a:pPr>
            <a:r>
              <a:rPr lang="en-US" sz="950" dirty="0">
                <a:solidFill>
                  <a:srgbClr val="7A6A57"/>
                </a:solidFill>
                <a:latin typeface="Calibri" pitchFamily="34" charset="0"/>
                <a:ea typeface="Calibri" pitchFamily="34" charset="-122"/>
                <a:cs typeface="Calibri" pitchFamily="34" charset="-120"/>
              </a:rPr>
              <a:t>Anestesia raquídea</a:t>
            </a:r>
            <a:endParaRPr lang="en-US" sz="950" dirty="0"/>
          </a:p>
        </p:txBody>
      </p:sp>
      <p:sp>
        <p:nvSpPr>
          <p:cNvPr id="30" name="Text 28"/>
          <p:cNvSpPr/>
          <p:nvPr/>
        </p:nvSpPr>
        <p:spPr>
          <a:xfrm>
            <a:off x="548640" y="5394960"/>
            <a:ext cx="11064240" cy="640080"/>
          </a:xfrm>
          <a:prstGeom prst="rect">
            <a:avLst/>
          </a:prstGeom>
          <a:noFill/>
          <a:ln/>
        </p:spPr>
        <p:txBody>
          <a:bodyPr wrap="square" lIns="0" tIns="0" rIns="0" bIns="0" rtlCol="0" anchor="ctr"/>
          <a:lstStyle/>
          <a:p>
            <a:pPr indent="0" marL="0">
              <a:buNone/>
            </a:pPr>
            <a:r>
              <a:rPr lang="en-US" sz="1250" i="1" dirty="0">
                <a:solidFill>
                  <a:srgbClr val="7A6A57"/>
                </a:solidFill>
                <a:latin typeface="Calibri" pitchFamily="34" charset="0"/>
                <a:ea typeface="Calibri" pitchFamily="34" charset="-122"/>
                <a:cs typeface="Calibri" pitchFamily="34" charset="-120"/>
              </a:rPr>
              <a:t>Las próximas diapositivas desarrollan a cada uno de estos pioneros en detalle, junto con quienes consolidaron sus descubrimientos en una práctica clínica segura y reproducible.</a:t>
            </a:r>
            <a:endParaRPr lang="en-US" sz="1250" dirty="0"/>
          </a:p>
        </p:txBody>
      </p:sp>
      <p:sp>
        <p:nvSpPr>
          <p:cNvPr id="31" name="Text 29"/>
          <p:cNvSpPr/>
          <p:nvPr/>
        </p:nvSpPr>
        <p:spPr>
          <a:xfrm>
            <a:off x="548640" y="6473952"/>
            <a:ext cx="6400800" cy="274320"/>
          </a:xfrm>
          <a:prstGeom prst="rect">
            <a:avLst/>
          </a:prstGeom>
          <a:noFill/>
          <a:ln/>
        </p:spPr>
        <p:txBody>
          <a:bodyPr wrap="square" lIns="0" tIns="0" rIns="0" bIns="0" rtlCol="0" anchor="ctr"/>
          <a:lstStyle/>
          <a:p>
            <a:pPr indent="0" marL="0">
              <a:buNone/>
            </a:pPr>
            <a:r>
              <a:rPr lang="en-US" sz="850" spc="100" kern="0" dirty="0">
                <a:solidFill>
                  <a:srgbClr val="7A6A57"/>
                </a:solidFill>
                <a:latin typeface="Calibri" pitchFamily="34" charset="0"/>
                <a:ea typeface="Calibri" pitchFamily="34" charset="-122"/>
                <a:cs typeface="Calibri" pitchFamily="34" charset="-120"/>
              </a:rPr>
              <a:t>CAPÍTULO II  ·  HISTORIA DE LA ANESTESIA</a:t>
            </a:r>
            <a:endParaRPr lang="en-US" sz="850" dirty="0"/>
          </a:p>
        </p:txBody>
      </p:sp>
      <p:sp>
        <p:nvSpPr>
          <p:cNvPr id="32" name="Text 30"/>
          <p:cNvSpPr/>
          <p:nvPr/>
        </p:nvSpPr>
        <p:spPr>
          <a:xfrm>
            <a:off x="10728655" y="6473952"/>
            <a:ext cx="914400" cy="274320"/>
          </a:xfrm>
          <a:prstGeom prst="rect">
            <a:avLst/>
          </a:prstGeom>
          <a:noFill/>
          <a:ln/>
        </p:spPr>
        <p:txBody>
          <a:bodyPr wrap="square" lIns="0" tIns="0" rIns="0" bIns="0" rtlCol="0" anchor="ctr"/>
          <a:lstStyle/>
          <a:p>
            <a:pPr algn="r" indent="0" marL="0">
              <a:buNone/>
            </a:pPr>
            <a:r>
              <a:rPr lang="en-US" sz="850" dirty="0">
                <a:solidFill>
                  <a:srgbClr val="7A6A57"/>
                </a:solidFill>
                <a:latin typeface="Calibri" pitchFamily="34" charset="0"/>
                <a:ea typeface="Calibri" pitchFamily="34" charset="-122"/>
                <a:cs typeface="Calibri" pitchFamily="34" charset="-120"/>
              </a:rPr>
              <a:t>06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lIns="0" tIns="0" rIns="0" bIns="0" rtlCol="0" anchor="ctr"/>
          <a:lstStyle/>
          <a:p>
            <a:pPr indent="0" marL="0">
              <a:buNone/>
            </a:pPr>
            <a:r>
              <a:rPr lang="en-US" sz="1200" b="1" spc="200" kern="0" dirty="0">
                <a:solidFill>
                  <a:srgbClr val="8B5E3C"/>
                </a:solidFill>
                <a:latin typeface="Calibri" pitchFamily="34" charset="0"/>
                <a:ea typeface="Calibri" pitchFamily="34" charset="-122"/>
                <a:cs typeface="Calibri" pitchFamily="34" charset="-120"/>
              </a:rPr>
              <a:t>PIONERO · ÓXIDO NITROSO</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t"/>
          <a:lstStyle/>
          <a:p>
            <a:pPr indent="0" marL="0">
              <a:buNone/>
            </a:pPr>
            <a:r>
              <a:rPr lang="en-US" sz="2900" b="1" dirty="0">
                <a:solidFill>
                  <a:srgbClr val="5C3A21"/>
                </a:solidFill>
                <a:latin typeface="Cambria" pitchFamily="34" charset="0"/>
                <a:ea typeface="Cambria" pitchFamily="34" charset="-122"/>
                <a:cs typeface="Cambria" pitchFamily="34" charset="-120"/>
              </a:rPr>
              <a:t>Horace Wells y el óxido nitroso (1844)</a:t>
            </a:r>
            <a:endParaRPr lang="en-US" sz="2900" dirty="0"/>
          </a:p>
        </p:txBody>
      </p:sp>
      <p:sp>
        <p:nvSpPr>
          <p:cNvPr id="4" name="Shape 2"/>
          <p:cNvSpPr/>
          <p:nvPr/>
        </p:nvSpPr>
        <p:spPr>
          <a:xfrm>
            <a:off x="548640" y="1691640"/>
            <a:ext cx="3383280" cy="4434840"/>
          </a:xfrm>
          <a:prstGeom prst="roundRect">
            <a:avLst>
              <a:gd name="adj" fmla="val 2162"/>
            </a:avLst>
          </a:prstGeom>
          <a:solidFill>
            <a:srgbClr val="8B5E3C">
              <a:alpha val="12000"/>
            </a:srgbClr>
          </a:solidFill>
          <a:ln/>
        </p:spPr>
      </p:sp>
      <p:sp>
        <p:nvSpPr>
          <p:cNvPr id="5" name="Shape 3"/>
          <p:cNvSpPr/>
          <p:nvPr/>
        </p:nvSpPr>
        <p:spPr>
          <a:xfrm>
            <a:off x="1600200" y="2011680"/>
            <a:ext cx="1280160" cy="1280160"/>
          </a:xfrm>
          <a:prstGeom prst="ellipse">
            <a:avLst/>
          </a:prstGeom>
          <a:solidFill>
            <a:srgbClr val="5C3A21"/>
          </a:solidFill>
          <a:ln/>
          <a:effectLst>
            <a:outerShdw sx="100000" sy="100000" kx="0" ky="0" algn="bl" rotWithShape="0" blurRad="101600" dist="38100" dir="5400000">
              <a:srgbClr val="2B2118">
                <a:alpha val="28000"/>
              </a:srgbClr>
            </a:outerShdw>
          </a:effectLst>
        </p:spPr>
      </p:sp>
      <p:pic>
        <p:nvPicPr>
          <p:cNvPr id="6" name="Image 0" descr="preencoded.png">    </p:cNvPr>
          <p:cNvPicPr>
            <a:picLocks noChangeAspect="1"/>
          </p:cNvPicPr>
          <p:nvPr/>
        </p:nvPicPr>
        <p:blipFill>
          <a:blip r:embed="rId1"/>
          <a:stretch>
            <a:fillRect/>
          </a:stretch>
        </p:blipFill>
        <p:spPr>
          <a:xfrm>
            <a:off x="1920240" y="2331720"/>
            <a:ext cx="640080" cy="640080"/>
          </a:xfrm>
          <a:prstGeom prst="rect">
            <a:avLst/>
          </a:prstGeom>
        </p:spPr>
      </p:pic>
      <p:sp>
        <p:nvSpPr>
          <p:cNvPr id="7" name="Text 4"/>
          <p:cNvSpPr/>
          <p:nvPr/>
        </p:nvSpPr>
        <p:spPr>
          <a:xfrm>
            <a:off x="731520" y="3429000"/>
            <a:ext cx="3017520" cy="365760"/>
          </a:xfrm>
          <a:prstGeom prst="rect">
            <a:avLst/>
          </a:prstGeom>
          <a:noFill/>
          <a:ln/>
        </p:spPr>
        <p:txBody>
          <a:bodyPr wrap="square" lIns="0" tIns="0" rIns="0" bIns="0" rtlCol="0" anchor="ctr"/>
          <a:lstStyle/>
          <a:p>
            <a:pPr algn="ctr" indent="0" marL="0">
              <a:buNone/>
            </a:pPr>
            <a:r>
              <a:rPr lang="en-US" sz="1600" b="1" dirty="0">
                <a:solidFill>
                  <a:srgbClr val="5C3A21"/>
                </a:solidFill>
                <a:latin typeface="Cambria" pitchFamily="34" charset="0"/>
                <a:ea typeface="Cambria" pitchFamily="34" charset="-122"/>
                <a:cs typeface="Cambria" pitchFamily="34" charset="-120"/>
              </a:rPr>
              <a:t>1815 – 1848</a:t>
            </a:r>
            <a:endParaRPr lang="en-US" sz="1600" dirty="0"/>
          </a:p>
        </p:txBody>
      </p:sp>
      <p:sp>
        <p:nvSpPr>
          <p:cNvPr id="8" name="Text 5"/>
          <p:cNvSpPr/>
          <p:nvPr/>
        </p:nvSpPr>
        <p:spPr>
          <a:xfrm>
            <a:off x="822960" y="3794760"/>
            <a:ext cx="2834640" cy="2194560"/>
          </a:xfrm>
          <a:prstGeom prst="rect">
            <a:avLst/>
          </a:prstGeom>
          <a:noFill/>
          <a:ln/>
        </p:spPr>
        <p:txBody>
          <a:bodyPr wrap="square" lIns="0" tIns="0" rIns="0" bIns="0" rtlCol="0" anchor="t"/>
          <a:lstStyle/>
          <a:p>
            <a:pPr algn="ctr" indent="0" marL="0">
              <a:lnSpc>
                <a:spcPct val="125000"/>
              </a:lnSpc>
              <a:buNone/>
            </a:pPr>
            <a:r>
              <a:rPr lang="en-US" sz="1150" i="1" dirty="0">
                <a:solidFill>
                  <a:srgbClr val="3A2E22"/>
                </a:solidFill>
                <a:latin typeface="Calibri" pitchFamily="34" charset="0"/>
                <a:ea typeface="Calibri" pitchFamily="34" charset="-122"/>
                <a:cs typeface="Calibri" pitchFamily="34" charset="-120"/>
              </a:rPr>
              <a:t>Dentista</a:t>
            </a:r>
            <a:endParaRPr lang="en-US" sz="1150" dirty="0"/>
          </a:p>
          <a:p>
            <a:pPr algn="ctr" indent="0" marL="0">
              <a:lnSpc>
                <a:spcPct val="125000"/>
              </a:lnSpc>
              <a:buNone/>
            </a:pPr>
            <a:r>
              <a:rPr lang="en-US" sz="1150" i="1" dirty="0">
                <a:solidFill>
                  <a:srgbClr val="3A2E22"/>
                </a:solidFill>
                <a:latin typeface="Calibri" pitchFamily="34" charset="0"/>
                <a:ea typeface="Calibri" pitchFamily="34" charset="-122"/>
                <a:cs typeface="Calibri" pitchFamily="34" charset="-120"/>
              </a:rPr>
              <a:t>Hartford, Connecticut, EE. UU.</a:t>
            </a:r>
            <a:endParaRPr lang="en-US" sz="1150" dirty="0"/>
          </a:p>
        </p:txBody>
      </p:sp>
      <p:sp>
        <p:nvSpPr>
          <p:cNvPr id="9" name="Text 6"/>
          <p:cNvSpPr/>
          <p:nvPr/>
        </p:nvSpPr>
        <p:spPr>
          <a:xfrm>
            <a:off x="4206240" y="1737360"/>
            <a:ext cx="7452360" cy="960120"/>
          </a:xfrm>
          <a:prstGeom prst="rect">
            <a:avLst/>
          </a:prstGeom>
          <a:noFill/>
          <a:ln/>
        </p:spPr>
        <p:txBody>
          <a:bodyPr wrap="square" lIns="0" tIns="0" rIns="0" bIns="0" rtlCol="0" anchor="ctr"/>
          <a:lstStyle/>
          <a:p>
            <a:pPr indent="0" marL="0">
              <a:lnSpc>
                <a:spcPct val="122000"/>
              </a:lnSpc>
              <a:buNone/>
            </a:pPr>
            <a:r>
              <a:rPr lang="en-US" sz="1300" dirty="0">
                <a:solidFill>
                  <a:srgbClr val="3A2E22"/>
                </a:solidFill>
                <a:latin typeface="Calibri" pitchFamily="34" charset="0"/>
                <a:ea typeface="Calibri" pitchFamily="34" charset="-122"/>
                <a:cs typeface="Calibri" pitchFamily="34" charset="-120"/>
              </a:rPr>
              <a:t>Horace Wells fue el primero en concebir la idea de una anestesia general inhalatoria para procedimientos quirúrgicos, tras observar los efectos analgésicos del óxido nitroso ('gas hilarante') en exhibiciones públicas.</a:t>
            </a:r>
            <a:endParaRPr lang="en-US" sz="1300" dirty="0"/>
          </a:p>
        </p:txBody>
      </p:sp>
      <p:sp>
        <p:nvSpPr>
          <p:cNvPr id="10" name="Text 7"/>
          <p:cNvSpPr/>
          <p:nvPr/>
        </p:nvSpPr>
        <p:spPr>
          <a:xfrm>
            <a:off x="4206240" y="2788920"/>
            <a:ext cx="7452360" cy="3200400"/>
          </a:xfrm>
          <a:prstGeom prst="rect">
            <a:avLst/>
          </a:prstGeom>
          <a:noFill/>
          <a:ln/>
        </p:spPr>
        <p:txBody>
          <a:bodyPr wrap="square" lIns="0" tIns="0" rIns="0" bIns="0" rtlCol="0" anchor="t"/>
          <a:lstStyle/>
          <a:p>
            <a:pPr marL="203200" indent="-203200">
              <a:lnSpc>
                <a:spcPct val="105000"/>
              </a:lnSpc>
              <a:spcAft>
                <a:spcPts val="1100"/>
              </a:spcAft>
              <a:buSzPct val="100000"/>
              <a:buChar char="•"/>
            </a:pPr>
            <a:r>
              <a:rPr lang="en-US" sz="1250" dirty="0">
                <a:solidFill>
                  <a:srgbClr val="3A2E22"/>
                </a:solidFill>
                <a:latin typeface="Calibri" pitchFamily="34" charset="0"/>
                <a:ea typeface="Calibri" pitchFamily="34" charset="-122"/>
                <a:cs typeface="Calibri" pitchFamily="34" charset="-120"/>
              </a:rPr>
              <a:t>En diciembre de 1844 se hizo extraer un diente propio bajo óxido nitroso, sin dolor, y comenzó a aplicarlo en su práctica dental.</a:t>
            </a:r>
            <a:endParaRPr lang="en-US" sz="1250" dirty="0"/>
          </a:p>
          <a:p>
            <a:pPr marL="203200" indent="-203200">
              <a:lnSpc>
                <a:spcPct val="105000"/>
              </a:lnSpc>
              <a:spcAft>
                <a:spcPts val="1100"/>
              </a:spcAft>
              <a:buSzPct val="100000"/>
              <a:buChar char="•"/>
            </a:pPr>
            <a:r>
              <a:rPr lang="en-US" sz="1250" dirty="0">
                <a:solidFill>
                  <a:srgbClr val="3A2E22"/>
                </a:solidFill>
                <a:latin typeface="Calibri" pitchFamily="34" charset="0"/>
                <a:ea typeface="Calibri" pitchFamily="34" charset="-122"/>
                <a:cs typeface="Calibri" pitchFamily="34" charset="-120"/>
              </a:rPr>
              <a:t>En enero de 1845 realizó una demostración pública en el Massachusetts General Hospital ante estudiantes de medicina; el paciente se quejó de dolor y la demostración fue considerada un fracaso.</a:t>
            </a:r>
            <a:endParaRPr lang="en-US" sz="1250" dirty="0"/>
          </a:p>
          <a:p>
            <a:pPr marL="203200" indent="-203200">
              <a:lnSpc>
                <a:spcPct val="105000"/>
              </a:lnSpc>
              <a:spcAft>
                <a:spcPts val="1100"/>
              </a:spcAft>
              <a:buSzPct val="100000"/>
              <a:buChar char="•"/>
            </a:pPr>
            <a:r>
              <a:rPr lang="en-US" sz="1250" dirty="0">
                <a:solidFill>
                  <a:srgbClr val="3A2E22"/>
                </a:solidFill>
                <a:latin typeface="Calibri" pitchFamily="34" charset="0"/>
                <a:ea typeface="Calibri" pitchFamily="34" charset="-122"/>
                <a:cs typeface="Calibri" pitchFamily="34" charset="-120"/>
              </a:rPr>
              <a:t>Desacreditado en su época, murió en 1848 sin reconocimiento público de su prioridad.</a:t>
            </a:r>
            <a:endParaRPr lang="en-US" sz="1250" dirty="0"/>
          </a:p>
          <a:p>
            <a:pPr marL="203200" indent="-203200">
              <a:lnSpc>
                <a:spcPct val="105000"/>
              </a:lnSpc>
              <a:spcAft>
                <a:spcPts val="1100"/>
              </a:spcAft>
              <a:buSzPct val="100000"/>
              <a:buChar char="•"/>
            </a:pPr>
            <a:r>
              <a:rPr lang="en-US" sz="1250" dirty="0">
                <a:solidFill>
                  <a:srgbClr val="3A2E22"/>
                </a:solidFill>
                <a:latin typeface="Calibri" pitchFamily="34" charset="0"/>
                <a:ea typeface="Calibri" pitchFamily="34" charset="-122"/>
                <a:cs typeface="Calibri" pitchFamily="34" charset="-120"/>
              </a:rPr>
              <a:t>La American Dental Association y la American Medical Association lo reivindicaron póstumamente como el primer descubridor de la anestesia quirúrgica moderna.</a:t>
            </a:r>
            <a:endParaRPr lang="en-US" sz="1250" dirty="0"/>
          </a:p>
        </p:txBody>
      </p:sp>
      <p:sp>
        <p:nvSpPr>
          <p:cNvPr id="11" name="Text 8"/>
          <p:cNvSpPr/>
          <p:nvPr/>
        </p:nvSpPr>
        <p:spPr>
          <a:xfrm>
            <a:off x="548640" y="6473952"/>
            <a:ext cx="6400800" cy="274320"/>
          </a:xfrm>
          <a:prstGeom prst="rect">
            <a:avLst/>
          </a:prstGeom>
          <a:noFill/>
          <a:ln/>
        </p:spPr>
        <p:txBody>
          <a:bodyPr wrap="square" lIns="0" tIns="0" rIns="0" bIns="0" rtlCol="0" anchor="ctr"/>
          <a:lstStyle/>
          <a:p>
            <a:pPr indent="0" marL="0">
              <a:buNone/>
            </a:pPr>
            <a:r>
              <a:rPr lang="en-US" sz="850" spc="100" kern="0" dirty="0">
                <a:solidFill>
                  <a:srgbClr val="7A6A57"/>
                </a:solidFill>
                <a:latin typeface="Calibri" pitchFamily="34" charset="0"/>
                <a:ea typeface="Calibri" pitchFamily="34" charset="-122"/>
                <a:cs typeface="Calibri" pitchFamily="34" charset="-120"/>
              </a:rPr>
              <a:t>CAPÍTULO II  ·  HISTORIA DE LA ANESTESIA</a:t>
            </a:r>
            <a:endParaRPr lang="en-US" sz="850" dirty="0"/>
          </a:p>
        </p:txBody>
      </p:sp>
      <p:sp>
        <p:nvSpPr>
          <p:cNvPr id="12" name="Text 9"/>
          <p:cNvSpPr/>
          <p:nvPr/>
        </p:nvSpPr>
        <p:spPr>
          <a:xfrm>
            <a:off x="10728655" y="6473952"/>
            <a:ext cx="914400" cy="274320"/>
          </a:xfrm>
          <a:prstGeom prst="rect">
            <a:avLst/>
          </a:prstGeom>
          <a:noFill/>
          <a:ln/>
        </p:spPr>
        <p:txBody>
          <a:bodyPr wrap="square" lIns="0" tIns="0" rIns="0" bIns="0" rtlCol="0" anchor="ctr"/>
          <a:lstStyle/>
          <a:p>
            <a:pPr algn="r" indent="0" marL="0">
              <a:buNone/>
            </a:pPr>
            <a:r>
              <a:rPr lang="en-US" sz="850" dirty="0">
                <a:solidFill>
                  <a:srgbClr val="7A6A57"/>
                </a:solidFill>
                <a:latin typeface="Calibri" pitchFamily="34" charset="0"/>
                <a:ea typeface="Calibri" pitchFamily="34" charset="-122"/>
                <a:cs typeface="Calibri" pitchFamily="34" charset="-120"/>
              </a:rPr>
              <a:t>07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lIns="0" tIns="0" rIns="0" bIns="0" rtlCol="0" anchor="ctr"/>
          <a:lstStyle/>
          <a:p>
            <a:pPr indent="0" marL="0">
              <a:buNone/>
            </a:pPr>
            <a:r>
              <a:rPr lang="en-US" sz="1200" b="1" spc="200" kern="0" dirty="0">
                <a:solidFill>
                  <a:srgbClr val="8B5E3C"/>
                </a:solidFill>
                <a:latin typeface="Calibri" pitchFamily="34" charset="0"/>
                <a:ea typeface="Calibri" pitchFamily="34" charset="-122"/>
                <a:cs typeface="Calibri" pitchFamily="34" charset="-120"/>
              </a:rPr>
              <a:t>PIONERO · ÉTER DIETÍLICO</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t"/>
          <a:lstStyle/>
          <a:p>
            <a:pPr indent="0" marL="0">
              <a:buNone/>
            </a:pPr>
            <a:r>
              <a:rPr lang="en-US" sz="2900" b="1" dirty="0">
                <a:solidFill>
                  <a:srgbClr val="5C3A21"/>
                </a:solidFill>
                <a:latin typeface="Cambria" pitchFamily="34" charset="0"/>
                <a:ea typeface="Cambria" pitchFamily="34" charset="-122"/>
                <a:cs typeface="Cambria" pitchFamily="34" charset="-120"/>
              </a:rPr>
              <a:t>Crawford Long y el uso pionero del éter (1842)</a:t>
            </a:r>
            <a:endParaRPr lang="en-US" sz="2900" dirty="0"/>
          </a:p>
        </p:txBody>
      </p:sp>
      <p:sp>
        <p:nvSpPr>
          <p:cNvPr id="4" name="Shape 2"/>
          <p:cNvSpPr/>
          <p:nvPr/>
        </p:nvSpPr>
        <p:spPr>
          <a:xfrm>
            <a:off x="548640" y="1691640"/>
            <a:ext cx="3383280" cy="4434840"/>
          </a:xfrm>
          <a:prstGeom prst="roundRect">
            <a:avLst>
              <a:gd name="adj" fmla="val 2162"/>
            </a:avLst>
          </a:prstGeom>
          <a:solidFill>
            <a:srgbClr val="8B5E3C">
              <a:alpha val="12000"/>
            </a:srgbClr>
          </a:solidFill>
          <a:ln/>
        </p:spPr>
      </p:sp>
      <p:sp>
        <p:nvSpPr>
          <p:cNvPr id="5" name="Shape 3"/>
          <p:cNvSpPr/>
          <p:nvPr/>
        </p:nvSpPr>
        <p:spPr>
          <a:xfrm>
            <a:off x="1600200" y="2011680"/>
            <a:ext cx="1280160" cy="1280160"/>
          </a:xfrm>
          <a:prstGeom prst="ellipse">
            <a:avLst/>
          </a:prstGeom>
          <a:solidFill>
            <a:srgbClr val="5C3A21"/>
          </a:solidFill>
          <a:ln/>
          <a:effectLst>
            <a:outerShdw sx="100000" sy="100000" kx="0" ky="0" algn="bl" rotWithShape="0" blurRad="101600" dist="38100" dir="5400000">
              <a:srgbClr val="2B2118">
                <a:alpha val="28000"/>
              </a:srgbClr>
            </a:outerShdw>
          </a:effectLst>
        </p:spPr>
      </p:sp>
      <p:pic>
        <p:nvPicPr>
          <p:cNvPr id="6" name="Image 0" descr="preencoded.png">    </p:cNvPr>
          <p:cNvPicPr>
            <a:picLocks noChangeAspect="1"/>
          </p:cNvPicPr>
          <p:nvPr/>
        </p:nvPicPr>
        <p:blipFill>
          <a:blip r:embed="rId1"/>
          <a:stretch>
            <a:fillRect/>
          </a:stretch>
        </p:blipFill>
        <p:spPr>
          <a:xfrm>
            <a:off x="1920240" y="2331720"/>
            <a:ext cx="640080" cy="640080"/>
          </a:xfrm>
          <a:prstGeom prst="rect">
            <a:avLst/>
          </a:prstGeom>
        </p:spPr>
      </p:pic>
      <p:sp>
        <p:nvSpPr>
          <p:cNvPr id="7" name="Text 4"/>
          <p:cNvSpPr/>
          <p:nvPr/>
        </p:nvSpPr>
        <p:spPr>
          <a:xfrm>
            <a:off x="731520" y="3429000"/>
            <a:ext cx="3017520" cy="365760"/>
          </a:xfrm>
          <a:prstGeom prst="rect">
            <a:avLst/>
          </a:prstGeom>
          <a:noFill/>
          <a:ln/>
        </p:spPr>
        <p:txBody>
          <a:bodyPr wrap="square" lIns="0" tIns="0" rIns="0" bIns="0" rtlCol="0" anchor="ctr"/>
          <a:lstStyle/>
          <a:p>
            <a:pPr algn="ctr" indent="0" marL="0">
              <a:buNone/>
            </a:pPr>
            <a:r>
              <a:rPr lang="en-US" sz="1600" b="1" dirty="0">
                <a:solidFill>
                  <a:srgbClr val="5C3A21"/>
                </a:solidFill>
                <a:latin typeface="Cambria" pitchFamily="34" charset="0"/>
                <a:ea typeface="Cambria" pitchFamily="34" charset="-122"/>
                <a:cs typeface="Cambria" pitchFamily="34" charset="-120"/>
              </a:rPr>
              <a:t>1815 – 1878</a:t>
            </a:r>
            <a:endParaRPr lang="en-US" sz="1600" dirty="0"/>
          </a:p>
        </p:txBody>
      </p:sp>
      <p:sp>
        <p:nvSpPr>
          <p:cNvPr id="8" name="Text 5"/>
          <p:cNvSpPr/>
          <p:nvPr/>
        </p:nvSpPr>
        <p:spPr>
          <a:xfrm>
            <a:off x="822960" y="3794760"/>
            <a:ext cx="2834640" cy="2194560"/>
          </a:xfrm>
          <a:prstGeom prst="rect">
            <a:avLst/>
          </a:prstGeom>
          <a:noFill/>
          <a:ln/>
        </p:spPr>
        <p:txBody>
          <a:bodyPr wrap="square" lIns="0" tIns="0" rIns="0" bIns="0" rtlCol="0" anchor="t"/>
          <a:lstStyle/>
          <a:p>
            <a:pPr algn="ctr" indent="0" marL="0">
              <a:lnSpc>
                <a:spcPct val="125000"/>
              </a:lnSpc>
              <a:buNone/>
            </a:pPr>
            <a:r>
              <a:rPr lang="en-US" sz="1150" i="1" dirty="0">
                <a:solidFill>
                  <a:srgbClr val="3A2E22"/>
                </a:solidFill>
                <a:latin typeface="Calibri" pitchFamily="34" charset="0"/>
                <a:ea typeface="Calibri" pitchFamily="34" charset="-122"/>
                <a:cs typeface="Calibri" pitchFamily="34" charset="-120"/>
              </a:rPr>
              <a:t>Cirujano rural</a:t>
            </a:r>
            <a:endParaRPr lang="en-US" sz="1150" dirty="0"/>
          </a:p>
          <a:p>
            <a:pPr algn="ctr" indent="0" marL="0">
              <a:lnSpc>
                <a:spcPct val="125000"/>
              </a:lnSpc>
              <a:buNone/>
            </a:pPr>
            <a:r>
              <a:rPr lang="en-US" sz="1150" i="1" dirty="0">
                <a:solidFill>
                  <a:srgbClr val="3A2E22"/>
                </a:solidFill>
                <a:latin typeface="Calibri" pitchFamily="34" charset="0"/>
                <a:ea typeface="Calibri" pitchFamily="34" charset="-122"/>
                <a:cs typeface="Calibri" pitchFamily="34" charset="-120"/>
              </a:rPr>
              <a:t>Jefferson, Georgia, EE. UU.</a:t>
            </a:r>
            <a:endParaRPr lang="en-US" sz="1150" dirty="0"/>
          </a:p>
        </p:txBody>
      </p:sp>
      <p:sp>
        <p:nvSpPr>
          <p:cNvPr id="9" name="Text 6"/>
          <p:cNvSpPr/>
          <p:nvPr/>
        </p:nvSpPr>
        <p:spPr>
          <a:xfrm>
            <a:off x="4206240" y="1737360"/>
            <a:ext cx="7452360" cy="960120"/>
          </a:xfrm>
          <a:prstGeom prst="rect">
            <a:avLst/>
          </a:prstGeom>
          <a:noFill/>
          <a:ln/>
        </p:spPr>
        <p:txBody>
          <a:bodyPr wrap="square" lIns="0" tIns="0" rIns="0" bIns="0" rtlCol="0" anchor="ctr"/>
          <a:lstStyle/>
          <a:p>
            <a:pPr indent="0" marL="0">
              <a:lnSpc>
                <a:spcPct val="122000"/>
              </a:lnSpc>
              <a:buNone/>
            </a:pPr>
            <a:r>
              <a:rPr lang="en-US" sz="1300" dirty="0">
                <a:solidFill>
                  <a:srgbClr val="3A2E22"/>
                </a:solidFill>
                <a:latin typeface="Calibri" pitchFamily="34" charset="0"/>
                <a:ea typeface="Calibri" pitchFamily="34" charset="-122"/>
                <a:cs typeface="Calibri" pitchFamily="34" charset="-120"/>
              </a:rPr>
              <a:t>Crawford Long fue, cronológicamente, el primer médico documentado en emplear éter dietílico con fines quirúrgicos, adelantándose más de cuatro años a la demostración pública de Morton.</a:t>
            </a:r>
            <a:endParaRPr lang="en-US" sz="1300" dirty="0"/>
          </a:p>
        </p:txBody>
      </p:sp>
      <p:sp>
        <p:nvSpPr>
          <p:cNvPr id="10" name="Text 7"/>
          <p:cNvSpPr/>
          <p:nvPr/>
        </p:nvSpPr>
        <p:spPr>
          <a:xfrm>
            <a:off x="4206240" y="2788920"/>
            <a:ext cx="7452360" cy="3200400"/>
          </a:xfrm>
          <a:prstGeom prst="rect">
            <a:avLst/>
          </a:prstGeom>
          <a:noFill/>
          <a:ln/>
        </p:spPr>
        <p:txBody>
          <a:bodyPr wrap="square" lIns="0" tIns="0" rIns="0" bIns="0" rtlCol="0" anchor="t"/>
          <a:lstStyle/>
          <a:p>
            <a:pPr marL="203200" indent="-203200">
              <a:lnSpc>
                <a:spcPct val="105000"/>
              </a:lnSpc>
              <a:spcAft>
                <a:spcPts val="1100"/>
              </a:spcAft>
              <a:buSzPct val="100000"/>
              <a:buChar char="•"/>
            </a:pPr>
            <a:r>
              <a:rPr lang="en-US" sz="1250" dirty="0">
                <a:solidFill>
                  <a:srgbClr val="3A2E22"/>
                </a:solidFill>
                <a:latin typeface="Calibri" pitchFamily="34" charset="0"/>
                <a:ea typeface="Calibri" pitchFamily="34" charset="-122"/>
                <a:cs typeface="Calibri" pitchFamily="34" charset="-120"/>
              </a:rPr>
              <a:t>El 30 de marzo de 1842 extirpó un tumor del cuello a su paciente James Venable bajo inhalación de éter, sin que este refiriera dolor.</a:t>
            </a:r>
            <a:endParaRPr lang="en-US" sz="1250" dirty="0"/>
          </a:p>
          <a:p>
            <a:pPr marL="203200" indent="-203200">
              <a:lnSpc>
                <a:spcPct val="105000"/>
              </a:lnSpc>
              <a:spcAft>
                <a:spcPts val="1100"/>
              </a:spcAft>
              <a:buSzPct val="100000"/>
              <a:buChar char="•"/>
            </a:pPr>
            <a:r>
              <a:rPr lang="en-US" sz="1250" dirty="0">
                <a:solidFill>
                  <a:srgbClr val="3A2E22"/>
                </a:solidFill>
                <a:latin typeface="Calibri" pitchFamily="34" charset="0"/>
                <a:ea typeface="Calibri" pitchFamily="34" charset="-122"/>
                <a:cs typeface="Calibri" pitchFamily="34" charset="-120"/>
              </a:rPr>
              <a:t>Conocía el éter por las 'ether frolics' (fiestas recreativas con inhalación de éter), populares entre estudiantes de la época.</a:t>
            </a:r>
            <a:endParaRPr lang="en-US" sz="1250" dirty="0"/>
          </a:p>
          <a:p>
            <a:pPr marL="203200" indent="-203200">
              <a:lnSpc>
                <a:spcPct val="105000"/>
              </a:lnSpc>
              <a:spcAft>
                <a:spcPts val="1100"/>
              </a:spcAft>
              <a:buSzPct val="100000"/>
              <a:buChar char="•"/>
            </a:pPr>
            <a:r>
              <a:rPr lang="en-US" sz="1250" dirty="0">
                <a:solidFill>
                  <a:srgbClr val="3A2E22"/>
                </a:solidFill>
                <a:latin typeface="Calibri" pitchFamily="34" charset="0"/>
                <a:ea typeface="Calibri" pitchFamily="34" charset="-122"/>
                <a:cs typeface="Calibri" pitchFamily="34" charset="-120"/>
              </a:rPr>
              <a:t>No publicó sus resultados hasta 1849, tres años después de la demostración de Morton, por lo que perdió la prioridad histórica pública del descubrimiento.</a:t>
            </a:r>
            <a:endParaRPr lang="en-US" sz="1250" dirty="0"/>
          </a:p>
          <a:p>
            <a:pPr marL="203200" indent="-203200">
              <a:lnSpc>
                <a:spcPct val="105000"/>
              </a:lnSpc>
              <a:spcAft>
                <a:spcPts val="1100"/>
              </a:spcAft>
              <a:buSzPct val="100000"/>
              <a:buChar char="•"/>
            </a:pPr>
            <a:r>
              <a:rPr lang="en-US" sz="1250" dirty="0">
                <a:solidFill>
                  <a:srgbClr val="3A2E22"/>
                </a:solidFill>
                <a:latin typeface="Calibri" pitchFamily="34" charset="0"/>
                <a:ea typeface="Calibri" pitchFamily="34" charset="-122"/>
                <a:cs typeface="Calibri" pitchFamily="34" charset="-120"/>
              </a:rPr>
              <a:t>En su honor, el 30 de marzo se celebra en EE. UU. como el 'Doctors' Day' (Día del Médico).</a:t>
            </a:r>
            <a:endParaRPr lang="en-US" sz="1250" dirty="0"/>
          </a:p>
        </p:txBody>
      </p:sp>
      <p:sp>
        <p:nvSpPr>
          <p:cNvPr id="11" name="Text 8"/>
          <p:cNvSpPr/>
          <p:nvPr/>
        </p:nvSpPr>
        <p:spPr>
          <a:xfrm>
            <a:off x="548640" y="6473952"/>
            <a:ext cx="6400800" cy="274320"/>
          </a:xfrm>
          <a:prstGeom prst="rect">
            <a:avLst/>
          </a:prstGeom>
          <a:noFill/>
          <a:ln/>
        </p:spPr>
        <p:txBody>
          <a:bodyPr wrap="square" lIns="0" tIns="0" rIns="0" bIns="0" rtlCol="0" anchor="ctr"/>
          <a:lstStyle/>
          <a:p>
            <a:pPr indent="0" marL="0">
              <a:buNone/>
            </a:pPr>
            <a:r>
              <a:rPr lang="en-US" sz="850" spc="100" kern="0" dirty="0">
                <a:solidFill>
                  <a:srgbClr val="7A6A57"/>
                </a:solidFill>
                <a:latin typeface="Calibri" pitchFamily="34" charset="0"/>
                <a:ea typeface="Calibri" pitchFamily="34" charset="-122"/>
                <a:cs typeface="Calibri" pitchFamily="34" charset="-120"/>
              </a:rPr>
              <a:t>CAPÍTULO II  ·  HISTORIA DE LA ANESTESIA</a:t>
            </a:r>
            <a:endParaRPr lang="en-US" sz="850" dirty="0"/>
          </a:p>
        </p:txBody>
      </p:sp>
      <p:sp>
        <p:nvSpPr>
          <p:cNvPr id="12" name="Text 9"/>
          <p:cNvSpPr/>
          <p:nvPr/>
        </p:nvSpPr>
        <p:spPr>
          <a:xfrm>
            <a:off x="10728655" y="6473952"/>
            <a:ext cx="914400" cy="274320"/>
          </a:xfrm>
          <a:prstGeom prst="rect">
            <a:avLst/>
          </a:prstGeom>
          <a:noFill/>
          <a:ln/>
        </p:spPr>
        <p:txBody>
          <a:bodyPr wrap="square" lIns="0" tIns="0" rIns="0" bIns="0" rtlCol="0" anchor="ctr"/>
          <a:lstStyle/>
          <a:p>
            <a:pPr algn="r" indent="0" marL="0">
              <a:buNone/>
            </a:pPr>
            <a:r>
              <a:rPr lang="en-US" sz="850" dirty="0">
                <a:solidFill>
                  <a:srgbClr val="7A6A57"/>
                </a:solidFill>
                <a:latin typeface="Calibri" pitchFamily="34" charset="0"/>
                <a:ea typeface="Calibri" pitchFamily="34" charset="-122"/>
                <a:cs typeface="Calibri" pitchFamily="34" charset="-120"/>
              </a:rPr>
              <a:t>08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lIns="0" tIns="0" rIns="0" bIns="0" rtlCol="0" anchor="ctr"/>
          <a:lstStyle/>
          <a:p>
            <a:pPr indent="0" marL="0">
              <a:buNone/>
            </a:pPr>
            <a:r>
              <a:rPr lang="en-US" sz="1200" b="1" spc="200" kern="0" dirty="0">
                <a:solidFill>
                  <a:srgbClr val="8B5E3C"/>
                </a:solidFill>
                <a:latin typeface="Calibri" pitchFamily="34" charset="0"/>
                <a:ea typeface="Calibri" pitchFamily="34" charset="-122"/>
                <a:cs typeface="Calibri" pitchFamily="34" charset="-120"/>
              </a:rPr>
              <a:t>EL HITO FUNDACIONAL</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t"/>
          <a:lstStyle/>
          <a:p>
            <a:pPr indent="0" marL="0">
              <a:buNone/>
            </a:pPr>
            <a:r>
              <a:rPr lang="en-US" sz="2900" b="1" dirty="0">
                <a:solidFill>
                  <a:srgbClr val="5C3A21"/>
                </a:solidFill>
                <a:latin typeface="Cambria" pitchFamily="34" charset="0"/>
                <a:ea typeface="Cambria" pitchFamily="34" charset="-122"/>
                <a:cs typeface="Cambria" pitchFamily="34" charset="-120"/>
              </a:rPr>
              <a:t>William T. G. Morton y el Día del Éter</a:t>
            </a:r>
            <a:endParaRPr lang="en-US" sz="2900" dirty="0"/>
          </a:p>
        </p:txBody>
      </p:sp>
      <p:sp>
        <p:nvSpPr>
          <p:cNvPr id="4" name="Shape 2"/>
          <p:cNvSpPr/>
          <p:nvPr/>
        </p:nvSpPr>
        <p:spPr>
          <a:xfrm>
            <a:off x="548640" y="1691640"/>
            <a:ext cx="6949440" cy="4434840"/>
          </a:xfrm>
          <a:prstGeom prst="roundRect">
            <a:avLst>
              <a:gd name="adj" fmla="val 1649"/>
            </a:avLst>
          </a:prstGeom>
          <a:solidFill>
            <a:srgbClr val="C9A66B">
              <a:alpha val="10000"/>
            </a:srgbClr>
          </a:solidFill>
          <a:ln/>
        </p:spPr>
      </p:sp>
      <p:sp>
        <p:nvSpPr>
          <p:cNvPr id="5" name="Text 3"/>
          <p:cNvSpPr/>
          <p:nvPr/>
        </p:nvSpPr>
        <p:spPr>
          <a:xfrm>
            <a:off x="868680" y="1965960"/>
            <a:ext cx="6309360" cy="1234440"/>
          </a:xfrm>
          <a:prstGeom prst="rect">
            <a:avLst/>
          </a:prstGeom>
          <a:noFill/>
          <a:ln/>
        </p:spPr>
        <p:txBody>
          <a:bodyPr wrap="square" lIns="0" tIns="0" rIns="0" bIns="0" rtlCol="0" anchor="ctr"/>
          <a:lstStyle/>
          <a:p>
            <a:pPr indent="0" marL="0">
              <a:lnSpc>
                <a:spcPct val="125000"/>
              </a:lnSpc>
              <a:buNone/>
            </a:pPr>
            <a:r>
              <a:rPr lang="en-US" sz="1350" dirty="0">
                <a:solidFill>
                  <a:srgbClr val="3A2E22"/>
                </a:solidFill>
                <a:latin typeface="Calibri" pitchFamily="34" charset="0"/>
                <a:ea typeface="Calibri" pitchFamily="34" charset="-122"/>
                <a:cs typeface="Calibri" pitchFamily="34" charset="-120"/>
              </a:rPr>
              <a:t>El 16 de octubre de 1846, en el 'Ether Dome' del Massachusetts General Hospital (Boston), el dentista William T. G. Morton administró éter dietílico a Edward Gilbert Abbott mientras el cirujano John Collins Warren extirpaba un tumor vascular del cuello.</a:t>
            </a:r>
            <a:endParaRPr lang="en-US" sz="1350" dirty="0"/>
          </a:p>
        </p:txBody>
      </p:sp>
      <p:sp>
        <p:nvSpPr>
          <p:cNvPr id="6" name="Shape 4"/>
          <p:cNvSpPr/>
          <p:nvPr/>
        </p:nvSpPr>
        <p:spPr>
          <a:xfrm>
            <a:off x="868680" y="3337560"/>
            <a:ext cx="0" cy="1005840"/>
          </a:xfrm>
          <a:prstGeom prst="line">
            <a:avLst/>
          </a:prstGeom>
          <a:noFill/>
          <a:ln w="25400">
            <a:solidFill>
              <a:srgbClr val="8B5E3C"/>
            </a:solidFill>
            <a:prstDash val="solid"/>
          </a:ln>
        </p:spPr>
      </p:sp>
      <p:sp>
        <p:nvSpPr>
          <p:cNvPr id="7" name="Text 5"/>
          <p:cNvSpPr/>
          <p:nvPr/>
        </p:nvSpPr>
        <p:spPr>
          <a:xfrm>
            <a:off x="1234440" y="3291840"/>
            <a:ext cx="5760720" cy="502920"/>
          </a:xfrm>
          <a:prstGeom prst="rect">
            <a:avLst/>
          </a:prstGeom>
          <a:noFill/>
          <a:ln/>
        </p:spPr>
        <p:txBody>
          <a:bodyPr wrap="square" lIns="0" tIns="0" rIns="0" bIns="0" rtlCol="0" anchor="ctr"/>
          <a:lstStyle/>
          <a:p>
            <a:pPr indent="0" marL="0">
              <a:buNone/>
            </a:pPr>
            <a:r>
              <a:rPr lang="en-US" sz="2000" b="1" i="1" dirty="0">
                <a:solidFill>
                  <a:srgbClr val="5C3A21"/>
                </a:solidFill>
                <a:latin typeface="Cambria" pitchFamily="34" charset="0"/>
                <a:ea typeface="Cambria" pitchFamily="34" charset="-122"/>
                <a:cs typeface="Cambria" pitchFamily="34" charset="-120"/>
              </a:rPr>
              <a:t>“Gentlemen, this is no humbug.”</a:t>
            </a:r>
            <a:endParaRPr lang="en-US" sz="2000" dirty="0"/>
          </a:p>
        </p:txBody>
      </p:sp>
      <p:sp>
        <p:nvSpPr>
          <p:cNvPr id="8" name="Text 6"/>
          <p:cNvSpPr/>
          <p:nvPr/>
        </p:nvSpPr>
        <p:spPr>
          <a:xfrm>
            <a:off x="1234440" y="3840480"/>
            <a:ext cx="5943600" cy="548640"/>
          </a:xfrm>
          <a:prstGeom prst="rect">
            <a:avLst/>
          </a:prstGeom>
          <a:noFill/>
          <a:ln/>
        </p:spPr>
        <p:txBody>
          <a:bodyPr wrap="square" lIns="0" tIns="0" rIns="0" bIns="0" rtlCol="0" anchor="ctr"/>
          <a:lstStyle/>
          <a:p>
            <a:pPr indent="0" marL="0">
              <a:buNone/>
            </a:pPr>
            <a:r>
              <a:rPr lang="en-US" sz="1100" i="1" dirty="0">
                <a:solidFill>
                  <a:srgbClr val="7A6A57"/>
                </a:solidFill>
                <a:latin typeface="Calibri" pitchFamily="34" charset="0"/>
                <a:ea typeface="Calibri" pitchFamily="34" charset="-122"/>
                <a:cs typeface="Calibri" pitchFamily="34" charset="-120"/>
              </a:rPr>
              <a:t>— Palabras atribuidas al Dr. John Collins Warren tras completar la cirugía sin que el paciente manifestara dolor.</a:t>
            </a:r>
            <a:endParaRPr lang="en-US" sz="1100" dirty="0"/>
          </a:p>
        </p:txBody>
      </p:sp>
      <p:sp>
        <p:nvSpPr>
          <p:cNvPr id="9" name="Text 7"/>
          <p:cNvSpPr/>
          <p:nvPr/>
        </p:nvSpPr>
        <p:spPr>
          <a:xfrm>
            <a:off x="868680" y="4663440"/>
            <a:ext cx="6309360" cy="1280160"/>
          </a:xfrm>
          <a:prstGeom prst="rect">
            <a:avLst/>
          </a:prstGeom>
          <a:noFill/>
          <a:ln/>
        </p:spPr>
        <p:txBody>
          <a:bodyPr wrap="square" lIns="0" tIns="0" rIns="0" bIns="0" rtlCol="0" anchor="ctr"/>
          <a:lstStyle/>
          <a:p>
            <a:pPr indent="0" marL="0">
              <a:lnSpc>
                <a:spcPct val="125000"/>
              </a:lnSpc>
              <a:buNone/>
            </a:pPr>
            <a:r>
              <a:rPr lang="en-US" sz="1250" dirty="0">
                <a:solidFill>
                  <a:srgbClr val="3A2E22"/>
                </a:solidFill>
                <a:latin typeface="Calibri" pitchFamily="34" charset="0"/>
                <a:ea typeface="Calibri" pitchFamily="34" charset="-122"/>
                <a:cs typeface="Calibri" pitchFamily="34" charset="-120"/>
              </a:rPr>
              <a:t>Este evento —documentado, público y exitosamente replicable— marca el nacimiento de la anestesia quirúrgica moderna y es considerado el hito fundacional de la especialidad.</a:t>
            </a:r>
            <a:endParaRPr lang="en-US" sz="1250" dirty="0"/>
          </a:p>
        </p:txBody>
      </p:sp>
      <p:sp>
        <p:nvSpPr>
          <p:cNvPr id="10" name="Shape 8"/>
          <p:cNvSpPr/>
          <p:nvPr/>
        </p:nvSpPr>
        <p:spPr>
          <a:xfrm>
            <a:off x="7452360" y="1783080"/>
            <a:ext cx="1234440" cy="1234440"/>
          </a:xfrm>
          <a:prstGeom prst="ellipse">
            <a:avLst/>
          </a:prstGeom>
          <a:solidFill>
            <a:srgbClr val="5C3A21"/>
          </a:solidFill>
          <a:ln/>
          <a:effectLst>
            <a:outerShdw sx="100000" sy="100000" kx="0" ky="0" algn="bl" rotWithShape="0" blurRad="101600" dist="38100" dir="5400000">
              <a:srgbClr val="2B2118">
                <a:alpha val="28000"/>
              </a:srgbClr>
            </a:outerShdw>
          </a:effectLst>
        </p:spPr>
      </p:sp>
      <p:pic>
        <p:nvPicPr>
          <p:cNvPr id="11" name="Image 0" descr="preencoded.png">    </p:cNvPr>
          <p:cNvPicPr>
            <a:picLocks noChangeAspect="1"/>
          </p:cNvPicPr>
          <p:nvPr/>
        </p:nvPicPr>
        <p:blipFill>
          <a:blip r:embed="rId1"/>
          <a:stretch>
            <a:fillRect/>
          </a:stretch>
        </p:blipFill>
        <p:spPr>
          <a:xfrm>
            <a:off x="7760970" y="2091690"/>
            <a:ext cx="617220" cy="617220"/>
          </a:xfrm>
          <a:prstGeom prst="rect">
            <a:avLst/>
          </a:prstGeom>
        </p:spPr>
      </p:pic>
      <p:sp>
        <p:nvSpPr>
          <p:cNvPr id="12" name="Text 9"/>
          <p:cNvSpPr/>
          <p:nvPr/>
        </p:nvSpPr>
        <p:spPr>
          <a:xfrm>
            <a:off x="7315200" y="3200400"/>
            <a:ext cx="1508760" cy="822960"/>
          </a:xfrm>
          <a:prstGeom prst="rect">
            <a:avLst/>
          </a:prstGeom>
          <a:noFill/>
          <a:ln/>
        </p:spPr>
        <p:txBody>
          <a:bodyPr wrap="square" lIns="0" tIns="0" rIns="0" bIns="0" rtlCol="0" anchor="ctr"/>
          <a:lstStyle/>
          <a:p>
            <a:pPr algn="ctr" indent="0" marL="0">
              <a:buNone/>
            </a:pPr>
            <a:r>
              <a:rPr lang="en-US" sz="4600" b="1" dirty="0">
                <a:solidFill>
                  <a:srgbClr val="5C3A21"/>
                </a:solidFill>
                <a:latin typeface="Cambria" pitchFamily="34" charset="0"/>
                <a:ea typeface="Cambria" pitchFamily="34" charset="-122"/>
                <a:cs typeface="Cambria" pitchFamily="34" charset="-120"/>
              </a:rPr>
              <a:t>16</a:t>
            </a:r>
            <a:endParaRPr lang="en-US" sz="4600" dirty="0"/>
          </a:p>
        </p:txBody>
      </p:sp>
      <p:sp>
        <p:nvSpPr>
          <p:cNvPr id="13" name="Text 10"/>
          <p:cNvSpPr/>
          <p:nvPr/>
        </p:nvSpPr>
        <p:spPr>
          <a:xfrm>
            <a:off x="7315200" y="3977640"/>
            <a:ext cx="1508760" cy="548640"/>
          </a:xfrm>
          <a:prstGeom prst="rect">
            <a:avLst/>
          </a:prstGeom>
          <a:noFill/>
          <a:ln/>
        </p:spPr>
        <p:txBody>
          <a:bodyPr wrap="square" lIns="0" tIns="0" rIns="0" bIns="0" rtlCol="0" anchor="ctr"/>
          <a:lstStyle/>
          <a:p>
            <a:pPr algn="ctr" indent="0" marL="0">
              <a:buNone/>
            </a:pPr>
            <a:r>
              <a:rPr lang="en-US" sz="1050" b="1" spc="100" kern="0" dirty="0">
                <a:solidFill>
                  <a:srgbClr val="8B5E3C"/>
                </a:solidFill>
                <a:latin typeface="Calibri" pitchFamily="34" charset="0"/>
                <a:ea typeface="Calibri" pitchFamily="34" charset="-122"/>
                <a:cs typeface="Calibri" pitchFamily="34" charset="-120"/>
              </a:rPr>
              <a:t>DE OCTUBRE</a:t>
            </a:r>
            <a:endParaRPr lang="en-US" sz="1050" dirty="0"/>
          </a:p>
          <a:p>
            <a:pPr algn="ctr" indent="0" marL="0">
              <a:buNone/>
            </a:pPr>
            <a:r>
              <a:rPr lang="en-US" sz="1050" b="1" spc="100" kern="0" dirty="0">
                <a:solidFill>
                  <a:srgbClr val="8B5E3C"/>
                </a:solidFill>
                <a:latin typeface="Calibri" pitchFamily="34" charset="0"/>
                <a:ea typeface="Calibri" pitchFamily="34" charset="-122"/>
                <a:cs typeface="Calibri" pitchFamily="34" charset="-120"/>
              </a:rPr>
              <a:t>DE 1846</a:t>
            </a:r>
            <a:endParaRPr lang="en-US" sz="1050" dirty="0"/>
          </a:p>
        </p:txBody>
      </p:sp>
      <p:sp>
        <p:nvSpPr>
          <p:cNvPr id="14" name="Text 11"/>
          <p:cNvSpPr/>
          <p:nvPr/>
        </p:nvSpPr>
        <p:spPr>
          <a:xfrm>
            <a:off x="7315200" y="4709160"/>
            <a:ext cx="1508760" cy="1280160"/>
          </a:xfrm>
          <a:prstGeom prst="rect">
            <a:avLst/>
          </a:prstGeom>
          <a:noFill/>
          <a:ln/>
        </p:spPr>
        <p:txBody>
          <a:bodyPr wrap="square" lIns="0" tIns="0" rIns="0" bIns="0" rtlCol="0" anchor="ctr"/>
          <a:lstStyle/>
          <a:p>
            <a:pPr algn="ctr" indent="0" marL="0">
              <a:lnSpc>
                <a:spcPct val="120000"/>
              </a:lnSpc>
              <a:buNone/>
            </a:pPr>
            <a:r>
              <a:rPr lang="en-US" sz="1000" i="1" dirty="0">
                <a:solidFill>
                  <a:srgbClr val="7A6A57"/>
                </a:solidFill>
                <a:latin typeface="Calibri" pitchFamily="34" charset="0"/>
                <a:ea typeface="Calibri" pitchFamily="34" charset="-122"/>
                <a:cs typeface="Calibri" pitchFamily="34" charset="-120"/>
              </a:rPr>
              <a:t>“Día del Éter”</a:t>
            </a:r>
            <a:endParaRPr lang="en-US" sz="1000" dirty="0"/>
          </a:p>
          <a:p>
            <a:pPr algn="ctr" indent="0" marL="0">
              <a:lnSpc>
                <a:spcPct val="120000"/>
              </a:lnSpc>
              <a:buNone/>
            </a:pPr>
            <a:r>
              <a:rPr lang="en-US" sz="1000" i="1" dirty="0">
                <a:solidFill>
                  <a:srgbClr val="7A6A57"/>
                </a:solidFill>
                <a:latin typeface="Calibri" pitchFamily="34" charset="0"/>
                <a:ea typeface="Calibri" pitchFamily="34" charset="-122"/>
                <a:cs typeface="Calibri" pitchFamily="34" charset="-120"/>
              </a:rPr>
              <a:t>Ether Dome, Massachusetts</a:t>
            </a:r>
            <a:endParaRPr lang="en-US" sz="1000" dirty="0"/>
          </a:p>
          <a:p>
            <a:pPr algn="ctr" indent="0" marL="0">
              <a:lnSpc>
                <a:spcPct val="120000"/>
              </a:lnSpc>
              <a:buNone/>
            </a:pPr>
            <a:r>
              <a:rPr lang="en-US" sz="1000" i="1" dirty="0">
                <a:solidFill>
                  <a:srgbClr val="7A6A57"/>
                </a:solidFill>
                <a:latin typeface="Calibri" pitchFamily="34" charset="0"/>
                <a:ea typeface="Calibri" pitchFamily="34" charset="-122"/>
                <a:cs typeface="Calibri" pitchFamily="34" charset="-120"/>
              </a:rPr>
              <a:t>General Hospital, Boston</a:t>
            </a:r>
            <a:endParaRPr lang="en-US" sz="1000" dirty="0"/>
          </a:p>
        </p:txBody>
      </p:sp>
      <p:sp>
        <p:nvSpPr>
          <p:cNvPr id="15" name="Text 12"/>
          <p:cNvSpPr/>
          <p:nvPr/>
        </p:nvSpPr>
        <p:spPr>
          <a:xfrm>
            <a:off x="548640" y="6473952"/>
            <a:ext cx="6400800" cy="274320"/>
          </a:xfrm>
          <a:prstGeom prst="rect">
            <a:avLst/>
          </a:prstGeom>
          <a:noFill/>
          <a:ln/>
        </p:spPr>
        <p:txBody>
          <a:bodyPr wrap="square" lIns="0" tIns="0" rIns="0" bIns="0" rtlCol="0" anchor="ctr"/>
          <a:lstStyle/>
          <a:p>
            <a:pPr indent="0" marL="0">
              <a:buNone/>
            </a:pPr>
            <a:r>
              <a:rPr lang="en-US" sz="850" spc="100" kern="0" dirty="0">
                <a:solidFill>
                  <a:srgbClr val="7A6A57"/>
                </a:solidFill>
                <a:latin typeface="Calibri" pitchFamily="34" charset="0"/>
                <a:ea typeface="Calibri" pitchFamily="34" charset="-122"/>
                <a:cs typeface="Calibri" pitchFamily="34" charset="-120"/>
              </a:rPr>
              <a:t>CAPÍTULO II  ·  HISTORIA DE LA ANESTESIA</a:t>
            </a:r>
            <a:endParaRPr lang="en-US" sz="850" dirty="0"/>
          </a:p>
        </p:txBody>
      </p:sp>
      <p:sp>
        <p:nvSpPr>
          <p:cNvPr id="16" name="Text 13"/>
          <p:cNvSpPr/>
          <p:nvPr/>
        </p:nvSpPr>
        <p:spPr>
          <a:xfrm>
            <a:off x="10728655" y="6473952"/>
            <a:ext cx="914400" cy="274320"/>
          </a:xfrm>
          <a:prstGeom prst="rect">
            <a:avLst/>
          </a:prstGeom>
          <a:noFill/>
          <a:ln/>
        </p:spPr>
        <p:txBody>
          <a:bodyPr wrap="square" lIns="0" tIns="0" rIns="0" bIns="0" rtlCol="0" anchor="ctr"/>
          <a:lstStyle/>
          <a:p>
            <a:pPr algn="r" indent="0" marL="0">
              <a:buNone/>
            </a:pPr>
            <a:r>
              <a:rPr lang="en-US" sz="850" dirty="0">
                <a:solidFill>
                  <a:srgbClr val="7A6A57"/>
                </a:solidFill>
                <a:latin typeface="Calibri" pitchFamily="34" charset="0"/>
                <a:ea typeface="Calibri" pitchFamily="34" charset="-122"/>
                <a:cs typeface="Calibri" pitchFamily="34" charset="-120"/>
              </a:rPr>
              <a:t>09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lIns="0" tIns="0" rIns="0" bIns="0" rtlCol="0" anchor="ctr"/>
          <a:lstStyle/>
          <a:p>
            <a:pPr indent="0" marL="0">
              <a:buNone/>
            </a:pPr>
            <a:r>
              <a:rPr lang="en-US" sz="1200" b="1" spc="200" kern="0" dirty="0">
                <a:solidFill>
                  <a:srgbClr val="8B5E3C"/>
                </a:solidFill>
                <a:latin typeface="Calibri" pitchFamily="34" charset="0"/>
                <a:ea typeface="Calibri" pitchFamily="34" charset="-122"/>
                <a:cs typeface="Calibri" pitchFamily="34" charset="-120"/>
              </a:rPr>
              <a:t>DIFUSIÓN MUNDIAL</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t"/>
          <a:lstStyle/>
          <a:p>
            <a:pPr indent="0" marL="0">
              <a:buNone/>
            </a:pPr>
            <a:r>
              <a:rPr lang="en-US" sz="2900" b="1" dirty="0">
                <a:solidFill>
                  <a:srgbClr val="5C3A21"/>
                </a:solidFill>
                <a:latin typeface="Cambria" pitchFamily="34" charset="0"/>
                <a:ea typeface="Cambria" pitchFamily="34" charset="-122"/>
                <a:cs typeface="Cambria" pitchFamily="34" charset="-120"/>
              </a:rPr>
              <a:t>Impacto inmediato del descubrimiento del éter</a:t>
            </a:r>
            <a:endParaRPr lang="en-US" sz="2900" dirty="0"/>
          </a:p>
        </p:txBody>
      </p:sp>
      <p:sp>
        <p:nvSpPr>
          <p:cNvPr id="4" name="Text 2"/>
          <p:cNvSpPr/>
          <p:nvPr/>
        </p:nvSpPr>
        <p:spPr>
          <a:xfrm>
            <a:off x="548640" y="1691640"/>
            <a:ext cx="11064240" cy="777240"/>
          </a:xfrm>
          <a:prstGeom prst="rect">
            <a:avLst/>
          </a:prstGeom>
          <a:noFill/>
          <a:ln/>
        </p:spPr>
        <p:txBody>
          <a:bodyPr wrap="square" lIns="0" tIns="0" rIns="0" bIns="0" rtlCol="0" anchor="ctr"/>
          <a:lstStyle/>
          <a:p>
            <a:pPr indent="0" marL="0">
              <a:lnSpc>
                <a:spcPct val="122000"/>
              </a:lnSpc>
              <a:buNone/>
            </a:pPr>
            <a:r>
              <a:rPr lang="en-US" sz="1350" dirty="0">
                <a:solidFill>
                  <a:srgbClr val="3A2E22"/>
                </a:solidFill>
                <a:latin typeface="Calibri" pitchFamily="34" charset="0"/>
                <a:ea typeface="Calibri" pitchFamily="34" charset="-122"/>
                <a:cs typeface="Calibri" pitchFamily="34" charset="-120"/>
              </a:rPr>
              <a:t>La noticia del éxito de Boston se difundió con una rapidez notable para la época, viajando por barco y telégrafo hacia Europa en cuestión de semanas y desencadenando su adopción casi inmediata en los principales centros quirúrgicos del mundo.</a:t>
            </a:r>
            <a:endParaRPr lang="en-US" sz="1350" dirty="0"/>
          </a:p>
        </p:txBody>
      </p:sp>
      <p:sp>
        <p:nvSpPr>
          <p:cNvPr id="5" name="Shape 3"/>
          <p:cNvSpPr/>
          <p:nvPr/>
        </p:nvSpPr>
        <p:spPr>
          <a:xfrm>
            <a:off x="548640" y="2697480"/>
            <a:ext cx="2697480" cy="3291840"/>
          </a:xfrm>
          <a:prstGeom prst="roundRect">
            <a:avLst>
              <a:gd name="adj" fmla="val 2712"/>
            </a:avLst>
          </a:prstGeom>
          <a:solidFill>
            <a:srgbClr val="8B5E3C">
              <a:alpha val="11000"/>
            </a:srgbClr>
          </a:solidFill>
          <a:ln/>
        </p:spPr>
      </p:sp>
      <p:sp>
        <p:nvSpPr>
          <p:cNvPr id="6" name="Text 4"/>
          <p:cNvSpPr/>
          <p:nvPr/>
        </p:nvSpPr>
        <p:spPr>
          <a:xfrm>
            <a:off x="731520" y="2880360"/>
            <a:ext cx="2331720" cy="365760"/>
          </a:xfrm>
          <a:prstGeom prst="rect">
            <a:avLst/>
          </a:prstGeom>
          <a:noFill/>
          <a:ln/>
        </p:spPr>
        <p:txBody>
          <a:bodyPr wrap="square" lIns="0" tIns="0" rIns="0" bIns="0" rtlCol="0" anchor="ctr"/>
          <a:lstStyle/>
          <a:p>
            <a:pPr indent="0" marL="0">
              <a:buNone/>
            </a:pPr>
            <a:r>
              <a:rPr lang="en-US" sz="1600" b="1" dirty="0">
                <a:solidFill>
                  <a:srgbClr val="5C3A21"/>
                </a:solidFill>
                <a:latin typeface="Cambria" pitchFamily="34" charset="0"/>
                <a:ea typeface="Cambria" pitchFamily="34" charset="-122"/>
                <a:cs typeface="Cambria" pitchFamily="34" charset="-120"/>
              </a:rPr>
              <a:t>dic 1846</a:t>
            </a:r>
            <a:endParaRPr lang="en-US" sz="1600" dirty="0"/>
          </a:p>
        </p:txBody>
      </p:sp>
      <p:sp>
        <p:nvSpPr>
          <p:cNvPr id="7" name="Text 5"/>
          <p:cNvSpPr/>
          <p:nvPr/>
        </p:nvSpPr>
        <p:spPr>
          <a:xfrm>
            <a:off x="731520" y="3273552"/>
            <a:ext cx="2331720" cy="502920"/>
          </a:xfrm>
          <a:prstGeom prst="rect">
            <a:avLst/>
          </a:prstGeom>
          <a:noFill/>
          <a:ln/>
        </p:spPr>
        <p:txBody>
          <a:bodyPr wrap="square" lIns="0" tIns="0" rIns="0" bIns="0" rtlCol="0" anchor="ctr"/>
          <a:lstStyle/>
          <a:p>
            <a:pPr indent="0" marL="0">
              <a:lnSpc>
                <a:spcPct val="115000"/>
              </a:lnSpc>
              <a:buNone/>
            </a:pPr>
            <a:r>
              <a:rPr lang="en-US" sz="1150" b="1" dirty="0">
                <a:solidFill>
                  <a:srgbClr val="3A2E22"/>
                </a:solidFill>
                <a:latin typeface="Calibri" pitchFamily="34" charset="0"/>
                <a:ea typeface="Calibri" pitchFamily="34" charset="-122"/>
                <a:cs typeface="Calibri" pitchFamily="34" charset="-120"/>
              </a:rPr>
              <a:t>Londres, Reino Unido</a:t>
            </a:r>
            <a:endParaRPr lang="en-US" sz="1150" dirty="0"/>
          </a:p>
        </p:txBody>
      </p:sp>
      <p:sp>
        <p:nvSpPr>
          <p:cNvPr id="8" name="Text 6"/>
          <p:cNvSpPr/>
          <p:nvPr/>
        </p:nvSpPr>
        <p:spPr>
          <a:xfrm>
            <a:off x="731520" y="3840480"/>
            <a:ext cx="2331720" cy="2011680"/>
          </a:xfrm>
          <a:prstGeom prst="rect">
            <a:avLst/>
          </a:prstGeom>
          <a:noFill/>
          <a:ln/>
        </p:spPr>
        <p:txBody>
          <a:bodyPr wrap="square" lIns="0" tIns="0" rIns="0" bIns="0" rtlCol="0" anchor="t"/>
          <a:lstStyle/>
          <a:p>
            <a:pPr indent="0" marL="0">
              <a:lnSpc>
                <a:spcPct val="122000"/>
              </a:lnSpc>
              <a:buNone/>
            </a:pPr>
            <a:r>
              <a:rPr lang="en-US" sz="1050" dirty="0">
                <a:solidFill>
                  <a:srgbClr val="7A6A57"/>
                </a:solidFill>
                <a:latin typeface="Calibri" pitchFamily="34" charset="0"/>
                <a:ea typeface="Calibri" pitchFamily="34" charset="-122"/>
                <a:cs typeface="Calibri" pitchFamily="34" charset="-120"/>
              </a:rPr>
              <a:t>Robert Liston realiza la primera amputación bajo éter en Europa: “This Yankee dodge beats mesmerism hollow.”</a:t>
            </a:r>
            <a:endParaRPr lang="en-US" sz="1050" dirty="0"/>
          </a:p>
        </p:txBody>
      </p:sp>
      <p:sp>
        <p:nvSpPr>
          <p:cNvPr id="9" name="Shape 7"/>
          <p:cNvSpPr/>
          <p:nvPr/>
        </p:nvSpPr>
        <p:spPr>
          <a:xfrm>
            <a:off x="3383280" y="2697480"/>
            <a:ext cx="2697480" cy="3291840"/>
          </a:xfrm>
          <a:prstGeom prst="roundRect">
            <a:avLst>
              <a:gd name="adj" fmla="val 2712"/>
            </a:avLst>
          </a:prstGeom>
          <a:solidFill>
            <a:srgbClr val="8B5E3C">
              <a:alpha val="11000"/>
            </a:srgbClr>
          </a:solidFill>
          <a:ln/>
        </p:spPr>
      </p:sp>
      <p:sp>
        <p:nvSpPr>
          <p:cNvPr id="10" name="Text 8"/>
          <p:cNvSpPr/>
          <p:nvPr/>
        </p:nvSpPr>
        <p:spPr>
          <a:xfrm>
            <a:off x="3566160" y="2880360"/>
            <a:ext cx="2331720" cy="365760"/>
          </a:xfrm>
          <a:prstGeom prst="rect">
            <a:avLst/>
          </a:prstGeom>
          <a:noFill/>
          <a:ln/>
        </p:spPr>
        <p:txBody>
          <a:bodyPr wrap="square" lIns="0" tIns="0" rIns="0" bIns="0" rtlCol="0" anchor="ctr"/>
          <a:lstStyle/>
          <a:p>
            <a:pPr indent="0" marL="0">
              <a:buNone/>
            </a:pPr>
            <a:r>
              <a:rPr lang="en-US" sz="1600" b="1" dirty="0">
                <a:solidFill>
                  <a:srgbClr val="5C3A21"/>
                </a:solidFill>
                <a:latin typeface="Cambria" pitchFamily="34" charset="0"/>
                <a:ea typeface="Cambria" pitchFamily="34" charset="-122"/>
                <a:cs typeface="Cambria" pitchFamily="34" charset="-120"/>
              </a:rPr>
              <a:t>dic 1846</a:t>
            </a:r>
            <a:endParaRPr lang="en-US" sz="1600" dirty="0"/>
          </a:p>
        </p:txBody>
      </p:sp>
      <p:sp>
        <p:nvSpPr>
          <p:cNvPr id="11" name="Text 9"/>
          <p:cNvSpPr/>
          <p:nvPr/>
        </p:nvSpPr>
        <p:spPr>
          <a:xfrm>
            <a:off x="3566160" y="3273552"/>
            <a:ext cx="2331720" cy="502920"/>
          </a:xfrm>
          <a:prstGeom prst="rect">
            <a:avLst/>
          </a:prstGeom>
          <a:noFill/>
          <a:ln/>
        </p:spPr>
        <p:txBody>
          <a:bodyPr wrap="square" lIns="0" tIns="0" rIns="0" bIns="0" rtlCol="0" anchor="ctr"/>
          <a:lstStyle/>
          <a:p>
            <a:pPr indent="0" marL="0">
              <a:lnSpc>
                <a:spcPct val="115000"/>
              </a:lnSpc>
              <a:buNone/>
            </a:pPr>
            <a:r>
              <a:rPr lang="en-US" sz="1150" b="1" dirty="0">
                <a:solidFill>
                  <a:srgbClr val="3A2E22"/>
                </a:solidFill>
                <a:latin typeface="Calibri" pitchFamily="34" charset="0"/>
                <a:ea typeface="Calibri" pitchFamily="34" charset="-122"/>
                <a:cs typeface="Calibri" pitchFamily="34" charset="-120"/>
              </a:rPr>
              <a:t>París, Francia</a:t>
            </a:r>
            <a:endParaRPr lang="en-US" sz="1150" dirty="0"/>
          </a:p>
        </p:txBody>
      </p:sp>
      <p:sp>
        <p:nvSpPr>
          <p:cNvPr id="12" name="Text 10"/>
          <p:cNvSpPr/>
          <p:nvPr/>
        </p:nvSpPr>
        <p:spPr>
          <a:xfrm>
            <a:off x="3566160" y="3840480"/>
            <a:ext cx="2331720" cy="2011680"/>
          </a:xfrm>
          <a:prstGeom prst="rect">
            <a:avLst/>
          </a:prstGeom>
          <a:noFill/>
          <a:ln/>
        </p:spPr>
        <p:txBody>
          <a:bodyPr wrap="square" lIns="0" tIns="0" rIns="0" bIns="0" rtlCol="0" anchor="t"/>
          <a:lstStyle/>
          <a:p>
            <a:pPr indent="0" marL="0">
              <a:lnSpc>
                <a:spcPct val="122000"/>
              </a:lnSpc>
              <a:buNone/>
            </a:pPr>
            <a:r>
              <a:rPr lang="en-US" sz="1050" dirty="0">
                <a:solidFill>
                  <a:srgbClr val="7A6A57"/>
                </a:solidFill>
                <a:latin typeface="Calibri" pitchFamily="34" charset="0"/>
                <a:ea typeface="Calibri" pitchFamily="34" charset="-122"/>
                <a:cs typeface="Calibri" pitchFamily="34" charset="-120"/>
              </a:rPr>
              <a:t>Los cirujanos franceses adoptan rápidamente el éter en los hospitales universitarios parisinos.</a:t>
            </a:r>
            <a:endParaRPr lang="en-US" sz="1050" dirty="0"/>
          </a:p>
        </p:txBody>
      </p:sp>
      <p:sp>
        <p:nvSpPr>
          <p:cNvPr id="13" name="Shape 11"/>
          <p:cNvSpPr/>
          <p:nvPr/>
        </p:nvSpPr>
        <p:spPr>
          <a:xfrm>
            <a:off x="6217920" y="2697480"/>
            <a:ext cx="2697480" cy="3291840"/>
          </a:xfrm>
          <a:prstGeom prst="roundRect">
            <a:avLst>
              <a:gd name="adj" fmla="val 2712"/>
            </a:avLst>
          </a:prstGeom>
          <a:solidFill>
            <a:srgbClr val="8B5E3C">
              <a:alpha val="11000"/>
            </a:srgbClr>
          </a:solidFill>
          <a:ln/>
        </p:spPr>
      </p:sp>
      <p:sp>
        <p:nvSpPr>
          <p:cNvPr id="14" name="Text 12"/>
          <p:cNvSpPr/>
          <p:nvPr/>
        </p:nvSpPr>
        <p:spPr>
          <a:xfrm>
            <a:off x="6400800" y="2880360"/>
            <a:ext cx="2331720" cy="365760"/>
          </a:xfrm>
          <a:prstGeom prst="rect">
            <a:avLst/>
          </a:prstGeom>
          <a:noFill/>
          <a:ln/>
        </p:spPr>
        <p:txBody>
          <a:bodyPr wrap="square" lIns="0" tIns="0" rIns="0" bIns="0" rtlCol="0" anchor="ctr"/>
          <a:lstStyle/>
          <a:p>
            <a:pPr indent="0" marL="0">
              <a:buNone/>
            </a:pPr>
            <a:r>
              <a:rPr lang="en-US" sz="1600" b="1" dirty="0">
                <a:solidFill>
                  <a:srgbClr val="5C3A21"/>
                </a:solidFill>
                <a:latin typeface="Cambria" pitchFamily="34" charset="0"/>
                <a:ea typeface="Cambria" pitchFamily="34" charset="-122"/>
                <a:cs typeface="Cambria" pitchFamily="34" charset="-120"/>
              </a:rPr>
              <a:t>1847</a:t>
            </a:r>
            <a:endParaRPr lang="en-US" sz="1600" dirty="0"/>
          </a:p>
        </p:txBody>
      </p:sp>
      <p:sp>
        <p:nvSpPr>
          <p:cNvPr id="15" name="Text 13"/>
          <p:cNvSpPr/>
          <p:nvPr/>
        </p:nvSpPr>
        <p:spPr>
          <a:xfrm>
            <a:off x="6400800" y="3273552"/>
            <a:ext cx="2331720" cy="502920"/>
          </a:xfrm>
          <a:prstGeom prst="rect">
            <a:avLst/>
          </a:prstGeom>
          <a:noFill/>
          <a:ln/>
        </p:spPr>
        <p:txBody>
          <a:bodyPr wrap="square" lIns="0" tIns="0" rIns="0" bIns="0" rtlCol="0" anchor="ctr"/>
          <a:lstStyle/>
          <a:p>
            <a:pPr indent="0" marL="0">
              <a:lnSpc>
                <a:spcPct val="115000"/>
              </a:lnSpc>
              <a:buNone/>
            </a:pPr>
            <a:r>
              <a:rPr lang="en-US" sz="1150" b="1" dirty="0">
                <a:solidFill>
                  <a:srgbClr val="3A2E22"/>
                </a:solidFill>
                <a:latin typeface="Calibri" pitchFamily="34" charset="0"/>
                <a:ea typeface="Calibri" pitchFamily="34" charset="-122"/>
                <a:cs typeface="Calibri" pitchFamily="34" charset="-120"/>
              </a:rPr>
              <a:t>Alemania y Europa central</a:t>
            </a:r>
            <a:endParaRPr lang="en-US" sz="1150" dirty="0"/>
          </a:p>
        </p:txBody>
      </p:sp>
      <p:sp>
        <p:nvSpPr>
          <p:cNvPr id="16" name="Text 14"/>
          <p:cNvSpPr/>
          <p:nvPr/>
        </p:nvSpPr>
        <p:spPr>
          <a:xfrm>
            <a:off x="6400800" y="3840480"/>
            <a:ext cx="2331720" cy="2011680"/>
          </a:xfrm>
          <a:prstGeom prst="rect">
            <a:avLst/>
          </a:prstGeom>
          <a:noFill/>
          <a:ln/>
        </p:spPr>
        <p:txBody>
          <a:bodyPr wrap="square" lIns="0" tIns="0" rIns="0" bIns="0" rtlCol="0" anchor="t"/>
          <a:lstStyle/>
          <a:p>
            <a:pPr indent="0" marL="0">
              <a:lnSpc>
                <a:spcPct val="122000"/>
              </a:lnSpc>
              <a:buNone/>
            </a:pPr>
            <a:r>
              <a:rPr lang="en-US" sz="1050" dirty="0">
                <a:solidFill>
                  <a:srgbClr val="7A6A57"/>
                </a:solidFill>
                <a:latin typeface="Calibri" pitchFamily="34" charset="0"/>
                <a:ea typeface="Calibri" pitchFamily="34" charset="-122"/>
                <a:cs typeface="Calibri" pitchFamily="34" charset="-120"/>
              </a:rPr>
              <a:t>Difusión hacia hospitales universitarios alemanes, austriacos y del resto de Europa continental.</a:t>
            </a:r>
            <a:endParaRPr lang="en-US" sz="1050" dirty="0"/>
          </a:p>
        </p:txBody>
      </p:sp>
      <p:sp>
        <p:nvSpPr>
          <p:cNvPr id="17" name="Shape 15"/>
          <p:cNvSpPr/>
          <p:nvPr/>
        </p:nvSpPr>
        <p:spPr>
          <a:xfrm>
            <a:off x="9052560" y="2697480"/>
            <a:ext cx="2697480" cy="3291840"/>
          </a:xfrm>
          <a:prstGeom prst="roundRect">
            <a:avLst>
              <a:gd name="adj" fmla="val 2712"/>
            </a:avLst>
          </a:prstGeom>
          <a:solidFill>
            <a:srgbClr val="8B5E3C">
              <a:alpha val="11000"/>
            </a:srgbClr>
          </a:solidFill>
          <a:ln/>
        </p:spPr>
      </p:sp>
      <p:sp>
        <p:nvSpPr>
          <p:cNvPr id="18" name="Text 16"/>
          <p:cNvSpPr/>
          <p:nvPr/>
        </p:nvSpPr>
        <p:spPr>
          <a:xfrm>
            <a:off x="9235440" y="2880360"/>
            <a:ext cx="2331720" cy="365760"/>
          </a:xfrm>
          <a:prstGeom prst="rect">
            <a:avLst/>
          </a:prstGeom>
          <a:noFill/>
          <a:ln/>
        </p:spPr>
        <p:txBody>
          <a:bodyPr wrap="square" lIns="0" tIns="0" rIns="0" bIns="0" rtlCol="0" anchor="ctr"/>
          <a:lstStyle/>
          <a:p>
            <a:pPr indent="0" marL="0">
              <a:buNone/>
            </a:pPr>
            <a:r>
              <a:rPr lang="en-US" sz="1600" b="1" dirty="0">
                <a:solidFill>
                  <a:srgbClr val="5C3A21"/>
                </a:solidFill>
                <a:latin typeface="Cambria" pitchFamily="34" charset="0"/>
                <a:ea typeface="Cambria" pitchFamily="34" charset="-122"/>
                <a:cs typeface="Cambria" pitchFamily="34" charset="-120"/>
              </a:rPr>
              <a:t>1847</a:t>
            </a:r>
            <a:endParaRPr lang="en-US" sz="1600" dirty="0"/>
          </a:p>
        </p:txBody>
      </p:sp>
      <p:sp>
        <p:nvSpPr>
          <p:cNvPr id="19" name="Text 17"/>
          <p:cNvSpPr/>
          <p:nvPr/>
        </p:nvSpPr>
        <p:spPr>
          <a:xfrm>
            <a:off x="9235440" y="3273552"/>
            <a:ext cx="2331720" cy="502920"/>
          </a:xfrm>
          <a:prstGeom prst="rect">
            <a:avLst/>
          </a:prstGeom>
          <a:noFill/>
          <a:ln/>
        </p:spPr>
        <p:txBody>
          <a:bodyPr wrap="square" lIns="0" tIns="0" rIns="0" bIns="0" rtlCol="0" anchor="ctr"/>
          <a:lstStyle/>
          <a:p>
            <a:pPr indent="0" marL="0">
              <a:lnSpc>
                <a:spcPct val="115000"/>
              </a:lnSpc>
              <a:buNone/>
            </a:pPr>
            <a:r>
              <a:rPr lang="en-US" sz="1150" b="1" dirty="0">
                <a:solidFill>
                  <a:srgbClr val="3A2E22"/>
                </a:solidFill>
                <a:latin typeface="Calibri" pitchFamily="34" charset="0"/>
                <a:ea typeface="Calibri" pitchFamily="34" charset="-122"/>
                <a:cs typeface="Calibri" pitchFamily="34" charset="-120"/>
              </a:rPr>
              <a:t>Cambio de paradigma</a:t>
            </a:r>
            <a:endParaRPr lang="en-US" sz="1150" dirty="0"/>
          </a:p>
        </p:txBody>
      </p:sp>
      <p:sp>
        <p:nvSpPr>
          <p:cNvPr id="20" name="Text 18"/>
          <p:cNvSpPr/>
          <p:nvPr/>
        </p:nvSpPr>
        <p:spPr>
          <a:xfrm>
            <a:off x="9235440" y="3840480"/>
            <a:ext cx="2331720" cy="2011680"/>
          </a:xfrm>
          <a:prstGeom prst="rect">
            <a:avLst/>
          </a:prstGeom>
          <a:noFill/>
          <a:ln/>
        </p:spPr>
        <p:txBody>
          <a:bodyPr wrap="square" lIns="0" tIns="0" rIns="0" bIns="0" rtlCol="0" anchor="t"/>
          <a:lstStyle/>
          <a:p>
            <a:pPr indent="0" marL="0">
              <a:lnSpc>
                <a:spcPct val="122000"/>
              </a:lnSpc>
              <a:buNone/>
            </a:pPr>
            <a:r>
              <a:rPr lang="en-US" sz="1050" dirty="0">
                <a:solidFill>
                  <a:srgbClr val="7A6A57"/>
                </a:solidFill>
                <a:latin typeface="Calibri" pitchFamily="34" charset="0"/>
                <a:ea typeface="Calibri" pitchFamily="34" charset="-122"/>
                <a:cs typeface="Calibri" pitchFamily="34" charset="-120"/>
              </a:rPr>
              <a:t>Nace la posibilidad de la cirugía mayor electiva, meticulosa y planificada, ya no limitada por la velocidad.</a:t>
            </a:r>
            <a:endParaRPr lang="en-US" sz="1050" dirty="0"/>
          </a:p>
        </p:txBody>
      </p:sp>
      <p:sp>
        <p:nvSpPr>
          <p:cNvPr id="21" name="Text 19"/>
          <p:cNvSpPr/>
          <p:nvPr/>
        </p:nvSpPr>
        <p:spPr>
          <a:xfrm>
            <a:off x="548640" y="6473952"/>
            <a:ext cx="6400800" cy="274320"/>
          </a:xfrm>
          <a:prstGeom prst="rect">
            <a:avLst/>
          </a:prstGeom>
          <a:noFill/>
          <a:ln/>
        </p:spPr>
        <p:txBody>
          <a:bodyPr wrap="square" lIns="0" tIns="0" rIns="0" bIns="0" rtlCol="0" anchor="ctr"/>
          <a:lstStyle/>
          <a:p>
            <a:pPr indent="0" marL="0">
              <a:buNone/>
            </a:pPr>
            <a:r>
              <a:rPr lang="en-US" sz="850" spc="100" kern="0" dirty="0">
                <a:solidFill>
                  <a:srgbClr val="7A6A57"/>
                </a:solidFill>
                <a:latin typeface="Calibri" pitchFamily="34" charset="0"/>
                <a:ea typeface="Calibri" pitchFamily="34" charset="-122"/>
                <a:cs typeface="Calibri" pitchFamily="34" charset="-120"/>
              </a:rPr>
              <a:t>CAPÍTULO II  ·  HISTORIA DE LA ANESTESIA</a:t>
            </a:r>
            <a:endParaRPr lang="en-US" sz="850" dirty="0"/>
          </a:p>
        </p:txBody>
      </p:sp>
      <p:sp>
        <p:nvSpPr>
          <p:cNvPr id="22" name="Text 20"/>
          <p:cNvSpPr/>
          <p:nvPr/>
        </p:nvSpPr>
        <p:spPr>
          <a:xfrm>
            <a:off x="10728655" y="6473952"/>
            <a:ext cx="914400" cy="274320"/>
          </a:xfrm>
          <a:prstGeom prst="rect">
            <a:avLst/>
          </a:prstGeom>
          <a:noFill/>
          <a:ln/>
        </p:spPr>
        <p:txBody>
          <a:bodyPr wrap="square" lIns="0" tIns="0" rIns="0" bIns="0" rtlCol="0" anchor="ctr"/>
          <a:lstStyle/>
          <a:p>
            <a:pPr algn="r" indent="0" marL="0">
              <a:buNone/>
            </a:pPr>
            <a:r>
              <a:rPr lang="en-US" sz="850" dirty="0">
                <a:solidFill>
                  <a:srgbClr val="7A6A57"/>
                </a:solidFill>
                <a:latin typeface="Calibri" pitchFamily="34" charset="0"/>
                <a:ea typeface="Calibri" pitchFamily="34" charset="-122"/>
                <a:cs typeface="Calibri" pitchFamily="34" charset="-120"/>
              </a:rPr>
              <a:t>10</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lIns="0" tIns="0" rIns="0" bIns="0" rtlCol="0" anchor="ctr"/>
          <a:lstStyle/>
          <a:p>
            <a:pPr indent="0" marL="0">
              <a:buNone/>
            </a:pPr>
            <a:r>
              <a:rPr lang="en-US" sz="1200" b="1" spc="200" kern="0" dirty="0">
                <a:solidFill>
                  <a:srgbClr val="8B5E3C"/>
                </a:solidFill>
                <a:latin typeface="Calibri" pitchFamily="34" charset="0"/>
                <a:ea typeface="Calibri" pitchFamily="34" charset="-122"/>
                <a:cs typeface="Calibri" pitchFamily="34" charset="-120"/>
              </a:rPr>
              <a:t>PIONERO · CLOROFORMO</a:t>
            </a:r>
            <a:endParaRPr lang="en-US" sz="1200" dirty="0"/>
          </a:p>
        </p:txBody>
      </p:sp>
      <p:sp>
        <p:nvSpPr>
          <p:cNvPr id="3" name="Text 1"/>
          <p:cNvSpPr/>
          <p:nvPr/>
        </p:nvSpPr>
        <p:spPr>
          <a:xfrm>
            <a:off x="548640" y="658368"/>
            <a:ext cx="8046720" cy="777240"/>
          </a:xfrm>
          <a:prstGeom prst="rect">
            <a:avLst/>
          </a:prstGeom>
          <a:noFill/>
          <a:ln/>
        </p:spPr>
        <p:txBody>
          <a:bodyPr wrap="square" lIns="0" tIns="0" rIns="0" bIns="0" rtlCol="0" anchor="t"/>
          <a:lstStyle/>
          <a:p>
            <a:pPr indent="0" marL="0">
              <a:buNone/>
            </a:pPr>
            <a:r>
              <a:rPr lang="en-US" sz="2900" b="1" dirty="0">
                <a:solidFill>
                  <a:srgbClr val="5C3A21"/>
                </a:solidFill>
                <a:latin typeface="Cambria" pitchFamily="34" charset="0"/>
                <a:ea typeface="Cambria" pitchFamily="34" charset="-122"/>
                <a:cs typeface="Cambria" pitchFamily="34" charset="-120"/>
              </a:rPr>
              <a:t>James Young Simpson y el descubrimiento del cloroformo (1847)</a:t>
            </a:r>
            <a:endParaRPr lang="en-US" sz="2900" dirty="0"/>
          </a:p>
        </p:txBody>
      </p:sp>
      <p:sp>
        <p:nvSpPr>
          <p:cNvPr id="4" name="Shape 2"/>
          <p:cNvSpPr/>
          <p:nvPr/>
        </p:nvSpPr>
        <p:spPr>
          <a:xfrm>
            <a:off x="9692640" y="502920"/>
            <a:ext cx="1417320" cy="1417320"/>
          </a:xfrm>
          <a:prstGeom prst="ellipse">
            <a:avLst/>
          </a:prstGeom>
          <a:solidFill>
            <a:srgbClr val="8B5E3C"/>
          </a:solidFill>
          <a:ln/>
          <a:effectLst>
            <a:outerShdw sx="100000" sy="100000" kx="0" ky="0" algn="bl" rotWithShape="0" blurRad="101600" dist="38100" dir="5400000">
              <a:srgbClr val="2B2118">
                <a:alpha val="28000"/>
              </a:srgbClr>
            </a:outerShdw>
          </a:effectLst>
        </p:spPr>
      </p:sp>
      <p:pic>
        <p:nvPicPr>
          <p:cNvPr id="5" name="Image 0" descr="preencoded.png">    </p:cNvPr>
          <p:cNvPicPr>
            <a:picLocks noChangeAspect="1"/>
          </p:cNvPicPr>
          <p:nvPr/>
        </p:nvPicPr>
        <p:blipFill>
          <a:blip r:embed="rId1"/>
          <a:stretch>
            <a:fillRect/>
          </a:stretch>
        </p:blipFill>
        <p:spPr>
          <a:xfrm>
            <a:off x="10046970" y="857250"/>
            <a:ext cx="708660" cy="708660"/>
          </a:xfrm>
          <a:prstGeom prst="rect">
            <a:avLst/>
          </a:prstGeom>
        </p:spPr>
      </p:pic>
      <p:sp>
        <p:nvSpPr>
          <p:cNvPr id="6" name="Text 3"/>
          <p:cNvSpPr/>
          <p:nvPr/>
        </p:nvSpPr>
        <p:spPr>
          <a:xfrm>
            <a:off x="9006840" y="2011680"/>
            <a:ext cx="2743200" cy="320040"/>
          </a:xfrm>
          <a:prstGeom prst="rect">
            <a:avLst/>
          </a:prstGeom>
          <a:noFill/>
          <a:ln/>
        </p:spPr>
        <p:txBody>
          <a:bodyPr wrap="square" lIns="0" tIns="0" rIns="0" bIns="0" rtlCol="0" anchor="ctr"/>
          <a:lstStyle/>
          <a:p>
            <a:pPr algn="ctr" indent="0" marL="0">
              <a:buNone/>
            </a:pPr>
            <a:r>
              <a:rPr lang="en-US" sz="1350" b="1" dirty="0">
                <a:solidFill>
                  <a:srgbClr val="5C3A21"/>
                </a:solidFill>
                <a:latin typeface="Cambria" pitchFamily="34" charset="0"/>
                <a:ea typeface="Cambria" pitchFamily="34" charset="-122"/>
                <a:cs typeface="Cambria" pitchFamily="34" charset="-120"/>
              </a:rPr>
              <a:t>1811 – 1870</a:t>
            </a:r>
            <a:endParaRPr lang="en-US" sz="1350" dirty="0"/>
          </a:p>
        </p:txBody>
      </p:sp>
      <p:sp>
        <p:nvSpPr>
          <p:cNvPr id="7" name="Text 4"/>
          <p:cNvSpPr/>
          <p:nvPr/>
        </p:nvSpPr>
        <p:spPr>
          <a:xfrm>
            <a:off x="548640" y="1691640"/>
            <a:ext cx="8229600" cy="914400"/>
          </a:xfrm>
          <a:prstGeom prst="rect">
            <a:avLst/>
          </a:prstGeom>
          <a:noFill/>
          <a:ln/>
        </p:spPr>
        <p:txBody>
          <a:bodyPr wrap="square" lIns="0" tIns="0" rIns="0" bIns="0" rtlCol="0" anchor="ctr"/>
          <a:lstStyle/>
          <a:p>
            <a:pPr indent="0" marL="0">
              <a:lnSpc>
                <a:spcPct val="122000"/>
              </a:lnSpc>
              <a:buNone/>
            </a:pPr>
            <a:r>
              <a:rPr lang="en-US" sz="1300" dirty="0">
                <a:solidFill>
                  <a:srgbClr val="3A2E22"/>
                </a:solidFill>
                <a:latin typeface="Calibri" pitchFamily="34" charset="0"/>
                <a:ea typeface="Calibri" pitchFamily="34" charset="-122"/>
                <a:cs typeface="Calibri" pitchFamily="34" charset="-120"/>
              </a:rPr>
              <a:t>Obstetra escocés de la Universidad de Edimburgo, Simpson buscaba activamente una alternativa al éter —menos irritante para las vías respiratorias y de inducción más rápida— para su uso en obstetricia.</a:t>
            </a:r>
            <a:endParaRPr lang="en-US" sz="1300" dirty="0"/>
          </a:p>
        </p:txBody>
      </p:sp>
      <p:sp>
        <p:nvSpPr>
          <p:cNvPr id="8" name="Shape 5"/>
          <p:cNvSpPr/>
          <p:nvPr/>
        </p:nvSpPr>
        <p:spPr>
          <a:xfrm>
            <a:off x="548640" y="2697480"/>
            <a:ext cx="11091672" cy="2423160"/>
          </a:xfrm>
          <a:prstGeom prst="roundRect">
            <a:avLst>
              <a:gd name="adj" fmla="val 3019"/>
            </a:avLst>
          </a:prstGeom>
          <a:solidFill>
            <a:srgbClr val="C9A66B">
              <a:alpha val="9000"/>
            </a:srgbClr>
          </a:solidFill>
          <a:ln/>
        </p:spPr>
      </p:sp>
      <p:sp>
        <p:nvSpPr>
          <p:cNvPr id="9" name="Text 6"/>
          <p:cNvSpPr/>
          <p:nvPr/>
        </p:nvSpPr>
        <p:spPr>
          <a:xfrm>
            <a:off x="868680" y="2971800"/>
            <a:ext cx="5212080" cy="1965960"/>
          </a:xfrm>
          <a:prstGeom prst="rect">
            <a:avLst/>
          </a:prstGeom>
          <a:noFill/>
          <a:ln/>
        </p:spPr>
        <p:txBody>
          <a:bodyPr wrap="square" lIns="0" tIns="0" rIns="0" bIns="0" rtlCol="0" anchor="t"/>
          <a:lstStyle/>
          <a:p>
            <a:pPr marL="203200" indent="-203200">
              <a:lnSpc>
                <a:spcPct val="105000"/>
              </a:lnSpc>
              <a:spcAft>
                <a:spcPts val="1200"/>
              </a:spcAft>
              <a:buSzPct val="100000"/>
              <a:buChar char="•"/>
            </a:pPr>
            <a:r>
              <a:rPr lang="en-US" sz="1250" dirty="0">
                <a:solidFill>
                  <a:srgbClr val="3A2E22"/>
                </a:solidFill>
                <a:latin typeface="Calibri" pitchFamily="34" charset="0"/>
                <a:ea typeface="Calibri" pitchFamily="34" charset="-122"/>
                <a:cs typeface="Calibri" pitchFamily="34" charset="-120"/>
              </a:rPr>
              <a:t>En noviembre de 1847 experimentó cloroformo junto con sus colegas en su propia casa, tras probar varias sustancias; los tres perdieron el conocimiento súbitamente.</a:t>
            </a:r>
            <a:endParaRPr lang="en-US" sz="1250" dirty="0"/>
          </a:p>
          <a:p>
            <a:pPr marL="203200" indent="-203200">
              <a:lnSpc>
                <a:spcPct val="105000"/>
              </a:lnSpc>
              <a:spcAft>
                <a:spcPts val="1200"/>
              </a:spcAft>
              <a:buSzPct val="100000"/>
              <a:buChar char="•"/>
            </a:pPr>
            <a:r>
              <a:rPr lang="en-US" sz="1250" dirty="0">
                <a:solidFill>
                  <a:srgbClr val="3A2E22"/>
                </a:solidFill>
                <a:latin typeface="Calibri" pitchFamily="34" charset="0"/>
                <a:ea typeface="Calibri" pitchFamily="34" charset="-122"/>
                <a:cs typeface="Calibri" pitchFamily="34" charset="-120"/>
              </a:rPr>
              <a:t>El cloroformo ofrecía inducción más rápida, olor más tolerable y no era inflamable, ventajas percibidas frente al éter.</a:t>
            </a:r>
            <a:endParaRPr lang="en-US" sz="1250" dirty="0"/>
          </a:p>
        </p:txBody>
      </p:sp>
      <p:sp>
        <p:nvSpPr>
          <p:cNvPr id="10" name="Text 7"/>
          <p:cNvSpPr/>
          <p:nvPr/>
        </p:nvSpPr>
        <p:spPr>
          <a:xfrm>
            <a:off x="6309360" y="2971800"/>
            <a:ext cx="5212080" cy="1965960"/>
          </a:xfrm>
          <a:prstGeom prst="rect">
            <a:avLst/>
          </a:prstGeom>
          <a:noFill/>
          <a:ln/>
        </p:spPr>
        <p:txBody>
          <a:bodyPr wrap="square" lIns="0" tIns="0" rIns="0" bIns="0" rtlCol="0" anchor="t"/>
          <a:lstStyle/>
          <a:p>
            <a:pPr marL="203200" indent="-203200">
              <a:lnSpc>
                <a:spcPct val="105000"/>
              </a:lnSpc>
              <a:spcAft>
                <a:spcPts val="1200"/>
              </a:spcAft>
              <a:buSzPct val="100000"/>
              <a:buChar char="•"/>
            </a:pPr>
            <a:r>
              <a:rPr lang="en-US" sz="1250" dirty="0">
                <a:solidFill>
                  <a:srgbClr val="3A2E22"/>
                </a:solidFill>
                <a:latin typeface="Calibri" pitchFamily="34" charset="0"/>
                <a:ea typeface="Calibri" pitchFamily="34" charset="-122"/>
                <a:cs typeface="Calibri" pitchFamily="34" charset="-120"/>
              </a:rPr>
              <a:t>Promovió su uso en analgesia obstétrica pese a la fuerte oposición religiosa, que consideraba el dolor del parto un designio bíblico ineludible (Génesis 3:16).</a:t>
            </a:r>
            <a:endParaRPr lang="en-US" sz="1250" dirty="0"/>
          </a:p>
          <a:p>
            <a:pPr marL="203200" indent="-203200">
              <a:lnSpc>
                <a:spcPct val="105000"/>
              </a:lnSpc>
              <a:spcAft>
                <a:spcPts val="1200"/>
              </a:spcAft>
              <a:buSzPct val="100000"/>
              <a:buChar char="•"/>
            </a:pPr>
            <a:r>
              <a:rPr lang="en-US" sz="1250" dirty="0">
                <a:solidFill>
                  <a:srgbClr val="3A2E22"/>
                </a:solidFill>
                <a:latin typeface="Calibri" pitchFamily="34" charset="0"/>
                <a:ea typeface="Calibri" pitchFamily="34" charset="-122"/>
                <a:cs typeface="Calibri" pitchFamily="34" charset="-120"/>
              </a:rPr>
              <a:t>Sus riesgos se hicieron evidentes tempranamente: arritmias cardíacas, hepatotoxicidad y muerte súbita; Hannah Greener (1848) es la primera muerte documentada atribuida a un anestésico.</a:t>
            </a:r>
            <a:endParaRPr lang="en-US" sz="1250" dirty="0"/>
          </a:p>
        </p:txBody>
      </p:sp>
      <p:sp>
        <p:nvSpPr>
          <p:cNvPr id="11" name="Text 8"/>
          <p:cNvSpPr/>
          <p:nvPr/>
        </p:nvSpPr>
        <p:spPr>
          <a:xfrm>
            <a:off x="548640" y="6473952"/>
            <a:ext cx="6400800" cy="274320"/>
          </a:xfrm>
          <a:prstGeom prst="rect">
            <a:avLst/>
          </a:prstGeom>
          <a:noFill/>
          <a:ln/>
        </p:spPr>
        <p:txBody>
          <a:bodyPr wrap="square" lIns="0" tIns="0" rIns="0" bIns="0" rtlCol="0" anchor="ctr"/>
          <a:lstStyle/>
          <a:p>
            <a:pPr indent="0" marL="0">
              <a:buNone/>
            </a:pPr>
            <a:r>
              <a:rPr lang="en-US" sz="850" spc="100" kern="0" dirty="0">
                <a:solidFill>
                  <a:srgbClr val="7A6A57"/>
                </a:solidFill>
                <a:latin typeface="Calibri" pitchFamily="34" charset="0"/>
                <a:ea typeface="Calibri" pitchFamily="34" charset="-122"/>
                <a:cs typeface="Calibri" pitchFamily="34" charset="-120"/>
              </a:rPr>
              <a:t>CAPÍTULO II  ·  HISTORIA DE LA ANESTESIA</a:t>
            </a:r>
            <a:endParaRPr lang="en-US" sz="850" dirty="0"/>
          </a:p>
        </p:txBody>
      </p:sp>
      <p:sp>
        <p:nvSpPr>
          <p:cNvPr id="12" name="Text 9"/>
          <p:cNvSpPr/>
          <p:nvPr/>
        </p:nvSpPr>
        <p:spPr>
          <a:xfrm>
            <a:off x="10728655" y="6473952"/>
            <a:ext cx="914400" cy="274320"/>
          </a:xfrm>
          <a:prstGeom prst="rect">
            <a:avLst/>
          </a:prstGeom>
          <a:noFill/>
          <a:ln/>
        </p:spPr>
        <p:txBody>
          <a:bodyPr wrap="square" lIns="0" tIns="0" rIns="0" bIns="0" rtlCol="0" anchor="ctr"/>
          <a:lstStyle/>
          <a:p>
            <a:pPr algn="r" indent="0" marL="0">
              <a:buNone/>
            </a:pPr>
            <a:r>
              <a:rPr lang="en-US" sz="850" dirty="0">
                <a:solidFill>
                  <a:srgbClr val="7A6A57"/>
                </a:solidFill>
                <a:latin typeface="Calibri" pitchFamily="34" charset="0"/>
                <a:ea typeface="Calibri" pitchFamily="34" charset="-122"/>
                <a:cs typeface="Calibri" pitchFamily="34" charset="-120"/>
              </a:rPr>
              <a:t>11</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lIns="0" tIns="0" rIns="0" bIns="0" rtlCol="0" anchor="ctr"/>
          <a:lstStyle/>
          <a:p>
            <a:pPr indent="0" marL="0">
              <a:buNone/>
            </a:pPr>
            <a:r>
              <a:rPr lang="en-US" sz="1200" b="1" spc="200" kern="0" dirty="0">
                <a:solidFill>
                  <a:srgbClr val="8B5E3C"/>
                </a:solidFill>
                <a:latin typeface="Calibri" pitchFamily="34" charset="0"/>
                <a:ea typeface="Calibri" pitchFamily="34" charset="-122"/>
                <a:cs typeface="Calibri" pitchFamily="34" charset="-120"/>
              </a:rPr>
              <a:t>PIONERO · CIENCIA CLÍNICA</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t"/>
          <a:lstStyle/>
          <a:p>
            <a:pPr indent="0" marL="0">
              <a:buNone/>
            </a:pPr>
            <a:r>
              <a:rPr lang="en-US" sz="2900" b="1" dirty="0">
                <a:solidFill>
                  <a:srgbClr val="5C3A21"/>
                </a:solidFill>
                <a:latin typeface="Cambria" pitchFamily="34" charset="0"/>
                <a:ea typeface="Cambria" pitchFamily="34" charset="-122"/>
                <a:cs typeface="Cambria" pitchFamily="34" charset="-120"/>
              </a:rPr>
              <a:t>John Snow: anestesiología científica y epidemiología moderna</a:t>
            </a:r>
            <a:endParaRPr lang="en-US" sz="2900" dirty="0"/>
          </a:p>
        </p:txBody>
      </p:sp>
      <p:sp>
        <p:nvSpPr>
          <p:cNvPr id="4" name="Text 2"/>
          <p:cNvSpPr/>
          <p:nvPr/>
        </p:nvSpPr>
        <p:spPr>
          <a:xfrm>
            <a:off x="548640" y="1691640"/>
            <a:ext cx="11064240" cy="685800"/>
          </a:xfrm>
          <a:prstGeom prst="rect">
            <a:avLst/>
          </a:prstGeom>
          <a:noFill/>
          <a:ln/>
        </p:spPr>
        <p:txBody>
          <a:bodyPr wrap="square" lIns="0" tIns="0" rIns="0" bIns="0" rtlCol="0" anchor="ctr"/>
          <a:lstStyle/>
          <a:p>
            <a:pPr indent="0" marL="0">
              <a:lnSpc>
                <a:spcPct val="120000"/>
              </a:lnSpc>
              <a:buNone/>
            </a:pPr>
            <a:r>
              <a:rPr lang="en-US" sz="1300" dirty="0">
                <a:solidFill>
                  <a:srgbClr val="3A2E22"/>
                </a:solidFill>
                <a:latin typeface="Calibri" pitchFamily="34" charset="0"/>
                <a:ea typeface="Calibri" pitchFamily="34" charset="-122"/>
                <a:cs typeface="Calibri" pitchFamily="34" charset="-120"/>
              </a:rPr>
              <a:t>Médico inglés (1813–1858), John Snow es una figura excepcional: fundó simultáneamente las bases metodológicas de dos disciplinas médicas modernas, aplicando el mismo rigor de observación cuantitativa a ambas.</a:t>
            </a:r>
            <a:endParaRPr lang="en-US" sz="1300" dirty="0"/>
          </a:p>
        </p:txBody>
      </p:sp>
      <p:sp>
        <p:nvSpPr>
          <p:cNvPr id="5" name="Shape 3"/>
          <p:cNvSpPr/>
          <p:nvPr/>
        </p:nvSpPr>
        <p:spPr>
          <a:xfrm>
            <a:off x="548640" y="2514600"/>
            <a:ext cx="5440680" cy="3611880"/>
          </a:xfrm>
          <a:prstGeom prst="roundRect">
            <a:avLst>
              <a:gd name="adj" fmla="val 2025"/>
            </a:avLst>
          </a:prstGeom>
          <a:solidFill>
            <a:srgbClr val="8B5E3C">
              <a:alpha val="11000"/>
            </a:srgbClr>
          </a:solidFill>
          <a:ln/>
        </p:spPr>
      </p:sp>
      <p:sp>
        <p:nvSpPr>
          <p:cNvPr id="6" name="Shape 4"/>
          <p:cNvSpPr/>
          <p:nvPr/>
        </p:nvSpPr>
        <p:spPr>
          <a:xfrm>
            <a:off x="822960" y="2724912"/>
            <a:ext cx="777240" cy="777240"/>
          </a:xfrm>
          <a:prstGeom prst="ellipse">
            <a:avLst/>
          </a:prstGeom>
          <a:solidFill>
            <a:srgbClr val="5C3A21"/>
          </a:solidFill>
          <a:ln/>
          <a:effectLst>
            <a:outerShdw sx="100000" sy="100000" kx="0" ky="0" algn="bl" rotWithShape="0" blurRad="101600" dist="38100" dir="5400000">
              <a:srgbClr val="2B2118">
                <a:alpha val="28000"/>
              </a:srgbClr>
            </a:outerShdw>
          </a:effectLst>
        </p:spPr>
      </p:sp>
      <p:pic>
        <p:nvPicPr>
          <p:cNvPr id="7" name="Image 0" descr="preencoded.png">    </p:cNvPr>
          <p:cNvPicPr>
            <a:picLocks noChangeAspect="1"/>
          </p:cNvPicPr>
          <p:nvPr/>
        </p:nvPicPr>
        <p:blipFill>
          <a:blip r:embed="rId1"/>
          <a:stretch>
            <a:fillRect/>
          </a:stretch>
        </p:blipFill>
        <p:spPr>
          <a:xfrm>
            <a:off x="997839" y="2899791"/>
            <a:ext cx="427482" cy="427482"/>
          </a:xfrm>
          <a:prstGeom prst="rect">
            <a:avLst/>
          </a:prstGeom>
        </p:spPr>
      </p:pic>
      <p:sp>
        <p:nvSpPr>
          <p:cNvPr id="8" name="Text 5"/>
          <p:cNvSpPr/>
          <p:nvPr/>
        </p:nvSpPr>
        <p:spPr>
          <a:xfrm>
            <a:off x="1737360" y="2788920"/>
            <a:ext cx="4069080" cy="640080"/>
          </a:xfrm>
          <a:prstGeom prst="rect">
            <a:avLst/>
          </a:prstGeom>
          <a:noFill/>
          <a:ln/>
        </p:spPr>
        <p:txBody>
          <a:bodyPr wrap="square" lIns="0" tIns="0" rIns="0" bIns="0" rtlCol="0" anchor="ctr"/>
          <a:lstStyle/>
          <a:p>
            <a:pPr indent="0" marL="0">
              <a:buNone/>
            </a:pPr>
            <a:r>
              <a:rPr lang="en-US" sz="1600" b="1" dirty="0">
                <a:solidFill>
                  <a:srgbClr val="5C3A21"/>
                </a:solidFill>
                <a:latin typeface="Cambria" pitchFamily="34" charset="0"/>
                <a:ea typeface="Cambria" pitchFamily="34" charset="-122"/>
                <a:cs typeface="Cambria" pitchFamily="34" charset="-120"/>
              </a:rPr>
              <a:t>Anestesiología científica</a:t>
            </a:r>
            <a:endParaRPr lang="en-US" sz="1600" dirty="0"/>
          </a:p>
        </p:txBody>
      </p:sp>
      <p:sp>
        <p:nvSpPr>
          <p:cNvPr id="9" name="Text 6"/>
          <p:cNvSpPr/>
          <p:nvPr/>
        </p:nvSpPr>
        <p:spPr>
          <a:xfrm>
            <a:off x="822960" y="3657600"/>
            <a:ext cx="4892040" cy="2377440"/>
          </a:xfrm>
          <a:prstGeom prst="rect">
            <a:avLst/>
          </a:prstGeom>
          <a:noFill/>
          <a:ln/>
        </p:spPr>
        <p:txBody>
          <a:bodyPr wrap="square" lIns="0" tIns="0" rIns="0" bIns="0" rtlCol="0" anchor="t"/>
          <a:lstStyle/>
          <a:p>
            <a:pPr marL="203200" indent="-203200">
              <a:lnSpc>
                <a:spcPct val="105000"/>
              </a:lnSpc>
              <a:spcAft>
                <a:spcPts val="900"/>
              </a:spcAft>
              <a:buSzPct val="100000"/>
              <a:buChar char="•"/>
            </a:pPr>
            <a:r>
              <a:rPr lang="en-US" sz="1100" dirty="0">
                <a:solidFill>
                  <a:srgbClr val="3A2E22"/>
                </a:solidFill>
                <a:latin typeface="Calibri" pitchFamily="34" charset="0"/>
                <a:ea typeface="Calibri" pitchFamily="34" charset="-122"/>
                <a:cs typeface="Calibri" pitchFamily="34" charset="-120"/>
              </a:rPr>
              <a:t>Diseñó el primer inhalador para dosificación controlada y reproducible de cloroformo y éter.</a:t>
            </a:r>
            <a:endParaRPr lang="en-US" sz="1100" dirty="0"/>
          </a:p>
          <a:p>
            <a:pPr marL="203200" indent="-203200">
              <a:lnSpc>
                <a:spcPct val="105000"/>
              </a:lnSpc>
              <a:spcAft>
                <a:spcPts val="900"/>
              </a:spcAft>
              <a:buSzPct val="100000"/>
              <a:buChar char="•"/>
            </a:pPr>
            <a:r>
              <a:rPr lang="en-US" sz="1100" dirty="0">
                <a:solidFill>
                  <a:srgbClr val="3A2E22"/>
                </a:solidFill>
                <a:latin typeface="Calibri" pitchFamily="34" charset="0"/>
                <a:ea typeface="Calibri" pitchFamily="34" charset="-122"/>
                <a:cs typeface="Calibri" pitchFamily="34" charset="-120"/>
              </a:rPr>
              <a:t>Estudió sistemáticamente la relación entre concentración del agente y profundidad anestésica.</a:t>
            </a:r>
            <a:endParaRPr lang="en-US" sz="1100" dirty="0"/>
          </a:p>
          <a:p>
            <a:pPr marL="203200" indent="-203200">
              <a:lnSpc>
                <a:spcPct val="105000"/>
              </a:lnSpc>
              <a:spcAft>
                <a:spcPts val="900"/>
              </a:spcAft>
              <a:buSzPct val="100000"/>
              <a:buChar char="•"/>
            </a:pPr>
            <a:r>
              <a:rPr lang="en-US" sz="1100" dirty="0">
                <a:solidFill>
                  <a:srgbClr val="3A2E22"/>
                </a:solidFill>
                <a:latin typeface="Calibri" pitchFamily="34" charset="0"/>
                <a:ea typeface="Calibri" pitchFamily="34" charset="-122"/>
                <a:cs typeface="Calibri" pitchFamily="34" charset="-120"/>
              </a:rPr>
              <a:t>Publicó 'On Chloroform and Other Anaesthetics' (1858, póstumo), obra de referencia temprana.</a:t>
            </a:r>
            <a:endParaRPr lang="en-US" sz="1100" dirty="0"/>
          </a:p>
          <a:p>
            <a:pPr marL="203200" indent="-203200">
              <a:lnSpc>
                <a:spcPct val="105000"/>
              </a:lnSpc>
              <a:spcAft>
                <a:spcPts val="900"/>
              </a:spcAft>
              <a:buSzPct val="100000"/>
              <a:buChar char="•"/>
            </a:pPr>
            <a:r>
              <a:rPr lang="en-US" sz="1100" dirty="0">
                <a:solidFill>
                  <a:srgbClr val="3A2E22"/>
                </a:solidFill>
                <a:latin typeface="Calibri" pitchFamily="34" charset="0"/>
                <a:ea typeface="Calibri" pitchFamily="34" charset="-122"/>
                <a:cs typeface="Calibri" pitchFamily="34" charset="-120"/>
              </a:rPr>
              <a:t>Administró cloroformo a la Reina Victoria en 1853 y 1857 (ver siguiente diapositiva).</a:t>
            </a:r>
            <a:endParaRPr lang="en-US" sz="1100" dirty="0"/>
          </a:p>
        </p:txBody>
      </p:sp>
      <p:sp>
        <p:nvSpPr>
          <p:cNvPr id="10" name="Shape 7"/>
          <p:cNvSpPr/>
          <p:nvPr/>
        </p:nvSpPr>
        <p:spPr>
          <a:xfrm>
            <a:off x="6217920" y="2514600"/>
            <a:ext cx="5440680" cy="3611880"/>
          </a:xfrm>
          <a:prstGeom prst="roundRect">
            <a:avLst>
              <a:gd name="adj" fmla="val 2025"/>
            </a:avLst>
          </a:prstGeom>
          <a:solidFill>
            <a:srgbClr val="C9A66B">
              <a:alpha val="11000"/>
            </a:srgbClr>
          </a:solidFill>
          <a:ln/>
        </p:spPr>
      </p:sp>
      <p:sp>
        <p:nvSpPr>
          <p:cNvPr id="11" name="Shape 8"/>
          <p:cNvSpPr/>
          <p:nvPr/>
        </p:nvSpPr>
        <p:spPr>
          <a:xfrm>
            <a:off x="6492240" y="2724912"/>
            <a:ext cx="777240" cy="777240"/>
          </a:xfrm>
          <a:prstGeom prst="ellipse">
            <a:avLst/>
          </a:prstGeom>
          <a:solidFill>
            <a:srgbClr val="5C3A21"/>
          </a:solidFill>
          <a:ln/>
          <a:effectLst>
            <a:outerShdw sx="100000" sy="100000" kx="0" ky="0" algn="bl" rotWithShape="0" blurRad="101600" dist="38100" dir="5400000">
              <a:srgbClr val="2B2118">
                <a:alpha val="28000"/>
              </a:srgbClr>
            </a:outerShdw>
          </a:effectLst>
        </p:spPr>
      </p:sp>
      <p:pic>
        <p:nvPicPr>
          <p:cNvPr id="12" name="Image 1" descr="preencoded.png">    </p:cNvPr>
          <p:cNvPicPr>
            <a:picLocks noChangeAspect="1"/>
          </p:cNvPicPr>
          <p:nvPr/>
        </p:nvPicPr>
        <p:blipFill>
          <a:blip r:embed="rId2"/>
          <a:stretch>
            <a:fillRect/>
          </a:stretch>
        </p:blipFill>
        <p:spPr>
          <a:xfrm>
            <a:off x="6667119" y="2899791"/>
            <a:ext cx="427482" cy="427482"/>
          </a:xfrm>
          <a:prstGeom prst="rect">
            <a:avLst/>
          </a:prstGeom>
        </p:spPr>
      </p:pic>
      <p:sp>
        <p:nvSpPr>
          <p:cNvPr id="13" name="Text 9"/>
          <p:cNvSpPr/>
          <p:nvPr/>
        </p:nvSpPr>
        <p:spPr>
          <a:xfrm>
            <a:off x="7406640" y="2788920"/>
            <a:ext cx="4069080" cy="640080"/>
          </a:xfrm>
          <a:prstGeom prst="rect">
            <a:avLst/>
          </a:prstGeom>
          <a:noFill/>
          <a:ln/>
        </p:spPr>
        <p:txBody>
          <a:bodyPr wrap="square" lIns="0" tIns="0" rIns="0" bIns="0" rtlCol="0" anchor="ctr"/>
          <a:lstStyle/>
          <a:p>
            <a:pPr indent="0" marL="0">
              <a:buNone/>
            </a:pPr>
            <a:r>
              <a:rPr lang="en-US" sz="1600" b="1" dirty="0">
                <a:solidFill>
                  <a:srgbClr val="5C3A21"/>
                </a:solidFill>
                <a:latin typeface="Cambria" pitchFamily="34" charset="0"/>
                <a:ea typeface="Cambria" pitchFamily="34" charset="-122"/>
                <a:cs typeface="Cambria" pitchFamily="34" charset="-120"/>
              </a:rPr>
              <a:t>Epidemiología moderna</a:t>
            </a:r>
            <a:endParaRPr lang="en-US" sz="1600" dirty="0"/>
          </a:p>
        </p:txBody>
      </p:sp>
      <p:sp>
        <p:nvSpPr>
          <p:cNvPr id="14" name="Text 10"/>
          <p:cNvSpPr/>
          <p:nvPr/>
        </p:nvSpPr>
        <p:spPr>
          <a:xfrm>
            <a:off x="6492240" y="3657600"/>
            <a:ext cx="4892040" cy="2377440"/>
          </a:xfrm>
          <a:prstGeom prst="rect">
            <a:avLst/>
          </a:prstGeom>
          <a:noFill/>
          <a:ln/>
        </p:spPr>
        <p:txBody>
          <a:bodyPr wrap="square" lIns="0" tIns="0" rIns="0" bIns="0" rtlCol="0" anchor="t"/>
          <a:lstStyle/>
          <a:p>
            <a:pPr marL="203200" indent="-203200">
              <a:lnSpc>
                <a:spcPct val="105000"/>
              </a:lnSpc>
              <a:spcAft>
                <a:spcPts val="900"/>
              </a:spcAft>
              <a:buSzPct val="100000"/>
              <a:buChar char="•"/>
            </a:pPr>
            <a:r>
              <a:rPr lang="en-US" sz="1100" dirty="0">
                <a:solidFill>
                  <a:srgbClr val="3A2E22"/>
                </a:solidFill>
                <a:latin typeface="Calibri" pitchFamily="34" charset="0"/>
                <a:ea typeface="Calibri" pitchFamily="34" charset="-122"/>
                <a:cs typeface="Calibri" pitchFamily="34" charset="-120"/>
              </a:rPr>
              <a:t>Investigó el brote de cólera de Broad Street, Londres (1854), mediante mapeo geográfico de casos.</a:t>
            </a:r>
            <a:endParaRPr lang="en-US" sz="1100" dirty="0"/>
          </a:p>
          <a:p>
            <a:pPr marL="203200" indent="-203200">
              <a:lnSpc>
                <a:spcPct val="105000"/>
              </a:lnSpc>
              <a:spcAft>
                <a:spcPts val="900"/>
              </a:spcAft>
              <a:buSzPct val="100000"/>
              <a:buChar char="•"/>
            </a:pPr>
            <a:r>
              <a:rPr lang="en-US" sz="1100" dirty="0">
                <a:solidFill>
                  <a:srgbClr val="3A2E22"/>
                </a:solidFill>
                <a:latin typeface="Calibri" pitchFamily="34" charset="0"/>
                <a:ea typeface="Calibri" pitchFamily="34" charset="-122"/>
                <a:cs typeface="Calibri" pitchFamily="34" charset="-120"/>
              </a:rPr>
              <a:t>Identificó la bomba de agua contaminada de Broad Street como fuente del brote, refutando la teoría miasmática dominante.</a:t>
            </a:r>
            <a:endParaRPr lang="en-US" sz="1100" dirty="0"/>
          </a:p>
          <a:p>
            <a:pPr marL="203200" indent="-203200">
              <a:lnSpc>
                <a:spcPct val="105000"/>
              </a:lnSpc>
              <a:spcAft>
                <a:spcPts val="900"/>
              </a:spcAft>
              <a:buSzPct val="100000"/>
              <a:buChar char="•"/>
            </a:pPr>
            <a:r>
              <a:rPr lang="en-US" sz="1100" dirty="0">
                <a:solidFill>
                  <a:srgbClr val="3A2E22"/>
                </a:solidFill>
                <a:latin typeface="Calibri" pitchFamily="34" charset="0"/>
                <a:ea typeface="Calibri" pitchFamily="34" charset="-122"/>
                <a:cs typeface="Calibri" pitchFamily="34" charset="-120"/>
              </a:rPr>
              <a:t>Su método —observación sistemática, datos cuantitativos, inferencia causal— funda la epidemiología moderna.</a:t>
            </a:r>
            <a:endParaRPr lang="en-US" sz="1100" dirty="0"/>
          </a:p>
          <a:p>
            <a:pPr marL="203200" indent="-203200">
              <a:lnSpc>
                <a:spcPct val="105000"/>
              </a:lnSpc>
              <a:spcAft>
                <a:spcPts val="900"/>
              </a:spcAft>
              <a:buSzPct val="100000"/>
              <a:buChar char="•"/>
            </a:pPr>
            <a:r>
              <a:rPr lang="en-US" sz="1100" dirty="0">
                <a:solidFill>
                  <a:srgbClr val="3A2E22"/>
                </a:solidFill>
                <a:latin typeface="Calibri" pitchFamily="34" charset="0"/>
                <a:ea typeface="Calibri" pitchFamily="34" charset="-122"/>
                <a:cs typeface="Calibri" pitchFamily="34" charset="-120"/>
              </a:rPr>
              <a:t>Ambas contribuciones comparten un mismo principio: medir con rigor antes de intervenir.</a:t>
            </a:r>
            <a:endParaRPr lang="en-US" sz="1100" dirty="0"/>
          </a:p>
        </p:txBody>
      </p:sp>
      <p:sp>
        <p:nvSpPr>
          <p:cNvPr id="15" name="Text 11"/>
          <p:cNvSpPr/>
          <p:nvPr/>
        </p:nvSpPr>
        <p:spPr>
          <a:xfrm>
            <a:off x="548640" y="6473952"/>
            <a:ext cx="6400800" cy="274320"/>
          </a:xfrm>
          <a:prstGeom prst="rect">
            <a:avLst/>
          </a:prstGeom>
          <a:noFill/>
          <a:ln/>
        </p:spPr>
        <p:txBody>
          <a:bodyPr wrap="square" lIns="0" tIns="0" rIns="0" bIns="0" rtlCol="0" anchor="ctr"/>
          <a:lstStyle/>
          <a:p>
            <a:pPr indent="0" marL="0">
              <a:buNone/>
            </a:pPr>
            <a:r>
              <a:rPr lang="en-US" sz="850" spc="100" kern="0" dirty="0">
                <a:solidFill>
                  <a:srgbClr val="7A6A57"/>
                </a:solidFill>
                <a:latin typeface="Calibri" pitchFamily="34" charset="0"/>
                <a:ea typeface="Calibri" pitchFamily="34" charset="-122"/>
                <a:cs typeface="Calibri" pitchFamily="34" charset="-120"/>
              </a:rPr>
              <a:t>CAPÍTULO II  ·  HISTORIA DE LA ANESTESIA</a:t>
            </a:r>
            <a:endParaRPr lang="en-US" sz="850" dirty="0"/>
          </a:p>
        </p:txBody>
      </p:sp>
      <p:sp>
        <p:nvSpPr>
          <p:cNvPr id="16" name="Text 12"/>
          <p:cNvSpPr/>
          <p:nvPr/>
        </p:nvSpPr>
        <p:spPr>
          <a:xfrm>
            <a:off x="10728655" y="6473952"/>
            <a:ext cx="914400" cy="274320"/>
          </a:xfrm>
          <a:prstGeom prst="rect">
            <a:avLst/>
          </a:prstGeom>
          <a:noFill/>
          <a:ln/>
        </p:spPr>
        <p:txBody>
          <a:bodyPr wrap="square" lIns="0" tIns="0" rIns="0" bIns="0" rtlCol="0" anchor="ctr"/>
          <a:lstStyle/>
          <a:p>
            <a:pPr algn="r" indent="0" marL="0">
              <a:buNone/>
            </a:pPr>
            <a:r>
              <a:rPr lang="en-US" sz="850" dirty="0">
                <a:solidFill>
                  <a:srgbClr val="7A6A57"/>
                </a:solidFill>
                <a:latin typeface="Calibri" pitchFamily="34" charset="0"/>
                <a:ea typeface="Calibri" pitchFamily="34" charset="-122"/>
                <a:cs typeface="Calibri" pitchFamily="34" charset="-120"/>
              </a:rPr>
              <a:t>12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B2118"/>
        </a:solidFill>
      </p:bgPr>
    </p:bg>
    <p:spTree>
      <p:nvGrpSpPr>
        <p:cNvPr id="1" name=""/>
        <p:cNvGrpSpPr/>
        <p:nvPr/>
      </p:nvGrpSpPr>
      <p:grpSpPr>
        <a:xfrm>
          <a:off x="0" y="0"/>
          <a:ext cx="0" cy="0"/>
          <a:chOff x="0" y="0"/>
          <a:chExt cx="0" cy="0"/>
        </a:xfrm>
      </p:grpSpPr>
      <p:sp>
        <p:nvSpPr>
          <p:cNvPr id="2" name="Shape 0"/>
          <p:cNvSpPr/>
          <p:nvPr/>
        </p:nvSpPr>
        <p:spPr>
          <a:xfrm>
            <a:off x="-1371600" y="4114800"/>
            <a:ext cx="4572000" cy="4572000"/>
          </a:xfrm>
          <a:prstGeom prst="ellipse">
            <a:avLst/>
          </a:prstGeom>
          <a:ln w="12700">
            <a:solidFill>
              <a:srgbClr val="8B5E3C">
                <a:alpha val="45000"/>
              </a:srgbClr>
            </a:solidFill>
            <a:prstDash val="solid"/>
          </a:ln>
        </p:spPr>
      </p:sp>
      <p:sp>
        <p:nvSpPr>
          <p:cNvPr id="3" name="Text 1"/>
          <p:cNvSpPr/>
          <p:nvPr/>
        </p:nvSpPr>
        <p:spPr>
          <a:xfrm>
            <a:off x="548640" y="502920"/>
            <a:ext cx="9144000" cy="320040"/>
          </a:xfrm>
          <a:prstGeom prst="rect">
            <a:avLst/>
          </a:prstGeom>
          <a:noFill/>
          <a:ln/>
        </p:spPr>
        <p:txBody>
          <a:bodyPr wrap="square" lIns="0" tIns="0" rIns="0" bIns="0" rtlCol="0" anchor="ctr"/>
          <a:lstStyle/>
          <a:p>
            <a:pPr indent="0" marL="0">
              <a:buNone/>
            </a:pPr>
            <a:r>
              <a:rPr lang="en-US" sz="1200" b="1" spc="200" kern="0" dirty="0">
                <a:solidFill>
                  <a:srgbClr val="C9A66B"/>
                </a:solidFill>
                <a:latin typeface="Calibri" pitchFamily="34" charset="0"/>
                <a:ea typeface="Calibri" pitchFamily="34" charset="-122"/>
                <a:cs typeface="Calibri" pitchFamily="34" charset="-120"/>
              </a:rPr>
              <a:t>ANESTESIA OBSTÉTRICA</a:t>
            </a:r>
            <a:endParaRPr lang="en-US" sz="1200" dirty="0"/>
          </a:p>
        </p:txBody>
      </p:sp>
      <p:sp>
        <p:nvSpPr>
          <p:cNvPr id="4" name="Text 2"/>
          <p:cNvSpPr/>
          <p:nvPr/>
        </p:nvSpPr>
        <p:spPr>
          <a:xfrm>
            <a:off x="548640" y="822960"/>
            <a:ext cx="10881360" cy="105156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“Anesthesia à la reine”: la Reina Victoria y el cloroformo</a:t>
            </a:r>
            <a:endParaRPr lang="en-US" sz="2800" dirty="0"/>
          </a:p>
        </p:txBody>
      </p:sp>
      <p:sp>
        <p:nvSpPr>
          <p:cNvPr id="5" name="Shape 3"/>
          <p:cNvSpPr/>
          <p:nvPr/>
        </p:nvSpPr>
        <p:spPr>
          <a:xfrm>
            <a:off x="822960" y="2148840"/>
            <a:ext cx="1371600" cy="1371600"/>
          </a:xfrm>
          <a:prstGeom prst="ellipse">
            <a:avLst/>
          </a:prstGeom>
          <a:solidFill>
            <a:srgbClr val="C9A66B"/>
          </a:solidFill>
          <a:ln/>
          <a:effectLst>
            <a:outerShdw sx="100000" sy="100000" kx="0" ky="0" algn="bl" rotWithShape="0" blurRad="101600" dist="38100" dir="5400000">
              <a:srgbClr val="2B2118">
                <a:alpha val="28000"/>
              </a:srgbClr>
            </a:outerShdw>
          </a:effectLst>
        </p:spPr>
      </p:sp>
      <p:pic>
        <p:nvPicPr>
          <p:cNvPr id="6" name="Image 0" descr="preencoded.png">    </p:cNvPr>
          <p:cNvPicPr>
            <a:picLocks noChangeAspect="1"/>
          </p:cNvPicPr>
          <p:nvPr/>
        </p:nvPicPr>
        <p:blipFill>
          <a:blip r:embed="rId1"/>
          <a:stretch>
            <a:fillRect/>
          </a:stretch>
        </p:blipFill>
        <p:spPr>
          <a:xfrm>
            <a:off x="1165860" y="2491740"/>
            <a:ext cx="685800" cy="685800"/>
          </a:xfrm>
          <a:prstGeom prst="rect">
            <a:avLst/>
          </a:prstGeom>
        </p:spPr>
      </p:pic>
      <p:sp>
        <p:nvSpPr>
          <p:cNvPr id="7" name="Text 4"/>
          <p:cNvSpPr/>
          <p:nvPr/>
        </p:nvSpPr>
        <p:spPr>
          <a:xfrm>
            <a:off x="2514600" y="2148840"/>
            <a:ext cx="8412480" cy="1371600"/>
          </a:xfrm>
          <a:prstGeom prst="rect">
            <a:avLst/>
          </a:prstGeom>
          <a:noFill/>
          <a:ln/>
        </p:spPr>
        <p:txBody>
          <a:bodyPr wrap="square" lIns="0" tIns="0" rIns="0" bIns="0" rtlCol="0" anchor="ctr"/>
          <a:lstStyle/>
          <a:p>
            <a:pPr indent="0" marL="0">
              <a:lnSpc>
                <a:spcPct val="130000"/>
              </a:lnSpc>
              <a:buNone/>
            </a:pPr>
            <a:r>
              <a:rPr lang="en-US" sz="1400" dirty="0">
                <a:solidFill>
                  <a:srgbClr val="F3ECE0"/>
                </a:solidFill>
                <a:latin typeface="Calibri" pitchFamily="34" charset="0"/>
                <a:ea typeface="Calibri" pitchFamily="34" charset="-122"/>
                <a:cs typeface="Calibri" pitchFamily="34" charset="-120"/>
              </a:rPr>
              <a:t>El 7 de abril de 1853, durante el nacimiento del Príncipe Leopoldo, John Snow administró cloroformo a la Reina Victoria mediante goteo controlado sobre un pañuelo, en dosis tituladas cuidadosamente. El procedimiento se repitió en 1857, en el nacimiento de la Princesa Beatrice.</a:t>
            </a:r>
            <a:endParaRPr lang="en-US" sz="1400" dirty="0"/>
          </a:p>
        </p:txBody>
      </p:sp>
      <p:sp>
        <p:nvSpPr>
          <p:cNvPr id="8" name="Shape 5"/>
          <p:cNvSpPr/>
          <p:nvPr/>
        </p:nvSpPr>
        <p:spPr>
          <a:xfrm>
            <a:off x="2514600" y="3703320"/>
            <a:ext cx="8412480" cy="2286000"/>
          </a:xfrm>
          <a:prstGeom prst="roundRect">
            <a:avLst>
              <a:gd name="adj" fmla="val 3200"/>
            </a:avLst>
          </a:prstGeom>
          <a:solidFill>
            <a:srgbClr val="C9A66B">
              <a:alpha val="15000"/>
            </a:srgbClr>
          </a:solidFill>
          <a:ln/>
        </p:spPr>
      </p:sp>
      <p:sp>
        <p:nvSpPr>
          <p:cNvPr id="9" name="Text 6"/>
          <p:cNvSpPr/>
          <p:nvPr/>
        </p:nvSpPr>
        <p:spPr>
          <a:xfrm>
            <a:off x="2834640" y="3977640"/>
            <a:ext cx="7772400" cy="1737360"/>
          </a:xfrm>
          <a:prstGeom prst="rect">
            <a:avLst/>
          </a:prstGeom>
          <a:noFill/>
          <a:ln/>
        </p:spPr>
        <p:txBody>
          <a:bodyPr wrap="square" lIns="0" tIns="0" rIns="0" bIns="0" rtlCol="0" anchor="ctr"/>
          <a:lstStyle/>
          <a:p>
            <a:pPr indent="0" marL="0">
              <a:lnSpc>
                <a:spcPct val="130000"/>
              </a:lnSpc>
              <a:buNone/>
            </a:pPr>
            <a:r>
              <a:rPr lang="en-US" sz="1350" i="1" dirty="0">
                <a:solidFill>
                  <a:srgbClr val="F3ECE0"/>
                </a:solidFill>
                <a:latin typeface="Calibri" pitchFamily="34" charset="0"/>
                <a:ea typeface="Calibri" pitchFamily="34" charset="-122"/>
                <a:cs typeface="Calibri" pitchFamily="34" charset="-120"/>
              </a:rPr>
              <a:t>La aceptación real de la analgesia obstétrica —en una época de fuerte oposición médica y religiosa al alivio del dolor del parto— legitimó socialmente su uso y aceleró su adopción en la práctica clínica occidental, dando origen a la expresión 'chloroform à la reine'.</a:t>
            </a:r>
            <a:endParaRPr lang="en-US" sz="1350" dirty="0"/>
          </a:p>
        </p:txBody>
      </p:sp>
      <p:sp>
        <p:nvSpPr>
          <p:cNvPr id="10" name="Text 7"/>
          <p:cNvSpPr/>
          <p:nvPr/>
        </p:nvSpPr>
        <p:spPr>
          <a:xfrm>
            <a:off x="548640" y="6473952"/>
            <a:ext cx="6400800" cy="274320"/>
          </a:xfrm>
          <a:prstGeom prst="rect">
            <a:avLst/>
          </a:prstGeom>
          <a:noFill/>
          <a:ln/>
        </p:spPr>
        <p:txBody>
          <a:bodyPr wrap="square" lIns="0" tIns="0" rIns="0" bIns="0" rtlCol="0" anchor="ctr"/>
          <a:lstStyle/>
          <a:p>
            <a:pPr indent="0" marL="0">
              <a:buNone/>
            </a:pPr>
            <a:r>
              <a:rPr lang="en-US" sz="850" spc="100" kern="0" dirty="0">
                <a:solidFill>
                  <a:srgbClr val="C9B8A0"/>
                </a:solidFill>
                <a:latin typeface="Calibri" pitchFamily="34" charset="0"/>
                <a:ea typeface="Calibri" pitchFamily="34" charset="-122"/>
                <a:cs typeface="Calibri" pitchFamily="34" charset="-120"/>
              </a:rPr>
              <a:t>CAPÍTULO II  ·  HISTORIA DE LA ANESTESIA</a:t>
            </a:r>
            <a:endParaRPr lang="en-US" sz="850" dirty="0"/>
          </a:p>
        </p:txBody>
      </p:sp>
      <p:sp>
        <p:nvSpPr>
          <p:cNvPr id="11" name="Text 8"/>
          <p:cNvSpPr/>
          <p:nvPr/>
        </p:nvSpPr>
        <p:spPr>
          <a:xfrm>
            <a:off x="10728655" y="6473952"/>
            <a:ext cx="914400" cy="274320"/>
          </a:xfrm>
          <a:prstGeom prst="rect">
            <a:avLst/>
          </a:prstGeom>
          <a:noFill/>
          <a:ln/>
        </p:spPr>
        <p:txBody>
          <a:bodyPr wrap="square" lIns="0" tIns="0" rIns="0" bIns="0" rtlCol="0" anchor="ctr"/>
          <a:lstStyle/>
          <a:p>
            <a:pPr algn="r" indent="0" marL="0">
              <a:buNone/>
            </a:pPr>
            <a:r>
              <a:rPr lang="en-US" sz="850" dirty="0">
                <a:solidFill>
                  <a:srgbClr val="C9B8A0"/>
                </a:solidFill>
                <a:latin typeface="Calibri" pitchFamily="34" charset="0"/>
                <a:ea typeface="Calibri" pitchFamily="34" charset="-122"/>
                <a:cs typeface="Calibri" pitchFamily="34" charset="-120"/>
              </a:rPr>
              <a:t>13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lIns="0" tIns="0" rIns="0" bIns="0" rtlCol="0" anchor="ctr"/>
          <a:lstStyle/>
          <a:p>
            <a:pPr indent="0" marL="0">
              <a:buNone/>
            </a:pPr>
            <a:r>
              <a:rPr lang="en-US" sz="1200" b="1" spc="200" kern="0" dirty="0">
                <a:solidFill>
                  <a:srgbClr val="8B5E3C"/>
                </a:solidFill>
                <a:latin typeface="Calibri" pitchFamily="34" charset="0"/>
                <a:ea typeface="Calibri" pitchFamily="34" charset="-122"/>
                <a:cs typeface="Calibri" pitchFamily="34" charset="-120"/>
              </a:rPr>
              <a:t>PIONERO · ANESTESIA LOCAL</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t"/>
          <a:lstStyle/>
          <a:p>
            <a:pPr indent="0" marL="0">
              <a:buNone/>
            </a:pPr>
            <a:r>
              <a:rPr lang="en-US" sz="2900" b="1" dirty="0">
                <a:solidFill>
                  <a:srgbClr val="5C3A21"/>
                </a:solidFill>
                <a:latin typeface="Cambria" pitchFamily="34" charset="0"/>
                <a:ea typeface="Cambria" pitchFamily="34" charset="-122"/>
                <a:cs typeface="Cambria" pitchFamily="34" charset="-120"/>
              </a:rPr>
              <a:t>Carl Koller y la anestesia local con cocaína (1884)</a:t>
            </a:r>
            <a:endParaRPr lang="en-US" sz="2900" dirty="0"/>
          </a:p>
        </p:txBody>
      </p:sp>
      <p:sp>
        <p:nvSpPr>
          <p:cNvPr id="4" name="Shape 2"/>
          <p:cNvSpPr/>
          <p:nvPr/>
        </p:nvSpPr>
        <p:spPr>
          <a:xfrm>
            <a:off x="548640" y="1691640"/>
            <a:ext cx="3383280" cy="4434840"/>
          </a:xfrm>
          <a:prstGeom prst="roundRect">
            <a:avLst>
              <a:gd name="adj" fmla="val 2162"/>
            </a:avLst>
          </a:prstGeom>
          <a:solidFill>
            <a:srgbClr val="8B5E3C">
              <a:alpha val="12000"/>
            </a:srgbClr>
          </a:solidFill>
          <a:ln/>
        </p:spPr>
      </p:sp>
      <p:sp>
        <p:nvSpPr>
          <p:cNvPr id="5" name="Shape 3"/>
          <p:cNvSpPr/>
          <p:nvPr/>
        </p:nvSpPr>
        <p:spPr>
          <a:xfrm>
            <a:off x="1600200" y="2011680"/>
            <a:ext cx="1280160" cy="1280160"/>
          </a:xfrm>
          <a:prstGeom prst="ellipse">
            <a:avLst/>
          </a:prstGeom>
          <a:solidFill>
            <a:srgbClr val="5C3A21"/>
          </a:solidFill>
          <a:ln/>
          <a:effectLst>
            <a:outerShdw sx="100000" sy="100000" kx="0" ky="0" algn="bl" rotWithShape="0" blurRad="101600" dist="38100" dir="5400000">
              <a:srgbClr val="2B2118">
                <a:alpha val="28000"/>
              </a:srgbClr>
            </a:outerShdw>
          </a:effectLst>
        </p:spPr>
      </p:sp>
      <p:pic>
        <p:nvPicPr>
          <p:cNvPr id="6" name="Image 0" descr="preencoded.png">    </p:cNvPr>
          <p:cNvPicPr>
            <a:picLocks noChangeAspect="1"/>
          </p:cNvPicPr>
          <p:nvPr/>
        </p:nvPicPr>
        <p:blipFill>
          <a:blip r:embed="rId1"/>
          <a:stretch>
            <a:fillRect/>
          </a:stretch>
        </p:blipFill>
        <p:spPr>
          <a:xfrm>
            <a:off x="1920240" y="2331720"/>
            <a:ext cx="640080" cy="640080"/>
          </a:xfrm>
          <a:prstGeom prst="rect">
            <a:avLst/>
          </a:prstGeom>
        </p:spPr>
      </p:pic>
      <p:sp>
        <p:nvSpPr>
          <p:cNvPr id="7" name="Text 4"/>
          <p:cNvSpPr/>
          <p:nvPr/>
        </p:nvSpPr>
        <p:spPr>
          <a:xfrm>
            <a:off x="731520" y="3429000"/>
            <a:ext cx="3017520" cy="365760"/>
          </a:xfrm>
          <a:prstGeom prst="rect">
            <a:avLst/>
          </a:prstGeom>
          <a:noFill/>
          <a:ln/>
        </p:spPr>
        <p:txBody>
          <a:bodyPr wrap="square" lIns="0" tIns="0" rIns="0" bIns="0" rtlCol="0" anchor="ctr"/>
          <a:lstStyle/>
          <a:p>
            <a:pPr algn="ctr" indent="0" marL="0">
              <a:buNone/>
            </a:pPr>
            <a:r>
              <a:rPr lang="en-US" sz="1600" b="1" dirty="0">
                <a:solidFill>
                  <a:srgbClr val="5C3A21"/>
                </a:solidFill>
                <a:latin typeface="Cambria" pitchFamily="34" charset="0"/>
                <a:ea typeface="Cambria" pitchFamily="34" charset="-122"/>
                <a:cs typeface="Cambria" pitchFamily="34" charset="-120"/>
              </a:rPr>
              <a:t>1857 – 1944</a:t>
            </a:r>
            <a:endParaRPr lang="en-US" sz="1600" dirty="0"/>
          </a:p>
        </p:txBody>
      </p:sp>
      <p:sp>
        <p:nvSpPr>
          <p:cNvPr id="8" name="Text 5"/>
          <p:cNvSpPr/>
          <p:nvPr/>
        </p:nvSpPr>
        <p:spPr>
          <a:xfrm>
            <a:off x="822960" y="3794760"/>
            <a:ext cx="2834640" cy="2194560"/>
          </a:xfrm>
          <a:prstGeom prst="rect">
            <a:avLst/>
          </a:prstGeom>
          <a:noFill/>
          <a:ln/>
        </p:spPr>
        <p:txBody>
          <a:bodyPr wrap="square" lIns="0" tIns="0" rIns="0" bIns="0" rtlCol="0" anchor="t"/>
          <a:lstStyle/>
          <a:p>
            <a:pPr algn="ctr" indent="0" marL="0">
              <a:lnSpc>
                <a:spcPct val="125000"/>
              </a:lnSpc>
              <a:buNone/>
            </a:pPr>
            <a:r>
              <a:rPr lang="en-US" sz="1150" i="1" dirty="0">
                <a:solidFill>
                  <a:srgbClr val="3A2E22"/>
                </a:solidFill>
                <a:latin typeface="Calibri" pitchFamily="34" charset="0"/>
                <a:ea typeface="Calibri" pitchFamily="34" charset="-122"/>
                <a:cs typeface="Calibri" pitchFamily="34" charset="-120"/>
              </a:rPr>
              <a:t>Oftalmólogo</a:t>
            </a:r>
            <a:endParaRPr lang="en-US" sz="1150" dirty="0"/>
          </a:p>
          <a:p>
            <a:pPr algn="ctr" indent="0" marL="0">
              <a:lnSpc>
                <a:spcPct val="125000"/>
              </a:lnSpc>
              <a:buNone/>
            </a:pPr>
            <a:r>
              <a:rPr lang="en-US" sz="1150" i="1" dirty="0">
                <a:solidFill>
                  <a:srgbClr val="3A2E22"/>
                </a:solidFill>
                <a:latin typeface="Calibri" pitchFamily="34" charset="0"/>
                <a:ea typeface="Calibri" pitchFamily="34" charset="-122"/>
                <a:cs typeface="Calibri" pitchFamily="34" charset="-120"/>
              </a:rPr>
              <a:t>Viena, Austria</a:t>
            </a:r>
            <a:endParaRPr lang="en-US" sz="1150" dirty="0"/>
          </a:p>
        </p:txBody>
      </p:sp>
      <p:sp>
        <p:nvSpPr>
          <p:cNvPr id="9" name="Text 6"/>
          <p:cNvSpPr/>
          <p:nvPr/>
        </p:nvSpPr>
        <p:spPr>
          <a:xfrm>
            <a:off x="4206240" y="1737360"/>
            <a:ext cx="7452360" cy="960120"/>
          </a:xfrm>
          <a:prstGeom prst="rect">
            <a:avLst/>
          </a:prstGeom>
          <a:noFill/>
          <a:ln/>
        </p:spPr>
        <p:txBody>
          <a:bodyPr wrap="square" lIns="0" tIns="0" rIns="0" bIns="0" rtlCol="0" anchor="ctr"/>
          <a:lstStyle/>
          <a:p>
            <a:pPr indent="0" marL="0">
              <a:lnSpc>
                <a:spcPct val="122000"/>
              </a:lnSpc>
              <a:buNone/>
            </a:pPr>
            <a:r>
              <a:rPr lang="en-US" sz="1300" dirty="0">
                <a:solidFill>
                  <a:srgbClr val="3A2E22"/>
                </a:solidFill>
                <a:latin typeface="Calibri" pitchFamily="34" charset="0"/>
                <a:ea typeface="Calibri" pitchFamily="34" charset="-122"/>
                <a:cs typeface="Calibri" pitchFamily="34" charset="-120"/>
              </a:rPr>
              <a:t>Colega cercano de Sigmund Freud, Koller demostró en 1884 que la cocaína producía anestesia local reversible al aplicarse sobre la córnea, inaugurando la era de la anestesia local farmacológica.</a:t>
            </a:r>
            <a:endParaRPr lang="en-US" sz="1300" dirty="0"/>
          </a:p>
        </p:txBody>
      </p:sp>
      <p:sp>
        <p:nvSpPr>
          <p:cNvPr id="10" name="Text 7"/>
          <p:cNvSpPr/>
          <p:nvPr/>
        </p:nvSpPr>
        <p:spPr>
          <a:xfrm>
            <a:off x="4206240" y="2788920"/>
            <a:ext cx="7452360" cy="3200400"/>
          </a:xfrm>
          <a:prstGeom prst="rect">
            <a:avLst/>
          </a:prstGeom>
          <a:noFill/>
          <a:ln/>
        </p:spPr>
        <p:txBody>
          <a:bodyPr wrap="square" lIns="0" tIns="0" rIns="0" bIns="0" rtlCol="0" anchor="t"/>
          <a:lstStyle/>
          <a:p>
            <a:pPr marL="203200" indent="-203200">
              <a:lnSpc>
                <a:spcPct val="105000"/>
              </a:lnSpc>
              <a:spcAft>
                <a:spcPts val="1100"/>
              </a:spcAft>
              <a:buSzPct val="100000"/>
              <a:buChar char="•"/>
            </a:pPr>
            <a:r>
              <a:rPr lang="en-US" sz="1250" dirty="0">
                <a:solidFill>
                  <a:srgbClr val="3A2E22"/>
                </a:solidFill>
                <a:latin typeface="Calibri" pitchFamily="34" charset="0"/>
                <a:ea typeface="Calibri" pitchFamily="34" charset="-122"/>
                <a:cs typeface="Calibri" pitchFamily="34" charset="-120"/>
              </a:rPr>
              <a:t>Presentó su hallazgo en el Congreso Oftalmológico de Heidelberg (1884), tras experimentar en su propio ojo y el de colegas.</a:t>
            </a:r>
            <a:endParaRPr lang="en-US" sz="1250" dirty="0"/>
          </a:p>
          <a:p>
            <a:pPr marL="203200" indent="-203200">
              <a:lnSpc>
                <a:spcPct val="105000"/>
              </a:lnSpc>
              <a:spcAft>
                <a:spcPts val="1100"/>
              </a:spcAft>
              <a:buSzPct val="100000"/>
              <a:buChar char="•"/>
            </a:pPr>
            <a:r>
              <a:rPr lang="en-US" sz="1250" dirty="0">
                <a:solidFill>
                  <a:srgbClr val="3A2E22"/>
                </a:solidFill>
                <a:latin typeface="Calibri" pitchFamily="34" charset="0"/>
                <a:ea typeface="Calibri" pitchFamily="34" charset="-122"/>
                <a:cs typeface="Calibri" pitchFamily="34" charset="-120"/>
              </a:rPr>
              <a:t>Su descubrimiento permitió por primera vez cirugía oftálmica sin dolor y sin anestesia general, con el paciente colaborando activamente.</a:t>
            </a:r>
            <a:endParaRPr lang="en-US" sz="1250" dirty="0"/>
          </a:p>
          <a:p>
            <a:pPr marL="203200" indent="-203200">
              <a:lnSpc>
                <a:spcPct val="105000"/>
              </a:lnSpc>
              <a:spcAft>
                <a:spcPts val="1100"/>
              </a:spcAft>
              <a:buSzPct val="100000"/>
              <a:buChar char="•"/>
            </a:pPr>
            <a:r>
              <a:rPr lang="en-US" sz="1250" dirty="0">
                <a:solidFill>
                  <a:srgbClr val="3A2E22"/>
                </a:solidFill>
                <a:latin typeface="Calibri" pitchFamily="34" charset="0"/>
                <a:ea typeface="Calibri" pitchFamily="34" charset="-122"/>
                <a:cs typeface="Calibri" pitchFamily="34" charset="-120"/>
              </a:rPr>
              <a:t>El uso de cocaína se extendió rápidamente a otras especialidades: otorrinolaringología, urología y cirugía dental.</a:t>
            </a:r>
            <a:endParaRPr lang="en-US" sz="1250" dirty="0"/>
          </a:p>
          <a:p>
            <a:pPr marL="203200" indent="-203200">
              <a:lnSpc>
                <a:spcPct val="105000"/>
              </a:lnSpc>
              <a:spcAft>
                <a:spcPts val="1100"/>
              </a:spcAft>
              <a:buSzPct val="100000"/>
              <a:buChar char="•"/>
            </a:pPr>
            <a:r>
              <a:rPr lang="en-US" sz="1250" dirty="0">
                <a:solidFill>
                  <a:srgbClr val="3A2E22"/>
                </a:solidFill>
                <a:latin typeface="Calibri" pitchFamily="34" charset="0"/>
                <a:ea typeface="Calibri" pitchFamily="34" charset="-122"/>
                <a:cs typeface="Calibri" pitchFamily="34" charset="-120"/>
              </a:rPr>
              <a:t>Su toxicidad sistémica y potencial adictivo, reconocidos tempranamente, impulsaron la búsqueda de anestésicos locales sintéticos más seguros.</a:t>
            </a:r>
            <a:endParaRPr lang="en-US" sz="1250" dirty="0"/>
          </a:p>
        </p:txBody>
      </p:sp>
      <p:sp>
        <p:nvSpPr>
          <p:cNvPr id="11" name="Text 8"/>
          <p:cNvSpPr/>
          <p:nvPr/>
        </p:nvSpPr>
        <p:spPr>
          <a:xfrm>
            <a:off x="548640" y="6473952"/>
            <a:ext cx="6400800" cy="274320"/>
          </a:xfrm>
          <a:prstGeom prst="rect">
            <a:avLst/>
          </a:prstGeom>
          <a:noFill/>
          <a:ln/>
        </p:spPr>
        <p:txBody>
          <a:bodyPr wrap="square" lIns="0" tIns="0" rIns="0" bIns="0" rtlCol="0" anchor="ctr"/>
          <a:lstStyle/>
          <a:p>
            <a:pPr indent="0" marL="0">
              <a:buNone/>
            </a:pPr>
            <a:r>
              <a:rPr lang="en-US" sz="850" spc="100" kern="0" dirty="0">
                <a:solidFill>
                  <a:srgbClr val="7A6A57"/>
                </a:solidFill>
                <a:latin typeface="Calibri" pitchFamily="34" charset="0"/>
                <a:ea typeface="Calibri" pitchFamily="34" charset="-122"/>
                <a:cs typeface="Calibri" pitchFamily="34" charset="-120"/>
              </a:rPr>
              <a:t>CAPÍTULO II  ·  HISTORIA DE LA ANESTESIA</a:t>
            </a:r>
            <a:endParaRPr lang="en-US" sz="850" dirty="0"/>
          </a:p>
        </p:txBody>
      </p:sp>
      <p:sp>
        <p:nvSpPr>
          <p:cNvPr id="12" name="Text 9"/>
          <p:cNvSpPr/>
          <p:nvPr/>
        </p:nvSpPr>
        <p:spPr>
          <a:xfrm>
            <a:off x="10728655" y="6473952"/>
            <a:ext cx="914400" cy="274320"/>
          </a:xfrm>
          <a:prstGeom prst="rect">
            <a:avLst/>
          </a:prstGeom>
          <a:noFill/>
          <a:ln/>
        </p:spPr>
        <p:txBody>
          <a:bodyPr wrap="square" lIns="0" tIns="0" rIns="0" bIns="0" rtlCol="0" anchor="ctr"/>
          <a:lstStyle/>
          <a:p>
            <a:pPr algn="r" indent="0" marL="0">
              <a:buNone/>
            </a:pPr>
            <a:r>
              <a:rPr lang="en-US" sz="850" dirty="0">
                <a:solidFill>
                  <a:srgbClr val="7A6A57"/>
                </a:solidFill>
                <a:latin typeface="Calibri" pitchFamily="34" charset="0"/>
                <a:ea typeface="Calibri" pitchFamily="34" charset="-122"/>
                <a:cs typeface="Calibri" pitchFamily="34" charset="-120"/>
              </a:rPr>
              <a:t>14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lIns="0" tIns="0" rIns="0" bIns="0" rtlCol="0" anchor="ctr"/>
          <a:lstStyle/>
          <a:p>
            <a:pPr indent="0" marL="0">
              <a:buNone/>
            </a:pPr>
            <a:r>
              <a:rPr lang="en-US" sz="1200" b="1" spc="200" kern="0" dirty="0">
                <a:solidFill>
                  <a:srgbClr val="8B5E3C"/>
                </a:solidFill>
                <a:latin typeface="Calibri" pitchFamily="34" charset="0"/>
                <a:ea typeface="Calibri" pitchFamily="34" charset="-122"/>
                <a:cs typeface="Calibri" pitchFamily="34" charset="-120"/>
              </a:rPr>
              <a:t>PIONERO · BLOQUEO NERVIOSO REGIONAL</a:t>
            </a:r>
            <a:endParaRPr lang="en-US" sz="1200" dirty="0"/>
          </a:p>
        </p:txBody>
      </p:sp>
      <p:sp>
        <p:nvSpPr>
          <p:cNvPr id="3" name="Text 1"/>
          <p:cNvSpPr/>
          <p:nvPr/>
        </p:nvSpPr>
        <p:spPr>
          <a:xfrm>
            <a:off x="548640" y="658368"/>
            <a:ext cx="8046720" cy="777240"/>
          </a:xfrm>
          <a:prstGeom prst="rect">
            <a:avLst/>
          </a:prstGeom>
          <a:noFill/>
          <a:ln/>
        </p:spPr>
        <p:txBody>
          <a:bodyPr wrap="square" lIns="0" tIns="0" rIns="0" bIns="0" rtlCol="0" anchor="t"/>
          <a:lstStyle/>
          <a:p>
            <a:pPr indent="0" marL="0">
              <a:buNone/>
            </a:pPr>
            <a:r>
              <a:rPr lang="en-US" sz="2900" b="1" dirty="0">
                <a:solidFill>
                  <a:srgbClr val="5C3A21"/>
                </a:solidFill>
                <a:latin typeface="Cambria" pitchFamily="34" charset="0"/>
                <a:ea typeface="Cambria" pitchFamily="34" charset="-122"/>
                <a:cs typeface="Cambria" pitchFamily="34" charset="-120"/>
              </a:rPr>
              <a:t>William Halsted y el desarrollo del bloqueo nervioso regional</a:t>
            </a:r>
            <a:endParaRPr lang="en-US" sz="2900" dirty="0"/>
          </a:p>
        </p:txBody>
      </p:sp>
      <p:sp>
        <p:nvSpPr>
          <p:cNvPr id="4" name="Shape 2"/>
          <p:cNvSpPr/>
          <p:nvPr/>
        </p:nvSpPr>
        <p:spPr>
          <a:xfrm>
            <a:off x="9692640" y="502920"/>
            <a:ext cx="1417320" cy="1417320"/>
          </a:xfrm>
          <a:prstGeom prst="ellipse">
            <a:avLst/>
          </a:prstGeom>
          <a:solidFill>
            <a:srgbClr val="8B5E3C"/>
          </a:solidFill>
          <a:ln/>
          <a:effectLst>
            <a:outerShdw sx="100000" sy="100000" kx="0" ky="0" algn="bl" rotWithShape="0" blurRad="101600" dist="38100" dir="5400000">
              <a:srgbClr val="2B2118">
                <a:alpha val="28000"/>
              </a:srgbClr>
            </a:outerShdw>
          </a:effectLst>
        </p:spPr>
      </p:sp>
      <p:pic>
        <p:nvPicPr>
          <p:cNvPr id="5" name="Image 0" descr="preencoded.png">    </p:cNvPr>
          <p:cNvPicPr>
            <a:picLocks noChangeAspect="1"/>
          </p:cNvPicPr>
          <p:nvPr/>
        </p:nvPicPr>
        <p:blipFill>
          <a:blip r:embed="rId1"/>
          <a:stretch>
            <a:fillRect/>
          </a:stretch>
        </p:blipFill>
        <p:spPr>
          <a:xfrm>
            <a:off x="10046970" y="857250"/>
            <a:ext cx="708660" cy="708660"/>
          </a:xfrm>
          <a:prstGeom prst="rect">
            <a:avLst/>
          </a:prstGeom>
        </p:spPr>
      </p:pic>
      <p:sp>
        <p:nvSpPr>
          <p:cNvPr id="6" name="Text 3"/>
          <p:cNvSpPr/>
          <p:nvPr/>
        </p:nvSpPr>
        <p:spPr>
          <a:xfrm>
            <a:off x="9006840" y="2011680"/>
            <a:ext cx="2743200" cy="320040"/>
          </a:xfrm>
          <a:prstGeom prst="rect">
            <a:avLst/>
          </a:prstGeom>
          <a:noFill/>
          <a:ln/>
        </p:spPr>
        <p:txBody>
          <a:bodyPr wrap="square" lIns="0" tIns="0" rIns="0" bIns="0" rtlCol="0" anchor="ctr"/>
          <a:lstStyle/>
          <a:p>
            <a:pPr algn="ctr" indent="0" marL="0">
              <a:buNone/>
            </a:pPr>
            <a:r>
              <a:rPr lang="en-US" sz="1350" b="1" dirty="0">
                <a:solidFill>
                  <a:srgbClr val="5C3A21"/>
                </a:solidFill>
                <a:latin typeface="Cambria" pitchFamily="34" charset="0"/>
                <a:ea typeface="Cambria" pitchFamily="34" charset="-122"/>
                <a:cs typeface="Cambria" pitchFamily="34" charset="-120"/>
              </a:rPr>
              <a:t>1852 – 1922</a:t>
            </a:r>
            <a:endParaRPr lang="en-US" sz="1350" dirty="0"/>
          </a:p>
        </p:txBody>
      </p:sp>
      <p:sp>
        <p:nvSpPr>
          <p:cNvPr id="7" name="Text 4"/>
          <p:cNvSpPr/>
          <p:nvPr/>
        </p:nvSpPr>
        <p:spPr>
          <a:xfrm>
            <a:off x="548640" y="1691640"/>
            <a:ext cx="8229600" cy="914400"/>
          </a:xfrm>
          <a:prstGeom prst="rect">
            <a:avLst/>
          </a:prstGeom>
          <a:noFill/>
          <a:ln/>
        </p:spPr>
        <p:txBody>
          <a:bodyPr wrap="square" lIns="0" tIns="0" rIns="0" bIns="0" rtlCol="0" anchor="ctr"/>
          <a:lstStyle/>
          <a:p>
            <a:pPr indent="0" marL="0">
              <a:lnSpc>
                <a:spcPct val="122000"/>
              </a:lnSpc>
              <a:buNone/>
            </a:pPr>
            <a:r>
              <a:rPr lang="en-US" sz="1300" dirty="0">
                <a:solidFill>
                  <a:srgbClr val="3A2E22"/>
                </a:solidFill>
                <a:latin typeface="Calibri" pitchFamily="34" charset="0"/>
                <a:ea typeface="Calibri" pitchFamily="34" charset="-122"/>
                <a:cs typeface="Calibri" pitchFamily="34" charset="-120"/>
              </a:rPr>
              <a:t>Cirujano estadounidense, luego jefe fundador de cirugía del Johns Hopkins Hospital, Halsted fue pionero en el bloqueo de nervios periféricos con cocaína, sentando las bases técnicas de la anestesia regional moderna.</a:t>
            </a:r>
            <a:endParaRPr lang="en-US" sz="1300" dirty="0"/>
          </a:p>
        </p:txBody>
      </p:sp>
      <p:sp>
        <p:nvSpPr>
          <p:cNvPr id="8" name="Shape 5"/>
          <p:cNvSpPr/>
          <p:nvPr/>
        </p:nvSpPr>
        <p:spPr>
          <a:xfrm>
            <a:off x="548640" y="2697480"/>
            <a:ext cx="11091672" cy="2423160"/>
          </a:xfrm>
          <a:prstGeom prst="roundRect">
            <a:avLst>
              <a:gd name="adj" fmla="val 3019"/>
            </a:avLst>
          </a:prstGeom>
          <a:solidFill>
            <a:srgbClr val="C9A66B">
              <a:alpha val="9000"/>
            </a:srgbClr>
          </a:solidFill>
          <a:ln/>
        </p:spPr>
      </p:sp>
      <p:sp>
        <p:nvSpPr>
          <p:cNvPr id="9" name="Text 6"/>
          <p:cNvSpPr/>
          <p:nvPr/>
        </p:nvSpPr>
        <p:spPr>
          <a:xfrm>
            <a:off x="868680" y="2971800"/>
            <a:ext cx="5212080" cy="1965960"/>
          </a:xfrm>
          <a:prstGeom prst="rect">
            <a:avLst/>
          </a:prstGeom>
          <a:noFill/>
          <a:ln/>
        </p:spPr>
        <p:txBody>
          <a:bodyPr wrap="square" lIns="0" tIns="0" rIns="0" bIns="0" rtlCol="0" anchor="t"/>
          <a:lstStyle/>
          <a:p>
            <a:pPr marL="203200" indent="-203200">
              <a:lnSpc>
                <a:spcPct val="105000"/>
              </a:lnSpc>
              <a:spcAft>
                <a:spcPts val="1200"/>
              </a:spcAft>
              <a:buSzPct val="100000"/>
              <a:buChar char="•"/>
            </a:pPr>
            <a:r>
              <a:rPr lang="en-US" sz="1250" dirty="0">
                <a:solidFill>
                  <a:srgbClr val="3A2E22"/>
                </a:solidFill>
                <a:latin typeface="Calibri" pitchFamily="34" charset="0"/>
                <a:ea typeface="Calibri" pitchFamily="34" charset="-122"/>
                <a:cs typeface="Calibri" pitchFamily="34" charset="-120"/>
              </a:rPr>
              <a:t>Entre 1884 y 1885 desarrolló técnicas de bloqueo del nervio dentario inferior y del plexo braquial mediante inyección directa de cocaína.</a:t>
            </a:r>
            <a:endParaRPr lang="en-US" sz="1250" dirty="0"/>
          </a:p>
          <a:p>
            <a:pPr marL="203200" indent="-203200">
              <a:lnSpc>
                <a:spcPct val="105000"/>
              </a:lnSpc>
              <a:spcAft>
                <a:spcPts val="1200"/>
              </a:spcAft>
              <a:buSzPct val="100000"/>
              <a:buChar char="•"/>
            </a:pPr>
            <a:r>
              <a:rPr lang="en-US" sz="1250" dirty="0">
                <a:solidFill>
                  <a:srgbClr val="3A2E22"/>
                </a:solidFill>
                <a:latin typeface="Calibri" pitchFamily="34" charset="0"/>
                <a:ea typeface="Calibri" pitchFamily="34" charset="-122"/>
                <a:cs typeface="Calibri" pitchFamily="34" charset="-120"/>
              </a:rPr>
              <a:t>Introdujo el concepto de infiltración perineural precisa guiada por conocimiento anatómico detallado.</a:t>
            </a:r>
            <a:endParaRPr lang="en-US" sz="1250" dirty="0"/>
          </a:p>
        </p:txBody>
      </p:sp>
      <p:sp>
        <p:nvSpPr>
          <p:cNvPr id="10" name="Text 7"/>
          <p:cNvSpPr/>
          <p:nvPr/>
        </p:nvSpPr>
        <p:spPr>
          <a:xfrm>
            <a:off x="6309360" y="2971800"/>
            <a:ext cx="5212080" cy="1965960"/>
          </a:xfrm>
          <a:prstGeom prst="rect">
            <a:avLst/>
          </a:prstGeom>
          <a:noFill/>
          <a:ln/>
        </p:spPr>
        <p:txBody>
          <a:bodyPr wrap="square" lIns="0" tIns="0" rIns="0" bIns="0" rtlCol="0" anchor="t"/>
          <a:lstStyle/>
          <a:p>
            <a:pPr marL="203200" indent="-203200">
              <a:lnSpc>
                <a:spcPct val="105000"/>
              </a:lnSpc>
              <a:spcAft>
                <a:spcPts val="1200"/>
              </a:spcAft>
              <a:buSzPct val="100000"/>
              <a:buChar char="•"/>
            </a:pPr>
            <a:r>
              <a:rPr lang="en-US" sz="1250" dirty="0">
                <a:solidFill>
                  <a:srgbClr val="3A2E22"/>
                </a:solidFill>
                <a:latin typeface="Calibri" pitchFamily="34" charset="0"/>
                <a:ea typeface="Calibri" pitchFamily="34" charset="-122"/>
                <a:cs typeface="Calibri" pitchFamily="34" charset="-120"/>
              </a:rPr>
              <a:t>Su autoexperimentación sistemática con cocaína derivó en una adicción grave, y posteriormente a la morfina utilizada para tratarla.</a:t>
            </a:r>
            <a:endParaRPr lang="en-US" sz="1250" dirty="0"/>
          </a:p>
          <a:p>
            <a:pPr marL="203200" indent="-203200">
              <a:lnSpc>
                <a:spcPct val="105000"/>
              </a:lnSpc>
              <a:spcAft>
                <a:spcPts val="1200"/>
              </a:spcAft>
              <a:buSzPct val="100000"/>
              <a:buChar char="•"/>
            </a:pPr>
            <a:r>
              <a:rPr lang="en-US" sz="1250" dirty="0">
                <a:solidFill>
                  <a:srgbClr val="3A2E22"/>
                </a:solidFill>
                <a:latin typeface="Calibri" pitchFamily="34" charset="0"/>
                <a:ea typeface="Calibri" pitchFamily="34" charset="-122"/>
                <a:cs typeface="Calibri" pitchFamily="34" charset="-120"/>
              </a:rPr>
              <a:t>Pese a esta consecuencia personal, su legado técnico —anestesia regional y disciplina quirúrgica aséptica meticulosa— es fundacional para la cirugía moderna.</a:t>
            </a:r>
            <a:endParaRPr lang="en-US" sz="1250" dirty="0"/>
          </a:p>
        </p:txBody>
      </p:sp>
      <p:sp>
        <p:nvSpPr>
          <p:cNvPr id="11" name="Text 8"/>
          <p:cNvSpPr/>
          <p:nvPr/>
        </p:nvSpPr>
        <p:spPr>
          <a:xfrm>
            <a:off x="548640" y="6473952"/>
            <a:ext cx="6400800" cy="274320"/>
          </a:xfrm>
          <a:prstGeom prst="rect">
            <a:avLst/>
          </a:prstGeom>
          <a:noFill/>
          <a:ln/>
        </p:spPr>
        <p:txBody>
          <a:bodyPr wrap="square" lIns="0" tIns="0" rIns="0" bIns="0" rtlCol="0" anchor="ctr"/>
          <a:lstStyle/>
          <a:p>
            <a:pPr indent="0" marL="0">
              <a:buNone/>
            </a:pPr>
            <a:r>
              <a:rPr lang="en-US" sz="850" spc="100" kern="0" dirty="0">
                <a:solidFill>
                  <a:srgbClr val="7A6A57"/>
                </a:solidFill>
                <a:latin typeface="Calibri" pitchFamily="34" charset="0"/>
                <a:ea typeface="Calibri" pitchFamily="34" charset="-122"/>
                <a:cs typeface="Calibri" pitchFamily="34" charset="-120"/>
              </a:rPr>
              <a:t>CAPÍTULO II  ·  HISTORIA DE LA ANESTESIA</a:t>
            </a:r>
            <a:endParaRPr lang="en-US" sz="850" dirty="0"/>
          </a:p>
        </p:txBody>
      </p:sp>
      <p:sp>
        <p:nvSpPr>
          <p:cNvPr id="12" name="Text 9"/>
          <p:cNvSpPr/>
          <p:nvPr/>
        </p:nvSpPr>
        <p:spPr>
          <a:xfrm>
            <a:off x="10728655" y="6473952"/>
            <a:ext cx="914400" cy="274320"/>
          </a:xfrm>
          <a:prstGeom prst="rect">
            <a:avLst/>
          </a:prstGeom>
          <a:noFill/>
          <a:ln/>
        </p:spPr>
        <p:txBody>
          <a:bodyPr wrap="square" lIns="0" tIns="0" rIns="0" bIns="0" rtlCol="0" anchor="ctr"/>
          <a:lstStyle/>
          <a:p>
            <a:pPr algn="r" indent="0" marL="0">
              <a:buNone/>
            </a:pPr>
            <a:r>
              <a:rPr lang="en-US" sz="850" dirty="0">
                <a:solidFill>
                  <a:srgbClr val="7A6A57"/>
                </a:solidFill>
                <a:latin typeface="Calibri" pitchFamily="34" charset="0"/>
                <a:ea typeface="Calibri" pitchFamily="34" charset="-122"/>
                <a:cs typeface="Calibri" pitchFamily="34" charset="-120"/>
              </a:rPr>
              <a:t>15</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lIns="0" tIns="0" rIns="0" bIns="0" rtlCol="0" anchor="ctr"/>
          <a:lstStyle/>
          <a:p>
            <a:pPr indent="0" marL="0">
              <a:buNone/>
            </a:pPr>
            <a:r>
              <a:rPr lang="en-US" sz="1200" b="1" spc="200" kern="0" dirty="0">
                <a:solidFill>
                  <a:srgbClr val="8B5E3C"/>
                </a:solidFill>
                <a:latin typeface="Calibri" pitchFamily="34" charset="0"/>
                <a:ea typeface="Calibri" pitchFamily="34" charset="-122"/>
                <a:cs typeface="Calibri" pitchFamily="34" charset="-120"/>
              </a:rPr>
              <a:t>PIONERO · ANESTESIA NEUROAXIAL</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t"/>
          <a:lstStyle/>
          <a:p>
            <a:pPr indent="0" marL="0">
              <a:buNone/>
            </a:pPr>
            <a:r>
              <a:rPr lang="en-US" sz="2900" b="1" dirty="0">
                <a:solidFill>
                  <a:srgbClr val="5C3A21"/>
                </a:solidFill>
                <a:latin typeface="Cambria" pitchFamily="34" charset="0"/>
                <a:ea typeface="Cambria" pitchFamily="34" charset="-122"/>
                <a:cs typeface="Cambria" pitchFamily="34" charset="-120"/>
              </a:rPr>
              <a:t>August Bier y la primera anestesia raquídea (1898)</a:t>
            </a:r>
            <a:endParaRPr lang="en-US" sz="2900" dirty="0"/>
          </a:p>
        </p:txBody>
      </p:sp>
      <p:sp>
        <p:nvSpPr>
          <p:cNvPr id="4" name="Shape 2"/>
          <p:cNvSpPr/>
          <p:nvPr/>
        </p:nvSpPr>
        <p:spPr>
          <a:xfrm>
            <a:off x="548640" y="1691640"/>
            <a:ext cx="3383280" cy="4434840"/>
          </a:xfrm>
          <a:prstGeom prst="roundRect">
            <a:avLst>
              <a:gd name="adj" fmla="val 2162"/>
            </a:avLst>
          </a:prstGeom>
          <a:solidFill>
            <a:srgbClr val="8B5E3C">
              <a:alpha val="12000"/>
            </a:srgbClr>
          </a:solidFill>
          <a:ln/>
        </p:spPr>
      </p:sp>
      <p:sp>
        <p:nvSpPr>
          <p:cNvPr id="5" name="Shape 3"/>
          <p:cNvSpPr/>
          <p:nvPr/>
        </p:nvSpPr>
        <p:spPr>
          <a:xfrm>
            <a:off x="1600200" y="2011680"/>
            <a:ext cx="1280160" cy="1280160"/>
          </a:xfrm>
          <a:prstGeom prst="ellipse">
            <a:avLst/>
          </a:prstGeom>
          <a:solidFill>
            <a:srgbClr val="5C3A21"/>
          </a:solidFill>
          <a:ln/>
          <a:effectLst>
            <a:outerShdw sx="100000" sy="100000" kx="0" ky="0" algn="bl" rotWithShape="0" blurRad="101600" dist="38100" dir="5400000">
              <a:srgbClr val="2B2118">
                <a:alpha val="28000"/>
              </a:srgbClr>
            </a:outerShdw>
          </a:effectLst>
        </p:spPr>
      </p:sp>
      <p:pic>
        <p:nvPicPr>
          <p:cNvPr id="6" name="Image 0" descr="preencoded.png">    </p:cNvPr>
          <p:cNvPicPr>
            <a:picLocks noChangeAspect="1"/>
          </p:cNvPicPr>
          <p:nvPr/>
        </p:nvPicPr>
        <p:blipFill>
          <a:blip r:embed="rId1"/>
          <a:stretch>
            <a:fillRect/>
          </a:stretch>
        </p:blipFill>
        <p:spPr>
          <a:xfrm>
            <a:off x="1920240" y="2331720"/>
            <a:ext cx="640080" cy="640080"/>
          </a:xfrm>
          <a:prstGeom prst="rect">
            <a:avLst/>
          </a:prstGeom>
        </p:spPr>
      </p:pic>
      <p:sp>
        <p:nvSpPr>
          <p:cNvPr id="7" name="Text 4"/>
          <p:cNvSpPr/>
          <p:nvPr/>
        </p:nvSpPr>
        <p:spPr>
          <a:xfrm>
            <a:off x="731520" y="3429000"/>
            <a:ext cx="3017520" cy="365760"/>
          </a:xfrm>
          <a:prstGeom prst="rect">
            <a:avLst/>
          </a:prstGeom>
          <a:noFill/>
          <a:ln/>
        </p:spPr>
        <p:txBody>
          <a:bodyPr wrap="square" lIns="0" tIns="0" rIns="0" bIns="0" rtlCol="0" anchor="ctr"/>
          <a:lstStyle/>
          <a:p>
            <a:pPr algn="ctr" indent="0" marL="0">
              <a:buNone/>
            </a:pPr>
            <a:r>
              <a:rPr lang="en-US" sz="1600" b="1" dirty="0">
                <a:solidFill>
                  <a:srgbClr val="5C3A21"/>
                </a:solidFill>
                <a:latin typeface="Cambria" pitchFamily="34" charset="0"/>
                <a:ea typeface="Cambria" pitchFamily="34" charset="-122"/>
                <a:cs typeface="Cambria" pitchFamily="34" charset="-120"/>
              </a:rPr>
              <a:t>1861 – 1949</a:t>
            </a:r>
            <a:endParaRPr lang="en-US" sz="1600" dirty="0"/>
          </a:p>
        </p:txBody>
      </p:sp>
      <p:sp>
        <p:nvSpPr>
          <p:cNvPr id="8" name="Text 5"/>
          <p:cNvSpPr/>
          <p:nvPr/>
        </p:nvSpPr>
        <p:spPr>
          <a:xfrm>
            <a:off x="822960" y="3794760"/>
            <a:ext cx="2834640" cy="822960"/>
          </a:xfrm>
          <a:prstGeom prst="rect">
            <a:avLst/>
          </a:prstGeom>
          <a:noFill/>
          <a:ln/>
        </p:spPr>
        <p:txBody>
          <a:bodyPr wrap="square" lIns="0" tIns="0" rIns="0" bIns="0" rtlCol="0" anchor="ctr"/>
          <a:lstStyle/>
          <a:p>
            <a:pPr algn="ctr" indent="0" marL="0">
              <a:lnSpc>
                <a:spcPct val="125000"/>
              </a:lnSpc>
              <a:buNone/>
            </a:pPr>
            <a:r>
              <a:rPr lang="en-US" sz="1150" i="1" dirty="0">
                <a:solidFill>
                  <a:srgbClr val="3A2E22"/>
                </a:solidFill>
                <a:latin typeface="Calibri" pitchFamily="34" charset="0"/>
                <a:ea typeface="Calibri" pitchFamily="34" charset="-122"/>
                <a:cs typeface="Calibri" pitchFamily="34" charset="-120"/>
              </a:rPr>
              <a:t>Cirujano</a:t>
            </a:r>
            <a:endParaRPr lang="en-US" sz="1150" dirty="0"/>
          </a:p>
          <a:p>
            <a:pPr algn="ctr" indent="0" marL="0">
              <a:lnSpc>
                <a:spcPct val="125000"/>
              </a:lnSpc>
              <a:buNone/>
            </a:pPr>
            <a:r>
              <a:rPr lang="en-US" sz="1150" i="1" dirty="0">
                <a:solidFill>
                  <a:srgbClr val="3A2E22"/>
                </a:solidFill>
                <a:latin typeface="Calibri" pitchFamily="34" charset="0"/>
                <a:ea typeface="Calibri" pitchFamily="34" charset="-122"/>
                <a:cs typeface="Calibri" pitchFamily="34" charset="-120"/>
              </a:rPr>
              <a:t>Kiel, Alemania</a:t>
            </a:r>
            <a:endParaRPr lang="en-US" sz="1150" dirty="0"/>
          </a:p>
        </p:txBody>
      </p:sp>
      <p:sp>
        <p:nvSpPr>
          <p:cNvPr id="9" name="Text 6"/>
          <p:cNvSpPr/>
          <p:nvPr/>
        </p:nvSpPr>
        <p:spPr>
          <a:xfrm>
            <a:off x="777240" y="4709160"/>
            <a:ext cx="2926080" cy="1371600"/>
          </a:xfrm>
          <a:prstGeom prst="rect">
            <a:avLst/>
          </a:prstGeom>
          <a:noFill/>
          <a:ln/>
        </p:spPr>
        <p:txBody>
          <a:bodyPr wrap="square" lIns="0" tIns="0" rIns="0" bIns="0" rtlCol="0" anchor="ctr"/>
          <a:lstStyle/>
          <a:p>
            <a:pPr indent="0" marL="0">
              <a:lnSpc>
                <a:spcPct val="122000"/>
              </a:lnSpc>
              <a:buNone/>
            </a:pPr>
            <a:r>
              <a:rPr lang="en-US" sz="1050" dirty="0">
                <a:solidFill>
                  <a:srgbClr val="3A2E22"/>
                </a:solidFill>
                <a:latin typeface="Calibri" pitchFamily="34" charset="0"/>
                <a:ea typeface="Calibri" pitchFamily="34" charset="-122"/>
                <a:cs typeface="Calibri" pitchFamily="34" charset="-120"/>
              </a:rPr>
              <a:t>El 16 de agosto de 1898, Bier realizó la primera anestesia espinal quirúrgica documentada, inyectando cocaína en el espacio subaracnoideo, en un procedimiento de autoexperimentación junto con su ayudante August Hildebrandt.</a:t>
            </a:r>
            <a:endParaRPr lang="en-US" sz="1050" dirty="0"/>
          </a:p>
        </p:txBody>
      </p:sp>
      <p:sp>
        <p:nvSpPr>
          <p:cNvPr id="10" name="Shape 7"/>
          <p:cNvSpPr/>
          <p:nvPr/>
        </p:nvSpPr>
        <p:spPr>
          <a:xfrm>
            <a:off x="4343400" y="1737360"/>
            <a:ext cx="502920" cy="502920"/>
          </a:xfrm>
          <a:prstGeom prst="ellipse">
            <a:avLst/>
          </a:prstGeom>
          <a:solidFill>
            <a:srgbClr val="C9A66B">
              <a:alpha val="75000"/>
            </a:srgbClr>
          </a:solidFill>
          <a:ln w="12700">
            <a:solidFill>
              <a:srgbClr val="5C3A21"/>
            </a:solidFill>
            <a:prstDash val="solid"/>
          </a:ln>
        </p:spPr>
      </p:sp>
      <p:sp>
        <p:nvSpPr>
          <p:cNvPr id="11" name="Text 8"/>
          <p:cNvSpPr/>
          <p:nvPr/>
        </p:nvSpPr>
        <p:spPr>
          <a:xfrm>
            <a:off x="4343400" y="1737360"/>
            <a:ext cx="502920" cy="502920"/>
          </a:xfrm>
          <a:prstGeom prst="rect">
            <a:avLst/>
          </a:prstGeom>
          <a:noFill/>
          <a:ln/>
        </p:spPr>
        <p:txBody>
          <a:bodyPr wrap="square" lIns="0" tIns="0" rIns="0" bIns="0" rtlCol="0" anchor="ctr"/>
          <a:lstStyle/>
          <a:p>
            <a:pPr algn="ctr" indent="0" marL="0">
              <a:buNone/>
            </a:pPr>
            <a:r>
              <a:rPr lang="en-US" sz="1500" b="1" dirty="0">
                <a:solidFill>
                  <a:srgbClr val="5C3A21"/>
                </a:solidFill>
                <a:latin typeface="Cambria" pitchFamily="34" charset="0"/>
                <a:ea typeface="Cambria" pitchFamily="34" charset="-122"/>
                <a:cs typeface="Cambria" pitchFamily="34" charset="-120"/>
              </a:rPr>
              <a:t>1</a:t>
            </a:r>
            <a:endParaRPr lang="en-US" sz="1500" dirty="0"/>
          </a:p>
        </p:txBody>
      </p:sp>
      <p:sp>
        <p:nvSpPr>
          <p:cNvPr id="12" name="Shape 9"/>
          <p:cNvSpPr/>
          <p:nvPr/>
        </p:nvSpPr>
        <p:spPr>
          <a:xfrm>
            <a:off x="4594860" y="2240280"/>
            <a:ext cx="0" cy="576072"/>
          </a:xfrm>
          <a:prstGeom prst="line">
            <a:avLst/>
          </a:prstGeom>
          <a:noFill/>
          <a:ln w="19050">
            <a:solidFill>
              <a:srgbClr val="C9A66B"/>
            </a:solidFill>
            <a:prstDash val="dash"/>
          </a:ln>
        </p:spPr>
      </p:sp>
      <p:sp>
        <p:nvSpPr>
          <p:cNvPr id="13" name="Text 10"/>
          <p:cNvSpPr/>
          <p:nvPr/>
        </p:nvSpPr>
        <p:spPr>
          <a:xfrm>
            <a:off x="5074920" y="1709928"/>
            <a:ext cx="6309360" cy="320040"/>
          </a:xfrm>
          <a:prstGeom prst="rect">
            <a:avLst/>
          </a:prstGeom>
          <a:noFill/>
          <a:ln/>
        </p:spPr>
        <p:txBody>
          <a:bodyPr wrap="square" lIns="0" tIns="0" rIns="0" bIns="0" rtlCol="0" anchor="ctr"/>
          <a:lstStyle/>
          <a:p>
            <a:pPr indent="0" marL="0">
              <a:buNone/>
            </a:pPr>
            <a:r>
              <a:rPr lang="en-US" sz="1350" b="1" dirty="0">
                <a:solidFill>
                  <a:srgbClr val="5C3A21"/>
                </a:solidFill>
                <a:latin typeface="Cambria" pitchFamily="34" charset="0"/>
                <a:ea typeface="Cambria" pitchFamily="34" charset="-122"/>
                <a:cs typeface="Cambria" pitchFamily="34" charset="-120"/>
              </a:rPr>
              <a:t>Identificación del espacio</a:t>
            </a:r>
            <a:endParaRPr lang="en-US" sz="1350" dirty="0"/>
          </a:p>
        </p:txBody>
      </p:sp>
      <p:sp>
        <p:nvSpPr>
          <p:cNvPr id="14" name="Text 11"/>
          <p:cNvSpPr/>
          <p:nvPr/>
        </p:nvSpPr>
        <p:spPr>
          <a:xfrm>
            <a:off x="5074920" y="2029968"/>
            <a:ext cx="6309360" cy="685800"/>
          </a:xfrm>
          <a:prstGeom prst="rect">
            <a:avLst/>
          </a:prstGeom>
          <a:noFill/>
          <a:ln/>
        </p:spPr>
        <p:txBody>
          <a:bodyPr wrap="square" lIns="0" tIns="0" rIns="0" bIns="0" rtlCol="0" anchor="ctr"/>
          <a:lstStyle/>
          <a:p>
            <a:pPr indent="0" marL="0">
              <a:lnSpc>
                <a:spcPct val="118000"/>
              </a:lnSpc>
              <a:buNone/>
            </a:pPr>
            <a:r>
              <a:rPr lang="en-US" sz="1080" dirty="0">
                <a:solidFill>
                  <a:srgbClr val="7A6A57"/>
                </a:solidFill>
                <a:latin typeface="Calibri" pitchFamily="34" charset="0"/>
                <a:ea typeface="Calibri" pitchFamily="34" charset="-122"/>
                <a:cs typeface="Calibri" pitchFamily="34" charset="-120"/>
              </a:rPr>
              <a:t>Localización del espacio subaracnoideo lumbar mediante puntos de referencia anatómicos de superficie.</a:t>
            </a:r>
            <a:endParaRPr lang="en-US" sz="1080" dirty="0"/>
          </a:p>
        </p:txBody>
      </p:sp>
      <p:sp>
        <p:nvSpPr>
          <p:cNvPr id="15" name="Shape 12"/>
          <p:cNvSpPr/>
          <p:nvPr/>
        </p:nvSpPr>
        <p:spPr>
          <a:xfrm>
            <a:off x="4343400" y="2816352"/>
            <a:ext cx="502920" cy="502920"/>
          </a:xfrm>
          <a:prstGeom prst="ellipse">
            <a:avLst/>
          </a:prstGeom>
          <a:solidFill>
            <a:srgbClr val="C9A66B">
              <a:alpha val="75000"/>
            </a:srgbClr>
          </a:solidFill>
          <a:ln w="12700">
            <a:solidFill>
              <a:srgbClr val="5C3A21"/>
            </a:solidFill>
            <a:prstDash val="solid"/>
          </a:ln>
        </p:spPr>
      </p:sp>
      <p:sp>
        <p:nvSpPr>
          <p:cNvPr id="16" name="Text 13"/>
          <p:cNvSpPr/>
          <p:nvPr/>
        </p:nvSpPr>
        <p:spPr>
          <a:xfrm>
            <a:off x="4343400" y="2816352"/>
            <a:ext cx="502920" cy="502920"/>
          </a:xfrm>
          <a:prstGeom prst="rect">
            <a:avLst/>
          </a:prstGeom>
          <a:noFill/>
          <a:ln/>
        </p:spPr>
        <p:txBody>
          <a:bodyPr wrap="square" lIns="0" tIns="0" rIns="0" bIns="0" rtlCol="0" anchor="ctr"/>
          <a:lstStyle/>
          <a:p>
            <a:pPr algn="ctr" indent="0" marL="0">
              <a:buNone/>
            </a:pPr>
            <a:r>
              <a:rPr lang="en-US" sz="1500" b="1" dirty="0">
                <a:solidFill>
                  <a:srgbClr val="5C3A21"/>
                </a:solidFill>
                <a:latin typeface="Cambria" pitchFamily="34" charset="0"/>
                <a:ea typeface="Cambria" pitchFamily="34" charset="-122"/>
                <a:cs typeface="Cambria" pitchFamily="34" charset="-120"/>
              </a:rPr>
              <a:t>2</a:t>
            </a:r>
            <a:endParaRPr lang="en-US" sz="1500" dirty="0"/>
          </a:p>
        </p:txBody>
      </p:sp>
      <p:sp>
        <p:nvSpPr>
          <p:cNvPr id="17" name="Shape 14"/>
          <p:cNvSpPr/>
          <p:nvPr/>
        </p:nvSpPr>
        <p:spPr>
          <a:xfrm>
            <a:off x="4594860" y="3319272"/>
            <a:ext cx="0" cy="576072"/>
          </a:xfrm>
          <a:prstGeom prst="line">
            <a:avLst/>
          </a:prstGeom>
          <a:noFill/>
          <a:ln w="19050">
            <a:solidFill>
              <a:srgbClr val="C9A66B"/>
            </a:solidFill>
            <a:prstDash val="dash"/>
          </a:ln>
        </p:spPr>
      </p:sp>
      <p:sp>
        <p:nvSpPr>
          <p:cNvPr id="18" name="Text 15"/>
          <p:cNvSpPr/>
          <p:nvPr/>
        </p:nvSpPr>
        <p:spPr>
          <a:xfrm>
            <a:off x="5074920" y="2788920"/>
            <a:ext cx="6309360" cy="320040"/>
          </a:xfrm>
          <a:prstGeom prst="rect">
            <a:avLst/>
          </a:prstGeom>
          <a:noFill/>
          <a:ln/>
        </p:spPr>
        <p:txBody>
          <a:bodyPr wrap="square" lIns="0" tIns="0" rIns="0" bIns="0" rtlCol="0" anchor="ctr"/>
          <a:lstStyle/>
          <a:p>
            <a:pPr indent="0" marL="0">
              <a:buNone/>
            </a:pPr>
            <a:r>
              <a:rPr lang="en-US" sz="1350" b="1" dirty="0">
                <a:solidFill>
                  <a:srgbClr val="5C3A21"/>
                </a:solidFill>
                <a:latin typeface="Cambria" pitchFamily="34" charset="0"/>
                <a:ea typeface="Cambria" pitchFamily="34" charset="-122"/>
                <a:cs typeface="Cambria" pitchFamily="34" charset="-120"/>
              </a:rPr>
              <a:t>Punción dural</a:t>
            </a:r>
            <a:endParaRPr lang="en-US" sz="1350" dirty="0"/>
          </a:p>
        </p:txBody>
      </p:sp>
      <p:sp>
        <p:nvSpPr>
          <p:cNvPr id="19" name="Text 16"/>
          <p:cNvSpPr/>
          <p:nvPr/>
        </p:nvSpPr>
        <p:spPr>
          <a:xfrm>
            <a:off x="5074920" y="3108960"/>
            <a:ext cx="6309360" cy="685800"/>
          </a:xfrm>
          <a:prstGeom prst="rect">
            <a:avLst/>
          </a:prstGeom>
          <a:noFill/>
          <a:ln/>
        </p:spPr>
        <p:txBody>
          <a:bodyPr wrap="square" lIns="0" tIns="0" rIns="0" bIns="0" rtlCol="0" anchor="ctr"/>
          <a:lstStyle/>
          <a:p>
            <a:pPr indent="0" marL="0">
              <a:lnSpc>
                <a:spcPct val="118000"/>
              </a:lnSpc>
              <a:buNone/>
            </a:pPr>
            <a:r>
              <a:rPr lang="en-US" sz="1080" dirty="0">
                <a:solidFill>
                  <a:srgbClr val="7A6A57"/>
                </a:solidFill>
                <a:latin typeface="Calibri" pitchFamily="34" charset="0"/>
                <a:ea typeface="Calibri" pitchFamily="34" charset="-122"/>
                <a:cs typeface="Calibri" pitchFamily="34" charset="-120"/>
              </a:rPr>
              <a:t>Introducción de la aguja hasta obtener flujo libre de líquido cefalorraquídeo, confirmando la posición correcta.</a:t>
            </a:r>
            <a:endParaRPr lang="en-US" sz="1080" dirty="0"/>
          </a:p>
        </p:txBody>
      </p:sp>
      <p:sp>
        <p:nvSpPr>
          <p:cNvPr id="20" name="Shape 17"/>
          <p:cNvSpPr/>
          <p:nvPr/>
        </p:nvSpPr>
        <p:spPr>
          <a:xfrm>
            <a:off x="4343400" y="3895344"/>
            <a:ext cx="502920" cy="502920"/>
          </a:xfrm>
          <a:prstGeom prst="ellipse">
            <a:avLst/>
          </a:prstGeom>
          <a:solidFill>
            <a:srgbClr val="C9A66B">
              <a:alpha val="75000"/>
            </a:srgbClr>
          </a:solidFill>
          <a:ln w="12700">
            <a:solidFill>
              <a:srgbClr val="5C3A21"/>
            </a:solidFill>
            <a:prstDash val="solid"/>
          </a:ln>
        </p:spPr>
      </p:sp>
      <p:sp>
        <p:nvSpPr>
          <p:cNvPr id="21" name="Text 18"/>
          <p:cNvSpPr/>
          <p:nvPr/>
        </p:nvSpPr>
        <p:spPr>
          <a:xfrm>
            <a:off x="4343400" y="3895344"/>
            <a:ext cx="502920" cy="502920"/>
          </a:xfrm>
          <a:prstGeom prst="rect">
            <a:avLst/>
          </a:prstGeom>
          <a:noFill/>
          <a:ln/>
        </p:spPr>
        <p:txBody>
          <a:bodyPr wrap="square" lIns="0" tIns="0" rIns="0" bIns="0" rtlCol="0" anchor="ctr"/>
          <a:lstStyle/>
          <a:p>
            <a:pPr algn="ctr" indent="0" marL="0">
              <a:buNone/>
            </a:pPr>
            <a:r>
              <a:rPr lang="en-US" sz="1500" b="1" dirty="0">
                <a:solidFill>
                  <a:srgbClr val="5C3A21"/>
                </a:solidFill>
                <a:latin typeface="Cambria" pitchFamily="34" charset="0"/>
                <a:ea typeface="Cambria" pitchFamily="34" charset="-122"/>
                <a:cs typeface="Cambria" pitchFamily="34" charset="-120"/>
              </a:rPr>
              <a:t>3</a:t>
            </a:r>
            <a:endParaRPr lang="en-US" sz="1500" dirty="0"/>
          </a:p>
        </p:txBody>
      </p:sp>
      <p:sp>
        <p:nvSpPr>
          <p:cNvPr id="22" name="Shape 19"/>
          <p:cNvSpPr/>
          <p:nvPr/>
        </p:nvSpPr>
        <p:spPr>
          <a:xfrm>
            <a:off x="4594860" y="4398264"/>
            <a:ext cx="0" cy="576072"/>
          </a:xfrm>
          <a:prstGeom prst="line">
            <a:avLst/>
          </a:prstGeom>
          <a:noFill/>
          <a:ln w="19050">
            <a:solidFill>
              <a:srgbClr val="C9A66B"/>
            </a:solidFill>
            <a:prstDash val="dash"/>
          </a:ln>
        </p:spPr>
      </p:sp>
      <p:sp>
        <p:nvSpPr>
          <p:cNvPr id="23" name="Text 20"/>
          <p:cNvSpPr/>
          <p:nvPr/>
        </p:nvSpPr>
        <p:spPr>
          <a:xfrm>
            <a:off x="5074920" y="3867912"/>
            <a:ext cx="6309360" cy="320040"/>
          </a:xfrm>
          <a:prstGeom prst="rect">
            <a:avLst/>
          </a:prstGeom>
          <a:noFill/>
          <a:ln/>
        </p:spPr>
        <p:txBody>
          <a:bodyPr wrap="square" lIns="0" tIns="0" rIns="0" bIns="0" rtlCol="0" anchor="ctr"/>
          <a:lstStyle/>
          <a:p>
            <a:pPr indent="0" marL="0">
              <a:buNone/>
            </a:pPr>
            <a:r>
              <a:rPr lang="en-US" sz="1350" b="1" dirty="0">
                <a:solidFill>
                  <a:srgbClr val="5C3A21"/>
                </a:solidFill>
                <a:latin typeface="Cambria" pitchFamily="34" charset="0"/>
                <a:ea typeface="Cambria" pitchFamily="34" charset="-122"/>
                <a:cs typeface="Cambria" pitchFamily="34" charset="-120"/>
              </a:rPr>
              <a:t>Inyección del anestésico</a:t>
            </a:r>
            <a:endParaRPr lang="en-US" sz="1350" dirty="0"/>
          </a:p>
        </p:txBody>
      </p:sp>
      <p:sp>
        <p:nvSpPr>
          <p:cNvPr id="24" name="Text 21"/>
          <p:cNvSpPr/>
          <p:nvPr/>
        </p:nvSpPr>
        <p:spPr>
          <a:xfrm>
            <a:off x="5074920" y="4187952"/>
            <a:ext cx="6309360" cy="685800"/>
          </a:xfrm>
          <a:prstGeom prst="rect">
            <a:avLst/>
          </a:prstGeom>
          <a:noFill/>
          <a:ln/>
        </p:spPr>
        <p:txBody>
          <a:bodyPr wrap="square" lIns="0" tIns="0" rIns="0" bIns="0" rtlCol="0" anchor="ctr"/>
          <a:lstStyle/>
          <a:p>
            <a:pPr indent="0" marL="0">
              <a:lnSpc>
                <a:spcPct val="118000"/>
              </a:lnSpc>
              <a:buNone/>
            </a:pPr>
            <a:r>
              <a:rPr lang="en-US" sz="1080" dirty="0">
                <a:solidFill>
                  <a:srgbClr val="7A6A57"/>
                </a:solidFill>
                <a:latin typeface="Calibri" pitchFamily="34" charset="0"/>
                <a:ea typeface="Calibri" pitchFamily="34" charset="-122"/>
                <a:cs typeface="Calibri" pitchFamily="34" charset="-120"/>
              </a:rPr>
              <a:t>Administración de cocaína (posteriormente otros anestésicos locales) directamente en el espacio subaracnoideo.</a:t>
            </a:r>
            <a:endParaRPr lang="en-US" sz="1080" dirty="0"/>
          </a:p>
        </p:txBody>
      </p:sp>
      <p:sp>
        <p:nvSpPr>
          <p:cNvPr id="25" name="Shape 22"/>
          <p:cNvSpPr/>
          <p:nvPr/>
        </p:nvSpPr>
        <p:spPr>
          <a:xfrm>
            <a:off x="4343400" y="4974336"/>
            <a:ext cx="502920" cy="502920"/>
          </a:xfrm>
          <a:prstGeom prst="ellipse">
            <a:avLst/>
          </a:prstGeom>
          <a:solidFill>
            <a:srgbClr val="C9A66B">
              <a:alpha val="75000"/>
            </a:srgbClr>
          </a:solidFill>
          <a:ln w="12700">
            <a:solidFill>
              <a:srgbClr val="5C3A21"/>
            </a:solidFill>
            <a:prstDash val="solid"/>
          </a:ln>
        </p:spPr>
      </p:sp>
      <p:sp>
        <p:nvSpPr>
          <p:cNvPr id="26" name="Text 23"/>
          <p:cNvSpPr/>
          <p:nvPr/>
        </p:nvSpPr>
        <p:spPr>
          <a:xfrm>
            <a:off x="4343400" y="4974336"/>
            <a:ext cx="502920" cy="502920"/>
          </a:xfrm>
          <a:prstGeom prst="rect">
            <a:avLst/>
          </a:prstGeom>
          <a:noFill/>
          <a:ln/>
        </p:spPr>
        <p:txBody>
          <a:bodyPr wrap="square" lIns="0" tIns="0" rIns="0" bIns="0" rtlCol="0" anchor="ctr"/>
          <a:lstStyle/>
          <a:p>
            <a:pPr algn="ctr" indent="0" marL="0">
              <a:buNone/>
            </a:pPr>
            <a:r>
              <a:rPr lang="en-US" sz="1500" b="1" dirty="0">
                <a:solidFill>
                  <a:srgbClr val="5C3A21"/>
                </a:solidFill>
                <a:latin typeface="Cambria" pitchFamily="34" charset="0"/>
                <a:ea typeface="Cambria" pitchFamily="34" charset="-122"/>
                <a:cs typeface="Cambria" pitchFamily="34" charset="-120"/>
              </a:rPr>
              <a:t>4</a:t>
            </a:r>
            <a:endParaRPr lang="en-US" sz="1500" dirty="0"/>
          </a:p>
        </p:txBody>
      </p:sp>
      <p:sp>
        <p:nvSpPr>
          <p:cNvPr id="27" name="Text 24"/>
          <p:cNvSpPr/>
          <p:nvPr/>
        </p:nvSpPr>
        <p:spPr>
          <a:xfrm>
            <a:off x="5074920" y="4946904"/>
            <a:ext cx="6309360" cy="320040"/>
          </a:xfrm>
          <a:prstGeom prst="rect">
            <a:avLst/>
          </a:prstGeom>
          <a:noFill/>
          <a:ln/>
        </p:spPr>
        <p:txBody>
          <a:bodyPr wrap="square" lIns="0" tIns="0" rIns="0" bIns="0" rtlCol="0" anchor="ctr"/>
          <a:lstStyle/>
          <a:p>
            <a:pPr indent="0" marL="0">
              <a:buNone/>
            </a:pPr>
            <a:r>
              <a:rPr lang="en-US" sz="1350" b="1" dirty="0">
                <a:solidFill>
                  <a:srgbClr val="5C3A21"/>
                </a:solidFill>
                <a:latin typeface="Cambria" pitchFamily="34" charset="0"/>
                <a:ea typeface="Cambria" pitchFamily="34" charset="-122"/>
                <a:cs typeface="Cambria" pitchFamily="34" charset="-120"/>
              </a:rPr>
              <a:t>Bloqueo sensitivo-motor</a:t>
            </a:r>
            <a:endParaRPr lang="en-US" sz="1350" dirty="0"/>
          </a:p>
        </p:txBody>
      </p:sp>
      <p:sp>
        <p:nvSpPr>
          <p:cNvPr id="28" name="Text 25"/>
          <p:cNvSpPr/>
          <p:nvPr/>
        </p:nvSpPr>
        <p:spPr>
          <a:xfrm>
            <a:off x="5074920" y="5266944"/>
            <a:ext cx="6309360" cy="685800"/>
          </a:xfrm>
          <a:prstGeom prst="rect">
            <a:avLst/>
          </a:prstGeom>
          <a:noFill/>
          <a:ln/>
        </p:spPr>
        <p:txBody>
          <a:bodyPr wrap="square" lIns="0" tIns="0" rIns="0" bIns="0" rtlCol="0" anchor="ctr"/>
          <a:lstStyle/>
          <a:p>
            <a:pPr indent="0" marL="0">
              <a:lnSpc>
                <a:spcPct val="118000"/>
              </a:lnSpc>
              <a:buNone/>
            </a:pPr>
            <a:r>
              <a:rPr lang="en-US" sz="1080" dirty="0">
                <a:solidFill>
                  <a:srgbClr val="7A6A57"/>
                </a:solidFill>
                <a:latin typeface="Calibri" pitchFamily="34" charset="0"/>
                <a:ea typeface="Calibri" pitchFamily="34" charset="-122"/>
                <a:cs typeface="Calibri" pitchFamily="34" charset="-120"/>
              </a:rPr>
              <a:t>Instauración de un bloqueo segmentario predecible, sensitivo y motor, por debajo del nivel de punción.</a:t>
            </a:r>
            <a:endParaRPr lang="en-US" sz="1080" dirty="0"/>
          </a:p>
        </p:txBody>
      </p:sp>
      <p:sp>
        <p:nvSpPr>
          <p:cNvPr id="29" name="Text 26"/>
          <p:cNvSpPr/>
          <p:nvPr/>
        </p:nvSpPr>
        <p:spPr>
          <a:xfrm>
            <a:off x="5074920" y="5916168"/>
            <a:ext cx="6309360" cy="640080"/>
          </a:xfrm>
          <a:prstGeom prst="rect">
            <a:avLst/>
          </a:prstGeom>
          <a:noFill/>
          <a:ln/>
        </p:spPr>
        <p:txBody>
          <a:bodyPr wrap="square" lIns="0" tIns="0" rIns="0" bIns="0" rtlCol="0" anchor="ctr"/>
          <a:lstStyle/>
          <a:p>
            <a:pPr indent="0" marL="0">
              <a:lnSpc>
                <a:spcPct val="120000"/>
              </a:lnSpc>
              <a:buNone/>
            </a:pPr>
            <a:r>
              <a:rPr lang="en-US" sz="1080" i="1" dirty="0">
                <a:solidFill>
                  <a:srgbClr val="7A6A57"/>
                </a:solidFill>
                <a:latin typeface="Calibri" pitchFamily="34" charset="0"/>
                <a:ea typeface="Calibri" pitchFamily="34" charset="-122"/>
                <a:cs typeface="Calibri" pitchFamily="34" charset="-120"/>
              </a:rPr>
              <a:t>Bier describió también, desde el inicio, la cefalea postpunción dural como complicación característica del procedimiento — hallazgo que sigue vigente en la práctica clínica actual.</a:t>
            </a:r>
            <a:endParaRPr lang="en-US" sz="1080" dirty="0"/>
          </a:p>
        </p:txBody>
      </p:sp>
      <p:sp>
        <p:nvSpPr>
          <p:cNvPr id="30" name="Text 27"/>
          <p:cNvSpPr/>
          <p:nvPr/>
        </p:nvSpPr>
        <p:spPr>
          <a:xfrm>
            <a:off x="548640" y="6473952"/>
            <a:ext cx="6400800" cy="274320"/>
          </a:xfrm>
          <a:prstGeom prst="rect">
            <a:avLst/>
          </a:prstGeom>
          <a:noFill/>
          <a:ln/>
        </p:spPr>
        <p:txBody>
          <a:bodyPr wrap="square" lIns="0" tIns="0" rIns="0" bIns="0" rtlCol="0" anchor="ctr"/>
          <a:lstStyle/>
          <a:p>
            <a:pPr indent="0" marL="0">
              <a:buNone/>
            </a:pPr>
            <a:r>
              <a:rPr lang="en-US" sz="850" spc="100" kern="0" dirty="0">
                <a:solidFill>
                  <a:srgbClr val="7A6A57"/>
                </a:solidFill>
                <a:latin typeface="Calibri" pitchFamily="34" charset="0"/>
                <a:ea typeface="Calibri" pitchFamily="34" charset="-122"/>
                <a:cs typeface="Calibri" pitchFamily="34" charset="-120"/>
              </a:rPr>
              <a:t>CAPÍTULO II  ·  HISTORIA DE LA ANESTESIA</a:t>
            </a:r>
            <a:endParaRPr lang="en-US" sz="850" dirty="0"/>
          </a:p>
        </p:txBody>
      </p:sp>
      <p:sp>
        <p:nvSpPr>
          <p:cNvPr id="31" name="Text 28"/>
          <p:cNvSpPr/>
          <p:nvPr/>
        </p:nvSpPr>
        <p:spPr>
          <a:xfrm>
            <a:off x="10728655" y="6473952"/>
            <a:ext cx="914400" cy="274320"/>
          </a:xfrm>
          <a:prstGeom prst="rect">
            <a:avLst/>
          </a:prstGeom>
          <a:noFill/>
          <a:ln/>
        </p:spPr>
        <p:txBody>
          <a:bodyPr wrap="square" lIns="0" tIns="0" rIns="0" bIns="0" rtlCol="0" anchor="ctr"/>
          <a:lstStyle/>
          <a:p>
            <a:pPr algn="r" indent="0" marL="0">
              <a:buNone/>
            </a:pPr>
            <a:r>
              <a:rPr lang="en-US" sz="850" dirty="0">
                <a:solidFill>
                  <a:srgbClr val="7A6A57"/>
                </a:solidFill>
                <a:latin typeface="Calibri" pitchFamily="34" charset="0"/>
                <a:ea typeface="Calibri" pitchFamily="34" charset="-122"/>
                <a:cs typeface="Calibri" pitchFamily="34" charset="-120"/>
              </a:rPr>
              <a:t>16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lIns="0" tIns="0" rIns="0" bIns="0" rtlCol="0" anchor="ctr"/>
          <a:lstStyle/>
          <a:p>
            <a:pPr indent="0" marL="0">
              <a:buNone/>
            </a:pPr>
            <a:r>
              <a:rPr lang="en-US" sz="1200" b="1" spc="200" kern="0" dirty="0">
                <a:solidFill>
                  <a:srgbClr val="8B5E3C"/>
                </a:solidFill>
                <a:latin typeface="Calibri" pitchFamily="34" charset="0"/>
                <a:ea typeface="Calibri" pitchFamily="34" charset="-122"/>
                <a:cs typeface="Calibri" pitchFamily="34" charset="-120"/>
              </a:rPr>
              <a:t>ANESTÉSICOS LOCALES SINTÉTICOS</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t"/>
          <a:lstStyle/>
          <a:p>
            <a:pPr indent="0" marL="0">
              <a:buNone/>
            </a:pPr>
            <a:r>
              <a:rPr lang="en-US" sz="2900" b="1" dirty="0">
                <a:solidFill>
                  <a:srgbClr val="5C3A21"/>
                </a:solidFill>
                <a:latin typeface="Cambria" pitchFamily="34" charset="0"/>
                <a:ea typeface="Cambria" pitchFamily="34" charset="-122"/>
                <a:cs typeface="Cambria" pitchFamily="34" charset="-120"/>
              </a:rPr>
              <a:t>Alfred Einhorn y la síntesis de la procaína (1905)</a:t>
            </a:r>
            <a:endParaRPr lang="en-US" sz="2900" dirty="0"/>
          </a:p>
        </p:txBody>
      </p:sp>
      <p:sp>
        <p:nvSpPr>
          <p:cNvPr id="4" name="Text 2"/>
          <p:cNvSpPr/>
          <p:nvPr/>
        </p:nvSpPr>
        <p:spPr>
          <a:xfrm>
            <a:off x="548640" y="1645920"/>
            <a:ext cx="11064240" cy="731520"/>
          </a:xfrm>
          <a:prstGeom prst="rect">
            <a:avLst/>
          </a:prstGeom>
          <a:noFill/>
          <a:ln/>
        </p:spPr>
        <p:txBody>
          <a:bodyPr wrap="square" lIns="0" tIns="0" rIns="0" bIns="0" rtlCol="0" anchor="ctr"/>
          <a:lstStyle/>
          <a:p>
            <a:pPr indent="0" marL="0">
              <a:lnSpc>
                <a:spcPct val="120000"/>
              </a:lnSpc>
              <a:buNone/>
            </a:pPr>
            <a:r>
              <a:rPr lang="en-US" sz="1300" dirty="0">
                <a:solidFill>
                  <a:srgbClr val="3A2E22"/>
                </a:solidFill>
                <a:latin typeface="Calibri" pitchFamily="34" charset="0"/>
                <a:ea typeface="Calibri" pitchFamily="34" charset="-122"/>
                <a:cs typeface="Calibri" pitchFamily="34" charset="-120"/>
              </a:rPr>
              <a:t>La toxicidad y el potencial adictivo de la cocaína impulsaron la búsqueda de un anestésico local sintético más seguro. El químico alemán Alfred Einhorn sintetizó la procaína (Novocaína) en 1905, inaugurando la era de los anestésicos locales tipo éster.</a:t>
            </a:r>
            <a:endParaRPr lang="en-US" sz="13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2468880"/>
          <a:ext cx="11091672" cy="914400"/>
        </p:xfrm>
        <a:graphic>
          <a:graphicData uri="http://schemas.openxmlformats.org/drawingml/2006/table">
            <a:tbl>
              <a:tblPr/>
              <a:tblGrid>
                <a:gridCol w="3291840"/>
                <a:gridCol w="3895344"/>
                <a:gridCol w="3904488"/>
              </a:tblGrid>
              <a:tr h="420624">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Característica</a:t>
                      </a:r>
                      <a:endParaRPr lang="en-US" sz="1200" dirty="0">
                        <a:latin typeface="Calibri" charset="0"/>
                        <a:ea typeface="Calibri" charset="0"/>
                        <a:cs typeface="Calibri" charset="0"/>
                      </a:endParaRPr>
                    </a:p>
                  </a:txBody>
                  <a:tcPr marL="109728" marR="91440" marT="45720" marB="45720" anchor="ctr">
                    <a:lnL w="9525" cap="flat" cmpd="sng" algn="ctr">
                      <a:solidFill>
                        <a:srgbClr val="E5DCCC"/>
                      </a:solidFill>
                      <a:prstDash val="solid"/>
                      <a:round/>
                      <a:headEnd type="none" w="med" len="med"/>
                      <a:tailEnd type="none" w="med" len="med"/>
                    </a:lnL>
                    <a:lnR w="9525" cap="flat" cmpd="sng" algn="ctr">
                      <a:solidFill>
                        <a:srgbClr val="E5DCCC"/>
                      </a:solidFill>
                      <a:prstDash val="solid"/>
                      <a:round/>
                      <a:headEnd type="none" w="med" len="med"/>
                      <a:tailEnd type="none" w="med" len="med"/>
                    </a:lnR>
                    <a:lnT w="9525" cap="flat" cmpd="sng" algn="ctr">
                      <a:solidFill>
                        <a:srgbClr val="E5DCCC"/>
                      </a:solidFill>
                      <a:prstDash val="solid"/>
                      <a:round/>
                      <a:headEnd type="none" w="med" len="med"/>
                      <a:tailEnd type="none" w="med" len="med"/>
                    </a:lnT>
                    <a:lnB w="9525" cap="flat" cmpd="sng" algn="ctr">
                      <a:solidFill>
                        <a:srgbClr val="E5DCCC"/>
                      </a:solidFill>
                      <a:prstDash val="solid"/>
                      <a:round/>
                      <a:headEnd type="none" w="med" len="med"/>
                      <a:tailEnd type="none" w="med" len="med"/>
                    </a:lnB>
                    <a:solidFill>
                      <a:srgbClr val="5C3A2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Cocaína (1884)</a:t>
                      </a:r>
                      <a:endParaRPr lang="en-US" sz="1200" dirty="0">
                        <a:latin typeface="Calibri" charset="0"/>
                        <a:ea typeface="Calibri" charset="0"/>
                        <a:cs typeface="Calibri" charset="0"/>
                      </a:endParaRPr>
                    </a:p>
                  </a:txBody>
                  <a:tcPr marL="109728" marR="91440" marT="45720" marB="45720" anchor="ctr">
                    <a:lnL w="9525" cap="flat" cmpd="sng" algn="ctr">
                      <a:solidFill>
                        <a:srgbClr val="E5DCCC"/>
                      </a:solidFill>
                      <a:prstDash val="solid"/>
                      <a:round/>
                      <a:headEnd type="none" w="med" len="med"/>
                      <a:tailEnd type="none" w="med" len="med"/>
                    </a:lnL>
                    <a:lnR w="9525" cap="flat" cmpd="sng" algn="ctr">
                      <a:solidFill>
                        <a:srgbClr val="E5DCCC"/>
                      </a:solidFill>
                      <a:prstDash val="solid"/>
                      <a:round/>
                      <a:headEnd type="none" w="med" len="med"/>
                      <a:tailEnd type="none" w="med" len="med"/>
                    </a:lnR>
                    <a:lnT w="9525" cap="flat" cmpd="sng" algn="ctr">
                      <a:solidFill>
                        <a:srgbClr val="E5DCCC"/>
                      </a:solidFill>
                      <a:prstDash val="solid"/>
                      <a:round/>
                      <a:headEnd type="none" w="med" len="med"/>
                      <a:tailEnd type="none" w="med" len="med"/>
                    </a:lnT>
                    <a:lnB w="9525" cap="flat" cmpd="sng" algn="ctr">
                      <a:solidFill>
                        <a:srgbClr val="E5DCCC"/>
                      </a:solidFill>
                      <a:prstDash val="solid"/>
                      <a:round/>
                      <a:headEnd type="none" w="med" len="med"/>
                      <a:tailEnd type="none" w="med" len="med"/>
                    </a:lnB>
                    <a:solidFill>
                      <a:srgbClr val="5C3A2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Procaína (1905)</a:t>
                      </a:r>
                      <a:endParaRPr lang="en-US" sz="1200" dirty="0">
                        <a:latin typeface="Calibri" charset="0"/>
                        <a:ea typeface="Calibri" charset="0"/>
                        <a:cs typeface="Calibri" charset="0"/>
                      </a:endParaRPr>
                    </a:p>
                  </a:txBody>
                  <a:tcPr marL="109728" marR="91440" marT="45720" marB="45720" anchor="ctr">
                    <a:lnL w="9525" cap="flat" cmpd="sng" algn="ctr">
                      <a:solidFill>
                        <a:srgbClr val="E5DCCC"/>
                      </a:solidFill>
                      <a:prstDash val="solid"/>
                      <a:round/>
                      <a:headEnd type="none" w="med" len="med"/>
                      <a:tailEnd type="none" w="med" len="med"/>
                    </a:lnL>
                    <a:lnR w="9525" cap="flat" cmpd="sng" algn="ctr">
                      <a:solidFill>
                        <a:srgbClr val="E5DCCC"/>
                      </a:solidFill>
                      <a:prstDash val="solid"/>
                      <a:round/>
                      <a:headEnd type="none" w="med" len="med"/>
                      <a:tailEnd type="none" w="med" len="med"/>
                    </a:lnR>
                    <a:lnT w="9525" cap="flat" cmpd="sng" algn="ctr">
                      <a:solidFill>
                        <a:srgbClr val="E5DCCC"/>
                      </a:solidFill>
                      <a:prstDash val="solid"/>
                      <a:round/>
                      <a:headEnd type="none" w="med" len="med"/>
                      <a:tailEnd type="none" w="med" len="med"/>
                    </a:lnT>
                    <a:lnB w="9525" cap="flat" cmpd="sng" algn="ctr">
                      <a:solidFill>
                        <a:srgbClr val="E5DCCC"/>
                      </a:solidFill>
                      <a:prstDash val="solid"/>
                      <a:round/>
                      <a:headEnd type="none" w="med" len="med"/>
                      <a:tailEnd type="none" w="med" len="med"/>
                    </a:lnB>
                    <a:solidFill>
                      <a:srgbClr val="5C3A21"/>
                    </a:solidFill>
                  </a:tcPr>
                </a:tc>
              </a:tr>
              <a:tr h="420624">
                <a:tc>
                  <a:txBody>
                    <a:bodyPr/>
                    <a:lstStyle/>
                    <a:p>
                      <a:pPr algn="l" indent="0" marL="0">
                        <a:buNone/>
                      </a:pPr>
                      <a:r>
                        <a:rPr lang="en-US" sz="1150" b="1" dirty="0">
                          <a:solidFill>
                            <a:srgbClr val="3A2E22"/>
                          </a:solidFill>
                          <a:latin typeface="Calibri" pitchFamily="34" charset="0"/>
                          <a:ea typeface="Calibri" pitchFamily="34" charset="-122"/>
                          <a:cs typeface="Calibri" pitchFamily="34" charset="-120"/>
                        </a:rPr>
                        <a:t>Origen</a:t>
                      </a:r>
                      <a:endParaRPr lang="en-US" sz="1150" dirty="0">
                        <a:latin typeface="Calibri" charset="0"/>
                        <a:ea typeface="Calibri" charset="0"/>
                        <a:cs typeface="Calibri" charset="0"/>
                      </a:endParaRPr>
                    </a:p>
                  </a:txBody>
                  <a:tcPr marL="109728" marR="91440" marT="36576" marB="36576" anchor="ctr">
                    <a:lnL w="9525" cap="flat" cmpd="sng" algn="ctr">
                      <a:solidFill>
                        <a:srgbClr val="E5DCCC"/>
                      </a:solidFill>
                      <a:prstDash val="solid"/>
                      <a:round/>
                      <a:headEnd type="none" w="med" len="med"/>
                      <a:tailEnd type="none" w="med" len="med"/>
                    </a:lnL>
                    <a:lnR w="9525" cap="flat" cmpd="sng" algn="ctr">
                      <a:solidFill>
                        <a:srgbClr val="E5DCCC"/>
                      </a:solidFill>
                      <a:prstDash val="solid"/>
                      <a:round/>
                      <a:headEnd type="none" w="med" len="med"/>
                      <a:tailEnd type="none" w="med" len="med"/>
                    </a:lnR>
                    <a:lnT w="9525" cap="flat" cmpd="sng" algn="ctr">
                      <a:solidFill>
                        <a:srgbClr val="E5DCCC"/>
                      </a:solidFill>
                      <a:prstDash val="solid"/>
                      <a:round/>
                      <a:headEnd type="none" w="med" len="med"/>
                      <a:tailEnd type="none" w="med" len="med"/>
                    </a:lnT>
                    <a:lnB w="9525" cap="flat" cmpd="sng" algn="ctr">
                      <a:solidFill>
                        <a:srgbClr val="E5DCCC"/>
                      </a:solidFill>
                      <a:prstDash val="solid"/>
                      <a:round/>
                      <a:headEnd type="none" w="med" len="med"/>
                      <a:tailEnd type="none" w="med" len="med"/>
                    </a:lnB>
                    <a:solidFill>
                      <a:srgbClr val="FFFFFF">
                        <a:alpha val="0"/>
                      </a:srgbClr>
                    </a:solidFill>
                  </a:tcPr>
                </a:tc>
                <a:tc>
                  <a:txBody>
                    <a:bodyPr/>
                    <a:lstStyle/>
                    <a:p>
                      <a:pPr algn="ctr" indent="0" marL="0">
                        <a:buNone/>
                      </a:pPr>
                      <a:r>
                        <a:rPr lang="en-US" sz="1150" dirty="0">
                          <a:solidFill>
                            <a:srgbClr val="3A2E22"/>
                          </a:solidFill>
                          <a:latin typeface="Calibri" pitchFamily="34" charset="0"/>
                          <a:ea typeface="Calibri" pitchFamily="34" charset="-122"/>
                          <a:cs typeface="Calibri" pitchFamily="34" charset="-120"/>
                        </a:rPr>
                        <a:t>Alcaloide natural (hoja de coca)</a:t>
                      </a:r>
                      <a:endParaRPr lang="en-US" sz="1150" dirty="0">
                        <a:latin typeface="Calibri" charset="0"/>
                        <a:ea typeface="Calibri" charset="0"/>
                        <a:cs typeface="Calibri" charset="0"/>
                      </a:endParaRPr>
                    </a:p>
                  </a:txBody>
                  <a:tcPr marL="109728" marR="91440" marT="36576" marB="36576" anchor="ctr">
                    <a:lnL w="9525" cap="flat" cmpd="sng" algn="ctr">
                      <a:solidFill>
                        <a:srgbClr val="E5DCCC"/>
                      </a:solidFill>
                      <a:prstDash val="solid"/>
                      <a:round/>
                      <a:headEnd type="none" w="med" len="med"/>
                      <a:tailEnd type="none" w="med" len="med"/>
                    </a:lnL>
                    <a:lnR w="9525" cap="flat" cmpd="sng" algn="ctr">
                      <a:solidFill>
                        <a:srgbClr val="E5DCCC"/>
                      </a:solidFill>
                      <a:prstDash val="solid"/>
                      <a:round/>
                      <a:headEnd type="none" w="med" len="med"/>
                      <a:tailEnd type="none" w="med" len="med"/>
                    </a:lnR>
                    <a:lnT w="9525" cap="flat" cmpd="sng" algn="ctr">
                      <a:solidFill>
                        <a:srgbClr val="E5DCCC"/>
                      </a:solidFill>
                      <a:prstDash val="solid"/>
                      <a:round/>
                      <a:headEnd type="none" w="med" len="med"/>
                      <a:tailEnd type="none" w="med" len="med"/>
                    </a:lnT>
                    <a:lnB w="9525" cap="flat" cmpd="sng" algn="ctr">
                      <a:solidFill>
                        <a:srgbClr val="E5DCCC"/>
                      </a:solidFill>
                      <a:prstDash val="solid"/>
                      <a:round/>
                      <a:headEnd type="none" w="med" len="med"/>
                      <a:tailEnd type="none" w="med" len="med"/>
                    </a:lnB>
                    <a:solidFill>
                      <a:srgbClr val="FFFFFF">
                        <a:alpha val="0"/>
                      </a:srgbClr>
                    </a:solidFill>
                  </a:tcPr>
                </a:tc>
                <a:tc>
                  <a:txBody>
                    <a:bodyPr/>
                    <a:lstStyle/>
                    <a:p>
                      <a:pPr algn="ctr" indent="0" marL="0">
                        <a:buNone/>
                      </a:pPr>
                      <a:r>
                        <a:rPr lang="en-US" sz="1150" dirty="0">
                          <a:solidFill>
                            <a:srgbClr val="3A2E22"/>
                          </a:solidFill>
                          <a:latin typeface="Calibri" pitchFamily="34" charset="0"/>
                          <a:ea typeface="Calibri" pitchFamily="34" charset="-122"/>
                          <a:cs typeface="Calibri" pitchFamily="34" charset="-120"/>
                        </a:rPr>
                        <a:t>Éster sintético de laboratorio</a:t>
                      </a:r>
                      <a:endParaRPr lang="en-US" sz="1150" dirty="0">
                        <a:latin typeface="Calibri" charset="0"/>
                        <a:ea typeface="Calibri" charset="0"/>
                        <a:cs typeface="Calibri" charset="0"/>
                      </a:endParaRPr>
                    </a:p>
                  </a:txBody>
                  <a:tcPr marL="109728" marR="91440" marT="36576" marB="36576" anchor="ctr">
                    <a:lnL w="9525" cap="flat" cmpd="sng" algn="ctr">
                      <a:solidFill>
                        <a:srgbClr val="E5DCCC"/>
                      </a:solidFill>
                      <a:prstDash val="solid"/>
                      <a:round/>
                      <a:headEnd type="none" w="med" len="med"/>
                      <a:tailEnd type="none" w="med" len="med"/>
                    </a:lnL>
                    <a:lnR w="9525" cap="flat" cmpd="sng" algn="ctr">
                      <a:solidFill>
                        <a:srgbClr val="E5DCCC"/>
                      </a:solidFill>
                      <a:prstDash val="solid"/>
                      <a:round/>
                      <a:headEnd type="none" w="med" len="med"/>
                      <a:tailEnd type="none" w="med" len="med"/>
                    </a:lnR>
                    <a:lnT w="9525" cap="flat" cmpd="sng" algn="ctr">
                      <a:solidFill>
                        <a:srgbClr val="E5DCCC"/>
                      </a:solidFill>
                      <a:prstDash val="solid"/>
                      <a:round/>
                      <a:headEnd type="none" w="med" len="med"/>
                      <a:tailEnd type="none" w="med" len="med"/>
                    </a:lnT>
                    <a:lnB w="9525" cap="flat" cmpd="sng" algn="ctr">
                      <a:solidFill>
                        <a:srgbClr val="E5DCCC"/>
                      </a:solidFill>
                      <a:prstDash val="solid"/>
                      <a:round/>
                      <a:headEnd type="none" w="med" len="med"/>
                      <a:tailEnd type="none" w="med" len="med"/>
                    </a:lnB>
                    <a:solidFill>
                      <a:srgbClr val="FFFFFF">
                        <a:alpha val="0"/>
                      </a:srgbClr>
                    </a:solidFill>
                  </a:tcPr>
                </a:tc>
              </a:tr>
              <a:tr h="420624">
                <a:tc>
                  <a:txBody>
                    <a:bodyPr/>
                    <a:lstStyle/>
                    <a:p>
                      <a:pPr algn="l" indent="0" marL="0">
                        <a:buNone/>
                      </a:pPr>
                      <a:r>
                        <a:rPr lang="en-US" sz="1150" b="1" dirty="0">
                          <a:solidFill>
                            <a:srgbClr val="3A2E22"/>
                          </a:solidFill>
                          <a:latin typeface="Calibri" pitchFamily="34" charset="0"/>
                          <a:ea typeface="Calibri" pitchFamily="34" charset="-122"/>
                          <a:cs typeface="Calibri" pitchFamily="34" charset="-120"/>
                        </a:rPr>
                        <a:t>Potencial adictivo</a:t>
                      </a:r>
                      <a:endParaRPr lang="en-US" sz="1150" dirty="0">
                        <a:latin typeface="Calibri" charset="0"/>
                        <a:ea typeface="Calibri" charset="0"/>
                        <a:cs typeface="Calibri" charset="0"/>
                      </a:endParaRPr>
                    </a:p>
                  </a:txBody>
                  <a:tcPr marL="109728" marR="91440" marT="36576" marB="36576" anchor="ctr">
                    <a:lnL w="9525" cap="flat" cmpd="sng" algn="ctr">
                      <a:solidFill>
                        <a:srgbClr val="E5DCCC"/>
                      </a:solidFill>
                      <a:prstDash val="solid"/>
                      <a:round/>
                      <a:headEnd type="none" w="med" len="med"/>
                      <a:tailEnd type="none" w="med" len="med"/>
                    </a:lnL>
                    <a:lnR w="9525" cap="flat" cmpd="sng" algn="ctr">
                      <a:solidFill>
                        <a:srgbClr val="E5DCCC"/>
                      </a:solidFill>
                      <a:prstDash val="solid"/>
                      <a:round/>
                      <a:headEnd type="none" w="med" len="med"/>
                      <a:tailEnd type="none" w="med" len="med"/>
                    </a:lnR>
                    <a:lnT w="9525" cap="flat" cmpd="sng" algn="ctr">
                      <a:solidFill>
                        <a:srgbClr val="E5DCCC"/>
                      </a:solidFill>
                      <a:prstDash val="solid"/>
                      <a:round/>
                      <a:headEnd type="none" w="med" len="med"/>
                      <a:tailEnd type="none" w="med" len="med"/>
                    </a:lnT>
                    <a:lnB w="9525" cap="flat" cmpd="sng" algn="ctr">
                      <a:solidFill>
                        <a:srgbClr val="E5DCCC"/>
                      </a:solidFill>
                      <a:prstDash val="solid"/>
                      <a:round/>
                      <a:headEnd type="none" w="med" len="med"/>
                      <a:tailEnd type="none" w="med" len="med"/>
                    </a:lnB>
                    <a:solidFill>
                      <a:srgbClr val="C9A66B">
                        <a:alpha val="8000"/>
                      </a:srgbClr>
                    </a:solidFill>
                  </a:tcPr>
                </a:tc>
                <a:tc>
                  <a:txBody>
                    <a:bodyPr/>
                    <a:lstStyle/>
                    <a:p>
                      <a:pPr algn="ctr" indent="0" marL="0">
                        <a:buNone/>
                      </a:pPr>
                      <a:r>
                        <a:rPr lang="en-US" sz="1150" dirty="0">
                          <a:solidFill>
                            <a:srgbClr val="3A2E22"/>
                          </a:solidFill>
                          <a:latin typeface="Calibri" pitchFamily="34" charset="0"/>
                          <a:ea typeface="Calibri" pitchFamily="34" charset="-122"/>
                          <a:cs typeface="Calibri" pitchFamily="34" charset="-120"/>
                        </a:rPr>
                        <a:t>Alto</a:t>
                      </a:r>
                      <a:endParaRPr lang="en-US" sz="1150" dirty="0">
                        <a:latin typeface="Calibri" charset="0"/>
                        <a:ea typeface="Calibri" charset="0"/>
                        <a:cs typeface="Calibri" charset="0"/>
                      </a:endParaRPr>
                    </a:p>
                  </a:txBody>
                  <a:tcPr marL="109728" marR="91440" marT="36576" marB="36576" anchor="ctr">
                    <a:lnL w="9525" cap="flat" cmpd="sng" algn="ctr">
                      <a:solidFill>
                        <a:srgbClr val="E5DCCC"/>
                      </a:solidFill>
                      <a:prstDash val="solid"/>
                      <a:round/>
                      <a:headEnd type="none" w="med" len="med"/>
                      <a:tailEnd type="none" w="med" len="med"/>
                    </a:lnL>
                    <a:lnR w="9525" cap="flat" cmpd="sng" algn="ctr">
                      <a:solidFill>
                        <a:srgbClr val="E5DCCC"/>
                      </a:solidFill>
                      <a:prstDash val="solid"/>
                      <a:round/>
                      <a:headEnd type="none" w="med" len="med"/>
                      <a:tailEnd type="none" w="med" len="med"/>
                    </a:lnR>
                    <a:lnT w="9525" cap="flat" cmpd="sng" algn="ctr">
                      <a:solidFill>
                        <a:srgbClr val="E5DCCC"/>
                      </a:solidFill>
                      <a:prstDash val="solid"/>
                      <a:round/>
                      <a:headEnd type="none" w="med" len="med"/>
                      <a:tailEnd type="none" w="med" len="med"/>
                    </a:lnT>
                    <a:lnB w="9525" cap="flat" cmpd="sng" algn="ctr">
                      <a:solidFill>
                        <a:srgbClr val="E5DCCC"/>
                      </a:solidFill>
                      <a:prstDash val="solid"/>
                      <a:round/>
                      <a:headEnd type="none" w="med" len="med"/>
                      <a:tailEnd type="none" w="med" len="med"/>
                    </a:lnB>
                    <a:solidFill>
                      <a:srgbClr val="C9A66B">
                        <a:alpha val="8000"/>
                      </a:srgbClr>
                    </a:solidFill>
                  </a:tcPr>
                </a:tc>
                <a:tc>
                  <a:txBody>
                    <a:bodyPr/>
                    <a:lstStyle/>
                    <a:p>
                      <a:pPr algn="ctr" indent="0" marL="0">
                        <a:buNone/>
                      </a:pPr>
                      <a:r>
                        <a:rPr lang="en-US" sz="1150" dirty="0">
                          <a:solidFill>
                            <a:srgbClr val="3A2E22"/>
                          </a:solidFill>
                          <a:latin typeface="Calibri" pitchFamily="34" charset="0"/>
                          <a:ea typeface="Calibri" pitchFamily="34" charset="-122"/>
                          <a:cs typeface="Calibri" pitchFamily="34" charset="-120"/>
                        </a:rPr>
                        <a:t>Mínimo o ausente</a:t>
                      </a:r>
                      <a:endParaRPr lang="en-US" sz="1150" dirty="0">
                        <a:latin typeface="Calibri" charset="0"/>
                        <a:ea typeface="Calibri" charset="0"/>
                        <a:cs typeface="Calibri" charset="0"/>
                      </a:endParaRPr>
                    </a:p>
                  </a:txBody>
                  <a:tcPr marL="109728" marR="91440" marT="36576" marB="36576" anchor="ctr">
                    <a:lnL w="9525" cap="flat" cmpd="sng" algn="ctr">
                      <a:solidFill>
                        <a:srgbClr val="E5DCCC"/>
                      </a:solidFill>
                      <a:prstDash val="solid"/>
                      <a:round/>
                      <a:headEnd type="none" w="med" len="med"/>
                      <a:tailEnd type="none" w="med" len="med"/>
                    </a:lnL>
                    <a:lnR w="9525" cap="flat" cmpd="sng" algn="ctr">
                      <a:solidFill>
                        <a:srgbClr val="E5DCCC"/>
                      </a:solidFill>
                      <a:prstDash val="solid"/>
                      <a:round/>
                      <a:headEnd type="none" w="med" len="med"/>
                      <a:tailEnd type="none" w="med" len="med"/>
                    </a:lnR>
                    <a:lnT w="9525" cap="flat" cmpd="sng" algn="ctr">
                      <a:solidFill>
                        <a:srgbClr val="E5DCCC"/>
                      </a:solidFill>
                      <a:prstDash val="solid"/>
                      <a:round/>
                      <a:headEnd type="none" w="med" len="med"/>
                      <a:tailEnd type="none" w="med" len="med"/>
                    </a:lnT>
                    <a:lnB w="9525" cap="flat" cmpd="sng" algn="ctr">
                      <a:solidFill>
                        <a:srgbClr val="E5DCCC"/>
                      </a:solidFill>
                      <a:prstDash val="solid"/>
                      <a:round/>
                      <a:headEnd type="none" w="med" len="med"/>
                      <a:tailEnd type="none" w="med" len="med"/>
                    </a:lnB>
                    <a:solidFill>
                      <a:srgbClr val="C9A66B">
                        <a:alpha val="8000"/>
                      </a:srgbClr>
                    </a:solidFill>
                  </a:tcPr>
                </a:tc>
              </a:tr>
              <a:tr h="420624">
                <a:tc>
                  <a:txBody>
                    <a:bodyPr/>
                    <a:lstStyle/>
                    <a:p>
                      <a:pPr algn="l" indent="0" marL="0">
                        <a:buNone/>
                      </a:pPr>
                      <a:r>
                        <a:rPr lang="en-US" sz="1150" b="1" dirty="0">
                          <a:solidFill>
                            <a:srgbClr val="3A2E22"/>
                          </a:solidFill>
                          <a:latin typeface="Calibri" pitchFamily="34" charset="0"/>
                          <a:ea typeface="Calibri" pitchFamily="34" charset="-122"/>
                          <a:cs typeface="Calibri" pitchFamily="34" charset="-120"/>
                        </a:rPr>
                        <a:t>Toxicidad sistémica</a:t>
                      </a:r>
                      <a:endParaRPr lang="en-US" sz="1150" dirty="0">
                        <a:latin typeface="Calibri" charset="0"/>
                        <a:ea typeface="Calibri" charset="0"/>
                        <a:cs typeface="Calibri" charset="0"/>
                      </a:endParaRPr>
                    </a:p>
                  </a:txBody>
                  <a:tcPr marL="109728" marR="91440" marT="36576" marB="36576" anchor="ctr">
                    <a:lnL w="9525" cap="flat" cmpd="sng" algn="ctr">
                      <a:solidFill>
                        <a:srgbClr val="E5DCCC"/>
                      </a:solidFill>
                      <a:prstDash val="solid"/>
                      <a:round/>
                      <a:headEnd type="none" w="med" len="med"/>
                      <a:tailEnd type="none" w="med" len="med"/>
                    </a:lnL>
                    <a:lnR w="9525" cap="flat" cmpd="sng" algn="ctr">
                      <a:solidFill>
                        <a:srgbClr val="E5DCCC"/>
                      </a:solidFill>
                      <a:prstDash val="solid"/>
                      <a:round/>
                      <a:headEnd type="none" w="med" len="med"/>
                      <a:tailEnd type="none" w="med" len="med"/>
                    </a:lnR>
                    <a:lnT w="9525" cap="flat" cmpd="sng" algn="ctr">
                      <a:solidFill>
                        <a:srgbClr val="E5DCCC"/>
                      </a:solidFill>
                      <a:prstDash val="solid"/>
                      <a:round/>
                      <a:headEnd type="none" w="med" len="med"/>
                      <a:tailEnd type="none" w="med" len="med"/>
                    </a:lnT>
                    <a:lnB w="9525" cap="flat" cmpd="sng" algn="ctr">
                      <a:solidFill>
                        <a:srgbClr val="E5DCCC"/>
                      </a:solidFill>
                      <a:prstDash val="solid"/>
                      <a:round/>
                      <a:headEnd type="none" w="med" len="med"/>
                      <a:tailEnd type="none" w="med" len="med"/>
                    </a:lnB>
                    <a:solidFill>
                      <a:srgbClr val="FFFFFF">
                        <a:alpha val="0"/>
                      </a:srgbClr>
                    </a:solidFill>
                  </a:tcPr>
                </a:tc>
                <a:tc>
                  <a:txBody>
                    <a:bodyPr/>
                    <a:lstStyle/>
                    <a:p>
                      <a:pPr algn="ctr" indent="0" marL="0">
                        <a:buNone/>
                      </a:pPr>
                      <a:r>
                        <a:rPr lang="en-US" sz="1150" dirty="0">
                          <a:solidFill>
                            <a:srgbClr val="3A2E22"/>
                          </a:solidFill>
                          <a:latin typeface="Calibri" pitchFamily="34" charset="0"/>
                          <a:ea typeface="Calibri" pitchFamily="34" charset="-122"/>
                          <a:cs typeface="Calibri" pitchFamily="34" charset="-120"/>
                        </a:rPr>
                        <a:t>Alta (cardiovascular y SNC)</a:t>
                      </a:r>
                      <a:endParaRPr lang="en-US" sz="1150" dirty="0">
                        <a:latin typeface="Calibri" charset="0"/>
                        <a:ea typeface="Calibri" charset="0"/>
                        <a:cs typeface="Calibri" charset="0"/>
                      </a:endParaRPr>
                    </a:p>
                  </a:txBody>
                  <a:tcPr marL="109728" marR="91440" marT="36576" marB="36576" anchor="ctr">
                    <a:lnL w="9525" cap="flat" cmpd="sng" algn="ctr">
                      <a:solidFill>
                        <a:srgbClr val="E5DCCC"/>
                      </a:solidFill>
                      <a:prstDash val="solid"/>
                      <a:round/>
                      <a:headEnd type="none" w="med" len="med"/>
                      <a:tailEnd type="none" w="med" len="med"/>
                    </a:lnL>
                    <a:lnR w="9525" cap="flat" cmpd="sng" algn="ctr">
                      <a:solidFill>
                        <a:srgbClr val="E5DCCC"/>
                      </a:solidFill>
                      <a:prstDash val="solid"/>
                      <a:round/>
                      <a:headEnd type="none" w="med" len="med"/>
                      <a:tailEnd type="none" w="med" len="med"/>
                    </a:lnR>
                    <a:lnT w="9525" cap="flat" cmpd="sng" algn="ctr">
                      <a:solidFill>
                        <a:srgbClr val="E5DCCC"/>
                      </a:solidFill>
                      <a:prstDash val="solid"/>
                      <a:round/>
                      <a:headEnd type="none" w="med" len="med"/>
                      <a:tailEnd type="none" w="med" len="med"/>
                    </a:lnT>
                    <a:lnB w="9525" cap="flat" cmpd="sng" algn="ctr">
                      <a:solidFill>
                        <a:srgbClr val="E5DCCC"/>
                      </a:solidFill>
                      <a:prstDash val="solid"/>
                      <a:round/>
                      <a:headEnd type="none" w="med" len="med"/>
                      <a:tailEnd type="none" w="med" len="med"/>
                    </a:lnB>
                    <a:solidFill>
                      <a:srgbClr val="FFFFFF">
                        <a:alpha val="0"/>
                      </a:srgbClr>
                    </a:solidFill>
                  </a:tcPr>
                </a:tc>
                <a:tc>
                  <a:txBody>
                    <a:bodyPr/>
                    <a:lstStyle/>
                    <a:p>
                      <a:pPr algn="ctr" indent="0" marL="0">
                        <a:buNone/>
                      </a:pPr>
                      <a:r>
                        <a:rPr lang="en-US" sz="1150" dirty="0">
                          <a:solidFill>
                            <a:srgbClr val="3A2E22"/>
                          </a:solidFill>
                          <a:latin typeface="Calibri" pitchFamily="34" charset="0"/>
                          <a:ea typeface="Calibri" pitchFamily="34" charset="-122"/>
                          <a:cs typeface="Calibri" pitchFamily="34" charset="-120"/>
                        </a:rPr>
                        <a:t>Menor, clínicamente más manejable</a:t>
                      </a:r>
                      <a:endParaRPr lang="en-US" sz="1150" dirty="0">
                        <a:latin typeface="Calibri" charset="0"/>
                        <a:ea typeface="Calibri" charset="0"/>
                        <a:cs typeface="Calibri" charset="0"/>
                      </a:endParaRPr>
                    </a:p>
                  </a:txBody>
                  <a:tcPr marL="109728" marR="91440" marT="36576" marB="36576" anchor="ctr">
                    <a:lnL w="9525" cap="flat" cmpd="sng" algn="ctr">
                      <a:solidFill>
                        <a:srgbClr val="E5DCCC"/>
                      </a:solidFill>
                      <a:prstDash val="solid"/>
                      <a:round/>
                      <a:headEnd type="none" w="med" len="med"/>
                      <a:tailEnd type="none" w="med" len="med"/>
                    </a:lnL>
                    <a:lnR w="9525" cap="flat" cmpd="sng" algn="ctr">
                      <a:solidFill>
                        <a:srgbClr val="E5DCCC"/>
                      </a:solidFill>
                      <a:prstDash val="solid"/>
                      <a:round/>
                      <a:headEnd type="none" w="med" len="med"/>
                      <a:tailEnd type="none" w="med" len="med"/>
                    </a:lnR>
                    <a:lnT w="9525" cap="flat" cmpd="sng" algn="ctr">
                      <a:solidFill>
                        <a:srgbClr val="E5DCCC"/>
                      </a:solidFill>
                      <a:prstDash val="solid"/>
                      <a:round/>
                      <a:headEnd type="none" w="med" len="med"/>
                      <a:tailEnd type="none" w="med" len="med"/>
                    </a:lnT>
                    <a:lnB w="9525" cap="flat" cmpd="sng" algn="ctr">
                      <a:solidFill>
                        <a:srgbClr val="E5DCCC"/>
                      </a:solidFill>
                      <a:prstDash val="solid"/>
                      <a:round/>
                      <a:headEnd type="none" w="med" len="med"/>
                      <a:tailEnd type="none" w="med" len="med"/>
                    </a:lnB>
                    <a:solidFill>
                      <a:srgbClr val="FFFFFF">
                        <a:alpha val="0"/>
                      </a:srgbClr>
                    </a:solidFill>
                  </a:tcPr>
                </a:tc>
              </a:tr>
              <a:tr h="420624">
                <a:tc>
                  <a:txBody>
                    <a:bodyPr/>
                    <a:lstStyle/>
                    <a:p>
                      <a:pPr algn="l" indent="0" marL="0">
                        <a:buNone/>
                      </a:pPr>
                      <a:r>
                        <a:rPr lang="en-US" sz="1150" b="1" dirty="0">
                          <a:solidFill>
                            <a:srgbClr val="3A2E22"/>
                          </a:solidFill>
                          <a:latin typeface="Calibri" pitchFamily="34" charset="0"/>
                          <a:ea typeface="Calibri" pitchFamily="34" charset="-122"/>
                          <a:cs typeface="Calibri" pitchFamily="34" charset="-120"/>
                        </a:rPr>
                        <a:t>Duración de acción</a:t>
                      </a:r>
                      <a:endParaRPr lang="en-US" sz="1150" dirty="0">
                        <a:latin typeface="Calibri" charset="0"/>
                        <a:ea typeface="Calibri" charset="0"/>
                        <a:cs typeface="Calibri" charset="0"/>
                      </a:endParaRPr>
                    </a:p>
                  </a:txBody>
                  <a:tcPr marL="109728" marR="91440" marT="36576" marB="36576" anchor="ctr">
                    <a:lnL w="9525" cap="flat" cmpd="sng" algn="ctr">
                      <a:solidFill>
                        <a:srgbClr val="E5DCCC"/>
                      </a:solidFill>
                      <a:prstDash val="solid"/>
                      <a:round/>
                      <a:headEnd type="none" w="med" len="med"/>
                      <a:tailEnd type="none" w="med" len="med"/>
                    </a:lnL>
                    <a:lnR w="9525" cap="flat" cmpd="sng" algn="ctr">
                      <a:solidFill>
                        <a:srgbClr val="E5DCCC"/>
                      </a:solidFill>
                      <a:prstDash val="solid"/>
                      <a:round/>
                      <a:headEnd type="none" w="med" len="med"/>
                      <a:tailEnd type="none" w="med" len="med"/>
                    </a:lnR>
                    <a:lnT w="9525" cap="flat" cmpd="sng" algn="ctr">
                      <a:solidFill>
                        <a:srgbClr val="E5DCCC"/>
                      </a:solidFill>
                      <a:prstDash val="solid"/>
                      <a:round/>
                      <a:headEnd type="none" w="med" len="med"/>
                      <a:tailEnd type="none" w="med" len="med"/>
                    </a:lnT>
                    <a:lnB w="9525" cap="flat" cmpd="sng" algn="ctr">
                      <a:solidFill>
                        <a:srgbClr val="E5DCCC"/>
                      </a:solidFill>
                      <a:prstDash val="solid"/>
                      <a:round/>
                      <a:headEnd type="none" w="med" len="med"/>
                      <a:tailEnd type="none" w="med" len="med"/>
                    </a:lnB>
                    <a:solidFill>
                      <a:srgbClr val="C9A66B">
                        <a:alpha val="8000"/>
                      </a:srgbClr>
                    </a:solidFill>
                  </a:tcPr>
                </a:tc>
                <a:tc>
                  <a:txBody>
                    <a:bodyPr/>
                    <a:lstStyle/>
                    <a:p>
                      <a:pPr algn="ctr" indent="0" marL="0">
                        <a:buNone/>
                      </a:pPr>
                      <a:r>
                        <a:rPr lang="en-US" sz="1150" dirty="0">
                          <a:solidFill>
                            <a:srgbClr val="3A2E22"/>
                          </a:solidFill>
                          <a:latin typeface="Calibri" pitchFamily="34" charset="0"/>
                          <a:ea typeface="Calibri" pitchFamily="34" charset="-122"/>
                          <a:cs typeface="Calibri" pitchFamily="34" charset="-120"/>
                        </a:rPr>
                        <a:t>Variable, moderada</a:t>
                      </a:r>
                      <a:endParaRPr lang="en-US" sz="1150" dirty="0">
                        <a:latin typeface="Calibri" charset="0"/>
                        <a:ea typeface="Calibri" charset="0"/>
                        <a:cs typeface="Calibri" charset="0"/>
                      </a:endParaRPr>
                    </a:p>
                  </a:txBody>
                  <a:tcPr marL="109728" marR="91440" marT="36576" marB="36576" anchor="ctr">
                    <a:lnL w="9525" cap="flat" cmpd="sng" algn="ctr">
                      <a:solidFill>
                        <a:srgbClr val="E5DCCC"/>
                      </a:solidFill>
                      <a:prstDash val="solid"/>
                      <a:round/>
                      <a:headEnd type="none" w="med" len="med"/>
                      <a:tailEnd type="none" w="med" len="med"/>
                    </a:lnL>
                    <a:lnR w="9525" cap="flat" cmpd="sng" algn="ctr">
                      <a:solidFill>
                        <a:srgbClr val="E5DCCC"/>
                      </a:solidFill>
                      <a:prstDash val="solid"/>
                      <a:round/>
                      <a:headEnd type="none" w="med" len="med"/>
                      <a:tailEnd type="none" w="med" len="med"/>
                    </a:lnR>
                    <a:lnT w="9525" cap="flat" cmpd="sng" algn="ctr">
                      <a:solidFill>
                        <a:srgbClr val="E5DCCC"/>
                      </a:solidFill>
                      <a:prstDash val="solid"/>
                      <a:round/>
                      <a:headEnd type="none" w="med" len="med"/>
                      <a:tailEnd type="none" w="med" len="med"/>
                    </a:lnT>
                    <a:lnB w="9525" cap="flat" cmpd="sng" algn="ctr">
                      <a:solidFill>
                        <a:srgbClr val="E5DCCC"/>
                      </a:solidFill>
                      <a:prstDash val="solid"/>
                      <a:round/>
                      <a:headEnd type="none" w="med" len="med"/>
                      <a:tailEnd type="none" w="med" len="med"/>
                    </a:lnB>
                    <a:solidFill>
                      <a:srgbClr val="C9A66B">
                        <a:alpha val="8000"/>
                      </a:srgbClr>
                    </a:solidFill>
                  </a:tcPr>
                </a:tc>
                <a:tc>
                  <a:txBody>
                    <a:bodyPr/>
                    <a:lstStyle/>
                    <a:p>
                      <a:pPr algn="ctr" indent="0" marL="0">
                        <a:buNone/>
                      </a:pPr>
                      <a:r>
                        <a:rPr lang="en-US" sz="1150" dirty="0">
                          <a:solidFill>
                            <a:srgbClr val="3A2E22"/>
                          </a:solidFill>
                          <a:latin typeface="Calibri" pitchFamily="34" charset="0"/>
                          <a:ea typeface="Calibri" pitchFamily="34" charset="-122"/>
                          <a:cs typeface="Calibri" pitchFamily="34" charset="-120"/>
                        </a:rPr>
                        <a:t>Corta a intermedia</a:t>
                      </a:r>
                      <a:endParaRPr lang="en-US" sz="1150" dirty="0">
                        <a:latin typeface="Calibri" charset="0"/>
                        <a:ea typeface="Calibri" charset="0"/>
                        <a:cs typeface="Calibri" charset="0"/>
                      </a:endParaRPr>
                    </a:p>
                  </a:txBody>
                  <a:tcPr marL="109728" marR="91440" marT="36576" marB="36576" anchor="ctr">
                    <a:lnL w="9525" cap="flat" cmpd="sng" algn="ctr">
                      <a:solidFill>
                        <a:srgbClr val="E5DCCC"/>
                      </a:solidFill>
                      <a:prstDash val="solid"/>
                      <a:round/>
                      <a:headEnd type="none" w="med" len="med"/>
                      <a:tailEnd type="none" w="med" len="med"/>
                    </a:lnL>
                    <a:lnR w="9525" cap="flat" cmpd="sng" algn="ctr">
                      <a:solidFill>
                        <a:srgbClr val="E5DCCC"/>
                      </a:solidFill>
                      <a:prstDash val="solid"/>
                      <a:round/>
                      <a:headEnd type="none" w="med" len="med"/>
                      <a:tailEnd type="none" w="med" len="med"/>
                    </a:lnR>
                    <a:lnT w="9525" cap="flat" cmpd="sng" algn="ctr">
                      <a:solidFill>
                        <a:srgbClr val="E5DCCC"/>
                      </a:solidFill>
                      <a:prstDash val="solid"/>
                      <a:round/>
                      <a:headEnd type="none" w="med" len="med"/>
                      <a:tailEnd type="none" w="med" len="med"/>
                    </a:lnT>
                    <a:lnB w="9525" cap="flat" cmpd="sng" algn="ctr">
                      <a:solidFill>
                        <a:srgbClr val="E5DCCC"/>
                      </a:solidFill>
                      <a:prstDash val="solid"/>
                      <a:round/>
                      <a:headEnd type="none" w="med" len="med"/>
                      <a:tailEnd type="none" w="med" len="med"/>
                    </a:lnB>
                    <a:solidFill>
                      <a:srgbClr val="C9A66B">
                        <a:alpha val="8000"/>
                      </a:srgbClr>
                    </a:solidFill>
                  </a:tcPr>
                </a:tc>
              </a:tr>
              <a:tr h="420624">
                <a:tc>
                  <a:txBody>
                    <a:bodyPr/>
                    <a:lstStyle/>
                    <a:p>
                      <a:pPr algn="l" indent="0" marL="0">
                        <a:buNone/>
                      </a:pPr>
                      <a:r>
                        <a:rPr lang="en-US" sz="1150" b="1" dirty="0">
                          <a:solidFill>
                            <a:srgbClr val="3A2E22"/>
                          </a:solidFill>
                          <a:latin typeface="Calibri" pitchFamily="34" charset="0"/>
                          <a:ea typeface="Calibri" pitchFamily="34" charset="-122"/>
                          <a:cs typeface="Calibri" pitchFamily="34" charset="-120"/>
                        </a:rPr>
                        <a:t>Disponibilidad</a:t>
                      </a:r>
                      <a:endParaRPr lang="en-US" sz="1150" dirty="0">
                        <a:latin typeface="Calibri" charset="0"/>
                        <a:ea typeface="Calibri" charset="0"/>
                        <a:cs typeface="Calibri" charset="0"/>
                      </a:endParaRPr>
                    </a:p>
                  </a:txBody>
                  <a:tcPr marL="109728" marR="91440" marT="36576" marB="36576" anchor="ctr">
                    <a:lnL w="9525" cap="flat" cmpd="sng" algn="ctr">
                      <a:solidFill>
                        <a:srgbClr val="E5DCCC"/>
                      </a:solidFill>
                      <a:prstDash val="solid"/>
                      <a:round/>
                      <a:headEnd type="none" w="med" len="med"/>
                      <a:tailEnd type="none" w="med" len="med"/>
                    </a:lnL>
                    <a:lnR w="9525" cap="flat" cmpd="sng" algn="ctr">
                      <a:solidFill>
                        <a:srgbClr val="E5DCCC"/>
                      </a:solidFill>
                      <a:prstDash val="solid"/>
                      <a:round/>
                      <a:headEnd type="none" w="med" len="med"/>
                      <a:tailEnd type="none" w="med" len="med"/>
                    </a:lnR>
                    <a:lnT w="9525" cap="flat" cmpd="sng" algn="ctr">
                      <a:solidFill>
                        <a:srgbClr val="E5DCCC"/>
                      </a:solidFill>
                      <a:prstDash val="solid"/>
                      <a:round/>
                      <a:headEnd type="none" w="med" len="med"/>
                      <a:tailEnd type="none" w="med" len="med"/>
                    </a:lnT>
                    <a:lnB w="9525" cap="flat" cmpd="sng" algn="ctr">
                      <a:solidFill>
                        <a:srgbClr val="E5DCCC"/>
                      </a:solidFill>
                      <a:prstDash val="solid"/>
                      <a:round/>
                      <a:headEnd type="none" w="med" len="med"/>
                      <a:tailEnd type="none" w="med" len="med"/>
                    </a:lnB>
                    <a:solidFill>
                      <a:srgbClr val="FFFFFF">
                        <a:alpha val="0"/>
                      </a:srgbClr>
                    </a:solidFill>
                  </a:tcPr>
                </a:tc>
                <a:tc>
                  <a:txBody>
                    <a:bodyPr/>
                    <a:lstStyle/>
                    <a:p>
                      <a:pPr algn="ctr" indent="0" marL="0">
                        <a:buNone/>
                      </a:pPr>
                      <a:r>
                        <a:rPr lang="en-US" sz="1150" dirty="0">
                          <a:solidFill>
                            <a:srgbClr val="3A2E22"/>
                          </a:solidFill>
                          <a:latin typeface="Calibri" pitchFamily="34" charset="0"/>
                          <a:ea typeface="Calibri" pitchFamily="34" charset="-122"/>
                          <a:cs typeface="Calibri" pitchFamily="34" charset="-120"/>
                        </a:rPr>
                        <a:t>Limitada, costosa</a:t>
                      </a:r>
                      <a:endParaRPr lang="en-US" sz="1150" dirty="0">
                        <a:latin typeface="Calibri" charset="0"/>
                        <a:ea typeface="Calibri" charset="0"/>
                        <a:cs typeface="Calibri" charset="0"/>
                      </a:endParaRPr>
                    </a:p>
                  </a:txBody>
                  <a:tcPr marL="109728" marR="91440" marT="36576" marB="36576" anchor="ctr">
                    <a:lnL w="9525" cap="flat" cmpd="sng" algn="ctr">
                      <a:solidFill>
                        <a:srgbClr val="E5DCCC"/>
                      </a:solidFill>
                      <a:prstDash val="solid"/>
                      <a:round/>
                      <a:headEnd type="none" w="med" len="med"/>
                      <a:tailEnd type="none" w="med" len="med"/>
                    </a:lnL>
                    <a:lnR w="9525" cap="flat" cmpd="sng" algn="ctr">
                      <a:solidFill>
                        <a:srgbClr val="E5DCCC"/>
                      </a:solidFill>
                      <a:prstDash val="solid"/>
                      <a:round/>
                      <a:headEnd type="none" w="med" len="med"/>
                      <a:tailEnd type="none" w="med" len="med"/>
                    </a:lnR>
                    <a:lnT w="9525" cap="flat" cmpd="sng" algn="ctr">
                      <a:solidFill>
                        <a:srgbClr val="E5DCCC"/>
                      </a:solidFill>
                      <a:prstDash val="solid"/>
                      <a:round/>
                      <a:headEnd type="none" w="med" len="med"/>
                      <a:tailEnd type="none" w="med" len="med"/>
                    </a:lnT>
                    <a:lnB w="9525" cap="flat" cmpd="sng" algn="ctr">
                      <a:solidFill>
                        <a:srgbClr val="E5DCCC"/>
                      </a:solidFill>
                      <a:prstDash val="solid"/>
                      <a:round/>
                      <a:headEnd type="none" w="med" len="med"/>
                      <a:tailEnd type="none" w="med" len="med"/>
                    </a:lnB>
                    <a:solidFill>
                      <a:srgbClr val="FFFFFF">
                        <a:alpha val="0"/>
                      </a:srgbClr>
                    </a:solidFill>
                  </a:tcPr>
                </a:tc>
                <a:tc>
                  <a:txBody>
                    <a:bodyPr/>
                    <a:lstStyle/>
                    <a:p>
                      <a:pPr algn="ctr" indent="0" marL="0">
                        <a:buNone/>
                      </a:pPr>
                      <a:r>
                        <a:rPr lang="en-US" sz="1150" dirty="0">
                          <a:solidFill>
                            <a:srgbClr val="3A2E22"/>
                          </a:solidFill>
                          <a:latin typeface="Calibri" pitchFamily="34" charset="0"/>
                          <a:ea typeface="Calibri" pitchFamily="34" charset="-122"/>
                          <a:cs typeface="Calibri" pitchFamily="34" charset="-120"/>
                        </a:rPr>
                        <a:t>Sintetizable a gran escala</a:t>
                      </a:r>
                      <a:endParaRPr lang="en-US" sz="1150" dirty="0">
                        <a:latin typeface="Calibri" charset="0"/>
                        <a:ea typeface="Calibri" charset="0"/>
                        <a:cs typeface="Calibri" charset="0"/>
                      </a:endParaRPr>
                    </a:p>
                  </a:txBody>
                  <a:tcPr marL="109728" marR="91440" marT="36576" marB="36576" anchor="ctr">
                    <a:lnL w="9525" cap="flat" cmpd="sng" algn="ctr">
                      <a:solidFill>
                        <a:srgbClr val="E5DCCC"/>
                      </a:solidFill>
                      <a:prstDash val="solid"/>
                      <a:round/>
                      <a:headEnd type="none" w="med" len="med"/>
                      <a:tailEnd type="none" w="med" len="med"/>
                    </a:lnL>
                    <a:lnR w="9525" cap="flat" cmpd="sng" algn="ctr">
                      <a:solidFill>
                        <a:srgbClr val="E5DCCC"/>
                      </a:solidFill>
                      <a:prstDash val="solid"/>
                      <a:round/>
                      <a:headEnd type="none" w="med" len="med"/>
                      <a:tailEnd type="none" w="med" len="med"/>
                    </a:lnR>
                    <a:lnT w="9525" cap="flat" cmpd="sng" algn="ctr">
                      <a:solidFill>
                        <a:srgbClr val="E5DCCC"/>
                      </a:solidFill>
                      <a:prstDash val="solid"/>
                      <a:round/>
                      <a:headEnd type="none" w="med" len="med"/>
                      <a:tailEnd type="none" w="med" len="med"/>
                    </a:lnT>
                    <a:lnB w="9525" cap="flat" cmpd="sng" algn="ctr">
                      <a:solidFill>
                        <a:srgbClr val="E5DCCC"/>
                      </a:solidFill>
                      <a:prstDash val="solid"/>
                      <a:round/>
                      <a:headEnd type="none" w="med" len="med"/>
                      <a:tailEnd type="none" w="med" len="med"/>
                    </a:lnB>
                    <a:solidFill>
                      <a:srgbClr val="FFFFFF">
                        <a:alpha val="0"/>
                      </a:srgbClr>
                    </a:solidFill>
                  </a:tcPr>
                </a:tc>
              </a:tr>
            </a:tbl>
          </a:graphicData>
        </a:graphic>
      </p:graphicFrame>
      <p:sp>
        <p:nvSpPr>
          <p:cNvPr id="6" name="Text 3"/>
          <p:cNvSpPr/>
          <p:nvPr/>
        </p:nvSpPr>
        <p:spPr>
          <a:xfrm>
            <a:off x="548640" y="5248656"/>
            <a:ext cx="11064240" cy="777240"/>
          </a:xfrm>
          <a:prstGeom prst="rect">
            <a:avLst/>
          </a:prstGeom>
          <a:noFill/>
          <a:ln/>
        </p:spPr>
        <p:txBody>
          <a:bodyPr wrap="square" lIns="0" tIns="0" rIns="0" bIns="0" rtlCol="0" anchor="ctr"/>
          <a:lstStyle/>
          <a:p>
            <a:pPr indent="0" marL="0">
              <a:lnSpc>
                <a:spcPct val="122000"/>
              </a:lnSpc>
              <a:buNone/>
            </a:pPr>
            <a:r>
              <a:rPr lang="en-US" sz="1150" i="1" dirty="0">
                <a:solidFill>
                  <a:srgbClr val="7A6A57"/>
                </a:solidFill>
                <a:latin typeface="Calibri" pitchFamily="34" charset="0"/>
                <a:ea typeface="Calibri" pitchFamily="34" charset="-122"/>
                <a:cs typeface="Calibri" pitchFamily="34" charset="-120"/>
              </a:rPr>
              <a:t>La procaína inaugura la familia de los anestésicos locales tipo éster y allana el camino para agentes posteriores como la lidocaína (Nils Löfgren, 1943), el primer anestésico local tipo amida, con mejor perfil alergénico y mayor estabilidad.</a:t>
            </a:r>
            <a:endParaRPr lang="en-US" sz="1150" dirty="0"/>
          </a:p>
        </p:txBody>
      </p:sp>
      <p:sp>
        <p:nvSpPr>
          <p:cNvPr id="7" name="Text 4"/>
          <p:cNvSpPr/>
          <p:nvPr/>
        </p:nvSpPr>
        <p:spPr>
          <a:xfrm>
            <a:off x="548640" y="6473952"/>
            <a:ext cx="6400800" cy="274320"/>
          </a:xfrm>
          <a:prstGeom prst="rect">
            <a:avLst/>
          </a:prstGeom>
          <a:noFill/>
          <a:ln/>
        </p:spPr>
        <p:txBody>
          <a:bodyPr wrap="square" lIns="0" tIns="0" rIns="0" bIns="0" rtlCol="0" anchor="ctr"/>
          <a:lstStyle/>
          <a:p>
            <a:pPr indent="0" marL="0">
              <a:buNone/>
            </a:pPr>
            <a:r>
              <a:rPr lang="en-US" sz="850" spc="100" kern="0" dirty="0">
                <a:solidFill>
                  <a:srgbClr val="7A6A57"/>
                </a:solidFill>
                <a:latin typeface="Calibri" pitchFamily="34" charset="0"/>
                <a:ea typeface="Calibri" pitchFamily="34" charset="-122"/>
                <a:cs typeface="Calibri" pitchFamily="34" charset="-120"/>
              </a:rPr>
              <a:t>CAPÍTULO II  ·  HISTORIA DE LA ANESTESIA</a:t>
            </a:r>
            <a:endParaRPr lang="en-US" sz="850" dirty="0"/>
          </a:p>
        </p:txBody>
      </p:sp>
      <p:sp>
        <p:nvSpPr>
          <p:cNvPr id="8" name="Text 5"/>
          <p:cNvSpPr/>
          <p:nvPr/>
        </p:nvSpPr>
        <p:spPr>
          <a:xfrm>
            <a:off x="10728655" y="6473952"/>
            <a:ext cx="914400" cy="274320"/>
          </a:xfrm>
          <a:prstGeom prst="rect">
            <a:avLst/>
          </a:prstGeom>
          <a:noFill/>
          <a:ln/>
        </p:spPr>
        <p:txBody>
          <a:bodyPr wrap="square" lIns="0" tIns="0" rIns="0" bIns="0" rtlCol="0" anchor="ctr"/>
          <a:lstStyle/>
          <a:p>
            <a:pPr algn="r" indent="0" marL="0">
              <a:buNone/>
            </a:pPr>
            <a:r>
              <a:rPr lang="en-US" sz="850" dirty="0">
                <a:solidFill>
                  <a:srgbClr val="7A6A57"/>
                </a:solidFill>
                <a:latin typeface="Calibri" pitchFamily="34" charset="0"/>
                <a:ea typeface="Calibri" pitchFamily="34" charset="-122"/>
                <a:cs typeface="Calibri" pitchFamily="34" charset="-120"/>
              </a:rPr>
              <a:t>17</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lIns="0" tIns="0" rIns="0" bIns="0" rtlCol="0" anchor="ctr"/>
          <a:lstStyle/>
          <a:p>
            <a:pPr indent="0" marL="0">
              <a:buNone/>
            </a:pPr>
            <a:r>
              <a:rPr lang="en-US" sz="1200" b="1" spc="200" kern="0" dirty="0">
                <a:solidFill>
                  <a:srgbClr val="8B5E3C"/>
                </a:solidFill>
                <a:latin typeface="Calibri" pitchFamily="34" charset="0"/>
                <a:ea typeface="Calibri" pitchFamily="34" charset="-122"/>
                <a:cs typeface="Calibri" pitchFamily="34" charset="-120"/>
              </a:rPr>
              <a:t>SIGNOS CLÍNICOS DE PROFUNDIDAD ANESTÉSICA</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t"/>
          <a:lstStyle/>
          <a:p>
            <a:pPr indent="0" marL="0">
              <a:buNone/>
            </a:pPr>
            <a:r>
              <a:rPr lang="en-US" sz="2900" b="1" dirty="0">
                <a:solidFill>
                  <a:srgbClr val="5C3A21"/>
                </a:solidFill>
                <a:latin typeface="Cambria" pitchFamily="34" charset="0"/>
                <a:ea typeface="Cambria" pitchFamily="34" charset="-122"/>
                <a:cs typeface="Cambria" pitchFamily="34" charset="-120"/>
              </a:rPr>
              <a:t>Arthur Guedel y las etapas de la anestesia con éter</a:t>
            </a:r>
            <a:endParaRPr lang="en-US" sz="2900" dirty="0"/>
          </a:p>
        </p:txBody>
      </p:sp>
      <p:sp>
        <p:nvSpPr>
          <p:cNvPr id="4" name="Text 2"/>
          <p:cNvSpPr/>
          <p:nvPr/>
        </p:nvSpPr>
        <p:spPr>
          <a:xfrm>
            <a:off x="548640" y="1691640"/>
            <a:ext cx="11064240" cy="777240"/>
          </a:xfrm>
          <a:prstGeom prst="rect">
            <a:avLst/>
          </a:prstGeom>
          <a:noFill/>
          <a:ln/>
        </p:spPr>
        <p:txBody>
          <a:bodyPr wrap="square" lIns="0" tIns="0" rIns="0" bIns="0" rtlCol="0" anchor="ctr"/>
          <a:lstStyle/>
          <a:p>
            <a:pPr indent="0" marL="0">
              <a:lnSpc>
                <a:spcPct val="122000"/>
              </a:lnSpc>
              <a:buNone/>
            </a:pPr>
            <a:r>
              <a:rPr lang="en-US" sz="1300" dirty="0">
                <a:solidFill>
                  <a:srgbClr val="3A2E22"/>
                </a:solidFill>
                <a:latin typeface="Calibri" pitchFamily="34" charset="0"/>
                <a:ea typeface="Calibri" pitchFamily="34" charset="-122"/>
                <a:cs typeface="Calibri" pitchFamily="34" charset="-120"/>
              </a:rPr>
              <a:t>En 1937, el anestesiólogo estadounidense Arthur Guedel (1883–1956) sistematizó cuatro etapas clínicas observables durante la inducción con éter, basadas en el patrón respiratorio, los reflejos y el tamaño pupilar — un marco conceptual que sigue enseñándose hoy.</a:t>
            </a:r>
            <a:endParaRPr lang="en-US" sz="1300" dirty="0"/>
          </a:p>
        </p:txBody>
      </p:sp>
      <p:sp>
        <p:nvSpPr>
          <p:cNvPr id="5" name="Shape 3"/>
          <p:cNvSpPr/>
          <p:nvPr/>
        </p:nvSpPr>
        <p:spPr>
          <a:xfrm>
            <a:off x="548640" y="2606040"/>
            <a:ext cx="2697480" cy="2971800"/>
          </a:xfrm>
          <a:prstGeom prst="roundRect">
            <a:avLst>
              <a:gd name="adj" fmla="val 2712"/>
            </a:avLst>
          </a:prstGeom>
          <a:solidFill>
            <a:srgbClr val="C9A66B"/>
          </a:solidFill>
          <a:ln/>
        </p:spPr>
      </p:sp>
      <p:sp>
        <p:nvSpPr>
          <p:cNvPr id="6" name="Text 4"/>
          <p:cNvSpPr/>
          <p:nvPr/>
        </p:nvSpPr>
        <p:spPr>
          <a:xfrm>
            <a:off x="731520" y="2724912"/>
            <a:ext cx="233172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I</a:t>
            </a:r>
            <a:endParaRPr lang="en-US" sz="3200" dirty="0"/>
          </a:p>
        </p:txBody>
      </p:sp>
      <p:sp>
        <p:nvSpPr>
          <p:cNvPr id="7" name="Text 5"/>
          <p:cNvSpPr/>
          <p:nvPr/>
        </p:nvSpPr>
        <p:spPr>
          <a:xfrm>
            <a:off x="731520" y="3319272"/>
            <a:ext cx="2331720" cy="594360"/>
          </a:xfrm>
          <a:prstGeom prst="rect">
            <a:avLst/>
          </a:prstGeom>
          <a:noFill/>
          <a:ln/>
        </p:spPr>
        <p:txBody>
          <a:bodyPr wrap="square" lIns="0" tIns="0" rIns="0" bIns="0" rtlCol="0" anchor="ctr"/>
          <a:lstStyle/>
          <a:p>
            <a:pPr indent="0" marL="0">
              <a:lnSpc>
                <a:spcPct val="110000"/>
              </a:lnSpc>
              <a:buNone/>
            </a:pPr>
            <a:r>
              <a:rPr lang="en-US" sz="1450" b="1" dirty="0">
                <a:solidFill>
                  <a:srgbClr val="FFFFFF"/>
                </a:solidFill>
                <a:latin typeface="Cambria" pitchFamily="34" charset="0"/>
                <a:ea typeface="Cambria" pitchFamily="34" charset="-122"/>
                <a:cs typeface="Cambria" pitchFamily="34" charset="-120"/>
              </a:rPr>
              <a:t>Analgesia</a:t>
            </a:r>
            <a:endParaRPr lang="en-US" sz="1450" dirty="0"/>
          </a:p>
        </p:txBody>
      </p:sp>
      <p:sp>
        <p:nvSpPr>
          <p:cNvPr id="8" name="Text 6"/>
          <p:cNvSpPr/>
          <p:nvPr/>
        </p:nvSpPr>
        <p:spPr>
          <a:xfrm>
            <a:off x="731520" y="3913632"/>
            <a:ext cx="2331720" cy="1554480"/>
          </a:xfrm>
          <a:prstGeom prst="rect">
            <a:avLst/>
          </a:prstGeom>
          <a:noFill/>
          <a:ln/>
        </p:spPr>
        <p:txBody>
          <a:bodyPr wrap="square" lIns="0" tIns="0" rIns="0" bIns="0" rtlCol="0" anchor="t"/>
          <a:lstStyle/>
          <a:p>
            <a:pPr indent="0" marL="0">
              <a:lnSpc>
                <a:spcPct val="120000"/>
              </a:lnSpc>
              <a:buNone/>
            </a:pPr>
            <a:r>
              <a:rPr lang="en-US" sz="1050" dirty="0">
                <a:solidFill>
                  <a:srgbClr val="FFFFFF"/>
                </a:solidFill>
                <a:latin typeface="Calibri" pitchFamily="34" charset="0"/>
                <a:ea typeface="Calibri" pitchFamily="34" charset="-122"/>
                <a:cs typeface="Calibri" pitchFamily="34" charset="-120"/>
              </a:rPr>
              <a:t>Inducción inicial. El paciente conserva la consciencia y puede responder, con analgesia progresiva.</a:t>
            </a:r>
            <a:endParaRPr lang="en-US" sz="1050" dirty="0"/>
          </a:p>
        </p:txBody>
      </p:sp>
      <p:sp>
        <p:nvSpPr>
          <p:cNvPr id="9" name="Text 7"/>
          <p:cNvSpPr/>
          <p:nvPr/>
        </p:nvSpPr>
        <p:spPr>
          <a:xfrm>
            <a:off x="3200400" y="4023360"/>
            <a:ext cx="274320" cy="457200"/>
          </a:xfrm>
          <a:prstGeom prst="rect">
            <a:avLst/>
          </a:prstGeom>
          <a:noFill/>
          <a:ln/>
        </p:spPr>
        <p:txBody>
          <a:bodyPr wrap="square" lIns="0" tIns="0" rIns="0" bIns="0" rtlCol="0" anchor="ctr"/>
          <a:lstStyle/>
          <a:p>
            <a:pPr algn="ctr" indent="0" marL="0">
              <a:buNone/>
            </a:pPr>
            <a:r>
              <a:rPr lang="en-US" sz="2000" b="1" dirty="0">
                <a:solidFill>
                  <a:srgbClr val="7A6A57"/>
                </a:solidFill>
                <a:latin typeface="Calibri" pitchFamily="34" charset="0"/>
                <a:ea typeface="Calibri" pitchFamily="34" charset="-122"/>
                <a:cs typeface="Calibri" pitchFamily="34" charset="-120"/>
              </a:rPr>
              <a:t>→</a:t>
            </a:r>
            <a:endParaRPr lang="en-US" sz="2000" dirty="0"/>
          </a:p>
        </p:txBody>
      </p:sp>
      <p:sp>
        <p:nvSpPr>
          <p:cNvPr id="10" name="Shape 8"/>
          <p:cNvSpPr/>
          <p:nvPr/>
        </p:nvSpPr>
        <p:spPr>
          <a:xfrm>
            <a:off x="3383280" y="2606040"/>
            <a:ext cx="2697480" cy="2971800"/>
          </a:xfrm>
          <a:prstGeom prst="roundRect">
            <a:avLst>
              <a:gd name="adj" fmla="val 2712"/>
            </a:avLst>
          </a:prstGeom>
          <a:solidFill>
            <a:srgbClr val="8B5E3C"/>
          </a:solidFill>
          <a:ln/>
        </p:spPr>
      </p:sp>
      <p:sp>
        <p:nvSpPr>
          <p:cNvPr id="11" name="Text 9"/>
          <p:cNvSpPr/>
          <p:nvPr/>
        </p:nvSpPr>
        <p:spPr>
          <a:xfrm>
            <a:off x="3566160" y="2724912"/>
            <a:ext cx="233172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II</a:t>
            </a:r>
            <a:endParaRPr lang="en-US" sz="3200" dirty="0"/>
          </a:p>
        </p:txBody>
      </p:sp>
      <p:sp>
        <p:nvSpPr>
          <p:cNvPr id="12" name="Text 10"/>
          <p:cNvSpPr/>
          <p:nvPr/>
        </p:nvSpPr>
        <p:spPr>
          <a:xfrm>
            <a:off x="3566160" y="3319272"/>
            <a:ext cx="2331720" cy="594360"/>
          </a:xfrm>
          <a:prstGeom prst="rect">
            <a:avLst/>
          </a:prstGeom>
          <a:noFill/>
          <a:ln/>
        </p:spPr>
        <p:txBody>
          <a:bodyPr wrap="square" lIns="0" tIns="0" rIns="0" bIns="0" rtlCol="0" anchor="ctr"/>
          <a:lstStyle/>
          <a:p>
            <a:pPr indent="0" marL="0">
              <a:lnSpc>
                <a:spcPct val="110000"/>
              </a:lnSpc>
              <a:buNone/>
            </a:pPr>
            <a:r>
              <a:rPr lang="en-US" sz="1450" b="1" dirty="0">
                <a:solidFill>
                  <a:srgbClr val="FFFFFF"/>
                </a:solidFill>
                <a:latin typeface="Cambria" pitchFamily="34" charset="0"/>
                <a:ea typeface="Cambria" pitchFamily="34" charset="-122"/>
                <a:cs typeface="Cambria" pitchFamily="34" charset="-120"/>
              </a:rPr>
              <a:t>Excitación / delirio</a:t>
            </a:r>
            <a:endParaRPr lang="en-US" sz="1450" dirty="0"/>
          </a:p>
        </p:txBody>
      </p:sp>
      <p:sp>
        <p:nvSpPr>
          <p:cNvPr id="13" name="Text 11"/>
          <p:cNvSpPr/>
          <p:nvPr/>
        </p:nvSpPr>
        <p:spPr>
          <a:xfrm>
            <a:off x="3566160" y="3913632"/>
            <a:ext cx="2331720" cy="1554480"/>
          </a:xfrm>
          <a:prstGeom prst="rect">
            <a:avLst/>
          </a:prstGeom>
          <a:noFill/>
          <a:ln/>
        </p:spPr>
        <p:txBody>
          <a:bodyPr wrap="square" lIns="0" tIns="0" rIns="0" bIns="0" rtlCol="0" anchor="t"/>
          <a:lstStyle/>
          <a:p>
            <a:pPr indent="0" marL="0">
              <a:lnSpc>
                <a:spcPct val="120000"/>
              </a:lnSpc>
              <a:buNone/>
            </a:pPr>
            <a:r>
              <a:rPr lang="en-US" sz="1050" dirty="0">
                <a:solidFill>
                  <a:srgbClr val="FFFFFF"/>
                </a:solidFill>
                <a:latin typeface="Calibri" pitchFamily="34" charset="0"/>
                <a:ea typeface="Calibri" pitchFamily="34" charset="-122"/>
                <a:cs typeface="Calibri" pitchFamily="34" charset="-120"/>
              </a:rPr>
              <a:t>Pérdida de la consciencia. Riesgo elevado de laringoespasmo, movimientos involuntarios e irregularidad respiratoria.</a:t>
            </a:r>
            <a:endParaRPr lang="en-US" sz="1050" dirty="0"/>
          </a:p>
        </p:txBody>
      </p:sp>
      <p:sp>
        <p:nvSpPr>
          <p:cNvPr id="14" name="Text 12"/>
          <p:cNvSpPr/>
          <p:nvPr/>
        </p:nvSpPr>
        <p:spPr>
          <a:xfrm>
            <a:off x="6035040" y="4023360"/>
            <a:ext cx="274320" cy="457200"/>
          </a:xfrm>
          <a:prstGeom prst="rect">
            <a:avLst/>
          </a:prstGeom>
          <a:noFill/>
          <a:ln/>
        </p:spPr>
        <p:txBody>
          <a:bodyPr wrap="square" lIns="0" tIns="0" rIns="0" bIns="0" rtlCol="0" anchor="ctr"/>
          <a:lstStyle/>
          <a:p>
            <a:pPr algn="ctr" indent="0" marL="0">
              <a:buNone/>
            </a:pPr>
            <a:r>
              <a:rPr lang="en-US" sz="2000" b="1" dirty="0">
                <a:solidFill>
                  <a:srgbClr val="7A6A57"/>
                </a:solidFill>
                <a:latin typeface="Calibri" pitchFamily="34" charset="0"/>
                <a:ea typeface="Calibri" pitchFamily="34" charset="-122"/>
                <a:cs typeface="Calibri" pitchFamily="34" charset="-120"/>
              </a:rPr>
              <a:t>→</a:t>
            </a:r>
            <a:endParaRPr lang="en-US" sz="2000" dirty="0"/>
          </a:p>
        </p:txBody>
      </p:sp>
      <p:sp>
        <p:nvSpPr>
          <p:cNvPr id="15" name="Shape 13"/>
          <p:cNvSpPr/>
          <p:nvPr/>
        </p:nvSpPr>
        <p:spPr>
          <a:xfrm>
            <a:off x="6217920" y="2606040"/>
            <a:ext cx="2697480" cy="2971800"/>
          </a:xfrm>
          <a:prstGeom prst="roundRect">
            <a:avLst>
              <a:gd name="adj" fmla="val 2712"/>
            </a:avLst>
          </a:prstGeom>
          <a:solidFill>
            <a:srgbClr val="5C3A21"/>
          </a:solidFill>
          <a:ln/>
        </p:spPr>
      </p:sp>
      <p:sp>
        <p:nvSpPr>
          <p:cNvPr id="16" name="Text 14"/>
          <p:cNvSpPr/>
          <p:nvPr/>
        </p:nvSpPr>
        <p:spPr>
          <a:xfrm>
            <a:off x="6400800" y="2724912"/>
            <a:ext cx="233172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III</a:t>
            </a:r>
            <a:endParaRPr lang="en-US" sz="3200" dirty="0"/>
          </a:p>
        </p:txBody>
      </p:sp>
      <p:sp>
        <p:nvSpPr>
          <p:cNvPr id="17" name="Text 15"/>
          <p:cNvSpPr/>
          <p:nvPr/>
        </p:nvSpPr>
        <p:spPr>
          <a:xfrm>
            <a:off x="6400800" y="3319272"/>
            <a:ext cx="2331720" cy="594360"/>
          </a:xfrm>
          <a:prstGeom prst="rect">
            <a:avLst/>
          </a:prstGeom>
          <a:noFill/>
          <a:ln/>
        </p:spPr>
        <p:txBody>
          <a:bodyPr wrap="square" lIns="0" tIns="0" rIns="0" bIns="0" rtlCol="0" anchor="ctr"/>
          <a:lstStyle/>
          <a:p>
            <a:pPr indent="0" marL="0">
              <a:lnSpc>
                <a:spcPct val="110000"/>
              </a:lnSpc>
              <a:buNone/>
            </a:pPr>
            <a:r>
              <a:rPr lang="en-US" sz="1450" b="1" dirty="0">
                <a:solidFill>
                  <a:srgbClr val="FFFFFF"/>
                </a:solidFill>
                <a:latin typeface="Cambria" pitchFamily="34" charset="0"/>
                <a:ea typeface="Cambria" pitchFamily="34" charset="-122"/>
                <a:cs typeface="Cambria" pitchFamily="34" charset="-120"/>
              </a:rPr>
              <a:t>Anestesia quirúrgica</a:t>
            </a:r>
            <a:endParaRPr lang="en-US" sz="1450" dirty="0"/>
          </a:p>
        </p:txBody>
      </p:sp>
      <p:sp>
        <p:nvSpPr>
          <p:cNvPr id="18" name="Text 16"/>
          <p:cNvSpPr/>
          <p:nvPr/>
        </p:nvSpPr>
        <p:spPr>
          <a:xfrm>
            <a:off x="6400800" y="3913632"/>
            <a:ext cx="2331720" cy="1554480"/>
          </a:xfrm>
          <a:prstGeom prst="rect">
            <a:avLst/>
          </a:prstGeom>
          <a:noFill/>
          <a:ln/>
        </p:spPr>
        <p:txBody>
          <a:bodyPr wrap="square" lIns="0" tIns="0" rIns="0" bIns="0" rtlCol="0" anchor="t"/>
          <a:lstStyle/>
          <a:p>
            <a:pPr indent="0" marL="0">
              <a:lnSpc>
                <a:spcPct val="120000"/>
              </a:lnSpc>
              <a:buNone/>
            </a:pPr>
            <a:r>
              <a:rPr lang="en-US" sz="1050" dirty="0">
                <a:solidFill>
                  <a:srgbClr val="FFFFFF"/>
                </a:solidFill>
                <a:latin typeface="Calibri" pitchFamily="34" charset="0"/>
                <a:ea typeface="Calibri" pitchFamily="34" charset="-122"/>
                <a:cs typeface="Calibri" pitchFamily="34" charset="-120"/>
              </a:rPr>
              <a:t>Respiración regular y relajación muscular progresiva en cuatro planos. Plano ideal para la cirugía.</a:t>
            </a:r>
            <a:endParaRPr lang="en-US" sz="1050" dirty="0"/>
          </a:p>
        </p:txBody>
      </p:sp>
      <p:sp>
        <p:nvSpPr>
          <p:cNvPr id="19" name="Text 17"/>
          <p:cNvSpPr/>
          <p:nvPr/>
        </p:nvSpPr>
        <p:spPr>
          <a:xfrm>
            <a:off x="8869680" y="4023360"/>
            <a:ext cx="274320" cy="457200"/>
          </a:xfrm>
          <a:prstGeom prst="rect">
            <a:avLst/>
          </a:prstGeom>
          <a:noFill/>
          <a:ln/>
        </p:spPr>
        <p:txBody>
          <a:bodyPr wrap="square" lIns="0" tIns="0" rIns="0" bIns="0" rtlCol="0" anchor="ctr"/>
          <a:lstStyle/>
          <a:p>
            <a:pPr algn="ctr" indent="0" marL="0">
              <a:buNone/>
            </a:pPr>
            <a:r>
              <a:rPr lang="en-US" sz="2000" b="1" dirty="0">
                <a:solidFill>
                  <a:srgbClr val="7A6A57"/>
                </a:solidFill>
                <a:latin typeface="Calibri" pitchFamily="34" charset="0"/>
                <a:ea typeface="Calibri" pitchFamily="34" charset="-122"/>
                <a:cs typeface="Calibri" pitchFamily="34" charset="-120"/>
              </a:rPr>
              <a:t>→</a:t>
            </a:r>
            <a:endParaRPr lang="en-US" sz="2000" dirty="0"/>
          </a:p>
        </p:txBody>
      </p:sp>
      <p:sp>
        <p:nvSpPr>
          <p:cNvPr id="20" name="Shape 18"/>
          <p:cNvSpPr/>
          <p:nvPr/>
        </p:nvSpPr>
        <p:spPr>
          <a:xfrm>
            <a:off x="9052560" y="2606040"/>
            <a:ext cx="2697480" cy="2971800"/>
          </a:xfrm>
          <a:prstGeom prst="roundRect">
            <a:avLst>
              <a:gd name="adj" fmla="val 2712"/>
            </a:avLst>
          </a:prstGeom>
          <a:solidFill>
            <a:srgbClr val="3A2418"/>
          </a:solidFill>
          <a:ln/>
        </p:spPr>
      </p:sp>
      <p:sp>
        <p:nvSpPr>
          <p:cNvPr id="21" name="Text 19"/>
          <p:cNvSpPr/>
          <p:nvPr/>
        </p:nvSpPr>
        <p:spPr>
          <a:xfrm>
            <a:off x="9235440" y="2724912"/>
            <a:ext cx="233172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IV</a:t>
            </a:r>
            <a:endParaRPr lang="en-US" sz="3200" dirty="0"/>
          </a:p>
        </p:txBody>
      </p:sp>
      <p:sp>
        <p:nvSpPr>
          <p:cNvPr id="22" name="Text 20"/>
          <p:cNvSpPr/>
          <p:nvPr/>
        </p:nvSpPr>
        <p:spPr>
          <a:xfrm>
            <a:off x="9235440" y="3319272"/>
            <a:ext cx="2331720" cy="594360"/>
          </a:xfrm>
          <a:prstGeom prst="rect">
            <a:avLst/>
          </a:prstGeom>
          <a:noFill/>
          <a:ln/>
        </p:spPr>
        <p:txBody>
          <a:bodyPr wrap="square" lIns="0" tIns="0" rIns="0" bIns="0" rtlCol="0" anchor="ctr"/>
          <a:lstStyle/>
          <a:p>
            <a:pPr indent="0" marL="0">
              <a:lnSpc>
                <a:spcPct val="110000"/>
              </a:lnSpc>
              <a:buNone/>
            </a:pPr>
            <a:r>
              <a:rPr lang="en-US" sz="1450" b="1" dirty="0">
                <a:solidFill>
                  <a:srgbClr val="FFFFFF"/>
                </a:solidFill>
                <a:latin typeface="Cambria" pitchFamily="34" charset="0"/>
                <a:ea typeface="Cambria" pitchFamily="34" charset="-122"/>
                <a:cs typeface="Cambria" pitchFamily="34" charset="-120"/>
              </a:rPr>
              <a:t>Depresión bulbar</a:t>
            </a:r>
            <a:endParaRPr lang="en-US" sz="1450" dirty="0"/>
          </a:p>
        </p:txBody>
      </p:sp>
      <p:sp>
        <p:nvSpPr>
          <p:cNvPr id="23" name="Text 21"/>
          <p:cNvSpPr/>
          <p:nvPr/>
        </p:nvSpPr>
        <p:spPr>
          <a:xfrm>
            <a:off x="9235440" y="3913632"/>
            <a:ext cx="2331720" cy="1554480"/>
          </a:xfrm>
          <a:prstGeom prst="rect">
            <a:avLst/>
          </a:prstGeom>
          <a:noFill/>
          <a:ln/>
        </p:spPr>
        <p:txBody>
          <a:bodyPr wrap="square" lIns="0" tIns="0" rIns="0" bIns="0" rtlCol="0" anchor="t"/>
          <a:lstStyle/>
          <a:p>
            <a:pPr indent="0" marL="0">
              <a:lnSpc>
                <a:spcPct val="120000"/>
              </a:lnSpc>
              <a:buNone/>
            </a:pPr>
            <a:r>
              <a:rPr lang="en-US" sz="1050" dirty="0">
                <a:solidFill>
                  <a:srgbClr val="FFFFFF"/>
                </a:solidFill>
                <a:latin typeface="Calibri" pitchFamily="34" charset="0"/>
                <a:ea typeface="Calibri" pitchFamily="34" charset="-122"/>
                <a:cs typeface="Calibri" pitchFamily="34" charset="-120"/>
              </a:rPr>
              <a:t>Sobredosis: parálisis respiratoria y colapso circulatorio. Zona de peligro vital inminente.</a:t>
            </a:r>
            <a:endParaRPr lang="en-US" sz="1050" dirty="0"/>
          </a:p>
        </p:txBody>
      </p:sp>
      <p:sp>
        <p:nvSpPr>
          <p:cNvPr id="24" name="Text 22"/>
          <p:cNvSpPr/>
          <p:nvPr/>
        </p:nvSpPr>
        <p:spPr>
          <a:xfrm>
            <a:off x="548640" y="5779008"/>
            <a:ext cx="11064240" cy="566928"/>
          </a:xfrm>
          <a:prstGeom prst="rect">
            <a:avLst/>
          </a:prstGeom>
          <a:noFill/>
          <a:ln/>
        </p:spPr>
        <p:txBody>
          <a:bodyPr wrap="square" lIns="0" tIns="0" rIns="0" bIns="0" rtlCol="0" anchor="ctr"/>
          <a:lstStyle/>
          <a:p>
            <a:pPr indent="0" marL="0">
              <a:lnSpc>
                <a:spcPct val="118000"/>
              </a:lnSpc>
              <a:buNone/>
            </a:pPr>
            <a:r>
              <a:rPr lang="en-US" sz="1100" i="1" dirty="0">
                <a:solidFill>
                  <a:srgbClr val="7A6A57"/>
                </a:solidFill>
                <a:latin typeface="Calibri" pitchFamily="34" charset="0"/>
                <a:ea typeface="Calibri" pitchFamily="34" charset="-122"/>
                <a:cs typeface="Calibri" pitchFamily="34" charset="-120"/>
              </a:rPr>
              <a:t>Aunque los agentes anestésicos modernos alteran esta secuencia clásica (inducción intravenosa, agentes más titulables), el marco de Guedel sigue siendo una herramienta pedagógica esencial para entender la relación entre profundidad anestésica y signos clínicos.</a:t>
            </a:r>
            <a:endParaRPr lang="en-US" sz="1100" dirty="0"/>
          </a:p>
        </p:txBody>
      </p:sp>
      <p:sp>
        <p:nvSpPr>
          <p:cNvPr id="25" name="Text 23"/>
          <p:cNvSpPr/>
          <p:nvPr/>
        </p:nvSpPr>
        <p:spPr>
          <a:xfrm>
            <a:off x="548640" y="6473952"/>
            <a:ext cx="6400800" cy="274320"/>
          </a:xfrm>
          <a:prstGeom prst="rect">
            <a:avLst/>
          </a:prstGeom>
          <a:noFill/>
          <a:ln/>
        </p:spPr>
        <p:txBody>
          <a:bodyPr wrap="square" lIns="0" tIns="0" rIns="0" bIns="0" rtlCol="0" anchor="ctr"/>
          <a:lstStyle/>
          <a:p>
            <a:pPr indent="0" marL="0">
              <a:buNone/>
            </a:pPr>
            <a:r>
              <a:rPr lang="en-US" sz="850" spc="100" kern="0" dirty="0">
                <a:solidFill>
                  <a:srgbClr val="7A6A57"/>
                </a:solidFill>
                <a:latin typeface="Calibri" pitchFamily="34" charset="0"/>
                <a:ea typeface="Calibri" pitchFamily="34" charset="-122"/>
                <a:cs typeface="Calibri" pitchFamily="34" charset="-120"/>
              </a:rPr>
              <a:t>CAPÍTULO II  ·  HISTORIA DE LA ANESTESIA</a:t>
            </a:r>
            <a:endParaRPr lang="en-US" sz="850" dirty="0"/>
          </a:p>
        </p:txBody>
      </p:sp>
      <p:sp>
        <p:nvSpPr>
          <p:cNvPr id="26" name="Text 24"/>
          <p:cNvSpPr/>
          <p:nvPr/>
        </p:nvSpPr>
        <p:spPr>
          <a:xfrm>
            <a:off x="10728655" y="6473952"/>
            <a:ext cx="914400" cy="274320"/>
          </a:xfrm>
          <a:prstGeom prst="rect">
            <a:avLst/>
          </a:prstGeom>
          <a:noFill/>
          <a:ln/>
        </p:spPr>
        <p:txBody>
          <a:bodyPr wrap="square" lIns="0" tIns="0" rIns="0" bIns="0" rtlCol="0" anchor="ctr"/>
          <a:lstStyle/>
          <a:p>
            <a:pPr algn="r" indent="0" marL="0">
              <a:buNone/>
            </a:pPr>
            <a:r>
              <a:rPr lang="en-US" sz="850" dirty="0">
                <a:solidFill>
                  <a:srgbClr val="7A6A57"/>
                </a:solidFill>
                <a:latin typeface="Calibri" pitchFamily="34" charset="0"/>
                <a:ea typeface="Calibri" pitchFamily="34" charset="-122"/>
                <a:cs typeface="Calibri" pitchFamily="34" charset="-120"/>
              </a:rPr>
              <a:t>18</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lIns="0" tIns="0" rIns="0" bIns="0" rtlCol="0" anchor="ctr"/>
          <a:lstStyle/>
          <a:p>
            <a:pPr indent="0" marL="0">
              <a:buNone/>
            </a:pPr>
            <a:r>
              <a:rPr lang="en-US" sz="1200" b="1" spc="200" kern="0" dirty="0">
                <a:solidFill>
                  <a:srgbClr val="8B5E3C"/>
                </a:solidFill>
                <a:latin typeface="Calibri" pitchFamily="34" charset="0"/>
                <a:ea typeface="Calibri" pitchFamily="34" charset="-122"/>
                <a:cs typeface="Calibri" pitchFamily="34" charset="-120"/>
              </a:rPr>
              <a:t>PIONERO · ANESTESIOLOGÍA ACADÉMICA</a:t>
            </a:r>
            <a:endParaRPr lang="en-US" sz="1200" dirty="0"/>
          </a:p>
        </p:txBody>
      </p:sp>
      <p:sp>
        <p:nvSpPr>
          <p:cNvPr id="3" name="Text 1"/>
          <p:cNvSpPr/>
          <p:nvPr/>
        </p:nvSpPr>
        <p:spPr>
          <a:xfrm>
            <a:off x="548640" y="658368"/>
            <a:ext cx="8046720" cy="777240"/>
          </a:xfrm>
          <a:prstGeom prst="rect">
            <a:avLst/>
          </a:prstGeom>
          <a:noFill/>
          <a:ln/>
        </p:spPr>
        <p:txBody>
          <a:bodyPr wrap="square" lIns="0" tIns="0" rIns="0" bIns="0" rtlCol="0" anchor="t"/>
          <a:lstStyle/>
          <a:p>
            <a:pPr indent="0" marL="0">
              <a:buNone/>
            </a:pPr>
            <a:r>
              <a:rPr lang="en-US" sz="2900" b="1" dirty="0">
                <a:solidFill>
                  <a:srgbClr val="5C3A21"/>
                </a:solidFill>
                <a:latin typeface="Cambria" pitchFamily="34" charset="0"/>
                <a:ea typeface="Cambria" pitchFamily="34" charset="-122"/>
                <a:cs typeface="Cambria" pitchFamily="34" charset="-120"/>
              </a:rPr>
              <a:t>Ralph Waters, padre de la anestesiología académica moderna</a:t>
            </a:r>
            <a:endParaRPr lang="en-US" sz="2900" dirty="0"/>
          </a:p>
        </p:txBody>
      </p:sp>
      <p:sp>
        <p:nvSpPr>
          <p:cNvPr id="4" name="Shape 2"/>
          <p:cNvSpPr/>
          <p:nvPr/>
        </p:nvSpPr>
        <p:spPr>
          <a:xfrm>
            <a:off x="9692640" y="502920"/>
            <a:ext cx="1417320" cy="1417320"/>
          </a:xfrm>
          <a:prstGeom prst="ellipse">
            <a:avLst/>
          </a:prstGeom>
          <a:solidFill>
            <a:srgbClr val="8B5E3C"/>
          </a:solidFill>
          <a:ln/>
          <a:effectLst>
            <a:outerShdw sx="100000" sy="100000" kx="0" ky="0" algn="bl" rotWithShape="0" blurRad="101600" dist="38100" dir="5400000">
              <a:srgbClr val="2B2118">
                <a:alpha val="28000"/>
              </a:srgbClr>
            </a:outerShdw>
          </a:effectLst>
        </p:spPr>
      </p:sp>
      <p:pic>
        <p:nvPicPr>
          <p:cNvPr id="5" name="Image 0" descr="preencoded.png">    </p:cNvPr>
          <p:cNvPicPr>
            <a:picLocks noChangeAspect="1"/>
          </p:cNvPicPr>
          <p:nvPr/>
        </p:nvPicPr>
        <p:blipFill>
          <a:blip r:embed="rId1"/>
          <a:stretch>
            <a:fillRect/>
          </a:stretch>
        </p:blipFill>
        <p:spPr>
          <a:xfrm>
            <a:off x="10046970" y="857250"/>
            <a:ext cx="708660" cy="708660"/>
          </a:xfrm>
          <a:prstGeom prst="rect">
            <a:avLst/>
          </a:prstGeom>
        </p:spPr>
      </p:pic>
      <p:sp>
        <p:nvSpPr>
          <p:cNvPr id="6" name="Text 3"/>
          <p:cNvSpPr/>
          <p:nvPr/>
        </p:nvSpPr>
        <p:spPr>
          <a:xfrm>
            <a:off x="9006840" y="2011680"/>
            <a:ext cx="2743200" cy="320040"/>
          </a:xfrm>
          <a:prstGeom prst="rect">
            <a:avLst/>
          </a:prstGeom>
          <a:noFill/>
          <a:ln/>
        </p:spPr>
        <p:txBody>
          <a:bodyPr wrap="square" lIns="0" tIns="0" rIns="0" bIns="0" rtlCol="0" anchor="ctr"/>
          <a:lstStyle/>
          <a:p>
            <a:pPr algn="ctr" indent="0" marL="0">
              <a:buNone/>
            </a:pPr>
            <a:r>
              <a:rPr lang="en-US" sz="1350" b="1" dirty="0">
                <a:solidFill>
                  <a:srgbClr val="5C3A21"/>
                </a:solidFill>
                <a:latin typeface="Cambria" pitchFamily="34" charset="0"/>
                <a:ea typeface="Cambria" pitchFamily="34" charset="-122"/>
                <a:cs typeface="Cambria" pitchFamily="34" charset="-120"/>
              </a:rPr>
              <a:t>1883 – 1979</a:t>
            </a:r>
            <a:endParaRPr lang="en-US" sz="1350" dirty="0"/>
          </a:p>
        </p:txBody>
      </p:sp>
      <p:sp>
        <p:nvSpPr>
          <p:cNvPr id="7" name="Text 4"/>
          <p:cNvSpPr/>
          <p:nvPr/>
        </p:nvSpPr>
        <p:spPr>
          <a:xfrm>
            <a:off x="548640" y="1691640"/>
            <a:ext cx="8229600" cy="914400"/>
          </a:xfrm>
          <a:prstGeom prst="rect">
            <a:avLst/>
          </a:prstGeom>
          <a:noFill/>
          <a:ln/>
        </p:spPr>
        <p:txBody>
          <a:bodyPr wrap="square" lIns="0" tIns="0" rIns="0" bIns="0" rtlCol="0" anchor="ctr"/>
          <a:lstStyle/>
          <a:p>
            <a:pPr indent="0" marL="0">
              <a:lnSpc>
                <a:spcPct val="122000"/>
              </a:lnSpc>
              <a:buNone/>
            </a:pPr>
            <a:r>
              <a:rPr lang="en-US" sz="1300" dirty="0">
                <a:solidFill>
                  <a:srgbClr val="3A2E22"/>
                </a:solidFill>
                <a:latin typeface="Calibri" pitchFamily="34" charset="0"/>
                <a:ea typeface="Calibri" pitchFamily="34" charset="-122"/>
                <a:cs typeface="Calibri" pitchFamily="34" charset="-120"/>
              </a:rPr>
              <a:t>Médico estadounidense, Waters transformó la anestesia de una habilidad técnica delegada en una disciplina académica con base científica propia, formando a la primera generación de líderes académicos de la especialidad.</a:t>
            </a:r>
            <a:endParaRPr lang="en-US" sz="1300" dirty="0"/>
          </a:p>
        </p:txBody>
      </p:sp>
      <p:sp>
        <p:nvSpPr>
          <p:cNvPr id="8" name="Shape 5"/>
          <p:cNvSpPr/>
          <p:nvPr/>
        </p:nvSpPr>
        <p:spPr>
          <a:xfrm>
            <a:off x="548640" y="2697480"/>
            <a:ext cx="11091672" cy="2423160"/>
          </a:xfrm>
          <a:prstGeom prst="roundRect">
            <a:avLst>
              <a:gd name="adj" fmla="val 3019"/>
            </a:avLst>
          </a:prstGeom>
          <a:solidFill>
            <a:srgbClr val="C9A66B">
              <a:alpha val="9000"/>
            </a:srgbClr>
          </a:solidFill>
          <a:ln/>
        </p:spPr>
      </p:sp>
      <p:sp>
        <p:nvSpPr>
          <p:cNvPr id="9" name="Text 6"/>
          <p:cNvSpPr/>
          <p:nvPr/>
        </p:nvSpPr>
        <p:spPr>
          <a:xfrm>
            <a:off x="868680" y="2971800"/>
            <a:ext cx="5212080" cy="1965960"/>
          </a:xfrm>
          <a:prstGeom prst="rect">
            <a:avLst/>
          </a:prstGeom>
          <a:noFill/>
          <a:ln/>
        </p:spPr>
        <p:txBody>
          <a:bodyPr wrap="square" lIns="0" tIns="0" rIns="0" bIns="0" rtlCol="0" anchor="t"/>
          <a:lstStyle/>
          <a:p>
            <a:pPr marL="203200" indent="-203200">
              <a:lnSpc>
                <a:spcPct val="105000"/>
              </a:lnSpc>
              <a:spcAft>
                <a:spcPts val="1200"/>
              </a:spcAft>
              <a:buSzPct val="100000"/>
              <a:buChar char="•"/>
            </a:pPr>
            <a:r>
              <a:rPr lang="en-US" sz="1250" dirty="0">
                <a:solidFill>
                  <a:srgbClr val="3A2E22"/>
                </a:solidFill>
                <a:latin typeface="Calibri" pitchFamily="34" charset="0"/>
                <a:ea typeface="Calibri" pitchFamily="34" charset="-122"/>
                <a:cs typeface="Calibri" pitchFamily="34" charset="-120"/>
              </a:rPr>
              <a:t>En 1927 fundó en la Universidad de Wisconsin el primer departamento académico universitario de anestesiología del mundo.</a:t>
            </a:r>
            <a:endParaRPr lang="en-US" sz="1250" dirty="0"/>
          </a:p>
          <a:p>
            <a:pPr marL="203200" indent="-203200">
              <a:lnSpc>
                <a:spcPct val="105000"/>
              </a:lnSpc>
              <a:spcAft>
                <a:spcPts val="1200"/>
              </a:spcAft>
              <a:buSzPct val="100000"/>
              <a:buChar char="•"/>
            </a:pPr>
            <a:r>
              <a:rPr lang="en-US" sz="1250" dirty="0">
                <a:solidFill>
                  <a:srgbClr val="3A2E22"/>
                </a:solidFill>
                <a:latin typeface="Calibri" pitchFamily="34" charset="0"/>
                <a:ea typeface="Calibri" pitchFamily="34" charset="-122"/>
                <a:cs typeface="Calibri" pitchFamily="34" charset="-120"/>
              </a:rPr>
              <a:t>Estableció el modelo moderno de residencia formal en anestesiología, integrando investigación básica, docencia y práctica clínica.</a:t>
            </a:r>
            <a:endParaRPr lang="en-US" sz="1250" dirty="0"/>
          </a:p>
        </p:txBody>
      </p:sp>
      <p:sp>
        <p:nvSpPr>
          <p:cNvPr id="10" name="Text 7"/>
          <p:cNvSpPr/>
          <p:nvPr/>
        </p:nvSpPr>
        <p:spPr>
          <a:xfrm>
            <a:off x="6309360" y="2971800"/>
            <a:ext cx="5212080" cy="1965960"/>
          </a:xfrm>
          <a:prstGeom prst="rect">
            <a:avLst/>
          </a:prstGeom>
          <a:noFill/>
          <a:ln/>
        </p:spPr>
        <p:txBody>
          <a:bodyPr wrap="square" lIns="0" tIns="0" rIns="0" bIns="0" rtlCol="0" anchor="t"/>
          <a:lstStyle/>
          <a:p>
            <a:pPr marL="203200" indent="-203200">
              <a:lnSpc>
                <a:spcPct val="105000"/>
              </a:lnSpc>
              <a:spcAft>
                <a:spcPts val="1200"/>
              </a:spcAft>
              <a:buSzPct val="100000"/>
              <a:buChar char="•"/>
            </a:pPr>
            <a:r>
              <a:rPr lang="en-US" sz="1250" dirty="0">
                <a:solidFill>
                  <a:srgbClr val="3A2E22"/>
                </a:solidFill>
                <a:latin typeface="Calibri" pitchFamily="34" charset="0"/>
                <a:ea typeface="Calibri" pitchFamily="34" charset="-122"/>
                <a:cs typeface="Calibri" pitchFamily="34" charset="-120"/>
              </a:rPr>
              <a:t>Formó a generaciones de residentes que luego fundaron sus propios departamentos académicos, multiplicando su influencia a nivel nacional.</a:t>
            </a:r>
            <a:endParaRPr lang="en-US" sz="1250" dirty="0"/>
          </a:p>
          <a:p>
            <a:pPr marL="203200" indent="-203200">
              <a:lnSpc>
                <a:spcPct val="105000"/>
              </a:lnSpc>
              <a:spcAft>
                <a:spcPts val="1200"/>
              </a:spcAft>
              <a:buSzPct val="100000"/>
              <a:buChar char="•"/>
            </a:pPr>
            <a:r>
              <a:rPr lang="en-US" sz="1250" dirty="0">
                <a:solidFill>
                  <a:srgbClr val="3A2E22"/>
                </a:solidFill>
                <a:latin typeface="Calibri" pitchFamily="34" charset="0"/>
                <a:ea typeface="Calibri" pitchFamily="34" charset="-122"/>
                <a:cs typeface="Calibri" pitchFamily="34" charset="-120"/>
              </a:rPr>
              <a:t>Contribuyó al desarrollo del circuito circular de reinhalación con cal sodada ('to-and-fro' y circle system), mejorando la eficiencia y economía de los agentes anestésicos.</a:t>
            </a:r>
            <a:endParaRPr lang="en-US" sz="1250" dirty="0"/>
          </a:p>
        </p:txBody>
      </p:sp>
      <p:sp>
        <p:nvSpPr>
          <p:cNvPr id="11" name="Text 8"/>
          <p:cNvSpPr/>
          <p:nvPr/>
        </p:nvSpPr>
        <p:spPr>
          <a:xfrm>
            <a:off x="548640" y="6473952"/>
            <a:ext cx="6400800" cy="274320"/>
          </a:xfrm>
          <a:prstGeom prst="rect">
            <a:avLst/>
          </a:prstGeom>
          <a:noFill/>
          <a:ln/>
        </p:spPr>
        <p:txBody>
          <a:bodyPr wrap="square" lIns="0" tIns="0" rIns="0" bIns="0" rtlCol="0" anchor="ctr"/>
          <a:lstStyle/>
          <a:p>
            <a:pPr indent="0" marL="0">
              <a:buNone/>
            </a:pPr>
            <a:r>
              <a:rPr lang="en-US" sz="850" spc="100" kern="0" dirty="0">
                <a:solidFill>
                  <a:srgbClr val="7A6A57"/>
                </a:solidFill>
                <a:latin typeface="Calibri" pitchFamily="34" charset="0"/>
                <a:ea typeface="Calibri" pitchFamily="34" charset="-122"/>
                <a:cs typeface="Calibri" pitchFamily="34" charset="-120"/>
              </a:rPr>
              <a:t>CAPÍTULO II  ·  HISTORIA DE LA ANESTESIA</a:t>
            </a:r>
            <a:endParaRPr lang="en-US" sz="850" dirty="0"/>
          </a:p>
        </p:txBody>
      </p:sp>
      <p:sp>
        <p:nvSpPr>
          <p:cNvPr id="12" name="Text 9"/>
          <p:cNvSpPr/>
          <p:nvPr/>
        </p:nvSpPr>
        <p:spPr>
          <a:xfrm>
            <a:off x="10728655" y="6473952"/>
            <a:ext cx="914400" cy="274320"/>
          </a:xfrm>
          <a:prstGeom prst="rect">
            <a:avLst/>
          </a:prstGeom>
          <a:noFill/>
          <a:ln/>
        </p:spPr>
        <p:txBody>
          <a:bodyPr wrap="square" lIns="0" tIns="0" rIns="0" bIns="0" rtlCol="0" anchor="ctr"/>
          <a:lstStyle/>
          <a:p>
            <a:pPr algn="r" indent="0" marL="0">
              <a:buNone/>
            </a:pPr>
            <a:r>
              <a:rPr lang="en-US" sz="850" dirty="0">
                <a:solidFill>
                  <a:srgbClr val="7A6A57"/>
                </a:solidFill>
                <a:latin typeface="Calibri" pitchFamily="34" charset="0"/>
                <a:ea typeface="Calibri" pitchFamily="34" charset="-122"/>
                <a:cs typeface="Calibri" pitchFamily="34" charset="-120"/>
              </a:rPr>
              <a:t>19</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lIns="0" tIns="0" rIns="0" bIns="0" rtlCol="0" anchor="ctr"/>
          <a:lstStyle/>
          <a:p>
            <a:pPr indent="0" marL="0">
              <a:buNone/>
            </a:pPr>
            <a:r>
              <a:rPr lang="en-US" sz="1200" b="1" spc="200" kern="0" dirty="0">
                <a:solidFill>
                  <a:srgbClr val="8B5E3C"/>
                </a:solidFill>
                <a:latin typeface="Calibri" pitchFamily="34" charset="0"/>
                <a:ea typeface="Calibri" pitchFamily="34" charset="-122"/>
                <a:cs typeface="Calibri" pitchFamily="34" charset="-120"/>
              </a:rPr>
              <a:t>PIONERO · VÍA AÉREA</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t"/>
          <a:lstStyle/>
          <a:p>
            <a:pPr indent="0" marL="0">
              <a:buNone/>
            </a:pPr>
            <a:r>
              <a:rPr lang="en-US" sz="2900" b="1" dirty="0">
                <a:solidFill>
                  <a:srgbClr val="5C3A21"/>
                </a:solidFill>
                <a:latin typeface="Cambria" pitchFamily="34" charset="0"/>
                <a:ea typeface="Cambria" pitchFamily="34" charset="-122"/>
                <a:cs typeface="Cambria" pitchFamily="34" charset="-120"/>
              </a:rPr>
              <a:t>Ivan Magill y la intubación endotraqueal moderna</a:t>
            </a:r>
            <a:endParaRPr lang="en-US" sz="2900" dirty="0"/>
          </a:p>
        </p:txBody>
      </p:sp>
      <p:sp>
        <p:nvSpPr>
          <p:cNvPr id="4" name="Shape 2"/>
          <p:cNvSpPr/>
          <p:nvPr/>
        </p:nvSpPr>
        <p:spPr>
          <a:xfrm>
            <a:off x="548640" y="1691640"/>
            <a:ext cx="3383280" cy="4434840"/>
          </a:xfrm>
          <a:prstGeom prst="roundRect">
            <a:avLst>
              <a:gd name="adj" fmla="val 2162"/>
            </a:avLst>
          </a:prstGeom>
          <a:solidFill>
            <a:srgbClr val="8B5E3C">
              <a:alpha val="12000"/>
            </a:srgbClr>
          </a:solidFill>
          <a:ln/>
        </p:spPr>
      </p:sp>
      <p:sp>
        <p:nvSpPr>
          <p:cNvPr id="5" name="Shape 3"/>
          <p:cNvSpPr/>
          <p:nvPr/>
        </p:nvSpPr>
        <p:spPr>
          <a:xfrm>
            <a:off x="1600200" y="2011680"/>
            <a:ext cx="1280160" cy="1280160"/>
          </a:xfrm>
          <a:prstGeom prst="ellipse">
            <a:avLst/>
          </a:prstGeom>
          <a:solidFill>
            <a:srgbClr val="5C3A21"/>
          </a:solidFill>
          <a:ln/>
          <a:effectLst>
            <a:outerShdw sx="100000" sy="100000" kx="0" ky="0" algn="bl" rotWithShape="0" blurRad="101600" dist="38100" dir="5400000">
              <a:srgbClr val="2B2118">
                <a:alpha val="28000"/>
              </a:srgbClr>
            </a:outerShdw>
          </a:effectLst>
        </p:spPr>
      </p:sp>
      <p:pic>
        <p:nvPicPr>
          <p:cNvPr id="6" name="Image 0" descr="preencoded.png">    </p:cNvPr>
          <p:cNvPicPr>
            <a:picLocks noChangeAspect="1"/>
          </p:cNvPicPr>
          <p:nvPr/>
        </p:nvPicPr>
        <p:blipFill>
          <a:blip r:embed="rId1"/>
          <a:stretch>
            <a:fillRect/>
          </a:stretch>
        </p:blipFill>
        <p:spPr>
          <a:xfrm>
            <a:off x="1920240" y="2331720"/>
            <a:ext cx="640080" cy="640080"/>
          </a:xfrm>
          <a:prstGeom prst="rect">
            <a:avLst/>
          </a:prstGeom>
        </p:spPr>
      </p:pic>
      <p:sp>
        <p:nvSpPr>
          <p:cNvPr id="7" name="Text 4"/>
          <p:cNvSpPr/>
          <p:nvPr/>
        </p:nvSpPr>
        <p:spPr>
          <a:xfrm>
            <a:off x="731520" y="3429000"/>
            <a:ext cx="3017520" cy="365760"/>
          </a:xfrm>
          <a:prstGeom prst="rect">
            <a:avLst/>
          </a:prstGeom>
          <a:noFill/>
          <a:ln/>
        </p:spPr>
        <p:txBody>
          <a:bodyPr wrap="square" lIns="0" tIns="0" rIns="0" bIns="0" rtlCol="0" anchor="ctr"/>
          <a:lstStyle/>
          <a:p>
            <a:pPr algn="ctr" indent="0" marL="0">
              <a:buNone/>
            </a:pPr>
            <a:r>
              <a:rPr lang="en-US" sz="1600" b="1" dirty="0">
                <a:solidFill>
                  <a:srgbClr val="5C3A21"/>
                </a:solidFill>
                <a:latin typeface="Cambria" pitchFamily="34" charset="0"/>
                <a:ea typeface="Cambria" pitchFamily="34" charset="-122"/>
                <a:cs typeface="Cambria" pitchFamily="34" charset="-120"/>
              </a:rPr>
              <a:t>1888 – 1986</a:t>
            </a:r>
            <a:endParaRPr lang="en-US" sz="1600" dirty="0"/>
          </a:p>
        </p:txBody>
      </p:sp>
      <p:sp>
        <p:nvSpPr>
          <p:cNvPr id="8" name="Text 5"/>
          <p:cNvSpPr/>
          <p:nvPr/>
        </p:nvSpPr>
        <p:spPr>
          <a:xfrm>
            <a:off x="822960" y="3794760"/>
            <a:ext cx="2834640" cy="2194560"/>
          </a:xfrm>
          <a:prstGeom prst="rect">
            <a:avLst/>
          </a:prstGeom>
          <a:noFill/>
          <a:ln/>
        </p:spPr>
        <p:txBody>
          <a:bodyPr wrap="square" lIns="0" tIns="0" rIns="0" bIns="0" rtlCol="0" anchor="t"/>
          <a:lstStyle/>
          <a:p>
            <a:pPr algn="ctr" indent="0" marL="0">
              <a:lnSpc>
                <a:spcPct val="125000"/>
              </a:lnSpc>
              <a:buNone/>
            </a:pPr>
            <a:r>
              <a:rPr lang="en-US" sz="1150" i="1" dirty="0">
                <a:solidFill>
                  <a:srgbClr val="3A2E22"/>
                </a:solidFill>
                <a:latin typeface="Calibri" pitchFamily="34" charset="0"/>
                <a:ea typeface="Calibri" pitchFamily="34" charset="-122"/>
                <a:cs typeface="Calibri" pitchFamily="34" charset="-120"/>
              </a:rPr>
              <a:t>Anestesiólogo</a:t>
            </a:r>
            <a:endParaRPr lang="en-US" sz="1150" dirty="0"/>
          </a:p>
          <a:p>
            <a:pPr algn="ctr" indent="0" marL="0">
              <a:lnSpc>
                <a:spcPct val="125000"/>
              </a:lnSpc>
              <a:buNone/>
            </a:pPr>
            <a:r>
              <a:rPr lang="en-US" sz="1150" i="1" dirty="0">
                <a:solidFill>
                  <a:srgbClr val="3A2E22"/>
                </a:solidFill>
                <a:latin typeface="Calibri" pitchFamily="34" charset="0"/>
                <a:ea typeface="Calibri" pitchFamily="34" charset="-122"/>
                <a:cs typeface="Calibri" pitchFamily="34" charset="-120"/>
              </a:rPr>
              <a:t>Reino Unido</a:t>
            </a:r>
            <a:endParaRPr lang="en-US" sz="1150" dirty="0"/>
          </a:p>
        </p:txBody>
      </p:sp>
      <p:sp>
        <p:nvSpPr>
          <p:cNvPr id="9" name="Text 6"/>
          <p:cNvSpPr/>
          <p:nvPr/>
        </p:nvSpPr>
        <p:spPr>
          <a:xfrm>
            <a:off x="4206240" y="1737360"/>
            <a:ext cx="7452360" cy="960120"/>
          </a:xfrm>
          <a:prstGeom prst="rect">
            <a:avLst/>
          </a:prstGeom>
          <a:noFill/>
          <a:ln/>
        </p:spPr>
        <p:txBody>
          <a:bodyPr wrap="square" lIns="0" tIns="0" rIns="0" bIns="0" rtlCol="0" anchor="ctr"/>
          <a:lstStyle/>
          <a:p>
            <a:pPr indent="0" marL="0">
              <a:lnSpc>
                <a:spcPct val="122000"/>
              </a:lnSpc>
              <a:buNone/>
            </a:pPr>
            <a:r>
              <a:rPr lang="en-US" sz="1300" dirty="0">
                <a:solidFill>
                  <a:srgbClr val="3A2E22"/>
                </a:solidFill>
                <a:latin typeface="Calibri" pitchFamily="34" charset="0"/>
                <a:ea typeface="Calibri" pitchFamily="34" charset="-122"/>
                <a:cs typeface="Calibri" pitchFamily="34" charset="-120"/>
              </a:rPr>
              <a:t>Trabajando junto al cirujano plástico Harold Gillies con heridos faciales de la Primera Guerra Mundial, Magill enfrentó la necesidad de asegurar una vía aérea confiable sin obstruir el campo quirúrgico maxilofacial.</a:t>
            </a:r>
            <a:endParaRPr lang="en-US" sz="1300" dirty="0"/>
          </a:p>
        </p:txBody>
      </p:sp>
      <p:sp>
        <p:nvSpPr>
          <p:cNvPr id="10" name="Text 7"/>
          <p:cNvSpPr/>
          <p:nvPr/>
        </p:nvSpPr>
        <p:spPr>
          <a:xfrm>
            <a:off x="4206240" y="2788920"/>
            <a:ext cx="7452360" cy="3200400"/>
          </a:xfrm>
          <a:prstGeom prst="rect">
            <a:avLst/>
          </a:prstGeom>
          <a:noFill/>
          <a:ln/>
        </p:spPr>
        <p:txBody>
          <a:bodyPr wrap="square" lIns="0" tIns="0" rIns="0" bIns="0" rtlCol="0" anchor="t"/>
          <a:lstStyle/>
          <a:p>
            <a:pPr marL="203200" indent="-203200">
              <a:lnSpc>
                <a:spcPct val="105000"/>
              </a:lnSpc>
              <a:spcAft>
                <a:spcPts val="1100"/>
              </a:spcAft>
              <a:buSzPct val="100000"/>
              <a:buChar char="•"/>
            </a:pPr>
            <a:r>
              <a:rPr lang="en-US" sz="1250" dirty="0">
                <a:solidFill>
                  <a:srgbClr val="3A2E22"/>
                </a:solidFill>
                <a:latin typeface="Calibri" pitchFamily="34" charset="0"/>
                <a:ea typeface="Calibri" pitchFamily="34" charset="-122"/>
                <a:cs typeface="Calibri" pitchFamily="34" charset="-120"/>
              </a:rPr>
              <a:t>Desarrolló, junto con Stanley Rowbotham, la técnica de intubación endotraqueal nasotraqueal a ciegas, sin necesidad de laringoscopia directa.</a:t>
            </a:r>
            <a:endParaRPr lang="en-US" sz="1250" dirty="0"/>
          </a:p>
          <a:p>
            <a:pPr marL="203200" indent="-203200">
              <a:lnSpc>
                <a:spcPct val="105000"/>
              </a:lnSpc>
              <a:spcAft>
                <a:spcPts val="1100"/>
              </a:spcAft>
              <a:buSzPct val="100000"/>
              <a:buChar char="•"/>
            </a:pPr>
            <a:r>
              <a:rPr lang="en-US" sz="1250" dirty="0">
                <a:solidFill>
                  <a:srgbClr val="3A2E22"/>
                </a:solidFill>
                <a:latin typeface="Calibri" pitchFamily="34" charset="0"/>
                <a:ea typeface="Calibri" pitchFamily="34" charset="-122"/>
                <a:cs typeface="Calibri" pitchFamily="34" charset="-120"/>
              </a:rPr>
              <a:t>Diseñó el tubo endotraqueal de Magill (con su característica curvatura) y las pinzas de Magill, ambos todavía en uso rutinario.</a:t>
            </a:r>
            <a:endParaRPr lang="en-US" sz="1250" dirty="0"/>
          </a:p>
          <a:p>
            <a:pPr marL="203200" indent="-203200">
              <a:lnSpc>
                <a:spcPct val="105000"/>
              </a:lnSpc>
              <a:spcAft>
                <a:spcPts val="1100"/>
              </a:spcAft>
              <a:buSzPct val="100000"/>
              <a:buChar char="•"/>
            </a:pPr>
            <a:r>
              <a:rPr lang="en-US" sz="1250" dirty="0">
                <a:solidFill>
                  <a:srgbClr val="3A2E22"/>
                </a:solidFill>
                <a:latin typeface="Calibri" pitchFamily="34" charset="0"/>
                <a:ea typeface="Calibri" pitchFamily="34" charset="-122"/>
                <a:cs typeface="Calibri" pitchFamily="34" charset="-120"/>
              </a:rPr>
              <a:t>Estableció principios fundamentales del manejo moderno de la vía aérea que persisten en la práctica anestésica actual.</a:t>
            </a:r>
            <a:endParaRPr lang="en-US" sz="1250" dirty="0"/>
          </a:p>
          <a:p>
            <a:pPr marL="203200" indent="-203200">
              <a:lnSpc>
                <a:spcPct val="105000"/>
              </a:lnSpc>
              <a:spcAft>
                <a:spcPts val="1100"/>
              </a:spcAft>
              <a:buSzPct val="100000"/>
              <a:buChar char="•"/>
            </a:pPr>
            <a:r>
              <a:rPr lang="en-US" sz="1250" dirty="0">
                <a:solidFill>
                  <a:srgbClr val="3A2E22"/>
                </a:solidFill>
                <a:latin typeface="Calibri" pitchFamily="34" charset="0"/>
                <a:ea typeface="Calibri" pitchFamily="34" charset="-122"/>
                <a:cs typeface="Calibri" pitchFamily="34" charset="-120"/>
              </a:rPr>
              <a:t>Su trabajo transformó la intubación de una técnica ocasional a un componente estándar y seguro de la anestesia general.</a:t>
            </a:r>
            <a:endParaRPr lang="en-US" sz="1250" dirty="0"/>
          </a:p>
        </p:txBody>
      </p:sp>
      <p:sp>
        <p:nvSpPr>
          <p:cNvPr id="11" name="Text 8"/>
          <p:cNvSpPr/>
          <p:nvPr/>
        </p:nvSpPr>
        <p:spPr>
          <a:xfrm>
            <a:off x="548640" y="6473952"/>
            <a:ext cx="6400800" cy="274320"/>
          </a:xfrm>
          <a:prstGeom prst="rect">
            <a:avLst/>
          </a:prstGeom>
          <a:noFill/>
          <a:ln/>
        </p:spPr>
        <p:txBody>
          <a:bodyPr wrap="square" lIns="0" tIns="0" rIns="0" bIns="0" rtlCol="0" anchor="ctr"/>
          <a:lstStyle/>
          <a:p>
            <a:pPr indent="0" marL="0">
              <a:buNone/>
            </a:pPr>
            <a:r>
              <a:rPr lang="en-US" sz="850" spc="100" kern="0" dirty="0">
                <a:solidFill>
                  <a:srgbClr val="7A6A57"/>
                </a:solidFill>
                <a:latin typeface="Calibri" pitchFamily="34" charset="0"/>
                <a:ea typeface="Calibri" pitchFamily="34" charset="-122"/>
                <a:cs typeface="Calibri" pitchFamily="34" charset="-120"/>
              </a:rPr>
              <a:t>CAPÍTULO II  ·  HISTORIA DE LA ANESTESIA</a:t>
            </a:r>
            <a:endParaRPr lang="en-US" sz="850" dirty="0"/>
          </a:p>
        </p:txBody>
      </p:sp>
      <p:sp>
        <p:nvSpPr>
          <p:cNvPr id="12" name="Text 9"/>
          <p:cNvSpPr/>
          <p:nvPr/>
        </p:nvSpPr>
        <p:spPr>
          <a:xfrm>
            <a:off x="10728655" y="6473952"/>
            <a:ext cx="914400" cy="274320"/>
          </a:xfrm>
          <a:prstGeom prst="rect">
            <a:avLst/>
          </a:prstGeom>
          <a:noFill/>
          <a:ln/>
        </p:spPr>
        <p:txBody>
          <a:bodyPr wrap="square" lIns="0" tIns="0" rIns="0" bIns="0" rtlCol="0" anchor="ctr"/>
          <a:lstStyle/>
          <a:p>
            <a:pPr algn="r" indent="0" marL="0">
              <a:buNone/>
            </a:pPr>
            <a:r>
              <a:rPr lang="en-US" sz="850" dirty="0">
                <a:solidFill>
                  <a:srgbClr val="7A6A57"/>
                </a:solidFill>
                <a:latin typeface="Calibri" pitchFamily="34" charset="0"/>
                <a:ea typeface="Calibri" pitchFamily="34" charset="-122"/>
                <a:cs typeface="Calibri" pitchFamily="34" charset="-120"/>
              </a:rPr>
              <a:t>20</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lIns="0" tIns="0" rIns="0" bIns="0" rtlCol="0" anchor="ctr"/>
          <a:lstStyle/>
          <a:p>
            <a:pPr indent="0" marL="0">
              <a:buNone/>
            </a:pPr>
            <a:r>
              <a:rPr lang="en-US" sz="1200" b="1" spc="200" kern="0" dirty="0">
                <a:solidFill>
                  <a:srgbClr val="8B5E3C"/>
                </a:solidFill>
                <a:latin typeface="Calibri" pitchFamily="34" charset="0"/>
                <a:ea typeface="Calibri" pitchFamily="34" charset="-122"/>
                <a:cs typeface="Calibri" pitchFamily="34" charset="-120"/>
              </a:rPr>
              <a:t>PIONERO · RELAJACIÓN MUSCULAR</a:t>
            </a:r>
            <a:endParaRPr lang="en-US" sz="1200" dirty="0"/>
          </a:p>
        </p:txBody>
      </p:sp>
      <p:sp>
        <p:nvSpPr>
          <p:cNvPr id="3" name="Text 1"/>
          <p:cNvSpPr/>
          <p:nvPr/>
        </p:nvSpPr>
        <p:spPr>
          <a:xfrm>
            <a:off x="548640" y="658368"/>
            <a:ext cx="8046720" cy="777240"/>
          </a:xfrm>
          <a:prstGeom prst="rect">
            <a:avLst/>
          </a:prstGeom>
          <a:noFill/>
          <a:ln/>
        </p:spPr>
        <p:txBody>
          <a:bodyPr wrap="square" lIns="0" tIns="0" rIns="0" bIns="0" rtlCol="0" anchor="t"/>
          <a:lstStyle/>
          <a:p>
            <a:pPr indent="0" marL="0">
              <a:buNone/>
            </a:pPr>
            <a:r>
              <a:rPr lang="en-US" sz="2900" b="1" dirty="0">
                <a:solidFill>
                  <a:srgbClr val="5C3A21"/>
                </a:solidFill>
                <a:latin typeface="Cambria" pitchFamily="34" charset="0"/>
                <a:ea typeface="Cambria" pitchFamily="34" charset="-122"/>
                <a:cs typeface="Cambria" pitchFamily="34" charset="-120"/>
              </a:rPr>
              <a:t>Harold Griffith y la introducción del curare en anestesia (1942)</a:t>
            </a:r>
            <a:endParaRPr lang="en-US" sz="2900" dirty="0"/>
          </a:p>
        </p:txBody>
      </p:sp>
      <p:sp>
        <p:nvSpPr>
          <p:cNvPr id="4" name="Shape 2"/>
          <p:cNvSpPr/>
          <p:nvPr/>
        </p:nvSpPr>
        <p:spPr>
          <a:xfrm>
            <a:off x="9692640" y="502920"/>
            <a:ext cx="1417320" cy="1417320"/>
          </a:xfrm>
          <a:prstGeom prst="ellipse">
            <a:avLst/>
          </a:prstGeom>
          <a:solidFill>
            <a:srgbClr val="8B5E3C"/>
          </a:solidFill>
          <a:ln/>
          <a:effectLst>
            <a:outerShdw sx="100000" sy="100000" kx="0" ky="0" algn="bl" rotWithShape="0" blurRad="101600" dist="38100" dir="5400000">
              <a:srgbClr val="2B2118">
                <a:alpha val="28000"/>
              </a:srgbClr>
            </a:outerShdw>
          </a:effectLst>
        </p:spPr>
      </p:sp>
      <p:pic>
        <p:nvPicPr>
          <p:cNvPr id="5" name="Image 0" descr="preencoded.png">    </p:cNvPr>
          <p:cNvPicPr>
            <a:picLocks noChangeAspect="1"/>
          </p:cNvPicPr>
          <p:nvPr/>
        </p:nvPicPr>
        <p:blipFill>
          <a:blip r:embed="rId1"/>
          <a:stretch>
            <a:fillRect/>
          </a:stretch>
        </p:blipFill>
        <p:spPr>
          <a:xfrm>
            <a:off x="10046970" y="857250"/>
            <a:ext cx="708660" cy="708660"/>
          </a:xfrm>
          <a:prstGeom prst="rect">
            <a:avLst/>
          </a:prstGeom>
        </p:spPr>
      </p:pic>
      <p:sp>
        <p:nvSpPr>
          <p:cNvPr id="6" name="Text 3"/>
          <p:cNvSpPr/>
          <p:nvPr/>
        </p:nvSpPr>
        <p:spPr>
          <a:xfrm>
            <a:off x="9006840" y="2011680"/>
            <a:ext cx="2743200" cy="320040"/>
          </a:xfrm>
          <a:prstGeom prst="rect">
            <a:avLst/>
          </a:prstGeom>
          <a:noFill/>
          <a:ln/>
        </p:spPr>
        <p:txBody>
          <a:bodyPr wrap="square" lIns="0" tIns="0" rIns="0" bIns="0" rtlCol="0" anchor="ctr"/>
          <a:lstStyle/>
          <a:p>
            <a:pPr algn="ctr" indent="0" marL="0">
              <a:buNone/>
            </a:pPr>
            <a:r>
              <a:rPr lang="en-US" sz="1350" b="1" dirty="0">
                <a:solidFill>
                  <a:srgbClr val="5C3A21"/>
                </a:solidFill>
                <a:latin typeface="Cambria" pitchFamily="34" charset="0"/>
                <a:ea typeface="Cambria" pitchFamily="34" charset="-122"/>
                <a:cs typeface="Cambria" pitchFamily="34" charset="-120"/>
              </a:rPr>
              <a:t>1894 – 1985</a:t>
            </a:r>
            <a:endParaRPr lang="en-US" sz="1350" dirty="0"/>
          </a:p>
        </p:txBody>
      </p:sp>
      <p:sp>
        <p:nvSpPr>
          <p:cNvPr id="7" name="Text 4"/>
          <p:cNvSpPr/>
          <p:nvPr/>
        </p:nvSpPr>
        <p:spPr>
          <a:xfrm>
            <a:off x="548640" y="1691640"/>
            <a:ext cx="8229600" cy="914400"/>
          </a:xfrm>
          <a:prstGeom prst="rect">
            <a:avLst/>
          </a:prstGeom>
          <a:noFill/>
          <a:ln/>
        </p:spPr>
        <p:txBody>
          <a:bodyPr wrap="square" lIns="0" tIns="0" rIns="0" bIns="0" rtlCol="0" anchor="ctr"/>
          <a:lstStyle/>
          <a:p>
            <a:pPr indent="0" marL="0">
              <a:lnSpc>
                <a:spcPct val="122000"/>
              </a:lnSpc>
              <a:buNone/>
            </a:pPr>
            <a:r>
              <a:rPr lang="en-US" sz="1300" dirty="0">
                <a:solidFill>
                  <a:srgbClr val="3A2E22"/>
                </a:solidFill>
                <a:latin typeface="Calibri" pitchFamily="34" charset="0"/>
                <a:ea typeface="Calibri" pitchFamily="34" charset="-122"/>
                <a:cs typeface="Calibri" pitchFamily="34" charset="-120"/>
              </a:rPr>
              <a:t>Anestesiólogo canadiense de Montreal, Griffith introdujo un tercer pilar en la práctica anestésica —la relajación muscular farmacológica— independiente de la profundidad hipnótica.</a:t>
            </a:r>
            <a:endParaRPr lang="en-US" sz="1300" dirty="0"/>
          </a:p>
        </p:txBody>
      </p:sp>
      <p:sp>
        <p:nvSpPr>
          <p:cNvPr id="8" name="Shape 5"/>
          <p:cNvSpPr/>
          <p:nvPr/>
        </p:nvSpPr>
        <p:spPr>
          <a:xfrm>
            <a:off x="548640" y="2697480"/>
            <a:ext cx="11091672" cy="2423160"/>
          </a:xfrm>
          <a:prstGeom prst="roundRect">
            <a:avLst>
              <a:gd name="adj" fmla="val 3019"/>
            </a:avLst>
          </a:prstGeom>
          <a:solidFill>
            <a:srgbClr val="C9A66B">
              <a:alpha val="9000"/>
            </a:srgbClr>
          </a:solidFill>
          <a:ln/>
        </p:spPr>
      </p:sp>
      <p:sp>
        <p:nvSpPr>
          <p:cNvPr id="9" name="Text 6"/>
          <p:cNvSpPr/>
          <p:nvPr/>
        </p:nvSpPr>
        <p:spPr>
          <a:xfrm>
            <a:off x="868680" y="2971800"/>
            <a:ext cx="5212080" cy="1965960"/>
          </a:xfrm>
          <a:prstGeom prst="rect">
            <a:avLst/>
          </a:prstGeom>
          <a:noFill/>
          <a:ln/>
        </p:spPr>
        <p:txBody>
          <a:bodyPr wrap="square" lIns="0" tIns="0" rIns="0" bIns="0" rtlCol="0" anchor="t"/>
          <a:lstStyle/>
          <a:p>
            <a:pPr marL="203200" indent="-203200">
              <a:lnSpc>
                <a:spcPct val="105000"/>
              </a:lnSpc>
              <a:spcAft>
                <a:spcPts val="1200"/>
              </a:spcAft>
              <a:buSzPct val="100000"/>
              <a:buChar char="•"/>
            </a:pPr>
            <a:r>
              <a:rPr lang="en-US" sz="1250" dirty="0">
                <a:solidFill>
                  <a:srgbClr val="3A2E22"/>
                </a:solidFill>
                <a:latin typeface="Calibri" pitchFamily="34" charset="0"/>
                <a:ea typeface="Calibri" pitchFamily="34" charset="-122"/>
                <a:cs typeface="Calibri" pitchFamily="34" charset="-120"/>
              </a:rPr>
              <a:t>El 23 de enero de 1942, junto con Enid Johnson, administró intocostrina (curare purificado) durante una apendicectomía bajo ciclopropano.</a:t>
            </a:r>
            <a:endParaRPr lang="en-US" sz="1250" dirty="0"/>
          </a:p>
          <a:p>
            <a:pPr marL="203200" indent="-203200">
              <a:lnSpc>
                <a:spcPct val="105000"/>
              </a:lnSpc>
              <a:spcAft>
                <a:spcPts val="1200"/>
              </a:spcAft>
              <a:buSzPct val="100000"/>
              <a:buChar char="•"/>
            </a:pPr>
            <a:r>
              <a:rPr lang="en-US" sz="1250" dirty="0">
                <a:solidFill>
                  <a:srgbClr val="3A2E22"/>
                </a:solidFill>
                <a:latin typeface="Calibri" pitchFamily="34" charset="0"/>
                <a:ea typeface="Calibri" pitchFamily="34" charset="-122"/>
                <a:cs typeface="Calibri" pitchFamily="34" charset="-120"/>
              </a:rPr>
              <a:t>Demostró que la relajación muscular podía lograrse farmacológicamente, sin necesidad de planos anestésicos profundos y depresores.</a:t>
            </a:r>
            <a:endParaRPr lang="en-US" sz="1250" dirty="0"/>
          </a:p>
        </p:txBody>
      </p:sp>
      <p:sp>
        <p:nvSpPr>
          <p:cNvPr id="10" name="Text 7"/>
          <p:cNvSpPr/>
          <p:nvPr/>
        </p:nvSpPr>
        <p:spPr>
          <a:xfrm>
            <a:off x="6309360" y="2971800"/>
            <a:ext cx="5212080" cy="1965960"/>
          </a:xfrm>
          <a:prstGeom prst="rect">
            <a:avLst/>
          </a:prstGeom>
          <a:noFill/>
          <a:ln/>
        </p:spPr>
        <p:txBody>
          <a:bodyPr wrap="square" lIns="0" tIns="0" rIns="0" bIns="0" rtlCol="0" anchor="t"/>
          <a:lstStyle/>
          <a:p>
            <a:pPr marL="203200" indent="-203200">
              <a:lnSpc>
                <a:spcPct val="105000"/>
              </a:lnSpc>
              <a:spcAft>
                <a:spcPts val="1200"/>
              </a:spcAft>
              <a:buSzPct val="100000"/>
              <a:buChar char="•"/>
            </a:pPr>
            <a:r>
              <a:rPr lang="en-US" sz="1250" dirty="0">
                <a:solidFill>
                  <a:srgbClr val="3A2E22"/>
                </a:solidFill>
                <a:latin typeface="Calibri" pitchFamily="34" charset="0"/>
                <a:ea typeface="Calibri" pitchFamily="34" charset="-122"/>
                <a:cs typeface="Calibri" pitchFamily="34" charset="-120"/>
              </a:rPr>
              <a:t>Permitió cirugía abdominal con anestesia más ligera, reduciendo la depresión cardiorrespiratoria asociada a planos profundos de éter o ciclopropano.</a:t>
            </a:r>
            <a:endParaRPr lang="en-US" sz="1250" dirty="0"/>
          </a:p>
          <a:p>
            <a:pPr marL="203200" indent="-203200">
              <a:lnSpc>
                <a:spcPct val="105000"/>
              </a:lnSpc>
              <a:spcAft>
                <a:spcPts val="1200"/>
              </a:spcAft>
              <a:buSzPct val="100000"/>
              <a:buChar char="•"/>
            </a:pPr>
            <a:r>
              <a:rPr lang="en-US" sz="1250" dirty="0">
                <a:solidFill>
                  <a:srgbClr val="3A2E22"/>
                </a:solidFill>
                <a:latin typeface="Calibri" pitchFamily="34" charset="0"/>
                <a:ea typeface="Calibri" pitchFamily="34" charset="-122"/>
                <a:cs typeface="Calibri" pitchFamily="34" charset="-120"/>
              </a:rPr>
              <a:t>Sentó las bases de la 'tríada anestésica' —hipnosis, analgesia y relajación muscular— formalizada después por Cecil Gray y J. P. Rees en la década de 1950.</a:t>
            </a:r>
            <a:endParaRPr lang="en-US" sz="1250" dirty="0"/>
          </a:p>
        </p:txBody>
      </p:sp>
      <p:sp>
        <p:nvSpPr>
          <p:cNvPr id="11" name="Text 8"/>
          <p:cNvSpPr/>
          <p:nvPr/>
        </p:nvSpPr>
        <p:spPr>
          <a:xfrm>
            <a:off x="548640" y="6473952"/>
            <a:ext cx="6400800" cy="274320"/>
          </a:xfrm>
          <a:prstGeom prst="rect">
            <a:avLst/>
          </a:prstGeom>
          <a:noFill/>
          <a:ln/>
        </p:spPr>
        <p:txBody>
          <a:bodyPr wrap="square" lIns="0" tIns="0" rIns="0" bIns="0" rtlCol="0" anchor="ctr"/>
          <a:lstStyle/>
          <a:p>
            <a:pPr indent="0" marL="0">
              <a:buNone/>
            </a:pPr>
            <a:r>
              <a:rPr lang="en-US" sz="850" spc="100" kern="0" dirty="0">
                <a:solidFill>
                  <a:srgbClr val="7A6A57"/>
                </a:solidFill>
                <a:latin typeface="Calibri" pitchFamily="34" charset="0"/>
                <a:ea typeface="Calibri" pitchFamily="34" charset="-122"/>
                <a:cs typeface="Calibri" pitchFamily="34" charset="-120"/>
              </a:rPr>
              <a:t>CAPÍTULO II  ·  HISTORIA DE LA ANESTESIA</a:t>
            </a:r>
            <a:endParaRPr lang="en-US" sz="850" dirty="0"/>
          </a:p>
        </p:txBody>
      </p:sp>
      <p:sp>
        <p:nvSpPr>
          <p:cNvPr id="12" name="Text 9"/>
          <p:cNvSpPr/>
          <p:nvPr/>
        </p:nvSpPr>
        <p:spPr>
          <a:xfrm>
            <a:off x="10728655" y="6473952"/>
            <a:ext cx="914400" cy="274320"/>
          </a:xfrm>
          <a:prstGeom prst="rect">
            <a:avLst/>
          </a:prstGeom>
          <a:noFill/>
          <a:ln/>
        </p:spPr>
        <p:txBody>
          <a:bodyPr wrap="square" lIns="0" tIns="0" rIns="0" bIns="0" rtlCol="0" anchor="ctr"/>
          <a:lstStyle/>
          <a:p>
            <a:pPr algn="r" indent="0" marL="0">
              <a:buNone/>
            </a:pPr>
            <a:r>
              <a:rPr lang="en-US" sz="850" dirty="0">
                <a:solidFill>
                  <a:srgbClr val="7A6A57"/>
                </a:solidFill>
                <a:latin typeface="Calibri" pitchFamily="34" charset="0"/>
                <a:ea typeface="Calibri" pitchFamily="34" charset="-122"/>
                <a:cs typeface="Calibri" pitchFamily="34" charset="-120"/>
              </a:rPr>
              <a:t>21</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lIns="0" tIns="0" rIns="0" bIns="0" rtlCol="0" anchor="ctr"/>
          <a:lstStyle/>
          <a:p>
            <a:pPr indent="0" marL="0">
              <a:buNone/>
            </a:pPr>
            <a:r>
              <a:rPr lang="en-US" sz="1200" b="1" spc="200" kern="0" dirty="0">
                <a:solidFill>
                  <a:srgbClr val="8B5E3C"/>
                </a:solidFill>
                <a:latin typeface="Calibri" pitchFamily="34" charset="0"/>
                <a:ea typeface="Calibri" pitchFamily="34" charset="-122"/>
                <a:cs typeface="Calibri" pitchFamily="34" charset="-120"/>
              </a:rPr>
              <a:t>FARMACOLOGÍA INHALATORIA</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t"/>
          <a:lstStyle/>
          <a:p>
            <a:pPr indent="0" marL="0">
              <a:buNone/>
            </a:pPr>
            <a:r>
              <a:rPr lang="en-US" sz="2900" b="1" dirty="0">
                <a:solidFill>
                  <a:srgbClr val="5C3A21"/>
                </a:solidFill>
                <a:latin typeface="Cambria" pitchFamily="34" charset="0"/>
                <a:ea typeface="Cambria" pitchFamily="34" charset="-122"/>
                <a:cs typeface="Cambria" pitchFamily="34" charset="-120"/>
              </a:rPr>
              <a:t>La era de los anestésicos halogenados: el halotano (1956)</a:t>
            </a:r>
            <a:endParaRPr lang="en-US" sz="2900" dirty="0"/>
          </a:p>
        </p:txBody>
      </p:sp>
      <p:sp>
        <p:nvSpPr>
          <p:cNvPr id="4" name="Text 2"/>
          <p:cNvSpPr/>
          <p:nvPr/>
        </p:nvSpPr>
        <p:spPr>
          <a:xfrm>
            <a:off x="548640" y="1691640"/>
            <a:ext cx="11064240" cy="777240"/>
          </a:xfrm>
          <a:prstGeom prst="rect">
            <a:avLst/>
          </a:prstGeom>
          <a:noFill/>
          <a:ln/>
        </p:spPr>
        <p:txBody>
          <a:bodyPr wrap="square" lIns="0" tIns="0" rIns="0" bIns="0" rtlCol="0" anchor="ctr"/>
          <a:lstStyle/>
          <a:p>
            <a:pPr indent="0" marL="0">
              <a:lnSpc>
                <a:spcPct val="122000"/>
              </a:lnSpc>
              <a:buNone/>
            </a:pPr>
            <a:r>
              <a:rPr lang="en-US" sz="1300" dirty="0">
                <a:solidFill>
                  <a:srgbClr val="3A2E22"/>
                </a:solidFill>
                <a:latin typeface="Calibri" pitchFamily="34" charset="0"/>
                <a:ea typeface="Calibri" pitchFamily="34" charset="-122"/>
                <a:cs typeface="Calibri" pitchFamily="34" charset="-120"/>
              </a:rPr>
              <a:t>Tras décadas de uso de éter y ciclopropano —agentes inflamables y explosivos, con riesgo real en quirófano— la industria química británica impulsó la búsqueda de anestésicos inhalatorios no inflamables y más potentes.</a:t>
            </a:r>
            <a:endParaRPr lang="en-US" sz="1300" dirty="0"/>
          </a:p>
        </p:txBody>
      </p:sp>
      <p:sp>
        <p:nvSpPr>
          <p:cNvPr id="5" name="Shape 3"/>
          <p:cNvSpPr/>
          <p:nvPr/>
        </p:nvSpPr>
        <p:spPr>
          <a:xfrm>
            <a:off x="548640" y="2606040"/>
            <a:ext cx="5349240" cy="3520440"/>
          </a:xfrm>
          <a:prstGeom prst="roundRect">
            <a:avLst>
              <a:gd name="adj" fmla="val 2078"/>
            </a:avLst>
          </a:prstGeom>
          <a:solidFill>
            <a:srgbClr val="8B5E3C">
              <a:alpha val="12000"/>
            </a:srgbClr>
          </a:solidFill>
          <a:ln/>
        </p:spPr>
      </p:sp>
      <p:sp>
        <p:nvSpPr>
          <p:cNvPr id="6" name="Shape 4"/>
          <p:cNvSpPr/>
          <p:nvPr/>
        </p:nvSpPr>
        <p:spPr>
          <a:xfrm>
            <a:off x="868680" y="2834640"/>
            <a:ext cx="914400" cy="914400"/>
          </a:xfrm>
          <a:prstGeom prst="ellipse">
            <a:avLst/>
          </a:prstGeom>
          <a:solidFill>
            <a:srgbClr val="5C3A21"/>
          </a:solidFill>
          <a:ln/>
          <a:effectLst>
            <a:outerShdw sx="100000" sy="100000" kx="0" ky="0" algn="bl" rotWithShape="0" blurRad="101600" dist="38100" dir="5400000">
              <a:srgbClr val="2B2118">
                <a:alpha val="28000"/>
              </a:srgbClr>
            </a:outerShdw>
          </a:effectLst>
        </p:spPr>
      </p:sp>
      <p:pic>
        <p:nvPicPr>
          <p:cNvPr id="7" name="Image 0" descr="preencoded.png">    </p:cNvPr>
          <p:cNvPicPr>
            <a:picLocks noChangeAspect="1"/>
          </p:cNvPicPr>
          <p:nvPr/>
        </p:nvPicPr>
        <p:blipFill>
          <a:blip r:embed="rId1"/>
          <a:stretch>
            <a:fillRect/>
          </a:stretch>
        </p:blipFill>
        <p:spPr>
          <a:xfrm>
            <a:off x="1097280" y="3063240"/>
            <a:ext cx="457200" cy="457200"/>
          </a:xfrm>
          <a:prstGeom prst="rect">
            <a:avLst/>
          </a:prstGeom>
        </p:spPr>
      </p:pic>
      <p:sp>
        <p:nvSpPr>
          <p:cNvPr id="8" name="Text 5"/>
          <p:cNvSpPr/>
          <p:nvPr/>
        </p:nvSpPr>
        <p:spPr>
          <a:xfrm>
            <a:off x="1965960" y="2926080"/>
            <a:ext cx="3657600" cy="457200"/>
          </a:xfrm>
          <a:prstGeom prst="rect">
            <a:avLst/>
          </a:prstGeom>
          <a:noFill/>
          <a:ln/>
        </p:spPr>
        <p:txBody>
          <a:bodyPr wrap="square" lIns="0" tIns="0" rIns="0" bIns="0" rtlCol="0" anchor="ctr"/>
          <a:lstStyle/>
          <a:p>
            <a:pPr indent="0" marL="0">
              <a:buNone/>
            </a:pPr>
            <a:r>
              <a:rPr lang="en-US" sz="2400" b="1" dirty="0">
                <a:solidFill>
                  <a:srgbClr val="5C3A21"/>
                </a:solidFill>
                <a:latin typeface="Cambria" pitchFamily="34" charset="0"/>
                <a:ea typeface="Cambria" pitchFamily="34" charset="-122"/>
                <a:cs typeface="Cambria" pitchFamily="34" charset="-120"/>
              </a:rPr>
              <a:t>1956</a:t>
            </a:r>
            <a:endParaRPr lang="en-US" sz="2400" dirty="0"/>
          </a:p>
        </p:txBody>
      </p:sp>
      <p:sp>
        <p:nvSpPr>
          <p:cNvPr id="9" name="Text 6"/>
          <p:cNvSpPr/>
          <p:nvPr/>
        </p:nvSpPr>
        <p:spPr>
          <a:xfrm>
            <a:off x="1965960" y="3364992"/>
            <a:ext cx="3749040" cy="502920"/>
          </a:xfrm>
          <a:prstGeom prst="rect">
            <a:avLst/>
          </a:prstGeom>
          <a:noFill/>
          <a:ln/>
        </p:spPr>
        <p:txBody>
          <a:bodyPr wrap="square" lIns="0" tIns="0" rIns="0" bIns="0" rtlCol="0" anchor="ctr"/>
          <a:lstStyle/>
          <a:p>
            <a:pPr indent="0" marL="0">
              <a:lnSpc>
                <a:spcPct val="115000"/>
              </a:lnSpc>
              <a:buNone/>
            </a:pPr>
            <a:r>
              <a:rPr lang="en-US" sz="1200" b="1" dirty="0">
                <a:solidFill>
                  <a:srgbClr val="3A2E22"/>
                </a:solidFill>
                <a:latin typeface="Calibri" pitchFamily="34" charset="0"/>
                <a:ea typeface="Calibri" pitchFamily="34" charset="-122"/>
                <a:cs typeface="Calibri" pitchFamily="34" charset="-120"/>
              </a:rPr>
              <a:t>Halotano — Charles Suckling (ICI)</a:t>
            </a:r>
            <a:endParaRPr lang="en-US" sz="1200" dirty="0"/>
          </a:p>
        </p:txBody>
      </p:sp>
      <p:sp>
        <p:nvSpPr>
          <p:cNvPr id="10" name="Text 7"/>
          <p:cNvSpPr/>
          <p:nvPr/>
        </p:nvSpPr>
        <p:spPr>
          <a:xfrm>
            <a:off x="868680" y="3977640"/>
            <a:ext cx="4754880" cy="2103120"/>
          </a:xfrm>
          <a:prstGeom prst="rect">
            <a:avLst/>
          </a:prstGeom>
          <a:noFill/>
          <a:ln/>
        </p:spPr>
        <p:txBody>
          <a:bodyPr wrap="square" lIns="0" tIns="0" rIns="0" bIns="0" rtlCol="0" anchor="t"/>
          <a:lstStyle/>
          <a:p>
            <a:pPr marL="203200" indent="-203200">
              <a:lnSpc>
                <a:spcPct val="105000"/>
              </a:lnSpc>
              <a:spcAft>
                <a:spcPts val="800"/>
              </a:spcAft>
              <a:buSzPct val="100000"/>
              <a:buChar char="•"/>
            </a:pPr>
            <a:r>
              <a:rPr lang="en-US" sz="1100" dirty="0">
                <a:solidFill>
                  <a:srgbClr val="3A2E22"/>
                </a:solidFill>
                <a:latin typeface="Calibri" pitchFamily="34" charset="0"/>
                <a:ea typeface="Calibri" pitchFamily="34" charset="-122"/>
                <a:cs typeface="Calibri" pitchFamily="34" charset="-120"/>
              </a:rPr>
              <a:t>Sintetizado por Charles Suckling en el Reino Unido; introducido clínicamente en 1956 por Michael Johnstone.</a:t>
            </a:r>
            <a:endParaRPr lang="en-US" sz="1100" dirty="0"/>
          </a:p>
          <a:p>
            <a:pPr marL="203200" indent="-203200">
              <a:lnSpc>
                <a:spcPct val="105000"/>
              </a:lnSpc>
              <a:spcAft>
                <a:spcPts val="800"/>
              </a:spcAft>
              <a:buSzPct val="100000"/>
              <a:buChar char="•"/>
            </a:pPr>
            <a:r>
              <a:rPr lang="en-US" sz="1100" dirty="0">
                <a:solidFill>
                  <a:srgbClr val="3A2E22"/>
                </a:solidFill>
                <a:latin typeface="Calibri" pitchFamily="34" charset="0"/>
                <a:ea typeface="Calibri" pitchFamily="34" charset="-122"/>
                <a:cs typeface="Calibri" pitchFamily="34" charset="-120"/>
              </a:rPr>
              <a:t>No inflamable, no explosivo, de inducción más suave y mayor potencia que sus predecesores.</a:t>
            </a:r>
            <a:endParaRPr lang="en-US" sz="1100" dirty="0"/>
          </a:p>
          <a:p>
            <a:pPr marL="203200" indent="-203200">
              <a:lnSpc>
                <a:spcPct val="105000"/>
              </a:lnSpc>
              <a:spcAft>
                <a:spcPts val="800"/>
              </a:spcAft>
              <a:buSzPct val="100000"/>
              <a:buChar char="•"/>
            </a:pPr>
            <a:r>
              <a:rPr lang="en-US" sz="1100" dirty="0">
                <a:solidFill>
                  <a:srgbClr val="3A2E22"/>
                </a:solidFill>
                <a:latin typeface="Calibri" pitchFamily="34" charset="0"/>
                <a:ea typeface="Calibri" pitchFamily="34" charset="-122"/>
                <a:cs typeface="Calibri" pitchFamily="34" charset="-120"/>
              </a:rPr>
              <a:t>Uso amplio y dominante entre las décadas de 1960 y 1980 en todo el mundo.</a:t>
            </a:r>
            <a:endParaRPr lang="en-US" sz="1100" dirty="0"/>
          </a:p>
          <a:p>
            <a:pPr marL="203200" indent="-203200">
              <a:lnSpc>
                <a:spcPct val="105000"/>
              </a:lnSpc>
              <a:spcAft>
                <a:spcPts val="800"/>
              </a:spcAft>
              <a:buSzPct val="100000"/>
              <a:buChar char="•"/>
            </a:pPr>
            <a:r>
              <a:rPr lang="en-US" sz="1100" dirty="0">
                <a:solidFill>
                  <a:srgbClr val="3A2E22"/>
                </a:solidFill>
                <a:latin typeface="Calibri" pitchFamily="34" charset="0"/>
                <a:ea typeface="Calibri" pitchFamily="34" charset="-122"/>
                <a:cs typeface="Calibri" pitchFamily="34" charset="-120"/>
              </a:rPr>
              <a:t>Riesgo reconocido de hepatitis por halotano (hepatotoxicidad idiosincrática), que impulsó el desarrollo de halogenados más seguros.</a:t>
            </a:r>
            <a:endParaRPr lang="en-US" sz="1100" dirty="0"/>
          </a:p>
        </p:txBody>
      </p:sp>
      <p:sp>
        <p:nvSpPr>
          <p:cNvPr id="11" name="Shape 8"/>
          <p:cNvSpPr/>
          <p:nvPr/>
        </p:nvSpPr>
        <p:spPr>
          <a:xfrm>
            <a:off x="6492240" y="2606040"/>
            <a:ext cx="5148072" cy="795528"/>
          </a:xfrm>
          <a:prstGeom prst="roundRect">
            <a:avLst>
              <a:gd name="adj" fmla="val 9195"/>
            </a:avLst>
          </a:prstGeom>
          <a:solidFill>
            <a:srgbClr val="C9A66B">
              <a:alpha val="9000"/>
            </a:srgbClr>
          </a:solidFill>
          <a:ln/>
        </p:spPr>
      </p:sp>
      <p:sp>
        <p:nvSpPr>
          <p:cNvPr id="12" name="Text 9"/>
          <p:cNvSpPr/>
          <p:nvPr/>
        </p:nvSpPr>
        <p:spPr>
          <a:xfrm>
            <a:off x="6675120" y="2606040"/>
            <a:ext cx="914400" cy="795528"/>
          </a:xfrm>
          <a:prstGeom prst="rect">
            <a:avLst/>
          </a:prstGeom>
          <a:noFill/>
          <a:ln/>
        </p:spPr>
        <p:txBody>
          <a:bodyPr wrap="square" lIns="0" tIns="0" rIns="0" bIns="0" rtlCol="0" anchor="ctr"/>
          <a:lstStyle/>
          <a:p>
            <a:pPr indent="0" marL="0">
              <a:buNone/>
            </a:pPr>
            <a:r>
              <a:rPr lang="en-US" sz="1500" b="1" dirty="0">
                <a:solidFill>
                  <a:srgbClr val="5C3A21"/>
                </a:solidFill>
                <a:latin typeface="Cambria" pitchFamily="34" charset="0"/>
                <a:ea typeface="Cambria" pitchFamily="34" charset="-122"/>
                <a:cs typeface="Cambria" pitchFamily="34" charset="-120"/>
              </a:rPr>
              <a:t>1956</a:t>
            </a:r>
            <a:endParaRPr lang="en-US" sz="1500" dirty="0"/>
          </a:p>
        </p:txBody>
      </p:sp>
      <p:sp>
        <p:nvSpPr>
          <p:cNvPr id="13" name="Text 10"/>
          <p:cNvSpPr/>
          <p:nvPr/>
        </p:nvSpPr>
        <p:spPr>
          <a:xfrm>
            <a:off x="7635240" y="2679192"/>
            <a:ext cx="1920240" cy="365760"/>
          </a:xfrm>
          <a:prstGeom prst="rect">
            <a:avLst/>
          </a:prstGeom>
          <a:noFill/>
          <a:ln/>
        </p:spPr>
        <p:txBody>
          <a:bodyPr wrap="square" lIns="0" tIns="0" rIns="0" bIns="0" rtlCol="0" anchor="ctr"/>
          <a:lstStyle/>
          <a:p>
            <a:pPr indent="0" marL="0">
              <a:buNone/>
            </a:pPr>
            <a:r>
              <a:rPr lang="en-US" sz="1200" b="1" dirty="0">
                <a:solidFill>
                  <a:srgbClr val="3A2E22"/>
                </a:solidFill>
                <a:latin typeface="Calibri" pitchFamily="34" charset="0"/>
                <a:ea typeface="Calibri" pitchFamily="34" charset="-122"/>
                <a:cs typeface="Calibri" pitchFamily="34" charset="-120"/>
              </a:rPr>
              <a:t>Halotano</a:t>
            </a:r>
            <a:endParaRPr lang="en-US" sz="1200" dirty="0"/>
          </a:p>
        </p:txBody>
      </p:sp>
      <p:sp>
        <p:nvSpPr>
          <p:cNvPr id="14" name="Text 11"/>
          <p:cNvSpPr/>
          <p:nvPr/>
        </p:nvSpPr>
        <p:spPr>
          <a:xfrm>
            <a:off x="7635240" y="3008376"/>
            <a:ext cx="3822192" cy="365760"/>
          </a:xfrm>
          <a:prstGeom prst="rect">
            <a:avLst/>
          </a:prstGeom>
          <a:noFill/>
          <a:ln/>
        </p:spPr>
        <p:txBody>
          <a:bodyPr wrap="square" lIns="0" tIns="0" rIns="0" bIns="0" rtlCol="0" anchor="ctr"/>
          <a:lstStyle/>
          <a:p>
            <a:pPr indent="0" marL="0">
              <a:lnSpc>
                <a:spcPct val="110000"/>
              </a:lnSpc>
              <a:buNone/>
            </a:pPr>
            <a:r>
              <a:rPr lang="en-US" sz="980" dirty="0">
                <a:solidFill>
                  <a:srgbClr val="7A6A57"/>
                </a:solidFill>
                <a:latin typeface="Calibri" pitchFamily="34" charset="0"/>
                <a:ea typeface="Calibri" pitchFamily="34" charset="-122"/>
                <a:cs typeface="Calibri" pitchFamily="34" charset="-120"/>
              </a:rPr>
              <a:t>Primer halogenado no inflamable de uso amplio</a:t>
            </a:r>
            <a:endParaRPr lang="en-US" sz="980" dirty="0"/>
          </a:p>
        </p:txBody>
      </p:sp>
      <p:sp>
        <p:nvSpPr>
          <p:cNvPr id="15" name="Shape 12"/>
          <p:cNvSpPr/>
          <p:nvPr/>
        </p:nvSpPr>
        <p:spPr>
          <a:xfrm>
            <a:off x="6492240" y="3488436"/>
            <a:ext cx="5148072" cy="795528"/>
          </a:xfrm>
          <a:prstGeom prst="roundRect">
            <a:avLst>
              <a:gd name="adj" fmla="val 9195"/>
            </a:avLst>
          </a:prstGeom>
          <a:solidFill>
            <a:srgbClr val="C9A66B">
              <a:alpha val="9000"/>
            </a:srgbClr>
          </a:solidFill>
          <a:ln/>
        </p:spPr>
      </p:sp>
      <p:sp>
        <p:nvSpPr>
          <p:cNvPr id="16" name="Text 13"/>
          <p:cNvSpPr/>
          <p:nvPr/>
        </p:nvSpPr>
        <p:spPr>
          <a:xfrm>
            <a:off x="6675120" y="3488436"/>
            <a:ext cx="914400" cy="795528"/>
          </a:xfrm>
          <a:prstGeom prst="rect">
            <a:avLst/>
          </a:prstGeom>
          <a:noFill/>
          <a:ln/>
        </p:spPr>
        <p:txBody>
          <a:bodyPr wrap="square" lIns="0" tIns="0" rIns="0" bIns="0" rtlCol="0" anchor="ctr"/>
          <a:lstStyle/>
          <a:p>
            <a:pPr indent="0" marL="0">
              <a:buNone/>
            </a:pPr>
            <a:r>
              <a:rPr lang="en-US" sz="1500" b="1" dirty="0">
                <a:solidFill>
                  <a:srgbClr val="5C3A21"/>
                </a:solidFill>
                <a:latin typeface="Cambria" pitchFamily="34" charset="0"/>
                <a:ea typeface="Cambria" pitchFamily="34" charset="-122"/>
                <a:cs typeface="Cambria" pitchFamily="34" charset="-120"/>
              </a:rPr>
              <a:t>1972</a:t>
            </a:r>
            <a:endParaRPr lang="en-US" sz="1500" dirty="0"/>
          </a:p>
        </p:txBody>
      </p:sp>
      <p:sp>
        <p:nvSpPr>
          <p:cNvPr id="17" name="Text 14"/>
          <p:cNvSpPr/>
          <p:nvPr/>
        </p:nvSpPr>
        <p:spPr>
          <a:xfrm>
            <a:off x="7635240" y="3561588"/>
            <a:ext cx="1920240" cy="365760"/>
          </a:xfrm>
          <a:prstGeom prst="rect">
            <a:avLst/>
          </a:prstGeom>
          <a:noFill/>
          <a:ln/>
        </p:spPr>
        <p:txBody>
          <a:bodyPr wrap="square" lIns="0" tIns="0" rIns="0" bIns="0" rtlCol="0" anchor="ctr"/>
          <a:lstStyle/>
          <a:p>
            <a:pPr indent="0" marL="0">
              <a:buNone/>
            </a:pPr>
            <a:r>
              <a:rPr lang="en-US" sz="1200" b="1" dirty="0">
                <a:solidFill>
                  <a:srgbClr val="3A2E22"/>
                </a:solidFill>
                <a:latin typeface="Calibri" pitchFamily="34" charset="0"/>
                <a:ea typeface="Calibri" pitchFamily="34" charset="-122"/>
                <a:cs typeface="Calibri" pitchFamily="34" charset="-120"/>
              </a:rPr>
              <a:t>Enflurano</a:t>
            </a:r>
            <a:endParaRPr lang="en-US" sz="1200" dirty="0"/>
          </a:p>
        </p:txBody>
      </p:sp>
      <p:sp>
        <p:nvSpPr>
          <p:cNvPr id="18" name="Text 15"/>
          <p:cNvSpPr/>
          <p:nvPr/>
        </p:nvSpPr>
        <p:spPr>
          <a:xfrm>
            <a:off x="7635240" y="3890772"/>
            <a:ext cx="3822192" cy="365760"/>
          </a:xfrm>
          <a:prstGeom prst="rect">
            <a:avLst/>
          </a:prstGeom>
          <a:noFill/>
          <a:ln/>
        </p:spPr>
        <p:txBody>
          <a:bodyPr wrap="square" lIns="0" tIns="0" rIns="0" bIns="0" rtlCol="0" anchor="ctr"/>
          <a:lstStyle/>
          <a:p>
            <a:pPr indent="0" marL="0">
              <a:lnSpc>
                <a:spcPct val="110000"/>
              </a:lnSpc>
              <a:buNone/>
            </a:pPr>
            <a:r>
              <a:rPr lang="en-US" sz="980" dirty="0">
                <a:solidFill>
                  <a:srgbClr val="7A6A57"/>
                </a:solidFill>
                <a:latin typeface="Calibri" pitchFamily="34" charset="0"/>
                <a:ea typeface="Calibri" pitchFamily="34" charset="-122"/>
                <a:cs typeface="Calibri" pitchFamily="34" charset="-120"/>
              </a:rPr>
              <a:t>Menor potencial arritmogénico que el halotano</a:t>
            </a:r>
            <a:endParaRPr lang="en-US" sz="980" dirty="0"/>
          </a:p>
        </p:txBody>
      </p:sp>
      <p:sp>
        <p:nvSpPr>
          <p:cNvPr id="19" name="Shape 16"/>
          <p:cNvSpPr/>
          <p:nvPr/>
        </p:nvSpPr>
        <p:spPr>
          <a:xfrm>
            <a:off x="6492240" y="4370832"/>
            <a:ext cx="5148072" cy="795528"/>
          </a:xfrm>
          <a:prstGeom prst="roundRect">
            <a:avLst>
              <a:gd name="adj" fmla="val 9195"/>
            </a:avLst>
          </a:prstGeom>
          <a:solidFill>
            <a:srgbClr val="C9A66B">
              <a:alpha val="9000"/>
            </a:srgbClr>
          </a:solidFill>
          <a:ln/>
        </p:spPr>
      </p:sp>
      <p:sp>
        <p:nvSpPr>
          <p:cNvPr id="20" name="Text 17"/>
          <p:cNvSpPr/>
          <p:nvPr/>
        </p:nvSpPr>
        <p:spPr>
          <a:xfrm>
            <a:off x="6675120" y="4370832"/>
            <a:ext cx="914400" cy="795528"/>
          </a:xfrm>
          <a:prstGeom prst="rect">
            <a:avLst/>
          </a:prstGeom>
          <a:noFill/>
          <a:ln/>
        </p:spPr>
        <p:txBody>
          <a:bodyPr wrap="square" lIns="0" tIns="0" rIns="0" bIns="0" rtlCol="0" anchor="ctr"/>
          <a:lstStyle/>
          <a:p>
            <a:pPr indent="0" marL="0">
              <a:buNone/>
            </a:pPr>
            <a:r>
              <a:rPr lang="en-US" sz="1500" b="1" dirty="0">
                <a:solidFill>
                  <a:srgbClr val="5C3A21"/>
                </a:solidFill>
                <a:latin typeface="Cambria" pitchFamily="34" charset="0"/>
                <a:ea typeface="Cambria" pitchFamily="34" charset="-122"/>
                <a:cs typeface="Cambria" pitchFamily="34" charset="-120"/>
              </a:rPr>
              <a:t>1981</a:t>
            </a:r>
            <a:endParaRPr lang="en-US" sz="1500" dirty="0"/>
          </a:p>
        </p:txBody>
      </p:sp>
      <p:sp>
        <p:nvSpPr>
          <p:cNvPr id="21" name="Text 18"/>
          <p:cNvSpPr/>
          <p:nvPr/>
        </p:nvSpPr>
        <p:spPr>
          <a:xfrm>
            <a:off x="7635240" y="4443984"/>
            <a:ext cx="1920240" cy="365760"/>
          </a:xfrm>
          <a:prstGeom prst="rect">
            <a:avLst/>
          </a:prstGeom>
          <a:noFill/>
          <a:ln/>
        </p:spPr>
        <p:txBody>
          <a:bodyPr wrap="square" lIns="0" tIns="0" rIns="0" bIns="0" rtlCol="0" anchor="ctr"/>
          <a:lstStyle/>
          <a:p>
            <a:pPr indent="0" marL="0">
              <a:buNone/>
            </a:pPr>
            <a:r>
              <a:rPr lang="en-US" sz="1200" b="1" dirty="0">
                <a:solidFill>
                  <a:srgbClr val="3A2E22"/>
                </a:solidFill>
                <a:latin typeface="Calibri" pitchFamily="34" charset="0"/>
                <a:ea typeface="Calibri" pitchFamily="34" charset="-122"/>
                <a:cs typeface="Calibri" pitchFamily="34" charset="-120"/>
              </a:rPr>
              <a:t>Isoflurano</a:t>
            </a:r>
            <a:endParaRPr lang="en-US" sz="1200" dirty="0"/>
          </a:p>
        </p:txBody>
      </p:sp>
      <p:sp>
        <p:nvSpPr>
          <p:cNvPr id="22" name="Text 19"/>
          <p:cNvSpPr/>
          <p:nvPr/>
        </p:nvSpPr>
        <p:spPr>
          <a:xfrm>
            <a:off x="7635240" y="4773168"/>
            <a:ext cx="3822192" cy="365760"/>
          </a:xfrm>
          <a:prstGeom prst="rect">
            <a:avLst/>
          </a:prstGeom>
          <a:noFill/>
          <a:ln/>
        </p:spPr>
        <p:txBody>
          <a:bodyPr wrap="square" lIns="0" tIns="0" rIns="0" bIns="0" rtlCol="0" anchor="ctr"/>
          <a:lstStyle/>
          <a:p>
            <a:pPr indent="0" marL="0">
              <a:lnSpc>
                <a:spcPct val="110000"/>
              </a:lnSpc>
              <a:buNone/>
            </a:pPr>
            <a:r>
              <a:rPr lang="en-US" sz="980" dirty="0">
                <a:solidFill>
                  <a:srgbClr val="7A6A57"/>
                </a:solidFill>
                <a:latin typeface="Calibri" pitchFamily="34" charset="0"/>
                <a:ea typeface="Calibri" pitchFamily="34" charset="-122"/>
                <a:cs typeface="Calibri" pitchFamily="34" charset="-120"/>
              </a:rPr>
              <a:t>Mejor estabilidad cardiovascular; estándar por décadas</a:t>
            </a:r>
            <a:endParaRPr lang="en-US" sz="980" dirty="0"/>
          </a:p>
        </p:txBody>
      </p:sp>
      <p:sp>
        <p:nvSpPr>
          <p:cNvPr id="23" name="Shape 20"/>
          <p:cNvSpPr/>
          <p:nvPr/>
        </p:nvSpPr>
        <p:spPr>
          <a:xfrm>
            <a:off x="6492240" y="5253228"/>
            <a:ext cx="5148072" cy="795528"/>
          </a:xfrm>
          <a:prstGeom prst="roundRect">
            <a:avLst>
              <a:gd name="adj" fmla="val 9195"/>
            </a:avLst>
          </a:prstGeom>
          <a:solidFill>
            <a:srgbClr val="C9A66B">
              <a:alpha val="9000"/>
            </a:srgbClr>
          </a:solidFill>
          <a:ln/>
        </p:spPr>
      </p:sp>
      <p:sp>
        <p:nvSpPr>
          <p:cNvPr id="24" name="Text 21"/>
          <p:cNvSpPr/>
          <p:nvPr/>
        </p:nvSpPr>
        <p:spPr>
          <a:xfrm>
            <a:off x="6675120" y="5253228"/>
            <a:ext cx="914400" cy="795528"/>
          </a:xfrm>
          <a:prstGeom prst="rect">
            <a:avLst/>
          </a:prstGeom>
          <a:noFill/>
          <a:ln/>
        </p:spPr>
        <p:txBody>
          <a:bodyPr wrap="square" lIns="0" tIns="0" rIns="0" bIns="0" rtlCol="0" anchor="ctr"/>
          <a:lstStyle/>
          <a:p>
            <a:pPr indent="0" marL="0">
              <a:buNone/>
            </a:pPr>
            <a:r>
              <a:rPr lang="en-US" sz="1500" b="1" dirty="0">
                <a:solidFill>
                  <a:srgbClr val="5C3A21"/>
                </a:solidFill>
                <a:latin typeface="Cambria" pitchFamily="34" charset="0"/>
                <a:ea typeface="Cambria" pitchFamily="34" charset="-122"/>
                <a:cs typeface="Cambria" pitchFamily="34" charset="-120"/>
              </a:rPr>
              <a:t>1990s</a:t>
            </a:r>
            <a:endParaRPr lang="en-US" sz="1500" dirty="0"/>
          </a:p>
        </p:txBody>
      </p:sp>
      <p:sp>
        <p:nvSpPr>
          <p:cNvPr id="25" name="Text 22"/>
          <p:cNvSpPr/>
          <p:nvPr/>
        </p:nvSpPr>
        <p:spPr>
          <a:xfrm>
            <a:off x="7635240" y="5326380"/>
            <a:ext cx="1920240" cy="365760"/>
          </a:xfrm>
          <a:prstGeom prst="rect">
            <a:avLst/>
          </a:prstGeom>
          <a:noFill/>
          <a:ln/>
        </p:spPr>
        <p:txBody>
          <a:bodyPr wrap="square" lIns="0" tIns="0" rIns="0" bIns="0" rtlCol="0" anchor="ctr"/>
          <a:lstStyle/>
          <a:p>
            <a:pPr indent="0" marL="0">
              <a:buNone/>
            </a:pPr>
            <a:r>
              <a:rPr lang="en-US" sz="1200" b="1" dirty="0">
                <a:solidFill>
                  <a:srgbClr val="3A2E22"/>
                </a:solidFill>
                <a:latin typeface="Calibri" pitchFamily="34" charset="0"/>
                <a:ea typeface="Calibri" pitchFamily="34" charset="-122"/>
                <a:cs typeface="Calibri" pitchFamily="34" charset="-120"/>
              </a:rPr>
              <a:t>Sevoflurano / Desflurano</a:t>
            </a:r>
            <a:endParaRPr lang="en-US" sz="1200" dirty="0"/>
          </a:p>
        </p:txBody>
      </p:sp>
      <p:sp>
        <p:nvSpPr>
          <p:cNvPr id="26" name="Text 23"/>
          <p:cNvSpPr/>
          <p:nvPr/>
        </p:nvSpPr>
        <p:spPr>
          <a:xfrm>
            <a:off x="7635240" y="5655564"/>
            <a:ext cx="3822192" cy="365760"/>
          </a:xfrm>
          <a:prstGeom prst="rect">
            <a:avLst/>
          </a:prstGeom>
          <a:noFill/>
          <a:ln/>
        </p:spPr>
        <p:txBody>
          <a:bodyPr wrap="square" lIns="0" tIns="0" rIns="0" bIns="0" rtlCol="0" anchor="ctr"/>
          <a:lstStyle/>
          <a:p>
            <a:pPr indent="0" marL="0">
              <a:lnSpc>
                <a:spcPct val="110000"/>
              </a:lnSpc>
              <a:buNone/>
            </a:pPr>
            <a:r>
              <a:rPr lang="en-US" sz="980" dirty="0">
                <a:solidFill>
                  <a:srgbClr val="7A6A57"/>
                </a:solidFill>
                <a:latin typeface="Calibri" pitchFamily="34" charset="0"/>
                <a:ea typeface="Calibri" pitchFamily="34" charset="-122"/>
                <a:cs typeface="Calibri" pitchFamily="34" charset="-120"/>
              </a:rPr>
              <a:t>Menor solubilidad, inducción y recuperación más rápidas</a:t>
            </a:r>
            <a:endParaRPr lang="en-US" sz="980" dirty="0"/>
          </a:p>
        </p:txBody>
      </p:sp>
      <p:sp>
        <p:nvSpPr>
          <p:cNvPr id="27" name="Text 24"/>
          <p:cNvSpPr/>
          <p:nvPr/>
        </p:nvSpPr>
        <p:spPr>
          <a:xfrm>
            <a:off x="548640" y="6473952"/>
            <a:ext cx="6400800" cy="274320"/>
          </a:xfrm>
          <a:prstGeom prst="rect">
            <a:avLst/>
          </a:prstGeom>
          <a:noFill/>
          <a:ln/>
        </p:spPr>
        <p:txBody>
          <a:bodyPr wrap="square" lIns="0" tIns="0" rIns="0" bIns="0" rtlCol="0" anchor="ctr"/>
          <a:lstStyle/>
          <a:p>
            <a:pPr indent="0" marL="0">
              <a:buNone/>
            </a:pPr>
            <a:r>
              <a:rPr lang="en-US" sz="850" spc="100" kern="0" dirty="0">
                <a:solidFill>
                  <a:srgbClr val="7A6A57"/>
                </a:solidFill>
                <a:latin typeface="Calibri" pitchFamily="34" charset="0"/>
                <a:ea typeface="Calibri" pitchFamily="34" charset="-122"/>
                <a:cs typeface="Calibri" pitchFamily="34" charset="-120"/>
              </a:rPr>
              <a:t>CAPÍTULO II  ·  HISTORIA DE LA ANESTESIA</a:t>
            </a:r>
            <a:endParaRPr lang="en-US" sz="850" dirty="0"/>
          </a:p>
        </p:txBody>
      </p:sp>
      <p:sp>
        <p:nvSpPr>
          <p:cNvPr id="28" name="Text 25"/>
          <p:cNvSpPr/>
          <p:nvPr/>
        </p:nvSpPr>
        <p:spPr>
          <a:xfrm>
            <a:off x="10728655" y="6473952"/>
            <a:ext cx="914400" cy="274320"/>
          </a:xfrm>
          <a:prstGeom prst="rect">
            <a:avLst/>
          </a:prstGeom>
          <a:noFill/>
          <a:ln/>
        </p:spPr>
        <p:txBody>
          <a:bodyPr wrap="square" lIns="0" tIns="0" rIns="0" bIns="0" rtlCol="0" anchor="ctr"/>
          <a:lstStyle/>
          <a:p>
            <a:pPr algn="r" indent="0" marL="0">
              <a:buNone/>
            </a:pPr>
            <a:r>
              <a:rPr lang="en-US" sz="850" dirty="0">
                <a:solidFill>
                  <a:srgbClr val="7A6A57"/>
                </a:solidFill>
                <a:latin typeface="Calibri" pitchFamily="34" charset="0"/>
                <a:ea typeface="Calibri" pitchFamily="34" charset="-122"/>
                <a:cs typeface="Calibri" pitchFamily="34" charset="-120"/>
              </a:rPr>
              <a:t>22</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lIns="0" tIns="0" rIns="0" bIns="0" rtlCol="0" anchor="ctr"/>
          <a:lstStyle/>
          <a:p>
            <a:pPr indent="0" marL="0">
              <a:buNone/>
            </a:pPr>
            <a:r>
              <a:rPr lang="en-US" sz="1200" b="1" spc="200" kern="0" dirty="0">
                <a:solidFill>
                  <a:srgbClr val="8B5E3C"/>
                </a:solidFill>
                <a:latin typeface="Calibri" pitchFamily="34" charset="0"/>
                <a:ea typeface="Calibri" pitchFamily="34" charset="-122"/>
                <a:cs typeface="Calibri" pitchFamily="34" charset="-120"/>
              </a:rPr>
              <a:t>FARMACOLOGÍA INTRAVENOSA</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t"/>
          <a:lstStyle/>
          <a:p>
            <a:pPr indent="0" marL="0">
              <a:buNone/>
            </a:pPr>
            <a:r>
              <a:rPr lang="en-US" sz="2900" b="1" dirty="0">
                <a:solidFill>
                  <a:srgbClr val="5C3A21"/>
                </a:solidFill>
                <a:latin typeface="Cambria" pitchFamily="34" charset="0"/>
                <a:ea typeface="Cambria" pitchFamily="34" charset="-122"/>
                <a:cs typeface="Cambria" pitchFamily="34" charset="-120"/>
              </a:rPr>
              <a:t>Desarrollo de los anestésicos intravenosos modernos</a:t>
            </a:r>
            <a:endParaRPr lang="en-US" sz="2900" dirty="0"/>
          </a:p>
        </p:txBody>
      </p:sp>
      <p:sp>
        <p:nvSpPr>
          <p:cNvPr id="4" name="Text 2"/>
          <p:cNvSpPr/>
          <p:nvPr/>
        </p:nvSpPr>
        <p:spPr>
          <a:xfrm>
            <a:off x="548640" y="1645920"/>
            <a:ext cx="11064240" cy="731520"/>
          </a:xfrm>
          <a:prstGeom prst="rect">
            <a:avLst/>
          </a:prstGeom>
          <a:noFill/>
          <a:ln/>
        </p:spPr>
        <p:txBody>
          <a:bodyPr wrap="square" lIns="0" tIns="0" rIns="0" bIns="0" rtlCol="0" anchor="ctr"/>
          <a:lstStyle/>
          <a:p>
            <a:pPr indent="0" marL="0">
              <a:lnSpc>
                <a:spcPct val="120000"/>
              </a:lnSpc>
              <a:buNone/>
            </a:pPr>
            <a:r>
              <a:rPr lang="en-US" sz="1300" dirty="0">
                <a:solidFill>
                  <a:srgbClr val="3A2E22"/>
                </a:solidFill>
                <a:latin typeface="Calibri" pitchFamily="34" charset="0"/>
                <a:ea typeface="Calibri" pitchFamily="34" charset="-122"/>
                <a:cs typeface="Calibri" pitchFamily="34" charset="-120"/>
              </a:rPr>
              <a:t>La inducción intravenosa transformó la experiencia del paciente, reemplazando la inducción inhalatoria lenta y a menudo desagradable. Dos hitos farmacológicos marcan esta evolución: el tiopental sódico y, décadas después, el propofol.</a:t>
            </a:r>
            <a:endParaRPr lang="en-US" sz="13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2468880"/>
          <a:ext cx="11091672" cy="914400"/>
        </p:xfrm>
        <a:graphic>
          <a:graphicData uri="http://schemas.openxmlformats.org/drawingml/2006/table">
            <a:tbl>
              <a:tblPr/>
              <a:tblGrid>
                <a:gridCol w="3108960"/>
                <a:gridCol w="4114800"/>
                <a:gridCol w="3867912"/>
              </a:tblGrid>
              <a:tr h="420624">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Característica</a:t>
                      </a:r>
                      <a:endParaRPr lang="en-US" sz="1200" dirty="0">
                        <a:latin typeface="Calibri" charset="0"/>
                        <a:ea typeface="Calibri" charset="0"/>
                        <a:cs typeface="Calibri" charset="0"/>
                      </a:endParaRPr>
                    </a:p>
                  </a:txBody>
                  <a:tcPr marL="109728" marR="91440" marT="45720" marB="45720" anchor="ctr">
                    <a:lnL w="9525" cap="flat" cmpd="sng" algn="ctr">
                      <a:solidFill>
                        <a:srgbClr val="E5DCCC"/>
                      </a:solidFill>
                      <a:prstDash val="solid"/>
                      <a:round/>
                      <a:headEnd type="none" w="med" len="med"/>
                      <a:tailEnd type="none" w="med" len="med"/>
                    </a:lnL>
                    <a:lnR w="9525" cap="flat" cmpd="sng" algn="ctr">
                      <a:solidFill>
                        <a:srgbClr val="E5DCCC"/>
                      </a:solidFill>
                      <a:prstDash val="solid"/>
                      <a:round/>
                      <a:headEnd type="none" w="med" len="med"/>
                      <a:tailEnd type="none" w="med" len="med"/>
                    </a:lnR>
                    <a:lnT w="9525" cap="flat" cmpd="sng" algn="ctr">
                      <a:solidFill>
                        <a:srgbClr val="E5DCCC"/>
                      </a:solidFill>
                      <a:prstDash val="solid"/>
                      <a:round/>
                      <a:headEnd type="none" w="med" len="med"/>
                      <a:tailEnd type="none" w="med" len="med"/>
                    </a:lnT>
                    <a:lnB w="9525" cap="flat" cmpd="sng" algn="ctr">
                      <a:solidFill>
                        <a:srgbClr val="E5DCCC"/>
                      </a:solidFill>
                      <a:prstDash val="solid"/>
                      <a:round/>
                      <a:headEnd type="none" w="med" len="med"/>
                      <a:tailEnd type="none" w="med" len="med"/>
                    </a:lnB>
                    <a:solidFill>
                      <a:srgbClr val="5C3A2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Tiopental sódico (1934)</a:t>
                      </a:r>
                      <a:endParaRPr lang="en-US" sz="1200" dirty="0">
                        <a:latin typeface="Calibri" charset="0"/>
                        <a:ea typeface="Calibri" charset="0"/>
                        <a:cs typeface="Calibri" charset="0"/>
                      </a:endParaRPr>
                    </a:p>
                  </a:txBody>
                  <a:tcPr marL="109728" marR="91440" marT="45720" marB="45720" anchor="ctr">
                    <a:lnL w="9525" cap="flat" cmpd="sng" algn="ctr">
                      <a:solidFill>
                        <a:srgbClr val="E5DCCC"/>
                      </a:solidFill>
                      <a:prstDash val="solid"/>
                      <a:round/>
                      <a:headEnd type="none" w="med" len="med"/>
                      <a:tailEnd type="none" w="med" len="med"/>
                    </a:lnL>
                    <a:lnR w="9525" cap="flat" cmpd="sng" algn="ctr">
                      <a:solidFill>
                        <a:srgbClr val="E5DCCC"/>
                      </a:solidFill>
                      <a:prstDash val="solid"/>
                      <a:round/>
                      <a:headEnd type="none" w="med" len="med"/>
                      <a:tailEnd type="none" w="med" len="med"/>
                    </a:lnR>
                    <a:lnT w="9525" cap="flat" cmpd="sng" algn="ctr">
                      <a:solidFill>
                        <a:srgbClr val="E5DCCC"/>
                      </a:solidFill>
                      <a:prstDash val="solid"/>
                      <a:round/>
                      <a:headEnd type="none" w="med" len="med"/>
                      <a:tailEnd type="none" w="med" len="med"/>
                    </a:lnT>
                    <a:lnB w="9525" cap="flat" cmpd="sng" algn="ctr">
                      <a:solidFill>
                        <a:srgbClr val="E5DCCC"/>
                      </a:solidFill>
                      <a:prstDash val="solid"/>
                      <a:round/>
                      <a:headEnd type="none" w="med" len="med"/>
                      <a:tailEnd type="none" w="med" len="med"/>
                    </a:lnB>
                    <a:solidFill>
                      <a:srgbClr val="5C3A2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Propofol (1986/1989)</a:t>
                      </a:r>
                      <a:endParaRPr lang="en-US" sz="1200" dirty="0">
                        <a:latin typeface="Calibri" charset="0"/>
                        <a:ea typeface="Calibri" charset="0"/>
                        <a:cs typeface="Calibri" charset="0"/>
                      </a:endParaRPr>
                    </a:p>
                  </a:txBody>
                  <a:tcPr marL="109728" marR="91440" marT="45720" marB="45720" anchor="ctr">
                    <a:lnL w="9525" cap="flat" cmpd="sng" algn="ctr">
                      <a:solidFill>
                        <a:srgbClr val="E5DCCC"/>
                      </a:solidFill>
                      <a:prstDash val="solid"/>
                      <a:round/>
                      <a:headEnd type="none" w="med" len="med"/>
                      <a:tailEnd type="none" w="med" len="med"/>
                    </a:lnL>
                    <a:lnR w="9525" cap="flat" cmpd="sng" algn="ctr">
                      <a:solidFill>
                        <a:srgbClr val="E5DCCC"/>
                      </a:solidFill>
                      <a:prstDash val="solid"/>
                      <a:round/>
                      <a:headEnd type="none" w="med" len="med"/>
                      <a:tailEnd type="none" w="med" len="med"/>
                    </a:lnR>
                    <a:lnT w="9525" cap="flat" cmpd="sng" algn="ctr">
                      <a:solidFill>
                        <a:srgbClr val="E5DCCC"/>
                      </a:solidFill>
                      <a:prstDash val="solid"/>
                      <a:round/>
                      <a:headEnd type="none" w="med" len="med"/>
                      <a:tailEnd type="none" w="med" len="med"/>
                    </a:lnT>
                    <a:lnB w="9525" cap="flat" cmpd="sng" algn="ctr">
                      <a:solidFill>
                        <a:srgbClr val="E5DCCC"/>
                      </a:solidFill>
                      <a:prstDash val="solid"/>
                      <a:round/>
                      <a:headEnd type="none" w="med" len="med"/>
                      <a:tailEnd type="none" w="med" len="med"/>
                    </a:lnB>
                    <a:solidFill>
                      <a:srgbClr val="5C3A21"/>
                    </a:solidFill>
                  </a:tcPr>
                </a:tc>
              </a:tr>
              <a:tr h="420624">
                <a:tc>
                  <a:txBody>
                    <a:bodyPr/>
                    <a:lstStyle/>
                    <a:p>
                      <a:pPr algn="l" indent="0" marL="0">
                        <a:buNone/>
                      </a:pPr>
                      <a:r>
                        <a:rPr lang="en-US" sz="1150" b="1" dirty="0">
                          <a:solidFill>
                            <a:srgbClr val="3A2E22"/>
                          </a:solidFill>
                          <a:latin typeface="Calibri" pitchFamily="34" charset="0"/>
                          <a:ea typeface="Calibri" pitchFamily="34" charset="-122"/>
                          <a:cs typeface="Calibri" pitchFamily="34" charset="-120"/>
                        </a:rPr>
                        <a:t>Clase química</a:t>
                      </a:r>
                      <a:endParaRPr lang="en-US" sz="1150" dirty="0">
                        <a:latin typeface="Calibri" charset="0"/>
                        <a:ea typeface="Calibri" charset="0"/>
                        <a:cs typeface="Calibri" charset="0"/>
                      </a:endParaRPr>
                    </a:p>
                  </a:txBody>
                  <a:tcPr marL="109728" marR="91440" marT="36576" marB="36576" anchor="ctr">
                    <a:lnL w="9525" cap="flat" cmpd="sng" algn="ctr">
                      <a:solidFill>
                        <a:srgbClr val="E5DCCC"/>
                      </a:solidFill>
                      <a:prstDash val="solid"/>
                      <a:round/>
                      <a:headEnd type="none" w="med" len="med"/>
                      <a:tailEnd type="none" w="med" len="med"/>
                    </a:lnL>
                    <a:lnR w="9525" cap="flat" cmpd="sng" algn="ctr">
                      <a:solidFill>
                        <a:srgbClr val="E5DCCC"/>
                      </a:solidFill>
                      <a:prstDash val="solid"/>
                      <a:round/>
                      <a:headEnd type="none" w="med" len="med"/>
                      <a:tailEnd type="none" w="med" len="med"/>
                    </a:lnR>
                    <a:lnT w="9525" cap="flat" cmpd="sng" algn="ctr">
                      <a:solidFill>
                        <a:srgbClr val="E5DCCC"/>
                      </a:solidFill>
                      <a:prstDash val="solid"/>
                      <a:round/>
                      <a:headEnd type="none" w="med" len="med"/>
                      <a:tailEnd type="none" w="med" len="med"/>
                    </a:lnT>
                    <a:lnB w="9525" cap="flat" cmpd="sng" algn="ctr">
                      <a:solidFill>
                        <a:srgbClr val="E5DCCC"/>
                      </a:solidFill>
                      <a:prstDash val="solid"/>
                      <a:round/>
                      <a:headEnd type="none" w="med" len="med"/>
                      <a:tailEnd type="none" w="med" len="med"/>
                    </a:lnB>
                    <a:solidFill>
                      <a:srgbClr val="FFFFFF">
                        <a:alpha val="0"/>
                      </a:srgbClr>
                    </a:solidFill>
                  </a:tcPr>
                </a:tc>
                <a:tc>
                  <a:txBody>
                    <a:bodyPr/>
                    <a:lstStyle/>
                    <a:p>
                      <a:pPr algn="ctr" indent="0" marL="0">
                        <a:buNone/>
                      </a:pPr>
                      <a:r>
                        <a:rPr lang="en-US" sz="1150" dirty="0">
                          <a:solidFill>
                            <a:srgbClr val="3A2E22"/>
                          </a:solidFill>
                          <a:latin typeface="Calibri" pitchFamily="34" charset="0"/>
                          <a:ea typeface="Calibri" pitchFamily="34" charset="-122"/>
                          <a:cs typeface="Calibri" pitchFamily="34" charset="-120"/>
                        </a:rPr>
                        <a:t>Barbitúrico de acción ultracorta</a:t>
                      </a:r>
                      <a:endParaRPr lang="en-US" sz="1150" dirty="0">
                        <a:latin typeface="Calibri" charset="0"/>
                        <a:ea typeface="Calibri" charset="0"/>
                        <a:cs typeface="Calibri" charset="0"/>
                      </a:endParaRPr>
                    </a:p>
                  </a:txBody>
                  <a:tcPr marL="109728" marR="91440" marT="36576" marB="36576" anchor="ctr">
                    <a:lnL w="9525" cap="flat" cmpd="sng" algn="ctr">
                      <a:solidFill>
                        <a:srgbClr val="E5DCCC"/>
                      </a:solidFill>
                      <a:prstDash val="solid"/>
                      <a:round/>
                      <a:headEnd type="none" w="med" len="med"/>
                      <a:tailEnd type="none" w="med" len="med"/>
                    </a:lnL>
                    <a:lnR w="9525" cap="flat" cmpd="sng" algn="ctr">
                      <a:solidFill>
                        <a:srgbClr val="E5DCCC"/>
                      </a:solidFill>
                      <a:prstDash val="solid"/>
                      <a:round/>
                      <a:headEnd type="none" w="med" len="med"/>
                      <a:tailEnd type="none" w="med" len="med"/>
                    </a:lnR>
                    <a:lnT w="9525" cap="flat" cmpd="sng" algn="ctr">
                      <a:solidFill>
                        <a:srgbClr val="E5DCCC"/>
                      </a:solidFill>
                      <a:prstDash val="solid"/>
                      <a:round/>
                      <a:headEnd type="none" w="med" len="med"/>
                      <a:tailEnd type="none" w="med" len="med"/>
                    </a:lnT>
                    <a:lnB w="9525" cap="flat" cmpd="sng" algn="ctr">
                      <a:solidFill>
                        <a:srgbClr val="E5DCCC"/>
                      </a:solidFill>
                      <a:prstDash val="solid"/>
                      <a:round/>
                      <a:headEnd type="none" w="med" len="med"/>
                      <a:tailEnd type="none" w="med" len="med"/>
                    </a:lnB>
                    <a:solidFill>
                      <a:srgbClr val="FFFFFF">
                        <a:alpha val="0"/>
                      </a:srgbClr>
                    </a:solidFill>
                  </a:tcPr>
                </a:tc>
                <a:tc>
                  <a:txBody>
                    <a:bodyPr/>
                    <a:lstStyle/>
                    <a:p>
                      <a:pPr algn="ctr" indent="0" marL="0">
                        <a:buNone/>
                      </a:pPr>
                      <a:r>
                        <a:rPr lang="en-US" sz="1150" dirty="0">
                          <a:solidFill>
                            <a:srgbClr val="3A2E22"/>
                          </a:solidFill>
                          <a:latin typeface="Calibri" pitchFamily="34" charset="0"/>
                          <a:ea typeface="Calibri" pitchFamily="34" charset="-122"/>
                          <a:cs typeface="Calibri" pitchFamily="34" charset="-120"/>
                        </a:rPr>
                        <a:t>Alquilfenol (diisopropilfenol)</a:t>
                      </a:r>
                      <a:endParaRPr lang="en-US" sz="1150" dirty="0">
                        <a:latin typeface="Calibri" charset="0"/>
                        <a:ea typeface="Calibri" charset="0"/>
                        <a:cs typeface="Calibri" charset="0"/>
                      </a:endParaRPr>
                    </a:p>
                  </a:txBody>
                  <a:tcPr marL="109728" marR="91440" marT="36576" marB="36576" anchor="ctr">
                    <a:lnL w="9525" cap="flat" cmpd="sng" algn="ctr">
                      <a:solidFill>
                        <a:srgbClr val="E5DCCC"/>
                      </a:solidFill>
                      <a:prstDash val="solid"/>
                      <a:round/>
                      <a:headEnd type="none" w="med" len="med"/>
                      <a:tailEnd type="none" w="med" len="med"/>
                    </a:lnL>
                    <a:lnR w="9525" cap="flat" cmpd="sng" algn="ctr">
                      <a:solidFill>
                        <a:srgbClr val="E5DCCC"/>
                      </a:solidFill>
                      <a:prstDash val="solid"/>
                      <a:round/>
                      <a:headEnd type="none" w="med" len="med"/>
                      <a:tailEnd type="none" w="med" len="med"/>
                    </a:lnR>
                    <a:lnT w="9525" cap="flat" cmpd="sng" algn="ctr">
                      <a:solidFill>
                        <a:srgbClr val="E5DCCC"/>
                      </a:solidFill>
                      <a:prstDash val="solid"/>
                      <a:round/>
                      <a:headEnd type="none" w="med" len="med"/>
                      <a:tailEnd type="none" w="med" len="med"/>
                    </a:lnT>
                    <a:lnB w="9525" cap="flat" cmpd="sng" algn="ctr">
                      <a:solidFill>
                        <a:srgbClr val="E5DCCC"/>
                      </a:solidFill>
                      <a:prstDash val="solid"/>
                      <a:round/>
                      <a:headEnd type="none" w="med" len="med"/>
                      <a:tailEnd type="none" w="med" len="med"/>
                    </a:lnB>
                    <a:solidFill>
                      <a:srgbClr val="FFFFFF">
                        <a:alpha val="0"/>
                      </a:srgbClr>
                    </a:solidFill>
                  </a:tcPr>
                </a:tc>
              </a:tr>
              <a:tr h="420624">
                <a:tc>
                  <a:txBody>
                    <a:bodyPr/>
                    <a:lstStyle/>
                    <a:p>
                      <a:pPr algn="l" indent="0" marL="0">
                        <a:buNone/>
                      </a:pPr>
                      <a:r>
                        <a:rPr lang="en-US" sz="1150" b="1" dirty="0">
                          <a:solidFill>
                            <a:srgbClr val="3A2E22"/>
                          </a:solidFill>
                          <a:latin typeface="Calibri" pitchFamily="34" charset="0"/>
                          <a:ea typeface="Calibri" pitchFamily="34" charset="-122"/>
                          <a:cs typeface="Calibri" pitchFamily="34" charset="-120"/>
                        </a:rPr>
                        <a:t>Introducido por</a:t>
                      </a:r>
                      <a:endParaRPr lang="en-US" sz="1150" dirty="0">
                        <a:latin typeface="Calibri" charset="0"/>
                        <a:ea typeface="Calibri" charset="0"/>
                        <a:cs typeface="Calibri" charset="0"/>
                      </a:endParaRPr>
                    </a:p>
                  </a:txBody>
                  <a:tcPr marL="109728" marR="91440" marT="36576" marB="36576" anchor="ctr">
                    <a:lnL w="9525" cap="flat" cmpd="sng" algn="ctr">
                      <a:solidFill>
                        <a:srgbClr val="E5DCCC"/>
                      </a:solidFill>
                      <a:prstDash val="solid"/>
                      <a:round/>
                      <a:headEnd type="none" w="med" len="med"/>
                      <a:tailEnd type="none" w="med" len="med"/>
                    </a:lnL>
                    <a:lnR w="9525" cap="flat" cmpd="sng" algn="ctr">
                      <a:solidFill>
                        <a:srgbClr val="E5DCCC"/>
                      </a:solidFill>
                      <a:prstDash val="solid"/>
                      <a:round/>
                      <a:headEnd type="none" w="med" len="med"/>
                      <a:tailEnd type="none" w="med" len="med"/>
                    </a:lnR>
                    <a:lnT w="9525" cap="flat" cmpd="sng" algn="ctr">
                      <a:solidFill>
                        <a:srgbClr val="E5DCCC"/>
                      </a:solidFill>
                      <a:prstDash val="solid"/>
                      <a:round/>
                      <a:headEnd type="none" w="med" len="med"/>
                      <a:tailEnd type="none" w="med" len="med"/>
                    </a:lnT>
                    <a:lnB w="9525" cap="flat" cmpd="sng" algn="ctr">
                      <a:solidFill>
                        <a:srgbClr val="E5DCCC"/>
                      </a:solidFill>
                      <a:prstDash val="solid"/>
                      <a:round/>
                      <a:headEnd type="none" w="med" len="med"/>
                      <a:tailEnd type="none" w="med" len="med"/>
                    </a:lnB>
                    <a:solidFill>
                      <a:srgbClr val="C9A66B">
                        <a:alpha val="8000"/>
                      </a:srgbClr>
                    </a:solidFill>
                  </a:tcPr>
                </a:tc>
                <a:tc>
                  <a:txBody>
                    <a:bodyPr/>
                    <a:lstStyle/>
                    <a:p>
                      <a:pPr algn="ctr" indent="0" marL="0">
                        <a:buNone/>
                      </a:pPr>
                      <a:r>
                        <a:rPr lang="en-US" sz="1150" dirty="0">
                          <a:solidFill>
                            <a:srgbClr val="3A2E22"/>
                          </a:solidFill>
                          <a:latin typeface="Calibri" pitchFamily="34" charset="0"/>
                          <a:ea typeface="Calibri" pitchFamily="34" charset="-122"/>
                          <a:cs typeface="Calibri" pitchFamily="34" charset="-120"/>
                        </a:rPr>
                        <a:t>John Lundy y Ralph Waters, Mayo Clinic</a:t>
                      </a:r>
                      <a:endParaRPr lang="en-US" sz="1150" dirty="0">
                        <a:latin typeface="Calibri" charset="0"/>
                        <a:ea typeface="Calibri" charset="0"/>
                        <a:cs typeface="Calibri" charset="0"/>
                      </a:endParaRPr>
                    </a:p>
                  </a:txBody>
                  <a:tcPr marL="109728" marR="91440" marT="36576" marB="36576" anchor="ctr">
                    <a:lnL w="9525" cap="flat" cmpd="sng" algn="ctr">
                      <a:solidFill>
                        <a:srgbClr val="E5DCCC"/>
                      </a:solidFill>
                      <a:prstDash val="solid"/>
                      <a:round/>
                      <a:headEnd type="none" w="med" len="med"/>
                      <a:tailEnd type="none" w="med" len="med"/>
                    </a:lnL>
                    <a:lnR w="9525" cap="flat" cmpd="sng" algn="ctr">
                      <a:solidFill>
                        <a:srgbClr val="E5DCCC"/>
                      </a:solidFill>
                      <a:prstDash val="solid"/>
                      <a:round/>
                      <a:headEnd type="none" w="med" len="med"/>
                      <a:tailEnd type="none" w="med" len="med"/>
                    </a:lnR>
                    <a:lnT w="9525" cap="flat" cmpd="sng" algn="ctr">
                      <a:solidFill>
                        <a:srgbClr val="E5DCCC"/>
                      </a:solidFill>
                      <a:prstDash val="solid"/>
                      <a:round/>
                      <a:headEnd type="none" w="med" len="med"/>
                      <a:tailEnd type="none" w="med" len="med"/>
                    </a:lnT>
                    <a:lnB w="9525" cap="flat" cmpd="sng" algn="ctr">
                      <a:solidFill>
                        <a:srgbClr val="E5DCCC"/>
                      </a:solidFill>
                      <a:prstDash val="solid"/>
                      <a:round/>
                      <a:headEnd type="none" w="med" len="med"/>
                      <a:tailEnd type="none" w="med" len="med"/>
                    </a:lnB>
                    <a:solidFill>
                      <a:srgbClr val="C9A66B">
                        <a:alpha val="8000"/>
                      </a:srgbClr>
                    </a:solidFill>
                  </a:tcPr>
                </a:tc>
                <a:tc>
                  <a:txBody>
                    <a:bodyPr/>
                    <a:lstStyle/>
                    <a:p>
                      <a:pPr algn="ctr" indent="0" marL="0">
                        <a:buNone/>
                      </a:pPr>
                      <a:r>
                        <a:rPr lang="en-US" sz="1150" dirty="0">
                          <a:solidFill>
                            <a:srgbClr val="3A2E22"/>
                          </a:solidFill>
                          <a:latin typeface="Calibri" pitchFamily="34" charset="0"/>
                          <a:ea typeface="Calibri" pitchFamily="34" charset="-122"/>
                          <a:cs typeface="Calibri" pitchFamily="34" charset="-120"/>
                        </a:rPr>
                        <a:t>John B. Glen (ICI); comercializado como Diprivan</a:t>
                      </a:r>
                      <a:endParaRPr lang="en-US" sz="1150" dirty="0">
                        <a:latin typeface="Calibri" charset="0"/>
                        <a:ea typeface="Calibri" charset="0"/>
                        <a:cs typeface="Calibri" charset="0"/>
                      </a:endParaRPr>
                    </a:p>
                  </a:txBody>
                  <a:tcPr marL="109728" marR="91440" marT="36576" marB="36576" anchor="ctr">
                    <a:lnL w="9525" cap="flat" cmpd="sng" algn="ctr">
                      <a:solidFill>
                        <a:srgbClr val="E5DCCC"/>
                      </a:solidFill>
                      <a:prstDash val="solid"/>
                      <a:round/>
                      <a:headEnd type="none" w="med" len="med"/>
                      <a:tailEnd type="none" w="med" len="med"/>
                    </a:lnL>
                    <a:lnR w="9525" cap="flat" cmpd="sng" algn="ctr">
                      <a:solidFill>
                        <a:srgbClr val="E5DCCC"/>
                      </a:solidFill>
                      <a:prstDash val="solid"/>
                      <a:round/>
                      <a:headEnd type="none" w="med" len="med"/>
                      <a:tailEnd type="none" w="med" len="med"/>
                    </a:lnR>
                    <a:lnT w="9525" cap="flat" cmpd="sng" algn="ctr">
                      <a:solidFill>
                        <a:srgbClr val="E5DCCC"/>
                      </a:solidFill>
                      <a:prstDash val="solid"/>
                      <a:round/>
                      <a:headEnd type="none" w="med" len="med"/>
                      <a:tailEnd type="none" w="med" len="med"/>
                    </a:lnT>
                    <a:lnB w="9525" cap="flat" cmpd="sng" algn="ctr">
                      <a:solidFill>
                        <a:srgbClr val="E5DCCC"/>
                      </a:solidFill>
                      <a:prstDash val="solid"/>
                      <a:round/>
                      <a:headEnd type="none" w="med" len="med"/>
                      <a:tailEnd type="none" w="med" len="med"/>
                    </a:lnB>
                    <a:solidFill>
                      <a:srgbClr val="C9A66B">
                        <a:alpha val="8000"/>
                      </a:srgbClr>
                    </a:solidFill>
                  </a:tcPr>
                </a:tc>
              </a:tr>
              <a:tr h="420624">
                <a:tc>
                  <a:txBody>
                    <a:bodyPr/>
                    <a:lstStyle/>
                    <a:p>
                      <a:pPr algn="l" indent="0" marL="0">
                        <a:buNone/>
                      </a:pPr>
                      <a:r>
                        <a:rPr lang="en-US" sz="1150" b="1" dirty="0">
                          <a:solidFill>
                            <a:srgbClr val="3A2E22"/>
                          </a:solidFill>
                          <a:latin typeface="Calibri" pitchFamily="34" charset="0"/>
                          <a:ea typeface="Calibri" pitchFamily="34" charset="-122"/>
                          <a:cs typeface="Calibri" pitchFamily="34" charset="-120"/>
                        </a:rPr>
                        <a:t>Inicio de acción</a:t>
                      </a:r>
                      <a:endParaRPr lang="en-US" sz="1150" dirty="0">
                        <a:latin typeface="Calibri" charset="0"/>
                        <a:ea typeface="Calibri" charset="0"/>
                        <a:cs typeface="Calibri" charset="0"/>
                      </a:endParaRPr>
                    </a:p>
                  </a:txBody>
                  <a:tcPr marL="109728" marR="91440" marT="36576" marB="36576" anchor="ctr">
                    <a:lnL w="9525" cap="flat" cmpd="sng" algn="ctr">
                      <a:solidFill>
                        <a:srgbClr val="E5DCCC"/>
                      </a:solidFill>
                      <a:prstDash val="solid"/>
                      <a:round/>
                      <a:headEnd type="none" w="med" len="med"/>
                      <a:tailEnd type="none" w="med" len="med"/>
                    </a:lnL>
                    <a:lnR w="9525" cap="flat" cmpd="sng" algn="ctr">
                      <a:solidFill>
                        <a:srgbClr val="E5DCCC"/>
                      </a:solidFill>
                      <a:prstDash val="solid"/>
                      <a:round/>
                      <a:headEnd type="none" w="med" len="med"/>
                      <a:tailEnd type="none" w="med" len="med"/>
                    </a:lnR>
                    <a:lnT w="9525" cap="flat" cmpd="sng" algn="ctr">
                      <a:solidFill>
                        <a:srgbClr val="E5DCCC"/>
                      </a:solidFill>
                      <a:prstDash val="solid"/>
                      <a:round/>
                      <a:headEnd type="none" w="med" len="med"/>
                      <a:tailEnd type="none" w="med" len="med"/>
                    </a:lnT>
                    <a:lnB w="9525" cap="flat" cmpd="sng" algn="ctr">
                      <a:solidFill>
                        <a:srgbClr val="E5DCCC"/>
                      </a:solidFill>
                      <a:prstDash val="solid"/>
                      <a:round/>
                      <a:headEnd type="none" w="med" len="med"/>
                      <a:tailEnd type="none" w="med" len="med"/>
                    </a:lnB>
                    <a:solidFill>
                      <a:srgbClr val="FFFFFF">
                        <a:alpha val="0"/>
                      </a:srgbClr>
                    </a:solidFill>
                  </a:tcPr>
                </a:tc>
                <a:tc>
                  <a:txBody>
                    <a:bodyPr/>
                    <a:lstStyle/>
                    <a:p>
                      <a:pPr algn="ctr" indent="0" marL="0">
                        <a:buNone/>
                      </a:pPr>
                      <a:r>
                        <a:rPr lang="en-US" sz="1150" dirty="0">
                          <a:solidFill>
                            <a:srgbClr val="3A2E22"/>
                          </a:solidFill>
                          <a:latin typeface="Calibri" pitchFamily="34" charset="0"/>
                          <a:ea typeface="Calibri" pitchFamily="34" charset="-122"/>
                          <a:cs typeface="Calibri" pitchFamily="34" charset="-120"/>
                        </a:rPr>
                        <a:t>Rápido (un brazo-cerebro)</a:t>
                      </a:r>
                      <a:endParaRPr lang="en-US" sz="1150" dirty="0">
                        <a:latin typeface="Calibri" charset="0"/>
                        <a:ea typeface="Calibri" charset="0"/>
                        <a:cs typeface="Calibri" charset="0"/>
                      </a:endParaRPr>
                    </a:p>
                  </a:txBody>
                  <a:tcPr marL="109728" marR="91440" marT="36576" marB="36576" anchor="ctr">
                    <a:lnL w="9525" cap="flat" cmpd="sng" algn="ctr">
                      <a:solidFill>
                        <a:srgbClr val="E5DCCC"/>
                      </a:solidFill>
                      <a:prstDash val="solid"/>
                      <a:round/>
                      <a:headEnd type="none" w="med" len="med"/>
                      <a:tailEnd type="none" w="med" len="med"/>
                    </a:lnL>
                    <a:lnR w="9525" cap="flat" cmpd="sng" algn="ctr">
                      <a:solidFill>
                        <a:srgbClr val="E5DCCC"/>
                      </a:solidFill>
                      <a:prstDash val="solid"/>
                      <a:round/>
                      <a:headEnd type="none" w="med" len="med"/>
                      <a:tailEnd type="none" w="med" len="med"/>
                    </a:lnR>
                    <a:lnT w="9525" cap="flat" cmpd="sng" algn="ctr">
                      <a:solidFill>
                        <a:srgbClr val="E5DCCC"/>
                      </a:solidFill>
                      <a:prstDash val="solid"/>
                      <a:round/>
                      <a:headEnd type="none" w="med" len="med"/>
                      <a:tailEnd type="none" w="med" len="med"/>
                    </a:lnT>
                    <a:lnB w="9525" cap="flat" cmpd="sng" algn="ctr">
                      <a:solidFill>
                        <a:srgbClr val="E5DCCC"/>
                      </a:solidFill>
                      <a:prstDash val="solid"/>
                      <a:round/>
                      <a:headEnd type="none" w="med" len="med"/>
                      <a:tailEnd type="none" w="med" len="med"/>
                    </a:lnB>
                    <a:solidFill>
                      <a:srgbClr val="FFFFFF">
                        <a:alpha val="0"/>
                      </a:srgbClr>
                    </a:solidFill>
                  </a:tcPr>
                </a:tc>
                <a:tc>
                  <a:txBody>
                    <a:bodyPr/>
                    <a:lstStyle/>
                    <a:p>
                      <a:pPr algn="ctr" indent="0" marL="0">
                        <a:buNone/>
                      </a:pPr>
                      <a:r>
                        <a:rPr lang="en-US" sz="1150" dirty="0">
                          <a:solidFill>
                            <a:srgbClr val="3A2E22"/>
                          </a:solidFill>
                          <a:latin typeface="Calibri" pitchFamily="34" charset="0"/>
                          <a:ea typeface="Calibri" pitchFamily="34" charset="-122"/>
                          <a:cs typeface="Calibri" pitchFamily="34" charset="-120"/>
                        </a:rPr>
                        <a:t>Rápido, similar al tiopental</a:t>
                      </a:r>
                      <a:endParaRPr lang="en-US" sz="1150" dirty="0">
                        <a:latin typeface="Calibri" charset="0"/>
                        <a:ea typeface="Calibri" charset="0"/>
                        <a:cs typeface="Calibri" charset="0"/>
                      </a:endParaRPr>
                    </a:p>
                  </a:txBody>
                  <a:tcPr marL="109728" marR="91440" marT="36576" marB="36576" anchor="ctr">
                    <a:lnL w="9525" cap="flat" cmpd="sng" algn="ctr">
                      <a:solidFill>
                        <a:srgbClr val="E5DCCC"/>
                      </a:solidFill>
                      <a:prstDash val="solid"/>
                      <a:round/>
                      <a:headEnd type="none" w="med" len="med"/>
                      <a:tailEnd type="none" w="med" len="med"/>
                    </a:lnL>
                    <a:lnR w="9525" cap="flat" cmpd="sng" algn="ctr">
                      <a:solidFill>
                        <a:srgbClr val="E5DCCC"/>
                      </a:solidFill>
                      <a:prstDash val="solid"/>
                      <a:round/>
                      <a:headEnd type="none" w="med" len="med"/>
                      <a:tailEnd type="none" w="med" len="med"/>
                    </a:lnR>
                    <a:lnT w="9525" cap="flat" cmpd="sng" algn="ctr">
                      <a:solidFill>
                        <a:srgbClr val="E5DCCC"/>
                      </a:solidFill>
                      <a:prstDash val="solid"/>
                      <a:round/>
                      <a:headEnd type="none" w="med" len="med"/>
                      <a:tailEnd type="none" w="med" len="med"/>
                    </a:lnT>
                    <a:lnB w="9525" cap="flat" cmpd="sng" algn="ctr">
                      <a:solidFill>
                        <a:srgbClr val="E5DCCC"/>
                      </a:solidFill>
                      <a:prstDash val="solid"/>
                      <a:round/>
                      <a:headEnd type="none" w="med" len="med"/>
                      <a:tailEnd type="none" w="med" len="med"/>
                    </a:lnB>
                    <a:solidFill>
                      <a:srgbClr val="FFFFFF">
                        <a:alpha val="0"/>
                      </a:srgbClr>
                    </a:solidFill>
                  </a:tcPr>
                </a:tc>
              </a:tr>
              <a:tr h="420624">
                <a:tc>
                  <a:txBody>
                    <a:bodyPr/>
                    <a:lstStyle/>
                    <a:p>
                      <a:pPr algn="l" indent="0" marL="0">
                        <a:buNone/>
                      </a:pPr>
                      <a:r>
                        <a:rPr lang="en-US" sz="1150" b="1" dirty="0">
                          <a:solidFill>
                            <a:srgbClr val="3A2E22"/>
                          </a:solidFill>
                          <a:latin typeface="Calibri" pitchFamily="34" charset="0"/>
                          <a:ea typeface="Calibri" pitchFamily="34" charset="-122"/>
                          <a:cs typeface="Calibri" pitchFamily="34" charset="-120"/>
                        </a:rPr>
                        <a:t>Recuperación</a:t>
                      </a:r>
                      <a:endParaRPr lang="en-US" sz="1150" dirty="0">
                        <a:latin typeface="Calibri" charset="0"/>
                        <a:ea typeface="Calibri" charset="0"/>
                        <a:cs typeface="Calibri" charset="0"/>
                      </a:endParaRPr>
                    </a:p>
                  </a:txBody>
                  <a:tcPr marL="109728" marR="91440" marT="36576" marB="36576" anchor="ctr">
                    <a:lnL w="9525" cap="flat" cmpd="sng" algn="ctr">
                      <a:solidFill>
                        <a:srgbClr val="E5DCCC"/>
                      </a:solidFill>
                      <a:prstDash val="solid"/>
                      <a:round/>
                      <a:headEnd type="none" w="med" len="med"/>
                      <a:tailEnd type="none" w="med" len="med"/>
                    </a:lnL>
                    <a:lnR w="9525" cap="flat" cmpd="sng" algn="ctr">
                      <a:solidFill>
                        <a:srgbClr val="E5DCCC"/>
                      </a:solidFill>
                      <a:prstDash val="solid"/>
                      <a:round/>
                      <a:headEnd type="none" w="med" len="med"/>
                      <a:tailEnd type="none" w="med" len="med"/>
                    </a:lnR>
                    <a:lnT w="9525" cap="flat" cmpd="sng" algn="ctr">
                      <a:solidFill>
                        <a:srgbClr val="E5DCCC"/>
                      </a:solidFill>
                      <a:prstDash val="solid"/>
                      <a:round/>
                      <a:headEnd type="none" w="med" len="med"/>
                      <a:tailEnd type="none" w="med" len="med"/>
                    </a:lnT>
                    <a:lnB w="9525" cap="flat" cmpd="sng" algn="ctr">
                      <a:solidFill>
                        <a:srgbClr val="E5DCCC"/>
                      </a:solidFill>
                      <a:prstDash val="solid"/>
                      <a:round/>
                      <a:headEnd type="none" w="med" len="med"/>
                      <a:tailEnd type="none" w="med" len="med"/>
                    </a:lnB>
                    <a:solidFill>
                      <a:srgbClr val="C9A66B">
                        <a:alpha val="8000"/>
                      </a:srgbClr>
                    </a:solidFill>
                  </a:tcPr>
                </a:tc>
                <a:tc>
                  <a:txBody>
                    <a:bodyPr/>
                    <a:lstStyle/>
                    <a:p>
                      <a:pPr algn="ctr" indent="0" marL="0">
                        <a:buNone/>
                      </a:pPr>
                      <a:r>
                        <a:rPr lang="en-US" sz="1150" dirty="0">
                          <a:solidFill>
                            <a:srgbClr val="3A2E22"/>
                          </a:solidFill>
                          <a:latin typeface="Calibri" pitchFamily="34" charset="0"/>
                          <a:ea typeface="Calibri" pitchFamily="34" charset="-122"/>
                          <a:cs typeface="Calibri" pitchFamily="34" charset="-120"/>
                        </a:rPr>
                        <a:t>Relativamente lenta, con resaca psicomotora</a:t>
                      </a:r>
                      <a:endParaRPr lang="en-US" sz="1150" dirty="0">
                        <a:latin typeface="Calibri" charset="0"/>
                        <a:ea typeface="Calibri" charset="0"/>
                        <a:cs typeface="Calibri" charset="0"/>
                      </a:endParaRPr>
                    </a:p>
                  </a:txBody>
                  <a:tcPr marL="109728" marR="91440" marT="36576" marB="36576" anchor="ctr">
                    <a:lnL w="9525" cap="flat" cmpd="sng" algn="ctr">
                      <a:solidFill>
                        <a:srgbClr val="E5DCCC"/>
                      </a:solidFill>
                      <a:prstDash val="solid"/>
                      <a:round/>
                      <a:headEnd type="none" w="med" len="med"/>
                      <a:tailEnd type="none" w="med" len="med"/>
                    </a:lnL>
                    <a:lnR w="9525" cap="flat" cmpd="sng" algn="ctr">
                      <a:solidFill>
                        <a:srgbClr val="E5DCCC"/>
                      </a:solidFill>
                      <a:prstDash val="solid"/>
                      <a:round/>
                      <a:headEnd type="none" w="med" len="med"/>
                      <a:tailEnd type="none" w="med" len="med"/>
                    </a:lnR>
                    <a:lnT w="9525" cap="flat" cmpd="sng" algn="ctr">
                      <a:solidFill>
                        <a:srgbClr val="E5DCCC"/>
                      </a:solidFill>
                      <a:prstDash val="solid"/>
                      <a:round/>
                      <a:headEnd type="none" w="med" len="med"/>
                      <a:tailEnd type="none" w="med" len="med"/>
                    </a:lnT>
                    <a:lnB w="9525" cap="flat" cmpd="sng" algn="ctr">
                      <a:solidFill>
                        <a:srgbClr val="E5DCCC"/>
                      </a:solidFill>
                      <a:prstDash val="solid"/>
                      <a:round/>
                      <a:headEnd type="none" w="med" len="med"/>
                      <a:tailEnd type="none" w="med" len="med"/>
                    </a:lnB>
                    <a:solidFill>
                      <a:srgbClr val="C9A66B">
                        <a:alpha val="8000"/>
                      </a:srgbClr>
                    </a:solidFill>
                  </a:tcPr>
                </a:tc>
                <a:tc>
                  <a:txBody>
                    <a:bodyPr/>
                    <a:lstStyle/>
                    <a:p>
                      <a:pPr algn="ctr" indent="0" marL="0">
                        <a:buNone/>
                      </a:pPr>
                      <a:r>
                        <a:rPr lang="en-US" sz="1150" dirty="0">
                          <a:solidFill>
                            <a:srgbClr val="3A2E22"/>
                          </a:solidFill>
                          <a:latin typeface="Calibri" pitchFamily="34" charset="0"/>
                          <a:ea typeface="Calibri" pitchFamily="34" charset="-122"/>
                          <a:cs typeface="Calibri" pitchFamily="34" charset="-120"/>
                        </a:rPr>
                        <a:t>Rápida y 'limpia', con menor resaca</a:t>
                      </a:r>
                      <a:endParaRPr lang="en-US" sz="1150" dirty="0">
                        <a:latin typeface="Calibri" charset="0"/>
                        <a:ea typeface="Calibri" charset="0"/>
                        <a:cs typeface="Calibri" charset="0"/>
                      </a:endParaRPr>
                    </a:p>
                  </a:txBody>
                  <a:tcPr marL="109728" marR="91440" marT="36576" marB="36576" anchor="ctr">
                    <a:lnL w="9525" cap="flat" cmpd="sng" algn="ctr">
                      <a:solidFill>
                        <a:srgbClr val="E5DCCC"/>
                      </a:solidFill>
                      <a:prstDash val="solid"/>
                      <a:round/>
                      <a:headEnd type="none" w="med" len="med"/>
                      <a:tailEnd type="none" w="med" len="med"/>
                    </a:lnL>
                    <a:lnR w="9525" cap="flat" cmpd="sng" algn="ctr">
                      <a:solidFill>
                        <a:srgbClr val="E5DCCC"/>
                      </a:solidFill>
                      <a:prstDash val="solid"/>
                      <a:round/>
                      <a:headEnd type="none" w="med" len="med"/>
                      <a:tailEnd type="none" w="med" len="med"/>
                    </a:lnR>
                    <a:lnT w="9525" cap="flat" cmpd="sng" algn="ctr">
                      <a:solidFill>
                        <a:srgbClr val="E5DCCC"/>
                      </a:solidFill>
                      <a:prstDash val="solid"/>
                      <a:round/>
                      <a:headEnd type="none" w="med" len="med"/>
                      <a:tailEnd type="none" w="med" len="med"/>
                    </a:lnT>
                    <a:lnB w="9525" cap="flat" cmpd="sng" algn="ctr">
                      <a:solidFill>
                        <a:srgbClr val="E5DCCC"/>
                      </a:solidFill>
                      <a:prstDash val="solid"/>
                      <a:round/>
                      <a:headEnd type="none" w="med" len="med"/>
                      <a:tailEnd type="none" w="med" len="med"/>
                    </a:lnB>
                    <a:solidFill>
                      <a:srgbClr val="C9A66B">
                        <a:alpha val="8000"/>
                      </a:srgbClr>
                    </a:solidFill>
                  </a:tcPr>
                </a:tc>
              </a:tr>
              <a:tr h="420624">
                <a:tc>
                  <a:txBody>
                    <a:bodyPr/>
                    <a:lstStyle/>
                    <a:p>
                      <a:pPr algn="l" indent="0" marL="0">
                        <a:buNone/>
                      </a:pPr>
                      <a:r>
                        <a:rPr lang="en-US" sz="1150" b="1" dirty="0">
                          <a:solidFill>
                            <a:srgbClr val="3A2E22"/>
                          </a:solidFill>
                          <a:latin typeface="Calibri" pitchFamily="34" charset="0"/>
                          <a:ea typeface="Calibri" pitchFamily="34" charset="-122"/>
                          <a:cs typeface="Calibri" pitchFamily="34" charset="-120"/>
                        </a:rPr>
                        <a:t>Particularidad clínica</a:t>
                      </a:r>
                      <a:endParaRPr lang="en-US" sz="1150" dirty="0">
                        <a:latin typeface="Calibri" charset="0"/>
                        <a:ea typeface="Calibri" charset="0"/>
                        <a:cs typeface="Calibri" charset="0"/>
                      </a:endParaRPr>
                    </a:p>
                  </a:txBody>
                  <a:tcPr marL="109728" marR="91440" marT="36576" marB="36576" anchor="ctr">
                    <a:lnL w="9525" cap="flat" cmpd="sng" algn="ctr">
                      <a:solidFill>
                        <a:srgbClr val="E5DCCC"/>
                      </a:solidFill>
                      <a:prstDash val="solid"/>
                      <a:round/>
                      <a:headEnd type="none" w="med" len="med"/>
                      <a:tailEnd type="none" w="med" len="med"/>
                    </a:lnL>
                    <a:lnR w="9525" cap="flat" cmpd="sng" algn="ctr">
                      <a:solidFill>
                        <a:srgbClr val="E5DCCC"/>
                      </a:solidFill>
                      <a:prstDash val="solid"/>
                      <a:round/>
                      <a:headEnd type="none" w="med" len="med"/>
                      <a:tailEnd type="none" w="med" len="med"/>
                    </a:lnR>
                    <a:lnT w="9525" cap="flat" cmpd="sng" algn="ctr">
                      <a:solidFill>
                        <a:srgbClr val="E5DCCC"/>
                      </a:solidFill>
                      <a:prstDash val="solid"/>
                      <a:round/>
                      <a:headEnd type="none" w="med" len="med"/>
                      <a:tailEnd type="none" w="med" len="med"/>
                    </a:lnT>
                    <a:lnB w="9525" cap="flat" cmpd="sng" algn="ctr">
                      <a:solidFill>
                        <a:srgbClr val="E5DCCC"/>
                      </a:solidFill>
                      <a:prstDash val="solid"/>
                      <a:round/>
                      <a:headEnd type="none" w="med" len="med"/>
                      <a:tailEnd type="none" w="med" len="med"/>
                    </a:lnB>
                    <a:solidFill>
                      <a:srgbClr val="FFFFFF">
                        <a:alpha val="0"/>
                      </a:srgbClr>
                    </a:solidFill>
                  </a:tcPr>
                </a:tc>
                <a:tc>
                  <a:txBody>
                    <a:bodyPr/>
                    <a:lstStyle/>
                    <a:p>
                      <a:pPr algn="ctr" indent="0" marL="0">
                        <a:buNone/>
                      </a:pPr>
                      <a:r>
                        <a:rPr lang="en-US" sz="1150" dirty="0">
                          <a:solidFill>
                            <a:srgbClr val="3A2E22"/>
                          </a:solidFill>
                          <a:latin typeface="Calibri" pitchFamily="34" charset="0"/>
                          <a:ea typeface="Calibri" pitchFamily="34" charset="-122"/>
                          <a:cs typeface="Calibri" pitchFamily="34" charset="-120"/>
                        </a:rPr>
                        <a:t>Riesgo hemodinámico en hipovolemia (Pearl Harbor, 1941)</a:t>
                      </a:r>
                      <a:endParaRPr lang="en-US" sz="1150" dirty="0">
                        <a:latin typeface="Calibri" charset="0"/>
                        <a:ea typeface="Calibri" charset="0"/>
                        <a:cs typeface="Calibri" charset="0"/>
                      </a:endParaRPr>
                    </a:p>
                  </a:txBody>
                  <a:tcPr marL="109728" marR="91440" marT="36576" marB="36576" anchor="ctr">
                    <a:lnL w="9525" cap="flat" cmpd="sng" algn="ctr">
                      <a:solidFill>
                        <a:srgbClr val="E5DCCC"/>
                      </a:solidFill>
                      <a:prstDash val="solid"/>
                      <a:round/>
                      <a:headEnd type="none" w="med" len="med"/>
                      <a:tailEnd type="none" w="med" len="med"/>
                    </a:lnL>
                    <a:lnR w="9525" cap="flat" cmpd="sng" algn="ctr">
                      <a:solidFill>
                        <a:srgbClr val="E5DCCC"/>
                      </a:solidFill>
                      <a:prstDash val="solid"/>
                      <a:round/>
                      <a:headEnd type="none" w="med" len="med"/>
                      <a:tailEnd type="none" w="med" len="med"/>
                    </a:lnR>
                    <a:lnT w="9525" cap="flat" cmpd="sng" algn="ctr">
                      <a:solidFill>
                        <a:srgbClr val="E5DCCC"/>
                      </a:solidFill>
                      <a:prstDash val="solid"/>
                      <a:round/>
                      <a:headEnd type="none" w="med" len="med"/>
                      <a:tailEnd type="none" w="med" len="med"/>
                    </a:lnT>
                    <a:lnB w="9525" cap="flat" cmpd="sng" algn="ctr">
                      <a:solidFill>
                        <a:srgbClr val="E5DCCC"/>
                      </a:solidFill>
                      <a:prstDash val="solid"/>
                      <a:round/>
                      <a:headEnd type="none" w="med" len="med"/>
                      <a:tailEnd type="none" w="med" len="med"/>
                    </a:lnB>
                    <a:solidFill>
                      <a:srgbClr val="FFFFFF">
                        <a:alpha val="0"/>
                      </a:srgbClr>
                    </a:solidFill>
                  </a:tcPr>
                </a:tc>
                <a:tc>
                  <a:txBody>
                    <a:bodyPr/>
                    <a:lstStyle/>
                    <a:p>
                      <a:pPr algn="ctr" indent="0" marL="0">
                        <a:buNone/>
                      </a:pPr>
                      <a:r>
                        <a:rPr lang="en-US" sz="1150" dirty="0">
                          <a:solidFill>
                            <a:srgbClr val="3A2E22"/>
                          </a:solidFill>
                          <a:latin typeface="Calibri" pitchFamily="34" charset="0"/>
                          <a:ea typeface="Calibri" pitchFamily="34" charset="-122"/>
                          <a:cs typeface="Calibri" pitchFamily="34" charset="-120"/>
                        </a:rPr>
                        <a:t>Propiedades antieméticas; base de la TIVA moderna</a:t>
                      </a:r>
                      <a:endParaRPr lang="en-US" sz="1150" dirty="0">
                        <a:latin typeface="Calibri" charset="0"/>
                        <a:ea typeface="Calibri" charset="0"/>
                        <a:cs typeface="Calibri" charset="0"/>
                      </a:endParaRPr>
                    </a:p>
                  </a:txBody>
                  <a:tcPr marL="109728" marR="91440" marT="36576" marB="36576" anchor="ctr">
                    <a:lnL w="9525" cap="flat" cmpd="sng" algn="ctr">
                      <a:solidFill>
                        <a:srgbClr val="E5DCCC"/>
                      </a:solidFill>
                      <a:prstDash val="solid"/>
                      <a:round/>
                      <a:headEnd type="none" w="med" len="med"/>
                      <a:tailEnd type="none" w="med" len="med"/>
                    </a:lnL>
                    <a:lnR w="9525" cap="flat" cmpd="sng" algn="ctr">
                      <a:solidFill>
                        <a:srgbClr val="E5DCCC"/>
                      </a:solidFill>
                      <a:prstDash val="solid"/>
                      <a:round/>
                      <a:headEnd type="none" w="med" len="med"/>
                      <a:tailEnd type="none" w="med" len="med"/>
                    </a:lnR>
                    <a:lnT w="9525" cap="flat" cmpd="sng" algn="ctr">
                      <a:solidFill>
                        <a:srgbClr val="E5DCCC"/>
                      </a:solidFill>
                      <a:prstDash val="solid"/>
                      <a:round/>
                      <a:headEnd type="none" w="med" len="med"/>
                      <a:tailEnd type="none" w="med" len="med"/>
                    </a:lnT>
                    <a:lnB w="9525" cap="flat" cmpd="sng" algn="ctr">
                      <a:solidFill>
                        <a:srgbClr val="E5DCCC"/>
                      </a:solidFill>
                      <a:prstDash val="solid"/>
                      <a:round/>
                      <a:headEnd type="none" w="med" len="med"/>
                      <a:tailEnd type="none" w="med" len="med"/>
                    </a:lnB>
                    <a:solidFill>
                      <a:srgbClr val="FFFFFF">
                        <a:alpha val="0"/>
                      </a:srgbClr>
                    </a:solidFill>
                  </a:tcPr>
                </a:tc>
              </a:tr>
            </a:tbl>
          </a:graphicData>
        </a:graphic>
      </p:graphicFrame>
      <p:sp>
        <p:nvSpPr>
          <p:cNvPr id="6" name="Text 3"/>
          <p:cNvSpPr/>
          <p:nvPr/>
        </p:nvSpPr>
        <p:spPr>
          <a:xfrm>
            <a:off x="548640" y="5248656"/>
            <a:ext cx="11064240" cy="777240"/>
          </a:xfrm>
          <a:prstGeom prst="rect">
            <a:avLst/>
          </a:prstGeom>
          <a:noFill/>
          <a:ln/>
        </p:spPr>
        <p:txBody>
          <a:bodyPr wrap="square" lIns="0" tIns="0" rIns="0" bIns="0" rtlCol="0" anchor="ctr"/>
          <a:lstStyle/>
          <a:p>
            <a:pPr indent="0" marL="0">
              <a:lnSpc>
                <a:spcPct val="122000"/>
              </a:lnSpc>
              <a:buNone/>
            </a:pPr>
            <a:r>
              <a:rPr lang="en-US" sz="1150" i="1" dirty="0">
                <a:solidFill>
                  <a:srgbClr val="7A6A57"/>
                </a:solidFill>
                <a:latin typeface="Calibri" pitchFamily="34" charset="0"/>
                <a:ea typeface="Calibri" pitchFamily="34" charset="-122"/>
                <a:cs typeface="Calibri" pitchFamily="34" charset="-120"/>
              </a:rPr>
              <a:t>El tiopental, introducido en 1934, popularizó la inducción intravenosa pero mostró sus límites en pacientes hipovolémicos durante la Segunda Guerra Mundial. El propofol, décadas más tarde, se convirtió en el estándar de inducción y en la base de la anestesia total intravenosa (TIVA).</a:t>
            </a:r>
            <a:endParaRPr lang="en-US" sz="1150" dirty="0"/>
          </a:p>
        </p:txBody>
      </p:sp>
      <p:sp>
        <p:nvSpPr>
          <p:cNvPr id="7" name="Text 4"/>
          <p:cNvSpPr/>
          <p:nvPr/>
        </p:nvSpPr>
        <p:spPr>
          <a:xfrm>
            <a:off x="548640" y="6473952"/>
            <a:ext cx="6400800" cy="274320"/>
          </a:xfrm>
          <a:prstGeom prst="rect">
            <a:avLst/>
          </a:prstGeom>
          <a:noFill/>
          <a:ln/>
        </p:spPr>
        <p:txBody>
          <a:bodyPr wrap="square" lIns="0" tIns="0" rIns="0" bIns="0" rtlCol="0" anchor="ctr"/>
          <a:lstStyle/>
          <a:p>
            <a:pPr indent="0" marL="0">
              <a:buNone/>
            </a:pPr>
            <a:r>
              <a:rPr lang="en-US" sz="850" spc="100" kern="0" dirty="0">
                <a:solidFill>
                  <a:srgbClr val="7A6A57"/>
                </a:solidFill>
                <a:latin typeface="Calibri" pitchFamily="34" charset="0"/>
                <a:ea typeface="Calibri" pitchFamily="34" charset="-122"/>
                <a:cs typeface="Calibri" pitchFamily="34" charset="-120"/>
              </a:rPr>
              <a:t>CAPÍTULO II  ·  HISTORIA DE LA ANESTESIA</a:t>
            </a:r>
            <a:endParaRPr lang="en-US" sz="850" dirty="0"/>
          </a:p>
        </p:txBody>
      </p:sp>
      <p:sp>
        <p:nvSpPr>
          <p:cNvPr id="8" name="Text 5"/>
          <p:cNvSpPr/>
          <p:nvPr/>
        </p:nvSpPr>
        <p:spPr>
          <a:xfrm>
            <a:off x="10728655" y="6473952"/>
            <a:ext cx="914400" cy="274320"/>
          </a:xfrm>
          <a:prstGeom prst="rect">
            <a:avLst/>
          </a:prstGeom>
          <a:noFill/>
          <a:ln/>
        </p:spPr>
        <p:txBody>
          <a:bodyPr wrap="square" lIns="0" tIns="0" rIns="0" bIns="0" rtlCol="0" anchor="ctr"/>
          <a:lstStyle/>
          <a:p>
            <a:pPr algn="r" indent="0" marL="0">
              <a:buNone/>
            </a:pPr>
            <a:r>
              <a:rPr lang="en-US" sz="850" dirty="0">
                <a:solidFill>
                  <a:srgbClr val="7A6A57"/>
                </a:solidFill>
                <a:latin typeface="Calibri" pitchFamily="34" charset="0"/>
                <a:ea typeface="Calibri" pitchFamily="34" charset="-122"/>
                <a:cs typeface="Calibri" pitchFamily="34" charset="-120"/>
              </a:rPr>
              <a:t>23</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lIns="0" tIns="0" rIns="0" bIns="0" rtlCol="0" anchor="ctr"/>
          <a:lstStyle/>
          <a:p>
            <a:pPr indent="0" marL="0">
              <a:buNone/>
            </a:pPr>
            <a:r>
              <a:rPr lang="en-US" sz="1200" b="1" spc="200" kern="0" dirty="0">
                <a:solidFill>
                  <a:srgbClr val="8B5E3C"/>
                </a:solidFill>
                <a:latin typeface="Calibri" pitchFamily="34" charset="0"/>
                <a:ea typeface="Calibri" pitchFamily="34" charset="-122"/>
                <a:cs typeface="Calibri" pitchFamily="34" charset="-120"/>
              </a:rPr>
              <a:t>PIONERA · SEGURIDAD OBSTÉTRICA Y NEONATAL</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t"/>
          <a:lstStyle/>
          <a:p>
            <a:pPr indent="0" marL="0">
              <a:buNone/>
            </a:pPr>
            <a:r>
              <a:rPr lang="en-US" sz="2900" b="1" dirty="0">
                <a:solidFill>
                  <a:srgbClr val="5C3A21"/>
                </a:solidFill>
                <a:latin typeface="Cambria" pitchFamily="34" charset="0"/>
                <a:ea typeface="Cambria" pitchFamily="34" charset="-122"/>
                <a:cs typeface="Cambria" pitchFamily="34" charset="-120"/>
              </a:rPr>
              <a:t>Virginia Apgar y la seguridad anestésica obstétrica</a:t>
            </a:r>
            <a:endParaRPr lang="en-US" sz="2900" dirty="0"/>
          </a:p>
        </p:txBody>
      </p:sp>
      <p:sp>
        <p:nvSpPr>
          <p:cNvPr id="4" name="Shape 2"/>
          <p:cNvSpPr/>
          <p:nvPr/>
        </p:nvSpPr>
        <p:spPr>
          <a:xfrm>
            <a:off x="548640" y="1691640"/>
            <a:ext cx="3383280" cy="4434840"/>
          </a:xfrm>
          <a:prstGeom prst="roundRect">
            <a:avLst>
              <a:gd name="adj" fmla="val 2162"/>
            </a:avLst>
          </a:prstGeom>
          <a:solidFill>
            <a:srgbClr val="8B5E3C">
              <a:alpha val="12000"/>
            </a:srgbClr>
          </a:solidFill>
          <a:ln/>
        </p:spPr>
      </p:sp>
      <p:sp>
        <p:nvSpPr>
          <p:cNvPr id="5" name="Shape 3"/>
          <p:cNvSpPr/>
          <p:nvPr/>
        </p:nvSpPr>
        <p:spPr>
          <a:xfrm>
            <a:off x="1600200" y="2011680"/>
            <a:ext cx="1280160" cy="1280160"/>
          </a:xfrm>
          <a:prstGeom prst="ellipse">
            <a:avLst/>
          </a:prstGeom>
          <a:solidFill>
            <a:srgbClr val="5C3A21"/>
          </a:solidFill>
          <a:ln/>
          <a:effectLst>
            <a:outerShdw sx="100000" sy="100000" kx="0" ky="0" algn="bl" rotWithShape="0" blurRad="101600" dist="38100" dir="5400000">
              <a:srgbClr val="2B2118">
                <a:alpha val="28000"/>
              </a:srgbClr>
            </a:outerShdw>
          </a:effectLst>
        </p:spPr>
      </p:sp>
      <p:pic>
        <p:nvPicPr>
          <p:cNvPr id="6" name="Image 0" descr="preencoded.png">    </p:cNvPr>
          <p:cNvPicPr>
            <a:picLocks noChangeAspect="1"/>
          </p:cNvPicPr>
          <p:nvPr/>
        </p:nvPicPr>
        <p:blipFill>
          <a:blip r:embed="rId1"/>
          <a:stretch>
            <a:fillRect/>
          </a:stretch>
        </p:blipFill>
        <p:spPr>
          <a:xfrm>
            <a:off x="1920240" y="2331720"/>
            <a:ext cx="640080" cy="640080"/>
          </a:xfrm>
          <a:prstGeom prst="rect">
            <a:avLst/>
          </a:prstGeom>
        </p:spPr>
      </p:pic>
      <p:sp>
        <p:nvSpPr>
          <p:cNvPr id="7" name="Text 4"/>
          <p:cNvSpPr/>
          <p:nvPr/>
        </p:nvSpPr>
        <p:spPr>
          <a:xfrm>
            <a:off x="731520" y="3429000"/>
            <a:ext cx="3017520" cy="365760"/>
          </a:xfrm>
          <a:prstGeom prst="rect">
            <a:avLst/>
          </a:prstGeom>
          <a:noFill/>
          <a:ln/>
        </p:spPr>
        <p:txBody>
          <a:bodyPr wrap="square" lIns="0" tIns="0" rIns="0" bIns="0" rtlCol="0" anchor="ctr"/>
          <a:lstStyle/>
          <a:p>
            <a:pPr algn="ctr" indent="0" marL="0">
              <a:buNone/>
            </a:pPr>
            <a:r>
              <a:rPr lang="en-US" sz="1600" b="1" dirty="0">
                <a:solidFill>
                  <a:srgbClr val="5C3A21"/>
                </a:solidFill>
                <a:latin typeface="Cambria" pitchFamily="34" charset="0"/>
                <a:ea typeface="Cambria" pitchFamily="34" charset="-122"/>
                <a:cs typeface="Cambria" pitchFamily="34" charset="-120"/>
              </a:rPr>
              <a:t>1909 – 1974</a:t>
            </a:r>
            <a:endParaRPr lang="en-US" sz="1600" dirty="0"/>
          </a:p>
        </p:txBody>
      </p:sp>
      <p:sp>
        <p:nvSpPr>
          <p:cNvPr id="8" name="Text 5"/>
          <p:cNvSpPr/>
          <p:nvPr/>
        </p:nvSpPr>
        <p:spPr>
          <a:xfrm>
            <a:off x="822960" y="3840480"/>
            <a:ext cx="2880360" cy="2148840"/>
          </a:xfrm>
          <a:prstGeom prst="rect">
            <a:avLst/>
          </a:prstGeom>
          <a:noFill/>
          <a:ln/>
        </p:spPr>
        <p:txBody>
          <a:bodyPr wrap="square" lIns="0" tIns="0" rIns="0" bIns="0" rtlCol="0" anchor="ctr"/>
          <a:lstStyle/>
          <a:p>
            <a:pPr indent="0" marL="0">
              <a:lnSpc>
                <a:spcPct val="125000"/>
              </a:lnSpc>
              <a:buNone/>
            </a:pPr>
            <a:r>
              <a:rPr lang="en-US" sz="1100" dirty="0">
                <a:solidFill>
                  <a:srgbClr val="3A2E22"/>
                </a:solidFill>
                <a:latin typeface="Calibri" pitchFamily="34" charset="0"/>
                <a:ea typeface="Calibri" pitchFamily="34" charset="-122"/>
                <a:cs typeface="Calibri" pitchFamily="34" charset="-120"/>
              </a:rPr>
              <a:t>Anestesióloga estadounidense, una de las primeras mujeres certificadas en la especialidad en EE. UU. En 1952 desarrolló un sistema estandarizado para evaluar la condición del recién nacido inmediatamente tras el parto, vinculando por primera vez de forma sistemática la práctica anestésica obstétrica con los resultados neonatales.</a:t>
            </a:r>
            <a:endParaRPr lang="en-US" sz="1100" dirty="0"/>
          </a:p>
        </p:txBody>
      </p:sp>
      <p:sp>
        <p:nvSpPr>
          <p:cNvPr id="9" name="Text 6"/>
          <p:cNvSpPr/>
          <p:nvPr/>
        </p:nvSpPr>
        <p:spPr>
          <a:xfrm>
            <a:off x="4206240" y="1783080"/>
            <a:ext cx="7452360" cy="457200"/>
          </a:xfrm>
          <a:prstGeom prst="rect">
            <a:avLst/>
          </a:prstGeom>
          <a:noFill/>
          <a:ln/>
        </p:spPr>
        <p:txBody>
          <a:bodyPr wrap="square" lIns="0" tIns="0" rIns="0" bIns="0" rtlCol="0" anchor="ctr"/>
          <a:lstStyle/>
          <a:p>
            <a:pPr indent="0" marL="0">
              <a:buNone/>
            </a:pPr>
            <a:r>
              <a:rPr lang="en-US" sz="1300" b="1" dirty="0">
                <a:solidFill>
                  <a:srgbClr val="3A2E22"/>
                </a:solidFill>
                <a:latin typeface="Calibri" pitchFamily="34" charset="0"/>
                <a:ea typeface="Calibri" pitchFamily="34" charset="-122"/>
                <a:cs typeface="Calibri" pitchFamily="34" charset="-120"/>
              </a:rPr>
              <a:t>El Score de Apgar: evaluado al minuto 1 y al minuto 5 de vida</a:t>
            </a:r>
            <a:endParaRPr lang="en-US" sz="1300" dirty="0"/>
          </a:p>
        </p:txBody>
      </p:sp>
      <p:sp>
        <p:nvSpPr>
          <p:cNvPr id="10" name="Shape 7"/>
          <p:cNvSpPr/>
          <p:nvPr/>
        </p:nvSpPr>
        <p:spPr>
          <a:xfrm>
            <a:off x="4206240" y="2331720"/>
            <a:ext cx="2148840" cy="1417320"/>
          </a:xfrm>
          <a:prstGeom prst="roundRect">
            <a:avLst>
              <a:gd name="adj" fmla="val 5161"/>
            </a:avLst>
          </a:prstGeom>
          <a:solidFill>
            <a:srgbClr val="C9A66B">
              <a:alpha val="11000"/>
            </a:srgbClr>
          </a:solidFill>
          <a:ln/>
        </p:spPr>
      </p:sp>
      <p:sp>
        <p:nvSpPr>
          <p:cNvPr id="11" name="Text 8"/>
          <p:cNvSpPr/>
          <p:nvPr/>
        </p:nvSpPr>
        <p:spPr>
          <a:xfrm>
            <a:off x="4343400" y="2404872"/>
            <a:ext cx="731520" cy="731520"/>
          </a:xfrm>
          <a:prstGeom prst="rect">
            <a:avLst/>
          </a:prstGeom>
          <a:noFill/>
          <a:ln/>
        </p:spPr>
        <p:txBody>
          <a:bodyPr wrap="square" lIns="0" tIns="0" rIns="0" bIns="0" rtlCol="0" anchor="ctr"/>
          <a:lstStyle/>
          <a:p>
            <a:pPr indent="0" marL="0">
              <a:buNone/>
            </a:pPr>
            <a:r>
              <a:rPr lang="en-US" sz="3200" b="1" dirty="0">
                <a:solidFill>
                  <a:srgbClr val="5C3A21"/>
                </a:solidFill>
                <a:latin typeface="Cambria" pitchFamily="34" charset="0"/>
                <a:ea typeface="Cambria" pitchFamily="34" charset="-122"/>
                <a:cs typeface="Cambria" pitchFamily="34" charset="-120"/>
              </a:rPr>
              <a:t>A</a:t>
            </a:r>
            <a:endParaRPr lang="en-US" sz="3200" dirty="0"/>
          </a:p>
        </p:txBody>
      </p:sp>
      <p:sp>
        <p:nvSpPr>
          <p:cNvPr id="12" name="Text 9"/>
          <p:cNvSpPr/>
          <p:nvPr/>
        </p:nvSpPr>
        <p:spPr>
          <a:xfrm>
            <a:off x="4343400" y="3118104"/>
            <a:ext cx="1874520" cy="292608"/>
          </a:xfrm>
          <a:prstGeom prst="rect">
            <a:avLst/>
          </a:prstGeom>
          <a:noFill/>
          <a:ln/>
        </p:spPr>
        <p:txBody>
          <a:bodyPr wrap="square" lIns="0" tIns="0" rIns="0" bIns="0" rtlCol="0" anchor="ctr"/>
          <a:lstStyle/>
          <a:p>
            <a:pPr indent="0" marL="0">
              <a:buNone/>
            </a:pPr>
            <a:r>
              <a:rPr lang="en-US" sz="1150" b="1" dirty="0">
                <a:solidFill>
                  <a:srgbClr val="3A2E22"/>
                </a:solidFill>
                <a:latin typeface="Calibri" pitchFamily="34" charset="0"/>
                <a:ea typeface="Calibri" pitchFamily="34" charset="-122"/>
                <a:cs typeface="Calibri" pitchFamily="34" charset="-120"/>
              </a:rPr>
              <a:t>Apariencia</a:t>
            </a:r>
            <a:endParaRPr lang="en-US" sz="1150" dirty="0"/>
          </a:p>
        </p:txBody>
      </p:sp>
      <p:sp>
        <p:nvSpPr>
          <p:cNvPr id="13" name="Text 10"/>
          <p:cNvSpPr/>
          <p:nvPr/>
        </p:nvSpPr>
        <p:spPr>
          <a:xfrm>
            <a:off x="4343400" y="3383280"/>
            <a:ext cx="1874520" cy="320040"/>
          </a:xfrm>
          <a:prstGeom prst="rect">
            <a:avLst/>
          </a:prstGeom>
          <a:noFill/>
          <a:ln/>
        </p:spPr>
        <p:txBody>
          <a:bodyPr wrap="square" lIns="0" tIns="0" rIns="0" bIns="0" rtlCol="0" anchor="ctr"/>
          <a:lstStyle/>
          <a:p>
            <a:pPr indent="0" marL="0">
              <a:buNone/>
            </a:pPr>
            <a:r>
              <a:rPr lang="en-US" sz="930" dirty="0">
                <a:solidFill>
                  <a:srgbClr val="7A6A57"/>
                </a:solidFill>
                <a:latin typeface="Calibri" pitchFamily="34" charset="0"/>
                <a:ea typeface="Calibri" pitchFamily="34" charset="-122"/>
                <a:cs typeface="Calibri" pitchFamily="34" charset="-120"/>
              </a:rPr>
              <a:t>Color de la piel</a:t>
            </a:r>
            <a:endParaRPr lang="en-US" sz="930" dirty="0"/>
          </a:p>
        </p:txBody>
      </p:sp>
      <p:sp>
        <p:nvSpPr>
          <p:cNvPr id="14" name="Shape 11"/>
          <p:cNvSpPr/>
          <p:nvPr/>
        </p:nvSpPr>
        <p:spPr>
          <a:xfrm>
            <a:off x="6519672" y="2331720"/>
            <a:ext cx="2148840" cy="1417320"/>
          </a:xfrm>
          <a:prstGeom prst="roundRect">
            <a:avLst>
              <a:gd name="adj" fmla="val 5161"/>
            </a:avLst>
          </a:prstGeom>
          <a:solidFill>
            <a:srgbClr val="C9A66B">
              <a:alpha val="11000"/>
            </a:srgbClr>
          </a:solidFill>
          <a:ln/>
        </p:spPr>
      </p:sp>
      <p:sp>
        <p:nvSpPr>
          <p:cNvPr id="15" name="Text 12"/>
          <p:cNvSpPr/>
          <p:nvPr/>
        </p:nvSpPr>
        <p:spPr>
          <a:xfrm>
            <a:off x="6656832" y="2404872"/>
            <a:ext cx="731520" cy="731520"/>
          </a:xfrm>
          <a:prstGeom prst="rect">
            <a:avLst/>
          </a:prstGeom>
          <a:noFill/>
          <a:ln/>
        </p:spPr>
        <p:txBody>
          <a:bodyPr wrap="square" lIns="0" tIns="0" rIns="0" bIns="0" rtlCol="0" anchor="ctr"/>
          <a:lstStyle/>
          <a:p>
            <a:pPr indent="0" marL="0">
              <a:buNone/>
            </a:pPr>
            <a:r>
              <a:rPr lang="en-US" sz="3200" b="1" dirty="0">
                <a:solidFill>
                  <a:srgbClr val="5C3A21"/>
                </a:solidFill>
                <a:latin typeface="Cambria" pitchFamily="34" charset="0"/>
                <a:ea typeface="Cambria" pitchFamily="34" charset="-122"/>
                <a:cs typeface="Cambria" pitchFamily="34" charset="-120"/>
              </a:rPr>
              <a:t>P</a:t>
            </a:r>
            <a:endParaRPr lang="en-US" sz="3200" dirty="0"/>
          </a:p>
        </p:txBody>
      </p:sp>
      <p:sp>
        <p:nvSpPr>
          <p:cNvPr id="16" name="Text 13"/>
          <p:cNvSpPr/>
          <p:nvPr/>
        </p:nvSpPr>
        <p:spPr>
          <a:xfrm>
            <a:off x="6656832" y="3118104"/>
            <a:ext cx="1874520" cy="292608"/>
          </a:xfrm>
          <a:prstGeom prst="rect">
            <a:avLst/>
          </a:prstGeom>
          <a:noFill/>
          <a:ln/>
        </p:spPr>
        <p:txBody>
          <a:bodyPr wrap="square" lIns="0" tIns="0" rIns="0" bIns="0" rtlCol="0" anchor="ctr"/>
          <a:lstStyle/>
          <a:p>
            <a:pPr indent="0" marL="0">
              <a:buNone/>
            </a:pPr>
            <a:r>
              <a:rPr lang="en-US" sz="1150" b="1" dirty="0">
                <a:solidFill>
                  <a:srgbClr val="3A2E22"/>
                </a:solidFill>
                <a:latin typeface="Calibri" pitchFamily="34" charset="0"/>
                <a:ea typeface="Calibri" pitchFamily="34" charset="-122"/>
                <a:cs typeface="Calibri" pitchFamily="34" charset="-120"/>
              </a:rPr>
              <a:t>Pulso</a:t>
            </a:r>
            <a:endParaRPr lang="en-US" sz="1150" dirty="0"/>
          </a:p>
        </p:txBody>
      </p:sp>
      <p:sp>
        <p:nvSpPr>
          <p:cNvPr id="17" name="Text 14"/>
          <p:cNvSpPr/>
          <p:nvPr/>
        </p:nvSpPr>
        <p:spPr>
          <a:xfrm>
            <a:off x="6656832" y="3383280"/>
            <a:ext cx="1874520" cy="320040"/>
          </a:xfrm>
          <a:prstGeom prst="rect">
            <a:avLst/>
          </a:prstGeom>
          <a:noFill/>
          <a:ln/>
        </p:spPr>
        <p:txBody>
          <a:bodyPr wrap="square" lIns="0" tIns="0" rIns="0" bIns="0" rtlCol="0" anchor="ctr"/>
          <a:lstStyle/>
          <a:p>
            <a:pPr indent="0" marL="0">
              <a:buNone/>
            </a:pPr>
            <a:r>
              <a:rPr lang="en-US" sz="930" dirty="0">
                <a:solidFill>
                  <a:srgbClr val="7A6A57"/>
                </a:solidFill>
                <a:latin typeface="Calibri" pitchFamily="34" charset="0"/>
                <a:ea typeface="Calibri" pitchFamily="34" charset="-122"/>
                <a:cs typeface="Calibri" pitchFamily="34" charset="-120"/>
              </a:rPr>
              <a:t>Frecuencia cardíaca</a:t>
            </a:r>
            <a:endParaRPr lang="en-US" sz="930" dirty="0"/>
          </a:p>
        </p:txBody>
      </p:sp>
      <p:sp>
        <p:nvSpPr>
          <p:cNvPr id="18" name="Shape 15"/>
          <p:cNvSpPr/>
          <p:nvPr/>
        </p:nvSpPr>
        <p:spPr>
          <a:xfrm>
            <a:off x="8833104" y="2331720"/>
            <a:ext cx="2148840" cy="1417320"/>
          </a:xfrm>
          <a:prstGeom prst="roundRect">
            <a:avLst>
              <a:gd name="adj" fmla="val 5161"/>
            </a:avLst>
          </a:prstGeom>
          <a:solidFill>
            <a:srgbClr val="C9A66B">
              <a:alpha val="11000"/>
            </a:srgbClr>
          </a:solidFill>
          <a:ln/>
        </p:spPr>
      </p:sp>
      <p:sp>
        <p:nvSpPr>
          <p:cNvPr id="19" name="Text 16"/>
          <p:cNvSpPr/>
          <p:nvPr/>
        </p:nvSpPr>
        <p:spPr>
          <a:xfrm>
            <a:off x="8970264" y="2404872"/>
            <a:ext cx="731520" cy="731520"/>
          </a:xfrm>
          <a:prstGeom prst="rect">
            <a:avLst/>
          </a:prstGeom>
          <a:noFill/>
          <a:ln/>
        </p:spPr>
        <p:txBody>
          <a:bodyPr wrap="square" lIns="0" tIns="0" rIns="0" bIns="0" rtlCol="0" anchor="ctr"/>
          <a:lstStyle/>
          <a:p>
            <a:pPr indent="0" marL="0">
              <a:buNone/>
            </a:pPr>
            <a:r>
              <a:rPr lang="en-US" sz="3200" b="1" dirty="0">
                <a:solidFill>
                  <a:srgbClr val="5C3A21"/>
                </a:solidFill>
                <a:latin typeface="Cambria" pitchFamily="34" charset="0"/>
                <a:ea typeface="Cambria" pitchFamily="34" charset="-122"/>
                <a:cs typeface="Cambria" pitchFamily="34" charset="-120"/>
              </a:rPr>
              <a:t>G</a:t>
            </a:r>
            <a:endParaRPr lang="en-US" sz="3200" dirty="0"/>
          </a:p>
        </p:txBody>
      </p:sp>
      <p:sp>
        <p:nvSpPr>
          <p:cNvPr id="20" name="Text 17"/>
          <p:cNvSpPr/>
          <p:nvPr/>
        </p:nvSpPr>
        <p:spPr>
          <a:xfrm>
            <a:off x="8970264" y="3118104"/>
            <a:ext cx="1874520" cy="292608"/>
          </a:xfrm>
          <a:prstGeom prst="rect">
            <a:avLst/>
          </a:prstGeom>
          <a:noFill/>
          <a:ln/>
        </p:spPr>
        <p:txBody>
          <a:bodyPr wrap="square" lIns="0" tIns="0" rIns="0" bIns="0" rtlCol="0" anchor="ctr"/>
          <a:lstStyle/>
          <a:p>
            <a:pPr indent="0" marL="0">
              <a:buNone/>
            </a:pPr>
            <a:r>
              <a:rPr lang="en-US" sz="1150" b="1" dirty="0">
                <a:solidFill>
                  <a:srgbClr val="3A2E22"/>
                </a:solidFill>
                <a:latin typeface="Calibri" pitchFamily="34" charset="0"/>
                <a:ea typeface="Calibri" pitchFamily="34" charset="-122"/>
                <a:cs typeface="Calibri" pitchFamily="34" charset="-120"/>
              </a:rPr>
              <a:t>Gesto</a:t>
            </a:r>
            <a:endParaRPr lang="en-US" sz="1150" dirty="0"/>
          </a:p>
        </p:txBody>
      </p:sp>
      <p:sp>
        <p:nvSpPr>
          <p:cNvPr id="21" name="Text 18"/>
          <p:cNvSpPr/>
          <p:nvPr/>
        </p:nvSpPr>
        <p:spPr>
          <a:xfrm>
            <a:off x="8970264" y="3383280"/>
            <a:ext cx="1874520" cy="320040"/>
          </a:xfrm>
          <a:prstGeom prst="rect">
            <a:avLst/>
          </a:prstGeom>
          <a:noFill/>
          <a:ln/>
        </p:spPr>
        <p:txBody>
          <a:bodyPr wrap="square" lIns="0" tIns="0" rIns="0" bIns="0" rtlCol="0" anchor="ctr"/>
          <a:lstStyle/>
          <a:p>
            <a:pPr indent="0" marL="0">
              <a:buNone/>
            </a:pPr>
            <a:r>
              <a:rPr lang="en-US" sz="930" dirty="0">
                <a:solidFill>
                  <a:srgbClr val="7A6A57"/>
                </a:solidFill>
                <a:latin typeface="Calibri" pitchFamily="34" charset="0"/>
                <a:ea typeface="Calibri" pitchFamily="34" charset="-122"/>
                <a:cs typeface="Calibri" pitchFamily="34" charset="-120"/>
              </a:rPr>
              <a:t>Irritabilidad refleja</a:t>
            </a:r>
            <a:endParaRPr lang="en-US" sz="930" dirty="0"/>
          </a:p>
        </p:txBody>
      </p:sp>
      <p:sp>
        <p:nvSpPr>
          <p:cNvPr id="22" name="Shape 19"/>
          <p:cNvSpPr/>
          <p:nvPr/>
        </p:nvSpPr>
        <p:spPr>
          <a:xfrm>
            <a:off x="4206240" y="3886200"/>
            <a:ext cx="2148840" cy="1417320"/>
          </a:xfrm>
          <a:prstGeom prst="roundRect">
            <a:avLst>
              <a:gd name="adj" fmla="val 5161"/>
            </a:avLst>
          </a:prstGeom>
          <a:solidFill>
            <a:srgbClr val="C9A66B">
              <a:alpha val="11000"/>
            </a:srgbClr>
          </a:solidFill>
          <a:ln/>
        </p:spPr>
      </p:sp>
      <p:sp>
        <p:nvSpPr>
          <p:cNvPr id="23" name="Text 20"/>
          <p:cNvSpPr/>
          <p:nvPr/>
        </p:nvSpPr>
        <p:spPr>
          <a:xfrm>
            <a:off x="4343400" y="3959352"/>
            <a:ext cx="731520" cy="731520"/>
          </a:xfrm>
          <a:prstGeom prst="rect">
            <a:avLst/>
          </a:prstGeom>
          <a:noFill/>
          <a:ln/>
        </p:spPr>
        <p:txBody>
          <a:bodyPr wrap="square" lIns="0" tIns="0" rIns="0" bIns="0" rtlCol="0" anchor="ctr"/>
          <a:lstStyle/>
          <a:p>
            <a:pPr indent="0" marL="0">
              <a:buNone/>
            </a:pPr>
            <a:r>
              <a:rPr lang="en-US" sz="3200" b="1" dirty="0">
                <a:solidFill>
                  <a:srgbClr val="5C3A21"/>
                </a:solidFill>
                <a:latin typeface="Cambria" pitchFamily="34" charset="0"/>
                <a:ea typeface="Cambria" pitchFamily="34" charset="-122"/>
                <a:cs typeface="Cambria" pitchFamily="34" charset="-120"/>
              </a:rPr>
              <a:t>A</a:t>
            </a:r>
            <a:endParaRPr lang="en-US" sz="3200" dirty="0"/>
          </a:p>
        </p:txBody>
      </p:sp>
      <p:sp>
        <p:nvSpPr>
          <p:cNvPr id="24" name="Text 21"/>
          <p:cNvSpPr/>
          <p:nvPr/>
        </p:nvSpPr>
        <p:spPr>
          <a:xfrm>
            <a:off x="4343400" y="4672584"/>
            <a:ext cx="1874520" cy="292608"/>
          </a:xfrm>
          <a:prstGeom prst="rect">
            <a:avLst/>
          </a:prstGeom>
          <a:noFill/>
          <a:ln/>
        </p:spPr>
        <p:txBody>
          <a:bodyPr wrap="square" lIns="0" tIns="0" rIns="0" bIns="0" rtlCol="0" anchor="ctr"/>
          <a:lstStyle/>
          <a:p>
            <a:pPr indent="0" marL="0">
              <a:buNone/>
            </a:pPr>
            <a:r>
              <a:rPr lang="en-US" sz="1150" b="1" dirty="0">
                <a:solidFill>
                  <a:srgbClr val="3A2E22"/>
                </a:solidFill>
                <a:latin typeface="Calibri" pitchFamily="34" charset="0"/>
                <a:ea typeface="Calibri" pitchFamily="34" charset="-122"/>
                <a:cs typeface="Calibri" pitchFamily="34" charset="-120"/>
              </a:rPr>
              <a:t>Actividad</a:t>
            </a:r>
            <a:endParaRPr lang="en-US" sz="1150" dirty="0"/>
          </a:p>
        </p:txBody>
      </p:sp>
      <p:sp>
        <p:nvSpPr>
          <p:cNvPr id="25" name="Text 22"/>
          <p:cNvSpPr/>
          <p:nvPr/>
        </p:nvSpPr>
        <p:spPr>
          <a:xfrm>
            <a:off x="4343400" y="4937760"/>
            <a:ext cx="1874520" cy="320040"/>
          </a:xfrm>
          <a:prstGeom prst="rect">
            <a:avLst/>
          </a:prstGeom>
          <a:noFill/>
          <a:ln/>
        </p:spPr>
        <p:txBody>
          <a:bodyPr wrap="square" lIns="0" tIns="0" rIns="0" bIns="0" rtlCol="0" anchor="ctr"/>
          <a:lstStyle/>
          <a:p>
            <a:pPr indent="0" marL="0">
              <a:buNone/>
            </a:pPr>
            <a:r>
              <a:rPr lang="en-US" sz="930" dirty="0">
                <a:solidFill>
                  <a:srgbClr val="7A6A57"/>
                </a:solidFill>
                <a:latin typeface="Calibri" pitchFamily="34" charset="0"/>
                <a:ea typeface="Calibri" pitchFamily="34" charset="-122"/>
                <a:cs typeface="Calibri" pitchFamily="34" charset="-120"/>
              </a:rPr>
              <a:t>Tono muscular</a:t>
            </a:r>
            <a:endParaRPr lang="en-US" sz="930" dirty="0"/>
          </a:p>
        </p:txBody>
      </p:sp>
      <p:sp>
        <p:nvSpPr>
          <p:cNvPr id="26" name="Shape 23"/>
          <p:cNvSpPr/>
          <p:nvPr/>
        </p:nvSpPr>
        <p:spPr>
          <a:xfrm>
            <a:off x="6519672" y="3886200"/>
            <a:ext cx="2148840" cy="1417320"/>
          </a:xfrm>
          <a:prstGeom prst="roundRect">
            <a:avLst>
              <a:gd name="adj" fmla="val 5161"/>
            </a:avLst>
          </a:prstGeom>
          <a:solidFill>
            <a:srgbClr val="C9A66B">
              <a:alpha val="11000"/>
            </a:srgbClr>
          </a:solidFill>
          <a:ln/>
        </p:spPr>
      </p:sp>
      <p:sp>
        <p:nvSpPr>
          <p:cNvPr id="27" name="Text 24"/>
          <p:cNvSpPr/>
          <p:nvPr/>
        </p:nvSpPr>
        <p:spPr>
          <a:xfrm>
            <a:off x="6656832" y="3959352"/>
            <a:ext cx="731520" cy="731520"/>
          </a:xfrm>
          <a:prstGeom prst="rect">
            <a:avLst/>
          </a:prstGeom>
          <a:noFill/>
          <a:ln/>
        </p:spPr>
        <p:txBody>
          <a:bodyPr wrap="square" lIns="0" tIns="0" rIns="0" bIns="0" rtlCol="0" anchor="ctr"/>
          <a:lstStyle/>
          <a:p>
            <a:pPr indent="0" marL="0">
              <a:buNone/>
            </a:pPr>
            <a:r>
              <a:rPr lang="en-US" sz="3200" b="1" dirty="0">
                <a:solidFill>
                  <a:srgbClr val="5C3A21"/>
                </a:solidFill>
                <a:latin typeface="Cambria" pitchFamily="34" charset="0"/>
                <a:ea typeface="Cambria" pitchFamily="34" charset="-122"/>
                <a:cs typeface="Cambria" pitchFamily="34" charset="-120"/>
              </a:rPr>
              <a:t>R</a:t>
            </a:r>
            <a:endParaRPr lang="en-US" sz="3200" dirty="0"/>
          </a:p>
        </p:txBody>
      </p:sp>
      <p:sp>
        <p:nvSpPr>
          <p:cNvPr id="28" name="Text 25"/>
          <p:cNvSpPr/>
          <p:nvPr/>
        </p:nvSpPr>
        <p:spPr>
          <a:xfrm>
            <a:off x="6656832" y="4672584"/>
            <a:ext cx="1874520" cy="292608"/>
          </a:xfrm>
          <a:prstGeom prst="rect">
            <a:avLst/>
          </a:prstGeom>
          <a:noFill/>
          <a:ln/>
        </p:spPr>
        <p:txBody>
          <a:bodyPr wrap="square" lIns="0" tIns="0" rIns="0" bIns="0" rtlCol="0" anchor="ctr"/>
          <a:lstStyle/>
          <a:p>
            <a:pPr indent="0" marL="0">
              <a:buNone/>
            </a:pPr>
            <a:r>
              <a:rPr lang="en-US" sz="1150" b="1" dirty="0">
                <a:solidFill>
                  <a:srgbClr val="3A2E22"/>
                </a:solidFill>
                <a:latin typeface="Calibri" pitchFamily="34" charset="0"/>
                <a:ea typeface="Calibri" pitchFamily="34" charset="-122"/>
                <a:cs typeface="Calibri" pitchFamily="34" charset="-120"/>
              </a:rPr>
              <a:t>Respiración</a:t>
            </a:r>
            <a:endParaRPr lang="en-US" sz="1150" dirty="0"/>
          </a:p>
        </p:txBody>
      </p:sp>
      <p:sp>
        <p:nvSpPr>
          <p:cNvPr id="29" name="Text 26"/>
          <p:cNvSpPr/>
          <p:nvPr/>
        </p:nvSpPr>
        <p:spPr>
          <a:xfrm>
            <a:off x="6656832" y="4937760"/>
            <a:ext cx="1874520" cy="320040"/>
          </a:xfrm>
          <a:prstGeom prst="rect">
            <a:avLst/>
          </a:prstGeom>
          <a:noFill/>
          <a:ln/>
        </p:spPr>
        <p:txBody>
          <a:bodyPr wrap="square" lIns="0" tIns="0" rIns="0" bIns="0" rtlCol="0" anchor="ctr"/>
          <a:lstStyle/>
          <a:p>
            <a:pPr indent="0" marL="0">
              <a:buNone/>
            </a:pPr>
            <a:r>
              <a:rPr lang="en-US" sz="930" dirty="0">
                <a:solidFill>
                  <a:srgbClr val="7A6A57"/>
                </a:solidFill>
                <a:latin typeface="Calibri" pitchFamily="34" charset="0"/>
                <a:ea typeface="Calibri" pitchFamily="34" charset="-122"/>
                <a:cs typeface="Calibri" pitchFamily="34" charset="-120"/>
              </a:rPr>
              <a:t>Esfuerzo respiratorio</a:t>
            </a:r>
            <a:endParaRPr lang="en-US" sz="930" dirty="0"/>
          </a:p>
        </p:txBody>
      </p:sp>
      <p:sp>
        <p:nvSpPr>
          <p:cNvPr id="30" name="Text 27"/>
          <p:cNvSpPr/>
          <p:nvPr/>
        </p:nvSpPr>
        <p:spPr>
          <a:xfrm>
            <a:off x="4206240" y="5440680"/>
            <a:ext cx="7452360" cy="685800"/>
          </a:xfrm>
          <a:prstGeom prst="rect">
            <a:avLst/>
          </a:prstGeom>
          <a:noFill/>
          <a:ln/>
        </p:spPr>
        <p:txBody>
          <a:bodyPr wrap="square" lIns="0" tIns="0" rIns="0" bIns="0" rtlCol="0" anchor="ctr"/>
          <a:lstStyle/>
          <a:p>
            <a:pPr indent="0" marL="0">
              <a:lnSpc>
                <a:spcPct val="122000"/>
              </a:lnSpc>
              <a:buNone/>
            </a:pPr>
            <a:r>
              <a:rPr lang="en-US" sz="1150" i="1" dirty="0">
                <a:solidFill>
                  <a:srgbClr val="7A6A57"/>
                </a:solidFill>
                <a:latin typeface="Calibri" pitchFamily="34" charset="0"/>
                <a:ea typeface="Calibri" pitchFamily="34" charset="-122"/>
                <a:cs typeface="Calibri" pitchFamily="34" charset="-120"/>
              </a:rPr>
              <a:t>Cada parámetro se puntúa de 0 a 2; la suma (0–10) estandarizó por primera vez la evaluación neonatal inmediata, permitiendo detectar precozmente la necesidad de reanimación y reduciendo la mortalidad neonatal a nivel global.</a:t>
            </a:r>
            <a:endParaRPr lang="en-US" sz="1150" dirty="0"/>
          </a:p>
        </p:txBody>
      </p:sp>
      <p:sp>
        <p:nvSpPr>
          <p:cNvPr id="31" name="Text 28"/>
          <p:cNvSpPr/>
          <p:nvPr/>
        </p:nvSpPr>
        <p:spPr>
          <a:xfrm>
            <a:off x="548640" y="6473952"/>
            <a:ext cx="6400800" cy="274320"/>
          </a:xfrm>
          <a:prstGeom prst="rect">
            <a:avLst/>
          </a:prstGeom>
          <a:noFill/>
          <a:ln/>
        </p:spPr>
        <p:txBody>
          <a:bodyPr wrap="square" lIns="0" tIns="0" rIns="0" bIns="0" rtlCol="0" anchor="ctr"/>
          <a:lstStyle/>
          <a:p>
            <a:pPr indent="0" marL="0">
              <a:buNone/>
            </a:pPr>
            <a:r>
              <a:rPr lang="en-US" sz="850" spc="100" kern="0" dirty="0">
                <a:solidFill>
                  <a:srgbClr val="7A6A57"/>
                </a:solidFill>
                <a:latin typeface="Calibri" pitchFamily="34" charset="0"/>
                <a:ea typeface="Calibri" pitchFamily="34" charset="-122"/>
                <a:cs typeface="Calibri" pitchFamily="34" charset="-120"/>
              </a:rPr>
              <a:t>CAPÍTULO II  ·  HISTORIA DE LA ANESTESIA</a:t>
            </a:r>
            <a:endParaRPr lang="en-US" sz="850" dirty="0"/>
          </a:p>
        </p:txBody>
      </p:sp>
      <p:sp>
        <p:nvSpPr>
          <p:cNvPr id="32" name="Text 29"/>
          <p:cNvSpPr/>
          <p:nvPr/>
        </p:nvSpPr>
        <p:spPr>
          <a:xfrm>
            <a:off x="10728655" y="6473952"/>
            <a:ext cx="914400" cy="274320"/>
          </a:xfrm>
          <a:prstGeom prst="rect">
            <a:avLst/>
          </a:prstGeom>
          <a:noFill/>
          <a:ln/>
        </p:spPr>
        <p:txBody>
          <a:bodyPr wrap="square" lIns="0" tIns="0" rIns="0" bIns="0" rtlCol="0" anchor="ctr"/>
          <a:lstStyle/>
          <a:p>
            <a:pPr algn="r" indent="0" marL="0">
              <a:buNone/>
            </a:pPr>
            <a:r>
              <a:rPr lang="en-US" sz="850" dirty="0">
                <a:solidFill>
                  <a:srgbClr val="7A6A57"/>
                </a:solidFill>
                <a:latin typeface="Calibri" pitchFamily="34" charset="0"/>
                <a:ea typeface="Calibri" pitchFamily="34" charset="-122"/>
                <a:cs typeface="Calibri" pitchFamily="34" charset="-120"/>
              </a:rPr>
              <a:t>24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lIns="0" tIns="0" rIns="0" bIns="0" rtlCol="0" anchor="ctr"/>
          <a:lstStyle/>
          <a:p>
            <a:pPr indent="0" marL="0">
              <a:buNone/>
            </a:pPr>
            <a:r>
              <a:rPr lang="en-US" sz="1200" b="1" spc="200" kern="0" dirty="0">
                <a:solidFill>
                  <a:srgbClr val="8B5E3C"/>
                </a:solidFill>
                <a:latin typeface="Calibri" pitchFamily="34" charset="0"/>
                <a:ea typeface="Calibri" pitchFamily="34" charset="-122"/>
                <a:cs typeface="Calibri" pitchFamily="34" charset="-120"/>
              </a:rPr>
              <a:t>PROFESIONALIZACIÓN</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t"/>
          <a:lstStyle/>
          <a:p>
            <a:pPr indent="0" marL="0">
              <a:buNone/>
            </a:pPr>
            <a:r>
              <a:rPr lang="en-US" sz="2900" b="1" dirty="0">
                <a:solidFill>
                  <a:srgbClr val="5C3A21"/>
                </a:solidFill>
                <a:latin typeface="Cambria" pitchFamily="34" charset="0"/>
                <a:ea typeface="Cambria" pitchFamily="34" charset="-122"/>
                <a:cs typeface="Cambria" pitchFamily="34" charset="-120"/>
              </a:rPr>
              <a:t>Fundación de las primeras sociedades de anestesiología</a:t>
            </a:r>
            <a:endParaRPr lang="en-US" sz="2900" dirty="0"/>
          </a:p>
        </p:txBody>
      </p:sp>
      <p:sp>
        <p:nvSpPr>
          <p:cNvPr id="4" name="Text 2"/>
          <p:cNvSpPr/>
          <p:nvPr/>
        </p:nvSpPr>
        <p:spPr>
          <a:xfrm>
            <a:off x="548640" y="1691640"/>
            <a:ext cx="11064240" cy="685800"/>
          </a:xfrm>
          <a:prstGeom prst="rect">
            <a:avLst/>
          </a:prstGeom>
          <a:noFill/>
          <a:ln/>
        </p:spPr>
        <p:txBody>
          <a:bodyPr wrap="square" lIns="0" tIns="0" rIns="0" bIns="0" rtlCol="0" anchor="ctr"/>
          <a:lstStyle/>
          <a:p>
            <a:pPr indent="0" marL="0">
              <a:lnSpc>
                <a:spcPct val="120000"/>
              </a:lnSpc>
              <a:buNone/>
            </a:pPr>
            <a:r>
              <a:rPr lang="en-US" sz="1300" dirty="0">
                <a:solidFill>
                  <a:srgbClr val="3A2E22"/>
                </a:solidFill>
                <a:latin typeface="Calibri" pitchFamily="34" charset="0"/>
                <a:ea typeface="Calibri" pitchFamily="34" charset="-122"/>
                <a:cs typeface="Calibri" pitchFamily="34" charset="-120"/>
              </a:rPr>
              <a:t>La consolidación institucional de la especialidad avanzó en paralelo a sus hitos clínicos: sociedades científicas, juntas de certificación y federaciones internacionales profesionalizaron la formación y la práctica.</a:t>
            </a:r>
            <a:endParaRPr lang="en-US" sz="1300" dirty="0"/>
          </a:p>
        </p:txBody>
      </p:sp>
      <p:sp>
        <p:nvSpPr>
          <p:cNvPr id="5" name="Shape 3"/>
          <p:cNvSpPr/>
          <p:nvPr/>
        </p:nvSpPr>
        <p:spPr>
          <a:xfrm>
            <a:off x="548640" y="2468880"/>
            <a:ext cx="11091672" cy="566928"/>
          </a:xfrm>
          <a:prstGeom prst="roundRect">
            <a:avLst>
              <a:gd name="adj" fmla="val 12903"/>
            </a:avLst>
          </a:prstGeom>
          <a:solidFill>
            <a:srgbClr val="8B5E3C">
              <a:alpha val="10000"/>
            </a:srgbClr>
          </a:solidFill>
          <a:ln/>
        </p:spPr>
      </p:sp>
      <p:sp>
        <p:nvSpPr>
          <p:cNvPr id="6" name="Text 4"/>
          <p:cNvSpPr/>
          <p:nvPr/>
        </p:nvSpPr>
        <p:spPr>
          <a:xfrm>
            <a:off x="777240" y="2468880"/>
            <a:ext cx="1554480" cy="566928"/>
          </a:xfrm>
          <a:prstGeom prst="rect">
            <a:avLst/>
          </a:prstGeom>
          <a:noFill/>
          <a:ln/>
        </p:spPr>
        <p:txBody>
          <a:bodyPr wrap="square" lIns="0" tIns="0" rIns="0" bIns="0" rtlCol="0" anchor="ctr"/>
          <a:lstStyle/>
          <a:p>
            <a:pPr indent="0" marL="0">
              <a:buNone/>
            </a:pPr>
            <a:r>
              <a:rPr lang="en-US" sz="1500" b="1" dirty="0">
                <a:solidFill>
                  <a:srgbClr val="5C3A21"/>
                </a:solidFill>
                <a:latin typeface="Cambria" pitchFamily="34" charset="0"/>
                <a:ea typeface="Cambria" pitchFamily="34" charset="-122"/>
                <a:cs typeface="Cambria" pitchFamily="34" charset="-120"/>
              </a:rPr>
              <a:t>1893</a:t>
            </a:r>
            <a:endParaRPr lang="en-US" sz="1500" dirty="0"/>
          </a:p>
        </p:txBody>
      </p:sp>
      <p:sp>
        <p:nvSpPr>
          <p:cNvPr id="7" name="Text 5"/>
          <p:cNvSpPr/>
          <p:nvPr/>
        </p:nvSpPr>
        <p:spPr>
          <a:xfrm>
            <a:off x="2468880" y="2468880"/>
            <a:ext cx="2103120" cy="566928"/>
          </a:xfrm>
          <a:prstGeom prst="rect">
            <a:avLst/>
          </a:prstGeom>
          <a:noFill/>
          <a:ln/>
        </p:spPr>
        <p:txBody>
          <a:bodyPr wrap="square" lIns="0" tIns="0" rIns="0" bIns="0" rtlCol="0" anchor="ctr"/>
          <a:lstStyle/>
          <a:p>
            <a:pPr indent="0" marL="0">
              <a:lnSpc>
                <a:spcPct val="110000"/>
              </a:lnSpc>
              <a:buNone/>
            </a:pPr>
            <a:r>
              <a:rPr lang="en-US" sz="1100" b="1" dirty="0">
                <a:solidFill>
                  <a:srgbClr val="3A2E22"/>
                </a:solidFill>
                <a:latin typeface="Calibri" pitchFamily="34" charset="0"/>
                <a:ea typeface="Calibri" pitchFamily="34" charset="-122"/>
                <a:cs typeface="Calibri" pitchFamily="34" charset="-120"/>
              </a:rPr>
              <a:t>Londres, Reino Unido</a:t>
            </a:r>
            <a:endParaRPr lang="en-US" sz="1100" dirty="0"/>
          </a:p>
        </p:txBody>
      </p:sp>
      <p:sp>
        <p:nvSpPr>
          <p:cNvPr id="8" name="Text 6"/>
          <p:cNvSpPr/>
          <p:nvPr/>
        </p:nvSpPr>
        <p:spPr>
          <a:xfrm>
            <a:off x="4663440" y="2468880"/>
            <a:ext cx="6766560" cy="566928"/>
          </a:xfrm>
          <a:prstGeom prst="rect">
            <a:avLst/>
          </a:prstGeom>
          <a:noFill/>
          <a:ln/>
        </p:spPr>
        <p:txBody>
          <a:bodyPr wrap="square" lIns="0" tIns="0" rIns="0" bIns="0" rtlCol="0" anchor="ctr"/>
          <a:lstStyle/>
          <a:p>
            <a:pPr indent="0" marL="0">
              <a:lnSpc>
                <a:spcPct val="115000"/>
              </a:lnSpc>
              <a:buNone/>
            </a:pPr>
            <a:r>
              <a:rPr lang="en-US" sz="1030" dirty="0">
                <a:solidFill>
                  <a:srgbClr val="7A6A57"/>
                </a:solidFill>
                <a:latin typeface="Calibri" pitchFamily="34" charset="0"/>
                <a:ea typeface="Calibri" pitchFamily="34" charset="-122"/>
                <a:cs typeface="Calibri" pitchFamily="34" charset="-120"/>
              </a:rPr>
              <a:t>Se funda la 'Society of Anaesthetists', una de las primeras sociedades nacionales dedicadas específicamente a la anestesia.</a:t>
            </a:r>
            <a:endParaRPr lang="en-US" sz="1030" dirty="0"/>
          </a:p>
        </p:txBody>
      </p:sp>
      <p:sp>
        <p:nvSpPr>
          <p:cNvPr id="9" name="Shape 7"/>
          <p:cNvSpPr/>
          <p:nvPr/>
        </p:nvSpPr>
        <p:spPr>
          <a:xfrm>
            <a:off x="548640" y="3118104"/>
            <a:ext cx="11091672" cy="566928"/>
          </a:xfrm>
          <a:prstGeom prst="roundRect">
            <a:avLst>
              <a:gd name="adj" fmla="val 12903"/>
            </a:avLst>
          </a:prstGeom>
          <a:solidFill>
            <a:srgbClr val="C9A66B">
              <a:alpha val="10000"/>
            </a:srgbClr>
          </a:solidFill>
          <a:ln/>
        </p:spPr>
      </p:sp>
      <p:sp>
        <p:nvSpPr>
          <p:cNvPr id="10" name="Text 8"/>
          <p:cNvSpPr/>
          <p:nvPr/>
        </p:nvSpPr>
        <p:spPr>
          <a:xfrm>
            <a:off x="777240" y="3118104"/>
            <a:ext cx="1554480" cy="566928"/>
          </a:xfrm>
          <a:prstGeom prst="rect">
            <a:avLst/>
          </a:prstGeom>
          <a:noFill/>
          <a:ln/>
        </p:spPr>
        <p:txBody>
          <a:bodyPr wrap="square" lIns="0" tIns="0" rIns="0" bIns="0" rtlCol="0" anchor="ctr"/>
          <a:lstStyle/>
          <a:p>
            <a:pPr indent="0" marL="0">
              <a:buNone/>
            </a:pPr>
            <a:r>
              <a:rPr lang="en-US" sz="1500" b="1" dirty="0">
                <a:solidFill>
                  <a:srgbClr val="5C3A21"/>
                </a:solidFill>
                <a:latin typeface="Cambria" pitchFamily="34" charset="0"/>
                <a:ea typeface="Cambria" pitchFamily="34" charset="-122"/>
                <a:cs typeface="Cambria" pitchFamily="34" charset="-120"/>
              </a:rPr>
              <a:t>1905</a:t>
            </a:r>
            <a:endParaRPr lang="en-US" sz="1500" dirty="0"/>
          </a:p>
        </p:txBody>
      </p:sp>
      <p:sp>
        <p:nvSpPr>
          <p:cNvPr id="11" name="Text 9"/>
          <p:cNvSpPr/>
          <p:nvPr/>
        </p:nvSpPr>
        <p:spPr>
          <a:xfrm>
            <a:off x="2468880" y="3118104"/>
            <a:ext cx="2103120" cy="566928"/>
          </a:xfrm>
          <a:prstGeom prst="rect">
            <a:avLst/>
          </a:prstGeom>
          <a:noFill/>
          <a:ln/>
        </p:spPr>
        <p:txBody>
          <a:bodyPr wrap="square" lIns="0" tIns="0" rIns="0" bIns="0" rtlCol="0" anchor="ctr"/>
          <a:lstStyle/>
          <a:p>
            <a:pPr indent="0" marL="0">
              <a:lnSpc>
                <a:spcPct val="110000"/>
              </a:lnSpc>
              <a:buNone/>
            </a:pPr>
            <a:r>
              <a:rPr lang="en-US" sz="1100" b="1" dirty="0">
                <a:solidFill>
                  <a:srgbClr val="3A2E22"/>
                </a:solidFill>
                <a:latin typeface="Calibri" pitchFamily="34" charset="0"/>
                <a:ea typeface="Calibri" pitchFamily="34" charset="-122"/>
                <a:cs typeface="Calibri" pitchFamily="34" charset="-120"/>
              </a:rPr>
              <a:t>Estados Unidos</a:t>
            </a:r>
            <a:endParaRPr lang="en-US" sz="1100" dirty="0"/>
          </a:p>
        </p:txBody>
      </p:sp>
      <p:sp>
        <p:nvSpPr>
          <p:cNvPr id="12" name="Text 10"/>
          <p:cNvSpPr/>
          <p:nvPr/>
        </p:nvSpPr>
        <p:spPr>
          <a:xfrm>
            <a:off x="4663440" y="3118104"/>
            <a:ext cx="6766560" cy="566928"/>
          </a:xfrm>
          <a:prstGeom prst="rect">
            <a:avLst/>
          </a:prstGeom>
          <a:noFill/>
          <a:ln/>
        </p:spPr>
        <p:txBody>
          <a:bodyPr wrap="square" lIns="0" tIns="0" rIns="0" bIns="0" rtlCol="0" anchor="ctr"/>
          <a:lstStyle/>
          <a:p>
            <a:pPr indent="0" marL="0">
              <a:lnSpc>
                <a:spcPct val="115000"/>
              </a:lnSpc>
              <a:buNone/>
            </a:pPr>
            <a:r>
              <a:rPr lang="en-US" sz="1030" dirty="0">
                <a:solidFill>
                  <a:srgbClr val="7A6A57"/>
                </a:solidFill>
                <a:latin typeface="Calibri" pitchFamily="34" charset="0"/>
                <a:ea typeface="Calibri" pitchFamily="34" charset="-122"/>
                <a:cs typeface="Calibri" pitchFamily="34" charset="-120"/>
              </a:rPr>
              <a:t>Fundación de la sociedad que evolucionaría hasta convertirse en la American Society of Anesthesiologists (ASA), nombre adoptado en 1945.</a:t>
            </a:r>
            <a:endParaRPr lang="en-US" sz="1030" dirty="0"/>
          </a:p>
        </p:txBody>
      </p:sp>
      <p:sp>
        <p:nvSpPr>
          <p:cNvPr id="13" name="Shape 11"/>
          <p:cNvSpPr/>
          <p:nvPr/>
        </p:nvSpPr>
        <p:spPr>
          <a:xfrm>
            <a:off x="548640" y="3767328"/>
            <a:ext cx="11091672" cy="566928"/>
          </a:xfrm>
          <a:prstGeom prst="roundRect">
            <a:avLst>
              <a:gd name="adj" fmla="val 12903"/>
            </a:avLst>
          </a:prstGeom>
          <a:solidFill>
            <a:srgbClr val="8B5E3C">
              <a:alpha val="10000"/>
            </a:srgbClr>
          </a:solidFill>
          <a:ln/>
        </p:spPr>
      </p:sp>
      <p:sp>
        <p:nvSpPr>
          <p:cNvPr id="14" name="Text 12"/>
          <p:cNvSpPr/>
          <p:nvPr/>
        </p:nvSpPr>
        <p:spPr>
          <a:xfrm>
            <a:off x="777240" y="3767328"/>
            <a:ext cx="1554480" cy="566928"/>
          </a:xfrm>
          <a:prstGeom prst="rect">
            <a:avLst/>
          </a:prstGeom>
          <a:noFill/>
          <a:ln/>
        </p:spPr>
        <p:txBody>
          <a:bodyPr wrap="square" lIns="0" tIns="0" rIns="0" bIns="0" rtlCol="0" anchor="ctr"/>
          <a:lstStyle/>
          <a:p>
            <a:pPr indent="0" marL="0">
              <a:buNone/>
            </a:pPr>
            <a:r>
              <a:rPr lang="en-US" sz="1500" b="1" dirty="0">
                <a:solidFill>
                  <a:srgbClr val="5C3A21"/>
                </a:solidFill>
                <a:latin typeface="Cambria" pitchFamily="34" charset="0"/>
                <a:ea typeface="Cambria" pitchFamily="34" charset="-122"/>
                <a:cs typeface="Cambria" pitchFamily="34" charset="-120"/>
              </a:rPr>
              <a:t>1932</a:t>
            </a:r>
            <a:endParaRPr lang="en-US" sz="1500" dirty="0"/>
          </a:p>
        </p:txBody>
      </p:sp>
      <p:sp>
        <p:nvSpPr>
          <p:cNvPr id="15" name="Text 13"/>
          <p:cNvSpPr/>
          <p:nvPr/>
        </p:nvSpPr>
        <p:spPr>
          <a:xfrm>
            <a:off x="2468880" y="3767328"/>
            <a:ext cx="2103120" cy="566928"/>
          </a:xfrm>
          <a:prstGeom prst="rect">
            <a:avLst/>
          </a:prstGeom>
          <a:noFill/>
          <a:ln/>
        </p:spPr>
        <p:txBody>
          <a:bodyPr wrap="square" lIns="0" tIns="0" rIns="0" bIns="0" rtlCol="0" anchor="ctr"/>
          <a:lstStyle/>
          <a:p>
            <a:pPr indent="0" marL="0">
              <a:lnSpc>
                <a:spcPct val="110000"/>
              </a:lnSpc>
              <a:buNone/>
            </a:pPr>
            <a:r>
              <a:rPr lang="en-US" sz="1100" b="1" dirty="0">
                <a:solidFill>
                  <a:srgbClr val="3A2E22"/>
                </a:solidFill>
                <a:latin typeface="Calibri" pitchFamily="34" charset="0"/>
                <a:ea typeface="Calibri" pitchFamily="34" charset="-122"/>
                <a:cs typeface="Calibri" pitchFamily="34" charset="-120"/>
              </a:rPr>
              <a:t>Estados Unidos</a:t>
            </a:r>
            <a:endParaRPr lang="en-US" sz="1100" dirty="0"/>
          </a:p>
        </p:txBody>
      </p:sp>
      <p:sp>
        <p:nvSpPr>
          <p:cNvPr id="16" name="Text 14"/>
          <p:cNvSpPr/>
          <p:nvPr/>
        </p:nvSpPr>
        <p:spPr>
          <a:xfrm>
            <a:off x="4663440" y="3767328"/>
            <a:ext cx="6766560" cy="566928"/>
          </a:xfrm>
          <a:prstGeom prst="rect">
            <a:avLst/>
          </a:prstGeom>
          <a:noFill/>
          <a:ln/>
        </p:spPr>
        <p:txBody>
          <a:bodyPr wrap="square" lIns="0" tIns="0" rIns="0" bIns="0" rtlCol="0" anchor="ctr"/>
          <a:lstStyle/>
          <a:p>
            <a:pPr indent="0" marL="0">
              <a:lnSpc>
                <a:spcPct val="115000"/>
              </a:lnSpc>
              <a:buNone/>
            </a:pPr>
            <a:r>
              <a:rPr lang="en-US" sz="1030" dirty="0">
                <a:solidFill>
                  <a:srgbClr val="7A6A57"/>
                </a:solidFill>
                <a:latin typeface="Calibri" pitchFamily="34" charset="0"/>
                <a:ea typeface="Calibri" pitchFamily="34" charset="-122"/>
                <a:cs typeface="Calibri" pitchFamily="34" charset="-120"/>
              </a:rPr>
              <a:t>Creación del American Board of Anesthesiology, estableciendo la certificación formal por junta de la especialidad.</a:t>
            </a:r>
            <a:endParaRPr lang="en-US" sz="1030" dirty="0"/>
          </a:p>
        </p:txBody>
      </p:sp>
      <p:sp>
        <p:nvSpPr>
          <p:cNvPr id="17" name="Shape 15"/>
          <p:cNvSpPr/>
          <p:nvPr/>
        </p:nvSpPr>
        <p:spPr>
          <a:xfrm>
            <a:off x="548640" y="4416552"/>
            <a:ext cx="11091672" cy="566928"/>
          </a:xfrm>
          <a:prstGeom prst="roundRect">
            <a:avLst>
              <a:gd name="adj" fmla="val 12903"/>
            </a:avLst>
          </a:prstGeom>
          <a:solidFill>
            <a:srgbClr val="C9A66B">
              <a:alpha val="10000"/>
            </a:srgbClr>
          </a:solidFill>
          <a:ln/>
        </p:spPr>
      </p:sp>
      <p:sp>
        <p:nvSpPr>
          <p:cNvPr id="18" name="Text 16"/>
          <p:cNvSpPr/>
          <p:nvPr/>
        </p:nvSpPr>
        <p:spPr>
          <a:xfrm>
            <a:off x="777240" y="4416552"/>
            <a:ext cx="1554480" cy="566928"/>
          </a:xfrm>
          <a:prstGeom prst="rect">
            <a:avLst/>
          </a:prstGeom>
          <a:noFill/>
          <a:ln/>
        </p:spPr>
        <p:txBody>
          <a:bodyPr wrap="square" lIns="0" tIns="0" rIns="0" bIns="0" rtlCol="0" anchor="ctr"/>
          <a:lstStyle/>
          <a:p>
            <a:pPr indent="0" marL="0">
              <a:buNone/>
            </a:pPr>
            <a:r>
              <a:rPr lang="en-US" sz="1500" b="1" dirty="0">
                <a:solidFill>
                  <a:srgbClr val="5C3A21"/>
                </a:solidFill>
                <a:latin typeface="Cambria" pitchFamily="34" charset="0"/>
                <a:ea typeface="Cambria" pitchFamily="34" charset="-122"/>
                <a:cs typeface="Cambria" pitchFamily="34" charset="-120"/>
              </a:rPr>
              <a:t>1935 en adelante</a:t>
            </a:r>
            <a:endParaRPr lang="en-US" sz="1500" dirty="0"/>
          </a:p>
        </p:txBody>
      </p:sp>
      <p:sp>
        <p:nvSpPr>
          <p:cNvPr id="19" name="Text 17"/>
          <p:cNvSpPr/>
          <p:nvPr/>
        </p:nvSpPr>
        <p:spPr>
          <a:xfrm>
            <a:off x="2468880" y="4416552"/>
            <a:ext cx="2103120" cy="566928"/>
          </a:xfrm>
          <a:prstGeom prst="rect">
            <a:avLst/>
          </a:prstGeom>
          <a:noFill/>
          <a:ln/>
        </p:spPr>
        <p:txBody>
          <a:bodyPr wrap="square" lIns="0" tIns="0" rIns="0" bIns="0" rtlCol="0" anchor="ctr"/>
          <a:lstStyle/>
          <a:p>
            <a:pPr indent="0" marL="0">
              <a:lnSpc>
                <a:spcPct val="110000"/>
              </a:lnSpc>
              <a:buNone/>
            </a:pPr>
            <a:r>
              <a:rPr lang="en-US" sz="1100" b="1" dirty="0">
                <a:solidFill>
                  <a:srgbClr val="3A2E22"/>
                </a:solidFill>
                <a:latin typeface="Calibri" pitchFamily="34" charset="0"/>
                <a:ea typeface="Calibri" pitchFamily="34" charset="-122"/>
                <a:cs typeface="Calibri" pitchFamily="34" charset="-120"/>
              </a:rPr>
              <a:t>Europa</a:t>
            </a:r>
            <a:endParaRPr lang="en-US" sz="1100" dirty="0"/>
          </a:p>
        </p:txBody>
      </p:sp>
      <p:sp>
        <p:nvSpPr>
          <p:cNvPr id="20" name="Text 18"/>
          <p:cNvSpPr/>
          <p:nvPr/>
        </p:nvSpPr>
        <p:spPr>
          <a:xfrm>
            <a:off x="4663440" y="4416552"/>
            <a:ext cx="6766560" cy="566928"/>
          </a:xfrm>
          <a:prstGeom prst="rect">
            <a:avLst/>
          </a:prstGeom>
          <a:noFill/>
          <a:ln/>
        </p:spPr>
        <p:txBody>
          <a:bodyPr wrap="square" lIns="0" tIns="0" rIns="0" bIns="0" rtlCol="0" anchor="ctr"/>
          <a:lstStyle/>
          <a:p>
            <a:pPr indent="0" marL="0">
              <a:lnSpc>
                <a:spcPct val="115000"/>
              </a:lnSpc>
              <a:buNone/>
            </a:pPr>
            <a:r>
              <a:rPr lang="en-US" sz="1030" dirty="0">
                <a:solidFill>
                  <a:srgbClr val="7A6A57"/>
                </a:solidFill>
                <a:latin typeface="Calibri" pitchFamily="34" charset="0"/>
                <a:ea typeface="Calibri" pitchFamily="34" charset="-122"/>
                <a:cs typeface="Calibri" pitchFamily="34" charset="-120"/>
              </a:rPr>
              <a:t>Fundación progresiva de asociaciones nacionales de anestesiología en distintos países europeos.</a:t>
            </a:r>
            <a:endParaRPr lang="en-US" sz="1030" dirty="0"/>
          </a:p>
        </p:txBody>
      </p:sp>
      <p:sp>
        <p:nvSpPr>
          <p:cNvPr id="21" name="Shape 19"/>
          <p:cNvSpPr/>
          <p:nvPr/>
        </p:nvSpPr>
        <p:spPr>
          <a:xfrm>
            <a:off x="548640" y="5065776"/>
            <a:ext cx="11091672" cy="566928"/>
          </a:xfrm>
          <a:prstGeom prst="roundRect">
            <a:avLst>
              <a:gd name="adj" fmla="val 12903"/>
            </a:avLst>
          </a:prstGeom>
          <a:solidFill>
            <a:srgbClr val="8B5E3C">
              <a:alpha val="10000"/>
            </a:srgbClr>
          </a:solidFill>
          <a:ln/>
        </p:spPr>
      </p:sp>
      <p:sp>
        <p:nvSpPr>
          <p:cNvPr id="22" name="Text 20"/>
          <p:cNvSpPr/>
          <p:nvPr/>
        </p:nvSpPr>
        <p:spPr>
          <a:xfrm>
            <a:off x="777240" y="5065776"/>
            <a:ext cx="1554480" cy="566928"/>
          </a:xfrm>
          <a:prstGeom prst="rect">
            <a:avLst/>
          </a:prstGeom>
          <a:noFill/>
          <a:ln/>
        </p:spPr>
        <p:txBody>
          <a:bodyPr wrap="square" lIns="0" tIns="0" rIns="0" bIns="0" rtlCol="0" anchor="ctr"/>
          <a:lstStyle/>
          <a:p>
            <a:pPr indent="0" marL="0">
              <a:buNone/>
            </a:pPr>
            <a:r>
              <a:rPr lang="en-US" sz="1500" b="1" dirty="0">
                <a:solidFill>
                  <a:srgbClr val="5C3A21"/>
                </a:solidFill>
                <a:latin typeface="Cambria" pitchFamily="34" charset="0"/>
                <a:ea typeface="Cambria" pitchFamily="34" charset="-122"/>
                <a:cs typeface="Cambria" pitchFamily="34" charset="-120"/>
              </a:rPr>
              <a:t>1955</a:t>
            </a:r>
            <a:endParaRPr lang="en-US" sz="1500" dirty="0"/>
          </a:p>
        </p:txBody>
      </p:sp>
      <p:sp>
        <p:nvSpPr>
          <p:cNvPr id="23" name="Text 21"/>
          <p:cNvSpPr/>
          <p:nvPr/>
        </p:nvSpPr>
        <p:spPr>
          <a:xfrm>
            <a:off x="2468880" y="5065776"/>
            <a:ext cx="2103120" cy="566928"/>
          </a:xfrm>
          <a:prstGeom prst="rect">
            <a:avLst/>
          </a:prstGeom>
          <a:noFill/>
          <a:ln/>
        </p:spPr>
        <p:txBody>
          <a:bodyPr wrap="square" lIns="0" tIns="0" rIns="0" bIns="0" rtlCol="0" anchor="ctr"/>
          <a:lstStyle/>
          <a:p>
            <a:pPr indent="0" marL="0">
              <a:lnSpc>
                <a:spcPct val="110000"/>
              </a:lnSpc>
              <a:buNone/>
            </a:pPr>
            <a:r>
              <a:rPr lang="en-US" sz="1100" b="1" dirty="0">
                <a:solidFill>
                  <a:srgbClr val="3A2E22"/>
                </a:solidFill>
                <a:latin typeface="Calibri" pitchFamily="34" charset="0"/>
                <a:ea typeface="Calibri" pitchFamily="34" charset="-122"/>
                <a:cs typeface="Calibri" pitchFamily="34" charset="-120"/>
              </a:rPr>
              <a:t>Ámbito internacional</a:t>
            </a:r>
            <a:endParaRPr lang="en-US" sz="1100" dirty="0"/>
          </a:p>
        </p:txBody>
      </p:sp>
      <p:sp>
        <p:nvSpPr>
          <p:cNvPr id="24" name="Text 22"/>
          <p:cNvSpPr/>
          <p:nvPr/>
        </p:nvSpPr>
        <p:spPr>
          <a:xfrm>
            <a:off x="4663440" y="5065776"/>
            <a:ext cx="6766560" cy="566928"/>
          </a:xfrm>
          <a:prstGeom prst="rect">
            <a:avLst/>
          </a:prstGeom>
          <a:noFill/>
          <a:ln/>
        </p:spPr>
        <p:txBody>
          <a:bodyPr wrap="square" lIns="0" tIns="0" rIns="0" bIns="0" rtlCol="0" anchor="ctr"/>
          <a:lstStyle/>
          <a:p>
            <a:pPr indent="0" marL="0">
              <a:lnSpc>
                <a:spcPct val="115000"/>
              </a:lnSpc>
              <a:buNone/>
            </a:pPr>
            <a:r>
              <a:rPr lang="en-US" sz="1030" dirty="0">
                <a:solidFill>
                  <a:srgbClr val="7A6A57"/>
                </a:solidFill>
                <a:latin typeface="Calibri" pitchFamily="34" charset="0"/>
                <a:ea typeface="Calibri" pitchFamily="34" charset="-122"/>
                <a:cs typeface="Calibri" pitchFamily="34" charset="-120"/>
              </a:rPr>
              <a:t>Fundación de la World Federation of Societies of Anaesthesiologists (WFSA), que integra sociedades nacionales a nivel mundial.</a:t>
            </a:r>
            <a:endParaRPr lang="en-US" sz="1030" dirty="0"/>
          </a:p>
        </p:txBody>
      </p:sp>
      <p:sp>
        <p:nvSpPr>
          <p:cNvPr id="25" name="Text 23"/>
          <p:cNvSpPr/>
          <p:nvPr/>
        </p:nvSpPr>
        <p:spPr>
          <a:xfrm>
            <a:off x="548640" y="6473952"/>
            <a:ext cx="6400800" cy="274320"/>
          </a:xfrm>
          <a:prstGeom prst="rect">
            <a:avLst/>
          </a:prstGeom>
          <a:noFill/>
          <a:ln/>
        </p:spPr>
        <p:txBody>
          <a:bodyPr wrap="square" lIns="0" tIns="0" rIns="0" bIns="0" rtlCol="0" anchor="ctr"/>
          <a:lstStyle/>
          <a:p>
            <a:pPr indent="0" marL="0">
              <a:buNone/>
            </a:pPr>
            <a:r>
              <a:rPr lang="en-US" sz="850" spc="100" kern="0" dirty="0">
                <a:solidFill>
                  <a:srgbClr val="7A6A57"/>
                </a:solidFill>
                <a:latin typeface="Calibri" pitchFamily="34" charset="0"/>
                <a:ea typeface="Calibri" pitchFamily="34" charset="-122"/>
                <a:cs typeface="Calibri" pitchFamily="34" charset="-120"/>
              </a:rPr>
              <a:t>CAPÍTULO II  ·  HISTORIA DE LA ANESTESIA</a:t>
            </a:r>
            <a:endParaRPr lang="en-US" sz="850" dirty="0"/>
          </a:p>
        </p:txBody>
      </p:sp>
      <p:sp>
        <p:nvSpPr>
          <p:cNvPr id="26" name="Text 24"/>
          <p:cNvSpPr/>
          <p:nvPr/>
        </p:nvSpPr>
        <p:spPr>
          <a:xfrm>
            <a:off x="10728655" y="6473952"/>
            <a:ext cx="914400" cy="274320"/>
          </a:xfrm>
          <a:prstGeom prst="rect">
            <a:avLst/>
          </a:prstGeom>
          <a:noFill/>
          <a:ln/>
        </p:spPr>
        <p:txBody>
          <a:bodyPr wrap="square" lIns="0" tIns="0" rIns="0" bIns="0" rtlCol="0" anchor="ctr"/>
          <a:lstStyle/>
          <a:p>
            <a:pPr algn="r" indent="0" marL="0">
              <a:buNone/>
            </a:pPr>
            <a:r>
              <a:rPr lang="en-US" sz="850" dirty="0">
                <a:solidFill>
                  <a:srgbClr val="7A6A57"/>
                </a:solidFill>
                <a:latin typeface="Calibri" pitchFamily="34" charset="0"/>
                <a:ea typeface="Calibri" pitchFamily="34" charset="-122"/>
                <a:cs typeface="Calibri" pitchFamily="34" charset="-120"/>
              </a:rPr>
              <a:t>25</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lIns="0" tIns="0" rIns="0" bIns="0" rtlCol="0" anchor="ctr"/>
          <a:lstStyle/>
          <a:p>
            <a:pPr indent="0" marL="0">
              <a:buNone/>
            </a:pPr>
            <a:r>
              <a:rPr lang="en-US" sz="1200" b="1" spc="200" kern="0" dirty="0">
                <a:solidFill>
                  <a:srgbClr val="8B5E3C"/>
                </a:solidFill>
                <a:latin typeface="Calibri" pitchFamily="34" charset="0"/>
                <a:ea typeface="Calibri" pitchFamily="34" charset="-122"/>
                <a:cs typeface="Calibri" pitchFamily="34" charset="-120"/>
              </a:rPr>
              <a:t>PROFESIONALIZACIÓN</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t"/>
          <a:lstStyle/>
          <a:p>
            <a:pPr indent="0" marL="0">
              <a:buNone/>
            </a:pPr>
            <a:r>
              <a:rPr lang="en-US" sz="2900" b="1" dirty="0">
                <a:solidFill>
                  <a:srgbClr val="5C3A21"/>
                </a:solidFill>
                <a:latin typeface="Cambria" pitchFamily="34" charset="0"/>
                <a:ea typeface="Cambria" pitchFamily="34" charset="-122"/>
                <a:cs typeface="Cambria" pitchFamily="34" charset="-120"/>
              </a:rPr>
              <a:t>Consolidación de la anestesiología como especialidad médica independiente</a:t>
            </a:r>
            <a:endParaRPr lang="en-US" sz="2900" dirty="0"/>
          </a:p>
        </p:txBody>
      </p:sp>
      <p:sp>
        <p:nvSpPr>
          <p:cNvPr id="4" name="Text 2"/>
          <p:cNvSpPr/>
          <p:nvPr/>
        </p:nvSpPr>
        <p:spPr>
          <a:xfrm>
            <a:off x="548640" y="1691640"/>
            <a:ext cx="11064240" cy="868680"/>
          </a:xfrm>
          <a:prstGeom prst="rect">
            <a:avLst/>
          </a:prstGeom>
          <a:noFill/>
          <a:ln/>
        </p:spPr>
        <p:txBody>
          <a:bodyPr wrap="square" lIns="0" tIns="0" rIns="0" bIns="0" rtlCol="0" anchor="ctr"/>
          <a:lstStyle/>
          <a:p>
            <a:pPr indent="0" marL="0">
              <a:lnSpc>
                <a:spcPct val="122000"/>
              </a:lnSpc>
              <a:buNone/>
            </a:pPr>
            <a:r>
              <a:rPr lang="en-US" sz="1300" dirty="0">
                <a:solidFill>
                  <a:srgbClr val="3A2E22"/>
                </a:solidFill>
                <a:latin typeface="Calibri" pitchFamily="34" charset="0"/>
                <a:ea typeface="Calibri" pitchFamily="34" charset="-122"/>
                <a:cs typeface="Calibri" pitchFamily="34" charset="-120"/>
              </a:rPr>
              <a:t>El tránsito de 'anestesista' —a menudo un rol técnico secundario, ejercido por personal de enfermería o médicos generales a tiempo parcial— a 'anestesiólogo', especialista médico con formación estructurada, se apoyó en varios pilares convergentes:</a:t>
            </a:r>
            <a:endParaRPr lang="en-US" sz="1300" dirty="0"/>
          </a:p>
        </p:txBody>
      </p:sp>
      <p:sp>
        <p:nvSpPr>
          <p:cNvPr id="5" name="Shape 3"/>
          <p:cNvSpPr/>
          <p:nvPr/>
        </p:nvSpPr>
        <p:spPr>
          <a:xfrm>
            <a:off x="548640" y="2697480"/>
            <a:ext cx="2697480" cy="2880360"/>
          </a:xfrm>
          <a:prstGeom prst="roundRect">
            <a:avLst>
              <a:gd name="adj" fmla="val 2712"/>
            </a:avLst>
          </a:prstGeom>
          <a:solidFill>
            <a:srgbClr val="C9A66B">
              <a:alpha val="10000"/>
            </a:srgbClr>
          </a:solidFill>
          <a:ln/>
        </p:spPr>
      </p:sp>
      <p:sp>
        <p:nvSpPr>
          <p:cNvPr id="6" name="Text 4"/>
          <p:cNvSpPr/>
          <p:nvPr/>
        </p:nvSpPr>
        <p:spPr>
          <a:xfrm>
            <a:off x="731520" y="2852928"/>
            <a:ext cx="2331720" cy="502920"/>
          </a:xfrm>
          <a:prstGeom prst="rect">
            <a:avLst/>
          </a:prstGeom>
          <a:noFill/>
          <a:ln/>
        </p:spPr>
        <p:txBody>
          <a:bodyPr wrap="square" lIns="0" tIns="0" rIns="0" bIns="0" rtlCol="0" anchor="ctr"/>
          <a:lstStyle/>
          <a:p>
            <a:pPr indent="0" marL="0">
              <a:buNone/>
            </a:pPr>
            <a:r>
              <a:rPr lang="en-US" sz="2400" b="1" dirty="0">
                <a:solidFill>
                  <a:srgbClr val="5C3A21"/>
                </a:solidFill>
                <a:latin typeface="Cambria" pitchFamily="34" charset="0"/>
                <a:ea typeface="Cambria" pitchFamily="34" charset="-122"/>
                <a:cs typeface="Cambria" pitchFamily="34" charset="-120"/>
              </a:rPr>
              <a:t>1923</a:t>
            </a:r>
            <a:endParaRPr lang="en-US" sz="2400" dirty="0"/>
          </a:p>
        </p:txBody>
      </p:sp>
      <p:sp>
        <p:nvSpPr>
          <p:cNvPr id="7" name="Text 5"/>
          <p:cNvSpPr/>
          <p:nvPr/>
        </p:nvSpPr>
        <p:spPr>
          <a:xfrm>
            <a:off x="731520" y="3401568"/>
            <a:ext cx="2331720" cy="658368"/>
          </a:xfrm>
          <a:prstGeom prst="rect">
            <a:avLst/>
          </a:prstGeom>
          <a:noFill/>
          <a:ln/>
        </p:spPr>
        <p:txBody>
          <a:bodyPr wrap="square" lIns="0" tIns="0" rIns="0" bIns="0" rtlCol="0" anchor="ctr"/>
          <a:lstStyle/>
          <a:p>
            <a:pPr indent="0" marL="0">
              <a:lnSpc>
                <a:spcPct val="112000"/>
              </a:lnSpc>
              <a:buNone/>
            </a:pPr>
            <a:r>
              <a:rPr lang="en-US" sz="1150" b="1" dirty="0">
                <a:solidFill>
                  <a:srgbClr val="3A2E22"/>
                </a:solidFill>
                <a:latin typeface="Calibri" pitchFamily="34" charset="0"/>
                <a:ea typeface="Calibri" pitchFamily="34" charset="-122"/>
                <a:cs typeface="Calibri" pitchFamily="34" charset="-120"/>
              </a:rPr>
              <a:t>British Journal of Anaesthesia</a:t>
            </a:r>
            <a:endParaRPr lang="en-US" sz="1150" dirty="0"/>
          </a:p>
        </p:txBody>
      </p:sp>
      <p:sp>
        <p:nvSpPr>
          <p:cNvPr id="8" name="Text 6"/>
          <p:cNvSpPr/>
          <p:nvPr/>
        </p:nvSpPr>
        <p:spPr>
          <a:xfrm>
            <a:off x="731520" y="4041648"/>
            <a:ext cx="2331720" cy="1417320"/>
          </a:xfrm>
          <a:prstGeom prst="rect">
            <a:avLst/>
          </a:prstGeom>
          <a:noFill/>
          <a:ln/>
        </p:spPr>
        <p:txBody>
          <a:bodyPr wrap="square" lIns="0" tIns="0" rIns="0" bIns="0" rtlCol="0" anchor="t"/>
          <a:lstStyle/>
          <a:p>
            <a:pPr indent="0" marL="0">
              <a:lnSpc>
                <a:spcPct val="118000"/>
              </a:lnSpc>
              <a:buNone/>
            </a:pPr>
            <a:r>
              <a:rPr lang="en-US" sz="1000" dirty="0">
                <a:solidFill>
                  <a:srgbClr val="7A6A57"/>
                </a:solidFill>
                <a:latin typeface="Calibri" pitchFamily="34" charset="0"/>
                <a:ea typeface="Calibri" pitchFamily="34" charset="-122"/>
                <a:cs typeface="Calibri" pitchFamily="34" charset="-120"/>
              </a:rPr>
              <a:t>Una de las primeras revistas científicas dedicadas exclusivamente a la especialidad.</a:t>
            </a:r>
            <a:endParaRPr lang="en-US" sz="1000" dirty="0"/>
          </a:p>
        </p:txBody>
      </p:sp>
      <p:sp>
        <p:nvSpPr>
          <p:cNvPr id="9" name="Shape 7"/>
          <p:cNvSpPr/>
          <p:nvPr/>
        </p:nvSpPr>
        <p:spPr>
          <a:xfrm>
            <a:off x="3383280" y="2697480"/>
            <a:ext cx="2697480" cy="2880360"/>
          </a:xfrm>
          <a:prstGeom prst="roundRect">
            <a:avLst>
              <a:gd name="adj" fmla="val 2712"/>
            </a:avLst>
          </a:prstGeom>
          <a:solidFill>
            <a:srgbClr val="C9A66B">
              <a:alpha val="10000"/>
            </a:srgbClr>
          </a:solidFill>
          <a:ln/>
        </p:spPr>
      </p:sp>
      <p:sp>
        <p:nvSpPr>
          <p:cNvPr id="10" name="Text 8"/>
          <p:cNvSpPr/>
          <p:nvPr/>
        </p:nvSpPr>
        <p:spPr>
          <a:xfrm>
            <a:off x="3566160" y="2852928"/>
            <a:ext cx="2331720" cy="502920"/>
          </a:xfrm>
          <a:prstGeom prst="rect">
            <a:avLst/>
          </a:prstGeom>
          <a:noFill/>
          <a:ln/>
        </p:spPr>
        <p:txBody>
          <a:bodyPr wrap="square" lIns="0" tIns="0" rIns="0" bIns="0" rtlCol="0" anchor="ctr"/>
          <a:lstStyle/>
          <a:p>
            <a:pPr indent="0" marL="0">
              <a:buNone/>
            </a:pPr>
            <a:r>
              <a:rPr lang="en-US" sz="2400" b="1" dirty="0">
                <a:solidFill>
                  <a:srgbClr val="5C3A21"/>
                </a:solidFill>
                <a:latin typeface="Cambria" pitchFamily="34" charset="0"/>
                <a:ea typeface="Cambria" pitchFamily="34" charset="-122"/>
                <a:cs typeface="Cambria" pitchFamily="34" charset="-120"/>
              </a:rPr>
              <a:t>1927</a:t>
            </a:r>
            <a:endParaRPr lang="en-US" sz="2400" dirty="0"/>
          </a:p>
        </p:txBody>
      </p:sp>
      <p:sp>
        <p:nvSpPr>
          <p:cNvPr id="11" name="Text 9"/>
          <p:cNvSpPr/>
          <p:nvPr/>
        </p:nvSpPr>
        <p:spPr>
          <a:xfrm>
            <a:off x="3566160" y="3401568"/>
            <a:ext cx="2331720" cy="658368"/>
          </a:xfrm>
          <a:prstGeom prst="rect">
            <a:avLst/>
          </a:prstGeom>
          <a:noFill/>
          <a:ln/>
        </p:spPr>
        <p:txBody>
          <a:bodyPr wrap="square" lIns="0" tIns="0" rIns="0" bIns="0" rtlCol="0" anchor="ctr"/>
          <a:lstStyle/>
          <a:p>
            <a:pPr indent="0" marL="0">
              <a:lnSpc>
                <a:spcPct val="112000"/>
              </a:lnSpc>
              <a:buNone/>
            </a:pPr>
            <a:r>
              <a:rPr lang="en-US" sz="1150" b="1" dirty="0">
                <a:solidFill>
                  <a:srgbClr val="3A2E22"/>
                </a:solidFill>
                <a:latin typeface="Calibri" pitchFamily="34" charset="0"/>
                <a:ea typeface="Calibri" pitchFamily="34" charset="-122"/>
                <a:cs typeface="Calibri" pitchFamily="34" charset="-120"/>
              </a:rPr>
              <a:t>Departamentos académicos</a:t>
            </a:r>
            <a:endParaRPr lang="en-US" sz="1150" dirty="0"/>
          </a:p>
        </p:txBody>
      </p:sp>
      <p:sp>
        <p:nvSpPr>
          <p:cNvPr id="12" name="Text 10"/>
          <p:cNvSpPr/>
          <p:nvPr/>
        </p:nvSpPr>
        <p:spPr>
          <a:xfrm>
            <a:off x="3566160" y="4041648"/>
            <a:ext cx="2331720" cy="1417320"/>
          </a:xfrm>
          <a:prstGeom prst="rect">
            <a:avLst/>
          </a:prstGeom>
          <a:noFill/>
          <a:ln/>
        </p:spPr>
        <p:txBody>
          <a:bodyPr wrap="square" lIns="0" tIns="0" rIns="0" bIns="0" rtlCol="0" anchor="t"/>
          <a:lstStyle/>
          <a:p>
            <a:pPr indent="0" marL="0">
              <a:lnSpc>
                <a:spcPct val="118000"/>
              </a:lnSpc>
              <a:buNone/>
            </a:pPr>
            <a:r>
              <a:rPr lang="en-US" sz="1000" dirty="0">
                <a:solidFill>
                  <a:srgbClr val="7A6A57"/>
                </a:solidFill>
                <a:latin typeface="Calibri" pitchFamily="34" charset="0"/>
                <a:ea typeface="Calibri" pitchFamily="34" charset="-122"/>
                <a:cs typeface="Calibri" pitchFamily="34" charset="-120"/>
              </a:rPr>
              <a:t>Modelo Waters de residencia formal y departamento universitario, replicado internacionalmente.</a:t>
            </a:r>
            <a:endParaRPr lang="en-US" sz="1000" dirty="0"/>
          </a:p>
        </p:txBody>
      </p:sp>
      <p:sp>
        <p:nvSpPr>
          <p:cNvPr id="13" name="Shape 11"/>
          <p:cNvSpPr/>
          <p:nvPr/>
        </p:nvSpPr>
        <p:spPr>
          <a:xfrm>
            <a:off x="6217920" y="2697480"/>
            <a:ext cx="2697480" cy="2880360"/>
          </a:xfrm>
          <a:prstGeom prst="roundRect">
            <a:avLst>
              <a:gd name="adj" fmla="val 2712"/>
            </a:avLst>
          </a:prstGeom>
          <a:solidFill>
            <a:srgbClr val="C9A66B">
              <a:alpha val="10000"/>
            </a:srgbClr>
          </a:solidFill>
          <a:ln/>
        </p:spPr>
      </p:sp>
      <p:sp>
        <p:nvSpPr>
          <p:cNvPr id="14" name="Text 12"/>
          <p:cNvSpPr/>
          <p:nvPr/>
        </p:nvSpPr>
        <p:spPr>
          <a:xfrm>
            <a:off x="6400800" y="2852928"/>
            <a:ext cx="2331720" cy="502920"/>
          </a:xfrm>
          <a:prstGeom prst="rect">
            <a:avLst/>
          </a:prstGeom>
          <a:noFill/>
          <a:ln/>
        </p:spPr>
        <p:txBody>
          <a:bodyPr wrap="square" lIns="0" tIns="0" rIns="0" bIns="0" rtlCol="0" anchor="ctr"/>
          <a:lstStyle/>
          <a:p>
            <a:pPr indent="0" marL="0">
              <a:buNone/>
            </a:pPr>
            <a:r>
              <a:rPr lang="en-US" sz="2400" b="1" dirty="0">
                <a:solidFill>
                  <a:srgbClr val="5C3A21"/>
                </a:solidFill>
                <a:latin typeface="Cambria" pitchFamily="34" charset="0"/>
                <a:ea typeface="Cambria" pitchFamily="34" charset="-122"/>
                <a:cs typeface="Cambria" pitchFamily="34" charset="-120"/>
              </a:rPr>
              <a:t>1940</a:t>
            </a:r>
            <a:endParaRPr lang="en-US" sz="2400" dirty="0"/>
          </a:p>
        </p:txBody>
      </p:sp>
      <p:sp>
        <p:nvSpPr>
          <p:cNvPr id="15" name="Text 13"/>
          <p:cNvSpPr/>
          <p:nvPr/>
        </p:nvSpPr>
        <p:spPr>
          <a:xfrm>
            <a:off x="6400800" y="3401568"/>
            <a:ext cx="2331720" cy="658368"/>
          </a:xfrm>
          <a:prstGeom prst="rect">
            <a:avLst/>
          </a:prstGeom>
          <a:noFill/>
          <a:ln/>
        </p:spPr>
        <p:txBody>
          <a:bodyPr wrap="square" lIns="0" tIns="0" rIns="0" bIns="0" rtlCol="0" anchor="ctr"/>
          <a:lstStyle/>
          <a:p>
            <a:pPr indent="0" marL="0">
              <a:lnSpc>
                <a:spcPct val="112000"/>
              </a:lnSpc>
              <a:buNone/>
            </a:pPr>
            <a:r>
              <a:rPr lang="en-US" sz="1150" b="1" dirty="0">
                <a:solidFill>
                  <a:srgbClr val="3A2E22"/>
                </a:solidFill>
                <a:latin typeface="Calibri" pitchFamily="34" charset="0"/>
                <a:ea typeface="Calibri" pitchFamily="34" charset="-122"/>
                <a:cs typeface="Calibri" pitchFamily="34" charset="-120"/>
              </a:rPr>
              <a:t>Revista Anesthesiology</a:t>
            </a:r>
            <a:endParaRPr lang="en-US" sz="1150" dirty="0"/>
          </a:p>
        </p:txBody>
      </p:sp>
      <p:sp>
        <p:nvSpPr>
          <p:cNvPr id="16" name="Text 14"/>
          <p:cNvSpPr/>
          <p:nvPr/>
        </p:nvSpPr>
        <p:spPr>
          <a:xfrm>
            <a:off x="6400800" y="4041648"/>
            <a:ext cx="2331720" cy="1417320"/>
          </a:xfrm>
          <a:prstGeom prst="rect">
            <a:avLst/>
          </a:prstGeom>
          <a:noFill/>
          <a:ln/>
        </p:spPr>
        <p:txBody>
          <a:bodyPr wrap="square" lIns="0" tIns="0" rIns="0" bIns="0" rtlCol="0" anchor="t"/>
          <a:lstStyle/>
          <a:p>
            <a:pPr indent="0" marL="0">
              <a:lnSpc>
                <a:spcPct val="118000"/>
              </a:lnSpc>
              <a:buNone/>
            </a:pPr>
            <a:r>
              <a:rPr lang="en-US" sz="1000" dirty="0">
                <a:solidFill>
                  <a:srgbClr val="7A6A57"/>
                </a:solidFill>
                <a:latin typeface="Calibri" pitchFamily="34" charset="0"/>
                <a:ea typeface="Calibri" pitchFamily="34" charset="-122"/>
                <a:cs typeface="Calibri" pitchFamily="34" charset="-120"/>
              </a:rPr>
              <a:t>Publicación científica de referencia que consolida la investigación propia de la disciplina.</a:t>
            </a:r>
            <a:endParaRPr lang="en-US" sz="1000" dirty="0"/>
          </a:p>
        </p:txBody>
      </p:sp>
      <p:sp>
        <p:nvSpPr>
          <p:cNvPr id="17" name="Shape 15"/>
          <p:cNvSpPr/>
          <p:nvPr/>
        </p:nvSpPr>
        <p:spPr>
          <a:xfrm>
            <a:off x="9052560" y="2697480"/>
            <a:ext cx="2697480" cy="2880360"/>
          </a:xfrm>
          <a:prstGeom prst="roundRect">
            <a:avLst>
              <a:gd name="adj" fmla="val 2712"/>
            </a:avLst>
          </a:prstGeom>
          <a:solidFill>
            <a:srgbClr val="C9A66B">
              <a:alpha val="10000"/>
            </a:srgbClr>
          </a:solidFill>
          <a:ln/>
        </p:spPr>
      </p:sp>
      <p:sp>
        <p:nvSpPr>
          <p:cNvPr id="18" name="Text 16"/>
          <p:cNvSpPr/>
          <p:nvPr/>
        </p:nvSpPr>
        <p:spPr>
          <a:xfrm>
            <a:off x="9235440" y="2852928"/>
            <a:ext cx="2331720" cy="502920"/>
          </a:xfrm>
          <a:prstGeom prst="rect">
            <a:avLst/>
          </a:prstGeom>
          <a:noFill/>
          <a:ln/>
        </p:spPr>
        <p:txBody>
          <a:bodyPr wrap="square" lIns="0" tIns="0" rIns="0" bIns="0" rtlCol="0" anchor="ctr"/>
          <a:lstStyle/>
          <a:p>
            <a:pPr indent="0" marL="0">
              <a:buNone/>
            </a:pPr>
            <a:r>
              <a:rPr lang="en-US" sz="2400" b="1" dirty="0">
                <a:solidFill>
                  <a:srgbClr val="5C3A21"/>
                </a:solidFill>
                <a:latin typeface="Cambria" pitchFamily="34" charset="0"/>
                <a:ea typeface="Cambria" pitchFamily="34" charset="-122"/>
                <a:cs typeface="Cambria" pitchFamily="34" charset="-120"/>
              </a:rPr>
              <a:t>1932+</a:t>
            </a:r>
            <a:endParaRPr lang="en-US" sz="2400" dirty="0"/>
          </a:p>
        </p:txBody>
      </p:sp>
      <p:sp>
        <p:nvSpPr>
          <p:cNvPr id="19" name="Text 17"/>
          <p:cNvSpPr/>
          <p:nvPr/>
        </p:nvSpPr>
        <p:spPr>
          <a:xfrm>
            <a:off x="9235440" y="3401568"/>
            <a:ext cx="2331720" cy="658368"/>
          </a:xfrm>
          <a:prstGeom prst="rect">
            <a:avLst/>
          </a:prstGeom>
          <a:noFill/>
          <a:ln/>
        </p:spPr>
        <p:txBody>
          <a:bodyPr wrap="square" lIns="0" tIns="0" rIns="0" bIns="0" rtlCol="0" anchor="ctr"/>
          <a:lstStyle/>
          <a:p>
            <a:pPr indent="0" marL="0">
              <a:lnSpc>
                <a:spcPct val="112000"/>
              </a:lnSpc>
              <a:buNone/>
            </a:pPr>
            <a:r>
              <a:rPr lang="en-US" sz="1150" b="1" dirty="0">
                <a:solidFill>
                  <a:srgbClr val="3A2E22"/>
                </a:solidFill>
                <a:latin typeface="Calibri" pitchFamily="34" charset="0"/>
                <a:ea typeface="Calibri" pitchFamily="34" charset="-122"/>
                <a:cs typeface="Calibri" pitchFamily="34" charset="-120"/>
              </a:rPr>
              <a:t>Juntas de certificación</a:t>
            </a:r>
            <a:endParaRPr lang="en-US" sz="1150" dirty="0"/>
          </a:p>
        </p:txBody>
      </p:sp>
      <p:sp>
        <p:nvSpPr>
          <p:cNvPr id="20" name="Text 18"/>
          <p:cNvSpPr/>
          <p:nvPr/>
        </p:nvSpPr>
        <p:spPr>
          <a:xfrm>
            <a:off x="9235440" y="4041648"/>
            <a:ext cx="2331720" cy="1417320"/>
          </a:xfrm>
          <a:prstGeom prst="rect">
            <a:avLst/>
          </a:prstGeom>
          <a:noFill/>
          <a:ln/>
        </p:spPr>
        <p:txBody>
          <a:bodyPr wrap="square" lIns="0" tIns="0" rIns="0" bIns="0" rtlCol="0" anchor="t"/>
          <a:lstStyle/>
          <a:p>
            <a:pPr indent="0" marL="0">
              <a:lnSpc>
                <a:spcPct val="118000"/>
              </a:lnSpc>
              <a:buNone/>
            </a:pPr>
            <a:r>
              <a:rPr lang="en-US" sz="1000" dirty="0">
                <a:solidFill>
                  <a:srgbClr val="7A6A57"/>
                </a:solidFill>
                <a:latin typeface="Calibri" pitchFamily="34" charset="0"/>
                <a:ea typeface="Calibri" pitchFamily="34" charset="-122"/>
                <a:cs typeface="Calibri" pitchFamily="34" charset="-120"/>
              </a:rPr>
              <a:t>Estandarización de competencias mínimas y evaluación formal para ejercer la especialidad.</a:t>
            </a:r>
            <a:endParaRPr lang="en-US" sz="1000" dirty="0"/>
          </a:p>
        </p:txBody>
      </p:sp>
      <p:sp>
        <p:nvSpPr>
          <p:cNvPr id="21" name="Text 19"/>
          <p:cNvSpPr/>
          <p:nvPr/>
        </p:nvSpPr>
        <p:spPr>
          <a:xfrm>
            <a:off x="548640" y="5760720"/>
            <a:ext cx="11064240" cy="566928"/>
          </a:xfrm>
          <a:prstGeom prst="rect">
            <a:avLst/>
          </a:prstGeom>
          <a:noFill/>
          <a:ln/>
        </p:spPr>
        <p:txBody>
          <a:bodyPr wrap="square" lIns="0" tIns="0" rIns="0" bIns="0" rtlCol="0" anchor="ctr"/>
          <a:lstStyle/>
          <a:p>
            <a:pPr indent="0" marL="0">
              <a:lnSpc>
                <a:spcPct val="118000"/>
              </a:lnSpc>
              <a:buNone/>
            </a:pPr>
            <a:r>
              <a:rPr lang="en-US" sz="1100" i="1" dirty="0">
                <a:solidFill>
                  <a:srgbClr val="7A6A57"/>
                </a:solidFill>
                <a:latin typeface="Calibri" pitchFamily="34" charset="0"/>
                <a:ea typeface="Calibri" pitchFamily="34" charset="-122"/>
                <a:cs typeface="Calibri" pitchFamily="34" charset="-120"/>
              </a:rPr>
              <a:t>El resultado fue el nacimiento de subespecialidades propias —anestesia cardiovascular, obstétrica, pediátrica, del dolor y cuidados críticos— cada una con su propio cuerpo de conocimiento e investigación.</a:t>
            </a:r>
            <a:endParaRPr lang="en-US" sz="1100" dirty="0"/>
          </a:p>
        </p:txBody>
      </p:sp>
      <p:sp>
        <p:nvSpPr>
          <p:cNvPr id="22" name="Text 20"/>
          <p:cNvSpPr/>
          <p:nvPr/>
        </p:nvSpPr>
        <p:spPr>
          <a:xfrm>
            <a:off x="548640" y="6473952"/>
            <a:ext cx="6400800" cy="274320"/>
          </a:xfrm>
          <a:prstGeom prst="rect">
            <a:avLst/>
          </a:prstGeom>
          <a:noFill/>
          <a:ln/>
        </p:spPr>
        <p:txBody>
          <a:bodyPr wrap="square" lIns="0" tIns="0" rIns="0" bIns="0" rtlCol="0" anchor="ctr"/>
          <a:lstStyle/>
          <a:p>
            <a:pPr indent="0" marL="0">
              <a:buNone/>
            </a:pPr>
            <a:r>
              <a:rPr lang="en-US" sz="850" spc="100" kern="0" dirty="0">
                <a:solidFill>
                  <a:srgbClr val="7A6A57"/>
                </a:solidFill>
                <a:latin typeface="Calibri" pitchFamily="34" charset="0"/>
                <a:ea typeface="Calibri" pitchFamily="34" charset="-122"/>
                <a:cs typeface="Calibri" pitchFamily="34" charset="-120"/>
              </a:rPr>
              <a:t>CAPÍTULO II  ·  HISTORIA DE LA ANESTESIA</a:t>
            </a:r>
            <a:endParaRPr lang="en-US" sz="850" dirty="0"/>
          </a:p>
        </p:txBody>
      </p:sp>
      <p:sp>
        <p:nvSpPr>
          <p:cNvPr id="23" name="Text 21"/>
          <p:cNvSpPr/>
          <p:nvPr/>
        </p:nvSpPr>
        <p:spPr>
          <a:xfrm>
            <a:off x="10728655" y="6473952"/>
            <a:ext cx="914400" cy="274320"/>
          </a:xfrm>
          <a:prstGeom prst="rect">
            <a:avLst/>
          </a:prstGeom>
          <a:noFill/>
          <a:ln/>
        </p:spPr>
        <p:txBody>
          <a:bodyPr wrap="square" lIns="0" tIns="0" rIns="0" bIns="0" rtlCol="0" anchor="ctr"/>
          <a:lstStyle/>
          <a:p>
            <a:pPr algn="r" indent="0" marL="0">
              <a:buNone/>
            </a:pPr>
            <a:r>
              <a:rPr lang="en-US" sz="850" dirty="0">
                <a:solidFill>
                  <a:srgbClr val="7A6A57"/>
                </a:solidFill>
                <a:latin typeface="Calibri" pitchFamily="34" charset="0"/>
                <a:ea typeface="Calibri" pitchFamily="34" charset="-122"/>
                <a:cs typeface="Calibri" pitchFamily="34" charset="-120"/>
              </a:rPr>
              <a:t>26</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lIns="0" tIns="0" rIns="0" bIns="0" rtlCol="0" anchor="ctr"/>
          <a:lstStyle/>
          <a:p>
            <a:pPr indent="0" marL="0">
              <a:buNone/>
            </a:pPr>
            <a:r>
              <a:rPr lang="en-US" sz="1200" b="1" spc="200" kern="0" dirty="0">
                <a:solidFill>
                  <a:srgbClr val="8B5E3C"/>
                </a:solidFill>
                <a:latin typeface="Calibri" pitchFamily="34" charset="0"/>
                <a:ea typeface="Calibri" pitchFamily="34" charset="-122"/>
                <a:cs typeface="Calibri" pitchFamily="34" charset="-120"/>
              </a:rPr>
              <a:t>SIGLO XX–XXI</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t"/>
          <a:lstStyle/>
          <a:p>
            <a:pPr indent="0" marL="0">
              <a:buNone/>
            </a:pPr>
            <a:r>
              <a:rPr lang="en-US" sz="2900" b="1" dirty="0">
                <a:solidFill>
                  <a:srgbClr val="5C3A21"/>
                </a:solidFill>
                <a:latin typeface="Cambria" pitchFamily="34" charset="0"/>
                <a:ea typeface="Cambria" pitchFamily="34" charset="-122"/>
                <a:cs typeface="Cambria" pitchFamily="34" charset="-120"/>
              </a:rPr>
              <a:t>Avances en monitorización y seguridad del paciente</a:t>
            </a:r>
            <a:endParaRPr lang="en-US" sz="2900" dirty="0"/>
          </a:p>
        </p:txBody>
      </p:sp>
      <p:sp>
        <p:nvSpPr>
          <p:cNvPr id="4" name="Text 2"/>
          <p:cNvSpPr/>
          <p:nvPr/>
        </p:nvSpPr>
        <p:spPr>
          <a:xfrm>
            <a:off x="548640" y="1691640"/>
            <a:ext cx="11064240" cy="777240"/>
          </a:xfrm>
          <a:prstGeom prst="rect">
            <a:avLst/>
          </a:prstGeom>
          <a:noFill/>
          <a:ln/>
        </p:spPr>
        <p:txBody>
          <a:bodyPr wrap="square" lIns="0" tIns="0" rIns="0" bIns="0" rtlCol="0" anchor="ctr"/>
          <a:lstStyle/>
          <a:p>
            <a:pPr indent="0" marL="0">
              <a:lnSpc>
                <a:spcPct val="122000"/>
              </a:lnSpc>
              <a:buNone/>
            </a:pPr>
            <a:r>
              <a:rPr lang="en-US" sz="1300" dirty="0">
                <a:solidFill>
                  <a:srgbClr val="3A2E22"/>
                </a:solidFill>
                <a:latin typeface="Calibri" pitchFamily="34" charset="0"/>
                <a:ea typeface="Calibri" pitchFamily="34" charset="-122"/>
                <a:cs typeface="Calibri" pitchFamily="34" charset="-120"/>
              </a:rPr>
              <a:t>La segunda mitad del siglo XX desplazó el foco de la anestesiología desde 'lograr la anestesia' hacia 'garantizar su seguridad de forma continua y objetiva', mediante tecnología de monitorización y estándares de práctica obligatorios.</a:t>
            </a:r>
            <a:endParaRPr lang="en-US" sz="1300" dirty="0"/>
          </a:p>
        </p:txBody>
      </p:sp>
      <p:sp>
        <p:nvSpPr>
          <p:cNvPr id="5" name="Shape 3"/>
          <p:cNvSpPr/>
          <p:nvPr/>
        </p:nvSpPr>
        <p:spPr>
          <a:xfrm>
            <a:off x="548640" y="2560320"/>
            <a:ext cx="5440680" cy="1691640"/>
          </a:xfrm>
          <a:prstGeom prst="roundRect">
            <a:avLst>
              <a:gd name="adj" fmla="val 4324"/>
            </a:avLst>
          </a:prstGeom>
          <a:solidFill>
            <a:srgbClr val="8B5E3C">
              <a:alpha val="11000"/>
            </a:srgbClr>
          </a:solidFill>
          <a:ln/>
        </p:spPr>
      </p:sp>
      <p:sp>
        <p:nvSpPr>
          <p:cNvPr id="6" name="Shape 4"/>
          <p:cNvSpPr/>
          <p:nvPr/>
        </p:nvSpPr>
        <p:spPr>
          <a:xfrm>
            <a:off x="804672" y="2798064"/>
            <a:ext cx="713232" cy="713232"/>
          </a:xfrm>
          <a:prstGeom prst="ellipse">
            <a:avLst/>
          </a:prstGeom>
          <a:solidFill>
            <a:srgbClr val="5C3A21"/>
          </a:solidFill>
          <a:ln/>
          <a:effectLst>
            <a:outerShdw sx="100000" sy="100000" kx="0" ky="0" algn="bl" rotWithShape="0" blurRad="101600" dist="38100" dir="5400000">
              <a:srgbClr val="2B2118">
                <a:alpha val="28000"/>
              </a:srgbClr>
            </a:outerShdw>
          </a:effectLst>
        </p:spPr>
      </p:sp>
      <p:pic>
        <p:nvPicPr>
          <p:cNvPr id="7" name="Image 0" descr="preencoded.png">    </p:cNvPr>
          <p:cNvPicPr>
            <a:picLocks noChangeAspect="1"/>
          </p:cNvPicPr>
          <p:nvPr/>
        </p:nvPicPr>
        <p:blipFill>
          <a:blip r:embed="rId1"/>
          <a:stretch>
            <a:fillRect/>
          </a:stretch>
        </p:blipFill>
        <p:spPr>
          <a:xfrm>
            <a:off x="975848" y="2969240"/>
            <a:ext cx="370881" cy="370881"/>
          </a:xfrm>
          <a:prstGeom prst="rect">
            <a:avLst/>
          </a:prstGeom>
        </p:spPr>
      </p:pic>
      <p:sp>
        <p:nvSpPr>
          <p:cNvPr id="8" name="Text 5"/>
          <p:cNvSpPr/>
          <p:nvPr/>
        </p:nvSpPr>
        <p:spPr>
          <a:xfrm>
            <a:off x="1691640" y="2798064"/>
            <a:ext cx="4069080" cy="685800"/>
          </a:xfrm>
          <a:prstGeom prst="rect">
            <a:avLst/>
          </a:prstGeom>
          <a:noFill/>
          <a:ln/>
        </p:spPr>
        <p:txBody>
          <a:bodyPr wrap="square" lIns="0" tIns="0" rIns="0" bIns="0" rtlCol="0" anchor="t"/>
          <a:lstStyle/>
          <a:p>
            <a:pPr indent="0" marL="0">
              <a:lnSpc>
                <a:spcPct val="108000"/>
              </a:lnSpc>
              <a:buNone/>
            </a:pPr>
            <a:r>
              <a:rPr lang="en-US" sz="1300" b="1" dirty="0">
                <a:solidFill>
                  <a:srgbClr val="5C3A21"/>
                </a:solidFill>
                <a:latin typeface="Cambria" pitchFamily="34" charset="0"/>
                <a:ea typeface="Cambria" pitchFamily="34" charset="-122"/>
                <a:cs typeface="Cambria" pitchFamily="34" charset="-120"/>
              </a:rPr>
              <a:t>Pulsioximetría (1974)</a:t>
            </a:r>
            <a:endParaRPr lang="en-US" sz="1300" dirty="0"/>
          </a:p>
        </p:txBody>
      </p:sp>
      <p:sp>
        <p:nvSpPr>
          <p:cNvPr id="9" name="Text 6"/>
          <p:cNvSpPr/>
          <p:nvPr/>
        </p:nvSpPr>
        <p:spPr>
          <a:xfrm>
            <a:off x="804672" y="3493008"/>
            <a:ext cx="4928616" cy="713232"/>
          </a:xfrm>
          <a:prstGeom prst="rect">
            <a:avLst/>
          </a:prstGeom>
          <a:noFill/>
          <a:ln/>
        </p:spPr>
        <p:txBody>
          <a:bodyPr wrap="square" lIns="0" tIns="0" rIns="0" bIns="0" rtlCol="0" anchor="t"/>
          <a:lstStyle/>
          <a:p>
            <a:pPr indent="0" marL="0">
              <a:lnSpc>
                <a:spcPct val="115000"/>
              </a:lnSpc>
              <a:buNone/>
            </a:pPr>
            <a:r>
              <a:rPr lang="en-US" sz="960" dirty="0">
                <a:solidFill>
                  <a:srgbClr val="3A2E22"/>
                </a:solidFill>
                <a:latin typeface="Calibri" pitchFamily="34" charset="0"/>
                <a:ea typeface="Calibri" pitchFamily="34" charset="-122"/>
                <a:cs typeface="Calibri" pitchFamily="34" charset="-120"/>
              </a:rPr>
              <a:t>Takuo Aoyagi (Japón) desarrolla el principio de la oximetría de pulso; su adopción clínica amplia en la década de 1980 permite monitorización continua y no invasiva de la saturación de oxígeno.</a:t>
            </a:r>
            <a:endParaRPr lang="en-US" sz="960" dirty="0"/>
          </a:p>
        </p:txBody>
      </p:sp>
      <p:sp>
        <p:nvSpPr>
          <p:cNvPr id="10" name="Shape 7"/>
          <p:cNvSpPr/>
          <p:nvPr/>
        </p:nvSpPr>
        <p:spPr>
          <a:xfrm>
            <a:off x="6199632" y="2560320"/>
            <a:ext cx="5440680" cy="1691640"/>
          </a:xfrm>
          <a:prstGeom prst="roundRect">
            <a:avLst>
              <a:gd name="adj" fmla="val 4324"/>
            </a:avLst>
          </a:prstGeom>
          <a:solidFill>
            <a:srgbClr val="C9A66B">
              <a:alpha val="11000"/>
            </a:srgbClr>
          </a:solidFill>
          <a:ln/>
        </p:spPr>
      </p:sp>
      <p:sp>
        <p:nvSpPr>
          <p:cNvPr id="11" name="Shape 8"/>
          <p:cNvSpPr/>
          <p:nvPr/>
        </p:nvSpPr>
        <p:spPr>
          <a:xfrm>
            <a:off x="6455664" y="2798064"/>
            <a:ext cx="713232" cy="713232"/>
          </a:xfrm>
          <a:prstGeom prst="ellipse">
            <a:avLst/>
          </a:prstGeom>
          <a:solidFill>
            <a:srgbClr val="5C3A21"/>
          </a:solidFill>
          <a:ln/>
          <a:effectLst>
            <a:outerShdw sx="100000" sy="100000" kx="0" ky="0" algn="bl" rotWithShape="0" blurRad="101600" dist="38100" dir="5400000">
              <a:srgbClr val="2B2118">
                <a:alpha val="28000"/>
              </a:srgbClr>
            </a:outerShdw>
          </a:effectLst>
        </p:spPr>
      </p:sp>
      <p:pic>
        <p:nvPicPr>
          <p:cNvPr id="12" name="Image 1" descr="preencoded.png">    </p:cNvPr>
          <p:cNvPicPr>
            <a:picLocks noChangeAspect="1"/>
          </p:cNvPicPr>
          <p:nvPr/>
        </p:nvPicPr>
        <p:blipFill>
          <a:blip r:embed="rId2"/>
          <a:stretch>
            <a:fillRect/>
          </a:stretch>
        </p:blipFill>
        <p:spPr>
          <a:xfrm>
            <a:off x="6626840" y="2969240"/>
            <a:ext cx="370881" cy="370881"/>
          </a:xfrm>
          <a:prstGeom prst="rect">
            <a:avLst/>
          </a:prstGeom>
        </p:spPr>
      </p:pic>
      <p:sp>
        <p:nvSpPr>
          <p:cNvPr id="13" name="Text 9"/>
          <p:cNvSpPr/>
          <p:nvPr/>
        </p:nvSpPr>
        <p:spPr>
          <a:xfrm>
            <a:off x="7342632" y="2798064"/>
            <a:ext cx="4069080" cy="685800"/>
          </a:xfrm>
          <a:prstGeom prst="rect">
            <a:avLst/>
          </a:prstGeom>
          <a:noFill/>
          <a:ln/>
        </p:spPr>
        <p:txBody>
          <a:bodyPr wrap="square" lIns="0" tIns="0" rIns="0" bIns="0" rtlCol="0" anchor="t"/>
          <a:lstStyle/>
          <a:p>
            <a:pPr indent="0" marL="0">
              <a:lnSpc>
                <a:spcPct val="108000"/>
              </a:lnSpc>
              <a:buNone/>
            </a:pPr>
            <a:r>
              <a:rPr lang="en-US" sz="1300" b="1" dirty="0">
                <a:solidFill>
                  <a:srgbClr val="5C3A21"/>
                </a:solidFill>
                <a:latin typeface="Cambria" pitchFamily="34" charset="0"/>
                <a:ea typeface="Cambria" pitchFamily="34" charset="-122"/>
                <a:cs typeface="Cambria" pitchFamily="34" charset="-120"/>
              </a:rPr>
              <a:t>Capnografía</a:t>
            </a:r>
            <a:endParaRPr lang="en-US" sz="1300" dirty="0"/>
          </a:p>
        </p:txBody>
      </p:sp>
      <p:sp>
        <p:nvSpPr>
          <p:cNvPr id="14" name="Text 10"/>
          <p:cNvSpPr/>
          <p:nvPr/>
        </p:nvSpPr>
        <p:spPr>
          <a:xfrm>
            <a:off x="6455664" y="3493008"/>
            <a:ext cx="4928616" cy="713232"/>
          </a:xfrm>
          <a:prstGeom prst="rect">
            <a:avLst/>
          </a:prstGeom>
          <a:noFill/>
          <a:ln/>
        </p:spPr>
        <p:txBody>
          <a:bodyPr wrap="square" lIns="0" tIns="0" rIns="0" bIns="0" rtlCol="0" anchor="t"/>
          <a:lstStyle/>
          <a:p>
            <a:pPr indent="0" marL="0">
              <a:lnSpc>
                <a:spcPct val="115000"/>
              </a:lnSpc>
              <a:buNone/>
            </a:pPr>
            <a:r>
              <a:rPr lang="en-US" sz="960" dirty="0">
                <a:solidFill>
                  <a:srgbClr val="3A2E22"/>
                </a:solidFill>
                <a:latin typeface="Calibri" pitchFamily="34" charset="0"/>
                <a:ea typeface="Calibri" pitchFamily="34" charset="-122"/>
                <a:cs typeface="Calibri" pitchFamily="34" charset="-120"/>
              </a:rPr>
              <a:t>La medición continua del CO₂ espirado permite confirmar la correcta posición del tubo endotraqueal y evaluar la adecuación de la ventilación en tiempo real.</a:t>
            </a:r>
            <a:endParaRPr lang="en-US" sz="960" dirty="0"/>
          </a:p>
        </p:txBody>
      </p:sp>
      <p:sp>
        <p:nvSpPr>
          <p:cNvPr id="15" name="Shape 11"/>
          <p:cNvSpPr/>
          <p:nvPr/>
        </p:nvSpPr>
        <p:spPr>
          <a:xfrm>
            <a:off x="548640" y="4398264"/>
            <a:ext cx="5440680" cy="1691640"/>
          </a:xfrm>
          <a:prstGeom prst="roundRect">
            <a:avLst>
              <a:gd name="adj" fmla="val 4324"/>
            </a:avLst>
          </a:prstGeom>
          <a:solidFill>
            <a:srgbClr val="8B5E3C">
              <a:alpha val="11000"/>
            </a:srgbClr>
          </a:solidFill>
          <a:ln/>
        </p:spPr>
      </p:sp>
      <p:sp>
        <p:nvSpPr>
          <p:cNvPr id="16" name="Shape 12"/>
          <p:cNvSpPr/>
          <p:nvPr/>
        </p:nvSpPr>
        <p:spPr>
          <a:xfrm>
            <a:off x="804672" y="4636008"/>
            <a:ext cx="713232" cy="713232"/>
          </a:xfrm>
          <a:prstGeom prst="ellipse">
            <a:avLst/>
          </a:prstGeom>
          <a:solidFill>
            <a:srgbClr val="5C3A21"/>
          </a:solidFill>
          <a:ln/>
          <a:effectLst>
            <a:outerShdw sx="100000" sy="100000" kx="0" ky="0" algn="bl" rotWithShape="0" blurRad="101600" dist="38100" dir="5400000">
              <a:srgbClr val="2B2118">
                <a:alpha val="28000"/>
              </a:srgbClr>
            </a:outerShdw>
          </a:effectLst>
        </p:spPr>
      </p:sp>
      <p:pic>
        <p:nvPicPr>
          <p:cNvPr id="17" name="Image 2" descr="preencoded.png">    </p:cNvPr>
          <p:cNvPicPr>
            <a:picLocks noChangeAspect="1"/>
          </p:cNvPicPr>
          <p:nvPr/>
        </p:nvPicPr>
        <p:blipFill>
          <a:blip r:embed="rId3"/>
          <a:stretch>
            <a:fillRect/>
          </a:stretch>
        </p:blipFill>
        <p:spPr>
          <a:xfrm>
            <a:off x="975848" y="4807184"/>
            <a:ext cx="370881" cy="370881"/>
          </a:xfrm>
          <a:prstGeom prst="rect">
            <a:avLst/>
          </a:prstGeom>
        </p:spPr>
      </p:pic>
      <p:sp>
        <p:nvSpPr>
          <p:cNvPr id="18" name="Text 13"/>
          <p:cNvSpPr/>
          <p:nvPr/>
        </p:nvSpPr>
        <p:spPr>
          <a:xfrm>
            <a:off x="1691640" y="4636008"/>
            <a:ext cx="4069080" cy="685800"/>
          </a:xfrm>
          <a:prstGeom prst="rect">
            <a:avLst/>
          </a:prstGeom>
          <a:noFill/>
          <a:ln/>
        </p:spPr>
        <p:txBody>
          <a:bodyPr wrap="square" lIns="0" tIns="0" rIns="0" bIns="0" rtlCol="0" anchor="t"/>
          <a:lstStyle/>
          <a:p>
            <a:pPr indent="0" marL="0">
              <a:lnSpc>
                <a:spcPct val="108000"/>
              </a:lnSpc>
              <a:buNone/>
            </a:pPr>
            <a:r>
              <a:rPr lang="en-US" sz="1300" b="1" dirty="0">
                <a:solidFill>
                  <a:srgbClr val="5C3A21"/>
                </a:solidFill>
                <a:latin typeface="Cambria" pitchFamily="34" charset="0"/>
                <a:ea typeface="Cambria" pitchFamily="34" charset="-122"/>
                <a:cs typeface="Cambria" pitchFamily="34" charset="-120"/>
              </a:rPr>
              <a:t>Estándares ASA de monitorización (1986)</a:t>
            </a:r>
            <a:endParaRPr lang="en-US" sz="1300" dirty="0"/>
          </a:p>
        </p:txBody>
      </p:sp>
      <p:sp>
        <p:nvSpPr>
          <p:cNvPr id="19" name="Text 14"/>
          <p:cNvSpPr/>
          <p:nvPr/>
        </p:nvSpPr>
        <p:spPr>
          <a:xfrm>
            <a:off x="804672" y="5330952"/>
            <a:ext cx="4928616" cy="713232"/>
          </a:xfrm>
          <a:prstGeom prst="rect">
            <a:avLst/>
          </a:prstGeom>
          <a:noFill/>
          <a:ln/>
        </p:spPr>
        <p:txBody>
          <a:bodyPr wrap="square" lIns="0" tIns="0" rIns="0" bIns="0" rtlCol="0" anchor="t"/>
          <a:lstStyle/>
          <a:p>
            <a:pPr indent="0" marL="0">
              <a:lnSpc>
                <a:spcPct val="115000"/>
              </a:lnSpc>
              <a:buNone/>
            </a:pPr>
            <a:r>
              <a:rPr lang="en-US" sz="960" dirty="0">
                <a:solidFill>
                  <a:srgbClr val="3A2E22"/>
                </a:solidFill>
                <a:latin typeface="Calibri" pitchFamily="34" charset="0"/>
                <a:ea typeface="Calibri" pitchFamily="34" charset="-122"/>
                <a:cs typeface="Calibri" pitchFamily="34" charset="-120"/>
              </a:rPr>
              <a:t>Harvard y la ASA establecen estándares mínimos obligatorios: oxigenación, ventilación, circulación y temperatura, hoy universales en la práctica anestésica.</a:t>
            </a:r>
            <a:endParaRPr lang="en-US" sz="960" dirty="0"/>
          </a:p>
        </p:txBody>
      </p:sp>
      <p:sp>
        <p:nvSpPr>
          <p:cNvPr id="20" name="Shape 15"/>
          <p:cNvSpPr/>
          <p:nvPr/>
        </p:nvSpPr>
        <p:spPr>
          <a:xfrm>
            <a:off x="6199632" y="4398264"/>
            <a:ext cx="5440680" cy="1691640"/>
          </a:xfrm>
          <a:prstGeom prst="roundRect">
            <a:avLst>
              <a:gd name="adj" fmla="val 4324"/>
            </a:avLst>
          </a:prstGeom>
          <a:solidFill>
            <a:srgbClr val="C9A66B">
              <a:alpha val="11000"/>
            </a:srgbClr>
          </a:solidFill>
          <a:ln/>
        </p:spPr>
      </p:sp>
      <p:sp>
        <p:nvSpPr>
          <p:cNvPr id="21" name="Shape 16"/>
          <p:cNvSpPr/>
          <p:nvPr/>
        </p:nvSpPr>
        <p:spPr>
          <a:xfrm>
            <a:off x="6455664" y="4636008"/>
            <a:ext cx="713232" cy="713232"/>
          </a:xfrm>
          <a:prstGeom prst="ellipse">
            <a:avLst/>
          </a:prstGeom>
          <a:solidFill>
            <a:srgbClr val="5C3A21"/>
          </a:solidFill>
          <a:ln/>
          <a:effectLst>
            <a:outerShdw sx="100000" sy="100000" kx="0" ky="0" algn="bl" rotWithShape="0" blurRad="101600" dist="38100" dir="5400000">
              <a:srgbClr val="2B2118">
                <a:alpha val="28000"/>
              </a:srgbClr>
            </a:outerShdw>
          </a:effectLst>
        </p:spPr>
      </p:sp>
      <p:pic>
        <p:nvPicPr>
          <p:cNvPr id="22" name="Image 3" descr="preencoded.png">    </p:cNvPr>
          <p:cNvPicPr>
            <a:picLocks noChangeAspect="1"/>
          </p:cNvPicPr>
          <p:nvPr/>
        </p:nvPicPr>
        <p:blipFill>
          <a:blip r:embed="rId4"/>
          <a:stretch>
            <a:fillRect/>
          </a:stretch>
        </p:blipFill>
        <p:spPr>
          <a:xfrm>
            <a:off x="6626840" y="4807184"/>
            <a:ext cx="370881" cy="370881"/>
          </a:xfrm>
          <a:prstGeom prst="rect">
            <a:avLst/>
          </a:prstGeom>
        </p:spPr>
      </p:pic>
      <p:sp>
        <p:nvSpPr>
          <p:cNvPr id="23" name="Text 17"/>
          <p:cNvSpPr/>
          <p:nvPr/>
        </p:nvSpPr>
        <p:spPr>
          <a:xfrm>
            <a:off x="7342632" y="4636008"/>
            <a:ext cx="4069080" cy="685800"/>
          </a:xfrm>
          <a:prstGeom prst="rect">
            <a:avLst/>
          </a:prstGeom>
          <a:noFill/>
          <a:ln/>
        </p:spPr>
        <p:txBody>
          <a:bodyPr wrap="square" lIns="0" tIns="0" rIns="0" bIns="0" rtlCol="0" anchor="t"/>
          <a:lstStyle/>
          <a:p>
            <a:pPr indent="0" marL="0">
              <a:lnSpc>
                <a:spcPct val="108000"/>
              </a:lnSpc>
              <a:buNone/>
            </a:pPr>
            <a:r>
              <a:rPr lang="en-US" sz="1300" b="1" dirty="0">
                <a:solidFill>
                  <a:srgbClr val="5C3A21"/>
                </a:solidFill>
                <a:latin typeface="Cambria" pitchFamily="34" charset="0"/>
                <a:ea typeface="Cambria" pitchFamily="34" charset="-122"/>
                <a:cs typeface="Cambria" pitchFamily="34" charset="-120"/>
              </a:rPr>
              <a:t>Reducción de la mortalidad anestésica</a:t>
            </a:r>
            <a:endParaRPr lang="en-US" sz="1300" dirty="0"/>
          </a:p>
        </p:txBody>
      </p:sp>
      <p:sp>
        <p:nvSpPr>
          <p:cNvPr id="24" name="Text 18"/>
          <p:cNvSpPr/>
          <p:nvPr/>
        </p:nvSpPr>
        <p:spPr>
          <a:xfrm>
            <a:off x="6455664" y="5330952"/>
            <a:ext cx="4928616" cy="713232"/>
          </a:xfrm>
          <a:prstGeom prst="rect">
            <a:avLst/>
          </a:prstGeom>
          <a:noFill/>
          <a:ln/>
        </p:spPr>
        <p:txBody>
          <a:bodyPr wrap="square" lIns="0" tIns="0" rIns="0" bIns="0" rtlCol="0" anchor="t"/>
          <a:lstStyle/>
          <a:p>
            <a:pPr indent="0" marL="0">
              <a:lnSpc>
                <a:spcPct val="115000"/>
              </a:lnSpc>
              <a:buNone/>
            </a:pPr>
            <a:r>
              <a:rPr lang="en-US" sz="960" dirty="0">
                <a:solidFill>
                  <a:srgbClr val="3A2E22"/>
                </a:solidFill>
                <a:latin typeface="Calibri" pitchFamily="34" charset="0"/>
                <a:ea typeface="Calibri" pitchFamily="34" charset="-122"/>
                <a:cs typeface="Calibri" pitchFamily="34" charset="-120"/>
              </a:rPr>
              <a:t>La combinación de monitorización estandarizada, mejor farmacología y formación estructurada redujo drásticamente la mortalidad directamente atribuible a la anestesia en sistemas de salud con estos estándares.</a:t>
            </a:r>
            <a:endParaRPr lang="en-US" sz="960" dirty="0"/>
          </a:p>
        </p:txBody>
      </p:sp>
      <p:sp>
        <p:nvSpPr>
          <p:cNvPr id="25" name="Text 19"/>
          <p:cNvSpPr/>
          <p:nvPr/>
        </p:nvSpPr>
        <p:spPr>
          <a:xfrm>
            <a:off x="548640" y="6473952"/>
            <a:ext cx="6400800" cy="274320"/>
          </a:xfrm>
          <a:prstGeom prst="rect">
            <a:avLst/>
          </a:prstGeom>
          <a:noFill/>
          <a:ln/>
        </p:spPr>
        <p:txBody>
          <a:bodyPr wrap="square" lIns="0" tIns="0" rIns="0" bIns="0" rtlCol="0" anchor="ctr"/>
          <a:lstStyle/>
          <a:p>
            <a:pPr indent="0" marL="0">
              <a:buNone/>
            </a:pPr>
            <a:r>
              <a:rPr lang="en-US" sz="850" spc="100" kern="0" dirty="0">
                <a:solidFill>
                  <a:srgbClr val="7A6A57"/>
                </a:solidFill>
                <a:latin typeface="Calibri" pitchFamily="34" charset="0"/>
                <a:ea typeface="Calibri" pitchFamily="34" charset="-122"/>
                <a:cs typeface="Calibri" pitchFamily="34" charset="-120"/>
              </a:rPr>
              <a:t>CAPÍTULO II  ·  HISTORIA DE LA ANESTESIA</a:t>
            </a:r>
            <a:endParaRPr lang="en-US" sz="850" dirty="0"/>
          </a:p>
        </p:txBody>
      </p:sp>
      <p:sp>
        <p:nvSpPr>
          <p:cNvPr id="26" name="Text 20"/>
          <p:cNvSpPr/>
          <p:nvPr/>
        </p:nvSpPr>
        <p:spPr>
          <a:xfrm>
            <a:off x="10728655" y="6473952"/>
            <a:ext cx="914400" cy="274320"/>
          </a:xfrm>
          <a:prstGeom prst="rect">
            <a:avLst/>
          </a:prstGeom>
          <a:noFill/>
          <a:ln/>
        </p:spPr>
        <p:txBody>
          <a:bodyPr wrap="square" lIns="0" tIns="0" rIns="0" bIns="0" rtlCol="0" anchor="ctr"/>
          <a:lstStyle/>
          <a:p>
            <a:pPr algn="r" indent="0" marL="0">
              <a:buNone/>
            </a:pPr>
            <a:r>
              <a:rPr lang="en-US" sz="850" dirty="0">
                <a:solidFill>
                  <a:srgbClr val="7A6A57"/>
                </a:solidFill>
                <a:latin typeface="Calibri" pitchFamily="34" charset="0"/>
                <a:ea typeface="Calibri" pitchFamily="34" charset="-122"/>
                <a:cs typeface="Calibri" pitchFamily="34" charset="-120"/>
              </a:rPr>
              <a:t>27</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lIns="0" tIns="0" rIns="0" bIns="0" rtlCol="0" anchor="ctr"/>
          <a:lstStyle/>
          <a:p>
            <a:pPr indent="0" marL="0">
              <a:buNone/>
            </a:pPr>
            <a:r>
              <a:rPr lang="en-US" sz="1200" b="1" spc="200" kern="0" dirty="0">
                <a:solidFill>
                  <a:srgbClr val="8B5E3C"/>
                </a:solidFill>
                <a:latin typeface="Calibri" pitchFamily="34" charset="0"/>
                <a:ea typeface="Calibri" pitchFamily="34" charset="-122"/>
                <a:cs typeface="Calibri" pitchFamily="34" charset="-120"/>
              </a:rPr>
              <a:t>SÍNTESIS VISUAL</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t"/>
          <a:lstStyle/>
          <a:p>
            <a:pPr indent="0" marL="0">
              <a:buNone/>
            </a:pPr>
            <a:r>
              <a:rPr lang="en-US" sz="2900" b="1" dirty="0">
                <a:solidFill>
                  <a:srgbClr val="5C3A21"/>
                </a:solidFill>
                <a:latin typeface="Cambria" pitchFamily="34" charset="0"/>
                <a:ea typeface="Cambria" pitchFamily="34" charset="-122"/>
                <a:cs typeface="Cambria" pitchFamily="34" charset="-120"/>
              </a:rPr>
              <a:t>Línea de tiempo: hitos clave de la historia de la anestesia</a:t>
            </a:r>
            <a:endParaRPr lang="en-US" sz="2900" dirty="0"/>
          </a:p>
        </p:txBody>
      </p:sp>
      <p:sp>
        <p:nvSpPr>
          <p:cNvPr id="4" name="Shape 2"/>
          <p:cNvSpPr/>
          <p:nvPr/>
        </p:nvSpPr>
        <p:spPr>
          <a:xfrm>
            <a:off x="868680" y="3794760"/>
            <a:ext cx="10469880" cy="0"/>
          </a:xfrm>
          <a:prstGeom prst="line">
            <a:avLst/>
          </a:prstGeom>
          <a:noFill/>
          <a:ln w="31750">
            <a:solidFill>
              <a:srgbClr val="C9A66B"/>
            </a:solidFill>
            <a:prstDash val="solid"/>
          </a:ln>
        </p:spPr>
      </p:sp>
      <p:sp>
        <p:nvSpPr>
          <p:cNvPr id="5" name="Shape 3"/>
          <p:cNvSpPr/>
          <p:nvPr/>
        </p:nvSpPr>
        <p:spPr>
          <a:xfrm>
            <a:off x="786384" y="3712464"/>
            <a:ext cx="164592" cy="164592"/>
          </a:xfrm>
          <a:prstGeom prst="ellipse">
            <a:avLst/>
          </a:prstGeom>
          <a:solidFill>
            <a:srgbClr val="5C3A21"/>
          </a:solidFill>
          <a:ln w="19050">
            <a:solidFill>
              <a:srgbClr val="FFFFFF"/>
            </a:solidFill>
            <a:prstDash val="solid"/>
          </a:ln>
        </p:spPr>
      </p:sp>
      <p:sp>
        <p:nvSpPr>
          <p:cNvPr id="6" name="Shape 4"/>
          <p:cNvSpPr/>
          <p:nvPr/>
        </p:nvSpPr>
        <p:spPr>
          <a:xfrm>
            <a:off x="868680" y="3227832"/>
            <a:ext cx="0" cy="484632"/>
          </a:xfrm>
          <a:prstGeom prst="line">
            <a:avLst/>
          </a:prstGeom>
          <a:noFill/>
          <a:ln w="12700">
            <a:solidFill>
              <a:srgbClr val="C9A66B"/>
            </a:solidFill>
            <a:prstDash val="dash"/>
          </a:ln>
        </p:spPr>
      </p:sp>
      <p:sp>
        <p:nvSpPr>
          <p:cNvPr id="7" name="Text 5"/>
          <p:cNvSpPr/>
          <p:nvPr/>
        </p:nvSpPr>
        <p:spPr>
          <a:xfrm>
            <a:off x="274320" y="2743200"/>
            <a:ext cx="1188720" cy="292608"/>
          </a:xfrm>
          <a:prstGeom prst="rect">
            <a:avLst/>
          </a:prstGeom>
          <a:noFill/>
          <a:ln/>
        </p:spPr>
        <p:txBody>
          <a:bodyPr wrap="square" lIns="0" tIns="0" rIns="0" bIns="0" rtlCol="0" anchor="ctr"/>
          <a:lstStyle/>
          <a:p>
            <a:pPr algn="ctr" indent="0" marL="0">
              <a:buNone/>
            </a:pPr>
            <a:r>
              <a:rPr lang="en-US" sz="1350" b="1" dirty="0">
                <a:solidFill>
                  <a:srgbClr val="5C3A21"/>
                </a:solidFill>
                <a:latin typeface="Cambria" pitchFamily="34" charset="0"/>
                <a:ea typeface="Cambria" pitchFamily="34" charset="-122"/>
                <a:cs typeface="Cambria" pitchFamily="34" charset="-120"/>
              </a:rPr>
              <a:t>1846</a:t>
            </a:r>
            <a:endParaRPr lang="en-US" sz="1350" dirty="0"/>
          </a:p>
        </p:txBody>
      </p:sp>
      <p:sp>
        <p:nvSpPr>
          <p:cNvPr id="8" name="Text 6"/>
          <p:cNvSpPr/>
          <p:nvPr/>
        </p:nvSpPr>
        <p:spPr>
          <a:xfrm>
            <a:off x="228600" y="3017520"/>
            <a:ext cx="1280160" cy="548640"/>
          </a:xfrm>
          <a:prstGeom prst="rect">
            <a:avLst/>
          </a:prstGeom>
          <a:noFill/>
          <a:ln/>
        </p:spPr>
        <p:txBody>
          <a:bodyPr wrap="square" lIns="0" tIns="0" rIns="0" bIns="0" rtlCol="0" anchor="t"/>
          <a:lstStyle/>
          <a:p>
            <a:pPr algn="ctr" indent="0" marL="0">
              <a:lnSpc>
                <a:spcPct val="110000"/>
              </a:lnSpc>
              <a:buNone/>
            </a:pPr>
            <a:r>
              <a:rPr lang="en-US" sz="880" dirty="0">
                <a:solidFill>
                  <a:srgbClr val="3A2E22"/>
                </a:solidFill>
                <a:latin typeface="Calibri" pitchFamily="34" charset="0"/>
                <a:ea typeface="Calibri" pitchFamily="34" charset="-122"/>
                <a:cs typeface="Calibri" pitchFamily="34" charset="-120"/>
              </a:rPr>
              <a:t>Éter (Morton)</a:t>
            </a:r>
            <a:endParaRPr lang="en-US" sz="880" dirty="0"/>
          </a:p>
        </p:txBody>
      </p:sp>
      <p:sp>
        <p:nvSpPr>
          <p:cNvPr id="9" name="Shape 7"/>
          <p:cNvSpPr/>
          <p:nvPr/>
        </p:nvSpPr>
        <p:spPr>
          <a:xfrm>
            <a:off x="1738191" y="3712464"/>
            <a:ext cx="164592" cy="164592"/>
          </a:xfrm>
          <a:prstGeom prst="ellipse">
            <a:avLst/>
          </a:prstGeom>
          <a:solidFill>
            <a:srgbClr val="5C3A21"/>
          </a:solidFill>
          <a:ln w="19050">
            <a:solidFill>
              <a:srgbClr val="FFFFFF"/>
            </a:solidFill>
            <a:prstDash val="solid"/>
          </a:ln>
        </p:spPr>
      </p:sp>
      <p:sp>
        <p:nvSpPr>
          <p:cNvPr id="10" name="Shape 8"/>
          <p:cNvSpPr/>
          <p:nvPr/>
        </p:nvSpPr>
        <p:spPr>
          <a:xfrm>
            <a:off x="1820487" y="3877056"/>
            <a:ext cx="0" cy="484632"/>
          </a:xfrm>
          <a:prstGeom prst="line">
            <a:avLst/>
          </a:prstGeom>
          <a:noFill/>
          <a:ln w="12700">
            <a:solidFill>
              <a:srgbClr val="C9A66B"/>
            </a:solidFill>
            <a:prstDash val="dash"/>
          </a:ln>
        </p:spPr>
      </p:sp>
      <p:sp>
        <p:nvSpPr>
          <p:cNvPr id="11" name="Text 9"/>
          <p:cNvSpPr/>
          <p:nvPr/>
        </p:nvSpPr>
        <p:spPr>
          <a:xfrm>
            <a:off x="1226127" y="4361688"/>
            <a:ext cx="1188720" cy="292608"/>
          </a:xfrm>
          <a:prstGeom prst="rect">
            <a:avLst/>
          </a:prstGeom>
          <a:noFill/>
          <a:ln/>
        </p:spPr>
        <p:txBody>
          <a:bodyPr wrap="square" lIns="0" tIns="0" rIns="0" bIns="0" rtlCol="0" anchor="ctr"/>
          <a:lstStyle/>
          <a:p>
            <a:pPr algn="ctr" indent="0" marL="0">
              <a:buNone/>
            </a:pPr>
            <a:r>
              <a:rPr lang="en-US" sz="1350" b="1" dirty="0">
                <a:solidFill>
                  <a:srgbClr val="5C3A21"/>
                </a:solidFill>
                <a:latin typeface="Cambria" pitchFamily="34" charset="0"/>
                <a:ea typeface="Cambria" pitchFamily="34" charset="-122"/>
                <a:cs typeface="Cambria" pitchFamily="34" charset="-120"/>
              </a:rPr>
              <a:t>1847</a:t>
            </a:r>
            <a:endParaRPr lang="en-US" sz="1350" dirty="0"/>
          </a:p>
        </p:txBody>
      </p:sp>
      <p:sp>
        <p:nvSpPr>
          <p:cNvPr id="12" name="Text 10"/>
          <p:cNvSpPr/>
          <p:nvPr/>
        </p:nvSpPr>
        <p:spPr>
          <a:xfrm>
            <a:off x="1180407" y="4636008"/>
            <a:ext cx="1280160" cy="548640"/>
          </a:xfrm>
          <a:prstGeom prst="rect">
            <a:avLst/>
          </a:prstGeom>
          <a:noFill/>
          <a:ln/>
        </p:spPr>
        <p:txBody>
          <a:bodyPr wrap="square" lIns="0" tIns="0" rIns="0" bIns="0" rtlCol="0" anchor="t"/>
          <a:lstStyle/>
          <a:p>
            <a:pPr algn="ctr" indent="0" marL="0">
              <a:lnSpc>
                <a:spcPct val="110000"/>
              </a:lnSpc>
              <a:buNone/>
            </a:pPr>
            <a:r>
              <a:rPr lang="en-US" sz="880" dirty="0">
                <a:solidFill>
                  <a:srgbClr val="3A2E22"/>
                </a:solidFill>
                <a:latin typeface="Calibri" pitchFamily="34" charset="0"/>
                <a:ea typeface="Calibri" pitchFamily="34" charset="-122"/>
                <a:cs typeface="Calibri" pitchFamily="34" charset="-120"/>
              </a:rPr>
              <a:t>Cloroformo (Simpson)</a:t>
            </a:r>
            <a:endParaRPr lang="en-US" sz="880" dirty="0"/>
          </a:p>
        </p:txBody>
      </p:sp>
      <p:sp>
        <p:nvSpPr>
          <p:cNvPr id="13" name="Shape 11"/>
          <p:cNvSpPr/>
          <p:nvPr/>
        </p:nvSpPr>
        <p:spPr>
          <a:xfrm>
            <a:off x="2689999" y="3712464"/>
            <a:ext cx="164592" cy="164592"/>
          </a:xfrm>
          <a:prstGeom prst="ellipse">
            <a:avLst/>
          </a:prstGeom>
          <a:solidFill>
            <a:srgbClr val="5C3A21"/>
          </a:solidFill>
          <a:ln w="19050">
            <a:solidFill>
              <a:srgbClr val="FFFFFF"/>
            </a:solidFill>
            <a:prstDash val="solid"/>
          </a:ln>
        </p:spPr>
      </p:sp>
      <p:sp>
        <p:nvSpPr>
          <p:cNvPr id="14" name="Shape 12"/>
          <p:cNvSpPr/>
          <p:nvPr/>
        </p:nvSpPr>
        <p:spPr>
          <a:xfrm>
            <a:off x="2772295" y="3227832"/>
            <a:ext cx="0" cy="484632"/>
          </a:xfrm>
          <a:prstGeom prst="line">
            <a:avLst/>
          </a:prstGeom>
          <a:noFill/>
          <a:ln w="12700">
            <a:solidFill>
              <a:srgbClr val="C9A66B"/>
            </a:solidFill>
            <a:prstDash val="dash"/>
          </a:ln>
        </p:spPr>
      </p:sp>
      <p:sp>
        <p:nvSpPr>
          <p:cNvPr id="15" name="Text 13"/>
          <p:cNvSpPr/>
          <p:nvPr/>
        </p:nvSpPr>
        <p:spPr>
          <a:xfrm>
            <a:off x="2177935" y="2743200"/>
            <a:ext cx="1188720" cy="292608"/>
          </a:xfrm>
          <a:prstGeom prst="rect">
            <a:avLst/>
          </a:prstGeom>
          <a:noFill/>
          <a:ln/>
        </p:spPr>
        <p:txBody>
          <a:bodyPr wrap="square" lIns="0" tIns="0" rIns="0" bIns="0" rtlCol="0" anchor="ctr"/>
          <a:lstStyle/>
          <a:p>
            <a:pPr algn="ctr" indent="0" marL="0">
              <a:buNone/>
            </a:pPr>
            <a:r>
              <a:rPr lang="en-US" sz="1350" b="1" dirty="0">
                <a:solidFill>
                  <a:srgbClr val="5C3A21"/>
                </a:solidFill>
                <a:latin typeface="Cambria" pitchFamily="34" charset="0"/>
                <a:ea typeface="Cambria" pitchFamily="34" charset="-122"/>
                <a:cs typeface="Cambria" pitchFamily="34" charset="-120"/>
              </a:rPr>
              <a:t>1884</a:t>
            </a:r>
            <a:endParaRPr lang="en-US" sz="1350" dirty="0"/>
          </a:p>
        </p:txBody>
      </p:sp>
      <p:sp>
        <p:nvSpPr>
          <p:cNvPr id="16" name="Text 14"/>
          <p:cNvSpPr/>
          <p:nvPr/>
        </p:nvSpPr>
        <p:spPr>
          <a:xfrm>
            <a:off x="2132215" y="3017520"/>
            <a:ext cx="1280160" cy="548640"/>
          </a:xfrm>
          <a:prstGeom prst="rect">
            <a:avLst/>
          </a:prstGeom>
          <a:noFill/>
          <a:ln/>
        </p:spPr>
        <p:txBody>
          <a:bodyPr wrap="square" lIns="0" tIns="0" rIns="0" bIns="0" rtlCol="0" anchor="t"/>
          <a:lstStyle/>
          <a:p>
            <a:pPr algn="ctr" indent="0" marL="0">
              <a:lnSpc>
                <a:spcPct val="110000"/>
              </a:lnSpc>
              <a:buNone/>
            </a:pPr>
            <a:r>
              <a:rPr lang="en-US" sz="880" dirty="0">
                <a:solidFill>
                  <a:srgbClr val="3A2E22"/>
                </a:solidFill>
                <a:latin typeface="Calibri" pitchFamily="34" charset="0"/>
                <a:ea typeface="Calibri" pitchFamily="34" charset="-122"/>
                <a:cs typeface="Calibri" pitchFamily="34" charset="-120"/>
              </a:rPr>
              <a:t>Cocaína (Koller)</a:t>
            </a:r>
            <a:endParaRPr lang="en-US" sz="880" dirty="0"/>
          </a:p>
        </p:txBody>
      </p:sp>
      <p:sp>
        <p:nvSpPr>
          <p:cNvPr id="17" name="Shape 15"/>
          <p:cNvSpPr/>
          <p:nvPr/>
        </p:nvSpPr>
        <p:spPr>
          <a:xfrm>
            <a:off x="3641806" y="3712464"/>
            <a:ext cx="164592" cy="164592"/>
          </a:xfrm>
          <a:prstGeom prst="ellipse">
            <a:avLst/>
          </a:prstGeom>
          <a:solidFill>
            <a:srgbClr val="5C3A21"/>
          </a:solidFill>
          <a:ln w="19050">
            <a:solidFill>
              <a:srgbClr val="FFFFFF"/>
            </a:solidFill>
            <a:prstDash val="solid"/>
          </a:ln>
        </p:spPr>
      </p:sp>
      <p:sp>
        <p:nvSpPr>
          <p:cNvPr id="18" name="Shape 16"/>
          <p:cNvSpPr/>
          <p:nvPr/>
        </p:nvSpPr>
        <p:spPr>
          <a:xfrm>
            <a:off x="3724102" y="3877056"/>
            <a:ext cx="0" cy="484632"/>
          </a:xfrm>
          <a:prstGeom prst="line">
            <a:avLst/>
          </a:prstGeom>
          <a:noFill/>
          <a:ln w="12700">
            <a:solidFill>
              <a:srgbClr val="C9A66B"/>
            </a:solidFill>
            <a:prstDash val="dash"/>
          </a:ln>
        </p:spPr>
      </p:sp>
      <p:sp>
        <p:nvSpPr>
          <p:cNvPr id="19" name="Text 17"/>
          <p:cNvSpPr/>
          <p:nvPr/>
        </p:nvSpPr>
        <p:spPr>
          <a:xfrm>
            <a:off x="3129742" y="4361688"/>
            <a:ext cx="1188720" cy="292608"/>
          </a:xfrm>
          <a:prstGeom prst="rect">
            <a:avLst/>
          </a:prstGeom>
          <a:noFill/>
          <a:ln/>
        </p:spPr>
        <p:txBody>
          <a:bodyPr wrap="square" lIns="0" tIns="0" rIns="0" bIns="0" rtlCol="0" anchor="ctr"/>
          <a:lstStyle/>
          <a:p>
            <a:pPr algn="ctr" indent="0" marL="0">
              <a:buNone/>
            </a:pPr>
            <a:r>
              <a:rPr lang="en-US" sz="1350" b="1" dirty="0">
                <a:solidFill>
                  <a:srgbClr val="5C3A21"/>
                </a:solidFill>
                <a:latin typeface="Cambria" pitchFamily="34" charset="0"/>
                <a:ea typeface="Cambria" pitchFamily="34" charset="-122"/>
                <a:cs typeface="Cambria" pitchFamily="34" charset="-120"/>
              </a:rPr>
              <a:t>1898</a:t>
            </a:r>
            <a:endParaRPr lang="en-US" sz="1350" dirty="0"/>
          </a:p>
        </p:txBody>
      </p:sp>
      <p:sp>
        <p:nvSpPr>
          <p:cNvPr id="20" name="Text 18"/>
          <p:cNvSpPr/>
          <p:nvPr/>
        </p:nvSpPr>
        <p:spPr>
          <a:xfrm>
            <a:off x="3084022" y="4636008"/>
            <a:ext cx="1280160" cy="548640"/>
          </a:xfrm>
          <a:prstGeom prst="rect">
            <a:avLst/>
          </a:prstGeom>
          <a:noFill/>
          <a:ln/>
        </p:spPr>
        <p:txBody>
          <a:bodyPr wrap="square" lIns="0" tIns="0" rIns="0" bIns="0" rtlCol="0" anchor="t"/>
          <a:lstStyle/>
          <a:p>
            <a:pPr algn="ctr" indent="0" marL="0">
              <a:lnSpc>
                <a:spcPct val="110000"/>
              </a:lnSpc>
              <a:buNone/>
            </a:pPr>
            <a:r>
              <a:rPr lang="en-US" sz="880" dirty="0">
                <a:solidFill>
                  <a:srgbClr val="3A2E22"/>
                </a:solidFill>
                <a:latin typeface="Calibri" pitchFamily="34" charset="0"/>
                <a:ea typeface="Calibri" pitchFamily="34" charset="-122"/>
                <a:cs typeface="Calibri" pitchFamily="34" charset="-120"/>
              </a:rPr>
              <a:t>Raquídea (Bier)</a:t>
            </a:r>
            <a:endParaRPr lang="en-US" sz="880" dirty="0"/>
          </a:p>
        </p:txBody>
      </p:sp>
      <p:sp>
        <p:nvSpPr>
          <p:cNvPr id="21" name="Shape 19"/>
          <p:cNvSpPr/>
          <p:nvPr/>
        </p:nvSpPr>
        <p:spPr>
          <a:xfrm>
            <a:off x="4593613" y="3712464"/>
            <a:ext cx="164592" cy="164592"/>
          </a:xfrm>
          <a:prstGeom prst="ellipse">
            <a:avLst/>
          </a:prstGeom>
          <a:solidFill>
            <a:srgbClr val="5C3A21"/>
          </a:solidFill>
          <a:ln w="19050">
            <a:solidFill>
              <a:srgbClr val="FFFFFF"/>
            </a:solidFill>
            <a:prstDash val="solid"/>
          </a:ln>
        </p:spPr>
      </p:sp>
      <p:sp>
        <p:nvSpPr>
          <p:cNvPr id="22" name="Shape 20"/>
          <p:cNvSpPr/>
          <p:nvPr/>
        </p:nvSpPr>
        <p:spPr>
          <a:xfrm>
            <a:off x="4675909" y="3227832"/>
            <a:ext cx="0" cy="484632"/>
          </a:xfrm>
          <a:prstGeom prst="line">
            <a:avLst/>
          </a:prstGeom>
          <a:noFill/>
          <a:ln w="12700">
            <a:solidFill>
              <a:srgbClr val="C9A66B"/>
            </a:solidFill>
            <a:prstDash val="dash"/>
          </a:ln>
        </p:spPr>
      </p:sp>
      <p:sp>
        <p:nvSpPr>
          <p:cNvPr id="23" name="Text 21"/>
          <p:cNvSpPr/>
          <p:nvPr/>
        </p:nvSpPr>
        <p:spPr>
          <a:xfrm>
            <a:off x="4081549" y="2743200"/>
            <a:ext cx="1188720" cy="292608"/>
          </a:xfrm>
          <a:prstGeom prst="rect">
            <a:avLst/>
          </a:prstGeom>
          <a:noFill/>
          <a:ln/>
        </p:spPr>
        <p:txBody>
          <a:bodyPr wrap="square" lIns="0" tIns="0" rIns="0" bIns="0" rtlCol="0" anchor="ctr"/>
          <a:lstStyle/>
          <a:p>
            <a:pPr algn="ctr" indent="0" marL="0">
              <a:buNone/>
            </a:pPr>
            <a:r>
              <a:rPr lang="en-US" sz="1350" b="1" dirty="0">
                <a:solidFill>
                  <a:srgbClr val="5C3A21"/>
                </a:solidFill>
                <a:latin typeface="Cambria" pitchFamily="34" charset="0"/>
                <a:ea typeface="Cambria" pitchFamily="34" charset="-122"/>
                <a:cs typeface="Cambria" pitchFamily="34" charset="-120"/>
              </a:rPr>
              <a:t>1905</a:t>
            </a:r>
            <a:endParaRPr lang="en-US" sz="1350" dirty="0"/>
          </a:p>
        </p:txBody>
      </p:sp>
      <p:sp>
        <p:nvSpPr>
          <p:cNvPr id="24" name="Text 22"/>
          <p:cNvSpPr/>
          <p:nvPr/>
        </p:nvSpPr>
        <p:spPr>
          <a:xfrm>
            <a:off x="4035829" y="3017520"/>
            <a:ext cx="1280160" cy="548640"/>
          </a:xfrm>
          <a:prstGeom prst="rect">
            <a:avLst/>
          </a:prstGeom>
          <a:noFill/>
          <a:ln/>
        </p:spPr>
        <p:txBody>
          <a:bodyPr wrap="square" lIns="0" tIns="0" rIns="0" bIns="0" rtlCol="0" anchor="t"/>
          <a:lstStyle/>
          <a:p>
            <a:pPr algn="ctr" indent="0" marL="0">
              <a:lnSpc>
                <a:spcPct val="110000"/>
              </a:lnSpc>
              <a:buNone/>
            </a:pPr>
            <a:r>
              <a:rPr lang="en-US" sz="880" dirty="0">
                <a:solidFill>
                  <a:srgbClr val="3A2E22"/>
                </a:solidFill>
                <a:latin typeface="Calibri" pitchFamily="34" charset="0"/>
                <a:ea typeface="Calibri" pitchFamily="34" charset="-122"/>
                <a:cs typeface="Calibri" pitchFamily="34" charset="-120"/>
              </a:rPr>
              <a:t>Procaína / ASA</a:t>
            </a:r>
            <a:endParaRPr lang="en-US" sz="880" dirty="0"/>
          </a:p>
        </p:txBody>
      </p:sp>
      <p:sp>
        <p:nvSpPr>
          <p:cNvPr id="25" name="Shape 23"/>
          <p:cNvSpPr/>
          <p:nvPr/>
        </p:nvSpPr>
        <p:spPr>
          <a:xfrm>
            <a:off x="5545420" y="3712464"/>
            <a:ext cx="164592" cy="164592"/>
          </a:xfrm>
          <a:prstGeom prst="ellipse">
            <a:avLst/>
          </a:prstGeom>
          <a:solidFill>
            <a:srgbClr val="5C3A21"/>
          </a:solidFill>
          <a:ln w="19050">
            <a:solidFill>
              <a:srgbClr val="FFFFFF"/>
            </a:solidFill>
            <a:prstDash val="solid"/>
          </a:ln>
        </p:spPr>
      </p:sp>
      <p:sp>
        <p:nvSpPr>
          <p:cNvPr id="26" name="Shape 24"/>
          <p:cNvSpPr/>
          <p:nvPr/>
        </p:nvSpPr>
        <p:spPr>
          <a:xfrm>
            <a:off x="5627716" y="3877056"/>
            <a:ext cx="0" cy="484632"/>
          </a:xfrm>
          <a:prstGeom prst="line">
            <a:avLst/>
          </a:prstGeom>
          <a:noFill/>
          <a:ln w="12700">
            <a:solidFill>
              <a:srgbClr val="C9A66B"/>
            </a:solidFill>
            <a:prstDash val="dash"/>
          </a:ln>
        </p:spPr>
      </p:sp>
      <p:sp>
        <p:nvSpPr>
          <p:cNvPr id="27" name="Text 25"/>
          <p:cNvSpPr/>
          <p:nvPr/>
        </p:nvSpPr>
        <p:spPr>
          <a:xfrm>
            <a:off x="5033356" y="4361688"/>
            <a:ext cx="1188720" cy="292608"/>
          </a:xfrm>
          <a:prstGeom prst="rect">
            <a:avLst/>
          </a:prstGeom>
          <a:noFill/>
          <a:ln/>
        </p:spPr>
        <p:txBody>
          <a:bodyPr wrap="square" lIns="0" tIns="0" rIns="0" bIns="0" rtlCol="0" anchor="ctr"/>
          <a:lstStyle/>
          <a:p>
            <a:pPr algn="ctr" indent="0" marL="0">
              <a:buNone/>
            </a:pPr>
            <a:r>
              <a:rPr lang="en-US" sz="1350" b="1" dirty="0">
                <a:solidFill>
                  <a:srgbClr val="5C3A21"/>
                </a:solidFill>
                <a:latin typeface="Cambria" pitchFamily="34" charset="0"/>
                <a:ea typeface="Cambria" pitchFamily="34" charset="-122"/>
                <a:cs typeface="Cambria" pitchFamily="34" charset="-120"/>
              </a:rPr>
              <a:t>1927</a:t>
            </a:r>
            <a:endParaRPr lang="en-US" sz="1350" dirty="0"/>
          </a:p>
        </p:txBody>
      </p:sp>
      <p:sp>
        <p:nvSpPr>
          <p:cNvPr id="28" name="Text 26"/>
          <p:cNvSpPr/>
          <p:nvPr/>
        </p:nvSpPr>
        <p:spPr>
          <a:xfrm>
            <a:off x="4987636" y="4636008"/>
            <a:ext cx="1280160" cy="548640"/>
          </a:xfrm>
          <a:prstGeom prst="rect">
            <a:avLst/>
          </a:prstGeom>
          <a:noFill/>
          <a:ln/>
        </p:spPr>
        <p:txBody>
          <a:bodyPr wrap="square" lIns="0" tIns="0" rIns="0" bIns="0" rtlCol="0" anchor="t"/>
          <a:lstStyle/>
          <a:p>
            <a:pPr algn="ctr" indent="0" marL="0">
              <a:lnSpc>
                <a:spcPct val="110000"/>
              </a:lnSpc>
              <a:buNone/>
            </a:pPr>
            <a:r>
              <a:rPr lang="en-US" sz="880" dirty="0">
                <a:solidFill>
                  <a:srgbClr val="3A2E22"/>
                </a:solidFill>
                <a:latin typeface="Calibri" pitchFamily="34" charset="0"/>
                <a:ea typeface="Calibri" pitchFamily="34" charset="-122"/>
                <a:cs typeface="Calibri" pitchFamily="34" charset="-120"/>
              </a:rPr>
              <a:t>Depto. académico (Waters)</a:t>
            </a:r>
            <a:endParaRPr lang="en-US" sz="880" dirty="0"/>
          </a:p>
        </p:txBody>
      </p:sp>
      <p:sp>
        <p:nvSpPr>
          <p:cNvPr id="29" name="Shape 27"/>
          <p:cNvSpPr/>
          <p:nvPr/>
        </p:nvSpPr>
        <p:spPr>
          <a:xfrm>
            <a:off x="6497228" y="3712464"/>
            <a:ext cx="164592" cy="164592"/>
          </a:xfrm>
          <a:prstGeom prst="ellipse">
            <a:avLst/>
          </a:prstGeom>
          <a:solidFill>
            <a:srgbClr val="5C3A21"/>
          </a:solidFill>
          <a:ln w="19050">
            <a:solidFill>
              <a:srgbClr val="FFFFFF"/>
            </a:solidFill>
            <a:prstDash val="solid"/>
          </a:ln>
        </p:spPr>
      </p:sp>
      <p:sp>
        <p:nvSpPr>
          <p:cNvPr id="30" name="Shape 28"/>
          <p:cNvSpPr/>
          <p:nvPr/>
        </p:nvSpPr>
        <p:spPr>
          <a:xfrm>
            <a:off x="6579524" y="3227832"/>
            <a:ext cx="0" cy="484632"/>
          </a:xfrm>
          <a:prstGeom prst="line">
            <a:avLst/>
          </a:prstGeom>
          <a:noFill/>
          <a:ln w="12700">
            <a:solidFill>
              <a:srgbClr val="C9A66B"/>
            </a:solidFill>
            <a:prstDash val="dash"/>
          </a:ln>
        </p:spPr>
      </p:sp>
      <p:sp>
        <p:nvSpPr>
          <p:cNvPr id="31" name="Text 29"/>
          <p:cNvSpPr/>
          <p:nvPr/>
        </p:nvSpPr>
        <p:spPr>
          <a:xfrm>
            <a:off x="5985164" y="2743200"/>
            <a:ext cx="1188720" cy="292608"/>
          </a:xfrm>
          <a:prstGeom prst="rect">
            <a:avLst/>
          </a:prstGeom>
          <a:noFill/>
          <a:ln/>
        </p:spPr>
        <p:txBody>
          <a:bodyPr wrap="square" lIns="0" tIns="0" rIns="0" bIns="0" rtlCol="0" anchor="ctr"/>
          <a:lstStyle/>
          <a:p>
            <a:pPr algn="ctr" indent="0" marL="0">
              <a:buNone/>
            </a:pPr>
            <a:r>
              <a:rPr lang="en-US" sz="1350" b="1" dirty="0">
                <a:solidFill>
                  <a:srgbClr val="5C3A21"/>
                </a:solidFill>
                <a:latin typeface="Cambria" pitchFamily="34" charset="0"/>
                <a:ea typeface="Cambria" pitchFamily="34" charset="-122"/>
                <a:cs typeface="Cambria" pitchFamily="34" charset="-120"/>
              </a:rPr>
              <a:t>1934</a:t>
            </a:r>
            <a:endParaRPr lang="en-US" sz="1350" dirty="0"/>
          </a:p>
        </p:txBody>
      </p:sp>
      <p:sp>
        <p:nvSpPr>
          <p:cNvPr id="32" name="Text 30"/>
          <p:cNvSpPr/>
          <p:nvPr/>
        </p:nvSpPr>
        <p:spPr>
          <a:xfrm>
            <a:off x="5939444" y="3017520"/>
            <a:ext cx="1280160" cy="548640"/>
          </a:xfrm>
          <a:prstGeom prst="rect">
            <a:avLst/>
          </a:prstGeom>
          <a:noFill/>
          <a:ln/>
        </p:spPr>
        <p:txBody>
          <a:bodyPr wrap="square" lIns="0" tIns="0" rIns="0" bIns="0" rtlCol="0" anchor="t"/>
          <a:lstStyle/>
          <a:p>
            <a:pPr algn="ctr" indent="0" marL="0">
              <a:lnSpc>
                <a:spcPct val="110000"/>
              </a:lnSpc>
              <a:buNone/>
            </a:pPr>
            <a:r>
              <a:rPr lang="en-US" sz="880" dirty="0">
                <a:solidFill>
                  <a:srgbClr val="3A2E22"/>
                </a:solidFill>
                <a:latin typeface="Calibri" pitchFamily="34" charset="0"/>
                <a:ea typeface="Calibri" pitchFamily="34" charset="-122"/>
                <a:cs typeface="Calibri" pitchFamily="34" charset="-120"/>
              </a:rPr>
              <a:t>Tiopental (Lundy)</a:t>
            </a:r>
            <a:endParaRPr lang="en-US" sz="880" dirty="0"/>
          </a:p>
        </p:txBody>
      </p:sp>
      <p:sp>
        <p:nvSpPr>
          <p:cNvPr id="33" name="Shape 31"/>
          <p:cNvSpPr/>
          <p:nvPr/>
        </p:nvSpPr>
        <p:spPr>
          <a:xfrm>
            <a:off x="7449035" y="3712464"/>
            <a:ext cx="164592" cy="164592"/>
          </a:xfrm>
          <a:prstGeom prst="ellipse">
            <a:avLst/>
          </a:prstGeom>
          <a:solidFill>
            <a:srgbClr val="5C3A21"/>
          </a:solidFill>
          <a:ln w="19050">
            <a:solidFill>
              <a:srgbClr val="FFFFFF"/>
            </a:solidFill>
            <a:prstDash val="solid"/>
          </a:ln>
        </p:spPr>
      </p:sp>
      <p:sp>
        <p:nvSpPr>
          <p:cNvPr id="34" name="Shape 32"/>
          <p:cNvSpPr/>
          <p:nvPr/>
        </p:nvSpPr>
        <p:spPr>
          <a:xfrm>
            <a:off x="7531331" y="3877056"/>
            <a:ext cx="0" cy="484632"/>
          </a:xfrm>
          <a:prstGeom prst="line">
            <a:avLst/>
          </a:prstGeom>
          <a:noFill/>
          <a:ln w="12700">
            <a:solidFill>
              <a:srgbClr val="C9A66B"/>
            </a:solidFill>
            <a:prstDash val="dash"/>
          </a:ln>
        </p:spPr>
      </p:sp>
      <p:sp>
        <p:nvSpPr>
          <p:cNvPr id="35" name="Text 33"/>
          <p:cNvSpPr/>
          <p:nvPr/>
        </p:nvSpPr>
        <p:spPr>
          <a:xfrm>
            <a:off x="6936971" y="4361688"/>
            <a:ext cx="1188720" cy="292608"/>
          </a:xfrm>
          <a:prstGeom prst="rect">
            <a:avLst/>
          </a:prstGeom>
          <a:noFill/>
          <a:ln/>
        </p:spPr>
        <p:txBody>
          <a:bodyPr wrap="square" lIns="0" tIns="0" rIns="0" bIns="0" rtlCol="0" anchor="ctr"/>
          <a:lstStyle/>
          <a:p>
            <a:pPr algn="ctr" indent="0" marL="0">
              <a:buNone/>
            </a:pPr>
            <a:r>
              <a:rPr lang="en-US" sz="1350" b="1" dirty="0">
                <a:solidFill>
                  <a:srgbClr val="5C3A21"/>
                </a:solidFill>
                <a:latin typeface="Cambria" pitchFamily="34" charset="0"/>
                <a:ea typeface="Cambria" pitchFamily="34" charset="-122"/>
                <a:cs typeface="Cambria" pitchFamily="34" charset="-120"/>
              </a:rPr>
              <a:t>1942</a:t>
            </a:r>
            <a:endParaRPr lang="en-US" sz="1350" dirty="0"/>
          </a:p>
        </p:txBody>
      </p:sp>
      <p:sp>
        <p:nvSpPr>
          <p:cNvPr id="36" name="Text 34"/>
          <p:cNvSpPr/>
          <p:nvPr/>
        </p:nvSpPr>
        <p:spPr>
          <a:xfrm>
            <a:off x="6891251" y="4636008"/>
            <a:ext cx="1280160" cy="548640"/>
          </a:xfrm>
          <a:prstGeom prst="rect">
            <a:avLst/>
          </a:prstGeom>
          <a:noFill/>
          <a:ln/>
        </p:spPr>
        <p:txBody>
          <a:bodyPr wrap="square" lIns="0" tIns="0" rIns="0" bIns="0" rtlCol="0" anchor="t"/>
          <a:lstStyle/>
          <a:p>
            <a:pPr algn="ctr" indent="0" marL="0">
              <a:lnSpc>
                <a:spcPct val="110000"/>
              </a:lnSpc>
              <a:buNone/>
            </a:pPr>
            <a:r>
              <a:rPr lang="en-US" sz="880" dirty="0">
                <a:solidFill>
                  <a:srgbClr val="3A2E22"/>
                </a:solidFill>
                <a:latin typeface="Calibri" pitchFamily="34" charset="0"/>
                <a:ea typeface="Calibri" pitchFamily="34" charset="-122"/>
                <a:cs typeface="Calibri" pitchFamily="34" charset="-120"/>
              </a:rPr>
              <a:t>Curare (Griffith)</a:t>
            </a:r>
            <a:endParaRPr lang="en-US" sz="880" dirty="0"/>
          </a:p>
        </p:txBody>
      </p:sp>
      <p:sp>
        <p:nvSpPr>
          <p:cNvPr id="37" name="Shape 35"/>
          <p:cNvSpPr/>
          <p:nvPr/>
        </p:nvSpPr>
        <p:spPr>
          <a:xfrm>
            <a:off x="8400842" y="3712464"/>
            <a:ext cx="164592" cy="164592"/>
          </a:xfrm>
          <a:prstGeom prst="ellipse">
            <a:avLst/>
          </a:prstGeom>
          <a:solidFill>
            <a:srgbClr val="5C3A21"/>
          </a:solidFill>
          <a:ln w="19050">
            <a:solidFill>
              <a:srgbClr val="FFFFFF"/>
            </a:solidFill>
            <a:prstDash val="solid"/>
          </a:ln>
        </p:spPr>
      </p:sp>
      <p:sp>
        <p:nvSpPr>
          <p:cNvPr id="38" name="Shape 36"/>
          <p:cNvSpPr/>
          <p:nvPr/>
        </p:nvSpPr>
        <p:spPr>
          <a:xfrm>
            <a:off x="8483138" y="3227832"/>
            <a:ext cx="0" cy="484632"/>
          </a:xfrm>
          <a:prstGeom prst="line">
            <a:avLst/>
          </a:prstGeom>
          <a:noFill/>
          <a:ln w="12700">
            <a:solidFill>
              <a:srgbClr val="C9A66B"/>
            </a:solidFill>
            <a:prstDash val="dash"/>
          </a:ln>
        </p:spPr>
      </p:sp>
      <p:sp>
        <p:nvSpPr>
          <p:cNvPr id="39" name="Text 37"/>
          <p:cNvSpPr/>
          <p:nvPr/>
        </p:nvSpPr>
        <p:spPr>
          <a:xfrm>
            <a:off x="7888778" y="2743200"/>
            <a:ext cx="1188720" cy="292608"/>
          </a:xfrm>
          <a:prstGeom prst="rect">
            <a:avLst/>
          </a:prstGeom>
          <a:noFill/>
          <a:ln/>
        </p:spPr>
        <p:txBody>
          <a:bodyPr wrap="square" lIns="0" tIns="0" rIns="0" bIns="0" rtlCol="0" anchor="ctr"/>
          <a:lstStyle/>
          <a:p>
            <a:pPr algn="ctr" indent="0" marL="0">
              <a:buNone/>
            </a:pPr>
            <a:r>
              <a:rPr lang="en-US" sz="1350" b="1" dirty="0">
                <a:solidFill>
                  <a:srgbClr val="5C3A21"/>
                </a:solidFill>
                <a:latin typeface="Cambria" pitchFamily="34" charset="0"/>
                <a:ea typeface="Cambria" pitchFamily="34" charset="-122"/>
                <a:cs typeface="Cambria" pitchFamily="34" charset="-120"/>
              </a:rPr>
              <a:t>1956</a:t>
            </a:r>
            <a:endParaRPr lang="en-US" sz="1350" dirty="0"/>
          </a:p>
        </p:txBody>
      </p:sp>
      <p:sp>
        <p:nvSpPr>
          <p:cNvPr id="40" name="Text 38"/>
          <p:cNvSpPr/>
          <p:nvPr/>
        </p:nvSpPr>
        <p:spPr>
          <a:xfrm>
            <a:off x="7843058" y="3017520"/>
            <a:ext cx="1280160" cy="548640"/>
          </a:xfrm>
          <a:prstGeom prst="rect">
            <a:avLst/>
          </a:prstGeom>
          <a:noFill/>
          <a:ln/>
        </p:spPr>
        <p:txBody>
          <a:bodyPr wrap="square" lIns="0" tIns="0" rIns="0" bIns="0" rtlCol="0" anchor="t"/>
          <a:lstStyle/>
          <a:p>
            <a:pPr algn="ctr" indent="0" marL="0">
              <a:lnSpc>
                <a:spcPct val="110000"/>
              </a:lnSpc>
              <a:buNone/>
            </a:pPr>
            <a:r>
              <a:rPr lang="en-US" sz="880" dirty="0">
                <a:solidFill>
                  <a:srgbClr val="3A2E22"/>
                </a:solidFill>
                <a:latin typeface="Calibri" pitchFamily="34" charset="0"/>
                <a:ea typeface="Calibri" pitchFamily="34" charset="-122"/>
                <a:cs typeface="Calibri" pitchFamily="34" charset="-120"/>
              </a:rPr>
              <a:t>Halotano</a:t>
            </a:r>
            <a:endParaRPr lang="en-US" sz="880" dirty="0"/>
          </a:p>
        </p:txBody>
      </p:sp>
      <p:sp>
        <p:nvSpPr>
          <p:cNvPr id="41" name="Shape 39"/>
          <p:cNvSpPr/>
          <p:nvPr/>
        </p:nvSpPr>
        <p:spPr>
          <a:xfrm>
            <a:off x="9352649" y="3712464"/>
            <a:ext cx="164592" cy="164592"/>
          </a:xfrm>
          <a:prstGeom prst="ellipse">
            <a:avLst/>
          </a:prstGeom>
          <a:solidFill>
            <a:srgbClr val="5C3A21"/>
          </a:solidFill>
          <a:ln w="19050">
            <a:solidFill>
              <a:srgbClr val="FFFFFF"/>
            </a:solidFill>
            <a:prstDash val="solid"/>
          </a:ln>
        </p:spPr>
      </p:sp>
      <p:sp>
        <p:nvSpPr>
          <p:cNvPr id="42" name="Shape 40"/>
          <p:cNvSpPr/>
          <p:nvPr/>
        </p:nvSpPr>
        <p:spPr>
          <a:xfrm>
            <a:off x="9434945" y="3877056"/>
            <a:ext cx="0" cy="484632"/>
          </a:xfrm>
          <a:prstGeom prst="line">
            <a:avLst/>
          </a:prstGeom>
          <a:noFill/>
          <a:ln w="12700">
            <a:solidFill>
              <a:srgbClr val="C9A66B"/>
            </a:solidFill>
            <a:prstDash val="dash"/>
          </a:ln>
        </p:spPr>
      </p:sp>
      <p:sp>
        <p:nvSpPr>
          <p:cNvPr id="43" name="Text 41"/>
          <p:cNvSpPr/>
          <p:nvPr/>
        </p:nvSpPr>
        <p:spPr>
          <a:xfrm>
            <a:off x="8840585" y="4361688"/>
            <a:ext cx="1188720" cy="292608"/>
          </a:xfrm>
          <a:prstGeom prst="rect">
            <a:avLst/>
          </a:prstGeom>
          <a:noFill/>
          <a:ln/>
        </p:spPr>
        <p:txBody>
          <a:bodyPr wrap="square" lIns="0" tIns="0" rIns="0" bIns="0" rtlCol="0" anchor="ctr"/>
          <a:lstStyle/>
          <a:p>
            <a:pPr algn="ctr" indent="0" marL="0">
              <a:buNone/>
            </a:pPr>
            <a:r>
              <a:rPr lang="en-US" sz="1350" b="1" dirty="0">
                <a:solidFill>
                  <a:srgbClr val="5C3A21"/>
                </a:solidFill>
                <a:latin typeface="Cambria" pitchFamily="34" charset="0"/>
                <a:ea typeface="Cambria" pitchFamily="34" charset="-122"/>
                <a:cs typeface="Cambria" pitchFamily="34" charset="-120"/>
              </a:rPr>
              <a:t>1974</a:t>
            </a:r>
            <a:endParaRPr lang="en-US" sz="1350" dirty="0"/>
          </a:p>
        </p:txBody>
      </p:sp>
      <p:sp>
        <p:nvSpPr>
          <p:cNvPr id="44" name="Text 42"/>
          <p:cNvSpPr/>
          <p:nvPr/>
        </p:nvSpPr>
        <p:spPr>
          <a:xfrm>
            <a:off x="8794865" y="4636008"/>
            <a:ext cx="1280160" cy="548640"/>
          </a:xfrm>
          <a:prstGeom prst="rect">
            <a:avLst/>
          </a:prstGeom>
          <a:noFill/>
          <a:ln/>
        </p:spPr>
        <p:txBody>
          <a:bodyPr wrap="square" lIns="0" tIns="0" rIns="0" bIns="0" rtlCol="0" anchor="t"/>
          <a:lstStyle/>
          <a:p>
            <a:pPr algn="ctr" indent="0" marL="0">
              <a:lnSpc>
                <a:spcPct val="110000"/>
              </a:lnSpc>
              <a:buNone/>
            </a:pPr>
            <a:r>
              <a:rPr lang="en-US" sz="880" dirty="0">
                <a:solidFill>
                  <a:srgbClr val="3A2E22"/>
                </a:solidFill>
                <a:latin typeface="Calibri" pitchFamily="34" charset="0"/>
                <a:ea typeface="Calibri" pitchFamily="34" charset="-122"/>
                <a:cs typeface="Calibri" pitchFamily="34" charset="-120"/>
              </a:rPr>
              <a:t>Pulsioximetría (Aoyagi)</a:t>
            </a:r>
            <a:endParaRPr lang="en-US" sz="880" dirty="0"/>
          </a:p>
        </p:txBody>
      </p:sp>
      <p:sp>
        <p:nvSpPr>
          <p:cNvPr id="45" name="Shape 43"/>
          <p:cNvSpPr/>
          <p:nvPr/>
        </p:nvSpPr>
        <p:spPr>
          <a:xfrm>
            <a:off x="10304457" y="3712464"/>
            <a:ext cx="164592" cy="164592"/>
          </a:xfrm>
          <a:prstGeom prst="ellipse">
            <a:avLst/>
          </a:prstGeom>
          <a:solidFill>
            <a:srgbClr val="5C3A21"/>
          </a:solidFill>
          <a:ln w="19050">
            <a:solidFill>
              <a:srgbClr val="FFFFFF"/>
            </a:solidFill>
            <a:prstDash val="solid"/>
          </a:ln>
        </p:spPr>
      </p:sp>
      <p:sp>
        <p:nvSpPr>
          <p:cNvPr id="46" name="Shape 44"/>
          <p:cNvSpPr/>
          <p:nvPr/>
        </p:nvSpPr>
        <p:spPr>
          <a:xfrm>
            <a:off x="10386753" y="3227832"/>
            <a:ext cx="0" cy="484632"/>
          </a:xfrm>
          <a:prstGeom prst="line">
            <a:avLst/>
          </a:prstGeom>
          <a:noFill/>
          <a:ln w="12700">
            <a:solidFill>
              <a:srgbClr val="C9A66B"/>
            </a:solidFill>
            <a:prstDash val="dash"/>
          </a:ln>
        </p:spPr>
      </p:sp>
      <p:sp>
        <p:nvSpPr>
          <p:cNvPr id="47" name="Text 45"/>
          <p:cNvSpPr/>
          <p:nvPr/>
        </p:nvSpPr>
        <p:spPr>
          <a:xfrm>
            <a:off x="9792393" y="2743200"/>
            <a:ext cx="1188720" cy="292608"/>
          </a:xfrm>
          <a:prstGeom prst="rect">
            <a:avLst/>
          </a:prstGeom>
          <a:noFill/>
          <a:ln/>
        </p:spPr>
        <p:txBody>
          <a:bodyPr wrap="square" lIns="0" tIns="0" rIns="0" bIns="0" rtlCol="0" anchor="ctr"/>
          <a:lstStyle/>
          <a:p>
            <a:pPr algn="ctr" indent="0" marL="0">
              <a:buNone/>
            </a:pPr>
            <a:r>
              <a:rPr lang="en-US" sz="1350" b="1" dirty="0">
                <a:solidFill>
                  <a:srgbClr val="5C3A21"/>
                </a:solidFill>
                <a:latin typeface="Cambria" pitchFamily="34" charset="0"/>
                <a:ea typeface="Cambria" pitchFamily="34" charset="-122"/>
                <a:cs typeface="Cambria" pitchFamily="34" charset="-120"/>
              </a:rPr>
              <a:t>1986</a:t>
            </a:r>
            <a:endParaRPr lang="en-US" sz="1350" dirty="0"/>
          </a:p>
        </p:txBody>
      </p:sp>
      <p:sp>
        <p:nvSpPr>
          <p:cNvPr id="48" name="Text 46"/>
          <p:cNvSpPr/>
          <p:nvPr/>
        </p:nvSpPr>
        <p:spPr>
          <a:xfrm>
            <a:off x="9746673" y="3017520"/>
            <a:ext cx="1280160" cy="548640"/>
          </a:xfrm>
          <a:prstGeom prst="rect">
            <a:avLst/>
          </a:prstGeom>
          <a:noFill/>
          <a:ln/>
        </p:spPr>
        <p:txBody>
          <a:bodyPr wrap="square" lIns="0" tIns="0" rIns="0" bIns="0" rtlCol="0" anchor="t"/>
          <a:lstStyle/>
          <a:p>
            <a:pPr algn="ctr" indent="0" marL="0">
              <a:lnSpc>
                <a:spcPct val="110000"/>
              </a:lnSpc>
              <a:buNone/>
            </a:pPr>
            <a:r>
              <a:rPr lang="en-US" sz="880" dirty="0">
                <a:solidFill>
                  <a:srgbClr val="3A2E22"/>
                </a:solidFill>
                <a:latin typeface="Calibri" pitchFamily="34" charset="0"/>
                <a:ea typeface="Calibri" pitchFamily="34" charset="-122"/>
                <a:cs typeface="Calibri" pitchFamily="34" charset="-120"/>
              </a:rPr>
              <a:t>Estándares ASA</a:t>
            </a:r>
            <a:endParaRPr lang="en-US" sz="880" dirty="0"/>
          </a:p>
        </p:txBody>
      </p:sp>
      <p:sp>
        <p:nvSpPr>
          <p:cNvPr id="49" name="Shape 47"/>
          <p:cNvSpPr/>
          <p:nvPr/>
        </p:nvSpPr>
        <p:spPr>
          <a:xfrm>
            <a:off x="11256264" y="3712464"/>
            <a:ext cx="164592" cy="164592"/>
          </a:xfrm>
          <a:prstGeom prst="ellipse">
            <a:avLst/>
          </a:prstGeom>
          <a:solidFill>
            <a:srgbClr val="5C3A21"/>
          </a:solidFill>
          <a:ln w="19050">
            <a:solidFill>
              <a:srgbClr val="FFFFFF"/>
            </a:solidFill>
            <a:prstDash val="solid"/>
          </a:ln>
        </p:spPr>
      </p:sp>
      <p:sp>
        <p:nvSpPr>
          <p:cNvPr id="50" name="Shape 48"/>
          <p:cNvSpPr/>
          <p:nvPr/>
        </p:nvSpPr>
        <p:spPr>
          <a:xfrm>
            <a:off x="11338560" y="3877056"/>
            <a:ext cx="0" cy="484632"/>
          </a:xfrm>
          <a:prstGeom prst="line">
            <a:avLst/>
          </a:prstGeom>
          <a:noFill/>
          <a:ln w="12700">
            <a:solidFill>
              <a:srgbClr val="C9A66B"/>
            </a:solidFill>
            <a:prstDash val="dash"/>
          </a:ln>
        </p:spPr>
      </p:sp>
      <p:sp>
        <p:nvSpPr>
          <p:cNvPr id="51" name="Text 49"/>
          <p:cNvSpPr/>
          <p:nvPr/>
        </p:nvSpPr>
        <p:spPr>
          <a:xfrm>
            <a:off x="10744200" y="4361688"/>
            <a:ext cx="1188720" cy="292608"/>
          </a:xfrm>
          <a:prstGeom prst="rect">
            <a:avLst/>
          </a:prstGeom>
          <a:noFill/>
          <a:ln/>
        </p:spPr>
        <p:txBody>
          <a:bodyPr wrap="square" lIns="0" tIns="0" rIns="0" bIns="0" rtlCol="0" anchor="ctr"/>
          <a:lstStyle/>
          <a:p>
            <a:pPr algn="ctr" indent="0" marL="0">
              <a:buNone/>
            </a:pPr>
            <a:r>
              <a:rPr lang="en-US" sz="1350" b="1" dirty="0">
                <a:solidFill>
                  <a:srgbClr val="5C3A21"/>
                </a:solidFill>
                <a:latin typeface="Cambria" pitchFamily="34" charset="0"/>
                <a:ea typeface="Cambria" pitchFamily="34" charset="-122"/>
                <a:cs typeface="Cambria" pitchFamily="34" charset="-120"/>
              </a:rPr>
              <a:t>1989</a:t>
            </a:r>
            <a:endParaRPr lang="en-US" sz="1350" dirty="0"/>
          </a:p>
        </p:txBody>
      </p:sp>
      <p:sp>
        <p:nvSpPr>
          <p:cNvPr id="52" name="Text 50"/>
          <p:cNvSpPr/>
          <p:nvPr/>
        </p:nvSpPr>
        <p:spPr>
          <a:xfrm>
            <a:off x="10698480" y="4636008"/>
            <a:ext cx="1280160" cy="548640"/>
          </a:xfrm>
          <a:prstGeom prst="rect">
            <a:avLst/>
          </a:prstGeom>
          <a:noFill/>
          <a:ln/>
        </p:spPr>
        <p:txBody>
          <a:bodyPr wrap="square" lIns="0" tIns="0" rIns="0" bIns="0" rtlCol="0" anchor="t"/>
          <a:lstStyle/>
          <a:p>
            <a:pPr algn="ctr" indent="0" marL="0">
              <a:lnSpc>
                <a:spcPct val="110000"/>
              </a:lnSpc>
              <a:buNone/>
            </a:pPr>
            <a:r>
              <a:rPr lang="en-US" sz="880" dirty="0">
                <a:solidFill>
                  <a:srgbClr val="3A2E22"/>
                </a:solidFill>
                <a:latin typeface="Calibri" pitchFamily="34" charset="0"/>
                <a:ea typeface="Calibri" pitchFamily="34" charset="-122"/>
                <a:cs typeface="Calibri" pitchFamily="34" charset="-120"/>
              </a:rPr>
              <a:t>Propofol</a:t>
            </a:r>
            <a:endParaRPr lang="en-US" sz="880" dirty="0"/>
          </a:p>
        </p:txBody>
      </p:sp>
      <p:sp>
        <p:nvSpPr>
          <p:cNvPr id="53" name="Text 51"/>
          <p:cNvSpPr/>
          <p:nvPr/>
        </p:nvSpPr>
        <p:spPr>
          <a:xfrm>
            <a:off x="548640" y="6473952"/>
            <a:ext cx="6400800" cy="274320"/>
          </a:xfrm>
          <a:prstGeom prst="rect">
            <a:avLst/>
          </a:prstGeom>
          <a:noFill/>
          <a:ln/>
        </p:spPr>
        <p:txBody>
          <a:bodyPr wrap="square" lIns="0" tIns="0" rIns="0" bIns="0" rtlCol="0" anchor="ctr"/>
          <a:lstStyle/>
          <a:p>
            <a:pPr indent="0" marL="0">
              <a:buNone/>
            </a:pPr>
            <a:r>
              <a:rPr lang="en-US" sz="850" spc="100" kern="0" dirty="0">
                <a:solidFill>
                  <a:srgbClr val="7A6A57"/>
                </a:solidFill>
                <a:latin typeface="Calibri" pitchFamily="34" charset="0"/>
                <a:ea typeface="Calibri" pitchFamily="34" charset="-122"/>
                <a:cs typeface="Calibri" pitchFamily="34" charset="-120"/>
              </a:rPr>
              <a:t>CAPÍTULO II  ·  HISTORIA DE LA ANESTESIA</a:t>
            </a:r>
            <a:endParaRPr lang="en-US" sz="850" dirty="0"/>
          </a:p>
        </p:txBody>
      </p:sp>
      <p:sp>
        <p:nvSpPr>
          <p:cNvPr id="54" name="Text 52"/>
          <p:cNvSpPr/>
          <p:nvPr/>
        </p:nvSpPr>
        <p:spPr>
          <a:xfrm>
            <a:off x="10728655" y="6473952"/>
            <a:ext cx="914400" cy="274320"/>
          </a:xfrm>
          <a:prstGeom prst="rect">
            <a:avLst/>
          </a:prstGeom>
          <a:noFill/>
          <a:ln/>
        </p:spPr>
        <p:txBody>
          <a:bodyPr wrap="square" lIns="0" tIns="0" rIns="0" bIns="0" rtlCol="0" anchor="ctr"/>
          <a:lstStyle/>
          <a:p>
            <a:pPr algn="r" indent="0" marL="0">
              <a:buNone/>
            </a:pPr>
            <a:r>
              <a:rPr lang="en-US" sz="850" dirty="0">
                <a:solidFill>
                  <a:srgbClr val="7A6A57"/>
                </a:solidFill>
                <a:latin typeface="Calibri" pitchFamily="34" charset="0"/>
                <a:ea typeface="Calibri" pitchFamily="34" charset="-122"/>
                <a:cs typeface="Calibri" pitchFamily="34" charset="-120"/>
              </a:rPr>
              <a:t>28</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lIns="0" tIns="0" rIns="0" bIns="0" rtlCol="0" anchor="ctr"/>
          <a:lstStyle/>
          <a:p>
            <a:pPr indent="0" marL="0">
              <a:buNone/>
            </a:pPr>
            <a:r>
              <a:rPr lang="en-US" sz="1200" b="1" spc="200" kern="0" dirty="0">
                <a:solidFill>
                  <a:srgbClr val="8B5E3C"/>
                </a:solidFill>
                <a:latin typeface="Calibri" pitchFamily="34" charset="0"/>
                <a:ea typeface="Calibri" pitchFamily="34" charset="-122"/>
                <a:cs typeface="Calibri" pitchFamily="34" charset="-120"/>
              </a:rPr>
              <a:t>SÍNTESIS CRÍTICA</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t"/>
          <a:lstStyle/>
          <a:p>
            <a:pPr indent="0" marL="0">
              <a:buNone/>
            </a:pPr>
            <a:r>
              <a:rPr lang="en-US" sz="2900" b="1" dirty="0">
                <a:solidFill>
                  <a:srgbClr val="5C3A21"/>
                </a:solidFill>
                <a:latin typeface="Cambria" pitchFamily="34" charset="0"/>
                <a:ea typeface="Cambria" pitchFamily="34" charset="-122"/>
                <a:cs typeface="Cambria" pitchFamily="34" charset="-120"/>
              </a:rPr>
              <a:t>Lecciones de la historia para la práctica anestésica actual</a:t>
            </a:r>
            <a:endParaRPr lang="en-US" sz="2900" dirty="0"/>
          </a:p>
        </p:txBody>
      </p:sp>
      <p:sp>
        <p:nvSpPr>
          <p:cNvPr id="4" name="Shape 2"/>
          <p:cNvSpPr/>
          <p:nvPr/>
        </p:nvSpPr>
        <p:spPr>
          <a:xfrm>
            <a:off x="548640" y="1783080"/>
            <a:ext cx="594360" cy="594360"/>
          </a:xfrm>
          <a:prstGeom prst="ellipse">
            <a:avLst/>
          </a:prstGeom>
          <a:solidFill>
            <a:srgbClr val="5C3A21"/>
          </a:solidFill>
          <a:ln/>
          <a:effectLst>
            <a:outerShdw sx="100000" sy="100000" kx="0" ky="0" algn="bl" rotWithShape="0" blurRad="101600" dist="38100" dir="5400000">
              <a:srgbClr val="2B2118">
                <a:alpha val="28000"/>
              </a:srgbClr>
            </a:outerShdw>
          </a:effectLst>
        </p:spPr>
      </p:sp>
      <p:pic>
        <p:nvPicPr>
          <p:cNvPr id="5" name="Image 0" descr="preencoded.png">    </p:cNvPr>
          <p:cNvPicPr>
            <a:picLocks noChangeAspect="1"/>
          </p:cNvPicPr>
          <p:nvPr/>
        </p:nvPicPr>
        <p:blipFill>
          <a:blip r:embed="rId1"/>
          <a:stretch>
            <a:fillRect/>
          </a:stretch>
        </p:blipFill>
        <p:spPr>
          <a:xfrm>
            <a:off x="697230" y="1931670"/>
            <a:ext cx="297180" cy="297180"/>
          </a:xfrm>
          <a:prstGeom prst="rect">
            <a:avLst/>
          </a:prstGeom>
        </p:spPr>
      </p:pic>
      <p:sp>
        <p:nvSpPr>
          <p:cNvPr id="6" name="Text 3"/>
          <p:cNvSpPr/>
          <p:nvPr/>
        </p:nvSpPr>
        <p:spPr>
          <a:xfrm>
            <a:off x="1417320" y="1764792"/>
            <a:ext cx="10058400" cy="320040"/>
          </a:xfrm>
          <a:prstGeom prst="rect">
            <a:avLst/>
          </a:prstGeom>
          <a:noFill/>
          <a:ln/>
        </p:spPr>
        <p:txBody>
          <a:bodyPr wrap="square" lIns="0" tIns="0" rIns="0" bIns="0" rtlCol="0" anchor="ctr"/>
          <a:lstStyle/>
          <a:p>
            <a:pPr indent="0" marL="0">
              <a:buNone/>
            </a:pPr>
            <a:r>
              <a:rPr lang="en-US" sz="1350" b="1" dirty="0">
                <a:solidFill>
                  <a:srgbClr val="5C3A21"/>
                </a:solidFill>
                <a:latin typeface="Cambria" pitchFamily="34" charset="0"/>
                <a:ea typeface="Cambria" pitchFamily="34" charset="-122"/>
                <a:cs typeface="Cambria" pitchFamily="34" charset="-120"/>
              </a:rPr>
              <a:t>La seguridad del paciente es un proceso evolutivo, nunca 'terminado'</a:t>
            </a:r>
            <a:endParaRPr lang="en-US" sz="1350" dirty="0"/>
          </a:p>
        </p:txBody>
      </p:sp>
      <p:sp>
        <p:nvSpPr>
          <p:cNvPr id="7" name="Text 4"/>
          <p:cNvSpPr/>
          <p:nvPr/>
        </p:nvSpPr>
        <p:spPr>
          <a:xfrm>
            <a:off x="1417320" y="2075688"/>
            <a:ext cx="10058400" cy="457200"/>
          </a:xfrm>
          <a:prstGeom prst="rect">
            <a:avLst/>
          </a:prstGeom>
          <a:noFill/>
          <a:ln/>
        </p:spPr>
        <p:txBody>
          <a:bodyPr wrap="square" lIns="0" tIns="0" rIns="0" bIns="0" rtlCol="0" anchor="ctr"/>
          <a:lstStyle/>
          <a:p>
            <a:pPr indent="0" marL="0">
              <a:lnSpc>
                <a:spcPct val="115000"/>
              </a:lnSpc>
              <a:buNone/>
            </a:pPr>
            <a:r>
              <a:rPr lang="en-US" sz="1080" dirty="0">
                <a:solidFill>
                  <a:srgbClr val="7A6A57"/>
                </a:solidFill>
                <a:latin typeface="Calibri" pitchFamily="34" charset="0"/>
                <a:ea typeface="Calibri" pitchFamily="34" charset="-122"/>
                <a:cs typeface="Calibri" pitchFamily="34" charset="-120"/>
              </a:rPr>
              <a:t>De la ausencia total de monitorización a los estándares actuales: cada avance reveló nuevos riesgos que exigieron nuevas soluciones.</a:t>
            </a:r>
            <a:endParaRPr lang="en-US" sz="1080" dirty="0"/>
          </a:p>
        </p:txBody>
      </p:sp>
      <p:sp>
        <p:nvSpPr>
          <p:cNvPr id="8" name="Shape 5"/>
          <p:cNvSpPr/>
          <p:nvPr/>
        </p:nvSpPr>
        <p:spPr>
          <a:xfrm>
            <a:off x="548640" y="2624328"/>
            <a:ext cx="594360" cy="594360"/>
          </a:xfrm>
          <a:prstGeom prst="ellipse">
            <a:avLst/>
          </a:prstGeom>
          <a:solidFill>
            <a:srgbClr val="8B5E3C"/>
          </a:solidFill>
          <a:ln/>
          <a:effectLst>
            <a:outerShdw sx="100000" sy="100000" kx="0" ky="0" algn="bl" rotWithShape="0" blurRad="101600" dist="38100" dir="5400000">
              <a:srgbClr val="2B2118">
                <a:alpha val="28000"/>
              </a:srgbClr>
            </a:outerShdw>
          </a:effectLst>
        </p:spPr>
      </p:sp>
      <p:pic>
        <p:nvPicPr>
          <p:cNvPr id="9" name="Image 1" descr="preencoded.png">    </p:cNvPr>
          <p:cNvPicPr>
            <a:picLocks noChangeAspect="1"/>
          </p:cNvPicPr>
          <p:nvPr/>
        </p:nvPicPr>
        <p:blipFill>
          <a:blip r:embed="rId2"/>
          <a:stretch>
            <a:fillRect/>
          </a:stretch>
        </p:blipFill>
        <p:spPr>
          <a:xfrm>
            <a:off x="697230" y="2772918"/>
            <a:ext cx="297180" cy="297180"/>
          </a:xfrm>
          <a:prstGeom prst="rect">
            <a:avLst/>
          </a:prstGeom>
        </p:spPr>
      </p:pic>
      <p:sp>
        <p:nvSpPr>
          <p:cNvPr id="10" name="Text 6"/>
          <p:cNvSpPr/>
          <p:nvPr/>
        </p:nvSpPr>
        <p:spPr>
          <a:xfrm>
            <a:off x="1417320" y="2606040"/>
            <a:ext cx="10058400" cy="320040"/>
          </a:xfrm>
          <a:prstGeom prst="rect">
            <a:avLst/>
          </a:prstGeom>
          <a:noFill/>
          <a:ln/>
        </p:spPr>
        <p:txBody>
          <a:bodyPr wrap="square" lIns="0" tIns="0" rIns="0" bIns="0" rtlCol="0" anchor="ctr"/>
          <a:lstStyle/>
          <a:p>
            <a:pPr indent="0" marL="0">
              <a:buNone/>
            </a:pPr>
            <a:r>
              <a:rPr lang="en-US" sz="1350" b="1" dirty="0">
                <a:solidFill>
                  <a:srgbClr val="5C3A21"/>
                </a:solidFill>
                <a:latin typeface="Cambria" pitchFamily="34" charset="0"/>
                <a:ea typeface="Cambria" pitchFamily="34" charset="-122"/>
                <a:cs typeface="Cambria" pitchFamily="34" charset="-120"/>
              </a:rPr>
              <a:t>La innovación responsable exige validación clínica antes de su adopción amplia</a:t>
            </a:r>
            <a:endParaRPr lang="en-US" sz="1350" dirty="0"/>
          </a:p>
        </p:txBody>
      </p:sp>
      <p:sp>
        <p:nvSpPr>
          <p:cNvPr id="11" name="Text 7"/>
          <p:cNvSpPr/>
          <p:nvPr/>
        </p:nvSpPr>
        <p:spPr>
          <a:xfrm>
            <a:off x="1417320" y="2916936"/>
            <a:ext cx="10058400" cy="457200"/>
          </a:xfrm>
          <a:prstGeom prst="rect">
            <a:avLst/>
          </a:prstGeom>
          <a:noFill/>
          <a:ln/>
        </p:spPr>
        <p:txBody>
          <a:bodyPr wrap="square" lIns="0" tIns="0" rIns="0" bIns="0" rtlCol="0" anchor="ctr"/>
          <a:lstStyle/>
          <a:p>
            <a:pPr indent="0" marL="0">
              <a:lnSpc>
                <a:spcPct val="115000"/>
              </a:lnSpc>
              <a:buNone/>
            </a:pPr>
            <a:r>
              <a:rPr lang="en-US" sz="1080" dirty="0">
                <a:solidFill>
                  <a:srgbClr val="7A6A57"/>
                </a:solidFill>
                <a:latin typeface="Calibri" pitchFamily="34" charset="0"/>
                <a:ea typeface="Calibri" pitchFamily="34" charset="-122"/>
                <a:cs typeface="Calibri" pitchFamily="34" charset="-120"/>
              </a:rPr>
              <a:t>La autoexperimentación temprana (Wells, Bier, Halsted) produjo avances reales, pero también costos personales que hoy serían inaceptables desde la ética de investigación.</a:t>
            </a:r>
            <a:endParaRPr lang="en-US" sz="1080" dirty="0"/>
          </a:p>
        </p:txBody>
      </p:sp>
      <p:sp>
        <p:nvSpPr>
          <p:cNvPr id="12" name="Shape 8"/>
          <p:cNvSpPr/>
          <p:nvPr/>
        </p:nvSpPr>
        <p:spPr>
          <a:xfrm>
            <a:off x="548640" y="3465576"/>
            <a:ext cx="594360" cy="594360"/>
          </a:xfrm>
          <a:prstGeom prst="ellipse">
            <a:avLst/>
          </a:prstGeom>
          <a:solidFill>
            <a:srgbClr val="5C3A21"/>
          </a:solidFill>
          <a:ln/>
          <a:effectLst>
            <a:outerShdw sx="100000" sy="100000" kx="0" ky="0" algn="bl" rotWithShape="0" blurRad="101600" dist="38100" dir="5400000">
              <a:srgbClr val="2B2118">
                <a:alpha val="28000"/>
              </a:srgbClr>
            </a:outerShdw>
          </a:effectLst>
        </p:spPr>
      </p:sp>
      <p:pic>
        <p:nvPicPr>
          <p:cNvPr id="13" name="Image 2" descr="preencoded.png">    </p:cNvPr>
          <p:cNvPicPr>
            <a:picLocks noChangeAspect="1"/>
          </p:cNvPicPr>
          <p:nvPr/>
        </p:nvPicPr>
        <p:blipFill>
          <a:blip r:embed="rId3"/>
          <a:stretch>
            <a:fillRect/>
          </a:stretch>
        </p:blipFill>
        <p:spPr>
          <a:xfrm>
            <a:off x="697230" y="3614166"/>
            <a:ext cx="297180" cy="297180"/>
          </a:xfrm>
          <a:prstGeom prst="rect">
            <a:avLst/>
          </a:prstGeom>
        </p:spPr>
      </p:pic>
      <p:sp>
        <p:nvSpPr>
          <p:cNvPr id="14" name="Text 9"/>
          <p:cNvSpPr/>
          <p:nvPr/>
        </p:nvSpPr>
        <p:spPr>
          <a:xfrm>
            <a:off x="1417320" y="3447288"/>
            <a:ext cx="10058400" cy="320040"/>
          </a:xfrm>
          <a:prstGeom prst="rect">
            <a:avLst/>
          </a:prstGeom>
          <a:noFill/>
          <a:ln/>
        </p:spPr>
        <p:txBody>
          <a:bodyPr wrap="square" lIns="0" tIns="0" rIns="0" bIns="0" rtlCol="0" anchor="ctr"/>
          <a:lstStyle/>
          <a:p>
            <a:pPr indent="0" marL="0">
              <a:buNone/>
            </a:pPr>
            <a:r>
              <a:rPr lang="en-US" sz="1350" b="1" dirty="0">
                <a:solidFill>
                  <a:srgbClr val="5C3A21"/>
                </a:solidFill>
                <a:latin typeface="Cambria" pitchFamily="34" charset="0"/>
                <a:ea typeface="Cambria" pitchFamily="34" charset="-122"/>
                <a:cs typeface="Cambria" pitchFamily="34" charset="-120"/>
              </a:rPr>
              <a:t>El progreso depende de la colaboración multidisciplinaria</a:t>
            </a:r>
            <a:endParaRPr lang="en-US" sz="1350" dirty="0"/>
          </a:p>
        </p:txBody>
      </p:sp>
      <p:sp>
        <p:nvSpPr>
          <p:cNvPr id="15" name="Text 10"/>
          <p:cNvSpPr/>
          <p:nvPr/>
        </p:nvSpPr>
        <p:spPr>
          <a:xfrm>
            <a:off x="1417320" y="3758184"/>
            <a:ext cx="10058400" cy="457200"/>
          </a:xfrm>
          <a:prstGeom prst="rect">
            <a:avLst/>
          </a:prstGeom>
          <a:noFill/>
          <a:ln/>
        </p:spPr>
        <p:txBody>
          <a:bodyPr wrap="square" lIns="0" tIns="0" rIns="0" bIns="0" rtlCol="0" anchor="ctr"/>
          <a:lstStyle/>
          <a:p>
            <a:pPr indent="0" marL="0">
              <a:lnSpc>
                <a:spcPct val="115000"/>
              </a:lnSpc>
              <a:buNone/>
            </a:pPr>
            <a:r>
              <a:rPr lang="en-US" sz="1080" dirty="0">
                <a:solidFill>
                  <a:srgbClr val="7A6A57"/>
                </a:solidFill>
                <a:latin typeface="Calibri" pitchFamily="34" charset="0"/>
                <a:ea typeface="Calibri" pitchFamily="34" charset="-122"/>
                <a:cs typeface="Calibri" pitchFamily="34" charset="-120"/>
              </a:rPr>
              <a:t>Cirugía, farmacología, química industrial e ingeniería biomédica convergieron repetidamente para resolver problemas clínicos concretos.</a:t>
            </a:r>
            <a:endParaRPr lang="en-US" sz="1080" dirty="0"/>
          </a:p>
        </p:txBody>
      </p:sp>
      <p:sp>
        <p:nvSpPr>
          <p:cNvPr id="16" name="Shape 11"/>
          <p:cNvSpPr/>
          <p:nvPr/>
        </p:nvSpPr>
        <p:spPr>
          <a:xfrm>
            <a:off x="548640" y="4306824"/>
            <a:ext cx="594360" cy="594360"/>
          </a:xfrm>
          <a:prstGeom prst="ellipse">
            <a:avLst/>
          </a:prstGeom>
          <a:solidFill>
            <a:srgbClr val="8B5E3C"/>
          </a:solidFill>
          <a:ln/>
          <a:effectLst>
            <a:outerShdw sx="100000" sy="100000" kx="0" ky="0" algn="bl" rotWithShape="0" blurRad="101600" dist="38100" dir="5400000">
              <a:srgbClr val="2B2118">
                <a:alpha val="28000"/>
              </a:srgbClr>
            </a:outerShdw>
          </a:effectLst>
        </p:spPr>
      </p:sp>
      <p:pic>
        <p:nvPicPr>
          <p:cNvPr id="17" name="Image 3" descr="preencoded.png">    </p:cNvPr>
          <p:cNvPicPr>
            <a:picLocks noChangeAspect="1"/>
          </p:cNvPicPr>
          <p:nvPr/>
        </p:nvPicPr>
        <p:blipFill>
          <a:blip r:embed="rId4"/>
          <a:stretch>
            <a:fillRect/>
          </a:stretch>
        </p:blipFill>
        <p:spPr>
          <a:xfrm>
            <a:off x="697230" y="4455414"/>
            <a:ext cx="297180" cy="297180"/>
          </a:xfrm>
          <a:prstGeom prst="rect">
            <a:avLst/>
          </a:prstGeom>
        </p:spPr>
      </p:pic>
      <p:sp>
        <p:nvSpPr>
          <p:cNvPr id="18" name="Text 12"/>
          <p:cNvSpPr/>
          <p:nvPr/>
        </p:nvSpPr>
        <p:spPr>
          <a:xfrm>
            <a:off x="1417320" y="4288536"/>
            <a:ext cx="10058400" cy="320040"/>
          </a:xfrm>
          <a:prstGeom prst="rect">
            <a:avLst/>
          </a:prstGeom>
          <a:noFill/>
          <a:ln/>
        </p:spPr>
        <p:txBody>
          <a:bodyPr wrap="square" lIns="0" tIns="0" rIns="0" bIns="0" rtlCol="0" anchor="ctr"/>
          <a:lstStyle/>
          <a:p>
            <a:pPr indent="0" marL="0">
              <a:buNone/>
            </a:pPr>
            <a:r>
              <a:rPr lang="en-US" sz="1350" b="1" dirty="0">
                <a:solidFill>
                  <a:srgbClr val="5C3A21"/>
                </a:solidFill>
                <a:latin typeface="Cambria" pitchFamily="34" charset="0"/>
                <a:ea typeface="Cambria" pitchFamily="34" charset="-122"/>
                <a:cs typeface="Cambria" pitchFamily="34" charset="-120"/>
              </a:rPr>
              <a:t>La documentación y publicación oportuna consolidan el conocimiento</a:t>
            </a:r>
            <a:endParaRPr lang="en-US" sz="1350" dirty="0"/>
          </a:p>
        </p:txBody>
      </p:sp>
      <p:sp>
        <p:nvSpPr>
          <p:cNvPr id="19" name="Text 13"/>
          <p:cNvSpPr/>
          <p:nvPr/>
        </p:nvSpPr>
        <p:spPr>
          <a:xfrm>
            <a:off x="1417320" y="4599432"/>
            <a:ext cx="10058400" cy="457200"/>
          </a:xfrm>
          <a:prstGeom prst="rect">
            <a:avLst/>
          </a:prstGeom>
          <a:noFill/>
          <a:ln/>
        </p:spPr>
        <p:txBody>
          <a:bodyPr wrap="square" lIns="0" tIns="0" rIns="0" bIns="0" rtlCol="0" anchor="ctr"/>
          <a:lstStyle/>
          <a:p>
            <a:pPr indent="0" marL="0">
              <a:lnSpc>
                <a:spcPct val="115000"/>
              </a:lnSpc>
              <a:buNone/>
            </a:pPr>
            <a:r>
              <a:rPr lang="en-US" sz="1080" dirty="0">
                <a:solidFill>
                  <a:srgbClr val="7A6A57"/>
                </a:solidFill>
                <a:latin typeface="Calibri" pitchFamily="34" charset="0"/>
                <a:ea typeface="Calibri" pitchFamily="34" charset="-122"/>
                <a:cs typeface="Calibri" pitchFamily="34" charset="-120"/>
              </a:rPr>
              <a:t>El contraste entre Crawford Long y William Morton ilustra cómo la prioridad científica se pierde sin difusión adecuada.</a:t>
            </a:r>
            <a:endParaRPr lang="en-US" sz="1080" dirty="0"/>
          </a:p>
        </p:txBody>
      </p:sp>
      <p:sp>
        <p:nvSpPr>
          <p:cNvPr id="20" name="Shape 14"/>
          <p:cNvSpPr/>
          <p:nvPr/>
        </p:nvSpPr>
        <p:spPr>
          <a:xfrm>
            <a:off x="548640" y="5148072"/>
            <a:ext cx="594360" cy="594360"/>
          </a:xfrm>
          <a:prstGeom prst="ellipse">
            <a:avLst/>
          </a:prstGeom>
          <a:solidFill>
            <a:srgbClr val="5C3A21"/>
          </a:solidFill>
          <a:ln/>
          <a:effectLst>
            <a:outerShdw sx="100000" sy="100000" kx="0" ky="0" algn="bl" rotWithShape="0" blurRad="101600" dist="38100" dir="5400000">
              <a:srgbClr val="2B2118">
                <a:alpha val="28000"/>
              </a:srgbClr>
            </a:outerShdw>
          </a:effectLst>
        </p:spPr>
      </p:sp>
      <p:pic>
        <p:nvPicPr>
          <p:cNvPr id="21" name="Image 4" descr="preencoded.png">    </p:cNvPr>
          <p:cNvPicPr>
            <a:picLocks noChangeAspect="1"/>
          </p:cNvPicPr>
          <p:nvPr/>
        </p:nvPicPr>
        <p:blipFill>
          <a:blip r:embed="rId5"/>
          <a:stretch>
            <a:fillRect/>
          </a:stretch>
        </p:blipFill>
        <p:spPr>
          <a:xfrm>
            <a:off x="697230" y="5296662"/>
            <a:ext cx="297180" cy="297180"/>
          </a:xfrm>
          <a:prstGeom prst="rect">
            <a:avLst/>
          </a:prstGeom>
        </p:spPr>
      </p:pic>
      <p:sp>
        <p:nvSpPr>
          <p:cNvPr id="22" name="Text 15"/>
          <p:cNvSpPr/>
          <p:nvPr/>
        </p:nvSpPr>
        <p:spPr>
          <a:xfrm>
            <a:off x="1417320" y="5129784"/>
            <a:ext cx="10058400" cy="320040"/>
          </a:xfrm>
          <a:prstGeom prst="rect">
            <a:avLst/>
          </a:prstGeom>
          <a:noFill/>
          <a:ln/>
        </p:spPr>
        <p:txBody>
          <a:bodyPr wrap="square" lIns="0" tIns="0" rIns="0" bIns="0" rtlCol="0" anchor="ctr"/>
          <a:lstStyle/>
          <a:p>
            <a:pPr indent="0" marL="0">
              <a:buNone/>
            </a:pPr>
            <a:r>
              <a:rPr lang="en-US" sz="1350" b="1" dirty="0">
                <a:solidFill>
                  <a:srgbClr val="5C3A21"/>
                </a:solidFill>
                <a:latin typeface="Cambria" pitchFamily="34" charset="0"/>
                <a:ea typeface="Cambria" pitchFamily="34" charset="-122"/>
                <a:cs typeface="Cambria" pitchFamily="34" charset="-120"/>
              </a:rPr>
              <a:t>La monitorización estandarizada salva vidas de forma medible</a:t>
            </a:r>
            <a:endParaRPr lang="en-US" sz="1350" dirty="0"/>
          </a:p>
        </p:txBody>
      </p:sp>
      <p:sp>
        <p:nvSpPr>
          <p:cNvPr id="23" name="Text 16"/>
          <p:cNvSpPr/>
          <p:nvPr/>
        </p:nvSpPr>
        <p:spPr>
          <a:xfrm>
            <a:off x="1417320" y="5440680"/>
            <a:ext cx="10058400" cy="457200"/>
          </a:xfrm>
          <a:prstGeom prst="rect">
            <a:avLst/>
          </a:prstGeom>
          <a:noFill/>
          <a:ln/>
        </p:spPr>
        <p:txBody>
          <a:bodyPr wrap="square" lIns="0" tIns="0" rIns="0" bIns="0" rtlCol="0" anchor="ctr"/>
          <a:lstStyle/>
          <a:p>
            <a:pPr indent="0" marL="0">
              <a:lnSpc>
                <a:spcPct val="115000"/>
              </a:lnSpc>
              <a:buNone/>
            </a:pPr>
            <a:r>
              <a:rPr lang="en-US" sz="1080" dirty="0">
                <a:solidFill>
                  <a:srgbClr val="7A6A57"/>
                </a:solidFill>
                <a:latin typeface="Calibri" pitchFamily="34" charset="0"/>
                <a:ea typeface="Calibri" pitchFamily="34" charset="-122"/>
                <a:cs typeface="Calibri" pitchFamily="34" charset="-120"/>
              </a:rPr>
              <a:t>Pulsioximetría, capnografía y los estándares mínimos de vigilancia son, hoy, innegociables en cualquier acto anestésico.</a:t>
            </a:r>
            <a:endParaRPr lang="en-US" sz="1080" dirty="0"/>
          </a:p>
        </p:txBody>
      </p:sp>
      <p:sp>
        <p:nvSpPr>
          <p:cNvPr id="24" name="Text 17"/>
          <p:cNvSpPr/>
          <p:nvPr/>
        </p:nvSpPr>
        <p:spPr>
          <a:xfrm>
            <a:off x="548640" y="6473952"/>
            <a:ext cx="6400800" cy="274320"/>
          </a:xfrm>
          <a:prstGeom prst="rect">
            <a:avLst/>
          </a:prstGeom>
          <a:noFill/>
          <a:ln/>
        </p:spPr>
        <p:txBody>
          <a:bodyPr wrap="square" lIns="0" tIns="0" rIns="0" bIns="0" rtlCol="0" anchor="ctr"/>
          <a:lstStyle/>
          <a:p>
            <a:pPr indent="0" marL="0">
              <a:buNone/>
            </a:pPr>
            <a:r>
              <a:rPr lang="en-US" sz="850" spc="100" kern="0" dirty="0">
                <a:solidFill>
                  <a:srgbClr val="7A6A57"/>
                </a:solidFill>
                <a:latin typeface="Calibri" pitchFamily="34" charset="0"/>
                <a:ea typeface="Calibri" pitchFamily="34" charset="-122"/>
                <a:cs typeface="Calibri" pitchFamily="34" charset="-120"/>
              </a:rPr>
              <a:t>CAPÍTULO II  ·  HISTORIA DE LA ANESTESIA</a:t>
            </a:r>
            <a:endParaRPr lang="en-US" sz="850" dirty="0"/>
          </a:p>
        </p:txBody>
      </p:sp>
      <p:sp>
        <p:nvSpPr>
          <p:cNvPr id="25" name="Text 18"/>
          <p:cNvSpPr/>
          <p:nvPr/>
        </p:nvSpPr>
        <p:spPr>
          <a:xfrm>
            <a:off x="10728655" y="6473952"/>
            <a:ext cx="914400" cy="274320"/>
          </a:xfrm>
          <a:prstGeom prst="rect">
            <a:avLst/>
          </a:prstGeom>
          <a:noFill/>
          <a:ln/>
        </p:spPr>
        <p:txBody>
          <a:bodyPr wrap="square" lIns="0" tIns="0" rIns="0" bIns="0" rtlCol="0" anchor="ctr"/>
          <a:lstStyle/>
          <a:p>
            <a:pPr algn="r" indent="0" marL="0">
              <a:buNone/>
            </a:pPr>
            <a:r>
              <a:rPr lang="en-US" sz="850" dirty="0">
                <a:solidFill>
                  <a:srgbClr val="7A6A57"/>
                </a:solidFill>
                <a:latin typeface="Calibri" pitchFamily="34" charset="0"/>
                <a:ea typeface="Calibri" pitchFamily="34" charset="-122"/>
                <a:cs typeface="Calibri" pitchFamily="34" charset="-120"/>
              </a:rPr>
              <a:t>29</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lIns="0" tIns="0" rIns="0" bIns="0" rtlCol="0" anchor="ctr"/>
          <a:lstStyle/>
          <a:p>
            <a:pPr indent="0" marL="0">
              <a:buNone/>
            </a:pPr>
            <a:r>
              <a:rPr lang="en-US" sz="1200" b="1" spc="200" kern="0" dirty="0">
                <a:solidFill>
                  <a:srgbClr val="8B5E3C"/>
                </a:solidFill>
                <a:latin typeface="Calibri" pitchFamily="34" charset="0"/>
                <a:ea typeface="Calibri" pitchFamily="34" charset="-122"/>
                <a:cs typeface="Calibri" pitchFamily="34" charset="-120"/>
              </a:rPr>
              <a:t>CIERRE DEL CAPÍTULO</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t"/>
          <a:lstStyle/>
          <a:p>
            <a:pPr indent="0" marL="0">
              <a:buNone/>
            </a:pPr>
            <a:r>
              <a:rPr lang="en-US" sz="2900" b="1" dirty="0">
                <a:solidFill>
                  <a:srgbClr val="5C3A21"/>
                </a:solidFill>
                <a:latin typeface="Cambria" pitchFamily="34" charset="0"/>
                <a:ea typeface="Cambria" pitchFamily="34" charset="-122"/>
                <a:cs typeface="Cambria" pitchFamily="34" charset="-120"/>
              </a:rPr>
              <a:t>Resumen del capítulo: puntos clave</a:t>
            </a:r>
            <a:endParaRPr lang="en-US" sz="2900" dirty="0"/>
          </a:p>
        </p:txBody>
      </p:sp>
      <p:sp>
        <p:nvSpPr>
          <p:cNvPr id="4" name="Shape 2"/>
          <p:cNvSpPr/>
          <p:nvPr/>
        </p:nvSpPr>
        <p:spPr>
          <a:xfrm>
            <a:off x="548640" y="1783080"/>
            <a:ext cx="5440680" cy="1261872"/>
          </a:xfrm>
          <a:prstGeom prst="roundRect">
            <a:avLst>
              <a:gd name="adj" fmla="val 5797"/>
            </a:avLst>
          </a:prstGeom>
          <a:solidFill>
            <a:srgbClr val="C9A66B">
              <a:alpha val="10000"/>
            </a:srgbClr>
          </a:solidFill>
          <a:ln/>
        </p:spPr>
      </p:sp>
      <p:sp>
        <p:nvSpPr>
          <p:cNvPr id="5" name="Shape 3"/>
          <p:cNvSpPr/>
          <p:nvPr/>
        </p:nvSpPr>
        <p:spPr>
          <a:xfrm>
            <a:off x="749808" y="1965960"/>
            <a:ext cx="384048" cy="384048"/>
          </a:xfrm>
          <a:prstGeom prst="ellipse">
            <a:avLst/>
          </a:prstGeom>
          <a:solidFill>
            <a:srgbClr val="5C3A21"/>
          </a:solidFill>
          <a:ln/>
        </p:spPr>
      </p:sp>
      <p:sp>
        <p:nvSpPr>
          <p:cNvPr id="6" name="Text 4"/>
          <p:cNvSpPr/>
          <p:nvPr/>
        </p:nvSpPr>
        <p:spPr>
          <a:xfrm>
            <a:off x="749808" y="196596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7" name="Text 5"/>
          <p:cNvSpPr/>
          <p:nvPr/>
        </p:nvSpPr>
        <p:spPr>
          <a:xfrm>
            <a:off x="1325880" y="1892808"/>
            <a:ext cx="4480560" cy="1051560"/>
          </a:xfrm>
          <a:prstGeom prst="rect">
            <a:avLst/>
          </a:prstGeom>
          <a:noFill/>
          <a:ln/>
        </p:spPr>
        <p:txBody>
          <a:bodyPr wrap="square" lIns="0" tIns="0" rIns="0" bIns="0" rtlCol="0" anchor="ctr"/>
          <a:lstStyle/>
          <a:p>
            <a:pPr indent="0" marL="0">
              <a:lnSpc>
                <a:spcPct val="120000"/>
              </a:lnSpc>
              <a:buNone/>
            </a:pPr>
            <a:r>
              <a:rPr lang="en-US" sz="1100" dirty="0">
                <a:solidFill>
                  <a:srgbClr val="3A2E22"/>
                </a:solidFill>
                <a:latin typeface="Calibri" pitchFamily="34" charset="0"/>
                <a:ea typeface="Calibri" pitchFamily="34" charset="-122"/>
                <a:cs typeface="Calibri" pitchFamily="34" charset="-120"/>
              </a:rPr>
              <a:t>Antes del siglo XIX, la ausencia de analgesia fiable limitaba la cirugía a intervenciones rápidas y de último recurso.</a:t>
            </a:r>
            <a:endParaRPr lang="en-US" sz="1100" dirty="0"/>
          </a:p>
        </p:txBody>
      </p:sp>
      <p:sp>
        <p:nvSpPr>
          <p:cNvPr id="8" name="Shape 6"/>
          <p:cNvSpPr/>
          <p:nvPr/>
        </p:nvSpPr>
        <p:spPr>
          <a:xfrm>
            <a:off x="6199632" y="1783080"/>
            <a:ext cx="5440680" cy="1261872"/>
          </a:xfrm>
          <a:prstGeom prst="roundRect">
            <a:avLst>
              <a:gd name="adj" fmla="val 5797"/>
            </a:avLst>
          </a:prstGeom>
          <a:solidFill>
            <a:srgbClr val="C9A66B">
              <a:alpha val="10000"/>
            </a:srgbClr>
          </a:solidFill>
          <a:ln/>
        </p:spPr>
      </p:sp>
      <p:sp>
        <p:nvSpPr>
          <p:cNvPr id="9" name="Shape 7"/>
          <p:cNvSpPr/>
          <p:nvPr/>
        </p:nvSpPr>
        <p:spPr>
          <a:xfrm>
            <a:off x="6400800" y="1965960"/>
            <a:ext cx="384048" cy="384048"/>
          </a:xfrm>
          <a:prstGeom prst="ellipse">
            <a:avLst/>
          </a:prstGeom>
          <a:solidFill>
            <a:srgbClr val="5C3A21"/>
          </a:solidFill>
          <a:ln/>
        </p:spPr>
      </p:sp>
      <p:sp>
        <p:nvSpPr>
          <p:cNvPr id="10" name="Text 8"/>
          <p:cNvSpPr/>
          <p:nvPr/>
        </p:nvSpPr>
        <p:spPr>
          <a:xfrm>
            <a:off x="6400800" y="196596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1" name="Text 9"/>
          <p:cNvSpPr/>
          <p:nvPr/>
        </p:nvSpPr>
        <p:spPr>
          <a:xfrm>
            <a:off x="6976872" y="1892808"/>
            <a:ext cx="4480560" cy="1051560"/>
          </a:xfrm>
          <a:prstGeom prst="rect">
            <a:avLst/>
          </a:prstGeom>
          <a:noFill/>
          <a:ln/>
        </p:spPr>
        <p:txBody>
          <a:bodyPr wrap="square" lIns="0" tIns="0" rIns="0" bIns="0" rtlCol="0" anchor="ctr"/>
          <a:lstStyle/>
          <a:p>
            <a:pPr indent="0" marL="0">
              <a:lnSpc>
                <a:spcPct val="120000"/>
              </a:lnSpc>
              <a:buNone/>
            </a:pPr>
            <a:r>
              <a:rPr lang="en-US" sz="1100" dirty="0">
                <a:solidFill>
                  <a:srgbClr val="3A2E22"/>
                </a:solidFill>
                <a:latin typeface="Calibri" pitchFamily="34" charset="0"/>
                <a:ea typeface="Calibri" pitchFamily="34" charset="-122"/>
                <a:cs typeface="Calibri" pitchFamily="34" charset="-120"/>
              </a:rPr>
              <a:t>El 16 de octubre de 1846 (Morton, éter) marca el nacimiento de la anestesia quirúrgica moderna; Simpson introduce el cloroformo en 1847.</a:t>
            </a:r>
            <a:endParaRPr lang="en-US" sz="1100" dirty="0"/>
          </a:p>
        </p:txBody>
      </p:sp>
      <p:sp>
        <p:nvSpPr>
          <p:cNvPr id="12" name="Shape 10"/>
          <p:cNvSpPr/>
          <p:nvPr/>
        </p:nvSpPr>
        <p:spPr>
          <a:xfrm>
            <a:off x="548640" y="3200400"/>
            <a:ext cx="5440680" cy="1261872"/>
          </a:xfrm>
          <a:prstGeom prst="roundRect">
            <a:avLst>
              <a:gd name="adj" fmla="val 5797"/>
            </a:avLst>
          </a:prstGeom>
          <a:solidFill>
            <a:srgbClr val="C9A66B">
              <a:alpha val="10000"/>
            </a:srgbClr>
          </a:solidFill>
          <a:ln/>
        </p:spPr>
      </p:sp>
      <p:sp>
        <p:nvSpPr>
          <p:cNvPr id="13" name="Shape 11"/>
          <p:cNvSpPr/>
          <p:nvPr/>
        </p:nvSpPr>
        <p:spPr>
          <a:xfrm>
            <a:off x="749808" y="3383280"/>
            <a:ext cx="384048" cy="384048"/>
          </a:xfrm>
          <a:prstGeom prst="ellipse">
            <a:avLst/>
          </a:prstGeom>
          <a:solidFill>
            <a:srgbClr val="5C3A21"/>
          </a:solidFill>
          <a:ln/>
        </p:spPr>
      </p:sp>
      <p:sp>
        <p:nvSpPr>
          <p:cNvPr id="14" name="Text 12"/>
          <p:cNvSpPr/>
          <p:nvPr/>
        </p:nvSpPr>
        <p:spPr>
          <a:xfrm>
            <a:off x="749808" y="338328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5" name="Text 13"/>
          <p:cNvSpPr/>
          <p:nvPr/>
        </p:nvSpPr>
        <p:spPr>
          <a:xfrm>
            <a:off x="1325880" y="3310128"/>
            <a:ext cx="4480560" cy="1051560"/>
          </a:xfrm>
          <a:prstGeom prst="rect">
            <a:avLst/>
          </a:prstGeom>
          <a:noFill/>
          <a:ln/>
        </p:spPr>
        <p:txBody>
          <a:bodyPr wrap="square" lIns="0" tIns="0" rIns="0" bIns="0" rtlCol="0" anchor="ctr"/>
          <a:lstStyle/>
          <a:p>
            <a:pPr indent="0" marL="0">
              <a:lnSpc>
                <a:spcPct val="120000"/>
              </a:lnSpc>
              <a:buNone/>
            </a:pPr>
            <a:r>
              <a:rPr lang="en-US" sz="1100" dirty="0">
                <a:solidFill>
                  <a:srgbClr val="3A2E22"/>
                </a:solidFill>
                <a:latin typeface="Calibri" pitchFamily="34" charset="0"/>
                <a:ea typeface="Calibri" pitchFamily="34" charset="-122"/>
                <a:cs typeface="Calibri" pitchFamily="34" charset="-120"/>
              </a:rPr>
              <a:t>Koller (1884), Halsted y Bier (1898) fundan la anestesia local y regional a partir de la cocaína y sus derivados sintéticos.</a:t>
            </a:r>
            <a:endParaRPr lang="en-US" sz="1100" dirty="0"/>
          </a:p>
        </p:txBody>
      </p:sp>
      <p:sp>
        <p:nvSpPr>
          <p:cNvPr id="16" name="Shape 14"/>
          <p:cNvSpPr/>
          <p:nvPr/>
        </p:nvSpPr>
        <p:spPr>
          <a:xfrm>
            <a:off x="6199632" y="3200400"/>
            <a:ext cx="5440680" cy="1261872"/>
          </a:xfrm>
          <a:prstGeom prst="roundRect">
            <a:avLst>
              <a:gd name="adj" fmla="val 5797"/>
            </a:avLst>
          </a:prstGeom>
          <a:solidFill>
            <a:srgbClr val="C9A66B">
              <a:alpha val="10000"/>
            </a:srgbClr>
          </a:solidFill>
          <a:ln/>
        </p:spPr>
      </p:sp>
      <p:sp>
        <p:nvSpPr>
          <p:cNvPr id="17" name="Shape 15"/>
          <p:cNvSpPr/>
          <p:nvPr/>
        </p:nvSpPr>
        <p:spPr>
          <a:xfrm>
            <a:off x="6400800" y="3383280"/>
            <a:ext cx="384048" cy="384048"/>
          </a:xfrm>
          <a:prstGeom prst="ellipse">
            <a:avLst/>
          </a:prstGeom>
          <a:solidFill>
            <a:srgbClr val="5C3A21"/>
          </a:solidFill>
          <a:ln/>
        </p:spPr>
      </p:sp>
      <p:sp>
        <p:nvSpPr>
          <p:cNvPr id="18" name="Text 16"/>
          <p:cNvSpPr/>
          <p:nvPr/>
        </p:nvSpPr>
        <p:spPr>
          <a:xfrm>
            <a:off x="6400800" y="338328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19" name="Text 17"/>
          <p:cNvSpPr/>
          <p:nvPr/>
        </p:nvSpPr>
        <p:spPr>
          <a:xfrm>
            <a:off x="6976872" y="3310128"/>
            <a:ext cx="4480560" cy="1051560"/>
          </a:xfrm>
          <a:prstGeom prst="rect">
            <a:avLst/>
          </a:prstGeom>
          <a:noFill/>
          <a:ln/>
        </p:spPr>
        <p:txBody>
          <a:bodyPr wrap="square" lIns="0" tIns="0" rIns="0" bIns="0" rtlCol="0" anchor="ctr"/>
          <a:lstStyle/>
          <a:p>
            <a:pPr indent="0" marL="0">
              <a:lnSpc>
                <a:spcPct val="120000"/>
              </a:lnSpc>
              <a:buNone/>
            </a:pPr>
            <a:r>
              <a:rPr lang="en-US" sz="1100" dirty="0">
                <a:solidFill>
                  <a:srgbClr val="3A2E22"/>
                </a:solidFill>
                <a:latin typeface="Calibri" pitchFamily="34" charset="0"/>
                <a:ea typeface="Calibri" pitchFamily="34" charset="-122"/>
                <a:cs typeface="Calibri" pitchFamily="34" charset="-120"/>
              </a:rPr>
              <a:t>Guedel, Waters, Magill y Griffith consolidan, en el siglo XX, las bases técnicas, académicas y farmacológicas de la especialidad moderna.</a:t>
            </a:r>
            <a:endParaRPr lang="en-US" sz="1100" dirty="0"/>
          </a:p>
        </p:txBody>
      </p:sp>
      <p:sp>
        <p:nvSpPr>
          <p:cNvPr id="20" name="Shape 18"/>
          <p:cNvSpPr/>
          <p:nvPr/>
        </p:nvSpPr>
        <p:spPr>
          <a:xfrm>
            <a:off x="548640" y="4617720"/>
            <a:ext cx="5440680" cy="1261872"/>
          </a:xfrm>
          <a:prstGeom prst="roundRect">
            <a:avLst>
              <a:gd name="adj" fmla="val 5797"/>
            </a:avLst>
          </a:prstGeom>
          <a:solidFill>
            <a:srgbClr val="C9A66B">
              <a:alpha val="10000"/>
            </a:srgbClr>
          </a:solidFill>
          <a:ln/>
        </p:spPr>
      </p:sp>
      <p:sp>
        <p:nvSpPr>
          <p:cNvPr id="21" name="Shape 19"/>
          <p:cNvSpPr/>
          <p:nvPr/>
        </p:nvSpPr>
        <p:spPr>
          <a:xfrm>
            <a:off x="749808" y="4800600"/>
            <a:ext cx="384048" cy="384048"/>
          </a:xfrm>
          <a:prstGeom prst="ellipse">
            <a:avLst/>
          </a:prstGeom>
          <a:solidFill>
            <a:srgbClr val="5C3A21"/>
          </a:solidFill>
          <a:ln/>
        </p:spPr>
      </p:sp>
      <p:sp>
        <p:nvSpPr>
          <p:cNvPr id="22" name="Text 20"/>
          <p:cNvSpPr/>
          <p:nvPr/>
        </p:nvSpPr>
        <p:spPr>
          <a:xfrm>
            <a:off x="749808" y="480060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23" name="Text 21"/>
          <p:cNvSpPr/>
          <p:nvPr/>
        </p:nvSpPr>
        <p:spPr>
          <a:xfrm>
            <a:off x="1325880" y="4727448"/>
            <a:ext cx="4480560" cy="1051560"/>
          </a:xfrm>
          <a:prstGeom prst="rect">
            <a:avLst/>
          </a:prstGeom>
          <a:noFill/>
          <a:ln/>
        </p:spPr>
        <p:txBody>
          <a:bodyPr wrap="square" lIns="0" tIns="0" rIns="0" bIns="0" rtlCol="0" anchor="ctr"/>
          <a:lstStyle/>
          <a:p>
            <a:pPr indent="0" marL="0">
              <a:lnSpc>
                <a:spcPct val="120000"/>
              </a:lnSpc>
              <a:buNone/>
            </a:pPr>
            <a:r>
              <a:rPr lang="en-US" sz="1100" dirty="0">
                <a:solidFill>
                  <a:srgbClr val="3A2E22"/>
                </a:solidFill>
                <a:latin typeface="Calibri" pitchFamily="34" charset="0"/>
                <a:ea typeface="Calibri" pitchFamily="34" charset="-122"/>
                <a:cs typeface="Calibri" pitchFamily="34" charset="-120"/>
              </a:rPr>
              <a:t>La profesionalización —sociedades científicas, juntas de certificación, departamentos académicos— transforma la anestesia en especialidad médica independiente.</a:t>
            </a:r>
            <a:endParaRPr lang="en-US" sz="1100" dirty="0"/>
          </a:p>
        </p:txBody>
      </p:sp>
      <p:sp>
        <p:nvSpPr>
          <p:cNvPr id="24" name="Shape 22"/>
          <p:cNvSpPr/>
          <p:nvPr/>
        </p:nvSpPr>
        <p:spPr>
          <a:xfrm>
            <a:off x="6199632" y="4617720"/>
            <a:ext cx="5440680" cy="1261872"/>
          </a:xfrm>
          <a:prstGeom prst="roundRect">
            <a:avLst>
              <a:gd name="adj" fmla="val 5797"/>
            </a:avLst>
          </a:prstGeom>
          <a:solidFill>
            <a:srgbClr val="C9A66B">
              <a:alpha val="10000"/>
            </a:srgbClr>
          </a:solidFill>
          <a:ln/>
        </p:spPr>
      </p:sp>
      <p:sp>
        <p:nvSpPr>
          <p:cNvPr id="25" name="Shape 23"/>
          <p:cNvSpPr/>
          <p:nvPr/>
        </p:nvSpPr>
        <p:spPr>
          <a:xfrm>
            <a:off x="6400800" y="4800600"/>
            <a:ext cx="384048" cy="384048"/>
          </a:xfrm>
          <a:prstGeom prst="ellipse">
            <a:avLst/>
          </a:prstGeom>
          <a:solidFill>
            <a:srgbClr val="5C3A21"/>
          </a:solidFill>
          <a:ln/>
        </p:spPr>
      </p:sp>
      <p:sp>
        <p:nvSpPr>
          <p:cNvPr id="26" name="Text 24"/>
          <p:cNvSpPr/>
          <p:nvPr/>
        </p:nvSpPr>
        <p:spPr>
          <a:xfrm>
            <a:off x="6400800" y="480060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6</a:t>
            </a:r>
            <a:endParaRPr lang="en-US" sz="1500" dirty="0"/>
          </a:p>
        </p:txBody>
      </p:sp>
      <p:sp>
        <p:nvSpPr>
          <p:cNvPr id="27" name="Text 25"/>
          <p:cNvSpPr/>
          <p:nvPr/>
        </p:nvSpPr>
        <p:spPr>
          <a:xfrm>
            <a:off x="6976872" y="4727448"/>
            <a:ext cx="4480560" cy="1051560"/>
          </a:xfrm>
          <a:prstGeom prst="rect">
            <a:avLst/>
          </a:prstGeom>
          <a:noFill/>
          <a:ln/>
        </p:spPr>
        <p:txBody>
          <a:bodyPr wrap="square" lIns="0" tIns="0" rIns="0" bIns="0" rtlCol="0" anchor="ctr"/>
          <a:lstStyle/>
          <a:p>
            <a:pPr indent="0" marL="0">
              <a:lnSpc>
                <a:spcPct val="120000"/>
              </a:lnSpc>
              <a:buNone/>
            </a:pPr>
            <a:r>
              <a:rPr lang="en-US" sz="1100" dirty="0">
                <a:solidFill>
                  <a:srgbClr val="3A2E22"/>
                </a:solidFill>
                <a:latin typeface="Calibri" pitchFamily="34" charset="0"/>
                <a:ea typeface="Calibri" pitchFamily="34" charset="-122"/>
                <a:cs typeface="Calibri" pitchFamily="34" charset="-120"/>
              </a:rPr>
              <a:t>La monitorización estandarizada (pulsioximetría, capnografía, estándares ASA) redujo drásticamente la mortalidad anestésica en el siglo XX-XXI.</a:t>
            </a:r>
            <a:endParaRPr lang="en-US" sz="1100" dirty="0"/>
          </a:p>
        </p:txBody>
      </p:sp>
      <p:sp>
        <p:nvSpPr>
          <p:cNvPr id="28" name="Text 26"/>
          <p:cNvSpPr/>
          <p:nvPr/>
        </p:nvSpPr>
        <p:spPr>
          <a:xfrm>
            <a:off x="548640" y="6473952"/>
            <a:ext cx="6400800" cy="274320"/>
          </a:xfrm>
          <a:prstGeom prst="rect">
            <a:avLst/>
          </a:prstGeom>
          <a:noFill/>
          <a:ln/>
        </p:spPr>
        <p:txBody>
          <a:bodyPr wrap="square" lIns="0" tIns="0" rIns="0" bIns="0" rtlCol="0" anchor="ctr"/>
          <a:lstStyle/>
          <a:p>
            <a:pPr indent="0" marL="0">
              <a:buNone/>
            </a:pPr>
            <a:r>
              <a:rPr lang="en-US" sz="850" spc="100" kern="0" dirty="0">
                <a:solidFill>
                  <a:srgbClr val="7A6A57"/>
                </a:solidFill>
                <a:latin typeface="Calibri" pitchFamily="34" charset="0"/>
                <a:ea typeface="Calibri" pitchFamily="34" charset="-122"/>
                <a:cs typeface="Calibri" pitchFamily="34" charset="-120"/>
              </a:rPr>
              <a:t>CAPÍTULO II  ·  HISTORIA DE LA ANESTESIA</a:t>
            </a:r>
            <a:endParaRPr lang="en-US" sz="850" dirty="0"/>
          </a:p>
        </p:txBody>
      </p:sp>
      <p:sp>
        <p:nvSpPr>
          <p:cNvPr id="29" name="Text 27"/>
          <p:cNvSpPr/>
          <p:nvPr/>
        </p:nvSpPr>
        <p:spPr>
          <a:xfrm>
            <a:off x="10728655" y="6473952"/>
            <a:ext cx="914400" cy="274320"/>
          </a:xfrm>
          <a:prstGeom prst="rect">
            <a:avLst/>
          </a:prstGeom>
          <a:noFill/>
          <a:ln/>
        </p:spPr>
        <p:txBody>
          <a:bodyPr wrap="square" lIns="0" tIns="0" rIns="0" bIns="0" rtlCol="0" anchor="ctr"/>
          <a:lstStyle/>
          <a:p>
            <a:pPr algn="r" indent="0" marL="0">
              <a:buNone/>
            </a:pPr>
            <a:r>
              <a:rPr lang="en-US" sz="850" dirty="0">
                <a:solidFill>
                  <a:srgbClr val="7A6A57"/>
                </a:solidFill>
                <a:latin typeface="Calibri" pitchFamily="34" charset="0"/>
                <a:ea typeface="Calibri" pitchFamily="34" charset="-122"/>
                <a:cs typeface="Calibri" pitchFamily="34" charset="-120"/>
              </a:rPr>
              <a:t>30</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2B2118"/>
        </a:solidFill>
      </p:bgPr>
    </p:bg>
    <p:spTree>
      <p:nvGrpSpPr>
        <p:cNvPr id="1" name=""/>
        <p:cNvGrpSpPr/>
        <p:nvPr/>
      </p:nvGrpSpPr>
      <p:grpSpPr>
        <a:xfrm>
          <a:off x="0" y="0"/>
          <a:ext cx="0" cy="0"/>
          <a:chOff x="0" y="0"/>
          <a:chExt cx="0" cy="0"/>
        </a:xfrm>
      </p:grpSpPr>
      <p:sp>
        <p:nvSpPr>
          <p:cNvPr id="2" name="Shape 0"/>
          <p:cNvSpPr/>
          <p:nvPr/>
        </p:nvSpPr>
        <p:spPr>
          <a:xfrm>
            <a:off x="9418320" y="-1645920"/>
            <a:ext cx="4572000" cy="4572000"/>
          </a:xfrm>
          <a:prstGeom prst="ellipse">
            <a:avLst/>
          </a:prstGeom>
          <a:ln w="12700">
            <a:solidFill>
              <a:srgbClr val="8B5E3C">
                <a:alpha val="45000"/>
              </a:srgbClr>
            </a:solidFill>
            <a:prstDash val="solid"/>
          </a:ln>
        </p:spPr>
      </p:sp>
      <p:sp>
        <p:nvSpPr>
          <p:cNvPr id="3" name="Shape 1"/>
          <p:cNvSpPr/>
          <p:nvPr/>
        </p:nvSpPr>
        <p:spPr>
          <a:xfrm>
            <a:off x="548640" y="640080"/>
            <a:ext cx="914400" cy="914400"/>
          </a:xfrm>
          <a:prstGeom prst="ellipse">
            <a:avLst/>
          </a:prstGeom>
          <a:solidFill>
            <a:srgbClr val="C9A66B"/>
          </a:solidFill>
          <a:ln/>
          <a:effectLst>
            <a:outerShdw sx="100000" sy="100000" kx="0" ky="0" algn="bl" rotWithShape="0" blurRad="101600" dist="38100" dir="5400000">
              <a:srgbClr val="2B2118">
                <a:alpha val="28000"/>
              </a:srgbClr>
            </a:outerShdw>
          </a:effectLst>
        </p:spPr>
      </p:sp>
      <p:pic>
        <p:nvPicPr>
          <p:cNvPr id="4" name="Image 0" descr="preencoded.png">    </p:cNvPr>
          <p:cNvPicPr>
            <a:picLocks noChangeAspect="1"/>
          </p:cNvPicPr>
          <p:nvPr/>
        </p:nvPicPr>
        <p:blipFill>
          <a:blip r:embed="rId1"/>
          <a:stretch>
            <a:fillRect/>
          </a:stretch>
        </p:blipFill>
        <p:spPr>
          <a:xfrm>
            <a:off x="777240" y="868680"/>
            <a:ext cx="457200" cy="457200"/>
          </a:xfrm>
          <a:prstGeom prst="rect">
            <a:avLst/>
          </a:prstGeom>
        </p:spPr>
      </p:pic>
      <p:sp>
        <p:nvSpPr>
          <p:cNvPr id="5" name="Text 2"/>
          <p:cNvSpPr/>
          <p:nvPr/>
        </p:nvSpPr>
        <p:spPr>
          <a:xfrm>
            <a:off x="1691640" y="731520"/>
            <a:ext cx="7315200" cy="274320"/>
          </a:xfrm>
          <a:prstGeom prst="rect">
            <a:avLst/>
          </a:prstGeom>
          <a:noFill/>
          <a:ln/>
        </p:spPr>
        <p:txBody>
          <a:bodyPr wrap="square" lIns="0" tIns="0" rIns="0" bIns="0" rtlCol="0" anchor="ctr"/>
          <a:lstStyle/>
          <a:p>
            <a:pPr indent="0" marL="0">
              <a:buNone/>
            </a:pPr>
            <a:r>
              <a:rPr lang="en-US" sz="1200" b="1" spc="200" kern="0" dirty="0">
                <a:solidFill>
                  <a:srgbClr val="C9A66B"/>
                </a:solidFill>
                <a:latin typeface="Calibri" pitchFamily="34" charset="0"/>
                <a:ea typeface="Calibri" pitchFamily="34" charset="-122"/>
                <a:cs typeface="Calibri" pitchFamily="34" charset="-120"/>
              </a:rPr>
              <a:t>CIERRE DEL CAPÍTULO</a:t>
            </a:r>
            <a:endParaRPr lang="en-US" sz="1200" dirty="0"/>
          </a:p>
        </p:txBody>
      </p:sp>
      <p:sp>
        <p:nvSpPr>
          <p:cNvPr id="6" name="Text 3"/>
          <p:cNvSpPr/>
          <p:nvPr/>
        </p:nvSpPr>
        <p:spPr>
          <a:xfrm>
            <a:off x="1691640" y="1005840"/>
            <a:ext cx="8229600" cy="5943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Referencias bibliográficas</a:t>
            </a:r>
            <a:endParaRPr lang="en-US" sz="3000" dirty="0"/>
          </a:p>
        </p:txBody>
      </p:sp>
      <p:sp>
        <p:nvSpPr>
          <p:cNvPr id="7" name="Text 4"/>
          <p:cNvSpPr/>
          <p:nvPr/>
        </p:nvSpPr>
        <p:spPr>
          <a:xfrm>
            <a:off x="548640" y="1965960"/>
            <a:ext cx="5349240" cy="4023360"/>
          </a:xfrm>
          <a:prstGeom prst="rect">
            <a:avLst/>
          </a:prstGeom>
          <a:noFill/>
          <a:ln/>
        </p:spPr>
        <p:txBody>
          <a:bodyPr wrap="square" lIns="0" tIns="0" rIns="0" bIns="0" rtlCol="0" anchor="t"/>
          <a:lstStyle/>
          <a:p>
            <a:pPr marL="177800" indent="-177800">
              <a:lnSpc>
                <a:spcPct val="122000"/>
              </a:lnSpc>
              <a:spcAft>
                <a:spcPts val="1400"/>
              </a:spcAft>
              <a:buSzPct val="100000"/>
              <a:buChar char="•"/>
            </a:pPr>
            <a:r>
              <a:rPr lang="en-US" sz="1200" dirty="0">
                <a:solidFill>
                  <a:srgbClr val="F3ECE0"/>
                </a:solidFill>
                <a:latin typeface="Calibri" pitchFamily="34" charset="0"/>
                <a:ea typeface="Calibri" pitchFamily="34" charset="-122"/>
                <a:cs typeface="Calibri" pitchFamily="34" charset="-120"/>
              </a:rPr>
              <a:t>Miller RD, Gropper MA, et al. Miller's Anesthesia. Elsevier, edición vigente.</a:t>
            </a:r>
            <a:endParaRPr lang="en-US" sz="1200" dirty="0"/>
          </a:p>
          <a:p>
            <a:pPr marL="177800" indent="-177800">
              <a:lnSpc>
                <a:spcPct val="122000"/>
              </a:lnSpc>
              <a:spcAft>
                <a:spcPts val="1400"/>
              </a:spcAft>
              <a:buSzPct val="100000"/>
              <a:buChar char="•"/>
            </a:pPr>
            <a:r>
              <a:rPr lang="en-US" sz="1200" dirty="0">
                <a:solidFill>
                  <a:srgbClr val="F3ECE0"/>
                </a:solidFill>
                <a:latin typeface="Calibri" pitchFamily="34" charset="0"/>
                <a:ea typeface="Calibri" pitchFamily="34" charset="-122"/>
                <a:cs typeface="Calibri" pitchFamily="34" charset="-120"/>
              </a:rPr>
              <a:t>Barash PG, Cullen BF, Stoelting RK, et al. Clinical Anesthesia. Wolters Kluwer, edición vigente.</a:t>
            </a:r>
            <a:endParaRPr lang="en-US" sz="1200" dirty="0"/>
          </a:p>
          <a:p>
            <a:pPr marL="177800" indent="-177800">
              <a:lnSpc>
                <a:spcPct val="122000"/>
              </a:lnSpc>
              <a:spcAft>
                <a:spcPts val="1400"/>
              </a:spcAft>
              <a:buSzPct val="100000"/>
              <a:buChar char="•"/>
            </a:pPr>
            <a:r>
              <a:rPr lang="en-US" sz="1200" dirty="0">
                <a:solidFill>
                  <a:srgbClr val="F3ECE0"/>
                </a:solidFill>
                <a:latin typeface="Calibri" pitchFamily="34" charset="0"/>
                <a:ea typeface="Calibri" pitchFamily="34" charset="-122"/>
                <a:cs typeface="Calibri" pitchFamily="34" charset="-120"/>
              </a:rPr>
              <a:t>Morgan GE, Mikhail MS, Butterworth JF. Morgan &amp; Mikhail's Clinical Anesthesiology. McGraw-Hill, edición vigente.</a:t>
            </a:r>
            <a:endParaRPr lang="en-US" sz="1200" dirty="0"/>
          </a:p>
          <a:p>
            <a:pPr marL="177800" indent="-177800">
              <a:lnSpc>
                <a:spcPct val="122000"/>
              </a:lnSpc>
              <a:spcAft>
                <a:spcPts val="1400"/>
              </a:spcAft>
              <a:buSzPct val="100000"/>
              <a:buChar char="•"/>
            </a:pPr>
            <a:r>
              <a:rPr lang="en-US" sz="1200" dirty="0">
                <a:solidFill>
                  <a:srgbClr val="F3ECE0"/>
                </a:solidFill>
                <a:latin typeface="Calibri" pitchFamily="34" charset="0"/>
                <a:ea typeface="Calibri" pitchFamily="34" charset="-122"/>
                <a:cs typeface="Calibri" pitchFamily="34" charset="-120"/>
              </a:rPr>
              <a:t>Eger EI II, Saidman LJ, Westhorpe RN (eds). The Wondrous Story of Anesthesia. Springer.</a:t>
            </a:r>
            <a:endParaRPr lang="en-US" sz="1200" dirty="0"/>
          </a:p>
        </p:txBody>
      </p:sp>
      <p:sp>
        <p:nvSpPr>
          <p:cNvPr id="8" name="Text 5"/>
          <p:cNvSpPr/>
          <p:nvPr/>
        </p:nvSpPr>
        <p:spPr>
          <a:xfrm>
            <a:off x="6217920" y="1965960"/>
            <a:ext cx="5349240" cy="4023360"/>
          </a:xfrm>
          <a:prstGeom prst="rect">
            <a:avLst/>
          </a:prstGeom>
          <a:noFill/>
          <a:ln/>
        </p:spPr>
        <p:txBody>
          <a:bodyPr wrap="square" lIns="0" tIns="0" rIns="0" bIns="0" rtlCol="0" anchor="t"/>
          <a:lstStyle/>
          <a:p>
            <a:pPr marL="177800" indent="-177800">
              <a:lnSpc>
                <a:spcPct val="122000"/>
              </a:lnSpc>
              <a:spcAft>
                <a:spcPts val="1400"/>
              </a:spcAft>
              <a:buSzPct val="100000"/>
              <a:buChar char="•"/>
            </a:pPr>
            <a:r>
              <a:rPr lang="en-US" sz="1200" dirty="0">
                <a:solidFill>
                  <a:srgbClr val="F3ECE0"/>
                </a:solidFill>
                <a:latin typeface="Calibri" pitchFamily="34" charset="0"/>
                <a:ea typeface="Calibri" pitchFamily="34" charset="-122"/>
                <a:cs typeface="Calibri" pitchFamily="34" charset="-120"/>
              </a:rPr>
              <a:t>Fenster JM. Ether Day: The Strange Tale of America's Greatest Medical Discovery. HarperCollins.</a:t>
            </a:r>
            <a:endParaRPr lang="en-US" sz="1200" dirty="0"/>
          </a:p>
          <a:p>
            <a:pPr marL="177800" indent="-177800">
              <a:lnSpc>
                <a:spcPct val="122000"/>
              </a:lnSpc>
              <a:spcAft>
                <a:spcPts val="1400"/>
              </a:spcAft>
              <a:buSzPct val="100000"/>
              <a:buChar char="•"/>
            </a:pPr>
            <a:r>
              <a:rPr lang="en-US" sz="1200" dirty="0">
                <a:solidFill>
                  <a:srgbClr val="F3ECE0"/>
                </a:solidFill>
                <a:latin typeface="Calibri" pitchFamily="34" charset="0"/>
                <a:ea typeface="Calibri" pitchFamily="34" charset="-122"/>
                <a:cs typeface="Calibri" pitchFamily="34" charset="-120"/>
              </a:rPr>
              <a:t>Keys TE. The History of Surgical Anesthesia. Wood Library-Museum of Anesthesiology.</a:t>
            </a:r>
            <a:endParaRPr lang="en-US" sz="1200" dirty="0"/>
          </a:p>
          <a:p>
            <a:pPr marL="177800" indent="-177800">
              <a:lnSpc>
                <a:spcPct val="122000"/>
              </a:lnSpc>
              <a:spcAft>
                <a:spcPts val="1400"/>
              </a:spcAft>
              <a:buSzPct val="100000"/>
              <a:buChar char="•"/>
            </a:pPr>
            <a:r>
              <a:rPr lang="en-US" sz="1200" dirty="0">
                <a:solidFill>
                  <a:srgbClr val="F3ECE0"/>
                </a:solidFill>
                <a:latin typeface="Calibri" pitchFamily="34" charset="0"/>
                <a:ea typeface="Calibri" pitchFamily="34" charset="-122"/>
                <a:cs typeface="Calibri" pitchFamily="34" charset="-120"/>
              </a:rPr>
              <a:t>American Society of Anesthesiologists (ASA). Recursos de historia de la anestesiología, asahq.org.</a:t>
            </a:r>
            <a:endParaRPr lang="en-US" sz="1200" dirty="0"/>
          </a:p>
          <a:p>
            <a:pPr marL="177800" indent="-177800">
              <a:lnSpc>
                <a:spcPct val="122000"/>
              </a:lnSpc>
              <a:spcAft>
                <a:spcPts val="1400"/>
              </a:spcAft>
              <a:buSzPct val="100000"/>
              <a:buChar char="•"/>
            </a:pPr>
            <a:r>
              <a:rPr lang="en-US" sz="1200" dirty="0">
                <a:solidFill>
                  <a:srgbClr val="F3ECE0"/>
                </a:solidFill>
                <a:latin typeface="Calibri" pitchFamily="34" charset="0"/>
                <a:ea typeface="Calibri" pitchFamily="34" charset="-122"/>
                <a:cs typeface="Calibri" pitchFamily="34" charset="-120"/>
              </a:rPr>
              <a:t>World Federation of Societies of Anaesthesiologists (WFSA). Recursos históricos institucionales, wfsahq.org.</a:t>
            </a:r>
            <a:endParaRPr lang="en-US" sz="1200" dirty="0"/>
          </a:p>
        </p:txBody>
      </p:sp>
      <p:sp>
        <p:nvSpPr>
          <p:cNvPr id="9" name="Text 6"/>
          <p:cNvSpPr/>
          <p:nvPr/>
        </p:nvSpPr>
        <p:spPr>
          <a:xfrm>
            <a:off x="548640" y="6172200"/>
            <a:ext cx="10881360" cy="365760"/>
          </a:xfrm>
          <a:prstGeom prst="rect">
            <a:avLst/>
          </a:prstGeom>
          <a:noFill/>
          <a:ln/>
        </p:spPr>
        <p:txBody>
          <a:bodyPr wrap="square" lIns="0" tIns="0" rIns="0" bIns="0" rtlCol="0" anchor="ctr"/>
          <a:lstStyle/>
          <a:p>
            <a:pPr indent="0" marL="0">
              <a:buNone/>
            </a:pPr>
            <a:r>
              <a:rPr lang="en-US" sz="1100" i="1" dirty="0">
                <a:solidFill>
                  <a:srgbClr val="C9B8A0"/>
                </a:solidFill>
                <a:latin typeface="Calibri" pitchFamily="34" charset="0"/>
                <a:ea typeface="Calibri" pitchFamily="34" charset="-122"/>
                <a:cs typeface="Calibri" pitchFamily="34" charset="-120"/>
              </a:rPr>
              <a:t>Fin del Capítulo II. El Capítulo III continúa con los fundamentos farmacológicos de la anestesiología moderna.</a:t>
            </a:r>
            <a:endParaRPr lang="en-US" sz="1100" dirty="0"/>
          </a:p>
        </p:txBody>
      </p:sp>
      <p:sp>
        <p:nvSpPr>
          <p:cNvPr id="10" name="Text 7"/>
          <p:cNvSpPr/>
          <p:nvPr/>
        </p:nvSpPr>
        <p:spPr>
          <a:xfrm>
            <a:off x="548640" y="6473952"/>
            <a:ext cx="6400800" cy="274320"/>
          </a:xfrm>
          <a:prstGeom prst="rect">
            <a:avLst/>
          </a:prstGeom>
          <a:noFill/>
          <a:ln/>
        </p:spPr>
        <p:txBody>
          <a:bodyPr wrap="square" lIns="0" tIns="0" rIns="0" bIns="0" rtlCol="0" anchor="ctr"/>
          <a:lstStyle/>
          <a:p>
            <a:pPr indent="0" marL="0">
              <a:buNone/>
            </a:pPr>
            <a:r>
              <a:rPr lang="en-US" sz="850" spc="100" kern="0" dirty="0">
                <a:solidFill>
                  <a:srgbClr val="C9B8A0"/>
                </a:solidFill>
                <a:latin typeface="Calibri" pitchFamily="34" charset="0"/>
                <a:ea typeface="Calibri" pitchFamily="34" charset="-122"/>
                <a:cs typeface="Calibri" pitchFamily="34" charset="-120"/>
              </a:rPr>
              <a:t>CAPÍTULO II  ·  HISTORIA DE LA ANESTESIA</a:t>
            </a:r>
            <a:endParaRPr lang="en-US" sz="850" dirty="0"/>
          </a:p>
        </p:txBody>
      </p:sp>
      <p:sp>
        <p:nvSpPr>
          <p:cNvPr id="11" name="Text 8"/>
          <p:cNvSpPr/>
          <p:nvPr/>
        </p:nvSpPr>
        <p:spPr>
          <a:xfrm>
            <a:off x="10728655" y="6473952"/>
            <a:ext cx="914400" cy="274320"/>
          </a:xfrm>
          <a:prstGeom prst="rect">
            <a:avLst/>
          </a:prstGeom>
          <a:noFill/>
          <a:ln/>
        </p:spPr>
        <p:txBody>
          <a:bodyPr wrap="square" lIns="0" tIns="0" rIns="0" bIns="0" rtlCol="0" anchor="ctr"/>
          <a:lstStyle/>
          <a:p>
            <a:pPr algn="r" indent="0" marL="0">
              <a:buNone/>
            </a:pPr>
            <a:r>
              <a:rPr lang="en-US" sz="850" dirty="0">
                <a:solidFill>
                  <a:srgbClr val="C9B8A0"/>
                </a:solidFill>
                <a:latin typeface="Calibri" pitchFamily="34" charset="0"/>
                <a:ea typeface="Calibri" pitchFamily="34" charset="-122"/>
                <a:cs typeface="Calibri" pitchFamily="34" charset="-120"/>
              </a:rPr>
              <a:t>31</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Capítulo II — Historia de la Anestesia</dc:title>
  <dc:subject>PptxGenJS Presentation</dc:subject>
  <dc:creator>GPA Academy</dc:creator>
  <cp:lastModifiedBy>GPA Academy</cp:lastModifiedBy>
  <cp:revision>1</cp:revision>
  <dcterms:created xsi:type="dcterms:W3CDTF">2026-08-26T23:16:25Z</dcterms:created>
  <dcterms:modified xsi:type="dcterms:W3CDTF">2026-08-26T23:16:25Z</dcterms:modified>
</cp:coreProperties>
</file>