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Panorama general del capítulo: se aborda primero la fisiología de la unión neuromuscular y la historia de los relajantes, luego la farmacología de los bloqueantes despolarizantes y no despolarizantes, los factores que modifican su efecto, las estrategias de reversión y, finalmente, la monitorización y el uso clínico perioperatorio.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que el bloqueo neuromuscular es un componente independiente de la anestesia balanceada: no sustituye a los hipnóticos ni a los analgésicos. La ausencia de monitorización adecuada de la profundidad hipnótica en un paciente relajado es un factor de riesgo reconocido para despertar intraoperatorio (awareness), por lo que su uso obligatoriamente se acompaña de vigilancia clínica y, cuando esté disponible, monitores de profundidad anestésica.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curare fue empleado durante siglos por pueblos amazónicos y fue Claude Bernard quien, en el siglo XIX, demostró que su sitio de acción era la unión neuromuscular y no el nervio ni el músculo per se. Harold Griffith y Enid Johnson administraron intocostrina (d-tubocurarina purificada) en 1942, marcando el nacimiento de la relajación muscular farmacológica moderna en anestesia. Desde entonces la evolución ha buscado fármacos más selectivos, de inicio predecible y con reversión más segura, culminando en sugammadex.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unión neuromuscular es el sitio anatómico donde actúan todos los bloqueantes neuromusculares. Su organización trilaminar —terminal presináptico, hendidura sináptica y membrana postsináptica plegada— maximiza la eficiencia de la transmisión colinérgica. Cada terminal nervioso puede contener miles de vesículas, cada una con aproximadamente 5,000–10,000 moléculas de acetilcolina (un "cuanto").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colina acetiltransferasa es específica de las neuronas colinérgicas y constituye un marcador bioquímico de este fenotipo neuronal. La recaptación de colina desde el espacio sináptico hacia el terminal, mediante un transportador de alta afinidad dependiente de Na+, es el paso limitante de la velocidad de resíntesis de acetilcolina. La acetilcolinesterasa es una de las enzimas más rápidas conocidas, con un número de recambio cercano a 25,000 moléculas por segundo.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proceso ocurre en pocos milisegundos y constituye la "transmisión neuromuscular segura", ya que normalmente se libera un exceso de acetilcolina respecto al mínimo necesario para generar un potencial de placa supraumbral (factor de seguridad). Los relajantes musculares actúan interrumpiendo este proceso en el paso del reconocimiento receptor-ACh (no despolarizantes) o alterando la fase de despolarización sostenida (despolarizantes), de ahí la importancia de dominar esta secuencia fisiológica antes de estudiar su farmacología.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estequiometría 2α:β:δ:ε (adulto) es clave para entender por qué se requieren dos moléculas de acetilcolina —una por cada subunidad alfa— para activar el canal. La sustitución de la subunidad ε por γ en el receptor fetal/inmaduro explica la vulnerabilidad de neonatos y de pacientes con denervación (lesión medular, quemados, síndromes de inmovilización prolongada) a la hipercalemia inducida por succinilcolina, debido a la proliferación de receptores extrajuncionales de tipo fetal en toda la membrana muscular.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distinción fisiológica fundamental es que los despolarizantes son agonistas del receptor nicotínico —lo abren y mantienen despolarizada la placa motora hasta que se produce un bloqueo por desensibilización— mientras que los no despolarizantes ocupan el sitio de unión sin activar el canal, impidiendo competitivamente el acceso de la acetilcolina. Esta diferencia mecanística explica por qué solo el bloqueo no despolarizante es reversible con anticolinesterásicos.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bloqueo de Fase I (despolarizante clásico) se caracteriza por ausencia de fade en la respuesta al tren de cuatro y ausencia de facilitación postetánica, a diferencia del bloqueo no despolarizante. Las fasciculaciones visibles al inicio reflejan la despolarización generalizada y simultánea de múltiples unidades motoras antes de que se instale la parálisis; se asocian a mialgias postoperatorias y son un signo clínico útil para confirmar el inicio de acción del fármaco.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pseudocolinesterasa se sintetiza en el hígado y su actividad es genéticamente variable; los homocigotos para el alelo atípico (dibucaine number bajo, en torno a 20) pueden presentar apnea prolongada de varias horas tras una dosis estándar de succinilcolina. En ausencia de reversores específicos para el bloqueo despolarizante, el manejo de un bloqueo prolongado es fundamentalmente de soporte: sedación, ventilación mecánica y monitorización hasta la recuperación espontánea.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hipertermia maligna es una emergencia farmacogenética por mutación del receptor de rianodina (RyR1) que provoca liberación descontrolada de calcio del retículo sarcoplásmico; requiere dantroleno de forma inmediata. El bloqueo de Fase II surge cuando la exposición prolongada o repetida a succinilcolina modifica el receptor y el patrón electrofisiológico del bloqueo se asemeja al no despolarizante, incluyendo cierta reversibilidad parcial con anticolinesterásicos, aunque su manejo sigue siendo motivo de cautela clínica.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ventana de riesgo en quemados y lesión medular no es inmediata: en las primeras 24 a 48 horas la succinilcolina suele ser segura, ya que la proliferación de receptores extrajuncionales requiere tiempo; el riesgo de hipercalemia se mantiene después mientras persista la denervación funcional, pudiendo extenderse meses o incluso años. Ante la duda, la alternativa más segura para intubación de secuencia rápida es rocuronio en dosis alta, con sugammadex disponible para reversión inmediata si se requiere.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carácter competitivo y reversible del bloqueo no despolarizante es la base farmacológica de su reversión con inhibidores de la acetilcolinesterasa: al aumentar la concentración sináptica de ACh se desplaza el equilibrio hacia la ocupación de los receptores por el neurotransmisor endógeno. Esta misma lógica explica por qué un bloqueo profundo (pocos receptores libres) es más difícil de revertir farmacológicamente que uno superficial.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clasificación estructural tiene relevancia clínica directa: los aminoesteroides son los sustratos de sugammadex (que los encapsula selectivamente por afinidad con su núcleo esteroide), mientras que las bencilisoquinolinas no son revertidas por este fármaco. Además, la liberación de histamina —más marcada con bencilisoquinolinas antiguas como el atracurio— se traduce clínicamente en eritema cutáneo, hipotensión leve y broncoespasmo ocasional, especialmente con administración rápida en 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clasificación por duración es orientativa y depende de la dosis administrada: dosis mayores a la DE95 (dosis efectiva para el 95% de los pacientes) prolongan tanto el inicio como la duración de cualquier relajante. En la práctica clínica actual, rocuronio ha desplazado en gran medida a vecuronio y pancuronio gracias a su combinación de inicio rápido, duración intermedia predecible y la disponibilidad de reversión inmediata con sugammadex.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disponibilidad de sugammadex transformó el rol clínico de rocuronio: al poder revertirse un bloqueo profundo en 2–3 minutos, muchos protocolos de vía aérea difícil sustituyeron a la succinilcolina por rocuronio en dosis alta para intubación de secuencia rápida, evitando así sus riesgos de hipercalemia, bradicardia y fasciculaciones. El metabolito activo del vecuronio explica la prolongación del bloqueo observada en pacientes con insuficiencia renal que reciben infusiones prolongadas en UCI.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eliminación de Hofmann convierte a cisatracurio en el relajante de elección en pacientes con disfunción hepática y renal combinada, un escenario frecuente en cuidados intensivos. A diferencia de rocuronio y vecuronio, ni atracurio ni cisatracurio son revertidos por sugammadex, ya que este agente encapsula selectivamente estructuras esteroideas; su reversión depende de anticolinesterásicos o de la degradación espontánea del propio fármaco.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perfil cardiovascular del pancuronio —taquicardia e hipertensión leve— puede ser clínicamente deseable en algunos contextos (p. ej. contrarrestar la bradicardia inducida por opioides o vagotonía quirúrgica) pero indeseable en pacientes con cardiopatía isquémica donde la taquicardia aumenta el consumo de oxígeno miocárdico. Su uso ha disminuido considerablemente en la práctica moderna en favor de agentes de acción intermedia con perfiles de reversión más seguros y predecibles.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cuadro resume los parámetros más consultados en la práctica diaria; sin embargo, todos los valores de inicio y duración son dosis-dependientes y varían con la técnica anestésica concomitante (los anestésicos halogenados potencian el bloqueo no despolarizante), la temperatura corporal, el equilibrio ácido-base y la función de eliminación de cada paciente. Los valores mostrados corresponden a dosis estándar de intubación (aproximadamente 2×DE95).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DE95 (dosis efectiva 95, la necesaria para deprimir un 95% la respuesta muscular a un solo estímulo) es la referencia farmacodinámica estándar para calcular dosis clínicas de intubación (habitualmente 2×DE95) y de mantenimiento. Comprender la relación dosis-respuesta no lineal es esencial para anticipar cuánto se prolongará un bloqueo tras dosis suplementarias durante una cirugía prolongada.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hipotermia es uno de los factores modificables más subestimados en el quirófano: por cada grado centígrado de descenso de la temperatura central, se ha descrito una prolongación clínicamente relevante del bloqueo neuromuscular no despolarizante, además de enlentecer la eliminación de la propia succinilcolina. Mantener normotermia perioperatoria no solo mejora desenlaces generales, sino que hace más predecible la farmacodinamia de los relajantes musculares.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aminoglucósidos actúan compitiendo con el calcio en el terminal presináptico, reduciendo la liberación cuántica de acetilcolina; su administración perioperatoria, especialmente en dosis únicas de profilaxis quirúrgica, obliga a extremar la monitorización neuromuscular objetiva. El sulfato de magnesio, frecuentemente usado en preeclampsia, es una de las interacciones más clínicamente relevantes en obstetricia: puede prolongar significativamente el efecto de rocuronio o vecuronio administrados durante una cesárea.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Neostigmina es el anticolinesterásico más utilizado en la práctica anestésica actual; piridostigmina se emplea más en el tratamiento crónico de la miastenia gravis por su duración más prolongada, y edrofonio ha caído en desuso clínico por su inicio muy rápido pero corta duración e insuficiente potencia para bloqueos profundos. La elección del agente y su dosis dependen de la profundidad del bloqueo residual medida objetivamente antes de administrar la reversión.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"techo" de reversión explica por qué neostigmina no debe administrarse ante un bloqueo profundo (TOF sin respuestas, o conteo postetánico bajo): la enzima ya está prácticamente saturada y no es posible generar más ACh disponible. En ese escenario, sugammadex —si el relajante es aminoesteroide— es la única opción farmacológica de reversión inmediata; de lo contrario, se debe esperar a la reversión espontánea antes de reforzar con anticolinesterásicos.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Glicopirrolato se prefiere frecuentemente por tener un perfil de inicio de acción muscarínica más parecido al de la neostigmina que la atropina, reduciendo la ventana de bradicardia transitoria que puede observarse si el anticolinérgico se administra por separado o con retraso. Ambos anticolinérgicos cruzan en distinta medida la barrera hematoencefálica: la atropina lo hace y puede producir efectos centrales (delirio), mientras que el glicopirrolato, un compuesto de amonio cuaternario, no la atraviesa.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Sugammadex representa el mayor avance en el manejo del bloqueo neuromuscular desde la introducción de los relajantes de acción intermedia: al eliminar el "techo" de reversión propio de los anticolinesterásicos, permite revertir de forma segura incluso un bloqueo profundo inmediatamente después de una dosis de intubación de rocuronio, lo que ha modificado los algoritmos de manejo de la vía aérea difícil ("no puedo intubar, no puedo ventilar"). Su principal limitación es el costo y la especificidad exclusiva por aminoesteroides.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TOFR (train-of-four ratio) cuantitativo, obtenido por aceleromiografía o electromiografía, es el estándar recomendado por las guías internacionales, ya que la evaluación visual o táctil del fade solo es fiable para detectar TOFR menores a aproximadamente 0.4, dejando sin detectar bloqueos residuales clínicamente relevantes entre 0.4 y 0.9. El conteo postetánico es la herramienta indicada cuando el bloqueo es tan profundo que no hay respuesta detectable al TOF convencional.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cuidados intensivos, el uso de relajantes musculares se limita a indicaciones específicas y por periodos cortos siempre que sea posible, dado el riesgo de miopatía y polineuropatía del paciente crítico asociada al uso prolongado, especialmente combinado con corticosteroides. En laparoscopia, un bloqueo profundo (PTC 1–2) se asocia a mejores condiciones quirúrgicas con menor presión de insuflación, mejorando el confort postoperatorio del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bloqueo residual sigue siendo, pese a la disponibilidad de sugammadex y monitores cuantitativos, una de las complicaciones postoperatorias más prevalentes y subdiagnosticadas en anestesiología, con estudios que reportan incidencias históricas de hasta 30-40% cuando no se emplea monitorización objetiva ni reversión farmacológica sistemática. La recomendación actual de las principales sociedades de anestesiología es monitorizar cuantitativamente a todo paciente que reciba un relajante no despolarizante, sin excepción.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resumen integra los ejes conceptuales del capítulo: fisiología de la placa motora, mecanismos diferenciales de bloqueo despolarizante y no despolarizante, farmacología comparada de los principales agentes, factores que modifican su duración, y las dos grandes estrategias de reversión (anticolinesterásicos y sugammadex). El dominio de la monitorización objetiva del bloqueo neuromuscular es, junto con la elección racional del fármaco, la competencia clínica más determinante para la seguridad del paciente en este ámbito.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referencias citadas corresponden a textos de referencia estándar en la formación de postgrado en anestesiología; se recomienda consultar siempre la edición vigente de cada obra, así como las guías y consensos actualizados de las sociedades científicas de anestesiología para las recomendaciones de monitorización neuromuscular y reversión farmacológica, dado que estas se revisan periódicamente conforme surge nueva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image" Target="../media/image-13-1.png"/><Relationship Id="rId7" Type="http://schemas.openxmlformats.org/officeDocument/2006/relationships/image" Target="../media/image-13-1.png"/><Relationship Id="rId8" Type="http://schemas.openxmlformats.org/officeDocument/2006/relationships/image" Target="../media/image-13-1.png"/><Relationship Id="rId9" Type="http://schemas.openxmlformats.org/officeDocument/2006/relationships/image" Target="../media/image-13-1.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1.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0F14"/>
        </a:solidFill>
      </p:bgPr>
    </p:bg>
    <p:spTree>
      <p:nvGrpSpPr>
        <p:cNvPr id="1" name=""/>
        <p:cNvGrpSpPr/>
        <p:nvPr/>
      </p:nvGrpSpPr>
      <p:grpSpPr>
        <a:xfrm>
          <a:off x="0" y="0"/>
          <a:ext cx="0" cy="0"/>
          <a:chOff x="0" y="0"/>
          <a:chExt cx="0" cy="0"/>
        </a:xfrm>
      </p:grpSpPr>
      <p:sp>
        <p:nvSpPr>
          <p:cNvPr id="2" name="Shape 0"/>
          <p:cNvSpPr/>
          <p:nvPr/>
        </p:nvSpPr>
        <p:spPr>
          <a:xfrm>
            <a:off x="8899855" y="-914400"/>
            <a:ext cx="3108960" cy="3108960"/>
          </a:xfrm>
          <a:prstGeom prst="ellipse">
            <a:avLst/>
          </a:prstGeom>
          <a:ln w="19050">
            <a:solidFill>
              <a:srgbClr val="5C1620">
                <a:alpha val="55000"/>
              </a:srgbClr>
            </a:solidFill>
            <a:prstDash val="solid"/>
          </a:ln>
        </p:spPr>
      </p:sp>
      <p:sp>
        <p:nvSpPr>
          <p:cNvPr id="3" name="Shape 1"/>
          <p:cNvSpPr/>
          <p:nvPr/>
        </p:nvSpPr>
        <p:spPr>
          <a:xfrm>
            <a:off x="8899855" y="-914400"/>
            <a:ext cx="2377440" cy="2377440"/>
          </a:xfrm>
          <a:prstGeom prst="ellipse">
            <a:avLst/>
          </a:prstGeom>
          <a:ln w="19050">
            <a:solidFill>
              <a:srgbClr val="C1666B">
                <a:alpha val="55000"/>
              </a:srgbClr>
            </a:solidFill>
            <a:prstDash val="solid"/>
          </a:ln>
        </p:spPr>
      </p:sp>
      <p:sp>
        <p:nvSpPr>
          <p:cNvPr id="4" name="Shape 2"/>
          <p:cNvSpPr/>
          <p:nvPr/>
        </p:nvSpPr>
        <p:spPr>
          <a:xfrm>
            <a:off x="8899855" y="-914400"/>
            <a:ext cx="1645920" cy="1645920"/>
          </a:xfrm>
          <a:prstGeom prst="ellipse">
            <a:avLst/>
          </a:prstGeom>
          <a:ln w="19050">
            <a:solidFill>
              <a:srgbClr val="E8A33D">
                <a:alpha val="55000"/>
              </a:srgbClr>
            </a:solidFill>
            <a:prstDash val="solid"/>
          </a:ln>
        </p:spPr>
      </p:sp>
      <p:sp>
        <p:nvSpPr>
          <p:cNvPr id="5" name="Shape 3"/>
          <p:cNvSpPr/>
          <p:nvPr/>
        </p:nvSpPr>
        <p:spPr>
          <a:xfrm>
            <a:off x="-1188720" y="4754880"/>
            <a:ext cx="3108960" cy="3108960"/>
          </a:xfrm>
          <a:prstGeom prst="ellipse">
            <a:avLst/>
          </a:prstGeom>
          <a:ln w="19050">
            <a:solidFill>
              <a:srgbClr val="5C1620">
                <a:alpha val="45000"/>
              </a:srgbClr>
            </a:solidFill>
            <a:prstDash val="solid"/>
          </a:ln>
        </p:spPr>
      </p:sp>
      <p:sp>
        <p:nvSpPr>
          <p:cNvPr id="6" name="Shape 4"/>
          <p:cNvSpPr/>
          <p:nvPr/>
        </p:nvSpPr>
        <p:spPr>
          <a:xfrm>
            <a:off x="-1188720" y="4754880"/>
            <a:ext cx="2377440" cy="2377440"/>
          </a:xfrm>
          <a:prstGeom prst="ellipse">
            <a:avLst/>
          </a:prstGeom>
          <a:ln w="19050">
            <a:solidFill>
              <a:srgbClr val="C1666B">
                <a:alpha val="45000"/>
              </a:srgbClr>
            </a:solidFill>
            <a:prstDash val="solid"/>
          </a:ln>
        </p:spPr>
      </p:sp>
      <p:sp>
        <p:nvSpPr>
          <p:cNvPr id="7" name="Shape 5"/>
          <p:cNvSpPr/>
          <p:nvPr/>
        </p:nvSpPr>
        <p:spPr>
          <a:xfrm>
            <a:off x="-1188720" y="4754880"/>
            <a:ext cx="1645920" cy="1645920"/>
          </a:xfrm>
          <a:prstGeom prst="ellipse">
            <a:avLst/>
          </a:prstGeom>
          <a:ln w="19050">
            <a:solidFill>
              <a:srgbClr val="E8A33D">
                <a:alpha val="45000"/>
              </a:srgbClr>
            </a:solidFill>
            <a:prstDash val="solid"/>
          </a:ln>
        </p:spPr>
      </p:sp>
      <p:sp>
        <p:nvSpPr>
          <p:cNvPr id="8" name="Text 6"/>
          <p:cNvSpPr txBox="1"/>
          <p:nvPr/>
        </p:nvSpPr>
        <p:spPr>
          <a:xfrm>
            <a:off x="548640" y="1417320"/>
            <a:ext cx="7315200" cy="274320"/>
          </a:xfrm>
          <a:prstGeom prst="rect">
            <a:avLst/>
          </a:prstGeom>
          <a:noFill/>
          <a:ln/>
        </p:spPr>
        <p:txBody>
          <a:bodyPr wrap="square" lIns="0" tIns="0" rIns="0" bIns="0" rtlCol="0" anchor="ctr"/>
          <a:lstStyle/>
          <a:p>
            <a:pPr indent="0" marL="0">
              <a:buNone/>
            </a:pPr>
            <a:r>
              <a:rPr lang="en-US" sz="1100" b="1" spc="130" kern="0" dirty="0">
                <a:solidFill>
                  <a:srgbClr val="E8A33D"/>
                </a:solidFill>
                <a:latin typeface="Calibri" pitchFamily="34" charset="0"/>
                <a:ea typeface="Calibri" pitchFamily="34" charset="-122"/>
                <a:cs typeface="Calibri" pitchFamily="34" charset="-120"/>
              </a:rPr>
              <a:t>CURSO DE POSTGRADO EN ANESTESIOLOGÍA</a:t>
            </a:r>
            <a:endParaRPr lang="en-US" sz="1100" dirty="0"/>
          </a:p>
        </p:txBody>
      </p:sp>
      <p:sp>
        <p:nvSpPr>
          <p:cNvPr id="9" name="Text 7"/>
          <p:cNvSpPr txBox="1"/>
          <p:nvPr/>
        </p:nvSpPr>
        <p:spPr>
          <a:xfrm>
            <a:off x="548640" y="1737360"/>
            <a:ext cx="9601200" cy="822960"/>
          </a:xfrm>
          <a:prstGeom prst="rect">
            <a:avLst/>
          </a:prstGeom>
          <a:noFill/>
          <a:ln/>
        </p:spPr>
        <p:txBody>
          <a:bodyPr wrap="square" lIns="0" tIns="0" rIns="0" bIns="0" rtlCol="0" anchor="ctr"/>
          <a:lstStyle/>
          <a:p>
            <a:pPr indent="0" marL="0">
              <a:buNone/>
            </a:pPr>
            <a:r>
              <a:rPr lang="en-US" sz="3000" b="1" dirty="0">
                <a:solidFill>
                  <a:srgbClr val="D8B3B0"/>
                </a:solidFill>
                <a:latin typeface="Cambria" pitchFamily="34" charset="0"/>
                <a:ea typeface="Cambria" pitchFamily="34" charset="-122"/>
                <a:cs typeface="Cambria" pitchFamily="34" charset="-120"/>
              </a:rPr>
              <a:t>Capítulo VI</a:t>
            </a:r>
            <a:endParaRPr lang="en-US" sz="3000" dirty="0"/>
          </a:p>
        </p:txBody>
      </p:sp>
      <p:sp>
        <p:nvSpPr>
          <p:cNvPr id="10" name="Text 8"/>
          <p:cNvSpPr txBox="1"/>
          <p:nvPr/>
        </p:nvSpPr>
        <p:spPr>
          <a:xfrm>
            <a:off x="548640" y="2331720"/>
            <a:ext cx="10515600" cy="13716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Relajantes Musculares</a:t>
            </a:r>
            <a:endParaRPr lang="en-US" sz="5200" dirty="0"/>
          </a:p>
        </p:txBody>
      </p:sp>
      <p:sp>
        <p:nvSpPr>
          <p:cNvPr id="11" name="Text 9"/>
          <p:cNvSpPr txBox="1"/>
          <p:nvPr/>
        </p:nvSpPr>
        <p:spPr>
          <a:xfrm>
            <a:off x="548640" y="3611880"/>
            <a:ext cx="8778240" cy="731520"/>
          </a:xfrm>
          <a:prstGeom prst="rect">
            <a:avLst/>
          </a:prstGeom>
          <a:noFill/>
          <a:ln/>
        </p:spPr>
        <p:txBody>
          <a:bodyPr wrap="square" lIns="0" tIns="0" rIns="0" bIns="0" rtlCol="0" anchor="ctr"/>
          <a:lstStyle/>
          <a:p>
            <a:pPr indent="0" marL="0">
              <a:lnSpc>
                <a:spcPct val="115000"/>
              </a:lnSpc>
              <a:buNone/>
            </a:pPr>
            <a:r>
              <a:rPr lang="en-US" sz="1600" i="1" dirty="0">
                <a:solidFill>
                  <a:srgbClr val="F6E9E6"/>
                </a:solidFill>
                <a:latin typeface="Calibri" pitchFamily="34" charset="0"/>
                <a:ea typeface="Calibri" pitchFamily="34" charset="-122"/>
                <a:cs typeface="Calibri" pitchFamily="34" charset="-120"/>
              </a:rPr>
              <a:t>Farmacología, fisiología de la unión neuromuscular y manejo clínico del bloqueo neuromuscular en anestesiología</a:t>
            </a:r>
            <a:endParaRPr lang="en-US" sz="1600" dirty="0"/>
          </a:p>
        </p:txBody>
      </p:sp>
      <p:sp>
        <p:nvSpPr>
          <p:cNvPr id="12" name="Shape 10"/>
          <p:cNvSpPr/>
          <p:nvPr/>
        </p:nvSpPr>
        <p:spPr>
          <a:xfrm>
            <a:off x="548640" y="4709160"/>
            <a:ext cx="566928" cy="566928"/>
          </a:xfrm>
          <a:prstGeom prst="ellipse">
            <a:avLst/>
          </a:prstGeom>
          <a:solidFill>
            <a:srgbClr val="7A1F2B"/>
          </a:solidFill>
          <a:ln/>
        </p:spPr>
      </p:sp>
      <p:pic>
        <p:nvPicPr>
          <p:cNvPr id="13" name="Image 0" descr="/tmp/claude-0/-home-user-gpa-academy1/adc6e4aa-3b77-57c1-ba92-a8d4ee625c84/scratchpad/relajantes/icons/electric_E8A33D.png">    </p:cNvPr>
          <p:cNvPicPr>
            <a:picLocks noChangeAspect="1"/>
          </p:cNvPicPr>
          <p:nvPr/>
        </p:nvPicPr>
        <p:blipFill>
          <a:blip r:embed="rId1"/>
          <a:stretch>
            <a:fillRect/>
          </a:stretch>
        </p:blipFill>
        <p:spPr>
          <a:xfrm>
            <a:off x="628010" y="4788530"/>
            <a:ext cx="408188" cy="408188"/>
          </a:xfrm>
          <a:prstGeom prst="rect">
            <a:avLst/>
          </a:prstGeom>
        </p:spPr>
      </p:pic>
      <p:sp>
        <p:nvSpPr>
          <p:cNvPr id="14" name="Text 11"/>
          <p:cNvSpPr txBox="1"/>
          <p:nvPr/>
        </p:nvSpPr>
        <p:spPr>
          <a:xfrm>
            <a:off x="411480" y="5349240"/>
            <a:ext cx="1371600" cy="457200"/>
          </a:xfrm>
          <a:prstGeom prst="rect">
            <a:avLst/>
          </a:prstGeom>
          <a:noFill/>
          <a:ln/>
        </p:spPr>
        <p:txBody>
          <a:bodyPr wrap="square" lIns="0" tIns="0" rIns="0" bIns="0" rtlCol="0" anchor="ctr"/>
          <a:lstStyle/>
          <a:p>
            <a:pPr algn="ctr" indent="0" marL="0">
              <a:buNone/>
            </a:pPr>
            <a:r>
              <a:rPr lang="en-US" sz="1050" dirty="0">
                <a:solidFill>
                  <a:srgbClr val="D8B3B0"/>
                </a:solidFill>
                <a:latin typeface="Calibri" pitchFamily="34" charset="0"/>
                <a:ea typeface="Calibri" pitchFamily="34" charset="-122"/>
                <a:cs typeface="Calibri" pitchFamily="34" charset="-120"/>
              </a:rPr>
              <a:t>Impulso nervioso</a:t>
            </a:r>
            <a:endParaRPr lang="en-US" sz="1050" dirty="0"/>
          </a:p>
        </p:txBody>
      </p:sp>
      <p:sp>
        <p:nvSpPr>
          <p:cNvPr id="15" name="Shape 12"/>
          <p:cNvSpPr/>
          <p:nvPr/>
        </p:nvSpPr>
        <p:spPr>
          <a:xfrm>
            <a:off x="1965960" y="4709160"/>
            <a:ext cx="566928" cy="566928"/>
          </a:xfrm>
          <a:prstGeom prst="ellipse">
            <a:avLst/>
          </a:prstGeom>
          <a:solidFill>
            <a:srgbClr val="7A1F2B"/>
          </a:solidFill>
          <a:ln/>
        </p:spPr>
      </p:sp>
      <p:pic>
        <p:nvPicPr>
          <p:cNvPr id="16" name="Image 1" descr="/tmp/claude-0/-home-user-gpa-academy1/adc6e4aa-3b77-57c1-ba92-a8d4ee625c84/scratchpad/relajantes/icons/chemDrop_E8A33D.png">    </p:cNvPr>
          <p:cNvPicPr>
            <a:picLocks noChangeAspect="1"/>
          </p:cNvPicPr>
          <p:nvPr/>
        </p:nvPicPr>
        <p:blipFill>
          <a:blip r:embed="rId2"/>
          <a:stretch>
            <a:fillRect/>
          </a:stretch>
        </p:blipFill>
        <p:spPr>
          <a:xfrm>
            <a:off x="2045330" y="4788530"/>
            <a:ext cx="408188" cy="408188"/>
          </a:xfrm>
          <a:prstGeom prst="rect">
            <a:avLst/>
          </a:prstGeom>
        </p:spPr>
      </p:pic>
      <p:sp>
        <p:nvSpPr>
          <p:cNvPr id="17" name="Text 13"/>
          <p:cNvSpPr txBox="1"/>
          <p:nvPr/>
        </p:nvSpPr>
        <p:spPr>
          <a:xfrm>
            <a:off x="1828800" y="5349240"/>
            <a:ext cx="1371600" cy="457200"/>
          </a:xfrm>
          <a:prstGeom prst="rect">
            <a:avLst/>
          </a:prstGeom>
          <a:noFill/>
          <a:ln/>
        </p:spPr>
        <p:txBody>
          <a:bodyPr wrap="square" lIns="0" tIns="0" rIns="0" bIns="0" rtlCol="0" anchor="ctr"/>
          <a:lstStyle/>
          <a:p>
            <a:pPr algn="ctr" indent="0" marL="0">
              <a:buNone/>
            </a:pPr>
            <a:r>
              <a:rPr lang="en-US" sz="1050" dirty="0">
                <a:solidFill>
                  <a:srgbClr val="D8B3B0"/>
                </a:solidFill>
                <a:latin typeface="Calibri" pitchFamily="34" charset="0"/>
                <a:ea typeface="Calibri" pitchFamily="34" charset="-122"/>
                <a:cs typeface="Calibri" pitchFamily="34" charset="-120"/>
              </a:rPr>
              <a:t>Neurotransmisor</a:t>
            </a:r>
            <a:endParaRPr lang="en-US" sz="1050" dirty="0"/>
          </a:p>
        </p:txBody>
      </p:sp>
      <p:sp>
        <p:nvSpPr>
          <p:cNvPr id="18" name="Shape 14"/>
          <p:cNvSpPr/>
          <p:nvPr/>
        </p:nvSpPr>
        <p:spPr>
          <a:xfrm>
            <a:off x="3383280" y="4709160"/>
            <a:ext cx="566928" cy="566928"/>
          </a:xfrm>
          <a:prstGeom prst="ellipse">
            <a:avLst/>
          </a:prstGeom>
          <a:solidFill>
            <a:srgbClr val="7A1F2B"/>
          </a:solidFill>
          <a:ln/>
        </p:spPr>
      </p:sp>
      <p:pic>
        <p:nvPicPr>
          <p:cNvPr id="19" name="Image 2" descr="/tmp/claude-0/-home-user-gpa-academy1/adc6e4aa-3b77-57c1-ba92-a8d4ee625c84/scratchpad/relajantes/icons/muscle_E8A33D.png">    </p:cNvPr>
          <p:cNvPicPr>
            <a:picLocks noChangeAspect="1"/>
          </p:cNvPicPr>
          <p:nvPr/>
        </p:nvPicPr>
        <p:blipFill>
          <a:blip r:embed="rId3"/>
          <a:stretch>
            <a:fillRect/>
          </a:stretch>
        </p:blipFill>
        <p:spPr>
          <a:xfrm>
            <a:off x="3462650" y="4788530"/>
            <a:ext cx="408188" cy="408188"/>
          </a:xfrm>
          <a:prstGeom prst="rect">
            <a:avLst/>
          </a:prstGeom>
        </p:spPr>
      </p:pic>
      <p:sp>
        <p:nvSpPr>
          <p:cNvPr id="20" name="Text 15"/>
          <p:cNvSpPr txBox="1"/>
          <p:nvPr/>
        </p:nvSpPr>
        <p:spPr>
          <a:xfrm>
            <a:off x="3246120" y="5349240"/>
            <a:ext cx="1371600" cy="457200"/>
          </a:xfrm>
          <a:prstGeom prst="rect">
            <a:avLst/>
          </a:prstGeom>
          <a:noFill/>
          <a:ln/>
        </p:spPr>
        <p:txBody>
          <a:bodyPr wrap="square" lIns="0" tIns="0" rIns="0" bIns="0" rtlCol="0" anchor="ctr"/>
          <a:lstStyle/>
          <a:p>
            <a:pPr algn="ctr" indent="0" marL="0">
              <a:buNone/>
            </a:pPr>
            <a:r>
              <a:rPr lang="en-US" sz="1050" dirty="0">
                <a:solidFill>
                  <a:srgbClr val="D8B3B0"/>
                </a:solidFill>
                <a:latin typeface="Calibri" pitchFamily="34" charset="0"/>
                <a:ea typeface="Calibri" pitchFamily="34" charset="-122"/>
                <a:cs typeface="Calibri" pitchFamily="34" charset="-120"/>
              </a:rPr>
              <a:t>Contracción muscular</a:t>
            </a:r>
            <a:endParaRPr lang="en-US" sz="1050" dirty="0"/>
          </a:p>
        </p:txBody>
      </p:sp>
      <p:sp>
        <p:nvSpPr>
          <p:cNvPr id="21" name="Text 16"/>
          <p:cNvSpPr txBox="1"/>
          <p:nvPr/>
        </p:nvSpPr>
        <p:spPr>
          <a:xfrm>
            <a:off x="8716975" y="6217920"/>
            <a:ext cx="2926080" cy="320040"/>
          </a:xfrm>
          <a:prstGeom prst="rect">
            <a:avLst/>
          </a:prstGeom>
          <a:noFill/>
          <a:ln/>
        </p:spPr>
        <p:txBody>
          <a:bodyPr wrap="square" lIns="0" tIns="0" rIns="0" bIns="0" rtlCol="0" anchor="ctr"/>
          <a:lstStyle/>
          <a:p>
            <a:pPr algn="r" indent="0" marL="0">
              <a:buNone/>
            </a:pPr>
            <a:r>
              <a:rPr lang="en-US" sz="1100" dirty="0">
                <a:solidFill>
                  <a:srgbClr val="D8B3B0"/>
                </a:solidFill>
                <a:latin typeface="Calibri" pitchFamily="34" charset="0"/>
                <a:ea typeface="Calibri" pitchFamily="34" charset="-122"/>
                <a:cs typeface="Calibri" pitchFamily="34" charset="-120"/>
              </a:rPr>
              <a:t>GPA Academy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sitemap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HOJA DE RUTA</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Contenido del capítulo</a:t>
            </a:r>
            <a:endParaRPr lang="en-US" sz="2700" dirty="0"/>
          </a:p>
        </p:txBody>
      </p:sp>
      <p:sp>
        <p:nvSpPr>
          <p:cNvPr id="6" name="Shape 3"/>
          <p:cNvSpPr/>
          <p:nvPr/>
        </p:nvSpPr>
        <p:spPr>
          <a:xfrm>
            <a:off x="548640" y="1417320"/>
            <a:ext cx="5349240" cy="932688"/>
          </a:xfrm>
          <a:prstGeom prst="roundRect">
            <a:avLst>
              <a:gd name="adj" fmla="val 7843"/>
            </a:avLst>
          </a:prstGeom>
          <a:solidFill>
            <a:srgbClr val="FAF3F2"/>
          </a:solidFill>
          <a:ln w="12700">
            <a:solidFill>
              <a:srgbClr val="F0DFDD"/>
            </a:solidFill>
            <a:prstDash val="solid"/>
          </a:ln>
        </p:spPr>
      </p:sp>
      <p:sp>
        <p:nvSpPr>
          <p:cNvPr id="7" name="Shape 4"/>
          <p:cNvSpPr/>
          <p:nvPr/>
        </p:nvSpPr>
        <p:spPr>
          <a:xfrm>
            <a:off x="694944" y="1545336"/>
            <a:ext cx="457200" cy="457200"/>
          </a:xfrm>
          <a:prstGeom prst="ellipse">
            <a:avLst/>
          </a:prstGeom>
          <a:solidFill>
            <a:srgbClr val="7A1F2B"/>
          </a:solidFill>
          <a:ln/>
        </p:spPr>
      </p:sp>
      <p:pic>
        <p:nvPicPr>
          <p:cNvPr id="8" name="Image 1" descr="/tmp/claude-0/-home-user-gpa-academy1/adc6e4aa-3b77-57c1-ba92-a8d4ee625c84/scratchpad/relajantes/icons/history_FFFFFF.png">    </p:cNvPr>
          <p:cNvPicPr>
            <a:picLocks noChangeAspect="1"/>
          </p:cNvPicPr>
          <p:nvPr/>
        </p:nvPicPr>
        <p:blipFill>
          <a:blip r:embed="rId2"/>
          <a:stretch>
            <a:fillRect/>
          </a:stretch>
        </p:blipFill>
        <p:spPr>
          <a:xfrm>
            <a:off x="758952" y="1609344"/>
            <a:ext cx="329184" cy="329184"/>
          </a:xfrm>
          <a:prstGeom prst="rect">
            <a:avLst/>
          </a:prstGeom>
        </p:spPr>
      </p:pic>
      <p:sp>
        <p:nvSpPr>
          <p:cNvPr id="9" name="Text 5"/>
          <p:cNvSpPr txBox="1"/>
          <p:nvPr/>
        </p:nvSpPr>
        <p:spPr>
          <a:xfrm>
            <a:off x="1298448" y="1490472"/>
            <a:ext cx="4434840" cy="310896"/>
          </a:xfrm>
          <a:prstGeom prst="rect">
            <a:avLst/>
          </a:prstGeom>
          <a:noFill/>
          <a:ln/>
        </p:spPr>
        <p:txBody>
          <a:bodyPr wrap="square" lIns="0" tIns="0" rIns="0" bIns="0" rtlCol="0" anchor="ctr"/>
          <a:lstStyle/>
          <a:p>
            <a:pPr indent="0" marL="0">
              <a:buNone/>
            </a:pPr>
            <a:r>
              <a:rPr lang="en-US" sz="1350" b="1" dirty="0">
                <a:solidFill>
                  <a:srgbClr val="2E1015"/>
                </a:solidFill>
                <a:latin typeface="Cambria" pitchFamily="34" charset="0"/>
                <a:ea typeface="Cambria" pitchFamily="34" charset="-122"/>
                <a:cs typeface="Cambria" pitchFamily="34" charset="-120"/>
              </a:rPr>
              <a:t>Fundamentos históricos y fisiológicos</a:t>
            </a:r>
            <a:endParaRPr lang="en-US" sz="1350" dirty="0"/>
          </a:p>
        </p:txBody>
      </p:sp>
      <p:sp>
        <p:nvSpPr>
          <p:cNvPr id="10" name="Text 6"/>
          <p:cNvSpPr txBox="1"/>
          <p:nvPr/>
        </p:nvSpPr>
        <p:spPr>
          <a:xfrm>
            <a:off x="1298448" y="1801368"/>
            <a:ext cx="4434840" cy="457200"/>
          </a:xfrm>
          <a:prstGeom prst="rect">
            <a:avLst/>
          </a:prstGeom>
          <a:noFill/>
          <a:ln/>
        </p:spPr>
        <p:txBody>
          <a:bodyPr wrap="square" lIns="0" tIns="0" rIns="0" bIns="0" rtlCol="0" anchor="t"/>
          <a:lstStyle/>
          <a:p>
            <a:pPr indent="0" marL="0">
              <a:buNone/>
            </a:pPr>
            <a:r>
              <a:rPr lang="en-US" sz="1050" dirty="0">
                <a:solidFill>
                  <a:srgbClr val="7A5B5F"/>
                </a:solidFill>
                <a:latin typeface="Calibri" pitchFamily="34" charset="0"/>
                <a:ea typeface="Calibri" pitchFamily="34" charset="-122"/>
                <a:cs typeface="Calibri" pitchFamily="34" charset="-120"/>
              </a:rPr>
              <a:t>Historia, unión neuromuscular, acetilcolina y transmisión</a:t>
            </a:r>
            <a:endParaRPr lang="en-US" sz="1050" dirty="0"/>
          </a:p>
        </p:txBody>
      </p:sp>
      <p:sp>
        <p:nvSpPr>
          <p:cNvPr id="11" name="Shape 7"/>
          <p:cNvSpPr/>
          <p:nvPr/>
        </p:nvSpPr>
        <p:spPr>
          <a:xfrm>
            <a:off x="548640" y="2496312"/>
            <a:ext cx="5349240" cy="932688"/>
          </a:xfrm>
          <a:prstGeom prst="roundRect">
            <a:avLst>
              <a:gd name="adj" fmla="val 7843"/>
            </a:avLst>
          </a:prstGeom>
          <a:solidFill>
            <a:srgbClr val="FAF3F2"/>
          </a:solidFill>
          <a:ln w="12700">
            <a:solidFill>
              <a:srgbClr val="F0DFDD"/>
            </a:solidFill>
            <a:prstDash val="solid"/>
          </a:ln>
        </p:spPr>
      </p:sp>
      <p:sp>
        <p:nvSpPr>
          <p:cNvPr id="12" name="Shape 8"/>
          <p:cNvSpPr/>
          <p:nvPr/>
        </p:nvSpPr>
        <p:spPr>
          <a:xfrm>
            <a:off x="694944" y="2624328"/>
            <a:ext cx="457200" cy="457200"/>
          </a:xfrm>
          <a:prstGeom prst="ellipse">
            <a:avLst/>
          </a:prstGeom>
          <a:solidFill>
            <a:srgbClr val="7A1F2B"/>
          </a:solidFill>
          <a:ln/>
        </p:spPr>
      </p:sp>
      <p:pic>
        <p:nvPicPr>
          <p:cNvPr id="13" name="Image 2" descr="/tmp/claude-0/-home-user-gpa-academy1/adc6e4aa-3b77-57c1-ba92-a8d4ee625c84/scratchpad/relajantes/icons/sitemap_FFFFFF.png">    </p:cNvPr>
          <p:cNvPicPr>
            <a:picLocks noChangeAspect="1"/>
          </p:cNvPicPr>
          <p:nvPr/>
        </p:nvPicPr>
        <p:blipFill>
          <a:blip r:embed="rId3"/>
          <a:stretch>
            <a:fillRect/>
          </a:stretch>
        </p:blipFill>
        <p:spPr>
          <a:xfrm>
            <a:off x="758952" y="2688336"/>
            <a:ext cx="329184" cy="329184"/>
          </a:xfrm>
          <a:prstGeom prst="rect">
            <a:avLst/>
          </a:prstGeom>
        </p:spPr>
      </p:pic>
      <p:sp>
        <p:nvSpPr>
          <p:cNvPr id="14" name="Text 9"/>
          <p:cNvSpPr txBox="1"/>
          <p:nvPr/>
        </p:nvSpPr>
        <p:spPr>
          <a:xfrm>
            <a:off x="1298448" y="2569464"/>
            <a:ext cx="4434840" cy="310896"/>
          </a:xfrm>
          <a:prstGeom prst="rect">
            <a:avLst/>
          </a:prstGeom>
          <a:noFill/>
          <a:ln/>
        </p:spPr>
        <p:txBody>
          <a:bodyPr wrap="square" lIns="0" tIns="0" rIns="0" bIns="0" rtlCol="0" anchor="ctr"/>
          <a:lstStyle/>
          <a:p>
            <a:pPr indent="0" marL="0">
              <a:buNone/>
            </a:pPr>
            <a:r>
              <a:rPr lang="en-US" sz="1350" b="1" dirty="0">
                <a:solidFill>
                  <a:srgbClr val="2E1015"/>
                </a:solidFill>
                <a:latin typeface="Cambria" pitchFamily="34" charset="0"/>
                <a:ea typeface="Cambria" pitchFamily="34" charset="-122"/>
                <a:cs typeface="Cambria" pitchFamily="34" charset="-120"/>
              </a:rPr>
              <a:t>Clasificación general</a:t>
            </a:r>
            <a:endParaRPr lang="en-US" sz="1350" dirty="0"/>
          </a:p>
        </p:txBody>
      </p:sp>
      <p:sp>
        <p:nvSpPr>
          <p:cNvPr id="15" name="Text 10"/>
          <p:cNvSpPr txBox="1"/>
          <p:nvPr/>
        </p:nvSpPr>
        <p:spPr>
          <a:xfrm>
            <a:off x="1298448" y="2880360"/>
            <a:ext cx="4434840" cy="457200"/>
          </a:xfrm>
          <a:prstGeom prst="rect">
            <a:avLst/>
          </a:prstGeom>
          <a:noFill/>
          <a:ln/>
        </p:spPr>
        <p:txBody>
          <a:bodyPr wrap="square" lIns="0" tIns="0" rIns="0" bIns="0" rtlCol="0" anchor="t"/>
          <a:lstStyle/>
          <a:p>
            <a:pPr indent="0" marL="0">
              <a:buNone/>
            </a:pPr>
            <a:r>
              <a:rPr lang="en-US" sz="1050" dirty="0">
                <a:solidFill>
                  <a:srgbClr val="7A5B5F"/>
                </a:solidFill>
                <a:latin typeface="Calibri" pitchFamily="34" charset="0"/>
                <a:ea typeface="Calibri" pitchFamily="34" charset="-122"/>
                <a:cs typeface="Calibri" pitchFamily="34" charset="-120"/>
              </a:rPr>
              <a:t>Despolarizantes vs. no despolarizantes</a:t>
            </a:r>
            <a:endParaRPr lang="en-US" sz="1050" dirty="0"/>
          </a:p>
        </p:txBody>
      </p:sp>
      <p:sp>
        <p:nvSpPr>
          <p:cNvPr id="16" name="Shape 11"/>
          <p:cNvSpPr/>
          <p:nvPr/>
        </p:nvSpPr>
        <p:spPr>
          <a:xfrm>
            <a:off x="548640" y="3575304"/>
            <a:ext cx="5349240" cy="932688"/>
          </a:xfrm>
          <a:prstGeom prst="roundRect">
            <a:avLst>
              <a:gd name="adj" fmla="val 7843"/>
            </a:avLst>
          </a:prstGeom>
          <a:solidFill>
            <a:srgbClr val="FAF3F2"/>
          </a:solidFill>
          <a:ln w="12700">
            <a:solidFill>
              <a:srgbClr val="F0DFDD"/>
            </a:solidFill>
            <a:prstDash val="solid"/>
          </a:ln>
        </p:spPr>
      </p:sp>
      <p:sp>
        <p:nvSpPr>
          <p:cNvPr id="17" name="Shape 12"/>
          <p:cNvSpPr/>
          <p:nvPr/>
        </p:nvSpPr>
        <p:spPr>
          <a:xfrm>
            <a:off x="694944" y="3703320"/>
            <a:ext cx="457200" cy="457200"/>
          </a:xfrm>
          <a:prstGeom prst="ellipse">
            <a:avLst/>
          </a:prstGeom>
          <a:solidFill>
            <a:srgbClr val="7A1F2B"/>
          </a:solidFill>
          <a:ln/>
        </p:spPr>
      </p:sp>
      <p:pic>
        <p:nvPicPr>
          <p:cNvPr id="18" name="Image 3" descr="/tmp/claude-0/-home-user-gpa-academy1/adc6e4aa-3b77-57c1-ba92-a8d4ee625c84/scratchpad/relajantes/icons/bolt_FFFFFF.png">    </p:cNvPr>
          <p:cNvPicPr>
            <a:picLocks noChangeAspect="1"/>
          </p:cNvPicPr>
          <p:nvPr/>
        </p:nvPicPr>
        <p:blipFill>
          <a:blip r:embed="rId4"/>
          <a:stretch>
            <a:fillRect/>
          </a:stretch>
        </p:blipFill>
        <p:spPr>
          <a:xfrm>
            <a:off x="758952" y="3767328"/>
            <a:ext cx="329184" cy="329184"/>
          </a:xfrm>
          <a:prstGeom prst="rect">
            <a:avLst/>
          </a:prstGeom>
        </p:spPr>
      </p:pic>
      <p:sp>
        <p:nvSpPr>
          <p:cNvPr id="19" name="Text 13"/>
          <p:cNvSpPr txBox="1"/>
          <p:nvPr/>
        </p:nvSpPr>
        <p:spPr>
          <a:xfrm>
            <a:off x="1298448" y="3648456"/>
            <a:ext cx="4434840" cy="310896"/>
          </a:xfrm>
          <a:prstGeom prst="rect">
            <a:avLst/>
          </a:prstGeom>
          <a:noFill/>
          <a:ln/>
        </p:spPr>
        <p:txBody>
          <a:bodyPr wrap="square" lIns="0" tIns="0" rIns="0" bIns="0" rtlCol="0" anchor="ctr"/>
          <a:lstStyle/>
          <a:p>
            <a:pPr indent="0" marL="0">
              <a:buNone/>
            </a:pPr>
            <a:r>
              <a:rPr lang="en-US" sz="1350" b="1" dirty="0">
                <a:solidFill>
                  <a:srgbClr val="2E1015"/>
                </a:solidFill>
                <a:latin typeface="Cambria" pitchFamily="34" charset="0"/>
                <a:ea typeface="Cambria" pitchFamily="34" charset="-122"/>
                <a:cs typeface="Cambria" pitchFamily="34" charset="-120"/>
              </a:rPr>
              <a:t>Bloqueantes despolarizantes</a:t>
            </a:r>
            <a:endParaRPr lang="en-US" sz="1350" dirty="0"/>
          </a:p>
        </p:txBody>
      </p:sp>
      <p:sp>
        <p:nvSpPr>
          <p:cNvPr id="20" name="Text 14"/>
          <p:cNvSpPr txBox="1"/>
          <p:nvPr/>
        </p:nvSpPr>
        <p:spPr>
          <a:xfrm>
            <a:off x="1298448" y="3959352"/>
            <a:ext cx="4434840" cy="457200"/>
          </a:xfrm>
          <a:prstGeom prst="rect">
            <a:avLst/>
          </a:prstGeom>
          <a:noFill/>
          <a:ln/>
        </p:spPr>
        <p:txBody>
          <a:bodyPr wrap="square" lIns="0" tIns="0" rIns="0" bIns="0" rtlCol="0" anchor="t"/>
          <a:lstStyle/>
          <a:p>
            <a:pPr indent="0" marL="0">
              <a:buNone/>
            </a:pPr>
            <a:r>
              <a:rPr lang="en-US" sz="1050" dirty="0">
                <a:solidFill>
                  <a:srgbClr val="7A5B5F"/>
                </a:solidFill>
                <a:latin typeface="Calibri" pitchFamily="34" charset="0"/>
                <a:ea typeface="Calibri" pitchFamily="34" charset="-122"/>
                <a:cs typeface="Calibri" pitchFamily="34" charset="-120"/>
              </a:rPr>
              <a:t>Succinilcolina: mecanismo, farmacocinética, riesgos</a:t>
            </a:r>
            <a:endParaRPr lang="en-US" sz="1050" dirty="0"/>
          </a:p>
        </p:txBody>
      </p:sp>
      <p:sp>
        <p:nvSpPr>
          <p:cNvPr id="21" name="Shape 15"/>
          <p:cNvSpPr/>
          <p:nvPr/>
        </p:nvSpPr>
        <p:spPr>
          <a:xfrm>
            <a:off x="548640" y="4654296"/>
            <a:ext cx="5349240" cy="932688"/>
          </a:xfrm>
          <a:prstGeom prst="roundRect">
            <a:avLst>
              <a:gd name="adj" fmla="val 7843"/>
            </a:avLst>
          </a:prstGeom>
          <a:solidFill>
            <a:srgbClr val="FAF3F2"/>
          </a:solidFill>
          <a:ln w="12700">
            <a:solidFill>
              <a:srgbClr val="F0DFDD"/>
            </a:solidFill>
            <a:prstDash val="solid"/>
          </a:ln>
        </p:spPr>
      </p:sp>
      <p:sp>
        <p:nvSpPr>
          <p:cNvPr id="22" name="Shape 16"/>
          <p:cNvSpPr/>
          <p:nvPr/>
        </p:nvSpPr>
        <p:spPr>
          <a:xfrm>
            <a:off x="694944" y="4782312"/>
            <a:ext cx="457200" cy="457200"/>
          </a:xfrm>
          <a:prstGeom prst="ellipse">
            <a:avLst/>
          </a:prstGeom>
          <a:solidFill>
            <a:srgbClr val="7A1F2B"/>
          </a:solidFill>
          <a:ln/>
        </p:spPr>
      </p:sp>
      <p:pic>
        <p:nvPicPr>
          <p:cNvPr id="23" name="Image 4" descr="/tmp/claude-0/-home-user-gpa-academy1/adc6e4aa-3b77-57c1-ba92-a8d4ee625c84/scratchpad/relajantes/icons/balance_FFFFFF.png">    </p:cNvPr>
          <p:cNvPicPr>
            <a:picLocks noChangeAspect="1"/>
          </p:cNvPicPr>
          <p:nvPr/>
        </p:nvPicPr>
        <p:blipFill>
          <a:blip r:embed="rId5"/>
          <a:stretch>
            <a:fillRect/>
          </a:stretch>
        </p:blipFill>
        <p:spPr>
          <a:xfrm>
            <a:off x="758952" y="4846320"/>
            <a:ext cx="329184" cy="329184"/>
          </a:xfrm>
          <a:prstGeom prst="rect">
            <a:avLst/>
          </a:prstGeom>
        </p:spPr>
      </p:pic>
      <p:sp>
        <p:nvSpPr>
          <p:cNvPr id="24" name="Text 17"/>
          <p:cNvSpPr txBox="1"/>
          <p:nvPr/>
        </p:nvSpPr>
        <p:spPr>
          <a:xfrm>
            <a:off x="1298448" y="4727448"/>
            <a:ext cx="4434840" cy="310896"/>
          </a:xfrm>
          <a:prstGeom prst="rect">
            <a:avLst/>
          </a:prstGeom>
          <a:noFill/>
          <a:ln/>
        </p:spPr>
        <p:txBody>
          <a:bodyPr wrap="square" lIns="0" tIns="0" rIns="0" bIns="0" rtlCol="0" anchor="ctr"/>
          <a:lstStyle/>
          <a:p>
            <a:pPr indent="0" marL="0">
              <a:buNone/>
            </a:pPr>
            <a:r>
              <a:rPr lang="en-US" sz="1350" b="1" dirty="0">
                <a:solidFill>
                  <a:srgbClr val="2E1015"/>
                </a:solidFill>
                <a:latin typeface="Cambria" pitchFamily="34" charset="0"/>
                <a:ea typeface="Cambria" pitchFamily="34" charset="-122"/>
                <a:cs typeface="Cambria" pitchFamily="34" charset="-120"/>
              </a:rPr>
              <a:t>Bloqueantes no despolarizantes</a:t>
            </a:r>
            <a:endParaRPr lang="en-US" sz="1350" dirty="0"/>
          </a:p>
        </p:txBody>
      </p:sp>
      <p:sp>
        <p:nvSpPr>
          <p:cNvPr id="25" name="Text 18"/>
          <p:cNvSpPr txBox="1"/>
          <p:nvPr/>
        </p:nvSpPr>
        <p:spPr>
          <a:xfrm>
            <a:off x="1298448" y="5038344"/>
            <a:ext cx="4434840" cy="457200"/>
          </a:xfrm>
          <a:prstGeom prst="rect">
            <a:avLst/>
          </a:prstGeom>
          <a:noFill/>
          <a:ln/>
        </p:spPr>
        <p:txBody>
          <a:bodyPr wrap="square" lIns="0" tIns="0" rIns="0" bIns="0" rtlCol="0" anchor="t"/>
          <a:lstStyle/>
          <a:p>
            <a:pPr indent="0" marL="0">
              <a:buNone/>
            </a:pPr>
            <a:r>
              <a:rPr lang="en-US" sz="1050" dirty="0">
                <a:solidFill>
                  <a:srgbClr val="7A5B5F"/>
                </a:solidFill>
                <a:latin typeface="Calibri" pitchFamily="34" charset="0"/>
                <a:ea typeface="Calibri" pitchFamily="34" charset="-122"/>
                <a:cs typeface="Calibri" pitchFamily="34" charset="-120"/>
              </a:rPr>
              <a:t>Aminoesteroides y bencilisoquinolinas</a:t>
            </a:r>
            <a:endParaRPr lang="en-US" sz="1050" dirty="0"/>
          </a:p>
        </p:txBody>
      </p:sp>
      <p:sp>
        <p:nvSpPr>
          <p:cNvPr id="26" name="Shape 19"/>
          <p:cNvSpPr/>
          <p:nvPr/>
        </p:nvSpPr>
        <p:spPr>
          <a:xfrm>
            <a:off x="6217920" y="1417320"/>
            <a:ext cx="5349240" cy="932688"/>
          </a:xfrm>
          <a:prstGeom prst="roundRect">
            <a:avLst>
              <a:gd name="adj" fmla="val 7843"/>
            </a:avLst>
          </a:prstGeom>
          <a:solidFill>
            <a:srgbClr val="FAF3F2"/>
          </a:solidFill>
          <a:ln w="12700">
            <a:solidFill>
              <a:srgbClr val="F0DFDD"/>
            </a:solidFill>
            <a:prstDash val="solid"/>
          </a:ln>
        </p:spPr>
      </p:sp>
      <p:sp>
        <p:nvSpPr>
          <p:cNvPr id="27" name="Shape 20"/>
          <p:cNvSpPr/>
          <p:nvPr/>
        </p:nvSpPr>
        <p:spPr>
          <a:xfrm>
            <a:off x="6364224" y="1545336"/>
            <a:ext cx="457200" cy="457200"/>
          </a:xfrm>
          <a:prstGeom prst="ellipse">
            <a:avLst/>
          </a:prstGeom>
          <a:solidFill>
            <a:srgbClr val="7A1F2B"/>
          </a:solidFill>
          <a:ln/>
        </p:spPr>
      </p:sp>
      <p:pic>
        <p:nvPicPr>
          <p:cNvPr id="28" name="Image 5" descr="/tmp/claude-0/-home-user-gpa-academy1/adc6e4aa-3b77-57c1-ba92-a8d4ee625c84/scratchpad/relajantes/icons/thermometer_FFFFFF.png">    </p:cNvPr>
          <p:cNvPicPr>
            <a:picLocks noChangeAspect="1"/>
          </p:cNvPicPr>
          <p:nvPr/>
        </p:nvPicPr>
        <p:blipFill>
          <a:blip r:embed="rId6"/>
          <a:stretch>
            <a:fillRect/>
          </a:stretch>
        </p:blipFill>
        <p:spPr>
          <a:xfrm>
            <a:off x="6428232" y="1609344"/>
            <a:ext cx="329184" cy="329184"/>
          </a:xfrm>
          <a:prstGeom prst="rect">
            <a:avLst/>
          </a:prstGeom>
        </p:spPr>
      </p:pic>
      <p:sp>
        <p:nvSpPr>
          <p:cNvPr id="29" name="Text 21"/>
          <p:cNvSpPr txBox="1"/>
          <p:nvPr/>
        </p:nvSpPr>
        <p:spPr>
          <a:xfrm>
            <a:off x="6967728" y="1490472"/>
            <a:ext cx="4434840" cy="310896"/>
          </a:xfrm>
          <a:prstGeom prst="rect">
            <a:avLst/>
          </a:prstGeom>
          <a:noFill/>
          <a:ln/>
        </p:spPr>
        <p:txBody>
          <a:bodyPr wrap="square" lIns="0" tIns="0" rIns="0" bIns="0" rtlCol="0" anchor="ctr"/>
          <a:lstStyle/>
          <a:p>
            <a:pPr indent="0" marL="0">
              <a:buNone/>
            </a:pPr>
            <a:r>
              <a:rPr lang="en-US" sz="1350" b="1" dirty="0">
                <a:solidFill>
                  <a:srgbClr val="2E1015"/>
                </a:solidFill>
                <a:latin typeface="Cambria" pitchFamily="34" charset="0"/>
                <a:ea typeface="Cambria" pitchFamily="34" charset="-122"/>
                <a:cs typeface="Cambria" pitchFamily="34" charset="-120"/>
              </a:rPr>
              <a:t>Factores que modifican la respuesta</a:t>
            </a:r>
            <a:endParaRPr lang="en-US" sz="1350" dirty="0"/>
          </a:p>
        </p:txBody>
      </p:sp>
      <p:sp>
        <p:nvSpPr>
          <p:cNvPr id="30" name="Text 22"/>
          <p:cNvSpPr txBox="1"/>
          <p:nvPr/>
        </p:nvSpPr>
        <p:spPr>
          <a:xfrm>
            <a:off x="6967728" y="1801368"/>
            <a:ext cx="4434840" cy="457200"/>
          </a:xfrm>
          <a:prstGeom prst="rect">
            <a:avLst/>
          </a:prstGeom>
          <a:noFill/>
          <a:ln/>
        </p:spPr>
        <p:txBody>
          <a:bodyPr wrap="square" lIns="0" tIns="0" rIns="0" bIns="0" rtlCol="0" anchor="t"/>
          <a:lstStyle/>
          <a:p>
            <a:pPr indent="0" marL="0">
              <a:buNone/>
            </a:pPr>
            <a:r>
              <a:rPr lang="en-US" sz="1050" dirty="0">
                <a:solidFill>
                  <a:srgbClr val="7A5B5F"/>
                </a:solidFill>
                <a:latin typeface="Calibri" pitchFamily="34" charset="0"/>
                <a:ea typeface="Calibri" pitchFamily="34" charset="-122"/>
                <a:cs typeface="Calibri" pitchFamily="34" charset="-120"/>
              </a:rPr>
              <a:t>Farmacocinética, comorbilidades e interacciones</a:t>
            </a:r>
            <a:endParaRPr lang="en-US" sz="1050" dirty="0"/>
          </a:p>
        </p:txBody>
      </p:sp>
      <p:sp>
        <p:nvSpPr>
          <p:cNvPr id="31" name="Shape 23"/>
          <p:cNvSpPr/>
          <p:nvPr/>
        </p:nvSpPr>
        <p:spPr>
          <a:xfrm>
            <a:off x="6217920" y="2496312"/>
            <a:ext cx="5349240" cy="932688"/>
          </a:xfrm>
          <a:prstGeom prst="roundRect">
            <a:avLst>
              <a:gd name="adj" fmla="val 7843"/>
            </a:avLst>
          </a:prstGeom>
          <a:solidFill>
            <a:srgbClr val="FAF3F2"/>
          </a:solidFill>
          <a:ln w="12700">
            <a:solidFill>
              <a:srgbClr val="F0DFDD"/>
            </a:solidFill>
            <a:prstDash val="solid"/>
          </a:ln>
        </p:spPr>
      </p:sp>
      <p:sp>
        <p:nvSpPr>
          <p:cNvPr id="32" name="Shape 24"/>
          <p:cNvSpPr/>
          <p:nvPr/>
        </p:nvSpPr>
        <p:spPr>
          <a:xfrm>
            <a:off x="6364224" y="2624328"/>
            <a:ext cx="457200" cy="457200"/>
          </a:xfrm>
          <a:prstGeom prst="ellipse">
            <a:avLst/>
          </a:prstGeom>
          <a:solidFill>
            <a:srgbClr val="7A1F2B"/>
          </a:solidFill>
          <a:ln/>
        </p:spPr>
      </p:sp>
      <p:pic>
        <p:nvPicPr>
          <p:cNvPr id="33" name="Image 6" descr="/tmp/claude-0/-home-user-gpa-academy1/adc6e4aa-3b77-57c1-ba92-a8d4ee625c84/scratchpad/relajantes/icons/sync_FFFFFF.png">    </p:cNvPr>
          <p:cNvPicPr>
            <a:picLocks noChangeAspect="1"/>
          </p:cNvPicPr>
          <p:nvPr/>
        </p:nvPicPr>
        <p:blipFill>
          <a:blip r:embed="rId7"/>
          <a:stretch>
            <a:fillRect/>
          </a:stretch>
        </p:blipFill>
        <p:spPr>
          <a:xfrm>
            <a:off x="6428232" y="2688336"/>
            <a:ext cx="329184" cy="329184"/>
          </a:xfrm>
          <a:prstGeom prst="rect">
            <a:avLst/>
          </a:prstGeom>
        </p:spPr>
      </p:pic>
      <p:sp>
        <p:nvSpPr>
          <p:cNvPr id="34" name="Text 25"/>
          <p:cNvSpPr txBox="1"/>
          <p:nvPr/>
        </p:nvSpPr>
        <p:spPr>
          <a:xfrm>
            <a:off x="6967728" y="2569464"/>
            <a:ext cx="4434840" cy="310896"/>
          </a:xfrm>
          <a:prstGeom prst="rect">
            <a:avLst/>
          </a:prstGeom>
          <a:noFill/>
          <a:ln/>
        </p:spPr>
        <p:txBody>
          <a:bodyPr wrap="square" lIns="0" tIns="0" rIns="0" bIns="0" rtlCol="0" anchor="ctr"/>
          <a:lstStyle/>
          <a:p>
            <a:pPr indent="0" marL="0">
              <a:buNone/>
            </a:pPr>
            <a:r>
              <a:rPr lang="en-US" sz="1350" b="1" dirty="0">
                <a:solidFill>
                  <a:srgbClr val="2E1015"/>
                </a:solidFill>
                <a:latin typeface="Cambria" pitchFamily="34" charset="0"/>
                <a:ea typeface="Cambria" pitchFamily="34" charset="-122"/>
                <a:cs typeface="Cambria" pitchFamily="34" charset="-120"/>
              </a:rPr>
              <a:t>Reversión farmacológica</a:t>
            </a:r>
            <a:endParaRPr lang="en-US" sz="1350" dirty="0"/>
          </a:p>
        </p:txBody>
      </p:sp>
      <p:sp>
        <p:nvSpPr>
          <p:cNvPr id="35" name="Text 26"/>
          <p:cNvSpPr txBox="1"/>
          <p:nvPr/>
        </p:nvSpPr>
        <p:spPr>
          <a:xfrm>
            <a:off x="6967728" y="2880360"/>
            <a:ext cx="4434840" cy="457200"/>
          </a:xfrm>
          <a:prstGeom prst="rect">
            <a:avLst/>
          </a:prstGeom>
          <a:noFill/>
          <a:ln/>
        </p:spPr>
        <p:txBody>
          <a:bodyPr wrap="square" lIns="0" tIns="0" rIns="0" bIns="0" rtlCol="0" anchor="t"/>
          <a:lstStyle/>
          <a:p>
            <a:pPr indent="0" marL="0">
              <a:buNone/>
            </a:pPr>
            <a:r>
              <a:rPr lang="en-US" sz="1050" dirty="0">
                <a:solidFill>
                  <a:srgbClr val="7A5B5F"/>
                </a:solidFill>
                <a:latin typeface="Calibri" pitchFamily="34" charset="0"/>
                <a:ea typeface="Calibri" pitchFamily="34" charset="-122"/>
                <a:cs typeface="Calibri" pitchFamily="34" charset="-120"/>
              </a:rPr>
              <a:t>Anticolinesterasas y sugammadex</a:t>
            </a:r>
            <a:endParaRPr lang="en-US" sz="1050" dirty="0"/>
          </a:p>
        </p:txBody>
      </p:sp>
      <p:sp>
        <p:nvSpPr>
          <p:cNvPr id="36" name="Shape 27"/>
          <p:cNvSpPr/>
          <p:nvPr/>
        </p:nvSpPr>
        <p:spPr>
          <a:xfrm>
            <a:off x="6217920" y="3575304"/>
            <a:ext cx="5349240" cy="932688"/>
          </a:xfrm>
          <a:prstGeom prst="roundRect">
            <a:avLst>
              <a:gd name="adj" fmla="val 7843"/>
            </a:avLst>
          </a:prstGeom>
          <a:solidFill>
            <a:srgbClr val="FAF3F2"/>
          </a:solidFill>
          <a:ln w="12700">
            <a:solidFill>
              <a:srgbClr val="F0DFDD"/>
            </a:solidFill>
            <a:prstDash val="solid"/>
          </a:ln>
        </p:spPr>
      </p:sp>
      <p:sp>
        <p:nvSpPr>
          <p:cNvPr id="37" name="Shape 28"/>
          <p:cNvSpPr/>
          <p:nvPr/>
        </p:nvSpPr>
        <p:spPr>
          <a:xfrm>
            <a:off x="6364224" y="3703320"/>
            <a:ext cx="457200" cy="457200"/>
          </a:xfrm>
          <a:prstGeom prst="ellipse">
            <a:avLst/>
          </a:prstGeom>
          <a:solidFill>
            <a:srgbClr val="7A1F2B"/>
          </a:solidFill>
          <a:ln/>
        </p:spPr>
      </p:sp>
      <p:pic>
        <p:nvPicPr>
          <p:cNvPr id="38" name="Image 7" descr="/tmp/claude-0/-home-user-gpa-academy1/adc6e4aa-3b77-57c1-ba92-a8d4ee625c84/scratchpad/relajantes/icons/wave_FFFFFF.png">    </p:cNvPr>
          <p:cNvPicPr>
            <a:picLocks noChangeAspect="1"/>
          </p:cNvPicPr>
          <p:nvPr/>
        </p:nvPicPr>
        <p:blipFill>
          <a:blip r:embed="rId8"/>
          <a:stretch>
            <a:fillRect/>
          </a:stretch>
        </p:blipFill>
        <p:spPr>
          <a:xfrm>
            <a:off x="6428232" y="3767328"/>
            <a:ext cx="329184" cy="329184"/>
          </a:xfrm>
          <a:prstGeom prst="rect">
            <a:avLst/>
          </a:prstGeom>
        </p:spPr>
      </p:pic>
      <p:sp>
        <p:nvSpPr>
          <p:cNvPr id="39" name="Text 29"/>
          <p:cNvSpPr txBox="1"/>
          <p:nvPr/>
        </p:nvSpPr>
        <p:spPr>
          <a:xfrm>
            <a:off x="6967728" y="3648456"/>
            <a:ext cx="4434840" cy="310896"/>
          </a:xfrm>
          <a:prstGeom prst="rect">
            <a:avLst/>
          </a:prstGeom>
          <a:noFill/>
          <a:ln/>
        </p:spPr>
        <p:txBody>
          <a:bodyPr wrap="square" lIns="0" tIns="0" rIns="0" bIns="0" rtlCol="0" anchor="ctr"/>
          <a:lstStyle/>
          <a:p>
            <a:pPr indent="0" marL="0">
              <a:buNone/>
            </a:pPr>
            <a:r>
              <a:rPr lang="en-US" sz="1350" b="1" dirty="0">
                <a:solidFill>
                  <a:srgbClr val="2E1015"/>
                </a:solidFill>
                <a:latin typeface="Cambria" pitchFamily="34" charset="0"/>
                <a:ea typeface="Cambria" pitchFamily="34" charset="-122"/>
                <a:cs typeface="Cambria" pitchFamily="34" charset="-120"/>
              </a:rPr>
              <a:t>Monitorización y uso clínico</a:t>
            </a:r>
            <a:endParaRPr lang="en-US" sz="1350" dirty="0"/>
          </a:p>
        </p:txBody>
      </p:sp>
      <p:sp>
        <p:nvSpPr>
          <p:cNvPr id="40" name="Text 30"/>
          <p:cNvSpPr txBox="1"/>
          <p:nvPr/>
        </p:nvSpPr>
        <p:spPr>
          <a:xfrm>
            <a:off x="6967728" y="3959352"/>
            <a:ext cx="4434840" cy="457200"/>
          </a:xfrm>
          <a:prstGeom prst="rect">
            <a:avLst/>
          </a:prstGeom>
          <a:noFill/>
          <a:ln/>
        </p:spPr>
        <p:txBody>
          <a:bodyPr wrap="square" lIns="0" tIns="0" rIns="0" bIns="0" rtlCol="0" anchor="t"/>
          <a:lstStyle/>
          <a:p>
            <a:pPr indent="0" marL="0">
              <a:buNone/>
            </a:pPr>
            <a:r>
              <a:rPr lang="en-US" sz="1050" dirty="0">
                <a:solidFill>
                  <a:srgbClr val="7A5B5F"/>
                </a:solidFill>
                <a:latin typeface="Calibri" pitchFamily="34" charset="0"/>
                <a:ea typeface="Calibri" pitchFamily="34" charset="-122"/>
                <a:cs typeface="Calibri" pitchFamily="34" charset="-120"/>
              </a:rPr>
              <a:t>TOF, intubación, ventilación, bloqueo residual</a:t>
            </a:r>
            <a:endParaRPr lang="en-US" sz="1050" dirty="0"/>
          </a:p>
        </p:txBody>
      </p:sp>
      <p:sp>
        <p:nvSpPr>
          <p:cNvPr id="41" name="Shape 31"/>
          <p:cNvSpPr/>
          <p:nvPr/>
        </p:nvSpPr>
        <p:spPr>
          <a:xfrm>
            <a:off x="6217920" y="4654296"/>
            <a:ext cx="5349240" cy="932688"/>
          </a:xfrm>
          <a:prstGeom prst="roundRect">
            <a:avLst>
              <a:gd name="adj" fmla="val 7843"/>
            </a:avLst>
          </a:prstGeom>
          <a:solidFill>
            <a:srgbClr val="FAF3F2"/>
          </a:solidFill>
          <a:ln w="12700">
            <a:solidFill>
              <a:srgbClr val="F0DFDD"/>
            </a:solidFill>
            <a:prstDash val="solid"/>
          </a:ln>
        </p:spPr>
      </p:sp>
      <p:sp>
        <p:nvSpPr>
          <p:cNvPr id="42" name="Shape 32"/>
          <p:cNvSpPr/>
          <p:nvPr/>
        </p:nvSpPr>
        <p:spPr>
          <a:xfrm>
            <a:off x="6364224" y="4782312"/>
            <a:ext cx="457200" cy="457200"/>
          </a:xfrm>
          <a:prstGeom prst="ellipse">
            <a:avLst/>
          </a:prstGeom>
          <a:solidFill>
            <a:srgbClr val="7A1F2B"/>
          </a:solidFill>
          <a:ln/>
        </p:spPr>
      </p:sp>
      <p:pic>
        <p:nvPicPr>
          <p:cNvPr id="43" name="Image 8" descr="/tmp/claude-0/-home-user-gpa-academy1/adc6e4aa-3b77-57c1-ba92-a8d4ee625c84/scratchpad/relajantes/icons/book_FFFFFF.png">    </p:cNvPr>
          <p:cNvPicPr>
            <a:picLocks noChangeAspect="1"/>
          </p:cNvPicPr>
          <p:nvPr/>
        </p:nvPicPr>
        <p:blipFill>
          <a:blip r:embed="rId9"/>
          <a:stretch>
            <a:fillRect/>
          </a:stretch>
        </p:blipFill>
        <p:spPr>
          <a:xfrm>
            <a:off x="6428232" y="4846320"/>
            <a:ext cx="329184" cy="329184"/>
          </a:xfrm>
          <a:prstGeom prst="rect">
            <a:avLst/>
          </a:prstGeom>
        </p:spPr>
      </p:pic>
      <p:sp>
        <p:nvSpPr>
          <p:cNvPr id="44" name="Text 33"/>
          <p:cNvSpPr txBox="1"/>
          <p:nvPr/>
        </p:nvSpPr>
        <p:spPr>
          <a:xfrm>
            <a:off x="6967728" y="4727448"/>
            <a:ext cx="4434840" cy="310896"/>
          </a:xfrm>
          <a:prstGeom prst="rect">
            <a:avLst/>
          </a:prstGeom>
          <a:noFill/>
          <a:ln/>
        </p:spPr>
        <p:txBody>
          <a:bodyPr wrap="square" lIns="0" tIns="0" rIns="0" bIns="0" rtlCol="0" anchor="ctr"/>
          <a:lstStyle/>
          <a:p>
            <a:pPr indent="0" marL="0">
              <a:buNone/>
            </a:pPr>
            <a:r>
              <a:rPr lang="en-US" sz="1350" b="1" dirty="0">
                <a:solidFill>
                  <a:srgbClr val="2E1015"/>
                </a:solidFill>
                <a:latin typeface="Cambria" pitchFamily="34" charset="0"/>
                <a:ea typeface="Cambria" pitchFamily="34" charset="-122"/>
                <a:cs typeface="Cambria" pitchFamily="34" charset="-120"/>
              </a:rPr>
              <a:t>Síntesis y referencias</a:t>
            </a:r>
            <a:endParaRPr lang="en-US" sz="1350" dirty="0"/>
          </a:p>
        </p:txBody>
      </p:sp>
      <p:sp>
        <p:nvSpPr>
          <p:cNvPr id="45" name="Text 34"/>
          <p:cNvSpPr txBox="1"/>
          <p:nvPr/>
        </p:nvSpPr>
        <p:spPr>
          <a:xfrm>
            <a:off x="6967728" y="5038344"/>
            <a:ext cx="4434840" cy="457200"/>
          </a:xfrm>
          <a:prstGeom prst="rect">
            <a:avLst/>
          </a:prstGeom>
          <a:noFill/>
          <a:ln/>
        </p:spPr>
        <p:txBody>
          <a:bodyPr wrap="square" lIns="0" tIns="0" rIns="0" bIns="0" rtlCol="0" anchor="t"/>
          <a:lstStyle/>
          <a:p>
            <a:pPr indent="0" marL="0">
              <a:buNone/>
            </a:pPr>
            <a:r>
              <a:rPr lang="en-US" sz="1050" dirty="0">
                <a:solidFill>
                  <a:srgbClr val="7A5B5F"/>
                </a:solidFill>
                <a:latin typeface="Calibri" pitchFamily="34" charset="0"/>
                <a:ea typeface="Calibri" pitchFamily="34" charset="-122"/>
                <a:cs typeface="Calibri" pitchFamily="34" charset="-120"/>
              </a:rPr>
              <a:t>Puntos clave del capítulo</a:t>
            </a:r>
            <a:endParaRPr lang="en-US" sz="1050" dirty="0"/>
          </a:p>
        </p:txBody>
      </p:sp>
      <p:sp>
        <p:nvSpPr>
          <p:cNvPr id="46" name="Text 35"/>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47" name="Text 3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syringe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PANORAMA CLÍNICO</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Introducción a los relajantes musculares</a:t>
            </a:r>
            <a:endParaRPr lang="en-US" sz="2700" dirty="0"/>
          </a:p>
        </p:txBody>
      </p:sp>
      <p:sp>
        <p:nvSpPr>
          <p:cNvPr id="6" name="Text 3"/>
          <p:cNvSpPr txBox="1"/>
          <p:nvPr/>
        </p:nvSpPr>
        <p:spPr>
          <a:xfrm>
            <a:off x="548640" y="1417320"/>
            <a:ext cx="6172200" cy="4206240"/>
          </a:xfrm>
          <a:prstGeom prst="rect">
            <a:avLst/>
          </a:prstGeom>
          <a:noFill/>
          <a:ln/>
        </p:spPr>
        <p:txBody>
          <a:bodyPr wrap="square" lIns="0" tIns="0" rIns="0" bIns="0" rtlCol="0" anchor="t"/>
          <a:lstStyle/>
          <a:p>
            <a:pPr marL="203200" indent="-203200">
              <a:lnSpc>
                <a:spcPct val="108000"/>
              </a:lnSpc>
              <a:spcAft>
                <a:spcPts val="1400"/>
              </a:spcAft>
              <a:buSzPct val="100000"/>
              <a:buChar char="•"/>
            </a:pPr>
            <a:r>
              <a:rPr lang="en-US" sz="1450" dirty="0">
                <a:solidFill>
                  <a:srgbClr val="3D2226"/>
                </a:solidFill>
                <a:latin typeface="Calibri" pitchFamily="34" charset="0"/>
                <a:ea typeface="Calibri" pitchFamily="34" charset="-122"/>
                <a:cs typeface="Calibri" pitchFamily="34" charset="-120"/>
              </a:rPr>
              <a:t>Los relajantes musculares (bloqueantes neuromusculares) interrumpen la transmisión en la unión neuromuscular, produciendo parálisis flácida reversible del músculo esquelético.</a:t>
            </a:r>
            <a:endParaRPr lang="en-US" sz="1450" dirty="0"/>
          </a:p>
          <a:p>
            <a:pPr marL="203200" indent="-203200">
              <a:lnSpc>
                <a:spcPct val="108000"/>
              </a:lnSpc>
              <a:spcAft>
                <a:spcPts val="1400"/>
              </a:spcAft>
              <a:buSzPct val="100000"/>
              <a:buChar char="•"/>
            </a:pPr>
            <a:r>
              <a:rPr lang="en-US" sz="1450" dirty="0">
                <a:solidFill>
                  <a:srgbClr val="3D2226"/>
                </a:solidFill>
                <a:latin typeface="Calibri" pitchFamily="34" charset="0"/>
                <a:ea typeface="Calibri" pitchFamily="34" charset="-122"/>
                <a:cs typeface="Calibri" pitchFamily="34" charset="-120"/>
              </a:rPr>
              <a:t>Son uno de los tres pilares de la anestesia balanceada, junto con la hipnosis y la analgesia (la llamada “tríada anestésica”).</a:t>
            </a:r>
            <a:endParaRPr lang="en-US" sz="1450" dirty="0"/>
          </a:p>
          <a:p>
            <a:pPr marL="203200" indent="-203200">
              <a:lnSpc>
                <a:spcPct val="108000"/>
              </a:lnSpc>
              <a:spcAft>
                <a:spcPts val="1400"/>
              </a:spcAft>
              <a:buSzPct val="100000"/>
              <a:buChar char="•"/>
            </a:pPr>
            <a:r>
              <a:rPr lang="en-US" sz="1450" dirty="0">
                <a:solidFill>
                  <a:srgbClr val="3D2226"/>
                </a:solidFill>
                <a:latin typeface="Calibri" pitchFamily="34" charset="0"/>
                <a:ea typeface="Calibri" pitchFamily="34" charset="-122"/>
                <a:cs typeface="Calibri" pitchFamily="34" charset="-120"/>
              </a:rPr>
              <a:t>No poseen efecto hipnótico ni analgésico: un paciente relajado sin hipnosis adecuada puede estar consciente y percibir dolor (“awareness”).</a:t>
            </a:r>
            <a:endParaRPr lang="en-US" sz="1450" dirty="0"/>
          </a:p>
          <a:p>
            <a:pPr marL="203200" indent="-203200">
              <a:lnSpc>
                <a:spcPct val="108000"/>
              </a:lnSpc>
              <a:spcAft>
                <a:spcPts val="1400"/>
              </a:spcAft>
              <a:buSzPct val="100000"/>
              <a:buChar char="•"/>
            </a:pPr>
            <a:r>
              <a:rPr lang="en-US" sz="1450" dirty="0">
                <a:solidFill>
                  <a:srgbClr val="3D2226"/>
                </a:solidFill>
                <a:latin typeface="Calibri" pitchFamily="34" charset="0"/>
                <a:ea typeface="Calibri" pitchFamily="34" charset="-122"/>
                <a:cs typeface="Calibri" pitchFamily="34" charset="-120"/>
              </a:rPr>
              <a:t>Su empleo racional exige conocer profundamente la fisiología de la placa motora, la farmacocinética de cada fármaco y las técnicas de monitorización objetiva.</a:t>
            </a:r>
            <a:endParaRPr lang="en-US" sz="1450" dirty="0"/>
          </a:p>
        </p:txBody>
      </p:sp>
      <p:sp>
        <p:nvSpPr>
          <p:cNvPr id="7" name="Shape 4"/>
          <p:cNvSpPr/>
          <p:nvPr/>
        </p:nvSpPr>
        <p:spPr>
          <a:xfrm>
            <a:off x="7086600" y="1417320"/>
            <a:ext cx="4556455" cy="4617720"/>
          </a:xfrm>
          <a:prstGeom prst="roundRect">
            <a:avLst>
              <a:gd name="adj" fmla="val 16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8" name="Text 5"/>
          <p:cNvSpPr txBox="1"/>
          <p:nvPr/>
        </p:nvSpPr>
        <p:spPr>
          <a:xfrm>
            <a:off x="7360920" y="1627632"/>
            <a:ext cx="4023360" cy="274320"/>
          </a:xfrm>
          <a:prstGeom prst="rect">
            <a:avLst/>
          </a:prstGeom>
          <a:noFill/>
          <a:ln/>
        </p:spPr>
        <p:txBody>
          <a:bodyPr wrap="square" lIns="0" tIns="0" rIns="0" bIns="0" rtlCol="0" anchor="ctr"/>
          <a:lstStyle/>
          <a:p>
            <a:pPr indent="0" marL="0">
              <a:buNone/>
            </a:pPr>
            <a:r>
              <a:rPr lang="en-US" sz="1100" b="1" spc="130" kern="0" dirty="0">
                <a:solidFill>
                  <a:srgbClr val="7A1F2B"/>
                </a:solidFill>
                <a:latin typeface="Calibri" pitchFamily="34" charset="0"/>
                <a:ea typeface="Calibri" pitchFamily="34" charset="-122"/>
                <a:cs typeface="Calibri" pitchFamily="34" charset="-120"/>
              </a:rPr>
              <a:t>¿POR QUÉ SE USAN?</a:t>
            </a:r>
            <a:endParaRPr lang="en-US" sz="1100" dirty="0"/>
          </a:p>
        </p:txBody>
      </p:sp>
      <p:sp>
        <p:nvSpPr>
          <p:cNvPr id="9" name="Shape 6"/>
          <p:cNvSpPr/>
          <p:nvPr/>
        </p:nvSpPr>
        <p:spPr>
          <a:xfrm>
            <a:off x="7360920" y="2057400"/>
            <a:ext cx="512064" cy="512064"/>
          </a:xfrm>
          <a:prstGeom prst="ellipse">
            <a:avLst/>
          </a:prstGeom>
          <a:solidFill>
            <a:srgbClr val="C1666B"/>
          </a:solidFill>
          <a:ln/>
        </p:spPr>
      </p:sp>
      <p:pic>
        <p:nvPicPr>
          <p:cNvPr id="10" name="Image 1" descr="/tmp/claude-0/-home-user-gpa-academy1/adc6e4aa-3b77-57c1-ba92-a8d4ee625c84/scratchpad/relajantes/icons/userMd_FFFFFF.png">    </p:cNvPr>
          <p:cNvPicPr>
            <a:picLocks noChangeAspect="1"/>
          </p:cNvPicPr>
          <p:nvPr/>
        </p:nvPicPr>
        <p:blipFill>
          <a:blip r:embed="rId2"/>
          <a:stretch>
            <a:fillRect/>
          </a:stretch>
        </p:blipFill>
        <p:spPr>
          <a:xfrm>
            <a:off x="7432609" y="2129089"/>
            <a:ext cx="368686" cy="368686"/>
          </a:xfrm>
          <a:prstGeom prst="rect">
            <a:avLst/>
          </a:prstGeom>
        </p:spPr>
      </p:pic>
      <p:sp>
        <p:nvSpPr>
          <p:cNvPr id="11" name="Text 7"/>
          <p:cNvSpPr txBox="1"/>
          <p:nvPr/>
        </p:nvSpPr>
        <p:spPr>
          <a:xfrm>
            <a:off x="8037576" y="2020824"/>
            <a:ext cx="3331159" cy="45720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Facilitar la intubación traqueal</a:t>
            </a:r>
            <a:endParaRPr lang="en-US" sz="1300" dirty="0"/>
          </a:p>
        </p:txBody>
      </p:sp>
      <p:sp>
        <p:nvSpPr>
          <p:cNvPr id="12" name="Text 8"/>
          <p:cNvSpPr txBox="1"/>
          <p:nvPr/>
        </p:nvSpPr>
        <p:spPr>
          <a:xfrm>
            <a:off x="8037576" y="2478024"/>
            <a:ext cx="3331159" cy="64008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Relajan cuerdas vocales y musculatura mandibular, reduciendo trauma en la vía aérea.</a:t>
            </a:r>
            <a:endParaRPr lang="en-US" sz="1050" dirty="0"/>
          </a:p>
        </p:txBody>
      </p:sp>
      <p:sp>
        <p:nvSpPr>
          <p:cNvPr id="13" name="Shape 9"/>
          <p:cNvSpPr/>
          <p:nvPr/>
        </p:nvSpPr>
        <p:spPr>
          <a:xfrm>
            <a:off x="7360920" y="3291840"/>
            <a:ext cx="512064" cy="512064"/>
          </a:xfrm>
          <a:prstGeom prst="ellipse">
            <a:avLst/>
          </a:prstGeom>
          <a:solidFill>
            <a:srgbClr val="C1666B"/>
          </a:solidFill>
          <a:ln/>
        </p:spPr>
      </p:sp>
      <p:pic>
        <p:nvPicPr>
          <p:cNvPr id="14" name="Image 2" descr="/tmp/claude-0/-home-user-gpa-academy1/adc6e4aa-3b77-57c1-ba92-a8d4ee625c84/scratchpad/relajantes/icons/procedures_FFFFFF.png">    </p:cNvPr>
          <p:cNvPicPr>
            <a:picLocks noChangeAspect="1"/>
          </p:cNvPicPr>
          <p:nvPr/>
        </p:nvPicPr>
        <p:blipFill>
          <a:blip r:embed="rId3"/>
          <a:stretch>
            <a:fillRect/>
          </a:stretch>
        </p:blipFill>
        <p:spPr>
          <a:xfrm>
            <a:off x="7432609" y="3363529"/>
            <a:ext cx="368686" cy="368686"/>
          </a:xfrm>
          <a:prstGeom prst="rect">
            <a:avLst/>
          </a:prstGeom>
        </p:spPr>
      </p:pic>
      <p:sp>
        <p:nvSpPr>
          <p:cNvPr id="15" name="Text 10"/>
          <p:cNvSpPr txBox="1"/>
          <p:nvPr/>
        </p:nvSpPr>
        <p:spPr>
          <a:xfrm>
            <a:off x="8037576" y="3255264"/>
            <a:ext cx="3331159" cy="45720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Optimizar el campo quirúrgico</a:t>
            </a:r>
            <a:endParaRPr lang="en-US" sz="1300" dirty="0"/>
          </a:p>
        </p:txBody>
      </p:sp>
      <p:sp>
        <p:nvSpPr>
          <p:cNvPr id="16" name="Text 11"/>
          <p:cNvSpPr txBox="1"/>
          <p:nvPr/>
        </p:nvSpPr>
        <p:spPr>
          <a:xfrm>
            <a:off x="8037576" y="3712464"/>
            <a:ext cx="3331159" cy="64008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Inmovilidad abdominal, torácica y microquirúrgica.</a:t>
            </a:r>
            <a:endParaRPr lang="en-US" sz="1050" dirty="0"/>
          </a:p>
        </p:txBody>
      </p:sp>
      <p:sp>
        <p:nvSpPr>
          <p:cNvPr id="17" name="Shape 12"/>
          <p:cNvSpPr/>
          <p:nvPr/>
        </p:nvSpPr>
        <p:spPr>
          <a:xfrm>
            <a:off x="7360920" y="4526280"/>
            <a:ext cx="512064" cy="512064"/>
          </a:xfrm>
          <a:prstGeom prst="ellipse">
            <a:avLst/>
          </a:prstGeom>
          <a:solidFill>
            <a:srgbClr val="C1666B"/>
          </a:solidFill>
          <a:ln/>
        </p:spPr>
      </p:sp>
      <p:pic>
        <p:nvPicPr>
          <p:cNvPr id="18" name="Image 3" descr="/tmp/claude-0/-home-user-gpa-academy1/adc6e4aa-3b77-57c1-ba92-a8d4ee625c84/scratchpad/relajantes/icons/lungs_FFFFFF.png">    </p:cNvPr>
          <p:cNvPicPr>
            <a:picLocks noChangeAspect="1"/>
          </p:cNvPicPr>
          <p:nvPr/>
        </p:nvPicPr>
        <p:blipFill>
          <a:blip r:embed="rId4"/>
          <a:stretch>
            <a:fillRect/>
          </a:stretch>
        </p:blipFill>
        <p:spPr>
          <a:xfrm>
            <a:off x="7432609" y="4597969"/>
            <a:ext cx="368686" cy="368686"/>
          </a:xfrm>
          <a:prstGeom prst="rect">
            <a:avLst/>
          </a:prstGeom>
        </p:spPr>
      </p:pic>
      <p:sp>
        <p:nvSpPr>
          <p:cNvPr id="19" name="Text 13"/>
          <p:cNvSpPr txBox="1"/>
          <p:nvPr/>
        </p:nvSpPr>
        <p:spPr>
          <a:xfrm>
            <a:off x="8037576" y="4489704"/>
            <a:ext cx="3331159" cy="45720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Permitir la ventilación mecánica</a:t>
            </a:r>
            <a:endParaRPr lang="en-US" sz="1300" dirty="0"/>
          </a:p>
        </p:txBody>
      </p:sp>
      <p:sp>
        <p:nvSpPr>
          <p:cNvPr id="20" name="Text 14"/>
          <p:cNvSpPr txBox="1"/>
          <p:nvPr/>
        </p:nvSpPr>
        <p:spPr>
          <a:xfrm>
            <a:off x="8037576" y="4946904"/>
            <a:ext cx="3331159" cy="64008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Sincronía con el ventilador en cirugías prolongadas o en UCI.</a:t>
            </a:r>
            <a:endParaRPr lang="en-US" sz="1050" dirty="0"/>
          </a:p>
        </p:txBody>
      </p:sp>
      <p:sp>
        <p:nvSpPr>
          <p:cNvPr id="21" name="Text 15"/>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22" name="Text 1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history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DE LA SELVA AL QUIRÓFANO</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Historia de los relajantes musculares</a:t>
            </a:r>
            <a:endParaRPr lang="en-US" sz="2700" dirty="0"/>
          </a:p>
        </p:txBody>
      </p:sp>
      <p:sp>
        <p:nvSpPr>
          <p:cNvPr id="6" name="Shape 3"/>
          <p:cNvSpPr/>
          <p:nvPr/>
        </p:nvSpPr>
        <p:spPr>
          <a:xfrm>
            <a:off x="822960" y="3063240"/>
            <a:ext cx="10545775" cy="0"/>
          </a:xfrm>
          <a:prstGeom prst="line">
            <a:avLst/>
          </a:prstGeom>
          <a:noFill/>
          <a:ln w="31750">
            <a:solidFill>
              <a:srgbClr val="C1666B"/>
            </a:solidFill>
            <a:prstDash val="solid"/>
          </a:ln>
        </p:spPr>
      </p:sp>
      <p:sp>
        <p:nvSpPr>
          <p:cNvPr id="7" name="Shape 4"/>
          <p:cNvSpPr/>
          <p:nvPr/>
        </p:nvSpPr>
        <p:spPr>
          <a:xfrm>
            <a:off x="722376" y="2962656"/>
            <a:ext cx="201168" cy="201168"/>
          </a:xfrm>
          <a:prstGeom prst="ellipse">
            <a:avLst/>
          </a:prstGeom>
          <a:solidFill>
            <a:srgbClr val="7A1F2B"/>
          </a:solidFill>
          <a:ln w="19050">
            <a:solidFill>
              <a:srgbClr val="FFFFFF"/>
            </a:solidFill>
            <a:prstDash val="solid"/>
          </a:ln>
        </p:spPr>
      </p:sp>
      <p:sp>
        <p:nvSpPr>
          <p:cNvPr id="8" name="Text 5"/>
          <p:cNvSpPr txBox="1"/>
          <p:nvPr/>
        </p:nvSpPr>
        <p:spPr>
          <a:xfrm>
            <a:off x="548640" y="1645920"/>
            <a:ext cx="1920240" cy="256032"/>
          </a:xfrm>
          <a:prstGeom prst="rect">
            <a:avLst/>
          </a:prstGeom>
          <a:noFill/>
          <a:ln/>
        </p:spPr>
        <p:txBody>
          <a:bodyPr wrap="square" lIns="0" tIns="0" rIns="0" bIns="0" rtlCol="0" anchor="ctr"/>
          <a:lstStyle/>
          <a:p>
            <a:pPr algn="ctr" indent="0" marL="0">
              <a:buNone/>
            </a:pPr>
            <a:r>
              <a:rPr lang="en-US" sz="1300" b="1" dirty="0">
                <a:solidFill>
                  <a:srgbClr val="7A1F2B"/>
                </a:solidFill>
                <a:latin typeface="Cambria" pitchFamily="34" charset="0"/>
                <a:ea typeface="Cambria" pitchFamily="34" charset="-122"/>
                <a:cs typeface="Cambria" pitchFamily="34" charset="-120"/>
              </a:rPr>
              <a:t>Siglo XVI</a:t>
            </a:r>
            <a:endParaRPr lang="en-US" sz="1300" dirty="0"/>
          </a:p>
        </p:txBody>
      </p:sp>
      <p:sp>
        <p:nvSpPr>
          <p:cNvPr id="9" name="Text 6"/>
          <p:cNvSpPr txBox="1"/>
          <p:nvPr/>
        </p:nvSpPr>
        <p:spPr>
          <a:xfrm>
            <a:off x="548640" y="1892808"/>
            <a:ext cx="1920240" cy="274320"/>
          </a:xfrm>
          <a:prstGeom prst="rect">
            <a:avLst/>
          </a:prstGeom>
          <a:noFill/>
          <a:ln/>
        </p:spPr>
        <p:txBody>
          <a:bodyPr wrap="square" lIns="0" tIns="0" rIns="0" bIns="0" rtlCol="0" anchor="ctr"/>
          <a:lstStyle/>
          <a:p>
            <a:pPr algn="ctr" indent="0" marL="0">
              <a:buNone/>
            </a:pPr>
            <a:r>
              <a:rPr lang="en-US" sz="1100" b="1" dirty="0">
                <a:solidFill>
                  <a:srgbClr val="2E1015"/>
                </a:solidFill>
                <a:latin typeface="Calibri" pitchFamily="34" charset="0"/>
                <a:ea typeface="Calibri" pitchFamily="34" charset="-122"/>
                <a:cs typeface="Calibri" pitchFamily="34" charset="-120"/>
              </a:rPr>
              <a:t>El curare</a:t>
            </a:r>
            <a:endParaRPr lang="en-US" sz="1100" dirty="0"/>
          </a:p>
        </p:txBody>
      </p:sp>
      <p:sp>
        <p:nvSpPr>
          <p:cNvPr id="10" name="Text 7"/>
          <p:cNvSpPr txBox="1"/>
          <p:nvPr/>
        </p:nvSpPr>
        <p:spPr>
          <a:xfrm>
            <a:off x="548640" y="2148840"/>
            <a:ext cx="1920240" cy="777240"/>
          </a:xfrm>
          <a:prstGeom prst="rect">
            <a:avLst/>
          </a:prstGeom>
          <a:noFill/>
          <a:ln/>
        </p:spPr>
        <p:txBody>
          <a:bodyPr wrap="square" lIns="0" tIns="0" rIns="0" bIns="0" rtlCol="0" anchor="t"/>
          <a:lstStyle/>
          <a:p>
            <a:pPr algn="ctr" indent="0" marL="0">
              <a:buNone/>
            </a:pPr>
            <a:r>
              <a:rPr lang="en-US" sz="950" dirty="0">
                <a:solidFill>
                  <a:srgbClr val="7A5B5F"/>
                </a:solidFill>
                <a:latin typeface="Calibri" pitchFamily="34" charset="0"/>
                <a:ea typeface="Calibri" pitchFamily="34" charset="-122"/>
                <a:cs typeface="Calibri" pitchFamily="34" charset="-120"/>
              </a:rPr>
              <a:t>Exploradores europeos documentan su uso por pueblos indígenas de Sudamérica en flechas de caza.</a:t>
            </a:r>
            <a:endParaRPr lang="en-US" sz="950" dirty="0"/>
          </a:p>
        </p:txBody>
      </p:sp>
      <p:sp>
        <p:nvSpPr>
          <p:cNvPr id="11" name="Shape 8"/>
          <p:cNvSpPr/>
          <p:nvPr/>
        </p:nvSpPr>
        <p:spPr>
          <a:xfrm>
            <a:off x="822960" y="2935224"/>
            <a:ext cx="0" cy="128016"/>
          </a:xfrm>
          <a:prstGeom prst="line">
            <a:avLst/>
          </a:prstGeom>
          <a:noFill/>
          <a:ln w="12700">
            <a:solidFill>
              <a:srgbClr val="C1666B"/>
            </a:solidFill>
            <a:prstDash val="solid"/>
          </a:ln>
        </p:spPr>
      </p:sp>
      <p:sp>
        <p:nvSpPr>
          <p:cNvPr id="12" name="Shape 9"/>
          <p:cNvSpPr/>
          <p:nvPr/>
        </p:nvSpPr>
        <p:spPr>
          <a:xfrm>
            <a:off x="2480005" y="2962656"/>
            <a:ext cx="201168" cy="201168"/>
          </a:xfrm>
          <a:prstGeom prst="ellipse">
            <a:avLst/>
          </a:prstGeom>
          <a:solidFill>
            <a:srgbClr val="7A1F2B"/>
          </a:solidFill>
          <a:ln w="19050">
            <a:solidFill>
              <a:srgbClr val="FFFFFF"/>
            </a:solidFill>
            <a:prstDash val="solid"/>
          </a:ln>
        </p:spPr>
      </p:sp>
      <p:sp>
        <p:nvSpPr>
          <p:cNvPr id="13" name="Shape 10"/>
          <p:cNvSpPr/>
          <p:nvPr/>
        </p:nvSpPr>
        <p:spPr>
          <a:xfrm>
            <a:off x="2580589" y="3163824"/>
            <a:ext cx="0" cy="128016"/>
          </a:xfrm>
          <a:prstGeom prst="line">
            <a:avLst/>
          </a:prstGeom>
          <a:noFill/>
          <a:ln w="12700">
            <a:solidFill>
              <a:srgbClr val="C1666B"/>
            </a:solidFill>
            <a:prstDash val="solid"/>
          </a:ln>
        </p:spPr>
      </p:sp>
      <p:sp>
        <p:nvSpPr>
          <p:cNvPr id="14" name="Text 11"/>
          <p:cNvSpPr txBox="1"/>
          <p:nvPr/>
        </p:nvSpPr>
        <p:spPr>
          <a:xfrm>
            <a:off x="1620469" y="3319272"/>
            <a:ext cx="1920240" cy="256032"/>
          </a:xfrm>
          <a:prstGeom prst="rect">
            <a:avLst/>
          </a:prstGeom>
          <a:noFill/>
          <a:ln/>
        </p:spPr>
        <p:txBody>
          <a:bodyPr wrap="square" lIns="0" tIns="0" rIns="0" bIns="0" rtlCol="0" anchor="ctr"/>
          <a:lstStyle/>
          <a:p>
            <a:pPr algn="ctr" indent="0" marL="0">
              <a:buNone/>
            </a:pPr>
            <a:r>
              <a:rPr lang="en-US" sz="1300" b="1" dirty="0">
                <a:solidFill>
                  <a:srgbClr val="7A1F2B"/>
                </a:solidFill>
                <a:latin typeface="Cambria" pitchFamily="34" charset="0"/>
                <a:ea typeface="Cambria" pitchFamily="34" charset="-122"/>
                <a:cs typeface="Cambria" pitchFamily="34" charset="-120"/>
              </a:rPr>
              <a:t>1942</a:t>
            </a:r>
            <a:endParaRPr lang="en-US" sz="1300" dirty="0"/>
          </a:p>
        </p:txBody>
      </p:sp>
      <p:sp>
        <p:nvSpPr>
          <p:cNvPr id="15" name="Text 12"/>
          <p:cNvSpPr txBox="1"/>
          <p:nvPr/>
        </p:nvSpPr>
        <p:spPr>
          <a:xfrm>
            <a:off x="1620469" y="3566160"/>
            <a:ext cx="1920240" cy="274320"/>
          </a:xfrm>
          <a:prstGeom prst="rect">
            <a:avLst/>
          </a:prstGeom>
          <a:noFill/>
          <a:ln/>
        </p:spPr>
        <p:txBody>
          <a:bodyPr wrap="square" lIns="0" tIns="0" rIns="0" bIns="0" rtlCol="0" anchor="ctr"/>
          <a:lstStyle/>
          <a:p>
            <a:pPr algn="ctr" indent="0" marL="0">
              <a:buNone/>
            </a:pPr>
            <a:r>
              <a:rPr lang="en-US" sz="1100" b="1" dirty="0">
                <a:solidFill>
                  <a:srgbClr val="2E1015"/>
                </a:solidFill>
                <a:latin typeface="Calibri" pitchFamily="34" charset="0"/>
                <a:ea typeface="Calibri" pitchFamily="34" charset="-122"/>
                <a:cs typeface="Calibri" pitchFamily="34" charset="-120"/>
              </a:rPr>
              <a:t>Harold Griffith</a:t>
            </a:r>
            <a:endParaRPr lang="en-US" sz="1100" dirty="0"/>
          </a:p>
        </p:txBody>
      </p:sp>
      <p:sp>
        <p:nvSpPr>
          <p:cNvPr id="16" name="Text 13"/>
          <p:cNvSpPr txBox="1"/>
          <p:nvPr/>
        </p:nvSpPr>
        <p:spPr>
          <a:xfrm>
            <a:off x="1620469" y="3822192"/>
            <a:ext cx="1920240" cy="822960"/>
          </a:xfrm>
          <a:prstGeom prst="rect">
            <a:avLst/>
          </a:prstGeom>
          <a:noFill/>
          <a:ln/>
        </p:spPr>
        <p:txBody>
          <a:bodyPr wrap="square" lIns="0" tIns="0" rIns="0" bIns="0" rtlCol="0" anchor="t"/>
          <a:lstStyle/>
          <a:p>
            <a:pPr algn="ctr" indent="0" marL="0">
              <a:buNone/>
            </a:pPr>
            <a:r>
              <a:rPr lang="en-US" sz="950" dirty="0">
                <a:solidFill>
                  <a:srgbClr val="7A5B5F"/>
                </a:solidFill>
                <a:latin typeface="Calibri" pitchFamily="34" charset="0"/>
                <a:ea typeface="Calibri" pitchFamily="34" charset="-122"/>
                <a:cs typeface="Calibri" pitchFamily="34" charset="-120"/>
              </a:rPr>
              <a:t>Introduce la d-tubocurarina en anestesia clínica (Montreal), iniciando la era del bloqueo neuromuscular farmacológico.</a:t>
            </a:r>
            <a:endParaRPr lang="en-US" sz="950" dirty="0"/>
          </a:p>
        </p:txBody>
      </p:sp>
      <p:sp>
        <p:nvSpPr>
          <p:cNvPr id="17" name="Shape 14"/>
          <p:cNvSpPr/>
          <p:nvPr/>
        </p:nvSpPr>
        <p:spPr>
          <a:xfrm>
            <a:off x="4237634" y="2962656"/>
            <a:ext cx="201168" cy="201168"/>
          </a:xfrm>
          <a:prstGeom prst="ellipse">
            <a:avLst/>
          </a:prstGeom>
          <a:solidFill>
            <a:srgbClr val="7A1F2B"/>
          </a:solidFill>
          <a:ln w="19050">
            <a:solidFill>
              <a:srgbClr val="FFFFFF"/>
            </a:solidFill>
            <a:prstDash val="solid"/>
          </a:ln>
        </p:spPr>
      </p:sp>
      <p:sp>
        <p:nvSpPr>
          <p:cNvPr id="18" name="Text 15"/>
          <p:cNvSpPr txBox="1"/>
          <p:nvPr/>
        </p:nvSpPr>
        <p:spPr>
          <a:xfrm>
            <a:off x="3378098" y="1645920"/>
            <a:ext cx="1920240" cy="256032"/>
          </a:xfrm>
          <a:prstGeom prst="rect">
            <a:avLst/>
          </a:prstGeom>
          <a:noFill/>
          <a:ln/>
        </p:spPr>
        <p:txBody>
          <a:bodyPr wrap="square" lIns="0" tIns="0" rIns="0" bIns="0" rtlCol="0" anchor="ctr"/>
          <a:lstStyle/>
          <a:p>
            <a:pPr algn="ctr" indent="0" marL="0">
              <a:buNone/>
            </a:pPr>
            <a:r>
              <a:rPr lang="en-US" sz="1300" b="1" dirty="0">
                <a:solidFill>
                  <a:srgbClr val="7A1F2B"/>
                </a:solidFill>
                <a:latin typeface="Cambria" pitchFamily="34" charset="0"/>
                <a:ea typeface="Cambria" pitchFamily="34" charset="-122"/>
                <a:cs typeface="Cambria" pitchFamily="34" charset="-120"/>
              </a:rPr>
              <a:t>1951</a:t>
            </a:r>
            <a:endParaRPr lang="en-US" sz="1300" dirty="0"/>
          </a:p>
        </p:txBody>
      </p:sp>
      <p:sp>
        <p:nvSpPr>
          <p:cNvPr id="19" name="Text 16"/>
          <p:cNvSpPr txBox="1"/>
          <p:nvPr/>
        </p:nvSpPr>
        <p:spPr>
          <a:xfrm>
            <a:off x="3378098" y="1892808"/>
            <a:ext cx="1920240" cy="274320"/>
          </a:xfrm>
          <a:prstGeom prst="rect">
            <a:avLst/>
          </a:prstGeom>
          <a:noFill/>
          <a:ln/>
        </p:spPr>
        <p:txBody>
          <a:bodyPr wrap="square" lIns="0" tIns="0" rIns="0" bIns="0" rtlCol="0" anchor="ctr"/>
          <a:lstStyle/>
          <a:p>
            <a:pPr algn="ctr" indent="0" marL="0">
              <a:buNone/>
            </a:pPr>
            <a:r>
              <a:rPr lang="en-US" sz="1100" b="1" dirty="0">
                <a:solidFill>
                  <a:srgbClr val="2E1015"/>
                </a:solidFill>
                <a:latin typeface="Calibri" pitchFamily="34" charset="0"/>
                <a:ea typeface="Calibri" pitchFamily="34" charset="-122"/>
                <a:cs typeface="Calibri" pitchFamily="34" charset="-120"/>
              </a:rPr>
              <a:t>Succinilcolina</a:t>
            </a:r>
            <a:endParaRPr lang="en-US" sz="1100" dirty="0"/>
          </a:p>
        </p:txBody>
      </p:sp>
      <p:sp>
        <p:nvSpPr>
          <p:cNvPr id="20" name="Text 17"/>
          <p:cNvSpPr txBox="1"/>
          <p:nvPr/>
        </p:nvSpPr>
        <p:spPr>
          <a:xfrm>
            <a:off x="3378098" y="2148840"/>
            <a:ext cx="1920240" cy="777240"/>
          </a:xfrm>
          <a:prstGeom prst="rect">
            <a:avLst/>
          </a:prstGeom>
          <a:noFill/>
          <a:ln/>
        </p:spPr>
        <p:txBody>
          <a:bodyPr wrap="square" lIns="0" tIns="0" rIns="0" bIns="0" rtlCol="0" anchor="t"/>
          <a:lstStyle/>
          <a:p>
            <a:pPr algn="ctr" indent="0" marL="0">
              <a:buNone/>
            </a:pPr>
            <a:r>
              <a:rPr lang="en-US" sz="950" dirty="0">
                <a:solidFill>
                  <a:srgbClr val="7A5B5F"/>
                </a:solidFill>
                <a:latin typeface="Calibri" pitchFamily="34" charset="0"/>
                <a:ea typeface="Calibri" pitchFamily="34" charset="-122"/>
                <a:cs typeface="Calibri" pitchFamily="34" charset="-120"/>
              </a:rPr>
              <a:t>Se introduce el primer relajante despolarizante de acción ultracorta.</a:t>
            </a:r>
            <a:endParaRPr lang="en-US" sz="950" dirty="0"/>
          </a:p>
        </p:txBody>
      </p:sp>
      <p:sp>
        <p:nvSpPr>
          <p:cNvPr id="21" name="Shape 18"/>
          <p:cNvSpPr/>
          <p:nvPr/>
        </p:nvSpPr>
        <p:spPr>
          <a:xfrm>
            <a:off x="4338218" y="2935224"/>
            <a:ext cx="0" cy="128016"/>
          </a:xfrm>
          <a:prstGeom prst="line">
            <a:avLst/>
          </a:prstGeom>
          <a:noFill/>
          <a:ln w="12700">
            <a:solidFill>
              <a:srgbClr val="C1666B"/>
            </a:solidFill>
            <a:prstDash val="solid"/>
          </a:ln>
        </p:spPr>
      </p:sp>
      <p:sp>
        <p:nvSpPr>
          <p:cNvPr id="22" name="Shape 19"/>
          <p:cNvSpPr/>
          <p:nvPr/>
        </p:nvSpPr>
        <p:spPr>
          <a:xfrm>
            <a:off x="5995264" y="2962656"/>
            <a:ext cx="201168" cy="201168"/>
          </a:xfrm>
          <a:prstGeom prst="ellipse">
            <a:avLst/>
          </a:prstGeom>
          <a:solidFill>
            <a:srgbClr val="7A1F2B"/>
          </a:solidFill>
          <a:ln w="19050">
            <a:solidFill>
              <a:srgbClr val="FFFFFF"/>
            </a:solidFill>
            <a:prstDash val="solid"/>
          </a:ln>
        </p:spPr>
      </p:sp>
      <p:sp>
        <p:nvSpPr>
          <p:cNvPr id="23" name="Shape 20"/>
          <p:cNvSpPr/>
          <p:nvPr/>
        </p:nvSpPr>
        <p:spPr>
          <a:xfrm>
            <a:off x="6095848" y="3163824"/>
            <a:ext cx="0" cy="128016"/>
          </a:xfrm>
          <a:prstGeom prst="line">
            <a:avLst/>
          </a:prstGeom>
          <a:noFill/>
          <a:ln w="12700">
            <a:solidFill>
              <a:srgbClr val="C1666B"/>
            </a:solidFill>
            <a:prstDash val="solid"/>
          </a:ln>
        </p:spPr>
      </p:sp>
      <p:sp>
        <p:nvSpPr>
          <p:cNvPr id="24" name="Text 21"/>
          <p:cNvSpPr txBox="1"/>
          <p:nvPr/>
        </p:nvSpPr>
        <p:spPr>
          <a:xfrm>
            <a:off x="5135728" y="3319272"/>
            <a:ext cx="1920240" cy="256032"/>
          </a:xfrm>
          <a:prstGeom prst="rect">
            <a:avLst/>
          </a:prstGeom>
          <a:noFill/>
          <a:ln/>
        </p:spPr>
        <p:txBody>
          <a:bodyPr wrap="square" lIns="0" tIns="0" rIns="0" bIns="0" rtlCol="0" anchor="ctr"/>
          <a:lstStyle/>
          <a:p>
            <a:pPr algn="ctr" indent="0" marL="0">
              <a:buNone/>
            </a:pPr>
            <a:r>
              <a:rPr lang="en-US" sz="1300" b="1" dirty="0">
                <a:solidFill>
                  <a:srgbClr val="7A1F2B"/>
                </a:solidFill>
                <a:latin typeface="Cambria" pitchFamily="34" charset="0"/>
                <a:ea typeface="Cambria" pitchFamily="34" charset="-122"/>
                <a:cs typeface="Cambria" pitchFamily="34" charset="-120"/>
              </a:rPr>
              <a:t>1967</a:t>
            </a:r>
            <a:endParaRPr lang="en-US" sz="1300" dirty="0"/>
          </a:p>
        </p:txBody>
      </p:sp>
      <p:sp>
        <p:nvSpPr>
          <p:cNvPr id="25" name="Text 22"/>
          <p:cNvSpPr txBox="1"/>
          <p:nvPr/>
        </p:nvSpPr>
        <p:spPr>
          <a:xfrm>
            <a:off x="5135728" y="3566160"/>
            <a:ext cx="1920240" cy="274320"/>
          </a:xfrm>
          <a:prstGeom prst="rect">
            <a:avLst/>
          </a:prstGeom>
          <a:noFill/>
          <a:ln/>
        </p:spPr>
        <p:txBody>
          <a:bodyPr wrap="square" lIns="0" tIns="0" rIns="0" bIns="0" rtlCol="0" anchor="ctr"/>
          <a:lstStyle/>
          <a:p>
            <a:pPr algn="ctr" indent="0" marL="0">
              <a:buNone/>
            </a:pPr>
            <a:r>
              <a:rPr lang="en-US" sz="1100" b="1" dirty="0">
                <a:solidFill>
                  <a:srgbClr val="2E1015"/>
                </a:solidFill>
                <a:latin typeface="Calibri" pitchFamily="34" charset="0"/>
                <a:ea typeface="Calibri" pitchFamily="34" charset="-122"/>
                <a:cs typeface="Calibri" pitchFamily="34" charset="-120"/>
              </a:rPr>
              <a:t>Pancuronio</a:t>
            </a:r>
            <a:endParaRPr lang="en-US" sz="1100" dirty="0"/>
          </a:p>
        </p:txBody>
      </p:sp>
      <p:sp>
        <p:nvSpPr>
          <p:cNvPr id="26" name="Text 23"/>
          <p:cNvSpPr txBox="1"/>
          <p:nvPr/>
        </p:nvSpPr>
        <p:spPr>
          <a:xfrm>
            <a:off x="5135728" y="3822192"/>
            <a:ext cx="1920240" cy="822960"/>
          </a:xfrm>
          <a:prstGeom prst="rect">
            <a:avLst/>
          </a:prstGeom>
          <a:noFill/>
          <a:ln/>
        </p:spPr>
        <p:txBody>
          <a:bodyPr wrap="square" lIns="0" tIns="0" rIns="0" bIns="0" rtlCol="0" anchor="t"/>
          <a:lstStyle/>
          <a:p>
            <a:pPr algn="ctr" indent="0" marL="0">
              <a:buNone/>
            </a:pPr>
            <a:r>
              <a:rPr lang="en-US" sz="950" dirty="0">
                <a:solidFill>
                  <a:srgbClr val="7A5B5F"/>
                </a:solidFill>
                <a:latin typeface="Calibri" pitchFamily="34" charset="0"/>
                <a:ea typeface="Calibri" pitchFamily="34" charset="-122"/>
                <a:cs typeface="Calibri" pitchFamily="34" charset="-120"/>
              </a:rPr>
              <a:t>Primer aminoesteroide de acción prolongada de uso amplio.</a:t>
            </a:r>
            <a:endParaRPr lang="en-US" sz="950" dirty="0"/>
          </a:p>
        </p:txBody>
      </p:sp>
      <p:sp>
        <p:nvSpPr>
          <p:cNvPr id="27" name="Shape 24"/>
          <p:cNvSpPr/>
          <p:nvPr/>
        </p:nvSpPr>
        <p:spPr>
          <a:xfrm>
            <a:off x="7752893" y="2962656"/>
            <a:ext cx="201168" cy="201168"/>
          </a:xfrm>
          <a:prstGeom prst="ellipse">
            <a:avLst/>
          </a:prstGeom>
          <a:solidFill>
            <a:srgbClr val="7A1F2B"/>
          </a:solidFill>
          <a:ln w="19050">
            <a:solidFill>
              <a:srgbClr val="FFFFFF"/>
            </a:solidFill>
            <a:prstDash val="solid"/>
          </a:ln>
        </p:spPr>
      </p:sp>
      <p:sp>
        <p:nvSpPr>
          <p:cNvPr id="28" name="Text 25"/>
          <p:cNvSpPr txBox="1"/>
          <p:nvPr/>
        </p:nvSpPr>
        <p:spPr>
          <a:xfrm>
            <a:off x="6893357" y="1645920"/>
            <a:ext cx="1920240" cy="256032"/>
          </a:xfrm>
          <a:prstGeom prst="rect">
            <a:avLst/>
          </a:prstGeom>
          <a:noFill/>
          <a:ln/>
        </p:spPr>
        <p:txBody>
          <a:bodyPr wrap="square" lIns="0" tIns="0" rIns="0" bIns="0" rtlCol="0" anchor="ctr"/>
          <a:lstStyle/>
          <a:p>
            <a:pPr algn="ctr" indent="0" marL="0">
              <a:buNone/>
            </a:pPr>
            <a:r>
              <a:rPr lang="en-US" sz="1300" b="1" dirty="0">
                <a:solidFill>
                  <a:srgbClr val="7A1F2B"/>
                </a:solidFill>
                <a:latin typeface="Cambria" pitchFamily="34" charset="0"/>
                <a:ea typeface="Cambria" pitchFamily="34" charset="-122"/>
                <a:cs typeface="Cambria" pitchFamily="34" charset="-120"/>
              </a:rPr>
              <a:t>1980s</a:t>
            </a:r>
            <a:endParaRPr lang="en-US" sz="1300" dirty="0"/>
          </a:p>
        </p:txBody>
      </p:sp>
      <p:sp>
        <p:nvSpPr>
          <p:cNvPr id="29" name="Text 26"/>
          <p:cNvSpPr txBox="1"/>
          <p:nvPr/>
        </p:nvSpPr>
        <p:spPr>
          <a:xfrm>
            <a:off x="6893357" y="1892808"/>
            <a:ext cx="1920240" cy="274320"/>
          </a:xfrm>
          <a:prstGeom prst="rect">
            <a:avLst/>
          </a:prstGeom>
          <a:noFill/>
          <a:ln/>
        </p:spPr>
        <p:txBody>
          <a:bodyPr wrap="square" lIns="0" tIns="0" rIns="0" bIns="0" rtlCol="0" anchor="ctr"/>
          <a:lstStyle/>
          <a:p>
            <a:pPr algn="ctr" indent="0" marL="0">
              <a:buNone/>
            </a:pPr>
            <a:r>
              <a:rPr lang="en-US" sz="1100" b="1" dirty="0">
                <a:solidFill>
                  <a:srgbClr val="2E1015"/>
                </a:solidFill>
                <a:latin typeface="Calibri" pitchFamily="34" charset="0"/>
                <a:ea typeface="Calibri" pitchFamily="34" charset="-122"/>
                <a:cs typeface="Calibri" pitchFamily="34" charset="-120"/>
              </a:rPr>
              <a:t>Atracurio / Vecuronio</a:t>
            </a:r>
            <a:endParaRPr lang="en-US" sz="1100" dirty="0"/>
          </a:p>
        </p:txBody>
      </p:sp>
      <p:sp>
        <p:nvSpPr>
          <p:cNvPr id="30" name="Text 27"/>
          <p:cNvSpPr txBox="1"/>
          <p:nvPr/>
        </p:nvSpPr>
        <p:spPr>
          <a:xfrm>
            <a:off x="6893357" y="2148840"/>
            <a:ext cx="1920240" cy="777240"/>
          </a:xfrm>
          <a:prstGeom prst="rect">
            <a:avLst/>
          </a:prstGeom>
          <a:noFill/>
          <a:ln/>
        </p:spPr>
        <p:txBody>
          <a:bodyPr wrap="square" lIns="0" tIns="0" rIns="0" bIns="0" rtlCol="0" anchor="t"/>
          <a:lstStyle/>
          <a:p>
            <a:pPr algn="ctr" indent="0" marL="0">
              <a:buNone/>
            </a:pPr>
            <a:r>
              <a:rPr lang="en-US" sz="950" dirty="0">
                <a:solidFill>
                  <a:srgbClr val="7A5B5F"/>
                </a:solidFill>
                <a:latin typeface="Calibri" pitchFamily="34" charset="0"/>
                <a:ea typeface="Calibri" pitchFamily="34" charset="-122"/>
                <a:cs typeface="Calibri" pitchFamily="34" charset="-120"/>
              </a:rPr>
              <a:t>Nuevas opciones de acción intermedia con perfiles más seguros.</a:t>
            </a:r>
            <a:endParaRPr lang="en-US" sz="950" dirty="0"/>
          </a:p>
        </p:txBody>
      </p:sp>
      <p:sp>
        <p:nvSpPr>
          <p:cNvPr id="31" name="Shape 28"/>
          <p:cNvSpPr/>
          <p:nvPr/>
        </p:nvSpPr>
        <p:spPr>
          <a:xfrm>
            <a:off x="7853477" y="2935224"/>
            <a:ext cx="0" cy="128016"/>
          </a:xfrm>
          <a:prstGeom prst="line">
            <a:avLst/>
          </a:prstGeom>
          <a:noFill/>
          <a:ln w="12700">
            <a:solidFill>
              <a:srgbClr val="C1666B"/>
            </a:solidFill>
            <a:prstDash val="solid"/>
          </a:ln>
        </p:spPr>
      </p:sp>
      <p:sp>
        <p:nvSpPr>
          <p:cNvPr id="32" name="Shape 29"/>
          <p:cNvSpPr/>
          <p:nvPr/>
        </p:nvSpPr>
        <p:spPr>
          <a:xfrm>
            <a:off x="9510522" y="2962656"/>
            <a:ext cx="201168" cy="201168"/>
          </a:xfrm>
          <a:prstGeom prst="ellipse">
            <a:avLst/>
          </a:prstGeom>
          <a:solidFill>
            <a:srgbClr val="7A1F2B"/>
          </a:solidFill>
          <a:ln w="19050">
            <a:solidFill>
              <a:srgbClr val="FFFFFF"/>
            </a:solidFill>
            <a:prstDash val="solid"/>
          </a:ln>
        </p:spPr>
      </p:sp>
      <p:sp>
        <p:nvSpPr>
          <p:cNvPr id="33" name="Shape 30"/>
          <p:cNvSpPr/>
          <p:nvPr/>
        </p:nvSpPr>
        <p:spPr>
          <a:xfrm>
            <a:off x="9611106" y="3163824"/>
            <a:ext cx="0" cy="128016"/>
          </a:xfrm>
          <a:prstGeom prst="line">
            <a:avLst/>
          </a:prstGeom>
          <a:noFill/>
          <a:ln w="12700">
            <a:solidFill>
              <a:srgbClr val="C1666B"/>
            </a:solidFill>
            <a:prstDash val="solid"/>
          </a:ln>
        </p:spPr>
      </p:sp>
      <p:sp>
        <p:nvSpPr>
          <p:cNvPr id="34" name="Text 31"/>
          <p:cNvSpPr txBox="1"/>
          <p:nvPr/>
        </p:nvSpPr>
        <p:spPr>
          <a:xfrm>
            <a:off x="8650986" y="3319272"/>
            <a:ext cx="1920240" cy="256032"/>
          </a:xfrm>
          <a:prstGeom prst="rect">
            <a:avLst/>
          </a:prstGeom>
          <a:noFill/>
          <a:ln/>
        </p:spPr>
        <p:txBody>
          <a:bodyPr wrap="square" lIns="0" tIns="0" rIns="0" bIns="0" rtlCol="0" anchor="ctr"/>
          <a:lstStyle/>
          <a:p>
            <a:pPr algn="ctr" indent="0" marL="0">
              <a:buNone/>
            </a:pPr>
            <a:r>
              <a:rPr lang="en-US" sz="1300" b="1" dirty="0">
                <a:solidFill>
                  <a:srgbClr val="7A1F2B"/>
                </a:solidFill>
                <a:latin typeface="Cambria" pitchFamily="34" charset="0"/>
                <a:ea typeface="Cambria" pitchFamily="34" charset="-122"/>
                <a:cs typeface="Cambria" pitchFamily="34" charset="-120"/>
              </a:rPr>
              <a:t>1994</a:t>
            </a:r>
            <a:endParaRPr lang="en-US" sz="1300" dirty="0"/>
          </a:p>
        </p:txBody>
      </p:sp>
      <p:sp>
        <p:nvSpPr>
          <p:cNvPr id="35" name="Text 32"/>
          <p:cNvSpPr txBox="1"/>
          <p:nvPr/>
        </p:nvSpPr>
        <p:spPr>
          <a:xfrm>
            <a:off x="8650986" y="3566160"/>
            <a:ext cx="1920240" cy="274320"/>
          </a:xfrm>
          <a:prstGeom prst="rect">
            <a:avLst/>
          </a:prstGeom>
          <a:noFill/>
          <a:ln/>
        </p:spPr>
        <p:txBody>
          <a:bodyPr wrap="square" lIns="0" tIns="0" rIns="0" bIns="0" rtlCol="0" anchor="ctr"/>
          <a:lstStyle/>
          <a:p>
            <a:pPr algn="ctr" indent="0" marL="0">
              <a:buNone/>
            </a:pPr>
            <a:r>
              <a:rPr lang="en-US" sz="1100" b="1" dirty="0">
                <a:solidFill>
                  <a:srgbClr val="2E1015"/>
                </a:solidFill>
                <a:latin typeface="Calibri" pitchFamily="34" charset="0"/>
                <a:ea typeface="Calibri" pitchFamily="34" charset="-122"/>
                <a:cs typeface="Calibri" pitchFamily="34" charset="-120"/>
              </a:rPr>
              <a:t>Rocuronio</a:t>
            </a:r>
            <a:endParaRPr lang="en-US" sz="1100" dirty="0"/>
          </a:p>
        </p:txBody>
      </p:sp>
      <p:sp>
        <p:nvSpPr>
          <p:cNvPr id="36" name="Text 33"/>
          <p:cNvSpPr txBox="1"/>
          <p:nvPr/>
        </p:nvSpPr>
        <p:spPr>
          <a:xfrm>
            <a:off x="8650986" y="3822192"/>
            <a:ext cx="1920240" cy="822960"/>
          </a:xfrm>
          <a:prstGeom prst="rect">
            <a:avLst/>
          </a:prstGeom>
          <a:noFill/>
          <a:ln/>
        </p:spPr>
        <p:txBody>
          <a:bodyPr wrap="square" lIns="0" tIns="0" rIns="0" bIns="0" rtlCol="0" anchor="t"/>
          <a:lstStyle/>
          <a:p>
            <a:pPr algn="ctr" indent="0" marL="0">
              <a:buNone/>
            </a:pPr>
            <a:r>
              <a:rPr lang="en-US" sz="950" dirty="0">
                <a:solidFill>
                  <a:srgbClr val="7A5B5F"/>
                </a:solidFill>
                <a:latin typeface="Calibri" pitchFamily="34" charset="0"/>
                <a:ea typeface="Calibri" pitchFamily="34" charset="-122"/>
                <a:cs typeface="Calibri" pitchFamily="34" charset="-120"/>
              </a:rPr>
              <a:t>Aminoesteroide de inicio rápido, alternativa a succinilcolina en ISR.</a:t>
            </a:r>
            <a:endParaRPr lang="en-US" sz="950" dirty="0"/>
          </a:p>
        </p:txBody>
      </p:sp>
      <p:sp>
        <p:nvSpPr>
          <p:cNvPr id="37" name="Shape 34"/>
          <p:cNvSpPr/>
          <p:nvPr/>
        </p:nvSpPr>
        <p:spPr>
          <a:xfrm>
            <a:off x="11268151" y="2962656"/>
            <a:ext cx="201168" cy="201168"/>
          </a:xfrm>
          <a:prstGeom prst="ellipse">
            <a:avLst/>
          </a:prstGeom>
          <a:solidFill>
            <a:srgbClr val="7A1F2B"/>
          </a:solidFill>
          <a:ln w="19050">
            <a:solidFill>
              <a:srgbClr val="FFFFFF"/>
            </a:solidFill>
            <a:prstDash val="solid"/>
          </a:ln>
        </p:spPr>
      </p:sp>
      <p:sp>
        <p:nvSpPr>
          <p:cNvPr id="38" name="Text 35"/>
          <p:cNvSpPr txBox="1"/>
          <p:nvPr/>
        </p:nvSpPr>
        <p:spPr>
          <a:xfrm>
            <a:off x="9722815" y="1645920"/>
            <a:ext cx="1920240" cy="256032"/>
          </a:xfrm>
          <a:prstGeom prst="rect">
            <a:avLst/>
          </a:prstGeom>
          <a:noFill/>
          <a:ln/>
        </p:spPr>
        <p:txBody>
          <a:bodyPr wrap="square" lIns="0" tIns="0" rIns="0" bIns="0" rtlCol="0" anchor="ctr"/>
          <a:lstStyle/>
          <a:p>
            <a:pPr algn="ctr" indent="0" marL="0">
              <a:buNone/>
            </a:pPr>
            <a:r>
              <a:rPr lang="en-US" sz="1300" b="1" dirty="0">
                <a:solidFill>
                  <a:srgbClr val="7A1F2B"/>
                </a:solidFill>
                <a:latin typeface="Cambria" pitchFamily="34" charset="0"/>
                <a:ea typeface="Cambria" pitchFamily="34" charset="-122"/>
                <a:cs typeface="Cambria" pitchFamily="34" charset="-120"/>
              </a:rPr>
              <a:t>2008</a:t>
            </a:r>
            <a:endParaRPr lang="en-US" sz="1300" dirty="0"/>
          </a:p>
        </p:txBody>
      </p:sp>
      <p:sp>
        <p:nvSpPr>
          <p:cNvPr id="39" name="Text 36"/>
          <p:cNvSpPr txBox="1"/>
          <p:nvPr/>
        </p:nvSpPr>
        <p:spPr>
          <a:xfrm>
            <a:off x="9722815" y="1892808"/>
            <a:ext cx="1920240" cy="274320"/>
          </a:xfrm>
          <a:prstGeom prst="rect">
            <a:avLst/>
          </a:prstGeom>
          <a:noFill/>
          <a:ln/>
        </p:spPr>
        <p:txBody>
          <a:bodyPr wrap="square" lIns="0" tIns="0" rIns="0" bIns="0" rtlCol="0" anchor="ctr"/>
          <a:lstStyle/>
          <a:p>
            <a:pPr algn="ctr" indent="0" marL="0">
              <a:buNone/>
            </a:pPr>
            <a:r>
              <a:rPr lang="en-US" sz="1100" b="1" dirty="0">
                <a:solidFill>
                  <a:srgbClr val="2E1015"/>
                </a:solidFill>
                <a:latin typeface="Calibri" pitchFamily="34" charset="0"/>
                <a:ea typeface="Calibri" pitchFamily="34" charset="-122"/>
                <a:cs typeface="Calibri" pitchFamily="34" charset="-120"/>
              </a:rPr>
              <a:t>Sugammadex</a:t>
            </a:r>
            <a:endParaRPr lang="en-US" sz="1100" dirty="0"/>
          </a:p>
        </p:txBody>
      </p:sp>
      <p:sp>
        <p:nvSpPr>
          <p:cNvPr id="40" name="Text 37"/>
          <p:cNvSpPr txBox="1"/>
          <p:nvPr/>
        </p:nvSpPr>
        <p:spPr>
          <a:xfrm>
            <a:off x="9722815" y="2148840"/>
            <a:ext cx="1920240" cy="777240"/>
          </a:xfrm>
          <a:prstGeom prst="rect">
            <a:avLst/>
          </a:prstGeom>
          <a:noFill/>
          <a:ln/>
        </p:spPr>
        <p:txBody>
          <a:bodyPr wrap="square" lIns="0" tIns="0" rIns="0" bIns="0" rtlCol="0" anchor="t"/>
          <a:lstStyle/>
          <a:p>
            <a:pPr algn="ctr" indent="0" marL="0">
              <a:buNone/>
            </a:pPr>
            <a:r>
              <a:rPr lang="en-US" sz="950" dirty="0">
                <a:solidFill>
                  <a:srgbClr val="7A5B5F"/>
                </a:solidFill>
                <a:latin typeface="Calibri" pitchFamily="34" charset="0"/>
                <a:ea typeface="Calibri" pitchFamily="34" charset="-122"/>
                <a:cs typeface="Calibri" pitchFamily="34" charset="-120"/>
              </a:rPr>
              <a:t>Primer agente de reversión selectiva por encapsulación molecular.</a:t>
            </a:r>
            <a:endParaRPr lang="en-US" sz="950" dirty="0"/>
          </a:p>
        </p:txBody>
      </p:sp>
      <p:sp>
        <p:nvSpPr>
          <p:cNvPr id="41" name="Shape 38"/>
          <p:cNvSpPr/>
          <p:nvPr/>
        </p:nvSpPr>
        <p:spPr>
          <a:xfrm>
            <a:off x="11368735" y="2935224"/>
            <a:ext cx="0" cy="128016"/>
          </a:xfrm>
          <a:prstGeom prst="line">
            <a:avLst/>
          </a:prstGeom>
          <a:noFill/>
          <a:ln w="12700">
            <a:solidFill>
              <a:srgbClr val="C1666B"/>
            </a:solidFill>
            <a:prstDash val="solid"/>
          </a:ln>
        </p:spPr>
      </p:sp>
      <p:sp>
        <p:nvSpPr>
          <p:cNvPr id="42" name="Text 39"/>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43" name="Text 40"/>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electric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ANATOMÍA FUNCIONAL</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La placa motora — unión neuromuscular</a:t>
            </a:r>
            <a:endParaRPr lang="en-US" sz="2700" dirty="0"/>
          </a:p>
        </p:txBody>
      </p:sp>
      <p:sp>
        <p:nvSpPr>
          <p:cNvPr id="6" name="Shape 3"/>
          <p:cNvSpPr/>
          <p:nvPr/>
        </p:nvSpPr>
        <p:spPr>
          <a:xfrm>
            <a:off x="548640" y="1463040"/>
            <a:ext cx="5943600" cy="4572000"/>
          </a:xfrm>
          <a:prstGeom prst="roundRect">
            <a:avLst>
              <a:gd name="adj" fmla="val 1600"/>
            </a:avLst>
          </a:prstGeom>
          <a:solidFill>
            <a:srgbClr val="FFFDFC"/>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1005840" y="1737360"/>
            <a:ext cx="2194560" cy="777240"/>
          </a:xfrm>
          <a:prstGeom prst="roundRect">
            <a:avLst>
              <a:gd name="adj" fmla="val 14118"/>
            </a:avLst>
          </a:prstGeom>
          <a:solidFill>
            <a:srgbClr val="7A1F2B"/>
          </a:solidFill>
          <a:ln/>
        </p:spPr>
      </p:sp>
      <p:sp>
        <p:nvSpPr>
          <p:cNvPr id="8" name="Text 5"/>
          <p:cNvSpPr txBox="1"/>
          <p:nvPr/>
        </p:nvSpPr>
        <p:spPr>
          <a:xfrm>
            <a:off x="1005840" y="1792224"/>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Terminal axónica</a:t>
            </a:r>
            <a:endParaRPr lang="en-US" sz="1050" dirty="0"/>
          </a:p>
        </p:txBody>
      </p:sp>
      <p:sp>
        <p:nvSpPr>
          <p:cNvPr id="9" name="Text 6"/>
          <p:cNvSpPr txBox="1"/>
          <p:nvPr/>
        </p:nvSpPr>
        <p:spPr>
          <a:xfrm>
            <a:off x="1005840" y="2057400"/>
            <a:ext cx="2194560" cy="228600"/>
          </a:xfrm>
          <a:prstGeom prst="rect">
            <a:avLst/>
          </a:prstGeom>
          <a:noFill/>
          <a:ln/>
        </p:spPr>
        <p:txBody>
          <a:bodyPr wrap="square" lIns="0" tIns="0" rIns="0" bIns="0" rtlCol="0" anchor="ctr"/>
          <a:lstStyle/>
          <a:p>
            <a:pPr algn="ctr" indent="0" marL="0">
              <a:buNone/>
            </a:pPr>
            <a:r>
              <a:rPr lang="en-US" sz="900" dirty="0">
                <a:solidFill>
                  <a:srgbClr val="F6E9E6"/>
                </a:solidFill>
                <a:latin typeface="Calibri" pitchFamily="34" charset="0"/>
                <a:ea typeface="Calibri" pitchFamily="34" charset="-122"/>
                <a:cs typeface="Calibri" pitchFamily="34" charset="-120"/>
              </a:rPr>
              <a:t>(motoneurona)</a:t>
            </a:r>
            <a:endParaRPr lang="en-US" sz="900" dirty="0"/>
          </a:p>
        </p:txBody>
      </p:sp>
      <p:sp>
        <p:nvSpPr>
          <p:cNvPr id="10" name="Shape 7"/>
          <p:cNvSpPr/>
          <p:nvPr/>
        </p:nvSpPr>
        <p:spPr>
          <a:xfrm>
            <a:off x="1234440" y="2423160"/>
            <a:ext cx="146304" cy="146304"/>
          </a:xfrm>
          <a:prstGeom prst="ellipse">
            <a:avLst/>
          </a:prstGeom>
          <a:solidFill>
            <a:srgbClr val="E8A33D"/>
          </a:solidFill>
          <a:ln/>
        </p:spPr>
      </p:sp>
      <p:sp>
        <p:nvSpPr>
          <p:cNvPr id="11" name="Shape 8"/>
          <p:cNvSpPr/>
          <p:nvPr/>
        </p:nvSpPr>
        <p:spPr>
          <a:xfrm>
            <a:off x="1691640" y="2423160"/>
            <a:ext cx="146304" cy="146304"/>
          </a:xfrm>
          <a:prstGeom prst="ellipse">
            <a:avLst/>
          </a:prstGeom>
          <a:solidFill>
            <a:srgbClr val="E8A33D"/>
          </a:solidFill>
          <a:ln/>
        </p:spPr>
      </p:sp>
      <p:sp>
        <p:nvSpPr>
          <p:cNvPr id="12" name="Shape 9"/>
          <p:cNvSpPr/>
          <p:nvPr/>
        </p:nvSpPr>
        <p:spPr>
          <a:xfrm>
            <a:off x="2148840" y="2423160"/>
            <a:ext cx="146304" cy="146304"/>
          </a:xfrm>
          <a:prstGeom prst="ellipse">
            <a:avLst/>
          </a:prstGeom>
          <a:solidFill>
            <a:srgbClr val="E8A33D"/>
          </a:solidFill>
          <a:ln/>
        </p:spPr>
      </p:sp>
      <p:sp>
        <p:nvSpPr>
          <p:cNvPr id="13" name="Shape 10"/>
          <p:cNvSpPr/>
          <p:nvPr/>
        </p:nvSpPr>
        <p:spPr>
          <a:xfrm>
            <a:off x="2606040" y="2423160"/>
            <a:ext cx="146304" cy="146304"/>
          </a:xfrm>
          <a:prstGeom prst="ellipse">
            <a:avLst/>
          </a:prstGeom>
          <a:solidFill>
            <a:srgbClr val="E8A33D"/>
          </a:solidFill>
          <a:ln/>
        </p:spPr>
      </p:sp>
      <p:sp>
        <p:nvSpPr>
          <p:cNvPr id="14" name="Shape 11"/>
          <p:cNvSpPr/>
          <p:nvPr/>
        </p:nvSpPr>
        <p:spPr>
          <a:xfrm>
            <a:off x="1005840" y="2697480"/>
            <a:ext cx="2194560" cy="0"/>
          </a:xfrm>
          <a:prstGeom prst="line">
            <a:avLst/>
          </a:prstGeom>
          <a:noFill/>
          <a:ln w="12700">
            <a:solidFill>
              <a:srgbClr val="C1666B"/>
            </a:solidFill>
            <a:prstDash val="dash"/>
          </a:ln>
        </p:spPr>
      </p:sp>
      <p:sp>
        <p:nvSpPr>
          <p:cNvPr id="15" name="Text 12"/>
          <p:cNvSpPr txBox="1"/>
          <p:nvPr/>
        </p:nvSpPr>
        <p:spPr>
          <a:xfrm>
            <a:off x="3383280" y="2542032"/>
            <a:ext cx="2377440" cy="274320"/>
          </a:xfrm>
          <a:prstGeom prst="rect">
            <a:avLst/>
          </a:prstGeom>
          <a:noFill/>
          <a:ln/>
        </p:spPr>
        <p:txBody>
          <a:bodyPr wrap="square" lIns="0" tIns="0" rIns="0" bIns="0" rtlCol="0" anchor="ctr"/>
          <a:lstStyle/>
          <a:p>
            <a:pPr indent="0" marL="0">
              <a:buNone/>
            </a:pPr>
            <a:r>
              <a:rPr lang="en-US" sz="1000" i="1" dirty="0">
                <a:solidFill>
                  <a:srgbClr val="7A5B5F"/>
                </a:solidFill>
                <a:latin typeface="Calibri" pitchFamily="34" charset="0"/>
                <a:ea typeface="Calibri" pitchFamily="34" charset="-122"/>
                <a:cs typeface="Calibri" pitchFamily="34" charset="-120"/>
              </a:rPr>
              <a:t>Espacio sináptico</a:t>
            </a:r>
            <a:endParaRPr lang="en-US" sz="1000" dirty="0"/>
          </a:p>
        </p:txBody>
      </p:sp>
      <p:sp>
        <p:nvSpPr>
          <p:cNvPr id="16" name="Shape 13"/>
          <p:cNvSpPr/>
          <p:nvPr/>
        </p:nvSpPr>
        <p:spPr>
          <a:xfrm>
            <a:off x="1307592" y="2697480"/>
            <a:ext cx="0" cy="502920"/>
          </a:xfrm>
          <a:prstGeom prst="line">
            <a:avLst/>
          </a:prstGeom>
          <a:noFill/>
          <a:ln w="19050">
            <a:solidFill>
              <a:srgbClr val="E8A33D"/>
            </a:solidFill>
            <a:prstDash val="solid"/>
            <a:tailEnd type="triangle"/>
          </a:ln>
        </p:spPr>
      </p:sp>
      <p:sp>
        <p:nvSpPr>
          <p:cNvPr id="17" name="Shape 14"/>
          <p:cNvSpPr/>
          <p:nvPr/>
        </p:nvSpPr>
        <p:spPr>
          <a:xfrm>
            <a:off x="1764792" y="2697480"/>
            <a:ext cx="0" cy="502920"/>
          </a:xfrm>
          <a:prstGeom prst="line">
            <a:avLst/>
          </a:prstGeom>
          <a:noFill/>
          <a:ln w="19050">
            <a:solidFill>
              <a:srgbClr val="E8A33D"/>
            </a:solidFill>
            <a:prstDash val="solid"/>
            <a:tailEnd type="triangle"/>
          </a:ln>
        </p:spPr>
      </p:sp>
      <p:sp>
        <p:nvSpPr>
          <p:cNvPr id="18" name="Shape 15"/>
          <p:cNvSpPr/>
          <p:nvPr/>
        </p:nvSpPr>
        <p:spPr>
          <a:xfrm>
            <a:off x="2221992" y="2697480"/>
            <a:ext cx="0" cy="502920"/>
          </a:xfrm>
          <a:prstGeom prst="line">
            <a:avLst/>
          </a:prstGeom>
          <a:noFill/>
          <a:ln w="19050">
            <a:solidFill>
              <a:srgbClr val="E8A33D"/>
            </a:solidFill>
            <a:prstDash val="solid"/>
            <a:tailEnd type="triangle"/>
          </a:ln>
        </p:spPr>
      </p:sp>
      <p:sp>
        <p:nvSpPr>
          <p:cNvPr id="19" name="Shape 16"/>
          <p:cNvSpPr/>
          <p:nvPr/>
        </p:nvSpPr>
        <p:spPr>
          <a:xfrm>
            <a:off x="2679192" y="2697480"/>
            <a:ext cx="0" cy="502920"/>
          </a:xfrm>
          <a:prstGeom prst="line">
            <a:avLst/>
          </a:prstGeom>
          <a:noFill/>
          <a:ln w="19050">
            <a:solidFill>
              <a:srgbClr val="E8A33D"/>
            </a:solidFill>
            <a:prstDash val="solid"/>
            <a:tailEnd type="triangle"/>
          </a:ln>
        </p:spPr>
      </p:sp>
      <p:sp>
        <p:nvSpPr>
          <p:cNvPr id="20" name="Shape 17"/>
          <p:cNvSpPr/>
          <p:nvPr/>
        </p:nvSpPr>
        <p:spPr>
          <a:xfrm>
            <a:off x="1005840" y="3246120"/>
            <a:ext cx="2194560" cy="320040"/>
          </a:xfrm>
          <a:prstGeom prst="roundRect">
            <a:avLst>
              <a:gd name="adj" fmla="val 17143"/>
            </a:avLst>
          </a:prstGeom>
          <a:solidFill>
            <a:srgbClr val="C1666B"/>
          </a:solidFill>
          <a:ln/>
        </p:spPr>
      </p:sp>
      <p:sp>
        <p:nvSpPr>
          <p:cNvPr id="21" name="Shape 18"/>
          <p:cNvSpPr/>
          <p:nvPr/>
        </p:nvSpPr>
        <p:spPr>
          <a:xfrm>
            <a:off x="1097280" y="3163824"/>
            <a:ext cx="164592" cy="182880"/>
          </a:xfrm>
          <a:prstGeom prst="rect">
            <a:avLst/>
          </a:prstGeom>
          <a:solidFill>
            <a:srgbClr val="3A1420"/>
          </a:solidFill>
          <a:ln/>
        </p:spPr>
      </p:sp>
      <p:sp>
        <p:nvSpPr>
          <p:cNvPr id="22" name="Shape 19"/>
          <p:cNvSpPr/>
          <p:nvPr/>
        </p:nvSpPr>
        <p:spPr>
          <a:xfrm>
            <a:off x="1499616" y="3163824"/>
            <a:ext cx="164592" cy="182880"/>
          </a:xfrm>
          <a:prstGeom prst="rect">
            <a:avLst/>
          </a:prstGeom>
          <a:solidFill>
            <a:srgbClr val="3A1420"/>
          </a:solidFill>
          <a:ln/>
        </p:spPr>
      </p:sp>
      <p:sp>
        <p:nvSpPr>
          <p:cNvPr id="23" name="Shape 20"/>
          <p:cNvSpPr/>
          <p:nvPr/>
        </p:nvSpPr>
        <p:spPr>
          <a:xfrm>
            <a:off x="1901952" y="3163824"/>
            <a:ext cx="164592" cy="182880"/>
          </a:xfrm>
          <a:prstGeom prst="rect">
            <a:avLst/>
          </a:prstGeom>
          <a:solidFill>
            <a:srgbClr val="3A1420"/>
          </a:solidFill>
          <a:ln/>
        </p:spPr>
      </p:sp>
      <p:sp>
        <p:nvSpPr>
          <p:cNvPr id="24" name="Shape 21"/>
          <p:cNvSpPr/>
          <p:nvPr/>
        </p:nvSpPr>
        <p:spPr>
          <a:xfrm>
            <a:off x="2304288" y="3163824"/>
            <a:ext cx="164592" cy="182880"/>
          </a:xfrm>
          <a:prstGeom prst="rect">
            <a:avLst/>
          </a:prstGeom>
          <a:solidFill>
            <a:srgbClr val="3A1420"/>
          </a:solidFill>
          <a:ln/>
        </p:spPr>
      </p:sp>
      <p:sp>
        <p:nvSpPr>
          <p:cNvPr id="25" name="Shape 22"/>
          <p:cNvSpPr/>
          <p:nvPr/>
        </p:nvSpPr>
        <p:spPr>
          <a:xfrm>
            <a:off x="2706624" y="3163824"/>
            <a:ext cx="164592" cy="182880"/>
          </a:xfrm>
          <a:prstGeom prst="rect">
            <a:avLst/>
          </a:prstGeom>
          <a:solidFill>
            <a:srgbClr val="3A1420"/>
          </a:solidFill>
          <a:ln/>
        </p:spPr>
      </p:sp>
      <p:sp>
        <p:nvSpPr>
          <p:cNvPr id="26" name="Text 23"/>
          <p:cNvSpPr txBox="1"/>
          <p:nvPr/>
        </p:nvSpPr>
        <p:spPr>
          <a:xfrm>
            <a:off x="3383280" y="3246120"/>
            <a:ext cx="2926080" cy="365760"/>
          </a:xfrm>
          <a:prstGeom prst="rect">
            <a:avLst/>
          </a:prstGeom>
          <a:noFill/>
          <a:ln/>
        </p:spPr>
        <p:txBody>
          <a:bodyPr wrap="square" lIns="0" tIns="0" rIns="0" bIns="0" rtlCol="0" anchor="t"/>
          <a:lstStyle/>
          <a:p>
            <a:pPr indent="0" marL="0">
              <a:buNone/>
            </a:pPr>
            <a:r>
              <a:rPr lang="en-US" sz="1000" dirty="0">
                <a:solidFill>
                  <a:srgbClr val="3D2226"/>
                </a:solidFill>
                <a:latin typeface="Calibri" pitchFamily="34" charset="0"/>
                <a:ea typeface="Calibri" pitchFamily="34" charset="-122"/>
                <a:cs typeface="Calibri" pitchFamily="34" charset="-120"/>
              </a:rPr>
              <a:t>Receptores nicotínicos (membrana postsináptica)</a:t>
            </a:r>
            <a:endParaRPr lang="en-US" sz="1000" dirty="0"/>
          </a:p>
        </p:txBody>
      </p:sp>
      <p:sp>
        <p:nvSpPr>
          <p:cNvPr id="27" name="Shape 24"/>
          <p:cNvSpPr/>
          <p:nvPr/>
        </p:nvSpPr>
        <p:spPr>
          <a:xfrm>
            <a:off x="822960" y="3749040"/>
            <a:ext cx="5394960" cy="1737360"/>
          </a:xfrm>
          <a:prstGeom prst="roundRect">
            <a:avLst>
              <a:gd name="adj" fmla="val 5263"/>
            </a:avLst>
          </a:prstGeom>
          <a:solidFill>
            <a:srgbClr val="F3DEDD"/>
          </a:solidFill>
          <a:ln/>
        </p:spPr>
      </p:sp>
      <p:sp>
        <p:nvSpPr>
          <p:cNvPr id="28" name="Shape 25"/>
          <p:cNvSpPr/>
          <p:nvPr/>
        </p:nvSpPr>
        <p:spPr>
          <a:xfrm>
            <a:off x="1051560" y="3840480"/>
            <a:ext cx="0" cy="1554480"/>
          </a:xfrm>
          <a:prstGeom prst="line">
            <a:avLst/>
          </a:prstGeom>
          <a:noFill/>
          <a:ln w="12700">
            <a:solidFill>
              <a:srgbClr val="DDB4B2"/>
            </a:solidFill>
            <a:prstDash val="solid"/>
          </a:ln>
        </p:spPr>
      </p:sp>
      <p:sp>
        <p:nvSpPr>
          <p:cNvPr id="29" name="Shape 26"/>
          <p:cNvSpPr/>
          <p:nvPr/>
        </p:nvSpPr>
        <p:spPr>
          <a:xfrm>
            <a:off x="1563624" y="3840480"/>
            <a:ext cx="0" cy="1554480"/>
          </a:xfrm>
          <a:prstGeom prst="line">
            <a:avLst/>
          </a:prstGeom>
          <a:noFill/>
          <a:ln w="12700">
            <a:solidFill>
              <a:srgbClr val="DDB4B2"/>
            </a:solidFill>
            <a:prstDash val="solid"/>
          </a:ln>
        </p:spPr>
      </p:sp>
      <p:sp>
        <p:nvSpPr>
          <p:cNvPr id="30" name="Shape 27"/>
          <p:cNvSpPr/>
          <p:nvPr/>
        </p:nvSpPr>
        <p:spPr>
          <a:xfrm>
            <a:off x="2075688" y="3840480"/>
            <a:ext cx="0" cy="1554480"/>
          </a:xfrm>
          <a:prstGeom prst="line">
            <a:avLst/>
          </a:prstGeom>
          <a:noFill/>
          <a:ln w="12700">
            <a:solidFill>
              <a:srgbClr val="DDB4B2"/>
            </a:solidFill>
            <a:prstDash val="solid"/>
          </a:ln>
        </p:spPr>
      </p:sp>
      <p:sp>
        <p:nvSpPr>
          <p:cNvPr id="31" name="Shape 28"/>
          <p:cNvSpPr/>
          <p:nvPr/>
        </p:nvSpPr>
        <p:spPr>
          <a:xfrm>
            <a:off x="2587752" y="3840480"/>
            <a:ext cx="0" cy="1554480"/>
          </a:xfrm>
          <a:prstGeom prst="line">
            <a:avLst/>
          </a:prstGeom>
          <a:noFill/>
          <a:ln w="12700">
            <a:solidFill>
              <a:srgbClr val="DDB4B2"/>
            </a:solidFill>
            <a:prstDash val="solid"/>
          </a:ln>
        </p:spPr>
      </p:sp>
      <p:sp>
        <p:nvSpPr>
          <p:cNvPr id="32" name="Shape 29"/>
          <p:cNvSpPr/>
          <p:nvPr/>
        </p:nvSpPr>
        <p:spPr>
          <a:xfrm>
            <a:off x="3099816" y="3840480"/>
            <a:ext cx="0" cy="1554480"/>
          </a:xfrm>
          <a:prstGeom prst="line">
            <a:avLst/>
          </a:prstGeom>
          <a:noFill/>
          <a:ln w="12700">
            <a:solidFill>
              <a:srgbClr val="DDB4B2"/>
            </a:solidFill>
            <a:prstDash val="solid"/>
          </a:ln>
        </p:spPr>
      </p:sp>
      <p:sp>
        <p:nvSpPr>
          <p:cNvPr id="33" name="Shape 30"/>
          <p:cNvSpPr/>
          <p:nvPr/>
        </p:nvSpPr>
        <p:spPr>
          <a:xfrm>
            <a:off x="3611880" y="3840480"/>
            <a:ext cx="0" cy="1554480"/>
          </a:xfrm>
          <a:prstGeom prst="line">
            <a:avLst/>
          </a:prstGeom>
          <a:noFill/>
          <a:ln w="12700">
            <a:solidFill>
              <a:srgbClr val="DDB4B2"/>
            </a:solidFill>
            <a:prstDash val="solid"/>
          </a:ln>
        </p:spPr>
      </p:sp>
      <p:sp>
        <p:nvSpPr>
          <p:cNvPr id="34" name="Shape 31"/>
          <p:cNvSpPr/>
          <p:nvPr/>
        </p:nvSpPr>
        <p:spPr>
          <a:xfrm>
            <a:off x="4123944" y="3840480"/>
            <a:ext cx="0" cy="1554480"/>
          </a:xfrm>
          <a:prstGeom prst="line">
            <a:avLst/>
          </a:prstGeom>
          <a:noFill/>
          <a:ln w="12700">
            <a:solidFill>
              <a:srgbClr val="DDB4B2"/>
            </a:solidFill>
            <a:prstDash val="solid"/>
          </a:ln>
        </p:spPr>
      </p:sp>
      <p:sp>
        <p:nvSpPr>
          <p:cNvPr id="35" name="Shape 32"/>
          <p:cNvSpPr/>
          <p:nvPr/>
        </p:nvSpPr>
        <p:spPr>
          <a:xfrm>
            <a:off x="4636008" y="3840480"/>
            <a:ext cx="0" cy="1554480"/>
          </a:xfrm>
          <a:prstGeom prst="line">
            <a:avLst/>
          </a:prstGeom>
          <a:noFill/>
          <a:ln w="12700">
            <a:solidFill>
              <a:srgbClr val="DDB4B2"/>
            </a:solidFill>
            <a:prstDash val="solid"/>
          </a:ln>
        </p:spPr>
      </p:sp>
      <p:sp>
        <p:nvSpPr>
          <p:cNvPr id="36" name="Shape 33"/>
          <p:cNvSpPr/>
          <p:nvPr/>
        </p:nvSpPr>
        <p:spPr>
          <a:xfrm>
            <a:off x="5148072" y="3840480"/>
            <a:ext cx="0" cy="1554480"/>
          </a:xfrm>
          <a:prstGeom prst="line">
            <a:avLst/>
          </a:prstGeom>
          <a:noFill/>
          <a:ln w="12700">
            <a:solidFill>
              <a:srgbClr val="DDB4B2"/>
            </a:solidFill>
            <a:prstDash val="solid"/>
          </a:ln>
        </p:spPr>
      </p:sp>
      <p:sp>
        <p:nvSpPr>
          <p:cNvPr id="37" name="Shape 34"/>
          <p:cNvSpPr/>
          <p:nvPr/>
        </p:nvSpPr>
        <p:spPr>
          <a:xfrm>
            <a:off x="5660136" y="3840480"/>
            <a:ext cx="0" cy="1554480"/>
          </a:xfrm>
          <a:prstGeom prst="line">
            <a:avLst/>
          </a:prstGeom>
          <a:noFill/>
          <a:ln w="12700">
            <a:solidFill>
              <a:srgbClr val="DDB4B2"/>
            </a:solidFill>
            <a:prstDash val="solid"/>
          </a:ln>
        </p:spPr>
      </p:sp>
      <p:sp>
        <p:nvSpPr>
          <p:cNvPr id="38" name="Text 35"/>
          <p:cNvSpPr txBox="1"/>
          <p:nvPr/>
        </p:nvSpPr>
        <p:spPr>
          <a:xfrm>
            <a:off x="1005840" y="5257800"/>
            <a:ext cx="5029200" cy="256032"/>
          </a:xfrm>
          <a:prstGeom prst="rect">
            <a:avLst/>
          </a:prstGeom>
          <a:noFill/>
          <a:ln/>
        </p:spPr>
        <p:txBody>
          <a:bodyPr wrap="square" lIns="0" tIns="0" rIns="0" bIns="0" rtlCol="0" anchor="ctr"/>
          <a:lstStyle/>
          <a:p>
            <a:pPr algn="ctr" indent="0" marL="0">
              <a:buNone/>
            </a:pPr>
            <a:r>
              <a:rPr lang="en-US" sz="1050" b="1" dirty="0">
                <a:solidFill>
                  <a:srgbClr val="7A1F2B"/>
                </a:solidFill>
                <a:latin typeface="Calibri" pitchFamily="34" charset="0"/>
                <a:ea typeface="Calibri" pitchFamily="34" charset="-122"/>
                <a:cs typeface="Calibri" pitchFamily="34" charset="-120"/>
              </a:rPr>
              <a:t>Fibra muscular esquelética</a:t>
            </a:r>
            <a:endParaRPr lang="en-US" sz="1050" dirty="0"/>
          </a:p>
        </p:txBody>
      </p:sp>
      <p:sp>
        <p:nvSpPr>
          <p:cNvPr id="39" name="Text 36"/>
          <p:cNvSpPr txBox="1"/>
          <p:nvPr/>
        </p:nvSpPr>
        <p:spPr>
          <a:xfrm>
            <a:off x="6858000" y="1463040"/>
            <a:ext cx="4785055" cy="4572000"/>
          </a:xfrm>
          <a:prstGeom prst="rect">
            <a:avLst/>
          </a:prstGeom>
          <a:noFill/>
          <a:ln/>
        </p:spPr>
        <p:txBody>
          <a:bodyPr wrap="square" lIns="0" tIns="0" rIns="0" bIns="0" rtlCol="0" anchor="t"/>
          <a:lstStyle/>
          <a:p>
            <a:pPr marL="203200" indent="-203200">
              <a:lnSpc>
                <a:spcPct val="108000"/>
              </a:lnSpc>
              <a:spcAft>
                <a:spcPts val="1200"/>
              </a:spcAft>
              <a:buSzPct val="100000"/>
              <a:buChar char="•"/>
            </a:pPr>
            <a:r>
              <a:rPr lang="en-US" sz="1250" dirty="0">
                <a:solidFill>
                  <a:srgbClr val="3D2226"/>
                </a:solidFill>
                <a:latin typeface="Calibri" pitchFamily="34" charset="0"/>
                <a:ea typeface="Calibri" pitchFamily="34" charset="-122"/>
                <a:cs typeface="Calibri" pitchFamily="34" charset="-120"/>
              </a:rPr>
              <a:t>La placa motora es la sinapsis química especializada entre el axón terminal del nervio motor y la fibra muscular esquelética.</a:t>
            </a:r>
            <a:endParaRPr lang="en-US" sz="1250" dirty="0"/>
          </a:p>
          <a:p>
            <a:pPr marL="203200" indent="-203200">
              <a:lnSpc>
                <a:spcPct val="108000"/>
              </a:lnSpc>
              <a:spcAft>
                <a:spcPts val="1200"/>
              </a:spcAft>
              <a:buSzPct val="100000"/>
              <a:buChar char="•"/>
            </a:pPr>
            <a:r>
              <a:rPr lang="en-US" sz="1250" dirty="0">
                <a:solidFill>
                  <a:srgbClr val="3D2226"/>
                </a:solidFill>
                <a:latin typeface="Calibri" pitchFamily="34" charset="0"/>
                <a:ea typeface="Calibri" pitchFamily="34" charset="-122"/>
                <a:cs typeface="Calibri" pitchFamily="34" charset="-120"/>
              </a:rPr>
              <a:t>El axón pierde su vaina de mielina y se ensancha en el botón terminal, rico en mitocondrias y vesículas sinápticas cargadas de acetilcolina (ACh).</a:t>
            </a:r>
            <a:endParaRPr lang="en-US" sz="1250" dirty="0"/>
          </a:p>
          <a:p>
            <a:pPr marL="203200" indent="-203200">
              <a:lnSpc>
                <a:spcPct val="108000"/>
              </a:lnSpc>
              <a:spcAft>
                <a:spcPts val="1200"/>
              </a:spcAft>
              <a:buSzPct val="100000"/>
              <a:buChar char="•"/>
            </a:pPr>
            <a:r>
              <a:rPr lang="en-US" sz="1250" dirty="0">
                <a:solidFill>
                  <a:srgbClr val="3D2226"/>
                </a:solidFill>
                <a:latin typeface="Calibri" pitchFamily="34" charset="0"/>
                <a:ea typeface="Calibri" pitchFamily="34" charset="-122"/>
                <a:cs typeface="Calibri" pitchFamily="34" charset="-120"/>
              </a:rPr>
              <a:t>El espacio sináptico mide apenas 20–50 nm y contiene acetilcolinesterasa anclada a la lámina basal.</a:t>
            </a:r>
            <a:endParaRPr lang="en-US" sz="1250" dirty="0"/>
          </a:p>
          <a:p>
            <a:pPr marL="203200" indent="-203200">
              <a:lnSpc>
                <a:spcPct val="108000"/>
              </a:lnSpc>
              <a:spcAft>
                <a:spcPts val="1200"/>
              </a:spcAft>
              <a:buSzPct val="100000"/>
              <a:buChar char="•"/>
            </a:pPr>
            <a:r>
              <a:rPr lang="en-US" sz="1250" dirty="0">
                <a:solidFill>
                  <a:srgbClr val="3D2226"/>
                </a:solidFill>
                <a:latin typeface="Calibri" pitchFamily="34" charset="0"/>
                <a:ea typeface="Calibri" pitchFamily="34" charset="-122"/>
                <a:cs typeface="Calibri" pitchFamily="34" charset="-120"/>
              </a:rPr>
              <a:t>La membrana postsináptica forma pliegues profundos que concentran los receptores nicotínicos en las crestas.</a:t>
            </a:r>
            <a:endParaRPr lang="en-US" sz="1250" dirty="0"/>
          </a:p>
        </p:txBody>
      </p:sp>
      <p:sp>
        <p:nvSpPr>
          <p:cNvPr id="40" name="Text 37"/>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41" name="Text 3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chemDrop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EL NEUROTRANSMISOR</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Acetilcolina — síntesis, liberación y degradación</a:t>
            </a:r>
            <a:endParaRPr lang="en-US" sz="2700" dirty="0"/>
          </a:p>
        </p:txBody>
      </p:sp>
      <p:sp>
        <p:nvSpPr>
          <p:cNvPr id="6" name="Shape 3"/>
          <p:cNvSpPr/>
          <p:nvPr/>
        </p:nvSpPr>
        <p:spPr>
          <a:xfrm>
            <a:off x="548640" y="1554480"/>
            <a:ext cx="2567864" cy="4023360"/>
          </a:xfrm>
          <a:prstGeom prst="roundRect">
            <a:avLst>
              <a:gd name="adj" fmla="val 284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1549108" y="1828800"/>
            <a:ext cx="566928" cy="566928"/>
          </a:xfrm>
          <a:prstGeom prst="ellipse">
            <a:avLst/>
          </a:prstGeom>
          <a:solidFill>
            <a:srgbClr val="7A1F2B"/>
          </a:solidFill>
          <a:ln/>
        </p:spPr>
      </p:sp>
      <p:pic>
        <p:nvPicPr>
          <p:cNvPr id="8" name="Image 1" descr="/tmp/claude-0/-home-user-gpa-academy1/adc6e4aa-3b77-57c1-ba92-a8d4ee625c84/scratchpad/relajantes/icons/flask_FFFFFF.png">    </p:cNvPr>
          <p:cNvPicPr>
            <a:picLocks noChangeAspect="1"/>
          </p:cNvPicPr>
          <p:nvPr/>
        </p:nvPicPr>
        <p:blipFill>
          <a:blip r:embed="rId2"/>
          <a:stretch>
            <a:fillRect/>
          </a:stretch>
        </p:blipFill>
        <p:spPr>
          <a:xfrm>
            <a:off x="1628478" y="1908170"/>
            <a:ext cx="408188" cy="408188"/>
          </a:xfrm>
          <a:prstGeom prst="rect">
            <a:avLst/>
          </a:prstGeom>
        </p:spPr>
      </p:pic>
      <p:sp>
        <p:nvSpPr>
          <p:cNvPr id="9" name="Text 5"/>
          <p:cNvSpPr txBox="1"/>
          <p:nvPr/>
        </p:nvSpPr>
        <p:spPr>
          <a:xfrm>
            <a:off x="713232" y="2606040"/>
            <a:ext cx="2238680" cy="365760"/>
          </a:xfrm>
          <a:prstGeom prst="rect">
            <a:avLst/>
          </a:prstGeom>
          <a:noFill/>
          <a:ln/>
        </p:spPr>
        <p:txBody>
          <a:bodyPr wrap="square" lIns="0" tIns="0" rIns="0" bIns="0" rtlCol="0" anchor="ctr"/>
          <a:lstStyle/>
          <a:p>
            <a:pPr algn="ctr" indent="0" marL="0">
              <a:buNone/>
            </a:pPr>
            <a:r>
              <a:rPr lang="en-US" sz="1500" b="1" dirty="0">
                <a:solidFill>
                  <a:srgbClr val="7A1F2B"/>
                </a:solidFill>
                <a:latin typeface="Cambria" pitchFamily="34" charset="0"/>
                <a:ea typeface="Cambria" pitchFamily="34" charset="-122"/>
                <a:cs typeface="Cambria" pitchFamily="34" charset="-120"/>
              </a:rPr>
              <a:t>1. Síntesis</a:t>
            </a:r>
            <a:endParaRPr lang="en-US" sz="1500" dirty="0"/>
          </a:p>
        </p:txBody>
      </p:sp>
      <p:sp>
        <p:nvSpPr>
          <p:cNvPr id="10" name="Text 6"/>
          <p:cNvSpPr txBox="1"/>
          <p:nvPr/>
        </p:nvSpPr>
        <p:spPr>
          <a:xfrm>
            <a:off x="731520" y="3017520"/>
            <a:ext cx="2202104" cy="2377440"/>
          </a:xfrm>
          <a:prstGeom prst="rect">
            <a:avLst/>
          </a:prstGeom>
          <a:noFill/>
          <a:ln/>
        </p:spPr>
        <p:txBody>
          <a:bodyPr wrap="square" lIns="0" tIns="0" rIns="0" bIns="0" rtlCol="0" anchor="t"/>
          <a:lstStyle/>
          <a:p>
            <a:pPr algn="ctr" indent="0" marL="0">
              <a:lnSpc>
                <a:spcPct val="110000"/>
              </a:lnSpc>
              <a:buNone/>
            </a:pPr>
            <a:r>
              <a:rPr lang="en-US" sz="1100" dirty="0">
                <a:solidFill>
                  <a:srgbClr val="3D2226"/>
                </a:solidFill>
                <a:latin typeface="Calibri" pitchFamily="34" charset="0"/>
                <a:ea typeface="Calibri" pitchFamily="34" charset="-122"/>
                <a:cs typeface="Calibri" pitchFamily="34" charset="-120"/>
              </a:rPr>
              <a:t>Colina + Acetil-CoA, catalizadas por la colina acetiltransferasa (ChAT) en el citoplasma del terminal axónico.</a:t>
            </a:r>
            <a:endParaRPr lang="en-US" sz="1100" dirty="0"/>
          </a:p>
        </p:txBody>
      </p:sp>
      <p:sp>
        <p:nvSpPr>
          <p:cNvPr id="11" name="Shape 7"/>
          <p:cNvSpPr/>
          <p:nvPr/>
        </p:nvSpPr>
        <p:spPr>
          <a:xfrm>
            <a:off x="3143936" y="3566160"/>
            <a:ext cx="219456" cy="0"/>
          </a:xfrm>
          <a:prstGeom prst="line">
            <a:avLst/>
          </a:prstGeom>
          <a:noFill/>
          <a:ln w="25400">
            <a:solidFill>
              <a:srgbClr val="C1666B"/>
            </a:solidFill>
            <a:prstDash val="solid"/>
            <a:tailEnd type="triangle"/>
          </a:ln>
        </p:spPr>
      </p:sp>
      <p:sp>
        <p:nvSpPr>
          <p:cNvPr id="12" name="Shape 8"/>
          <p:cNvSpPr/>
          <p:nvPr/>
        </p:nvSpPr>
        <p:spPr>
          <a:xfrm>
            <a:off x="3390824" y="1554480"/>
            <a:ext cx="2567864" cy="4023360"/>
          </a:xfrm>
          <a:prstGeom prst="roundRect">
            <a:avLst>
              <a:gd name="adj" fmla="val 284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3" name="Shape 9"/>
          <p:cNvSpPr/>
          <p:nvPr/>
        </p:nvSpPr>
        <p:spPr>
          <a:xfrm>
            <a:off x="4391292" y="1828800"/>
            <a:ext cx="566928" cy="566928"/>
          </a:xfrm>
          <a:prstGeom prst="ellipse">
            <a:avLst/>
          </a:prstGeom>
          <a:solidFill>
            <a:srgbClr val="7A1F2B"/>
          </a:solidFill>
          <a:ln/>
        </p:spPr>
      </p:sp>
      <p:pic>
        <p:nvPicPr>
          <p:cNvPr id="14" name="Image 2" descr="/tmp/claude-0/-home-user-gpa-academy1/adc6e4aa-3b77-57c1-ba92-a8d4ee625c84/scratchpad/relajantes/icons/medPack_FFFFFF.png">    </p:cNvPr>
          <p:cNvPicPr>
            <a:picLocks noChangeAspect="1"/>
          </p:cNvPicPr>
          <p:nvPr/>
        </p:nvPicPr>
        <p:blipFill>
          <a:blip r:embed="rId3"/>
          <a:stretch>
            <a:fillRect/>
          </a:stretch>
        </p:blipFill>
        <p:spPr>
          <a:xfrm>
            <a:off x="4470662" y="1908170"/>
            <a:ext cx="408188" cy="408188"/>
          </a:xfrm>
          <a:prstGeom prst="rect">
            <a:avLst/>
          </a:prstGeom>
        </p:spPr>
      </p:pic>
      <p:sp>
        <p:nvSpPr>
          <p:cNvPr id="15" name="Text 10"/>
          <p:cNvSpPr txBox="1"/>
          <p:nvPr/>
        </p:nvSpPr>
        <p:spPr>
          <a:xfrm>
            <a:off x="3555416" y="2606040"/>
            <a:ext cx="2238680" cy="365760"/>
          </a:xfrm>
          <a:prstGeom prst="rect">
            <a:avLst/>
          </a:prstGeom>
          <a:noFill/>
          <a:ln/>
        </p:spPr>
        <p:txBody>
          <a:bodyPr wrap="square" lIns="0" tIns="0" rIns="0" bIns="0" rtlCol="0" anchor="ctr"/>
          <a:lstStyle/>
          <a:p>
            <a:pPr algn="ctr" indent="0" marL="0">
              <a:buNone/>
            </a:pPr>
            <a:r>
              <a:rPr lang="en-US" sz="1500" b="1" dirty="0">
                <a:solidFill>
                  <a:srgbClr val="7A1F2B"/>
                </a:solidFill>
                <a:latin typeface="Cambria" pitchFamily="34" charset="0"/>
                <a:ea typeface="Cambria" pitchFamily="34" charset="-122"/>
                <a:cs typeface="Cambria" pitchFamily="34" charset="-120"/>
              </a:rPr>
              <a:t>2. Almacenamiento</a:t>
            </a:r>
            <a:endParaRPr lang="en-US" sz="1500" dirty="0"/>
          </a:p>
        </p:txBody>
      </p:sp>
      <p:sp>
        <p:nvSpPr>
          <p:cNvPr id="16" name="Text 11"/>
          <p:cNvSpPr txBox="1"/>
          <p:nvPr/>
        </p:nvSpPr>
        <p:spPr>
          <a:xfrm>
            <a:off x="3573704" y="3017520"/>
            <a:ext cx="2202104" cy="2377440"/>
          </a:xfrm>
          <a:prstGeom prst="rect">
            <a:avLst/>
          </a:prstGeom>
          <a:noFill/>
          <a:ln/>
        </p:spPr>
        <p:txBody>
          <a:bodyPr wrap="square" lIns="0" tIns="0" rIns="0" bIns="0" rtlCol="0" anchor="t"/>
          <a:lstStyle/>
          <a:p>
            <a:pPr algn="ctr" indent="0" marL="0">
              <a:lnSpc>
                <a:spcPct val="110000"/>
              </a:lnSpc>
              <a:buNone/>
            </a:pPr>
            <a:r>
              <a:rPr lang="en-US" sz="1100" dirty="0">
                <a:solidFill>
                  <a:srgbClr val="3D2226"/>
                </a:solidFill>
                <a:latin typeface="Calibri" pitchFamily="34" charset="0"/>
                <a:ea typeface="Calibri" pitchFamily="34" charset="-122"/>
                <a:cs typeface="Calibri" pitchFamily="34" charset="-120"/>
              </a:rPr>
              <a:t>La ACh se empaqueta en vesículas sinápticas mediante un transportador vesicular dependiente de gradiente de H+.</a:t>
            </a:r>
            <a:endParaRPr lang="en-US" sz="1100" dirty="0"/>
          </a:p>
        </p:txBody>
      </p:sp>
      <p:sp>
        <p:nvSpPr>
          <p:cNvPr id="17" name="Shape 12"/>
          <p:cNvSpPr/>
          <p:nvPr/>
        </p:nvSpPr>
        <p:spPr>
          <a:xfrm>
            <a:off x="5986120" y="3566160"/>
            <a:ext cx="219456" cy="0"/>
          </a:xfrm>
          <a:prstGeom prst="line">
            <a:avLst/>
          </a:prstGeom>
          <a:noFill/>
          <a:ln w="25400">
            <a:solidFill>
              <a:srgbClr val="C1666B"/>
            </a:solidFill>
            <a:prstDash val="solid"/>
            <a:tailEnd type="triangle"/>
          </a:ln>
        </p:spPr>
      </p:sp>
      <p:sp>
        <p:nvSpPr>
          <p:cNvPr id="18" name="Shape 13"/>
          <p:cNvSpPr/>
          <p:nvPr/>
        </p:nvSpPr>
        <p:spPr>
          <a:xfrm>
            <a:off x="6233008" y="1554480"/>
            <a:ext cx="2567864" cy="4023360"/>
          </a:xfrm>
          <a:prstGeom prst="roundRect">
            <a:avLst>
              <a:gd name="adj" fmla="val 284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9" name="Shape 14"/>
          <p:cNvSpPr/>
          <p:nvPr/>
        </p:nvSpPr>
        <p:spPr>
          <a:xfrm>
            <a:off x="7233476" y="1828800"/>
            <a:ext cx="566928" cy="566928"/>
          </a:xfrm>
          <a:prstGeom prst="ellipse">
            <a:avLst/>
          </a:prstGeom>
          <a:solidFill>
            <a:srgbClr val="7A1F2B"/>
          </a:solidFill>
          <a:ln/>
        </p:spPr>
      </p:sp>
      <p:pic>
        <p:nvPicPr>
          <p:cNvPr id="20" name="Image 3" descr="/tmp/claude-0/-home-user-gpa-academy1/adc6e4aa-3b77-57c1-ba92-a8d4ee625c84/scratchpad/relajantes/icons/bolt_FFFFFF.png">    </p:cNvPr>
          <p:cNvPicPr>
            <a:picLocks noChangeAspect="1"/>
          </p:cNvPicPr>
          <p:nvPr/>
        </p:nvPicPr>
        <p:blipFill>
          <a:blip r:embed="rId4"/>
          <a:stretch>
            <a:fillRect/>
          </a:stretch>
        </p:blipFill>
        <p:spPr>
          <a:xfrm>
            <a:off x="7312845" y="1908170"/>
            <a:ext cx="408188" cy="408188"/>
          </a:xfrm>
          <a:prstGeom prst="rect">
            <a:avLst/>
          </a:prstGeom>
        </p:spPr>
      </p:pic>
      <p:sp>
        <p:nvSpPr>
          <p:cNvPr id="21" name="Text 15"/>
          <p:cNvSpPr txBox="1"/>
          <p:nvPr/>
        </p:nvSpPr>
        <p:spPr>
          <a:xfrm>
            <a:off x="6397600" y="2606040"/>
            <a:ext cx="2238680" cy="365760"/>
          </a:xfrm>
          <a:prstGeom prst="rect">
            <a:avLst/>
          </a:prstGeom>
          <a:noFill/>
          <a:ln/>
        </p:spPr>
        <p:txBody>
          <a:bodyPr wrap="square" lIns="0" tIns="0" rIns="0" bIns="0" rtlCol="0" anchor="ctr"/>
          <a:lstStyle/>
          <a:p>
            <a:pPr algn="ctr" indent="0" marL="0">
              <a:buNone/>
            </a:pPr>
            <a:r>
              <a:rPr lang="en-US" sz="1500" b="1" dirty="0">
                <a:solidFill>
                  <a:srgbClr val="7A1F2B"/>
                </a:solidFill>
                <a:latin typeface="Cambria" pitchFamily="34" charset="0"/>
                <a:ea typeface="Cambria" pitchFamily="34" charset="-122"/>
                <a:cs typeface="Cambria" pitchFamily="34" charset="-120"/>
              </a:rPr>
              <a:t>3. Liberación</a:t>
            </a:r>
            <a:endParaRPr lang="en-US" sz="1500" dirty="0"/>
          </a:p>
        </p:txBody>
      </p:sp>
      <p:sp>
        <p:nvSpPr>
          <p:cNvPr id="22" name="Text 16"/>
          <p:cNvSpPr txBox="1"/>
          <p:nvPr/>
        </p:nvSpPr>
        <p:spPr>
          <a:xfrm>
            <a:off x="6415888" y="3017520"/>
            <a:ext cx="2202104" cy="2377440"/>
          </a:xfrm>
          <a:prstGeom prst="rect">
            <a:avLst/>
          </a:prstGeom>
          <a:noFill/>
          <a:ln/>
        </p:spPr>
        <p:txBody>
          <a:bodyPr wrap="square" lIns="0" tIns="0" rIns="0" bIns="0" rtlCol="0" anchor="t"/>
          <a:lstStyle/>
          <a:p>
            <a:pPr algn="ctr" indent="0" marL="0">
              <a:lnSpc>
                <a:spcPct val="110000"/>
              </a:lnSpc>
              <a:buNone/>
            </a:pPr>
            <a:r>
              <a:rPr lang="en-US" sz="1100" dirty="0">
                <a:solidFill>
                  <a:srgbClr val="3D2226"/>
                </a:solidFill>
                <a:latin typeface="Calibri" pitchFamily="34" charset="0"/>
                <a:ea typeface="Calibri" pitchFamily="34" charset="-122"/>
                <a:cs typeface="Calibri" pitchFamily="34" charset="-120"/>
              </a:rPr>
              <a:t>El potencial de acción abre canales de Ca2+ dependientes de voltaje; el Ca2+ desencadena exocitosis cuántica de ACh.</a:t>
            </a:r>
            <a:endParaRPr lang="en-US" sz="1100" dirty="0"/>
          </a:p>
        </p:txBody>
      </p:sp>
      <p:sp>
        <p:nvSpPr>
          <p:cNvPr id="23" name="Shape 17"/>
          <p:cNvSpPr/>
          <p:nvPr/>
        </p:nvSpPr>
        <p:spPr>
          <a:xfrm>
            <a:off x="8828303" y="3566160"/>
            <a:ext cx="219456" cy="0"/>
          </a:xfrm>
          <a:prstGeom prst="line">
            <a:avLst/>
          </a:prstGeom>
          <a:noFill/>
          <a:ln w="25400">
            <a:solidFill>
              <a:srgbClr val="C1666B"/>
            </a:solidFill>
            <a:prstDash val="solid"/>
            <a:tailEnd type="triangle"/>
          </a:ln>
        </p:spPr>
      </p:sp>
      <p:sp>
        <p:nvSpPr>
          <p:cNvPr id="24" name="Shape 18"/>
          <p:cNvSpPr/>
          <p:nvPr/>
        </p:nvSpPr>
        <p:spPr>
          <a:xfrm>
            <a:off x="9075191" y="1554480"/>
            <a:ext cx="2567864" cy="4023360"/>
          </a:xfrm>
          <a:prstGeom prst="roundRect">
            <a:avLst>
              <a:gd name="adj" fmla="val 284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25" name="Shape 19"/>
          <p:cNvSpPr/>
          <p:nvPr/>
        </p:nvSpPr>
        <p:spPr>
          <a:xfrm>
            <a:off x="10075659" y="1828800"/>
            <a:ext cx="566928" cy="566928"/>
          </a:xfrm>
          <a:prstGeom prst="ellipse">
            <a:avLst/>
          </a:prstGeom>
          <a:solidFill>
            <a:srgbClr val="7A1F2B"/>
          </a:solidFill>
          <a:ln/>
        </p:spPr>
      </p:sp>
      <p:pic>
        <p:nvPicPr>
          <p:cNvPr id="26" name="Image 4" descr="/tmp/claude-0/-home-user-gpa-academy1/adc6e4aa-3b77-57c1-ba92-a8d4ee625c84/scratchpad/relajantes/icons/sync_FFFFFF.png">    </p:cNvPr>
          <p:cNvPicPr>
            <a:picLocks noChangeAspect="1"/>
          </p:cNvPicPr>
          <p:nvPr/>
        </p:nvPicPr>
        <p:blipFill>
          <a:blip r:embed="rId5"/>
          <a:stretch>
            <a:fillRect/>
          </a:stretch>
        </p:blipFill>
        <p:spPr>
          <a:xfrm>
            <a:off x="10155029" y="1908170"/>
            <a:ext cx="408188" cy="408188"/>
          </a:xfrm>
          <a:prstGeom prst="rect">
            <a:avLst/>
          </a:prstGeom>
        </p:spPr>
      </p:pic>
      <p:sp>
        <p:nvSpPr>
          <p:cNvPr id="27" name="Text 20"/>
          <p:cNvSpPr txBox="1"/>
          <p:nvPr/>
        </p:nvSpPr>
        <p:spPr>
          <a:xfrm>
            <a:off x="9239783" y="2606040"/>
            <a:ext cx="2238680" cy="365760"/>
          </a:xfrm>
          <a:prstGeom prst="rect">
            <a:avLst/>
          </a:prstGeom>
          <a:noFill/>
          <a:ln/>
        </p:spPr>
        <p:txBody>
          <a:bodyPr wrap="square" lIns="0" tIns="0" rIns="0" bIns="0" rtlCol="0" anchor="ctr"/>
          <a:lstStyle/>
          <a:p>
            <a:pPr algn="ctr" indent="0" marL="0">
              <a:buNone/>
            </a:pPr>
            <a:r>
              <a:rPr lang="en-US" sz="1500" b="1" dirty="0">
                <a:solidFill>
                  <a:srgbClr val="7A1F2B"/>
                </a:solidFill>
                <a:latin typeface="Cambria" pitchFamily="34" charset="0"/>
                <a:ea typeface="Cambria" pitchFamily="34" charset="-122"/>
                <a:cs typeface="Cambria" pitchFamily="34" charset="-120"/>
              </a:rPr>
              <a:t>4. Degradación</a:t>
            </a:r>
            <a:endParaRPr lang="en-US" sz="1500" dirty="0"/>
          </a:p>
        </p:txBody>
      </p:sp>
      <p:sp>
        <p:nvSpPr>
          <p:cNvPr id="28" name="Text 21"/>
          <p:cNvSpPr txBox="1"/>
          <p:nvPr/>
        </p:nvSpPr>
        <p:spPr>
          <a:xfrm>
            <a:off x="9258071" y="3017520"/>
            <a:ext cx="2202104" cy="2377440"/>
          </a:xfrm>
          <a:prstGeom prst="rect">
            <a:avLst/>
          </a:prstGeom>
          <a:noFill/>
          <a:ln/>
        </p:spPr>
        <p:txBody>
          <a:bodyPr wrap="square" lIns="0" tIns="0" rIns="0" bIns="0" rtlCol="0" anchor="t"/>
          <a:lstStyle/>
          <a:p>
            <a:pPr algn="ctr" indent="0" marL="0">
              <a:lnSpc>
                <a:spcPct val="110000"/>
              </a:lnSpc>
              <a:buNone/>
            </a:pPr>
            <a:r>
              <a:rPr lang="en-US" sz="1100" dirty="0">
                <a:solidFill>
                  <a:srgbClr val="3D2226"/>
                </a:solidFill>
                <a:latin typeface="Calibri" pitchFamily="34" charset="0"/>
                <a:ea typeface="Calibri" pitchFamily="34" charset="-122"/>
                <a:cs typeface="Calibri" pitchFamily="34" charset="-120"/>
              </a:rPr>
              <a:t>La acetilcolinesterasa hidroliza la ACh en colina + acetato en microsegundos, terminando la señal.</a:t>
            </a:r>
            <a:endParaRPr lang="en-US" sz="1100" dirty="0"/>
          </a:p>
        </p:txBody>
      </p:sp>
      <p:sp>
        <p:nvSpPr>
          <p:cNvPr id="29" name="Text 22"/>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30" name="Text 2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wave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DEL IMPULSO A LA CONTRACCIÓN</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Interrupción del impulso nervioso — transmisión normal</a:t>
            </a:r>
            <a:endParaRPr lang="en-US" sz="2700" dirty="0"/>
          </a:p>
        </p:txBody>
      </p:sp>
      <p:sp>
        <p:nvSpPr>
          <p:cNvPr id="6" name="Shape 3"/>
          <p:cNvSpPr/>
          <p:nvPr/>
        </p:nvSpPr>
        <p:spPr>
          <a:xfrm>
            <a:off x="548640" y="1481328"/>
            <a:ext cx="365760" cy="365760"/>
          </a:xfrm>
          <a:prstGeom prst="ellipse">
            <a:avLst/>
          </a:prstGeom>
          <a:solidFill>
            <a:srgbClr val="7A1F2B"/>
          </a:solidFill>
          <a:ln/>
        </p:spPr>
      </p:sp>
      <p:sp>
        <p:nvSpPr>
          <p:cNvPr id="7" name="Text 4"/>
          <p:cNvSpPr txBox="1"/>
          <p:nvPr/>
        </p:nvSpPr>
        <p:spPr>
          <a:xfrm>
            <a:off x="548640" y="1481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5"/>
          <p:cNvSpPr txBox="1"/>
          <p:nvPr/>
        </p:nvSpPr>
        <p:spPr>
          <a:xfrm>
            <a:off x="1078992" y="1463040"/>
            <a:ext cx="10564063" cy="603504"/>
          </a:xfrm>
          <a:prstGeom prst="rect">
            <a:avLst/>
          </a:prstGeom>
          <a:noFill/>
          <a:ln/>
        </p:spPr>
        <p:txBody>
          <a:bodyPr wrap="square" lIns="0" tIns="0" rIns="0" bIns="0" rtlCol="0" anchor="ctr"/>
          <a:lstStyle/>
          <a:p>
            <a:pPr indent="0" marL="0">
              <a:buNone/>
            </a:pPr>
            <a:r>
              <a:rPr lang="en-US" sz="1250" dirty="0">
                <a:solidFill>
                  <a:srgbClr val="3D2226"/>
                </a:solidFill>
                <a:latin typeface="Calibri" pitchFamily="34" charset="0"/>
                <a:ea typeface="Calibri" pitchFamily="34" charset="-122"/>
                <a:cs typeface="Calibri" pitchFamily="34" charset="-120"/>
              </a:rPr>
              <a:t>El potencial de acción se propaga por el axón motor hasta el terminal presináptico.</a:t>
            </a:r>
            <a:endParaRPr lang="en-US" sz="1250" dirty="0"/>
          </a:p>
        </p:txBody>
      </p:sp>
      <p:sp>
        <p:nvSpPr>
          <p:cNvPr id="9" name="Shape 6"/>
          <p:cNvSpPr/>
          <p:nvPr/>
        </p:nvSpPr>
        <p:spPr>
          <a:xfrm>
            <a:off x="731520" y="1865376"/>
            <a:ext cx="0" cy="219456"/>
          </a:xfrm>
          <a:prstGeom prst="line">
            <a:avLst/>
          </a:prstGeom>
          <a:noFill/>
          <a:ln w="19050">
            <a:solidFill>
              <a:srgbClr val="F0DFDD"/>
            </a:solidFill>
            <a:prstDash val="solid"/>
          </a:ln>
        </p:spPr>
      </p:sp>
      <p:sp>
        <p:nvSpPr>
          <p:cNvPr id="10" name="Shape 7"/>
          <p:cNvSpPr/>
          <p:nvPr/>
        </p:nvSpPr>
        <p:spPr>
          <a:xfrm>
            <a:off x="548640" y="2084832"/>
            <a:ext cx="365760" cy="365760"/>
          </a:xfrm>
          <a:prstGeom prst="ellipse">
            <a:avLst/>
          </a:prstGeom>
          <a:solidFill>
            <a:srgbClr val="C1666B"/>
          </a:solidFill>
          <a:ln/>
        </p:spPr>
      </p:sp>
      <p:sp>
        <p:nvSpPr>
          <p:cNvPr id="11" name="Text 8"/>
          <p:cNvSpPr txBox="1"/>
          <p:nvPr/>
        </p:nvSpPr>
        <p:spPr>
          <a:xfrm>
            <a:off x="548640"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9"/>
          <p:cNvSpPr txBox="1"/>
          <p:nvPr/>
        </p:nvSpPr>
        <p:spPr>
          <a:xfrm>
            <a:off x="1078992" y="2066544"/>
            <a:ext cx="10564063" cy="603504"/>
          </a:xfrm>
          <a:prstGeom prst="rect">
            <a:avLst/>
          </a:prstGeom>
          <a:noFill/>
          <a:ln/>
        </p:spPr>
        <p:txBody>
          <a:bodyPr wrap="square" lIns="0" tIns="0" rIns="0" bIns="0" rtlCol="0" anchor="ctr"/>
          <a:lstStyle/>
          <a:p>
            <a:pPr indent="0" marL="0">
              <a:buNone/>
            </a:pPr>
            <a:r>
              <a:rPr lang="en-US" sz="1250" dirty="0">
                <a:solidFill>
                  <a:srgbClr val="3D2226"/>
                </a:solidFill>
                <a:latin typeface="Calibri" pitchFamily="34" charset="0"/>
                <a:ea typeface="Calibri" pitchFamily="34" charset="-122"/>
                <a:cs typeface="Calibri" pitchFamily="34" charset="-120"/>
              </a:rPr>
              <a:t>Se abren canales de Ca2+ dependientes de voltaje; entra Ca2+ al terminal.</a:t>
            </a:r>
            <a:endParaRPr lang="en-US" sz="1250" dirty="0"/>
          </a:p>
        </p:txBody>
      </p:sp>
      <p:sp>
        <p:nvSpPr>
          <p:cNvPr id="13" name="Shape 10"/>
          <p:cNvSpPr/>
          <p:nvPr/>
        </p:nvSpPr>
        <p:spPr>
          <a:xfrm>
            <a:off x="731520" y="2468880"/>
            <a:ext cx="0" cy="219456"/>
          </a:xfrm>
          <a:prstGeom prst="line">
            <a:avLst/>
          </a:prstGeom>
          <a:noFill/>
          <a:ln w="19050">
            <a:solidFill>
              <a:srgbClr val="F0DFDD"/>
            </a:solidFill>
            <a:prstDash val="solid"/>
          </a:ln>
        </p:spPr>
      </p:sp>
      <p:sp>
        <p:nvSpPr>
          <p:cNvPr id="14" name="Shape 11"/>
          <p:cNvSpPr/>
          <p:nvPr/>
        </p:nvSpPr>
        <p:spPr>
          <a:xfrm>
            <a:off x="548640" y="2688336"/>
            <a:ext cx="365760" cy="365760"/>
          </a:xfrm>
          <a:prstGeom prst="ellipse">
            <a:avLst/>
          </a:prstGeom>
          <a:solidFill>
            <a:srgbClr val="7A1F2B"/>
          </a:solidFill>
          <a:ln/>
        </p:spPr>
      </p:sp>
      <p:sp>
        <p:nvSpPr>
          <p:cNvPr id="15" name="Text 12"/>
          <p:cNvSpPr txBox="1"/>
          <p:nvPr/>
        </p:nvSpPr>
        <p:spPr>
          <a:xfrm>
            <a:off x="548640" y="26883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078992" y="2670048"/>
            <a:ext cx="10564063" cy="603504"/>
          </a:xfrm>
          <a:prstGeom prst="rect">
            <a:avLst/>
          </a:prstGeom>
          <a:noFill/>
          <a:ln/>
        </p:spPr>
        <p:txBody>
          <a:bodyPr wrap="square" lIns="0" tIns="0" rIns="0" bIns="0" rtlCol="0" anchor="ctr"/>
          <a:lstStyle/>
          <a:p>
            <a:pPr indent="0" marL="0">
              <a:buNone/>
            </a:pPr>
            <a:r>
              <a:rPr lang="en-US" sz="1250" dirty="0">
                <a:solidFill>
                  <a:srgbClr val="3D2226"/>
                </a:solidFill>
                <a:latin typeface="Calibri" pitchFamily="34" charset="0"/>
                <a:ea typeface="Calibri" pitchFamily="34" charset="-122"/>
                <a:cs typeface="Calibri" pitchFamily="34" charset="-120"/>
              </a:rPr>
              <a:t>El Ca2+ promueve la fusión de vesículas sinápticas y la liberación cuántica de acetilcolina.</a:t>
            </a:r>
            <a:endParaRPr lang="en-US" sz="1250" dirty="0"/>
          </a:p>
        </p:txBody>
      </p:sp>
      <p:sp>
        <p:nvSpPr>
          <p:cNvPr id="17" name="Shape 14"/>
          <p:cNvSpPr/>
          <p:nvPr/>
        </p:nvSpPr>
        <p:spPr>
          <a:xfrm>
            <a:off x="731520" y="3072384"/>
            <a:ext cx="0" cy="219456"/>
          </a:xfrm>
          <a:prstGeom prst="line">
            <a:avLst/>
          </a:prstGeom>
          <a:noFill/>
          <a:ln w="19050">
            <a:solidFill>
              <a:srgbClr val="F0DFDD"/>
            </a:solidFill>
            <a:prstDash val="solid"/>
          </a:ln>
        </p:spPr>
      </p:sp>
      <p:sp>
        <p:nvSpPr>
          <p:cNvPr id="18" name="Shape 15"/>
          <p:cNvSpPr/>
          <p:nvPr/>
        </p:nvSpPr>
        <p:spPr>
          <a:xfrm>
            <a:off x="548640" y="3291840"/>
            <a:ext cx="365760" cy="365760"/>
          </a:xfrm>
          <a:prstGeom prst="ellipse">
            <a:avLst/>
          </a:prstGeom>
          <a:solidFill>
            <a:srgbClr val="C1666B"/>
          </a:solidFill>
          <a:ln/>
        </p:spPr>
      </p:sp>
      <p:sp>
        <p:nvSpPr>
          <p:cNvPr id="19" name="Text 16"/>
          <p:cNvSpPr txBox="1"/>
          <p:nvPr/>
        </p:nvSpPr>
        <p:spPr>
          <a:xfrm>
            <a:off x="548640" y="3291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0" name="Text 17"/>
          <p:cNvSpPr txBox="1"/>
          <p:nvPr/>
        </p:nvSpPr>
        <p:spPr>
          <a:xfrm>
            <a:off x="1078992" y="3273552"/>
            <a:ext cx="10564063" cy="603504"/>
          </a:xfrm>
          <a:prstGeom prst="rect">
            <a:avLst/>
          </a:prstGeom>
          <a:noFill/>
          <a:ln/>
        </p:spPr>
        <p:txBody>
          <a:bodyPr wrap="square" lIns="0" tIns="0" rIns="0" bIns="0" rtlCol="0" anchor="ctr"/>
          <a:lstStyle/>
          <a:p>
            <a:pPr indent="0" marL="0">
              <a:buNone/>
            </a:pPr>
            <a:r>
              <a:rPr lang="en-US" sz="1250" dirty="0">
                <a:solidFill>
                  <a:srgbClr val="3D2226"/>
                </a:solidFill>
                <a:latin typeface="Calibri" pitchFamily="34" charset="0"/>
                <a:ea typeface="Calibri" pitchFamily="34" charset="-122"/>
                <a:cs typeface="Calibri" pitchFamily="34" charset="-120"/>
              </a:rPr>
              <a:t>La ACh difunde y se une a receptores nicotínicos en la membrana postsináptica (2 moléculas por receptor).</a:t>
            </a:r>
            <a:endParaRPr lang="en-US" sz="1250" dirty="0"/>
          </a:p>
        </p:txBody>
      </p:sp>
      <p:sp>
        <p:nvSpPr>
          <p:cNvPr id="21" name="Shape 18"/>
          <p:cNvSpPr/>
          <p:nvPr/>
        </p:nvSpPr>
        <p:spPr>
          <a:xfrm>
            <a:off x="731520" y="3675888"/>
            <a:ext cx="0" cy="219456"/>
          </a:xfrm>
          <a:prstGeom prst="line">
            <a:avLst/>
          </a:prstGeom>
          <a:noFill/>
          <a:ln w="19050">
            <a:solidFill>
              <a:srgbClr val="F0DFDD"/>
            </a:solidFill>
            <a:prstDash val="solid"/>
          </a:ln>
        </p:spPr>
      </p:sp>
      <p:sp>
        <p:nvSpPr>
          <p:cNvPr id="22" name="Shape 19"/>
          <p:cNvSpPr/>
          <p:nvPr/>
        </p:nvSpPr>
        <p:spPr>
          <a:xfrm>
            <a:off x="548640" y="3895344"/>
            <a:ext cx="365760" cy="365760"/>
          </a:xfrm>
          <a:prstGeom prst="ellipse">
            <a:avLst/>
          </a:prstGeom>
          <a:solidFill>
            <a:srgbClr val="7A1F2B"/>
          </a:solidFill>
          <a:ln/>
        </p:spPr>
      </p:sp>
      <p:sp>
        <p:nvSpPr>
          <p:cNvPr id="23" name="Text 20"/>
          <p:cNvSpPr txBox="1"/>
          <p:nvPr/>
        </p:nvSpPr>
        <p:spPr>
          <a:xfrm>
            <a:off x="548640" y="38953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4" name="Text 21"/>
          <p:cNvSpPr txBox="1"/>
          <p:nvPr/>
        </p:nvSpPr>
        <p:spPr>
          <a:xfrm>
            <a:off x="1078992" y="3877056"/>
            <a:ext cx="10564063" cy="603504"/>
          </a:xfrm>
          <a:prstGeom prst="rect">
            <a:avLst/>
          </a:prstGeom>
          <a:noFill/>
          <a:ln/>
        </p:spPr>
        <p:txBody>
          <a:bodyPr wrap="square" lIns="0" tIns="0" rIns="0" bIns="0" rtlCol="0" anchor="ctr"/>
          <a:lstStyle/>
          <a:p>
            <a:pPr indent="0" marL="0">
              <a:buNone/>
            </a:pPr>
            <a:r>
              <a:rPr lang="en-US" sz="1250" dirty="0">
                <a:solidFill>
                  <a:srgbClr val="3D2226"/>
                </a:solidFill>
                <a:latin typeface="Calibri" pitchFamily="34" charset="0"/>
                <a:ea typeface="Calibri" pitchFamily="34" charset="-122"/>
                <a:cs typeface="Calibri" pitchFamily="34" charset="-120"/>
              </a:rPr>
              <a:t>Se abren canales catiónicos (Na+/K+); ingresa Na+ y se genera el potencial de placa motora (PPM).</a:t>
            </a:r>
            <a:endParaRPr lang="en-US" sz="1250" dirty="0"/>
          </a:p>
        </p:txBody>
      </p:sp>
      <p:sp>
        <p:nvSpPr>
          <p:cNvPr id="25" name="Shape 22"/>
          <p:cNvSpPr/>
          <p:nvPr/>
        </p:nvSpPr>
        <p:spPr>
          <a:xfrm>
            <a:off x="731520" y="4279392"/>
            <a:ext cx="0" cy="219456"/>
          </a:xfrm>
          <a:prstGeom prst="line">
            <a:avLst/>
          </a:prstGeom>
          <a:noFill/>
          <a:ln w="19050">
            <a:solidFill>
              <a:srgbClr val="F0DFDD"/>
            </a:solidFill>
            <a:prstDash val="solid"/>
          </a:ln>
        </p:spPr>
      </p:sp>
      <p:sp>
        <p:nvSpPr>
          <p:cNvPr id="26" name="Shape 23"/>
          <p:cNvSpPr/>
          <p:nvPr/>
        </p:nvSpPr>
        <p:spPr>
          <a:xfrm>
            <a:off x="548640" y="4498848"/>
            <a:ext cx="365760" cy="365760"/>
          </a:xfrm>
          <a:prstGeom prst="ellipse">
            <a:avLst/>
          </a:prstGeom>
          <a:solidFill>
            <a:srgbClr val="C1666B"/>
          </a:solidFill>
          <a:ln/>
        </p:spPr>
      </p:sp>
      <p:sp>
        <p:nvSpPr>
          <p:cNvPr id="27" name="Text 24"/>
          <p:cNvSpPr txBox="1"/>
          <p:nvPr/>
        </p:nvSpPr>
        <p:spPr>
          <a:xfrm>
            <a:off x="548640" y="4498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8" name="Text 25"/>
          <p:cNvSpPr txBox="1"/>
          <p:nvPr/>
        </p:nvSpPr>
        <p:spPr>
          <a:xfrm>
            <a:off x="1078992" y="4480560"/>
            <a:ext cx="10564063" cy="603504"/>
          </a:xfrm>
          <a:prstGeom prst="rect">
            <a:avLst/>
          </a:prstGeom>
          <a:noFill/>
          <a:ln/>
        </p:spPr>
        <p:txBody>
          <a:bodyPr wrap="square" lIns="0" tIns="0" rIns="0" bIns="0" rtlCol="0" anchor="ctr"/>
          <a:lstStyle/>
          <a:p>
            <a:pPr indent="0" marL="0">
              <a:buNone/>
            </a:pPr>
            <a:r>
              <a:rPr lang="en-US" sz="1250" dirty="0">
                <a:solidFill>
                  <a:srgbClr val="3D2226"/>
                </a:solidFill>
                <a:latin typeface="Calibri" pitchFamily="34" charset="0"/>
                <a:ea typeface="Calibri" pitchFamily="34" charset="-122"/>
                <a:cs typeface="Calibri" pitchFamily="34" charset="-120"/>
              </a:rPr>
              <a:t>Si el PPM supera el umbral, se genera un potencial de acción muscular que se propaga por los túbulos T.</a:t>
            </a:r>
            <a:endParaRPr lang="en-US" sz="1250" dirty="0"/>
          </a:p>
        </p:txBody>
      </p:sp>
      <p:sp>
        <p:nvSpPr>
          <p:cNvPr id="29" name="Shape 26"/>
          <p:cNvSpPr/>
          <p:nvPr/>
        </p:nvSpPr>
        <p:spPr>
          <a:xfrm>
            <a:off x="731520" y="4882896"/>
            <a:ext cx="0" cy="219456"/>
          </a:xfrm>
          <a:prstGeom prst="line">
            <a:avLst/>
          </a:prstGeom>
          <a:noFill/>
          <a:ln w="19050">
            <a:solidFill>
              <a:srgbClr val="F0DFDD"/>
            </a:solidFill>
            <a:prstDash val="solid"/>
          </a:ln>
        </p:spPr>
      </p:sp>
      <p:sp>
        <p:nvSpPr>
          <p:cNvPr id="30" name="Shape 27"/>
          <p:cNvSpPr/>
          <p:nvPr/>
        </p:nvSpPr>
        <p:spPr>
          <a:xfrm>
            <a:off x="548640" y="5102352"/>
            <a:ext cx="365760" cy="365760"/>
          </a:xfrm>
          <a:prstGeom prst="ellipse">
            <a:avLst/>
          </a:prstGeom>
          <a:solidFill>
            <a:srgbClr val="7A1F2B"/>
          </a:solidFill>
          <a:ln/>
        </p:spPr>
      </p:sp>
      <p:sp>
        <p:nvSpPr>
          <p:cNvPr id="31" name="Text 28"/>
          <p:cNvSpPr txBox="1"/>
          <p:nvPr/>
        </p:nvSpPr>
        <p:spPr>
          <a:xfrm>
            <a:off x="548640" y="5102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32" name="Text 29"/>
          <p:cNvSpPr txBox="1"/>
          <p:nvPr/>
        </p:nvSpPr>
        <p:spPr>
          <a:xfrm>
            <a:off x="1078992" y="5084064"/>
            <a:ext cx="10564063" cy="603504"/>
          </a:xfrm>
          <a:prstGeom prst="rect">
            <a:avLst/>
          </a:prstGeom>
          <a:noFill/>
          <a:ln/>
        </p:spPr>
        <p:txBody>
          <a:bodyPr wrap="square" lIns="0" tIns="0" rIns="0" bIns="0" rtlCol="0" anchor="ctr"/>
          <a:lstStyle/>
          <a:p>
            <a:pPr indent="0" marL="0">
              <a:buNone/>
            </a:pPr>
            <a:r>
              <a:rPr lang="en-US" sz="1250" dirty="0">
                <a:solidFill>
                  <a:srgbClr val="3D2226"/>
                </a:solidFill>
                <a:latin typeface="Calibri" pitchFamily="34" charset="0"/>
                <a:ea typeface="Calibri" pitchFamily="34" charset="-122"/>
                <a:cs typeface="Calibri" pitchFamily="34" charset="-120"/>
              </a:rPr>
              <a:t>El potencial de acción desencadena la liberación de Ca2+ del retículo sarcoplásmico y la contracción muscular (acoplamiento excitación-contracción).</a:t>
            </a:r>
            <a:endParaRPr lang="en-US" sz="1250" dirty="0"/>
          </a:p>
        </p:txBody>
      </p:sp>
      <p:sp>
        <p:nvSpPr>
          <p:cNvPr id="33" name="Text 30"/>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34" name="Text 3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dna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ESTRUCTURA MOLECULAR</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Receptores nicotínicos de la placa motora</a:t>
            </a:r>
            <a:endParaRPr lang="en-US" sz="2700" dirty="0"/>
          </a:p>
        </p:txBody>
      </p:sp>
      <p:sp>
        <p:nvSpPr>
          <p:cNvPr id="6" name="Shape 3"/>
          <p:cNvSpPr/>
          <p:nvPr/>
        </p:nvSpPr>
        <p:spPr>
          <a:xfrm>
            <a:off x="2194560" y="1965960"/>
            <a:ext cx="914400" cy="914400"/>
          </a:xfrm>
          <a:prstGeom prst="ellipse">
            <a:avLst/>
          </a:prstGeom>
          <a:solidFill>
            <a:srgbClr val="7A1F2B"/>
          </a:solidFill>
          <a:ln w="25400">
            <a:solidFill>
              <a:srgbClr val="FFFFFF"/>
            </a:solidFill>
            <a:prstDash val="solid"/>
          </a:ln>
        </p:spPr>
      </p:sp>
      <p:sp>
        <p:nvSpPr>
          <p:cNvPr id="7" name="Text 4"/>
          <p:cNvSpPr txBox="1"/>
          <p:nvPr/>
        </p:nvSpPr>
        <p:spPr>
          <a:xfrm>
            <a:off x="2194560" y="1965960"/>
            <a:ext cx="9144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α</a:t>
            </a:r>
            <a:endParaRPr lang="en-US" sz="2000" dirty="0"/>
          </a:p>
        </p:txBody>
      </p:sp>
      <p:sp>
        <p:nvSpPr>
          <p:cNvPr id="8" name="Shape 5"/>
          <p:cNvSpPr/>
          <p:nvPr/>
        </p:nvSpPr>
        <p:spPr>
          <a:xfrm>
            <a:off x="3368582" y="2818937"/>
            <a:ext cx="914400" cy="914400"/>
          </a:xfrm>
          <a:prstGeom prst="ellipse">
            <a:avLst/>
          </a:prstGeom>
          <a:solidFill>
            <a:srgbClr val="7A1F2B"/>
          </a:solidFill>
          <a:ln w="25400">
            <a:solidFill>
              <a:srgbClr val="FFFFFF"/>
            </a:solidFill>
            <a:prstDash val="solid"/>
          </a:ln>
        </p:spPr>
      </p:sp>
      <p:sp>
        <p:nvSpPr>
          <p:cNvPr id="9" name="Text 6"/>
          <p:cNvSpPr txBox="1"/>
          <p:nvPr/>
        </p:nvSpPr>
        <p:spPr>
          <a:xfrm>
            <a:off x="3368582" y="2818937"/>
            <a:ext cx="9144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α</a:t>
            </a:r>
            <a:endParaRPr lang="en-US" sz="2000" dirty="0"/>
          </a:p>
        </p:txBody>
      </p:sp>
      <p:sp>
        <p:nvSpPr>
          <p:cNvPr id="10" name="Shape 7"/>
          <p:cNvSpPr/>
          <p:nvPr/>
        </p:nvSpPr>
        <p:spPr>
          <a:xfrm>
            <a:off x="2920146" y="4199083"/>
            <a:ext cx="914400" cy="914400"/>
          </a:xfrm>
          <a:prstGeom prst="ellipse">
            <a:avLst/>
          </a:prstGeom>
          <a:solidFill>
            <a:srgbClr val="C1666B"/>
          </a:solidFill>
          <a:ln w="25400">
            <a:solidFill>
              <a:srgbClr val="FFFFFF"/>
            </a:solidFill>
            <a:prstDash val="solid"/>
          </a:ln>
        </p:spPr>
      </p:sp>
      <p:sp>
        <p:nvSpPr>
          <p:cNvPr id="11" name="Text 8"/>
          <p:cNvSpPr txBox="1"/>
          <p:nvPr/>
        </p:nvSpPr>
        <p:spPr>
          <a:xfrm>
            <a:off x="2920146" y="4199083"/>
            <a:ext cx="9144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β</a:t>
            </a:r>
            <a:endParaRPr lang="en-US" sz="2000" dirty="0"/>
          </a:p>
        </p:txBody>
      </p:sp>
      <p:sp>
        <p:nvSpPr>
          <p:cNvPr id="12" name="Shape 9"/>
          <p:cNvSpPr/>
          <p:nvPr/>
        </p:nvSpPr>
        <p:spPr>
          <a:xfrm>
            <a:off x="1468974" y="4199083"/>
            <a:ext cx="914400" cy="914400"/>
          </a:xfrm>
          <a:prstGeom prst="ellipse">
            <a:avLst/>
          </a:prstGeom>
          <a:solidFill>
            <a:srgbClr val="E8A33D"/>
          </a:solidFill>
          <a:ln w="25400">
            <a:solidFill>
              <a:srgbClr val="FFFFFF"/>
            </a:solidFill>
            <a:prstDash val="solid"/>
          </a:ln>
        </p:spPr>
      </p:sp>
      <p:sp>
        <p:nvSpPr>
          <p:cNvPr id="13" name="Text 10"/>
          <p:cNvSpPr txBox="1"/>
          <p:nvPr/>
        </p:nvSpPr>
        <p:spPr>
          <a:xfrm>
            <a:off x="1468974" y="4199083"/>
            <a:ext cx="9144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δ</a:t>
            </a:r>
            <a:endParaRPr lang="en-US" sz="2000" dirty="0"/>
          </a:p>
        </p:txBody>
      </p:sp>
      <p:sp>
        <p:nvSpPr>
          <p:cNvPr id="14" name="Shape 11"/>
          <p:cNvSpPr/>
          <p:nvPr/>
        </p:nvSpPr>
        <p:spPr>
          <a:xfrm>
            <a:off x="1020538" y="2818937"/>
            <a:ext cx="914400" cy="914400"/>
          </a:xfrm>
          <a:prstGeom prst="ellipse">
            <a:avLst/>
          </a:prstGeom>
          <a:solidFill>
            <a:srgbClr val="3A1420"/>
          </a:solidFill>
          <a:ln w="25400">
            <a:solidFill>
              <a:srgbClr val="FFFFFF"/>
            </a:solidFill>
            <a:prstDash val="solid"/>
          </a:ln>
        </p:spPr>
      </p:sp>
      <p:sp>
        <p:nvSpPr>
          <p:cNvPr id="15" name="Text 12"/>
          <p:cNvSpPr txBox="1"/>
          <p:nvPr/>
        </p:nvSpPr>
        <p:spPr>
          <a:xfrm>
            <a:off x="1020538" y="2818937"/>
            <a:ext cx="9144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ε/γ</a:t>
            </a:r>
            <a:endParaRPr lang="en-US" sz="2000" dirty="0"/>
          </a:p>
        </p:txBody>
      </p:sp>
      <p:sp>
        <p:nvSpPr>
          <p:cNvPr id="16" name="Shape 13"/>
          <p:cNvSpPr/>
          <p:nvPr/>
        </p:nvSpPr>
        <p:spPr>
          <a:xfrm>
            <a:off x="2267712" y="3273552"/>
            <a:ext cx="768096" cy="768096"/>
          </a:xfrm>
          <a:prstGeom prst="ellipse">
            <a:avLst/>
          </a:prstGeom>
          <a:solidFill>
            <a:srgbClr val="FFFFFF"/>
          </a:solidFill>
          <a:ln w="19050">
            <a:solidFill>
              <a:srgbClr val="F0DFDD"/>
            </a:solidFill>
            <a:prstDash val="solid"/>
          </a:ln>
        </p:spPr>
      </p:sp>
      <p:sp>
        <p:nvSpPr>
          <p:cNvPr id="17" name="Text 14"/>
          <p:cNvSpPr txBox="1"/>
          <p:nvPr/>
        </p:nvSpPr>
        <p:spPr>
          <a:xfrm>
            <a:off x="2267712" y="3273552"/>
            <a:ext cx="768096" cy="768096"/>
          </a:xfrm>
          <a:prstGeom prst="rect">
            <a:avLst/>
          </a:prstGeom>
          <a:noFill/>
          <a:ln/>
        </p:spPr>
        <p:txBody>
          <a:bodyPr wrap="square" lIns="0" tIns="0" rIns="0" bIns="0" rtlCol="0" anchor="ctr"/>
          <a:lstStyle/>
          <a:p>
            <a:pPr algn="ctr" indent="0" marL="0">
              <a:buNone/>
            </a:pPr>
            <a:r>
              <a:rPr lang="en-US" sz="950" b="1" dirty="0">
                <a:solidFill>
                  <a:srgbClr val="2E1015"/>
                </a:solidFill>
                <a:latin typeface="Calibri" pitchFamily="34" charset="0"/>
                <a:ea typeface="Calibri" pitchFamily="34" charset="-122"/>
                <a:cs typeface="Calibri" pitchFamily="34" charset="-120"/>
              </a:rPr>
              <a:t>Canal</a:t>
            </a:r>
            <a:endParaRPr lang="en-US" sz="950" dirty="0"/>
          </a:p>
          <a:p>
            <a:pPr algn="ctr" indent="0" marL="0">
              <a:buNone/>
            </a:pPr>
            <a:r>
              <a:rPr lang="en-US" sz="950" b="1" dirty="0">
                <a:solidFill>
                  <a:srgbClr val="2E1015"/>
                </a:solidFill>
                <a:latin typeface="Calibri" pitchFamily="34" charset="0"/>
                <a:ea typeface="Calibri" pitchFamily="34" charset="-122"/>
                <a:cs typeface="Calibri" pitchFamily="34" charset="-120"/>
              </a:rPr>
              <a:t>iónico</a:t>
            </a:r>
            <a:endParaRPr lang="en-US" sz="950" dirty="0"/>
          </a:p>
        </p:txBody>
      </p:sp>
      <p:sp>
        <p:nvSpPr>
          <p:cNvPr id="18" name="Text 15"/>
          <p:cNvSpPr txBox="1"/>
          <p:nvPr/>
        </p:nvSpPr>
        <p:spPr>
          <a:xfrm>
            <a:off x="548640" y="5349240"/>
            <a:ext cx="4206240" cy="548640"/>
          </a:xfrm>
          <a:prstGeom prst="rect">
            <a:avLst/>
          </a:prstGeom>
          <a:noFill/>
          <a:ln/>
        </p:spPr>
        <p:txBody>
          <a:bodyPr wrap="square" lIns="0" tIns="0" rIns="0" bIns="0" rtlCol="0" anchor="t"/>
          <a:lstStyle/>
          <a:p>
            <a:pPr algn="ctr" indent="0" marL="0">
              <a:buNone/>
            </a:pPr>
            <a:r>
              <a:rPr lang="en-US" sz="1050" i="1" dirty="0">
                <a:solidFill>
                  <a:srgbClr val="7A5B5F"/>
                </a:solidFill>
                <a:latin typeface="Calibri" pitchFamily="34" charset="0"/>
                <a:ea typeface="Calibri" pitchFamily="34" charset="-122"/>
                <a:cs typeface="Calibri" pitchFamily="34" charset="-120"/>
              </a:rPr>
              <a:t>Receptor nicotínico muscular (nAChR) — 5 subunidades</a:t>
            </a:r>
            <a:endParaRPr lang="en-US" sz="1050" dirty="0"/>
          </a:p>
        </p:txBody>
      </p:sp>
      <p:sp>
        <p:nvSpPr>
          <p:cNvPr id="19" name="Text 16"/>
          <p:cNvSpPr txBox="1"/>
          <p:nvPr/>
        </p:nvSpPr>
        <p:spPr>
          <a:xfrm>
            <a:off x="5212080" y="1554480"/>
            <a:ext cx="6430975" cy="4572000"/>
          </a:xfrm>
          <a:prstGeom prst="rect">
            <a:avLst/>
          </a:prstGeom>
          <a:noFill/>
          <a:ln/>
        </p:spPr>
        <p:txBody>
          <a:bodyPr wrap="square" lIns="0" tIns="0" rIns="0" bIns="0" rtlCol="0" anchor="t"/>
          <a:lstStyle/>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Receptor pentamérico ionotrópico: 2 subunidades α y una copia de β, δ y ε (adulto) o γ (fetal/inmaduro).</a:t>
            </a:r>
            <a:endParaRPr lang="en-US" sz="1250" dirty="0"/>
          </a:p>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Cada subunidad α posee un sitio de unión extracelular para la acetilcolina; se requiere ocupación de ambos sitios para abrir el canal.</a:t>
            </a:r>
            <a:endParaRPr lang="en-US" sz="1250" dirty="0"/>
          </a:p>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La apertura del canal permite el flujo de Na+ (entrada) y K+ (salida), generando el potencial de placa motora.</a:t>
            </a:r>
            <a:endParaRPr lang="en-US" sz="1250" dirty="0"/>
          </a:p>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El receptor fetal (γ) tiene menor conductancia y mayor tiempo de apertura; su persistencia (denervación, quemados, inmovilización) se asocia a hipercalemia grave con succinilcolina.</a:t>
            </a:r>
            <a:endParaRPr lang="en-US" sz="1250" dirty="0"/>
          </a:p>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Existen también receptores nicotínicos extrajuncionales que proliferan en estados de denervación o inmovilización prolongada.</a:t>
            </a:r>
            <a:endParaRPr lang="en-US" sz="1250" dirty="0"/>
          </a:p>
        </p:txBody>
      </p:sp>
      <p:sp>
        <p:nvSpPr>
          <p:cNvPr id="20" name="Text 17"/>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21" name="Text 1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balance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DOS GRANDES FAMILIAS</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Clasificación general de los relajantes musculares</a:t>
            </a:r>
            <a:endParaRPr lang="en-US" sz="2700" dirty="0"/>
          </a:p>
        </p:txBody>
      </p:sp>
      <p:sp>
        <p:nvSpPr>
          <p:cNvPr id="6" name="Shape 3"/>
          <p:cNvSpPr/>
          <p:nvPr/>
        </p:nvSpPr>
        <p:spPr>
          <a:xfrm>
            <a:off x="548640" y="1508760"/>
            <a:ext cx="5364328" cy="4572000"/>
          </a:xfrm>
          <a:prstGeom prst="roundRect">
            <a:avLst>
              <a:gd name="adj" fmla="val 1600"/>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822960" y="1783080"/>
            <a:ext cx="548640" cy="548640"/>
          </a:xfrm>
          <a:prstGeom prst="ellipse">
            <a:avLst/>
          </a:prstGeom>
          <a:solidFill>
            <a:srgbClr val="7A1F2B"/>
          </a:solidFill>
          <a:ln/>
        </p:spPr>
      </p:sp>
      <p:pic>
        <p:nvPicPr>
          <p:cNvPr id="8" name="Image 1" descr="/tmp/claude-0/-home-user-gpa-academy1/adc6e4aa-3b77-57c1-ba92-a8d4ee625c84/scratchpad/relajantes/icons/bolt_FFFFFF.png">    </p:cNvPr>
          <p:cNvPicPr>
            <a:picLocks noChangeAspect="1"/>
          </p:cNvPicPr>
          <p:nvPr/>
        </p:nvPicPr>
        <p:blipFill>
          <a:blip r:embed="rId2"/>
          <a:stretch>
            <a:fillRect/>
          </a:stretch>
        </p:blipFill>
        <p:spPr>
          <a:xfrm>
            <a:off x="899770" y="1859890"/>
            <a:ext cx="395021" cy="395021"/>
          </a:xfrm>
          <a:prstGeom prst="rect">
            <a:avLst/>
          </a:prstGeom>
        </p:spPr>
      </p:pic>
      <p:sp>
        <p:nvSpPr>
          <p:cNvPr id="9" name="Text 5"/>
          <p:cNvSpPr txBox="1"/>
          <p:nvPr/>
        </p:nvSpPr>
        <p:spPr>
          <a:xfrm>
            <a:off x="1508760" y="1828800"/>
            <a:ext cx="4175608" cy="457200"/>
          </a:xfrm>
          <a:prstGeom prst="rect">
            <a:avLst/>
          </a:prstGeom>
          <a:noFill/>
          <a:ln/>
        </p:spPr>
        <p:txBody>
          <a:bodyPr wrap="square" lIns="0" tIns="0" rIns="0" bIns="0" rtlCol="0" anchor="ctr"/>
          <a:lstStyle/>
          <a:p>
            <a:pPr indent="0" marL="0">
              <a:buNone/>
            </a:pPr>
            <a:r>
              <a:rPr lang="en-US" sz="1800" b="1" dirty="0">
                <a:solidFill>
                  <a:srgbClr val="7A1F2B"/>
                </a:solidFill>
                <a:latin typeface="Cambria" pitchFamily="34" charset="0"/>
                <a:ea typeface="Cambria" pitchFamily="34" charset="-122"/>
                <a:cs typeface="Cambria" pitchFamily="34" charset="-120"/>
              </a:rPr>
              <a:t>Despolarizantes</a:t>
            </a:r>
            <a:endParaRPr lang="en-US" sz="1800" dirty="0"/>
          </a:p>
        </p:txBody>
      </p:sp>
      <p:sp>
        <p:nvSpPr>
          <p:cNvPr id="10" name="Text 6"/>
          <p:cNvSpPr txBox="1"/>
          <p:nvPr/>
        </p:nvSpPr>
        <p:spPr>
          <a:xfrm>
            <a:off x="822960" y="2423160"/>
            <a:ext cx="4815688" cy="347472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Único representante clínico: succinilcolina (suxametonio).</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Agonistas del receptor nicotínico: lo activan y mantienen despolarizada la placa motora.</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Producen fasciculaciones iniciales seguidas de parálisis flácida.</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No son antagonizables por anticolinesterásicos (los potencian).</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Inicio ultrarrápido (~45–60 s); duración ultracorta (~5–10 min).</a:t>
            </a:r>
            <a:endParaRPr lang="en-US" sz="1250" dirty="0"/>
          </a:p>
        </p:txBody>
      </p:sp>
      <p:sp>
        <p:nvSpPr>
          <p:cNvPr id="11" name="Shape 7"/>
          <p:cNvSpPr/>
          <p:nvPr/>
        </p:nvSpPr>
        <p:spPr>
          <a:xfrm>
            <a:off x="6278728" y="1508760"/>
            <a:ext cx="5364328" cy="4572000"/>
          </a:xfrm>
          <a:prstGeom prst="roundRect">
            <a:avLst>
              <a:gd name="adj" fmla="val 1600"/>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2" name="Shape 8"/>
          <p:cNvSpPr/>
          <p:nvPr/>
        </p:nvSpPr>
        <p:spPr>
          <a:xfrm>
            <a:off x="6553048" y="1783080"/>
            <a:ext cx="548640" cy="548640"/>
          </a:xfrm>
          <a:prstGeom prst="ellipse">
            <a:avLst/>
          </a:prstGeom>
          <a:solidFill>
            <a:srgbClr val="C1666B"/>
          </a:solidFill>
          <a:ln/>
        </p:spPr>
      </p:sp>
      <p:pic>
        <p:nvPicPr>
          <p:cNvPr id="13" name="Image 2" descr="/tmp/claude-0/-home-user-gpa-academy1/adc6e4aa-3b77-57c1-ba92-a8d4ee625c84/scratchpad/relajantes/icons/shield_FFFFFF.png">    </p:cNvPr>
          <p:cNvPicPr>
            <a:picLocks noChangeAspect="1"/>
          </p:cNvPicPr>
          <p:nvPr/>
        </p:nvPicPr>
        <p:blipFill>
          <a:blip r:embed="rId3"/>
          <a:stretch>
            <a:fillRect/>
          </a:stretch>
        </p:blipFill>
        <p:spPr>
          <a:xfrm>
            <a:off x="6629857" y="1859890"/>
            <a:ext cx="395021" cy="395021"/>
          </a:xfrm>
          <a:prstGeom prst="rect">
            <a:avLst/>
          </a:prstGeom>
        </p:spPr>
      </p:pic>
      <p:sp>
        <p:nvSpPr>
          <p:cNvPr id="14" name="Text 9"/>
          <p:cNvSpPr txBox="1"/>
          <p:nvPr/>
        </p:nvSpPr>
        <p:spPr>
          <a:xfrm>
            <a:off x="7238848" y="1828800"/>
            <a:ext cx="4175608" cy="457200"/>
          </a:xfrm>
          <a:prstGeom prst="rect">
            <a:avLst/>
          </a:prstGeom>
          <a:noFill/>
          <a:ln/>
        </p:spPr>
        <p:txBody>
          <a:bodyPr wrap="square" lIns="0" tIns="0" rIns="0" bIns="0" rtlCol="0" anchor="ctr"/>
          <a:lstStyle/>
          <a:p>
            <a:pPr indent="0" marL="0">
              <a:buNone/>
            </a:pPr>
            <a:r>
              <a:rPr lang="en-US" sz="1800" b="1" dirty="0">
                <a:solidFill>
                  <a:srgbClr val="C1666B"/>
                </a:solidFill>
                <a:latin typeface="Cambria" pitchFamily="34" charset="0"/>
                <a:ea typeface="Cambria" pitchFamily="34" charset="-122"/>
                <a:cs typeface="Cambria" pitchFamily="34" charset="-120"/>
              </a:rPr>
              <a:t>No despolarizantes</a:t>
            </a:r>
            <a:endParaRPr lang="en-US" sz="1800" dirty="0"/>
          </a:p>
        </p:txBody>
      </p:sp>
      <p:sp>
        <p:nvSpPr>
          <p:cNvPr id="15" name="Text 10"/>
          <p:cNvSpPr txBox="1"/>
          <p:nvPr/>
        </p:nvSpPr>
        <p:spPr>
          <a:xfrm>
            <a:off x="6553048" y="2423160"/>
            <a:ext cx="4815688" cy="347472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Familia amplia: aminoesteroides (rocuronio, vecuronio, pancuronio) y bencilisoquinolinas (atracurio, cisatracurio, mivacurio).</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Antagonistas competitivos: bloquean el sitio del receptor sin activarlo.</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No producen fasciculaciones; la parálisis es progresiva sin despolarización previa.</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Sí son antagonizables por anticolinesterásicos y, en aminoesteroides, por sugammadex.</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Inicio y duración variables según el fármaco (corta, intermedia o larga).</a:t>
            </a:r>
            <a:endParaRPr lang="en-US" sz="1250" dirty="0"/>
          </a:p>
        </p:txBody>
      </p:sp>
      <p:sp>
        <p:nvSpPr>
          <p:cNvPr id="16" name="Text 11"/>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17" name="Text 1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bolt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AGONISMO SOSTENIDO</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Relajantes despolarizantes — mecanismo de acción</a:t>
            </a:r>
            <a:endParaRPr lang="en-US" sz="2700" dirty="0"/>
          </a:p>
        </p:txBody>
      </p:sp>
      <p:sp>
        <p:nvSpPr>
          <p:cNvPr id="6" name="Text 3"/>
          <p:cNvSpPr txBox="1"/>
          <p:nvPr/>
        </p:nvSpPr>
        <p:spPr>
          <a:xfrm>
            <a:off x="548640" y="1508760"/>
            <a:ext cx="6309360" cy="4480560"/>
          </a:xfrm>
          <a:prstGeom prst="rect">
            <a:avLst/>
          </a:prstGeom>
          <a:noFill/>
          <a:ln/>
        </p:spPr>
        <p:txBody>
          <a:bodyPr wrap="square" lIns="0" tIns="0" rIns="0" bIns="0" rtlCol="0" anchor="t"/>
          <a:lstStyle/>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La succinilcolina son dos moléculas de acetilcolina unidas; se comporta como un agonista nicotínico.</a:t>
            </a:r>
            <a:endParaRPr lang="en-US" sz="1300" dirty="0"/>
          </a:p>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Se une a los receptores y abre el canal iónico igual que la ACh, generando despolarización de la placa motora.</a:t>
            </a:r>
            <a:endParaRPr lang="en-US" sz="1300" dirty="0"/>
          </a:p>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A diferencia de la ACh, no es hidrolizada por la acetilcolinesterasa sináptica, por lo que la despolarización persiste.</a:t>
            </a:r>
            <a:endParaRPr lang="en-US" sz="1300" dirty="0"/>
          </a:p>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La despolarización mantenida inactiva los canales de Na+ dependientes de voltaje del sarcolema circundante: la fibra ya no puede generar nuevos potenciales de acción (bloqueo de Fase I).</a:t>
            </a:r>
            <a:endParaRPr lang="en-US" sz="1300" dirty="0"/>
          </a:p>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Clínicamente se observan fasciculaciones musculares transitorias antes de la parálisis flácida completa.</a:t>
            </a:r>
            <a:endParaRPr lang="en-US" sz="1300" dirty="0"/>
          </a:p>
        </p:txBody>
      </p:sp>
      <p:sp>
        <p:nvSpPr>
          <p:cNvPr id="7" name="Shape 4"/>
          <p:cNvSpPr/>
          <p:nvPr/>
        </p:nvSpPr>
        <p:spPr>
          <a:xfrm>
            <a:off x="7223760" y="1508760"/>
            <a:ext cx="4419295" cy="4480560"/>
          </a:xfrm>
          <a:prstGeom prst="roundRect">
            <a:avLst>
              <a:gd name="adj" fmla="val 165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8" name="Text 5"/>
          <p:cNvSpPr txBox="1"/>
          <p:nvPr/>
        </p:nvSpPr>
        <p:spPr>
          <a:xfrm>
            <a:off x="7498080" y="1737360"/>
            <a:ext cx="3870655" cy="274320"/>
          </a:xfrm>
          <a:prstGeom prst="rect">
            <a:avLst/>
          </a:prstGeom>
          <a:noFill/>
          <a:ln/>
        </p:spPr>
        <p:txBody>
          <a:bodyPr wrap="square" lIns="0" tIns="0" rIns="0" bIns="0" rtlCol="0" anchor="ctr"/>
          <a:lstStyle/>
          <a:p>
            <a:pPr indent="0" marL="0">
              <a:buNone/>
            </a:pPr>
            <a:r>
              <a:rPr lang="en-US" sz="1100" b="1" spc="130" kern="0" dirty="0">
                <a:solidFill>
                  <a:srgbClr val="7A1F2B"/>
                </a:solidFill>
                <a:latin typeface="Calibri" pitchFamily="34" charset="0"/>
                <a:ea typeface="Calibri" pitchFamily="34" charset="-122"/>
                <a:cs typeface="Calibri" pitchFamily="34" charset="-120"/>
              </a:rPr>
              <a:t>BLOQUEO DE FASE I</a:t>
            </a:r>
            <a:endParaRPr lang="en-US" sz="1100" dirty="0"/>
          </a:p>
        </p:txBody>
      </p:sp>
      <p:sp>
        <p:nvSpPr>
          <p:cNvPr id="9" name="Shape 6"/>
          <p:cNvSpPr/>
          <p:nvPr/>
        </p:nvSpPr>
        <p:spPr>
          <a:xfrm>
            <a:off x="7498080" y="2148840"/>
            <a:ext cx="365760" cy="365760"/>
          </a:xfrm>
          <a:prstGeom prst="ellipse">
            <a:avLst/>
          </a:prstGeom>
          <a:solidFill>
            <a:srgbClr val="7A1F2B"/>
          </a:solidFill>
          <a:ln/>
        </p:spPr>
      </p:sp>
      <p:sp>
        <p:nvSpPr>
          <p:cNvPr id="10" name="Text 7"/>
          <p:cNvSpPr txBox="1"/>
          <p:nvPr/>
        </p:nvSpPr>
        <p:spPr>
          <a:xfrm>
            <a:off x="7498080"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8"/>
          <p:cNvSpPr txBox="1"/>
          <p:nvPr/>
        </p:nvSpPr>
        <p:spPr>
          <a:xfrm>
            <a:off x="8001000" y="2121408"/>
            <a:ext cx="3367735" cy="27432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Unión agonista</a:t>
            </a:r>
            <a:endParaRPr lang="en-US" sz="1150" dirty="0"/>
          </a:p>
        </p:txBody>
      </p:sp>
      <p:sp>
        <p:nvSpPr>
          <p:cNvPr id="12" name="Text 9"/>
          <p:cNvSpPr txBox="1"/>
          <p:nvPr/>
        </p:nvSpPr>
        <p:spPr>
          <a:xfrm>
            <a:off x="8001000" y="2386584"/>
            <a:ext cx="3367735" cy="502920"/>
          </a:xfrm>
          <a:prstGeom prst="rect">
            <a:avLst/>
          </a:prstGeom>
          <a:noFill/>
          <a:ln/>
        </p:spPr>
        <p:txBody>
          <a:bodyPr wrap="square" lIns="0" tIns="0" rIns="0" bIns="0" rtlCol="0" anchor="t"/>
          <a:lstStyle/>
          <a:p>
            <a:pPr indent="0" marL="0">
              <a:lnSpc>
                <a:spcPct val="105000"/>
              </a:lnSpc>
              <a:buNone/>
            </a:pPr>
            <a:r>
              <a:rPr lang="en-US" sz="1000" dirty="0">
                <a:solidFill>
                  <a:srgbClr val="7A5B5F"/>
                </a:solidFill>
                <a:latin typeface="Calibri" pitchFamily="34" charset="0"/>
                <a:ea typeface="Calibri" pitchFamily="34" charset="-122"/>
                <a:cs typeface="Calibri" pitchFamily="34" charset="-120"/>
              </a:rPr>
              <a:t>La succinilcolina ocupa el receptor y lo activa.</a:t>
            </a:r>
            <a:endParaRPr lang="en-US" sz="1000" dirty="0"/>
          </a:p>
        </p:txBody>
      </p:sp>
      <p:sp>
        <p:nvSpPr>
          <p:cNvPr id="13" name="Shape 10"/>
          <p:cNvSpPr/>
          <p:nvPr/>
        </p:nvSpPr>
        <p:spPr>
          <a:xfrm>
            <a:off x="7498080" y="3017520"/>
            <a:ext cx="365760" cy="365760"/>
          </a:xfrm>
          <a:prstGeom prst="ellipse">
            <a:avLst/>
          </a:prstGeom>
          <a:solidFill>
            <a:srgbClr val="7A1F2B"/>
          </a:solidFill>
          <a:ln/>
        </p:spPr>
      </p:sp>
      <p:sp>
        <p:nvSpPr>
          <p:cNvPr id="14" name="Text 11"/>
          <p:cNvSpPr txBox="1"/>
          <p:nvPr/>
        </p:nvSpPr>
        <p:spPr>
          <a:xfrm>
            <a:off x="7498080" y="3017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2"/>
          <p:cNvSpPr txBox="1"/>
          <p:nvPr/>
        </p:nvSpPr>
        <p:spPr>
          <a:xfrm>
            <a:off x="8001000" y="2990088"/>
            <a:ext cx="3367735" cy="27432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Canal abierto</a:t>
            </a:r>
            <a:endParaRPr lang="en-US" sz="1150" dirty="0"/>
          </a:p>
        </p:txBody>
      </p:sp>
      <p:sp>
        <p:nvSpPr>
          <p:cNvPr id="16" name="Text 13"/>
          <p:cNvSpPr txBox="1"/>
          <p:nvPr/>
        </p:nvSpPr>
        <p:spPr>
          <a:xfrm>
            <a:off x="8001000" y="3255264"/>
            <a:ext cx="3367735" cy="502920"/>
          </a:xfrm>
          <a:prstGeom prst="rect">
            <a:avLst/>
          </a:prstGeom>
          <a:noFill/>
          <a:ln/>
        </p:spPr>
        <p:txBody>
          <a:bodyPr wrap="square" lIns="0" tIns="0" rIns="0" bIns="0" rtlCol="0" anchor="t"/>
          <a:lstStyle/>
          <a:p>
            <a:pPr indent="0" marL="0">
              <a:lnSpc>
                <a:spcPct val="105000"/>
              </a:lnSpc>
              <a:buNone/>
            </a:pPr>
            <a:r>
              <a:rPr lang="en-US" sz="1000" dirty="0">
                <a:solidFill>
                  <a:srgbClr val="7A5B5F"/>
                </a:solidFill>
                <a:latin typeface="Calibri" pitchFamily="34" charset="0"/>
                <a:ea typeface="Calibri" pitchFamily="34" charset="-122"/>
                <a:cs typeface="Calibri" pitchFamily="34" charset="-120"/>
              </a:rPr>
              <a:t>Entra Na+, se despolariza la placa motora.</a:t>
            </a:r>
            <a:endParaRPr lang="en-US" sz="1000" dirty="0"/>
          </a:p>
        </p:txBody>
      </p:sp>
      <p:sp>
        <p:nvSpPr>
          <p:cNvPr id="17" name="Shape 14"/>
          <p:cNvSpPr/>
          <p:nvPr/>
        </p:nvSpPr>
        <p:spPr>
          <a:xfrm>
            <a:off x="7498080" y="3886200"/>
            <a:ext cx="365760" cy="365760"/>
          </a:xfrm>
          <a:prstGeom prst="ellipse">
            <a:avLst/>
          </a:prstGeom>
          <a:solidFill>
            <a:srgbClr val="7A1F2B"/>
          </a:solidFill>
          <a:ln/>
        </p:spPr>
      </p:sp>
      <p:sp>
        <p:nvSpPr>
          <p:cNvPr id="18" name="Text 15"/>
          <p:cNvSpPr txBox="1"/>
          <p:nvPr/>
        </p:nvSpPr>
        <p:spPr>
          <a:xfrm>
            <a:off x="7498080" y="38862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6"/>
          <p:cNvSpPr txBox="1"/>
          <p:nvPr/>
        </p:nvSpPr>
        <p:spPr>
          <a:xfrm>
            <a:off x="8001000" y="3858768"/>
            <a:ext cx="3367735" cy="27432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Persistencia</a:t>
            </a:r>
            <a:endParaRPr lang="en-US" sz="1150" dirty="0"/>
          </a:p>
        </p:txBody>
      </p:sp>
      <p:sp>
        <p:nvSpPr>
          <p:cNvPr id="20" name="Text 17"/>
          <p:cNvSpPr txBox="1"/>
          <p:nvPr/>
        </p:nvSpPr>
        <p:spPr>
          <a:xfrm>
            <a:off x="8001000" y="4123944"/>
            <a:ext cx="3367735" cy="502920"/>
          </a:xfrm>
          <a:prstGeom prst="rect">
            <a:avLst/>
          </a:prstGeom>
          <a:noFill/>
          <a:ln/>
        </p:spPr>
        <p:txBody>
          <a:bodyPr wrap="square" lIns="0" tIns="0" rIns="0" bIns="0" rtlCol="0" anchor="t"/>
          <a:lstStyle/>
          <a:p>
            <a:pPr indent="0" marL="0">
              <a:lnSpc>
                <a:spcPct val="105000"/>
              </a:lnSpc>
              <a:buNone/>
            </a:pPr>
            <a:r>
              <a:rPr lang="en-US" sz="1000" dirty="0">
                <a:solidFill>
                  <a:srgbClr val="7A5B5F"/>
                </a:solidFill>
                <a:latin typeface="Calibri" pitchFamily="34" charset="0"/>
                <a:ea typeface="Calibri" pitchFamily="34" charset="-122"/>
                <a:cs typeface="Calibri" pitchFamily="34" charset="-120"/>
              </a:rPr>
              <a:t>No hay hidrólisis sináptica rápida: el canal permanece expuesto al agonista.</a:t>
            </a:r>
            <a:endParaRPr lang="en-US" sz="1000" dirty="0"/>
          </a:p>
        </p:txBody>
      </p:sp>
      <p:sp>
        <p:nvSpPr>
          <p:cNvPr id="21" name="Shape 18"/>
          <p:cNvSpPr/>
          <p:nvPr/>
        </p:nvSpPr>
        <p:spPr>
          <a:xfrm>
            <a:off x="7498080" y="4754880"/>
            <a:ext cx="365760" cy="365760"/>
          </a:xfrm>
          <a:prstGeom prst="ellipse">
            <a:avLst/>
          </a:prstGeom>
          <a:solidFill>
            <a:srgbClr val="7A1F2B"/>
          </a:solidFill>
          <a:ln/>
        </p:spPr>
      </p:sp>
      <p:sp>
        <p:nvSpPr>
          <p:cNvPr id="22" name="Text 19"/>
          <p:cNvSpPr txBox="1"/>
          <p:nvPr/>
        </p:nvSpPr>
        <p:spPr>
          <a:xfrm>
            <a:off x="7498080" y="4754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0"/>
          <p:cNvSpPr txBox="1"/>
          <p:nvPr/>
        </p:nvSpPr>
        <p:spPr>
          <a:xfrm>
            <a:off x="8001000" y="4727448"/>
            <a:ext cx="3367735" cy="27432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Bloqueo funcional</a:t>
            </a:r>
            <a:endParaRPr lang="en-US" sz="1150" dirty="0"/>
          </a:p>
        </p:txBody>
      </p:sp>
      <p:sp>
        <p:nvSpPr>
          <p:cNvPr id="24" name="Text 21"/>
          <p:cNvSpPr txBox="1"/>
          <p:nvPr/>
        </p:nvSpPr>
        <p:spPr>
          <a:xfrm>
            <a:off x="8001000" y="4992624"/>
            <a:ext cx="3367735" cy="502920"/>
          </a:xfrm>
          <a:prstGeom prst="rect">
            <a:avLst/>
          </a:prstGeom>
          <a:noFill/>
          <a:ln/>
        </p:spPr>
        <p:txBody>
          <a:bodyPr wrap="square" lIns="0" tIns="0" rIns="0" bIns="0" rtlCol="0" anchor="t"/>
          <a:lstStyle/>
          <a:p>
            <a:pPr indent="0" marL="0">
              <a:lnSpc>
                <a:spcPct val="105000"/>
              </a:lnSpc>
              <a:buNone/>
            </a:pPr>
            <a:r>
              <a:rPr lang="en-US" sz="1000" dirty="0">
                <a:solidFill>
                  <a:srgbClr val="7A5B5F"/>
                </a:solidFill>
                <a:latin typeface="Calibri" pitchFamily="34" charset="0"/>
                <a:ea typeface="Calibri" pitchFamily="34" charset="-122"/>
                <a:cs typeface="Calibri" pitchFamily="34" charset="-120"/>
              </a:rPr>
              <a:t>Canales de Na+ perijuncionales inactivados; fibra refractaria a nuevos estímulos.</a:t>
            </a:r>
            <a:endParaRPr lang="en-US" sz="1000" dirty="0"/>
          </a:p>
        </p:txBody>
      </p:sp>
      <p:sp>
        <p:nvSpPr>
          <p:cNvPr id="25" name="Text 22"/>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26" name="Text 2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clock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PERFIL CINÉTICO</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Succinilcolina — farmacocinética, dosis e inicio de acción</a:t>
            </a:r>
            <a:endParaRPr lang="en-US" sz="2700" dirty="0"/>
          </a:p>
        </p:txBody>
      </p:sp>
      <p:sp>
        <p:nvSpPr>
          <p:cNvPr id="6" name="Shape 3"/>
          <p:cNvSpPr/>
          <p:nvPr/>
        </p:nvSpPr>
        <p:spPr>
          <a:xfrm>
            <a:off x="548640" y="1508760"/>
            <a:ext cx="2567864" cy="1371600"/>
          </a:xfrm>
          <a:prstGeom prst="roundRect">
            <a:avLst>
              <a:gd name="adj" fmla="val 5333"/>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Text 4"/>
          <p:cNvSpPr txBox="1"/>
          <p:nvPr/>
        </p:nvSpPr>
        <p:spPr>
          <a:xfrm>
            <a:off x="640080" y="1600200"/>
            <a:ext cx="2384984" cy="932688"/>
          </a:xfrm>
          <a:prstGeom prst="rect">
            <a:avLst/>
          </a:prstGeom>
          <a:noFill/>
          <a:ln/>
        </p:spPr>
        <p:txBody>
          <a:bodyPr wrap="square" lIns="0" tIns="0" rIns="0" bIns="0" rtlCol="0" anchor="b"/>
          <a:lstStyle/>
          <a:p>
            <a:pPr algn="ctr" indent="0" marL="0">
              <a:lnSpc>
                <a:spcPct val="100000"/>
              </a:lnSpc>
              <a:buNone/>
            </a:pPr>
            <a:r>
              <a:rPr lang="en-US" sz="2400" b="1" dirty="0">
                <a:solidFill>
                  <a:srgbClr val="7A1F2B"/>
                </a:solidFill>
                <a:latin typeface="Cambria" pitchFamily="34" charset="0"/>
                <a:ea typeface="Cambria" pitchFamily="34" charset="-122"/>
                <a:cs typeface="Cambria" pitchFamily="34" charset="-120"/>
              </a:rPr>
              <a:t>0.5–1.5</a:t>
            </a:r>
            <a:endParaRPr lang="en-US" sz="2400" dirty="0"/>
          </a:p>
          <a:p>
            <a:pPr algn="ctr" indent="0" marL="0">
              <a:lnSpc>
                <a:spcPct val="100000"/>
              </a:lnSpc>
              <a:buNone/>
            </a:pPr>
            <a:r>
              <a:rPr lang="en-US" sz="2400" b="1" dirty="0">
                <a:solidFill>
                  <a:srgbClr val="7A1F2B"/>
                </a:solidFill>
                <a:latin typeface="Cambria" pitchFamily="34" charset="0"/>
                <a:ea typeface="Cambria" pitchFamily="34" charset="-122"/>
                <a:cs typeface="Cambria" pitchFamily="34" charset="-120"/>
              </a:rPr>
              <a:t>mg/kg</a:t>
            </a:r>
            <a:endParaRPr lang="en-US" sz="2400" dirty="0"/>
          </a:p>
        </p:txBody>
      </p:sp>
      <p:sp>
        <p:nvSpPr>
          <p:cNvPr id="8" name="Text 5"/>
          <p:cNvSpPr txBox="1"/>
          <p:nvPr/>
        </p:nvSpPr>
        <p:spPr>
          <a:xfrm>
            <a:off x="640080" y="2551176"/>
            <a:ext cx="2384984" cy="329184"/>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Dosis IV estándar de intubación</a:t>
            </a:r>
            <a:endParaRPr lang="en-US" sz="1100" dirty="0"/>
          </a:p>
        </p:txBody>
      </p:sp>
      <p:sp>
        <p:nvSpPr>
          <p:cNvPr id="9" name="Shape 6"/>
          <p:cNvSpPr/>
          <p:nvPr/>
        </p:nvSpPr>
        <p:spPr>
          <a:xfrm>
            <a:off x="3390824" y="1508760"/>
            <a:ext cx="2567864" cy="1371600"/>
          </a:xfrm>
          <a:prstGeom prst="roundRect">
            <a:avLst>
              <a:gd name="adj" fmla="val 5333"/>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0" name="Text 7"/>
          <p:cNvSpPr txBox="1"/>
          <p:nvPr/>
        </p:nvSpPr>
        <p:spPr>
          <a:xfrm>
            <a:off x="3482264" y="1600200"/>
            <a:ext cx="2384984" cy="713232"/>
          </a:xfrm>
          <a:prstGeom prst="rect">
            <a:avLst/>
          </a:prstGeom>
          <a:noFill/>
          <a:ln/>
        </p:spPr>
        <p:txBody>
          <a:bodyPr wrap="square" lIns="0" tIns="0" rIns="0" bIns="0" rtlCol="0" anchor="b"/>
          <a:lstStyle/>
          <a:p>
            <a:pPr algn="ctr" indent="0" marL="0">
              <a:lnSpc>
                <a:spcPct val="100000"/>
              </a:lnSpc>
              <a:buNone/>
            </a:pPr>
            <a:r>
              <a:rPr lang="en-US" sz="2400" b="1" dirty="0">
                <a:solidFill>
                  <a:srgbClr val="7A1F2B"/>
                </a:solidFill>
                <a:latin typeface="Cambria" pitchFamily="34" charset="0"/>
                <a:ea typeface="Cambria" pitchFamily="34" charset="-122"/>
                <a:cs typeface="Cambria" pitchFamily="34" charset="-120"/>
              </a:rPr>
              <a:t>45–60 s</a:t>
            </a:r>
            <a:endParaRPr lang="en-US" sz="2400" dirty="0"/>
          </a:p>
        </p:txBody>
      </p:sp>
      <p:sp>
        <p:nvSpPr>
          <p:cNvPr id="11" name="Text 8"/>
          <p:cNvSpPr txBox="1"/>
          <p:nvPr/>
        </p:nvSpPr>
        <p:spPr>
          <a:xfrm>
            <a:off x="3482264" y="2331720"/>
            <a:ext cx="2384984" cy="548640"/>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Inicio de acción</a:t>
            </a:r>
            <a:endParaRPr lang="en-US" sz="1100" dirty="0"/>
          </a:p>
        </p:txBody>
      </p:sp>
      <p:sp>
        <p:nvSpPr>
          <p:cNvPr id="12" name="Shape 9"/>
          <p:cNvSpPr/>
          <p:nvPr/>
        </p:nvSpPr>
        <p:spPr>
          <a:xfrm>
            <a:off x="6233008" y="1508760"/>
            <a:ext cx="2567864" cy="1371600"/>
          </a:xfrm>
          <a:prstGeom prst="roundRect">
            <a:avLst>
              <a:gd name="adj" fmla="val 5333"/>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3" name="Text 10"/>
          <p:cNvSpPr txBox="1"/>
          <p:nvPr/>
        </p:nvSpPr>
        <p:spPr>
          <a:xfrm>
            <a:off x="6324448" y="1600200"/>
            <a:ext cx="2384984" cy="713232"/>
          </a:xfrm>
          <a:prstGeom prst="rect">
            <a:avLst/>
          </a:prstGeom>
          <a:noFill/>
          <a:ln/>
        </p:spPr>
        <p:txBody>
          <a:bodyPr wrap="square" lIns="0" tIns="0" rIns="0" bIns="0" rtlCol="0" anchor="b"/>
          <a:lstStyle/>
          <a:p>
            <a:pPr algn="ctr" indent="0" marL="0">
              <a:lnSpc>
                <a:spcPct val="100000"/>
              </a:lnSpc>
              <a:buNone/>
            </a:pPr>
            <a:r>
              <a:rPr lang="en-US" sz="2400" b="1" dirty="0">
                <a:solidFill>
                  <a:srgbClr val="7A1F2B"/>
                </a:solidFill>
                <a:latin typeface="Cambria" pitchFamily="34" charset="0"/>
                <a:ea typeface="Cambria" pitchFamily="34" charset="-122"/>
                <a:cs typeface="Cambria" pitchFamily="34" charset="-120"/>
              </a:rPr>
              <a:t>5–10 min</a:t>
            </a:r>
            <a:endParaRPr lang="en-US" sz="2400" dirty="0"/>
          </a:p>
        </p:txBody>
      </p:sp>
      <p:sp>
        <p:nvSpPr>
          <p:cNvPr id="14" name="Text 11"/>
          <p:cNvSpPr txBox="1"/>
          <p:nvPr/>
        </p:nvSpPr>
        <p:spPr>
          <a:xfrm>
            <a:off x="6324448" y="2331720"/>
            <a:ext cx="2384984" cy="548640"/>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Duración clínica del bloqueo</a:t>
            </a:r>
            <a:endParaRPr lang="en-US" sz="1100" dirty="0"/>
          </a:p>
        </p:txBody>
      </p:sp>
      <p:sp>
        <p:nvSpPr>
          <p:cNvPr id="15" name="Shape 12"/>
          <p:cNvSpPr/>
          <p:nvPr/>
        </p:nvSpPr>
        <p:spPr>
          <a:xfrm>
            <a:off x="9075191" y="1508760"/>
            <a:ext cx="2567864" cy="1371600"/>
          </a:xfrm>
          <a:prstGeom prst="roundRect">
            <a:avLst>
              <a:gd name="adj" fmla="val 5333"/>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6" name="Text 13"/>
          <p:cNvSpPr txBox="1"/>
          <p:nvPr/>
        </p:nvSpPr>
        <p:spPr>
          <a:xfrm>
            <a:off x="9166631" y="1600200"/>
            <a:ext cx="2384984" cy="713232"/>
          </a:xfrm>
          <a:prstGeom prst="rect">
            <a:avLst/>
          </a:prstGeom>
          <a:noFill/>
          <a:ln/>
        </p:spPr>
        <p:txBody>
          <a:bodyPr wrap="square" lIns="0" tIns="0" rIns="0" bIns="0" rtlCol="0" anchor="b"/>
          <a:lstStyle/>
          <a:p>
            <a:pPr algn="ctr" indent="0" marL="0">
              <a:lnSpc>
                <a:spcPct val="100000"/>
              </a:lnSpc>
              <a:buNone/>
            </a:pPr>
            <a:r>
              <a:rPr lang="en-US" sz="2400" b="1" dirty="0">
                <a:solidFill>
                  <a:srgbClr val="7A1F2B"/>
                </a:solidFill>
                <a:latin typeface="Cambria" pitchFamily="34" charset="0"/>
                <a:ea typeface="Cambria" pitchFamily="34" charset="-122"/>
                <a:cs typeface="Cambria" pitchFamily="34" charset="-120"/>
              </a:rPr>
              <a:t>3–5 min</a:t>
            </a:r>
            <a:endParaRPr lang="en-US" sz="2400" dirty="0"/>
          </a:p>
        </p:txBody>
      </p:sp>
      <p:sp>
        <p:nvSpPr>
          <p:cNvPr id="17" name="Text 14"/>
          <p:cNvSpPr txBox="1"/>
          <p:nvPr/>
        </p:nvSpPr>
        <p:spPr>
          <a:xfrm>
            <a:off x="9166631" y="2331720"/>
            <a:ext cx="2384984" cy="548640"/>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Vida media plasmática (hidrólisis)</a:t>
            </a:r>
            <a:endParaRPr lang="en-US" sz="1100" dirty="0"/>
          </a:p>
        </p:txBody>
      </p:sp>
      <p:sp>
        <p:nvSpPr>
          <p:cNvPr id="18" name="Text 15"/>
          <p:cNvSpPr txBox="1"/>
          <p:nvPr/>
        </p:nvSpPr>
        <p:spPr>
          <a:xfrm>
            <a:off x="548640" y="3246120"/>
            <a:ext cx="11094415" cy="283464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Metabolizada casi por completo en el plasma por la butirilcolinesterasa (pseudocolinesterasa o colinesterasa plasmática), no por la acetilcolinesterasa sináptica.</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Solo una fracción mínima de la dosis alcanza la unión neuromuscular; el resto se hidroliza antes de llegar al músculo, lo que explica su corta duración.</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Individuos con déficit cuantitativo o cualitativo de pseudocolinesterasa (variantes atípicas, enfermedad hepática, embarazo, desnutrición, insuficiencia renal) presentan bloqueo prolongado, a veces de horas.</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El número de dibucaína (dibucaine number) evalúa la actividad cualitativa de la enzima e identifica variantes genéticas atípicas homocigotas u heterocigotas.</a:t>
            </a:r>
            <a:endParaRPr lang="en-US" sz="1250" dirty="0"/>
          </a:p>
        </p:txBody>
      </p:sp>
      <p:sp>
        <p:nvSpPr>
          <p:cNvPr id="19" name="Text 16"/>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20" name="Text 1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warning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PERFIL DE SEGURIDAD</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Succinilcolina — efectos adversos</a:t>
            </a:r>
            <a:endParaRPr lang="en-US" sz="2700" dirty="0"/>
          </a:p>
        </p:txBody>
      </p:sp>
      <p:sp>
        <p:nvSpPr>
          <p:cNvPr id="6" name="Shape 3"/>
          <p:cNvSpPr/>
          <p:nvPr/>
        </p:nvSpPr>
        <p:spPr>
          <a:xfrm>
            <a:off x="548640" y="1508760"/>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731520" y="1673352"/>
            <a:ext cx="512064" cy="512064"/>
          </a:xfrm>
          <a:prstGeom prst="ellipse">
            <a:avLst/>
          </a:prstGeom>
          <a:solidFill>
            <a:srgbClr val="7A1F2B"/>
          </a:solidFill>
          <a:ln/>
        </p:spPr>
      </p:sp>
      <p:pic>
        <p:nvPicPr>
          <p:cNvPr id="8" name="Image 1" descr="/tmp/claude-0/-home-user-gpa-academy1/adc6e4aa-3b77-57c1-ba92-a8d4ee625c84/scratchpad/relajantes/icons/thermometer_FFFFFF.png">    </p:cNvPr>
          <p:cNvPicPr>
            <a:picLocks noChangeAspect="1"/>
          </p:cNvPicPr>
          <p:nvPr/>
        </p:nvPicPr>
        <p:blipFill>
          <a:blip r:embed="rId2"/>
          <a:stretch>
            <a:fillRect/>
          </a:stretch>
        </p:blipFill>
        <p:spPr>
          <a:xfrm>
            <a:off x="803209" y="1745041"/>
            <a:ext cx="368686" cy="368686"/>
          </a:xfrm>
          <a:prstGeom prst="rect">
            <a:avLst/>
          </a:prstGeom>
        </p:spPr>
      </p:pic>
      <p:sp>
        <p:nvSpPr>
          <p:cNvPr id="9" name="Text 5"/>
          <p:cNvSpPr txBox="1"/>
          <p:nvPr/>
        </p:nvSpPr>
        <p:spPr>
          <a:xfrm>
            <a:off x="1408176" y="1636776"/>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Hipertermia maligna</a:t>
            </a:r>
            <a:endParaRPr lang="en-US" sz="1300" dirty="0"/>
          </a:p>
        </p:txBody>
      </p:sp>
      <p:sp>
        <p:nvSpPr>
          <p:cNvPr id="10" name="Text 6"/>
          <p:cNvSpPr txBox="1"/>
          <p:nvPr/>
        </p:nvSpPr>
        <p:spPr>
          <a:xfrm>
            <a:off x="1408176" y="2139696"/>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Agente desencadenante en pacientes susceptibles; emergencia con hipercapnia, rigidez y fiebre.</a:t>
            </a:r>
            <a:endParaRPr lang="en-US" sz="1050" dirty="0"/>
          </a:p>
        </p:txBody>
      </p:sp>
      <p:sp>
        <p:nvSpPr>
          <p:cNvPr id="11" name="Shape 7"/>
          <p:cNvSpPr/>
          <p:nvPr/>
        </p:nvSpPr>
        <p:spPr>
          <a:xfrm>
            <a:off x="6233008" y="1508760"/>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2" name="Shape 8"/>
          <p:cNvSpPr/>
          <p:nvPr/>
        </p:nvSpPr>
        <p:spPr>
          <a:xfrm>
            <a:off x="6415888" y="1673352"/>
            <a:ext cx="512064" cy="512064"/>
          </a:xfrm>
          <a:prstGeom prst="ellipse">
            <a:avLst/>
          </a:prstGeom>
          <a:solidFill>
            <a:srgbClr val="7A1F2B"/>
          </a:solidFill>
          <a:ln/>
        </p:spPr>
      </p:sp>
      <p:pic>
        <p:nvPicPr>
          <p:cNvPr id="13" name="Image 2" descr="/tmp/claude-0/-home-user-gpa-academy1/adc6e4aa-3b77-57c1-ba92-a8d4ee625c84/scratchpad/relajantes/icons/heartbeat_FFFFFF.png">    </p:cNvPr>
          <p:cNvPicPr>
            <a:picLocks noChangeAspect="1"/>
          </p:cNvPicPr>
          <p:nvPr/>
        </p:nvPicPr>
        <p:blipFill>
          <a:blip r:embed="rId3"/>
          <a:stretch>
            <a:fillRect/>
          </a:stretch>
        </p:blipFill>
        <p:spPr>
          <a:xfrm>
            <a:off x="6487577" y="1745041"/>
            <a:ext cx="368686" cy="368686"/>
          </a:xfrm>
          <a:prstGeom prst="rect">
            <a:avLst/>
          </a:prstGeom>
        </p:spPr>
      </p:pic>
      <p:sp>
        <p:nvSpPr>
          <p:cNvPr id="14" name="Text 9"/>
          <p:cNvSpPr txBox="1"/>
          <p:nvPr/>
        </p:nvSpPr>
        <p:spPr>
          <a:xfrm>
            <a:off x="7092544" y="1636776"/>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Bradicardia / arritmias</a:t>
            </a:r>
            <a:endParaRPr lang="en-US" sz="1300" dirty="0"/>
          </a:p>
        </p:txBody>
      </p:sp>
      <p:sp>
        <p:nvSpPr>
          <p:cNvPr id="15" name="Text 10"/>
          <p:cNvSpPr txBox="1"/>
          <p:nvPr/>
        </p:nvSpPr>
        <p:spPr>
          <a:xfrm>
            <a:off x="7092544" y="2139696"/>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Especialmente en niños y con dosis repetidas; efecto muscarínico vagal, mayor con segunda dosis.</a:t>
            </a:r>
            <a:endParaRPr lang="en-US" sz="1050" dirty="0"/>
          </a:p>
        </p:txBody>
      </p:sp>
      <p:sp>
        <p:nvSpPr>
          <p:cNvPr id="16" name="Shape 11"/>
          <p:cNvSpPr/>
          <p:nvPr/>
        </p:nvSpPr>
        <p:spPr>
          <a:xfrm>
            <a:off x="548640" y="2990088"/>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7" name="Shape 12"/>
          <p:cNvSpPr/>
          <p:nvPr/>
        </p:nvSpPr>
        <p:spPr>
          <a:xfrm>
            <a:off x="731520" y="3154680"/>
            <a:ext cx="512064" cy="512064"/>
          </a:xfrm>
          <a:prstGeom prst="ellipse">
            <a:avLst/>
          </a:prstGeom>
          <a:solidFill>
            <a:srgbClr val="7A1F2B"/>
          </a:solidFill>
          <a:ln/>
        </p:spPr>
      </p:sp>
      <p:pic>
        <p:nvPicPr>
          <p:cNvPr id="18" name="Image 3" descr="/tmp/claude-0/-home-user-gpa-academy1/adc6e4aa-3b77-57c1-ba92-a8d4ee625c84/scratchpad/relajantes/icons/bolt_FFFFFF.png">    </p:cNvPr>
          <p:cNvPicPr>
            <a:picLocks noChangeAspect="1"/>
          </p:cNvPicPr>
          <p:nvPr/>
        </p:nvPicPr>
        <p:blipFill>
          <a:blip r:embed="rId4"/>
          <a:stretch>
            <a:fillRect/>
          </a:stretch>
        </p:blipFill>
        <p:spPr>
          <a:xfrm>
            <a:off x="803209" y="3226369"/>
            <a:ext cx="368686" cy="368686"/>
          </a:xfrm>
          <a:prstGeom prst="rect">
            <a:avLst/>
          </a:prstGeom>
        </p:spPr>
      </p:pic>
      <p:sp>
        <p:nvSpPr>
          <p:cNvPr id="19" name="Text 13"/>
          <p:cNvSpPr txBox="1"/>
          <p:nvPr/>
        </p:nvSpPr>
        <p:spPr>
          <a:xfrm>
            <a:off x="1408176" y="3118104"/>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Hipercalemia</a:t>
            </a:r>
            <a:endParaRPr lang="en-US" sz="1300" dirty="0"/>
          </a:p>
        </p:txBody>
      </p:sp>
      <p:sp>
        <p:nvSpPr>
          <p:cNvPr id="20" name="Text 14"/>
          <p:cNvSpPr txBox="1"/>
          <p:nvPr/>
        </p:nvSpPr>
        <p:spPr>
          <a:xfrm>
            <a:off x="1408176" y="3621024"/>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Salida de K+ por receptores extrajuncionales; grave en quemados, denervación, inmovilización.</a:t>
            </a:r>
            <a:endParaRPr lang="en-US" sz="1050" dirty="0"/>
          </a:p>
        </p:txBody>
      </p:sp>
      <p:sp>
        <p:nvSpPr>
          <p:cNvPr id="21" name="Shape 15"/>
          <p:cNvSpPr/>
          <p:nvPr/>
        </p:nvSpPr>
        <p:spPr>
          <a:xfrm>
            <a:off x="6233008" y="2990088"/>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22" name="Shape 16"/>
          <p:cNvSpPr/>
          <p:nvPr/>
        </p:nvSpPr>
        <p:spPr>
          <a:xfrm>
            <a:off x="6415888" y="3154680"/>
            <a:ext cx="512064" cy="512064"/>
          </a:xfrm>
          <a:prstGeom prst="ellipse">
            <a:avLst/>
          </a:prstGeom>
          <a:solidFill>
            <a:srgbClr val="7A1F2B"/>
          </a:solidFill>
          <a:ln/>
        </p:spPr>
      </p:sp>
      <p:pic>
        <p:nvPicPr>
          <p:cNvPr id="23" name="Image 4" descr="/tmp/claude-0/-home-user-gpa-academy1/adc6e4aa-3b77-57c1-ba92-a8d4ee625c84/scratchpad/relajantes/icons/procedures_FFFFFF.png">    </p:cNvPr>
          <p:cNvPicPr>
            <a:picLocks noChangeAspect="1"/>
          </p:cNvPicPr>
          <p:nvPr/>
        </p:nvPicPr>
        <p:blipFill>
          <a:blip r:embed="rId5"/>
          <a:stretch>
            <a:fillRect/>
          </a:stretch>
        </p:blipFill>
        <p:spPr>
          <a:xfrm>
            <a:off x="6487577" y="3226369"/>
            <a:ext cx="368686" cy="368686"/>
          </a:xfrm>
          <a:prstGeom prst="rect">
            <a:avLst/>
          </a:prstGeom>
        </p:spPr>
      </p:pic>
      <p:sp>
        <p:nvSpPr>
          <p:cNvPr id="24" name="Text 17"/>
          <p:cNvSpPr txBox="1"/>
          <p:nvPr/>
        </p:nvSpPr>
        <p:spPr>
          <a:xfrm>
            <a:off x="7092544" y="3118104"/>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Mialgias postoperatorias</a:t>
            </a:r>
            <a:endParaRPr lang="en-US" sz="1300" dirty="0"/>
          </a:p>
        </p:txBody>
      </p:sp>
      <p:sp>
        <p:nvSpPr>
          <p:cNvPr id="25" name="Text 18"/>
          <p:cNvSpPr txBox="1"/>
          <p:nvPr/>
        </p:nvSpPr>
        <p:spPr>
          <a:xfrm>
            <a:off x="7092544" y="3621024"/>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Por fasciculaciones musculares generalizadas; más frecuente en pacientes jóvenes ambulatorios.</a:t>
            </a:r>
            <a:endParaRPr lang="en-US" sz="1050" dirty="0"/>
          </a:p>
        </p:txBody>
      </p:sp>
      <p:sp>
        <p:nvSpPr>
          <p:cNvPr id="26" name="Shape 19"/>
          <p:cNvSpPr/>
          <p:nvPr/>
        </p:nvSpPr>
        <p:spPr>
          <a:xfrm>
            <a:off x="548640" y="4471416"/>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27" name="Shape 20"/>
          <p:cNvSpPr/>
          <p:nvPr/>
        </p:nvSpPr>
        <p:spPr>
          <a:xfrm>
            <a:off x="731520" y="4636008"/>
            <a:ext cx="512064" cy="512064"/>
          </a:xfrm>
          <a:prstGeom prst="ellipse">
            <a:avLst/>
          </a:prstGeom>
          <a:solidFill>
            <a:srgbClr val="7A1F2B"/>
          </a:solidFill>
          <a:ln/>
        </p:spPr>
      </p:sp>
      <p:pic>
        <p:nvPicPr>
          <p:cNvPr id="28" name="Image 5" descr="/tmp/claude-0/-home-user-gpa-academy1/adc6e4aa-3b77-57c1-ba92-a8d4ee625c84/scratchpad/relajantes/icons/sync_FFFFFF.png">    </p:cNvPr>
          <p:cNvPicPr>
            <a:picLocks noChangeAspect="1"/>
          </p:cNvPicPr>
          <p:nvPr/>
        </p:nvPicPr>
        <p:blipFill>
          <a:blip r:embed="rId6"/>
          <a:stretch>
            <a:fillRect/>
          </a:stretch>
        </p:blipFill>
        <p:spPr>
          <a:xfrm>
            <a:off x="803209" y="4707697"/>
            <a:ext cx="368686" cy="368686"/>
          </a:xfrm>
          <a:prstGeom prst="rect">
            <a:avLst/>
          </a:prstGeom>
        </p:spPr>
      </p:pic>
      <p:sp>
        <p:nvSpPr>
          <p:cNvPr id="29" name="Text 21"/>
          <p:cNvSpPr txBox="1"/>
          <p:nvPr/>
        </p:nvSpPr>
        <p:spPr>
          <a:xfrm>
            <a:off x="1408176" y="4599432"/>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Bloqueo de Fase II</a:t>
            </a:r>
            <a:endParaRPr lang="en-US" sz="1300" dirty="0"/>
          </a:p>
        </p:txBody>
      </p:sp>
      <p:sp>
        <p:nvSpPr>
          <p:cNvPr id="30" name="Text 22"/>
          <p:cNvSpPr txBox="1"/>
          <p:nvPr/>
        </p:nvSpPr>
        <p:spPr>
          <a:xfrm>
            <a:off x="1408176" y="5102352"/>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Con dosis repetidas o infusión prolongada, el bloqueo adquiere características no despolarizantes (fade, potenciación postetánica).</a:t>
            </a:r>
            <a:endParaRPr lang="en-US" sz="1050" dirty="0"/>
          </a:p>
        </p:txBody>
      </p:sp>
      <p:sp>
        <p:nvSpPr>
          <p:cNvPr id="31" name="Shape 23"/>
          <p:cNvSpPr/>
          <p:nvPr/>
        </p:nvSpPr>
        <p:spPr>
          <a:xfrm>
            <a:off x="6233008" y="4471416"/>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32" name="Shape 24"/>
          <p:cNvSpPr/>
          <p:nvPr/>
        </p:nvSpPr>
        <p:spPr>
          <a:xfrm>
            <a:off x="6415888" y="4636008"/>
            <a:ext cx="512064" cy="512064"/>
          </a:xfrm>
          <a:prstGeom prst="ellipse">
            <a:avLst/>
          </a:prstGeom>
          <a:solidFill>
            <a:srgbClr val="7A1F2B"/>
          </a:solidFill>
          <a:ln/>
        </p:spPr>
      </p:sp>
      <p:pic>
        <p:nvPicPr>
          <p:cNvPr id="33" name="Image 6" descr="/tmp/claude-0/-home-user-gpa-academy1/adc6e4aa-3b77-57c1-ba92-a8d4ee625c84/scratchpad/relajantes/icons/userMd_FFFFFF.png">    </p:cNvPr>
          <p:cNvPicPr>
            <a:picLocks noChangeAspect="1"/>
          </p:cNvPicPr>
          <p:nvPr/>
        </p:nvPicPr>
        <p:blipFill>
          <a:blip r:embed="rId7"/>
          <a:stretch>
            <a:fillRect/>
          </a:stretch>
        </p:blipFill>
        <p:spPr>
          <a:xfrm>
            <a:off x="6487577" y="4707697"/>
            <a:ext cx="368686" cy="368686"/>
          </a:xfrm>
          <a:prstGeom prst="rect">
            <a:avLst/>
          </a:prstGeom>
        </p:spPr>
      </p:pic>
      <p:sp>
        <p:nvSpPr>
          <p:cNvPr id="34" name="Text 25"/>
          <p:cNvSpPr txBox="1"/>
          <p:nvPr/>
        </p:nvSpPr>
        <p:spPr>
          <a:xfrm>
            <a:off x="7092544" y="4599432"/>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Otros efectos</a:t>
            </a:r>
            <a:endParaRPr lang="en-US" sz="1300" dirty="0"/>
          </a:p>
        </p:txBody>
      </p:sp>
      <p:sp>
        <p:nvSpPr>
          <p:cNvPr id="35" name="Text 26"/>
          <p:cNvSpPr txBox="1"/>
          <p:nvPr/>
        </p:nvSpPr>
        <p:spPr>
          <a:xfrm>
            <a:off x="7092544" y="5102352"/>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Aumento de presión intraocular, intragástrica e intracraneal transitorios.</a:t>
            </a:r>
            <a:endParaRPr lang="en-US" sz="1050" dirty="0"/>
          </a:p>
        </p:txBody>
      </p:sp>
      <p:sp>
        <p:nvSpPr>
          <p:cNvPr id="36" name="Text 27"/>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37" name="Text 2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ban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SEGURIDAD DEL PACIENTE</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Contraindicaciones de la succinilcolina</a:t>
            </a:r>
            <a:endParaRPr lang="en-US" sz="2700" dirty="0"/>
          </a:p>
        </p:txBody>
      </p:sp>
      <p:sp>
        <p:nvSpPr>
          <p:cNvPr id="6" name="Shape 3"/>
          <p:cNvSpPr/>
          <p:nvPr/>
        </p:nvSpPr>
        <p:spPr>
          <a:xfrm>
            <a:off x="548640" y="1508760"/>
            <a:ext cx="5410048" cy="932688"/>
          </a:xfrm>
          <a:prstGeom prst="roundRect">
            <a:avLst>
              <a:gd name="adj" fmla="val 7843"/>
            </a:avLst>
          </a:prstGeom>
          <a:solidFill>
            <a:srgbClr val="FBEEEC"/>
          </a:solidFill>
          <a:ln w="12700">
            <a:solidFill>
              <a:srgbClr val="F0DFDD"/>
            </a:solidFill>
            <a:prstDash val="solid"/>
          </a:ln>
        </p:spPr>
      </p:sp>
      <p:sp>
        <p:nvSpPr>
          <p:cNvPr id="7" name="Shape 4"/>
          <p:cNvSpPr/>
          <p:nvPr/>
        </p:nvSpPr>
        <p:spPr>
          <a:xfrm>
            <a:off x="694944" y="1700784"/>
            <a:ext cx="457200" cy="457200"/>
          </a:xfrm>
          <a:prstGeom prst="ellipse">
            <a:avLst/>
          </a:prstGeom>
          <a:solidFill>
            <a:srgbClr val="7A1F2B"/>
          </a:solidFill>
          <a:ln/>
        </p:spPr>
      </p:sp>
      <p:pic>
        <p:nvPicPr>
          <p:cNvPr id="8" name="Image 1" descr="/tmp/claude-0/-home-user-gpa-academy1/adc6e4aa-3b77-57c1-ba92-a8d4ee625c84/scratchpad/relajantes/icons/ban_FFFFFF.png">    </p:cNvPr>
          <p:cNvPicPr>
            <a:picLocks noChangeAspect="1"/>
          </p:cNvPicPr>
          <p:nvPr/>
        </p:nvPicPr>
        <p:blipFill>
          <a:blip r:embed="rId2"/>
          <a:stretch>
            <a:fillRect/>
          </a:stretch>
        </p:blipFill>
        <p:spPr>
          <a:xfrm>
            <a:off x="758952" y="1764792"/>
            <a:ext cx="329184" cy="329184"/>
          </a:xfrm>
          <a:prstGeom prst="rect">
            <a:avLst/>
          </a:prstGeom>
        </p:spPr>
      </p:pic>
      <p:sp>
        <p:nvSpPr>
          <p:cNvPr id="9" name="Text 5"/>
          <p:cNvSpPr txBox="1"/>
          <p:nvPr/>
        </p:nvSpPr>
        <p:spPr>
          <a:xfrm>
            <a:off x="1280160" y="1581912"/>
            <a:ext cx="4495648" cy="786384"/>
          </a:xfrm>
          <a:prstGeom prst="rect">
            <a:avLst/>
          </a:prstGeom>
          <a:noFill/>
          <a:ln/>
        </p:spPr>
        <p:txBody>
          <a:bodyPr wrap="square" lIns="0" tIns="0" rIns="0" bIns="0" rtlCol="0" anchor="ctr"/>
          <a:lstStyle/>
          <a:p>
            <a:pPr indent="0" marL="0">
              <a:lnSpc>
                <a:spcPct val="105000"/>
              </a:lnSpc>
              <a:buNone/>
            </a:pPr>
            <a:r>
              <a:rPr lang="en-US" sz="1200" dirty="0">
                <a:solidFill>
                  <a:srgbClr val="2E1015"/>
                </a:solidFill>
                <a:latin typeface="Calibri" pitchFamily="34" charset="0"/>
                <a:ea typeface="Calibri" pitchFamily="34" charset="-122"/>
                <a:cs typeface="Calibri" pitchFamily="34" charset="-120"/>
              </a:rPr>
              <a:t>Antecedente personal o familiar de hipertermia maligna</a:t>
            </a:r>
            <a:endParaRPr lang="en-US" sz="1200" dirty="0"/>
          </a:p>
        </p:txBody>
      </p:sp>
      <p:sp>
        <p:nvSpPr>
          <p:cNvPr id="10" name="Shape 6"/>
          <p:cNvSpPr/>
          <p:nvPr/>
        </p:nvSpPr>
        <p:spPr>
          <a:xfrm>
            <a:off x="6233008" y="1508760"/>
            <a:ext cx="5410048" cy="932688"/>
          </a:xfrm>
          <a:prstGeom prst="roundRect">
            <a:avLst>
              <a:gd name="adj" fmla="val 7843"/>
            </a:avLst>
          </a:prstGeom>
          <a:solidFill>
            <a:srgbClr val="FBEEEC"/>
          </a:solidFill>
          <a:ln w="12700">
            <a:solidFill>
              <a:srgbClr val="F0DFDD"/>
            </a:solidFill>
            <a:prstDash val="solid"/>
          </a:ln>
        </p:spPr>
      </p:sp>
      <p:sp>
        <p:nvSpPr>
          <p:cNvPr id="11" name="Shape 7"/>
          <p:cNvSpPr/>
          <p:nvPr/>
        </p:nvSpPr>
        <p:spPr>
          <a:xfrm>
            <a:off x="6379312" y="1700784"/>
            <a:ext cx="457200" cy="457200"/>
          </a:xfrm>
          <a:prstGeom prst="ellipse">
            <a:avLst/>
          </a:prstGeom>
          <a:solidFill>
            <a:srgbClr val="7A1F2B"/>
          </a:solidFill>
          <a:ln/>
        </p:spPr>
      </p:sp>
      <p:pic>
        <p:nvPicPr>
          <p:cNvPr id="12" name="Image 2" descr="/tmp/claude-0/-home-user-gpa-academy1/adc6e4aa-3b77-57c1-ba92-a8d4ee625c84/scratchpad/relajantes/icons/ban_FFFFFF.png">    </p:cNvPr>
          <p:cNvPicPr>
            <a:picLocks noChangeAspect="1"/>
          </p:cNvPicPr>
          <p:nvPr/>
        </p:nvPicPr>
        <p:blipFill>
          <a:blip r:embed="rId3"/>
          <a:stretch>
            <a:fillRect/>
          </a:stretch>
        </p:blipFill>
        <p:spPr>
          <a:xfrm>
            <a:off x="6443320" y="1764792"/>
            <a:ext cx="329184" cy="329184"/>
          </a:xfrm>
          <a:prstGeom prst="rect">
            <a:avLst/>
          </a:prstGeom>
        </p:spPr>
      </p:pic>
      <p:sp>
        <p:nvSpPr>
          <p:cNvPr id="13" name="Text 8"/>
          <p:cNvSpPr txBox="1"/>
          <p:nvPr/>
        </p:nvSpPr>
        <p:spPr>
          <a:xfrm>
            <a:off x="6964528" y="1581912"/>
            <a:ext cx="4495648" cy="786384"/>
          </a:xfrm>
          <a:prstGeom prst="rect">
            <a:avLst/>
          </a:prstGeom>
          <a:noFill/>
          <a:ln/>
        </p:spPr>
        <p:txBody>
          <a:bodyPr wrap="square" lIns="0" tIns="0" rIns="0" bIns="0" rtlCol="0" anchor="ctr"/>
          <a:lstStyle/>
          <a:p>
            <a:pPr indent="0" marL="0">
              <a:lnSpc>
                <a:spcPct val="105000"/>
              </a:lnSpc>
              <a:buNone/>
            </a:pPr>
            <a:r>
              <a:rPr lang="en-US" sz="1200" dirty="0">
                <a:solidFill>
                  <a:srgbClr val="2E1015"/>
                </a:solidFill>
                <a:latin typeface="Calibri" pitchFamily="34" charset="0"/>
                <a:ea typeface="Calibri" pitchFamily="34" charset="-122"/>
                <a:cs typeface="Calibri" pitchFamily="34" charset="-120"/>
              </a:rPr>
              <a:t>Miopatías y distrofias musculares (p. ej. Duchenne) no diagnosticadas, sobre todo en varones jóvenes</a:t>
            </a:r>
            <a:endParaRPr lang="en-US" sz="1200" dirty="0"/>
          </a:p>
        </p:txBody>
      </p:sp>
      <p:sp>
        <p:nvSpPr>
          <p:cNvPr id="14" name="Shape 9"/>
          <p:cNvSpPr/>
          <p:nvPr/>
        </p:nvSpPr>
        <p:spPr>
          <a:xfrm>
            <a:off x="548640" y="2587752"/>
            <a:ext cx="5410048" cy="932688"/>
          </a:xfrm>
          <a:prstGeom prst="roundRect">
            <a:avLst>
              <a:gd name="adj" fmla="val 7843"/>
            </a:avLst>
          </a:prstGeom>
          <a:solidFill>
            <a:srgbClr val="FBEEEC"/>
          </a:solidFill>
          <a:ln w="12700">
            <a:solidFill>
              <a:srgbClr val="F0DFDD"/>
            </a:solidFill>
            <a:prstDash val="solid"/>
          </a:ln>
        </p:spPr>
      </p:sp>
      <p:sp>
        <p:nvSpPr>
          <p:cNvPr id="15" name="Shape 10"/>
          <p:cNvSpPr/>
          <p:nvPr/>
        </p:nvSpPr>
        <p:spPr>
          <a:xfrm>
            <a:off x="694944" y="2779776"/>
            <a:ext cx="457200" cy="457200"/>
          </a:xfrm>
          <a:prstGeom prst="ellipse">
            <a:avLst/>
          </a:prstGeom>
          <a:solidFill>
            <a:srgbClr val="7A1F2B"/>
          </a:solidFill>
          <a:ln/>
        </p:spPr>
      </p:sp>
      <p:pic>
        <p:nvPicPr>
          <p:cNvPr id="16" name="Image 3" descr="/tmp/claude-0/-home-user-gpa-academy1/adc6e4aa-3b77-57c1-ba92-a8d4ee625c84/scratchpad/relajantes/icons/ban_FFFFFF.png">    </p:cNvPr>
          <p:cNvPicPr>
            <a:picLocks noChangeAspect="1"/>
          </p:cNvPicPr>
          <p:nvPr/>
        </p:nvPicPr>
        <p:blipFill>
          <a:blip r:embed="rId4"/>
          <a:stretch>
            <a:fillRect/>
          </a:stretch>
        </p:blipFill>
        <p:spPr>
          <a:xfrm>
            <a:off x="758952" y="2843784"/>
            <a:ext cx="329184" cy="329184"/>
          </a:xfrm>
          <a:prstGeom prst="rect">
            <a:avLst/>
          </a:prstGeom>
        </p:spPr>
      </p:pic>
      <p:sp>
        <p:nvSpPr>
          <p:cNvPr id="17" name="Text 11"/>
          <p:cNvSpPr txBox="1"/>
          <p:nvPr/>
        </p:nvSpPr>
        <p:spPr>
          <a:xfrm>
            <a:off x="1280160" y="2660904"/>
            <a:ext cx="4495648" cy="786384"/>
          </a:xfrm>
          <a:prstGeom prst="rect">
            <a:avLst/>
          </a:prstGeom>
          <a:noFill/>
          <a:ln/>
        </p:spPr>
        <p:txBody>
          <a:bodyPr wrap="square" lIns="0" tIns="0" rIns="0" bIns="0" rtlCol="0" anchor="ctr"/>
          <a:lstStyle/>
          <a:p>
            <a:pPr indent="0" marL="0">
              <a:lnSpc>
                <a:spcPct val="105000"/>
              </a:lnSpc>
              <a:buNone/>
            </a:pPr>
            <a:r>
              <a:rPr lang="en-US" sz="1200" dirty="0">
                <a:solidFill>
                  <a:srgbClr val="2E1015"/>
                </a:solidFill>
                <a:latin typeface="Calibri" pitchFamily="34" charset="0"/>
                <a:ea typeface="Calibri" pitchFamily="34" charset="-122"/>
                <a:cs typeface="Calibri" pitchFamily="34" charset="-120"/>
              </a:rPr>
              <a:t>Hipercalemia preexistente o riesgo de liberación masiva de K+</a:t>
            </a:r>
            <a:endParaRPr lang="en-US" sz="1200" dirty="0"/>
          </a:p>
        </p:txBody>
      </p:sp>
      <p:sp>
        <p:nvSpPr>
          <p:cNvPr id="18" name="Shape 12"/>
          <p:cNvSpPr/>
          <p:nvPr/>
        </p:nvSpPr>
        <p:spPr>
          <a:xfrm>
            <a:off x="6233008" y="2587752"/>
            <a:ext cx="5410048" cy="932688"/>
          </a:xfrm>
          <a:prstGeom prst="roundRect">
            <a:avLst>
              <a:gd name="adj" fmla="val 7843"/>
            </a:avLst>
          </a:prstGeom>
          <a:solidFill>
            <a:srgbClr val="FBEEEC"/>
          </a:solidFill>
          <a:ln w="12700">
            <a:solidFill>
              <a:srgbClr val="F0DFDD"/>
            </a:solidFill>
            <a:prstDash val="solid"/>
          </a:ln>
        </p:spPr>
      </p:sp>
      <p:sp>
        <p:nvSpPr>
          <p:cNvPr id="19" name="Shape 13"/>
          <p:cNvSpPr/>
          <p:nvPr/>
        </p:nvSpPr>
        <p:spPr>
          <a:xfrm>
            <a:off x="6379312" y="2779776"/>
            <a:ext cx="457200" cy="457200"/>
          </a:xfrm>
          <a:prstGeom prst="ellipse">
            <a:avLst/>
          </a:prstGeom>
          <a:solidFill>
            <a:srgbClr val="7A1F2B"/>
          </a:solidFill>
          <a:ln/>
        </p:spPr>
      </p:sp>
      <p:pic>
        <p:nvPicPr>
          <p:cNvPr id="20" name="Image 4" descr="/tmp/claude-0/-home-user-gpa-academy1/adc6e4aa-3b77-57c1-ba92-a8d4ee625c84/scratchpad/relajantes/icons/ban_FFFFFF.png">    </p:cNvPr>
          <p:cNvPicPr>
            <a:picLocks noChangeAspect="1"/>
          </p:cNvPicPr>
          <p:nvPr/>
        </p:nvPicPr>
        <p:blipFill>
          <a:blip r:embed="rId5"/>
          <a:stretch>
            <a:fillRect/>
          </a:stretch>
        </p:blipFill>
        <p:spPr>
          <a:xfrm>
            <a:off x="6443320" y="2843784"/>
            <a:ext cx="329184" cy="329184"/>
          </a:xfrm>
          <a:prstGeom prst="rect">
            <a:avLst/>
          </a:prstGeom>
        </p:spPr>
      </p:pic>
      <p:sp>
        <p:nvSpPr>
          <p:cNvPr id="21" name="Text 14"/>
          <p:cNvSpPr txBox="1"/>
          <p:nvPr/>
        </p:nvSpPr>
        <p:spPr>
          <a:xfrm>
            <a:off x="6964528" y="2660904"/>
            <a:ext cx="4495648" cy="786384"/>
          </a:xfrm>
          <a:prstGeom prst="rect">
            <a:avLst/>
          </a:prstGeom>
          <a:noFill/>
          <a:ln/>
        </p:spPr>
        <p:txBody>
          <a:bodyPr wrap="square" lIns="0" tIns="0" rIns="0" bIns="0" rtlCol="0" anchor="ctr"/>
          <a:lstStyle/>
          <a:p>
            <a:pPr indent="0" marL="0">
              <a:lnSpc>
                <a:spcPct val="105000"/>
              </a:lnSpc>
              <a:buNone/>
            </a:pPr>
            <a:r>
              <a:rPr lang="en-US" sz="1200" dirty="0">
                <a:solidFill>
                  <a:srgbClr val="2E1015"/>
                </a:solidFill>
                <a:latin typeface="Calibri" pitchFamily="34" charset="0"/>
                <a:ea typeface="Calibri" pitchFamily="34" charset="-122"/>
                <a:cs typeface="Calibri" pitchFamily="34" charset="-120"/>
              </a:rPr>
              <a:t>Quemaduras extensas (después de las primeras 24–48 h y hasta ~1–2 años)</a:t>
            </a:r>
            <a:endParaRPr lang="en-US" sz="1200" dirty="0"/>
          </a:p>
        </p:txBody>
      </p:sp>
      <p:sp>
        <p:nvSpPr>
          <p:cNvPr id="22" name="Shape 15"/>
          <p:cNvSpPr/>
          <p:nvPr/>
        </p:nvSpPr>
        <p:spPr>
          <a:xfrm>
            <a:off x="548640" y="3666744"/>
            <a:ext cx="5410048" cy="932688"/>
          </a:xfrm>
          <a:prstGeom prst="roundRect">
            <a:avLst>
              <a:gd name="adj" fmla="val 7843"/>
            </a:avLst>
          </a:prstGeom>
          <a:solidFill>
            <a:srgbClr val="FBEEEC"/>
          </a:solidFill>
          <a:ln w="12700">
            <a:solidFill>
              <a:srgbClr val="F0DFDD"/>
            </a:solidFill>
            <a:prstDash val="solid"/>
          </a:ln>
        </p:spPr>
      </p:sp>
      <p:sp>
        <p:nvSpPr>
          <p:cNvPr id="23" name="Shape 16"/>
          <p:cNvSpPr/>
          <p:nvPr/>
        </p:nvSpPr>
        <p:spPr>
          <a:xfrm>
            <a:off x="694944" y="3858768"/>
            <a:ext cx="457200" cy="457200"/>
          </a:xfrm>
          <a:prstGeom prst="ellipse">
            <a:avLst/>
          </a:prstGeom>
          <a:solidFill>
            <a:srgbClr val="7A1F2B"/>
          </a:solidFill>
          <a:ln/>
        </p:spPr>
      </p:sp>
      <p:pic>
        <p:nvPicPr>
          <p:cNvPr id="24" name="Image 5" descr="/tmp/claude-0/-home-user-gpa-academy1/adc6e4aa-3b77-57c1-ba92-a8d4ee625c84/scratchpad/relajantes/icons/ban_FFFFFF.png">    </p:cNvPr>
          <p:cNvPicPr>
            <a:picLocks noChangeAspect="1"/>
          </p:cNvPicPr>
          <p:nvPr/>
        </p:nvPicPr>
        <p:blipFill>
          <a:blip r:embed="rId6"/>
          <a:stretch>
            <a:fillRect/>
          </a:stretch>
        </p:blipFill>
        <p:spPr>
          <a:xfrm>
            <a:off x="758952" y="3922776"/>
            <a:ext cx="329184" cy="329184"/>
          </a:xfrm>
          <a:prstGeom prst="rect">
            <a:avLst/>
          </a:prstGeom>
        </p:spPr>
      </p:pic>
      <p:sp>
        <p:nvSpPr>
          <p:cNvPr id="25" name="Text 17"/>
          <p:cNvSpPr txBox="1"/>
          <p:nvPr/>
        </p:nvSpPr>
        <p:spPr>
          <a:xfrm>
            <a:off x="1280160" y="3739896"/>
            <a:ext cx="4495648" cy="786384"/>
          </a:xfrm>
          <a:prstGeom prst="rect">
            <a:avLst/>
          </a:prstGeom>
          <a:noFill/>
          <a:ln/>
        </p:spPr>
        <p:txBody>
          <a:bodyPr wrap="square" lIns="0" tIns="0" rIns="0" bIns="0" rtlCol="0" anchor="ctr"/>
          <a:lstStyle/>
          <a:p>
            <a:pPr indent="0" marL="0">
              <a:lnSpc>
                <a:spcPct val="105000"/>
              </a:lnSpc>
              <a:buNone/>
            </a:pPr>
            <a:r>
              <a:rPr lang="en-US" sz="1200" dirty="0">
                <a:solidFill>
                  <a:srgbClr val="2E1015"/>
                </a:solidFill>
                <a:latin typeface="Calibri" pitchFamily="34" charset="0"/>
                <a:ea typeface="Calibri" pitchFamily="34" charset="-122"/>
                <a:cs typeface="Calibri" pitchFamily="34" charset="-120"/>
              </a:rPr>
              <a:t>Lesión medular o denervación establecida (después de las primeras 24–48 h)</a:t>
            </a:r>
            <a:endParaRPr lang="en-US" sz="1200" dirty="0"/>
          </a:p>
        </p:txBody>
      </p:sp>
      <p:sp>
        <p:nvSpPr>
          <p:cNvPr id="26" name="Shape 18"/>
          <p:cNvSpPr/>
          <p:nvPr/>
        </p:nvSpPr>
        <p:spPr>
          <a:xfrm>
            <a:off x="6233008" y="3666744"/>
            <a:ext cx="5410048" cy="932688"/>
          </a:xfrm>
          <a:prstGeom prst="roundRect">
            <a:avLst>
              <a:gd name="adj" fmla="val 7843"/>
            </a:avLst>
          </a:prstGeom>
          <a:solidFill>
            <a:srgbClr val="FBEEEC"/>
          </a:solidFill>
          <a:ln w="12700">
            <a:solidFill>
              <a:srgbClr val="F0DFDD"/>
            </a:solidFill>
            <a:prstDash val="solid"/>
          </a:ln>
        </p:spPr>
      </p:sp>
      <p:sp>
        <p:nvSpPr>
          <p:cNvPr id="27" name="Shape 19"/>
          <p:cNvSpPr/>
          <p:nvPr/>
        </p:nvSpPr>
        <p:spPr>
          <a:xfrm>
            <a:off x="6379312" y="3858768"/>
            <a:ext cx="457200" cy="457200"/>
          </a:xfrm>
          <a:prstGeom prst="ellipse">
            <a:avLst/>
          </a:prstGeom>
          <a:solidFill>
            <a:srgbClr val="7A1F2B"/>
          </a:solidFill>
          <a:ln/>
        </p:spPr>
      </p:sp>
      <p:pic>
        <p:nvPicPr>
          <p:cNvPr id="28" name="Image 6" descr="/tmp/claude-0/-home-user-gpa-academy1/adc6e4aa-3b77-57c1-ba92-a8d4ee625c84/scratchpad/relajantes/icons/ban_FFFFFF.png">    </p:cNvPr>
          <p:cNvPicPr>
            <a:picLocks noChangeAspect="1"/>
          </p:cNvPicPr>
          <p:nvPr/>
        </p:nvPicPr>
        <p:blipFill>
          <a:blip r:embed="rId7"/>
          <a:stretch>
            <a:fillRect/>
          </a:stretch>
        </p:blipFill>
        <p:spPr>
          <a:xfrm>
            <a:off x="6443320" y="3922776"/>
            <a:ext cx="329184" cy="329184"/>
          </a:xfrm>
          <a:prstGeom prst="rect">
            <a:avLst/>
          </a:prstGeom>
        </p:spPr>
      </p:pic>
      <p:sp>
        <p:nvSpPr>
          <p:cNvPr id="29" name="Text 20"/>
          <p:cNvSpPr txBox="1"/>
          <p:nvPr/>
        </p:nvSpPr>
        <p:spPr>
          <a:xfrm>
            <a:off x="6964528" y="3739896"/>
            <a:ext cx="4495648" cy="786384"/>
          </a:xfrm>
          <a:prstGeom prst="rect">
            <a:avLst/>
          </a:prstGeom>
          <a:noFill/>
          <a:ln/>
        </p:spPr>
        <p:txBody>
          <a:bodyPr wrap="square" lIns="0" tIns="0" rIns="0" bIns="0" rtlCol="0" anchor="ctr"/>
          <a:lstStyle/>
          <a:p>
            <a:pPr indent="0" marL="0">
              <a:lnSpc>
                <a:spcPct val="105000"/>
              </a:lnSpc>
              <a:buNone/>
            </a:pPr>
            <a:r>
              <a:rPr lang="en-US" sz="1200" dirty="0">
                <a:solidFill>
                  <a:srgbClr val="2E1015"/>
                </a:solidFill>
                <a:latin typeface="Calibri" pitchFamily="34" charset="0"/>
                <a:ea typeface="Calibri" pitchFamily="34" charset="-122"/>
                <a:cs typeface="Calibri" pitchFamily="34" charset="-120"/>
              </a:rPr>
              <a:t>Inmovilización prolongada / gran quemado / sepsis grave prolongada</a:t>
            </a:r>
            <a:endParaRPr lang="en-US" sz="1200" dirty="0"/>
          </a:p>
        </p:txBody>
      </p:sp>
      <p:sp>
        <p:nvSpPr>
          <p:cNvPr id="30" name="Shape 21"/>
          <p:cNvSpPr/>
          <p:nvPr/>
        </p:nvSpPr>
        <p:spPr>
          <a:xfrm>
            <a:off x="548640" y="4745736"/>
            <a:ext cx="5410048" cy="932688"/>
          </a:xfrm>
          <a:prstGeom prst="roundRect">
            <a:avLst>
              <a:gd name="adj" fmla="val 7843"/>
            </a:avLst>
          </a:prstGeom>
          <a:solidFill>
            <a:srgbClr val="FBEEEC"/>
          </a:solidFill>
          <a:ln w="12700">
            <a:solidFill>
              <a:srgbClr val="F0DFDD"/>
            </a:solidFill>
            <a:prstDash val="solid"/>
          </a:ln>
        </p:spPr>
      </p:sp>
      <p:sp>
        <p:nvSpPr>
          <p:cNvPr id="31" name="Shape 22"/>
          <p:cNvSpPr/>
          <p:nvPr/>
        </p:nvSpPr>
        <p:spPr>
          <a:xfrm>
            <a:off x="694944" y="4937760"/>
            <a:ext cx="457200" cy="457200"/>
          </a:xfrm>
          <a:prstGeom prst="ellipse">
            <a:avLst/>
          </a:prstGeom>
          <a:solidFill>
            <a:srgbClr val="7A1F2B"/>
          </a:solidFill>
          <a:ln/>
        </p:spPr>
      </p:sp>
      <p:pic>
        <p:nvPicPr>
          <p:cNvPr id="32" name="Image 7" descr="/tmp/claude-0/-home-user-gpa-academy1/adc6e4aa-3b77-57c1-ba92-a8d4ee625c84/scratchpad/relajantes/icons/ban_FFFFFF.png">    </p:cNvPr>
          <p:cNvPicPr>
            <a:picLocks noChangeAspect="1"/>
          </p:cNvPicPr>
          <p:nvPr/>
        </p:nvPicPr>
        <p:blipFill>
          <a:blip r:embed="rId8"/>
          <a:stretch>
            <a:fillRect/>
          </a:stretch>
        </p:blipFill>
        <p:spPr>
          <a:xfrm>
            <a:off x="758952" y="5001768"/>
            <a:ext cx="329184" cy="329184"/>
          </a:xfrm>
          <a:prstGeom prst="rect">
            <a:avLst/>
          </a:prstGeom>
        </p:spPr>
      </p:pic>
      <p:sp>
        <p:nvSpPr>
          <p:cNvPr id="33" name="Text 23"/>
          <p:cNvSpPr txBox="1"/>
          <p:nvPr/>
        </p:nvSpPr>
        <p:spPr>
          <a:xfrm>
            <a:off x="1280160" y="4818888"/>
            <a:ext cx="4495648" cy="786384"/>
          </a:xfrm>
          <a:prstGeom prst="rect">
            <a:avLst/>
          </a:prstGeom>
          <a:noFill/>
          <a:ln/>
        </p:spPr>
        <p:txBody>
          <a:bodyPr wrap="square" lIns="0" tIns="0" rIns="0" bIns="0" rtlCol="0" anchor="ctr"/>
          <a:lstStyle/>
          <a:p>
            <a:pPr indent="0" marL="0">
              <a:lnSpc>
                <a:spcPct val="105000"/>
              </a:lnSpc>
              <a:buNone/>
            </a:pPr>
            <a:r>
              <a:rPr lang="en-US" sz="1200" dirty="0">
                <a:solidFill>
                  <a:srgbClr val="2E1015"/>
                </a:solidFill>
                <a:latin typeface="Calibri" pitchFamily="34" charset="0"/>
                <a:ea typeface="Calibri" pitchFamily="34" charset="-122"/>
                <a:cs typeface="Calibri" pitchFamily="34" charset="-120"/>
              </a:rPr>
              <a:t>Deficiencia conocida de pseudocolinesterasa</a:t>
            </a:r>
            <a:endParaRPr lang="en-US" sz="1200" dirty="0"/>
          </a:p>
        </p:txBody>
      </p:sp>
      <p:sp>
        <p:nvSpPr>
          <p:cNvPr id="34" name="Shape 24"/>
          <p:cNvSpPr/>
          <p:nvPr/>
        </p:nvSpPr>
        <p:spPr>
          <a:xfrm>
            <a:off x="6233008" y="4745736"/>
            <a:ext cx="5410048" cy="932688"/>
          </a:xfrm>
          <a:prstGeom prst="roundRect">
            <a:avLst>
              <a:gd name="adj" fmla="val 7843"/>
            </a:avLst>
          </a:prstGeom>
          <a:solidFill>
            <a:srgbClr val="FBEEEC"/>
          </a:solidFill>
          <a:ln w="12700">
            <a:solidFill>
              <a:srgbClr val="F0DFDD"/>
            </a:solidFill>
            <a:prstDash val="solid"/>
          </a:ln>
        </p:spPr>
      </p:sp>
      <p:sp>
        <p:nvSpPr>
          <p:cNvPr id="35" name="Shape 25"/>
          <p:cNvSpPr/>
          <p:nvPr/>
        </p:nvSpPr>
        <p:spPr>
          <a:xfrm>
            <a:off x="6379312" y="4937760"/>
            <a:ext cx="457200" cy="457200"/>
          </a:xfrm>
          <a:prstGeom prst="ellipse">
            <a:avLst/>
          </a:prstGeom>
          <a:solidFill>
            <a:srgbClr val="7A1F2B"/>
          </a:solidFill>
          <a:ln/>
        </p:spPr>
      </p:sp>
      <p:pic>
        <p:nvPicPr>
          <p:cNvPr id="36" name="Image 8" descr="/tmp/claude-0/-home-user-gpa-academy1/adc6e4aa-3b77-57c1-ba92-a8d4ee625c84/scratchpad/relajantes/icons/ban_FFFFFF.png">    </p:cNvPr>
          <p:cNvPicPr>
            <a:picLocks noChangeAspect="1"/>
          </p:cNvPicPr>
          <p:nvPr/>
        </p:nvPicPr>
        <p:blipFill>
          <a:blip r:embed="rId9"/>
          <a:stretch>
            <a:fillRect/>
          </a:stretch>
        </p:blipFill>
        <p:spPr>
          <a:xfrm>
            <a:off x="6443320" y="5001768"/>
            <a:ext cx="329184" cy="329184"/>
          </a:xfrm>
          <a:prstGeom prst="rect">
            <a:avLst/>
          </a:prstGeom>
        </p:spPr>
      </p:pic>
      <p:sp>
        <p:nvSpPr>
          <p:cNvPr id="37" name="Text 26"/>
          <p:cNvSpPr txBox="1"/>
          <p:nvPr/>
        </p:nvSpPr>
        <p:spPr>
          <a:xfrm>
            <a:off x="6964528" y="4818888"/>
            <a:ext cx="4495648" cy="786384"/>
          </a:xfrm>
          <a:prstGeom prst="rect">
            <a:avLst/>
          </a:prstGeom>
          <a:noFill/>
          <a:ln/>
        </p:spPr>
        <p:txBody>
          <a:bodyPr wrap="square" lIns="0" tIns="0" rIns="0" bIns="0" rtlCol="0" anchor="ctr"/>
          <a:lstStyle/>
          <a:p>
            <a:pPr indent="0" marL="0">
              <a:lnSpc>
                <a:spcPct val="105000"/>
              </a:lnSpc>
              <a:buNone/>
            </a:pPr>
            <a:r>
              <a:rPr lang="en-US" sz="1200" dirty="0">
                <a:solidFill>
                  <a:srgbClr val="2E1015"/>
                </a:solidFill>
                <a:latin typeface="Calibri" pitchFamily="34" charset="0"/>
                <a:ea typeface="Calibri" pitchFamily="34" charset="-122"/>
                <a:cs typeface="Calibri" pitchFamily="34" charset="-120"/>
              </a:rPr>
              <a:t>Antecedente de rabdomiólisis inducida por anestésicos</a:t>
            </a:r>
            <a:endParaRPr lang="en-US" sz="1200" dirty="0"/>
          </a:p>
        </p:txBody>
      </p:sp>
      <p:sp>
        <p:nvSpPr>
          <p:cNvPr id="38" name="Text 27"/>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39" name="Text 2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balance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COMPETENCIA POR EL RECEPTOR</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Relajantes no despolarizantes — mecanismo de acción</a:t>
            </a:r>
            <a:endParaRPr lang="en-US" sz="2700" dirty="0"/>
          </a:p>
        </p:txBody>
      </p:sp>
      <p:sp>
        <p:nvSpPr>
          <p:cNvPr id="6" name="Text 3"/>
          <p:cNvSpPr txBox="1"/>
          <p:nvPr/>
        </p:nvSpPr>
        <p:spPr>
          <a:xfrm>
            <a:off x="548640" y="1508760"/>
            <a:ext cx="6309360" cy="4572000"/>
          </a:xfrm>
          <a:prstGeom prst="rect">
            <a:avLst/>
          </a:prstGeom>
          <a:noFill/>
          <a:ln/>
        </p:spPr>
        <p:txBody>
          <a:bodyPr wrap="square" lIns="0" tIns="0" rIns="0" bIns="0" rtlCol="0" anchor="t"/>
          <a:lstStyle/>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Se unen reversiblemente a las subunidades α del receptor nicotínico sin activarlo, impidiendo el acceso y la acción de la acetilcolina (antagonismo competitivo).</a:t>
            </a:r>
            <a:endParaRPr lang="en-US" sz="1300" dirty="0"/>
          </a:p>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El grado de bloqueo depende de la concentración relativa fármaco/ACh en la hendidura sináptica; puede desplazarse aumentando la disponibilidad de ACh (anticolinesterásicos).</a:t>
            </a:r>
            <a:endParaRPr lang="en-US" sz="1300" dirty="0"/>
          </a:p>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No se requiere ocupar ambas subunidades α para bloquear: basta con una para impedir la apertura del canal.</a:t>
            </a:r>
            <a:endParaRPr lang="en-US" sz="1300" dirty="0"/>
          </a:p>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No producen despolarización previa, por lo que no hay fasciculaciones ni las alteraciones de K+ propias de la succinilcolina.</a:t>
            </a:r>
            <a:endParaRPr lang="en-US" sz="1300" dirty="0"/>
          </a:p>
          <a:p>
            <a:pPr marL="203200" indent="-203200">
              <a:lnSpc>
                <a:spcPct val="108000"/>
              </a:lnSpc>
              <a:spcAft>
                <a:spcPts val="1200"/>
              </a:spcAft>
              <a:buSzPct val="100000"/>
              <a:buChar char="•"/>
            </a:pPr>
            <a:r>
              <a:rPr lang="en-US" sz="1300" dirty="0">
                <a:solidFill>
                  <a:srgbClr val="3D2226"/>
                </a:solidFill>
                <a:latin typeface="Calibri" pitchFamily="34" charset="0"/>
                <a:ea typeface="Calibri" pitchFamily="34" charset="-122"/>
                <a:cs typeface="Calibri" pitchFamily="34" charset="-120"/>
              </a:rPr>
              <a:t>Presentan “fade” característico en la respuesta al tren de cuatro y facilitación postetánica, a diferencia del bloqueo despolarizante puro.</a:t>
            </a:r>
            <a:endParaRPr lang="en-US" sz="1300" dirty="0"/>
          </a:p>
        </p:txBody>
      </p:sp>
      <p:sp>
        <p:nvSpPr>
          <p:cNvPr id="7" name="Shape 4"/>
          <p:cNvSpPr/>
          <p:nvPr/>
        </p:nvSpPr>
        <p:spPr>
          <a:xfrm>
            <a:off x="7223760" y="1508760"/>
            <a:ext cx="4419295" cy="4572000"/>
          </a:xfrm>
          <a:prstGeom prst="roundRect">
            <a:avLst>
              <a:gd name="adj" fmla="val 165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8" name="Text 5"/>
          <p:cNvSpPr txBox="1"/>
          <p:nvPr/>
        </p:nvSpPr>
        <p:spPr>
          <a:xfrm>
            <a:off x="7498080" y="1737360"/>
            <a:ext cx="3870655" cy="274320"/>
          </a:xfrm>
          <a:prstGeom prst="rect">
            <a:avLst/>
          </a:prstGeom>
          <a:noFill/>
          <a:ln/>
        </p:spPr>
        <p:txBody>
          <a:bodyPr wrap="square" lIns="0" tIns="0" rIns="0" bIns="0" rtlCol="0" anchor="ctr"/>
          <a:lstStyle/>
          <a:p>
            <a:pPr indent="0" marL="0">
              <a:buNone/>
            </a:pPr>
            <a:r>
              <a:rPr lang="en-US" sz="1100" b="1" spc="130" kern="0" dirty="0">
                <a:solidFill>
                  <a:srgbClr val="7A1F2B"/>
                </a:solidFill>
                <a:latin typeface="Calibri" pitchFamily="34" charset="0"/>
                <a:ea typeface="Calibri" pitchFamily="34" charset="-122"/>
                <a:cs typeface="Calibri" pitchFamily="34" charset="-120"/>
              </a:rPr>
              <a:t>COMPETENCIA EN EL RECEPTOR</a:t>
            </a:r>
            <a:endParaRPr lang="en-US" sz="1100" dirty="0"/>
          </a:p>
        </p:txBody>
      </p:sp>
      <p:sp>
        <p:nvSpPr>
          <p:cNvPr id="9" name="Shape 6"/>
          <p:cNvSpPr/>
          <p:nvPr/>
        </p:nvSpPr>
        <p:spPr>
          <a:xfrm>
            <a:off x="7589520" y="2468880"/>
            <a:ext cx="3687775" cy="457200"/>
          </a:xfrm>
          <a:prstGeom prst="roundRect">
            <a:avLst>
              <a:gd name="adj" fmla="val 16000"/>
            </a:avLst>
          </a:prstGeom>
          <a:solidFill>
            <a:srgbClr val="3A1420"/>
          </a:solidFill>
          <a:ln/>
        </p:spPr>
      </p:sp>
      <p:sp>
        <p:nvSpPr>
          <p:cNvPr id="10" name="Text 7"/>
          <p:cNvSpPr txBox="1"/>
          <p:nvPr/>
        </p:nvSpPr>
        <p:spPr>
          <a:xfrm>
            <a:off x="7589520" y="2523744"/>
            <a:ext cx="3687775"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Receptor nicotínico</a:t>
            </a:r>
            <a:endParaRPr lang="en-US" sz="1050" dirty="0"/>
          </a:p>
        </p:txBody>
      </p:sp>
      <p:sp>
        <p:nvSpPr>
          <p:cNvPr id="11" name="Shape 8"/>
          <p:cNvSpPr/>
          <p:nvPr/>
        </p:nvSpPr>
        <p:spPr>
          <a:xfrm>
            <a:off x="7726680" y="3154680"/>
            <a:ext cx="365760" cy="365760"/>
          </a:xfrm>
          <a:prstGeom prst="ellipse">
            <a:avLst/>
          </a:prstGeom>
          <a:solidFill>
            <a:srgbClr val="E8A33D"/>
          </a:solidFill>
          <a:ln/>
        </p:spPr>
      </p:sp>
      <p:sp>
        <p:nvSpPr>
          <p:cNvPr id="12" name="Text 9"/>
          <p:cNvSpPr txBox="1"/>
          <p:nvPr/>
        </p:nvSpPr>
        <p:spPr>
          <a:xfrm>
            <a:off x="7589520" y="3538728"/>
            <a:ext cx="640080" cy="228600"/>
          </a:xfrm>
          <a:prstGeom prst="rect">
            <a:avLst/>
          </a:prstGeom>
          <a:noFill/>
          <a:ln/>
        </p:spPr>
        <p:txBody>
          <a:bodyPr wrap="square" lIns="0" tIns="0" rIns="0" bIns="0" rtlCol="0" anchor="ctr"/>
          <a:lstStyle/>
          <a:p>
            <a:pPr algn="ctr" indent="0" marL="0">
              <a:buNone/>
            </a:pPr>
            <a:r>
              <a:rPr lang="en-US" sz="900" dirty="0">
                <a:solidFill>
                  <a:srgbClr val="7A5B5F"/>
                </a:solidFill>
                <a:latin typeface="Calibri" pitchFamily="34" charset="0"/>
                <a:ea typeface="Calibri" pitchFamily="34" charset="-122"/>
                <a:cs typeface="Calibri" pitchFamily="34" charset="-120"/>
              </a:rPr>
              <a:t>ACh</a:t>
            </a:r>
            <a:endParaRPr lang="en-US" sz="900" dirty="0"/>
          </a:p>
        </p:txBody>
      </p:sp>
      <p:sp>
        <p:nvSpPr>
          <p:cNvPr id="13" name="Shape 10"/>
          <p:cNvSpPr/>
          <p:nvPr/>
        </p:nvSpPr>
        <p:spPr>
          <a:xfrm>
            <a:off x="8321040" y="3108960"/>
            <a:ext cx="685800" cy="457200"/>
          </a:xfrm>
          <a:prstGeom prst="roundRect">
            <a:avLst>
              <a:gd name="adj" fmla="val 20000"/>
            </a:avLst>
          </a:prstGeom>
          <a:solidFill>
            <a:srgbClr val="7A1F2B"/>
          </a:solidFill>
          <a:ln/>
        </p:spPr>
      </p:sp>
      <p:sp>
        <p:nvSpPr>
          <p:cNvPr id="14" name="Text 11"/>
          <p:cNvSpPr txBox="1"/>
          <p:nvPr/>
        </p:nvSpPr>
        <p:spPr>
          <a:xfrm>
            <a:off x="8321040" y="3200400"/>
            <a:ext cx="685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BNM</a:t>
            </a:r>
            <a:endParaRPr lang="en-US" sz="1000" dirty="0"/>
          </a:p>
        </p:txBody>
      </p:sp>
      <p:sp>
        <p:nvSpPr>
          <p:cNvPr id="15" name="Text 12"/>
          <p:cNvSpPr txBox="1"/>
          <p:nvPr/>
        </p:nvSpPr>
        <p:spPr>
          <a:xfrm>
            <a:off x="8046720" y="3611880"/>
            <a:ext cx="1280160" cy="457200"/>
          </a:xfrm>
          <a:prstGeom prst="rect">
            <a:avLst/>
          </a:prstGeom>
          <a:noFill/>
          <a:ln/>
        </p:spPr>
        <p:txBody>
          <a:bodyPr wrap="square" lIns="0" tIns="0" rIns="0" bIns="0" rtlCol="0" anchor="ctr"/>
          <a:lstStyle/>
          <a:p>
            <a:pPr algn="ctr" indent="0" marL="0">
              <a:buNone/>
            </a:pPr>
            <a:r>
              <a:rPr lang="en-US" sz="900" dirty="0">
                <a:solidFill>
                  <a:srgbClr val="7A5B5F"/>
                </a:solidFill>
                <a:latin typeface="Calibri" pitchFamily="34" charset="0"/>
                <a:ea typeface="Calibri" pitchFamily="34" charset="-122"/>
                <a:cs typeface="Calibri" pitchFamily="34" charset="-120"/>
              </a:rPr>
              <a:t>Bloqueante</a:t>
            </a:r>
            <a:endParaRPr lang="en-US" sz="900" dirty="0"/>
          </a:p>
          <a:p>
            <a:pPr algn="ctr" indent="0" marL="0">
              <a:buNone/>
            </a:pPr>
            <a:r>
              <a:rPr lang="en-US" sz="900" dirty="0">
                <a:solidFill>
                  <a:srgbClr val="7A5B5F"/>
                </a:solidFill>
                <a:latin typeface="Calibri" pitchFamily="34" charset="0"/>
                <a:ea typeface="Calibri" pitchFamily="34" charset="-122"/>
                <a:cs typeface="Calibri" pitchFamily="34" charset="-120"/>
              </a:rPr>
              <a:t>ocupando el sitio</a:t>
            </a:r>
            <a:endParaRPr lang="en-US" sz="900" dirty="0"/>
          </a:p>
        </p:txBody>
      </p:sp>
      <p:sp>
        <p:nvSpPr>
          <p:cNvPr id="16" name="Text 13"/>
          <p:cNvSpPr txBox="1"/>
          <p:nvPr/>
        </p:nvSpPr>
        <p:spPr>
          <a:xfrm>
            <a:off x="7498080" y="4251960"/>
            <a:ext cx="3870655" cy="822960"/>
          </a:xfrm>
          <a:prstGeom prst="rect">
            <a:avLst/>
          </a:prstGeom>
          <a:noFill/>
          <a:ln/>
        </p:spPr>
        <p:txBody>
          <a:bodyPr wrap="square" lIns="0" tIns="0" rIns="0" bIns="0" rtlCol="0" anchor="t"/>
          <a:lstStyle/>
          <a:p>
            <a:pPr indent="0" marL="0">
              <a:lnSpc>
                <a:spcPct val="110000"/>
              </a:lnSpc>
              <a:buNone/>
            </a:pPr>
            <a:r>
              <a:rPr lang="en-US" sz="1050" i="1" dirty="0">
                <a:solidFill>
                  <a:srgbClr val="3D2226"/>
                </a:solidFill>
                <a:latin typeface="Calibri" pitchFamily="34" charset="0"/>
                <a:ea typeface="Calibri" pitchFamily="34" charset="-122"/>
                <a:cs typeface="Calibri" pitchFamily="34" charset="-120"/>
              </a:rPr>
              <a:t>“Gana” quien ocupe más receptores: más BNM = más bloqueo; más ACh (p. ej. por anticolinesterásicos) = reversión del bloqueo.</a:t>
            </a:r>
            <a:endParaRPr lang="en-US" sz="1050" dirty="0"/>
          </a:p>
        </p:txBody>
      </p:sp>
      <p:sp>
        <p:nvSpPr>
          <p:cNvPr id="17" name="Text 14"/>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18" name="Text 1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sitemap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DOS FAMILIAS QUÍMICAS</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No despolarizantes según su estructura química</a:t>
            </a:r>
            <a:endParaRPr lang="en-US" sz="2700" dirty="0"/>
          </a:p>
        </p:txBody>
      </p:sp>
      <p:sp>
        <p:nvSpPr>
          <p:cNvPr id="6" name="Shape 3"/>
          <p:cNvSpPr/>
          <p:nvPr/>
        </p:nvSpPr>
        <p:spPr>
          <a:xfrm>
            <a:off x="548640" y="1508760"/>
            <a:ext cx="5364328" cy="4572000"/>
          </a:xfrm>
          <a:prstGeom prst="roundRect">
            <a:avLst>
              <a:gd name="adj" fmla="val 1600"/>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822960" y="1783080"/>
            <a:ext cx="548640" cy="548640"/>
          </a:xfrm>
          <a:prstGeom prst="ellipse">
            <a:avLst/>
          </a:prstGeom>
          <a:solidFill>
            <a:srgbClr val="7A1F2B"/>
          </a:solidFill>
          <a:ln/>
        </p:spPr>
      </p:sp>
      <p:pic>
        <p:nvPicPr>
          <p:cNvPr id="8" name="Image 1" descr="/tmp/claude-0/-home-user-gpa-academy1/adc6e4aa-3b77-57c1-ba92-a8d4ee625c84/scratchpad/relajantes/icons/flask_FFFFFF.png">    </p:cNvPr>
          <p:cNvPicPr>
            <a:picLocks noChangeAspect="1"/>
          </p:cNvPicPr>
          <p:nvPr/>
        </p:nvPicPr>
        <p:blipFill>
          <a:blip r:embed="rId2"/>
          <a:stretch>
            <a:fillRect/>
          </a:stretch>
        </p:blipFill>
        <p:spPr>
          <a:xfrm>
            <a:off x="899770" y="1859890"/>
            <a:ext cx="395021" cy="395021"/>
          </a:xfrm>
          <a:prstGeom prst="rect">
            <a:avLst/>
          </a:prstGeom>
        </p:spPr>
      </p:pic>
      <p:sp>
        <p:nvSpPr>
          <p:cNvPr id="9" name="Text 5"/>
          <p:cNvSpPr txBox="1"/>
          <p:nvPr/>
        </p:nvSpPr>
        <p:spPr>
          <a:xfrm>
            <a:off x="1508760" y="1828800"/>
            <a:ext cx="4175608" cy="457200"/>
          </a:xfrm>
          <a:prstGeom prst="rect">
            <a:avLst/>
          </a:prstGeom>
          <a:noFill/>
          <a:ln/>
        </p:spPr>
        <p:txBody>
          <a:bodyPr wrap="square" lIns="0" tIns="0" rIns="0" bIns="0" rtlCol="0" anchor="ctr"/>
          <a:lstStyle/>
          <a:p>
            <a:pPr indent="0" marL="0">
              <a:buNone/>
            </a:pPr>
            <a:r>
              <a:rPr lang="en-US" sz="1700" b="1" dirty="0">
                <a:solidFill>
                  <a:srgbClr val="7A1F2B"/>
                </a:solidFill>
                <a:latin typeface="Cambria" pitchFamily="34" charset="0"/>
                <a:ea typeface="Cambria" pitchFamily="34" charset="-122"/>
                <a:cs typeface="Cambria" pitchFamily="34" charset="-120"/>
              </a:rPr>
              <a:t>Aminoesteroides</a:t>
            </a:r>
            <a:endParaRPr lang="en-US" sz="1700" dirty="0"/>
          </a:p>
        </p:txBody>
      </p:sp>
      <p:sp>
        <p:nvSpPr>
          <p:cNvPr id="10" name="Text 6"/>
          <p:cNvSpPr txBox="1"/>
          <p:nvPr/>
        </p:nvSpPr>
        <p:spPr>
          <a:xfrm>
            <a:off x="822960" y="2423160"/>
            <a:ext cx="4815688" cy="347472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Núcleo esteroide (androstano) con grupos amonio cuaternario.</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Ejemplos: pancuronio, vecuronio, rocuronio.</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Metabolismo hepático variable; algunos generan metabolitos activos (3-OH, 17-OH).</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Eliminación combinada hepatobiliar y renal en proporciones variables según el fármaco.</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Pancuronio y (en menor grado) rocuronio pueden tener efectos vagolíticos leves.</a:t>
            </a:r>
            <a:endParaRPr lang="en-US" sz="1200" dirty="0"/>
          </a:p>
        </p:txBody>
      </p:sp>
      <p:sp>
        <p:nvSpPr>
          <p:cNvPr id="11" name="Shape 7"/>
          <p:cNvSpPr/>
          <p:nvPr/>
        </p:nvSpPr>
        <p:spPr>
          <a:xfrm>
            <a:off x="6278728" y="1508760"/>
            <a:ext cx="5364328" cy="4572000"/>
          </a:xfrm>
          <a:prstGeom prst="roundRect">
            <a:avLst>
              <a:gd name="adj" fmla="val 1600"/>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2" name="Shape 8"/>
          <p:cNvSpPr/>
          <p:nvPr/>
        </p:nvSpPr>
        <p:spPr>
          <a:xfrm>
            <a:off x="6553048" y="1783080"/>
            <a:ext cx="548640" cy="548640"/>
          </a:xfrm>
          <a:prstGeom prst="ellipse">
            <a:avLst/>
          </a:prstGeom>
          <a:solidFill>
            <a:srgbClr val="C1666B"/>
          </a:solidFill>
          <a:ln/>
        </p:spPr>
      </p:sp>
      <p:pic>
        <p:nvPicPr>
          <p:cNvPr id="13" name="Image 2" descr="/tmp/claude-0/-home-user-gpa-academy1/adc6e4aa-3b77-57c1-ba92-a8d4ee625c84/scratchpad/relajantes/icons/atom_FFFFFF.png">    </p:cNvPr>
          <p:cNvPicPr>
            <a:picLocks noChangeAspect="1"/>
          </p:cNvPicPr>
          <p:nvPr/>
        </p:nvPicPr>
        <p:blipFill>
          <a:blip r:embed="rId3"/>
          <a:stretch>
            <a:fillRect/>
          </a:stretch>
        </p:blipFill>
        <p:spPr>
          <a:xfrm>
            <a:off x="6629857" y="1859890"/>
            <a:ext cx="395021" cy="395021"/>
          </a:xfrm>
          <a:prstGeom prst="rect">
            <a:avLst/>
          </a:prstGeom>
        </p:spPr>
      </p:pic>
      <p:sp>
        <p:nvSpPr>
          <p:cNvPr id="14" name="Text 9"/>
          <p:cNvSpPr txBox="1"/>
          <p:nvPr/>
        </p:nvSpPr>
        <p:spPr>
          <a:xfrm>
            <a:off x="7238848" y="1828800"/>
            <a:ext cx="4175608" cy="457200"/>
          </a:xfrm>
          <a:prstGeom prst="rect">
            <a:avLst/>
          </a:prstGeom>
          <a:noFill/>
          <a:ln/>
        </p:spPr>
        <p:txBody>
          <a:bodyPr wrap="square" lIns="0" tIns="0" rIns="0" bIns="0" rtlCol="0" anchor="ctr"/>
          <a:lstStyle/>
          <a:p>
            <a:pPr indent="0" marL="0">
              <a:buNone/>
            </a:pPr>
            <a:r>
              <a:rPr lang="en-US" sz="1700" b="1" dirty="0">
                <a:solidFill>
                  <a:srgbClr val="C1666B"/>
                </a:solidFill>
                <a:latin typeface="Cambria" pitchFamily="34" charset="0"/>
                <a:ea typeface="Cambria" pitchFamily="34" charset="-122"/>
                <a:cs typeface="Cambria" pitchFamily="34" charset="-120"/>
              </a:rPr>
              <a:t>Bencilisoquinolinas</a:t>
            </a:r>
            <a:endParaRPr lang="en-US" sz="1700" dirty="0"/>
          </a:p>
        </p:txBody>
      </p:sp>
      <p:sp>
        <p:nvSpPr>
          <p:cNvPr id="15" name="Text 10"/>
          <p:cNvSpPr txBox="1"/>
          <p:nvPr/>
        </p:nvSpPr>
        <p:spPr>
          <a:xfrm>
            <a:off x="6553048" y="2423160"/>
            <a:ext cx="4815688" cy="347472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Estructura derivada de la benciltetrahidroisoquinolina.</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Ejemplos: atracurio, cisatracurio, mivacurio.</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Eliminación en gran parte independiente de órganos (Hofmann, esterasas plasmáticas).</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Perfil más predecible en insuficiencia hepática o renal grave.</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El atracurio se asocia a liberación de histamina dosis-dependiente; cisatracurio mucho menos.</a:t>
            </a:r>
            <a:endParaRPr lang="en-US" sz="1200" dirty="0"/>
          </a:p>
        </p:txBody>
      </p:sp>
      <p:sp>
        <p:nvSpPr>
          <p:cNvPr id="16" name="Text 11"/>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17" name="Text 1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clock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PANORAMA POR DURACIÓN</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No despolarizantes de acción corta e intermedia</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2377440"/>
        </p:xfrm>
        <a:graphic>
          <a:graphicData uri="http://schemas.openxmlformats.org/drawingml/2006/table">
            <a:tbl>
              <a:tblPr/>
              <a:tblGrid>
                <a:gridCol w="3041881"/>
                <a:gridCol w="4672667"/>
                <a:gridCol w="3379868"/>
              </a:tblGrid>
              <a:tr h="5943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Fármacos representativos</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Duración clínica aproximada</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r>
              <a:tr h="594360">
                <a:tc>
                  <a:txBody>
                    <a:bodyPr/>
                    <a:lstStyle/>
                    <a:p>
                      <a:pPr algn="l" indent="0" marL="0">
                        <a:buNone/>
                      </a:pPr>
                      <a:r>
                        <a:rPr lang="en-US" sz="1100" b="1" dirty="0">
                          <a:solidFill>
                            <a:srgbClr val="2E1015"/>
                          </a:solidFill>
                          <a:latin typeface="Calibri" pitchFamily="34" charset="0"/>
                          <a:ea typeface="Calibri" pitchFamily="34" charset="-122"/>
                          <a:cs typeface="Calibri" pitchFamily="34" charset="-120"/>
                        </a:rPr>
                        <a:t>Acción corta</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Mivacurio</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15–20 min</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594360">
                <a:tc>
                  <a:txBody>
                    <a:bodyPr/>
                    <a:lstStyle/>
                    <a:p>
                      <a:pPr algn="l" indent="0" marL="0">
                        <a:buNone/>
                      </a:pPr>
                      <a:r>
                        <a:rPr lang="en-US" sz="1100" b="1" dirty="0">
                          <a:solidFill>
                            <a:srgbClr val="2E1015"/>
                          </a:solidFill>
                          <a:latin typeface="Calibri" pitchFamily="34" charset="0"/>
                          <a:ea typeface="Calibri" pitchFamily="34" charset="-122"/>
                          <a:cs typeface="Calibri" pitchFamily="34" charset="-120"/>
                        </a:rPr>
                        <a:t>Acción intermedia</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Rocuronio, Vecuronio, Atracurio, Cisatracurio</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30–45 min</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r h="594360">
                <a:tc>
                  <a:txBody>
                    <a:bodyPr/>
                    <a:lstStyle/>
                    <a:p>
                      <a:pPr algn="l" indent="0" marL="0">
                        <a:buNone/>
                      </a:pPr>
                      <a:r>
                        <a:rPr lang="en-US" sz="1100" b="1" dirty="0">
                          <a:solidFill>
                            <a:srgbClr val="2E1015"/>
                          </a:solidFill>
                          <a:latin typeface="Calibri" pitchFamily="34" charset="0"/>
                          <a:ea typeface="Calibri" pitchFamily="34" charset="-122"/>
                          <a:cs typeface="Calibri" pitchFamily="34" charset="-120"/>
                        </a:rPr>
                        <a:t>Acción larga</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Pancuronio</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60–120 min (referencia comparativa)</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bl>
          </a:graphicData>
        </a:graphic>
      </p:graphicFrame>
      <p:sp>
        <p:nvSpPr>
          <p:cNvPr id="7" name="Text 3"/>
          <p:cNvSpPr txBox="1"/>
          <p:nvPr/>
        </p:nvSpPr>
        <p:spPr>
          <a:xfrm>
            <a:off x="548640" y="4206240"/>
            <a:ext cx="11094415" cy="192024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La mayoría de los relajantes empleados en la práctica anestésica moderna son de acción intermedia: permiten flexibilidad para procedimientos de duración variable con recuperación relativamente predecible.</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El mivacurio, metabolizado por pseudocolinesterasa plasmática (igual que la succinilcolina), es el no despolarizante de acción más corta, aunque su disponibilidad comercial es limitada en muchos países.</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La elección del fármaco depende del tiempo quirúrgico previsto, la vía de eliminación del paciente, la necesidad de reversión rápida y la disponibilidad de sugammadex.</a:t>
            </a:r>
            <a:endParaRPr lang="en-US" sz="1250" dirty="0"/>
          </a:p>
        </p:txBody>
      </p:sp>
      <p:sp>
        <p:nvSpPr>
          <p:cNvPr id="8" name="Text 4"/>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9" name="Text 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flask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AMINOESTEROIDES INTERMEDIOS</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Rocuronio y vecuronio — perfil farmacológico</a:t>
            </a:r>
            <a:endParaRPr lang="en-US" sz="2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2743200"/>
        </p:xfrm>
        <a:graphic>
          <a:graphicData uri="http://schemas.openxmlformats.org/drawingml/2006/table">
            <a:tbl>
              <a:tblPr/>
              <a:tblGrid>
                <a:gridCol w="2996241"/>
                <a:gridCol w="4044926"/>
                <a:gridCol w="4053248"/>
              </a:tblGrid>
              <a:tr h="39188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Parámetro</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Rocuronio</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Vecuronio</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r>
              <a:tr h="391886">
                <a:tc>
                  <a:txBody>
                    <a:bodyPr/>
                    <a:lstStyle/>
                    <a:p>
                      <a:pPr algn="l" indent="0" marL="0">
                        <a:buNone/>
                      </a:pPr>
                      <a:r>
                        <a:rPr lang="en-US" sz="1000" b="1" dirty="0">
                          <a:solidFill>
                            <a:srgbClr val="2E1015"/>
                          </a:solidFill>
                          <a:latin typeface="Calibri" pitchFamily="34" charset="0"/>
                          <a:ea typeface="Calibri" pitchFamily="34" charset="-122"/>
                          <a:cs typeface="Calibri" pitchFamily="34" charset="-120"/>
                        </a:rPr>
                        <a:t>Dosis de intubación</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0.6 mg/kg (1.0–1.2 mg/kg en ISR)</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0.08–0.1 mg/kg</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391886">
                <a:tc>
                  <a:txBody>
                    <a:bodyPr/>
                    <a:lstStyle/>
                    <a:p>
                      <a:pPr algn="l" indent="0" marL="0">
                        <a:buNone/>
                      </a:pPr>
                      <a:r>
                        <a:rPr lang="en-US" sz="1000" b="1" dirty="0">
                          <a:solidFill>
                            <a:srgbClr val="2E1015"/>
                          </a:solidFill>
                          <a:latin typeface="Calibri" pitchFamily="34" charset="0"/>
                          <a:ea typeface="Calibri" pitchFamily="34" charset="-122"/>
                          <a:cs typeface="Calibri" pitchFamily="34" charset="-120"/>
                        </a:rPr>
                        <a:t>Inicio de acción</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60–90 s (dosis alta ISR)</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2–3 min</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r h="391886">
                <a:tc>
                  <a:txBody>
                    <a:bodyPr/>
                    <a:lstStyle/>
                    <a:p>
                      <a:pPr algn="l" indent="0" marL="0">
                        <a:buNone/>
                      </a:pPr>
                      <a:r>
                        <a:rPr lang="en-US" sz="1000" b="1" dirty="0">
                          <a:solidFill>
                            <a:srgbClr val="2E1015"/>
                          </a:solidFill>
                          <a:latin typeface="Calibri" pitchFamily="34" charset="0"/>
                          <a:ea typeface="Calibri" pitchFamily="34" charset="-122"/>
                          <a:cs typeface="Calibri" pitchFamily="34" charset="-120"/>
                        </a:rPr>
                        <a:t>Duración clínica</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30–45 min</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30–45 min</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391886">
                <a:tc>
                  <a:txBody>
                    <a:bodyPr/>
                    <a:lstStyle/>
                    <a:p>
                      <a:pPr algn="l" indent="0" marL="0">
                        <a:buNone/>
                      </a:pPr>
                      <a:r>
                        <a:rPr lang="en-US" sz="1000" b="1" dirty="0">
                          <a:solidFill>
                            <a:srgbClr val="2E1015"/>
                          </a:solidFill>
                          <a:latin typeface="Calibri" pitchFamily="34" charset="0"/>
                          <a:ea typeface="Calibri" pitchFamily="34" charset="-122"/>
                          <a:cs typeface="Calibri" pitchFamily="34" charset="-120"/>
                        </a:rPr>
                        <a:t>Eliminación</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Hepatobiliar predominante (~70%), renal ~30%</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Hepatobiliar predominante, renal ~20–30%</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r h="391886">
                <a:tc>
                  <a:txBody>
                    <a:bodyPr/>
                    <a:lstStyle/>
                    <a:p>
                      <a:pPr algn="l" indent="0" marL="0">
                        <a:buNone/>
                      </a:pPr>
                      <a:r>
                        <a:rPr lang="en-US" sz="1000" b="1" dirty="0">
                          <a:solidFill>
                            <a:srgbClr val="2E1015"/>
                          </a:solidFill>
                          <a:latin typeface="Calibri" pitchFamily="34" charset="0"/>
                          <a:ea typeface="Calibri" pitchFamily="34" charset="-122"/>
                          <a:cs typeface="Calibri" pitchFamily="34" charset="-120"/>
                        </a:rPr>
                        <a:t>Metabolito activo</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Mínimo</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3-desacetil-vecuronio (activo, se acumula en falla renal)</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391886">
                <a:tc>
                  <a:txBody>
                    <a:bodyPr/>
                    <a:lstStyle/>
                    <a:p>
                      <a:pPr algn="l" indent="0" marL="0">
                        <a:buNone/>
                      </a:pPr>
                      <a:r>
                        <a:rPr lang="en-US" sz="1000" b="1" dirty="0">
                          <a:solidFill>
                            <a:srgbClr val="2E1015"/>
                          </a:solidFill>
                          <a:latin typeface="Calibri" pitchFamily="34" charset="0"/>
                          <a:ea typeface="Calibri" pitchFamily="34" charset="-122"/>
                          <a:cs typeface="Calibri" pitchFamily="34" charset="-120"/>
                        </a:rPr>
                        <a:t>Efecto cardiovascular</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Mínimo; sin efecto vagolítico relevante a dosis clínicas</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2226"/>
                          </a:solidFill>
                          <a:latin typeface="Calibri" pitchFamily="34" charset="0"/>
                          <a:ea typeface="Calibri" pitchFamily="34" charset="-122"/>
                          <a:cs typeface="Calibri" pitchFamily="34" charset="-120"/>
                        </a:rPr>
                        <a:t>Mínimo, hemodinámicamente muy estable</a:t>
                      </a:r>
                      <a:endParaRPr lang="en-US" sz="10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4526280"/>
            <a:ext cx="11094415" cy="146304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200" dirty="0">
                <a:solidFill>
                  <a:srgbClr val="3D2226"/>
                </a:solidFill>
                <a:latin typeface="Calibri" pitchFamily="34" charset="0"/>
                <a:ea typeface="Calibri" pitchFamily="34" charset="-122"/>
                <a:cs typeface="Calibri" pitchFamily="34" charset="-120"/>
              </a:rPr>
              <a:t>Rocuronio es el aminoesteroide de elección cuando se requiere inicio rápido sin usar succinilcolina, especialmente en intubación de secuencia rápida (dosis 1.0–1.2 mg/kg).</a:t>
            </a:r>
            <a:endParaRPr lang="en-US" sz="1200" dirty="0"/>
          </a:p>
          <a:p>
            <a:pPr marL="203200" indent="-203200">
              <a:lnSpc>
                <a:spcPct val="108000"/>
              </a:lnSpc>
              <a:spcAft>
                <a:spcPts val="800"/>
              </a:spcAft>
              <a:buSzPct val="100000"/>
              <a:buChar char="•"/>
            </a:pPr>
            <a:r>
              <a:rPr lang="en-US" sz="1200" dirty="0">
                <a:solidFill>
                  <a:srgbClr val="3D2226"/>
                </a:solidFill>
                <a:latin typeface="Calibri" pitchFamily="34" charset="0"/>
                <a:ea typeface="Calibri" pitchFamily="34" charset="-122"/>
                <a:cs typeface="Calibri" pitchFamily="34" charset="-120"/>
              </a:rPr>
              <a:t>Ambos son sustrato de sugammadex, lo que permite reversión inmediata incluso en bloqueo profundo — ventaja decisiva de rocuronio en el manejo de la vía aérea difícil.</a:t>
            </a:r>
            <a:endParaRPr lang="en-US" sz="1200" dirty="0"/>
          </a:p>
        </p:txBody>
      </p:sp>
      <p:sp>
        <p:nvSpPr>
          <p:cNvPr id="8" name="Text 4"/>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9" name="Text 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atom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ELIMINACIÓN ÓRGANO-INDEPENDIENTE</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Atracurio y cisatracurio — eliminación de Hofmann</a:t>
            </a:r>
            <a:endParaRPr lang="en-US" sz="2700" dirty="0"/>
          </a:p>
        </p:txBody>
      </p:sp>
      <p:sp>
        <p:nvSpPr>
          <p:cNvPr id="6" name="Text 3"/>
          <p:cNvSpPr txBox="1"/>
          <p:nvPr/>
        </p:nvSpPr>
        <p:spPr>
          <a:xfrm>
            <a:off x="548640" y="1508760"/>
            <a:ext cx="6217920" cy="4572000"/>
          </a:xfrm>
          <a:prstGeom prst="rect">
            <a:avLst/>
          </a:prstGeom>
          <a:noFill/>
          <a:ln/>
        </p:spPr>
        <p:txBody>
          <a:bodyPr wrap="square" lIns="0" tIns="0" rIns="0" bIns="0" rtlCol="0" anchor="t"/>
          <a:lstStyle/>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Ambos son bencilisoquinolinas que se degradan espontáneamente en el plasma por dos vías: eliminación de Hofmann (química, no enzimática) e hidrólisis por esterasas plasmáticas inespecíficas.</a:t>
            </a:r>
            <a:endParaRPr lang="en-US" sz="1250" dirty="0"/>
          </a:p>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La eliminación de Hofmann es un proceso de degradación química espontánea dependiente de la temperatura y el pH corporal, independiente de la función hepática o renal.</a:t>
            </a:r>
            <a:endParaRPr lang="en-US" sz="1250" dirty="0"/>
          </a:p>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Esto los convierte en fármacos especialmente útiles en pacientes con insuficiencia hepática o renal grave, incluyendo falla multiorgánica en UCI.</a:t>
            </a:r>
            <a:endParaRPr lang="en-US" sz="1250" dirty="0"/>
          </a:p>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Producto de la degradación: laudanosina, metabolito con potencial actividad en el SNC (relevante en infusiones prolongadas a dosis muy altas, sin significancia clínica habitual).</a:t>
            </a:r>
            <a:endParaRPr lang="en-US" sz="1250" dirty="0"/>
          </a:p>
          <a:p>
            <a:pPr marL="203200" indent="-203200">
              <a:lnSpc>
                <a:spcPct val="108000"/>
              </a:lnSpc>
              <a:spcAft>
                <a:spcPts val="1100"/>
              </a:spcAft>
              <a:buSzPct val="100000"/>
              <a:buChar char="•"/>
            </a:pPr>
            <a:r>
              <a:rPr lang="en-US" sz="1250" dirty="0">
                <a:solidFill>
                  <a:srgbClr val="3D2226"/>
                </a:solidFill>
                <a:latin typeface="Calibri" pitchFamily="34" charset="0"/>
                <a:ea typeface="Calibri" pitchFamily="34" charset="-122"/>
                <a:cs typeface="Calibri" pitchFamily="34" charset="-120"/>
              </a:rPr>
              <a:t>Cisatracurio es el isómero R-cis,R-cis del atracurio: 4 veces más potente, con mínima liberación de histamina y mayor estabilidad hemodinámica.</a:t>
            </a:r>
            <a:endParaRPr lang="en-US" sz="1250" dirty="0"/>
          </a:p>
        </p:txBody>
      </p:sp>
      <p:sp>
        <p:nvSpPr>
          <p:cNvPr id="7" name="Shape 4"/>
          <p:cNvSpPr/>
          <p:nvPr/>
        </p:nvSpPr>
        <p:spPr>
          <a:xfrm>
            <a:off x="7132320" y="1508760"/>
            <a:ext cx="4510735" cy="4572000"/>
          </a:xfrm>
          <a:prstGeom prst="roundRect">
            <a:avLst>
              <a:gd name="adj" fmla="val 1622"/>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8" name="Text 5"/>
          <p:cNvSpPr txBox="1"/>
          <p:nvPr/>
        </p:nvSpPr>
        <p:spPr>
          <a:xfrm>
            <a:off x="7406640" y="1737360"/>
            <a:ext cx="3962095" cy="274320"/>
          </a:xfrm>
          <a:prstGeom prst="rect">
            <a:avLst/>
          </a:prstGeom>
          <a:noFill/>
          <a:ln/>
        </p:spPr>
        <p:txBody>
          <a:bodyPr wrap="square" lIns="0" tIns="0" rIns="0" bIns="0" rtlCol="0" anchor="ctr"/>
          <a:lstStyle/>
          <a:p>
            <a:pPr indent="0" marL="0">
              <a:buNone/>
            </a:pPr>
            <a:r>
              <a:rPr lang="en-US" sz="1100" b="1" spc="130" kern="0" dirty="0">
                <a:solidFill>
                  <a:srgbClr val="7A1F2B"/>
                </a:solidFill>
                <a:latin typeface="Calibri" pitchFamily="34" charset="0"/>
                <a:ea typeface="Calibri" pitchFamily="34" charset="-122"/>
                <a:cs typeface="Calibri" pitchFamily="34" charset="-120"/>
              </a:rPr>
              <a:t>ELIMINACIÓN DE HOFMANN</a:t>
            </a:r>
            <a:endParaRPr lang="en-US" sz="1100" dirty="0"/>
          </a:p>
        </p:txBody>
      </p:sp>
      <p:sp>
        <p:nvSpPr>
          <p:cNvPr id="9" name="Shape 6"/>
          <p:cNvSpPr/>
          <p:nvPr/>
        </p:nvSpPr>
        <p:spPr>
          <a:xfrm>
            <a:off x="9021928" y="2148840"/>
            <a:ext cx="731520" cy="731520"/>
          </a:xfrm>
          <a:prstGeom prst="ellipse">
            <a:avLst/>
          </a:prstGeom>
          <a:solidFill>
            <a:srgbClr val="7A1F2B"/>
          </a:solidFill>
          <a:ln/>
        </p:spPr>
      </p:sp>
      <p:pic>
        <p:nvPicPr>
          <p:cNvPr id="10" name="Image 1" descr="/tmp/claude-0/-home-user-gpa-academy1/adc6e4aa-3b77-57c1-ba92-a8d4ee625c84/scratchpad/relajantes/icons/thermometer_FFFFFF.png">    </p:cNvPr>
          <p:cNvPicPr>
            <a:picLocks noChangeAspect="1"/>
          </p:cNvPicPr>
          <p:nvPr/>
        </p:nvPicPr>
        <p:blipFill>
          <a:blip r:embed="rId2"/>
          <a:stretch>
            <a:fillRect/>
          </a:stretch>
        </p:blipFill>
        <p:spPr>
          <a:xfrm>
            <a:off x="9124340" y="2251253"/>
            <a:ext cx="526694" cy="526694"/>
          </a:xfrm>
          <a:prstGeom prst="rect">
            <a:avLst/>
          </a:prstGeom>
        </p:spPr>
      </p:pic>
      <p:sp>
        <p:nvSpPr>
          <p:cNvPr id="11" name="Text 7"/>
          <p:cNvSpPr txBox="1"/>
          <p:nvPr/>
        </p:nvSpPr>
        <p:spPr>
          <a:xfrm>
            <a:off x="7406640" y="3063240"/>
            <a:ext cx="3962095" cy="32004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Degradación química espontánea, favorecida por:</a:t>
            </a:r>
            <a:endParaRPr lang="en-US" sz="1150" dirty="0"/>
          </a:p>
        </p:txBody>
      </p:sp>
      <p:sp>
        <p:nvSpPr>
          <p:cNvPr id="12" name="Text 8"/>
          <p:cNvSpPr txBox="1"/>
          <p:nvPr/>
        </p:nvSpPr>
        <p:spPr>
          <a:xfrm>
            <a:off x="7406640" y="3429000"/>
            <a:ext cx="3962095" cy="118872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150" dirty="0">
                <a:solidFill>
                  <a:srgbClr val="3D2226"/>
                </a:solidFill>
                <a:latin typeface="Calibri" pitchFamily="34" charset="0"/>
                <a:ea typeface="Calibri" pitchFamily="34" charset="-122"/>
                <a:cs typeface="Calibri" pitchFamily="34" charset="-120"/>
              </a:rPr>
              <a:t>pH fisiológico alcalino</a:t>
            </a:r>
            <a:endParaRPr lang="en-US" sz="1150" dirty="0"/>
          </a:p>
          <a:p>
            <a:pPr marL="203200" indent="-203200">
              <a:lnSpc>
                <a:spcPct val="108000"/>
              </a:lnSpc>
              <a:spcAft>
                <a:spcPts val="800"/>
              </a:spcAft>
              <a:buSzPct val="100000"/>
              <a:buChar char="•"/>
            </a:pPr>
            <a:r>
              <a:rPr lang="en-US" sz="1150" dirty="0">
                <a:solidFill>
                  <a:srgbClr val="3D2226"/>
                </a:solidFill>
                <a:latin typeface="Calibri" pitchFamily="34" charset="0"/>
                <a:ea typeface="Calibri" pitchFamily="34" charset="-122"/>
                <a:cs typeface="Calibri" pitchFamily="34" charset="-120"/>
              </a:rPr>
              <a:t>Temperatura corporal normal</a:t>
            </a:r>
            <a:endParaRPr lang="en-US" sz="1150" dirty="0"/>
          </a:p>
          <a:p>
            <a:pPr marL="203200" indent="-203200">
              <a:lnSpc>
                <a:spcPct val="108000"/>
              </a:lnSpc>
              <a:spcAft>
                <a:spcPts val="800"/>
              </a:spcAft>
              <a:buSzPct val="100000"/>
              <a:buChar char="•"/>
            </a:pPr>
            <a:r>
              <a:rPr lang="en-US" sz="1150" dirty="0">
                <a:solidFill>
                  <a:srgbClr val="3D2226"/>
                </a:solidFill>
                <a:latin typeface="Calibri" pitchFamily="34" charset="0"/>
                <a:ea typeface="Calibri" pitchFamily="34" charset="-122"/>
                <a:cs typeface="Calibri" pitchFamily="34" charset="-120"/>
              </a:rPr>
              <a:t>Independiente de enzimas hepáticas o renales</a:t>
            </a:r>
            <a:endParaRPr lang="en-US" sz="1150" dirty="0"/>
          </a:p>
        </p:txBody>
      </p:sp>
      <p:sp>
        <p:nvSpPr>
          <p:cNvPr id="13" name="Text 9"/>
          <p:cNvSpPr txBox="1"/>
          <p:nvPr/>
        </p:nvSpPr>
        <p:spPr>
          <a:xfrm>
            <a:off x="7406640" y="4709160"/>
            <a:ext cx="3962095" cy="822960"/>
          </a:xfrm>
          <a:prstGeom prst="rect">
            <a:avLst/>
          </a:prstGeom>
          <a:noFill/>
          <a:ln/>
        </p:spPr>
        <p:txBody>
          <a:bodyPr wrap="square" lIns="0" tIns="0" rIns="0" bIns="0" rtlCol="0" anchor="t"/>
          <a:lstStyle/>
          <a:p>
            <a:pPr indent="0" marL="0">
              <a:lnSpc>
                <a:spcPct val="110000"/>
              </a:lnSpc>
              <a:buNone/>
            </a:pPr>
            <a:r>
              <a:rPr lang="en-US" sz="1050" i="1" dirty="0">
                <a:solidFill>
                  <a:srgbClr val="7A5B5F"/>
                </a:solidFill>
                <a:latin typeface="Calibri" pitchFamily="34" charset="0"/>
                <a:ea typeface="Calibri" pitchFamily="34" charset="-122"/>
                <a:cs typeface="Calibri" pitchFamily="34" charset="-120"/>
              </a:rPr>
              <a:t>La hipotermia y la acidosis enlentecen esta vía y prolongan el bloqueo.</a:t>
            </a:r>
            <a:endParaRPr lang="en-US" sz="1050" dirty="0"/>
          </a:p>
        </p:txBody>
      </p:sp>
      <p:sp>
        <p:nvSpPr>
          <p:cNvPr id="14" name="Text 10"/>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15" name="Text 1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clock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ACCIÓN PROLONGADA</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Pancuronio — relajante de acción larga</a:t>
            </a:r>
            <a:endParaRPr lang="en-US" sz="2700" dirty="0"/>
          </a:p>
        </p:txBody>
      </p:sp>
      <p:sp>
        <p:nvSpPr>
          <p:cNvPr id="6" name="Shape 3"/>
          <p:cNvSpPr/>
          <p:nvPr/>
        </p:nvSpPr>
        <p:spPr>
          <a:xfrm>
            <a:off x="548640" y="1508760"/>
            <a:ext cx="2567864" cy="1371600"/>
          </a:xfrm>
          <a:prstGeom prst="roundRect">
            <a:avLst>
              <a:gd name="adj" fmla="val 5333"/>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Text 4"/>
          <p:cNvSpPr txBox="1"/>
          <p:nvPr/>
        </p:nvSpPr>
        <p:spPr>
          <a:xfrm>
            <a:off x="640080" y="1600200"/>
            <a:ext cx="2384984" cy="932688"/>
          </a:xfrm>
          <a:prstGeom prst="rect">
            <a:avLst/>
          </a:prstGeom>
          <a:noFill/>
          <a:ln/>
        </p:spPr>
        <p:txBody>
          <a:bodyPr wrap="square" lIns="0" tIns="0" rIns="0" bIns="0" rtlCol="0" anchor="b"/>
          <a:lstStyle/>
          <a:p>
            <a:pPr algn="ctr" indent="0" marL="0">
              <a:lnSpc>
                <a:spcPct val="100000"/>
              </a:lnSpc>
              <a:buNone/>
            </a:pPr>
            <a:r>
              <a:rPr lang="en-US" sz="2200" b="1" dirty="0">
                <a:solidFill>
                  <a:srgbClr val="7A1F2B"/>
                </a:solidFill>
                <a:latin typeface="Cambria" pitchFamily="34" charset="0"/>
                <a:ea typeface="Cambria" pitchFamily="34" charset="-122"/>
                <a:cs typeface="Cambria" pitchFamily="34" charset="-120"/>
              </a:rPr>
              <a:t>0.08–0.1</a:t>
            </a:r>
            <a:endParaRPr lang="en-US" sz="2200" dirty="0"/>
          </a:p>
          <a:p>
            <a:pPr algn="ctr" indent="0" marL="0">
              <a:lnSpc>
                <a:spcPct val="100000"/>
              </a:lnSpc>
              <a:buNone/>
            </a:pPr>
            <a:r>
              <a:rPr lang="en-US" sz="2200" b="1" dirty="0">
                <a:solidFill>
                  <a:srgbClr val="7A1F2B"/>
                </a:solidFill>
                <a:latin typeface="Cambria" pitchFamily="34" charset="0"/>
                <a:ea typeface="Cambria" pitchFamily="34" charset="-122"/>
                <a:cs typeface="Cambria" pitchFamily="34" charset="-120"/>
              </a:rPr>
              <a:t>mg/kg</a:t>
            </a:r>
            <a:endParaRPr lang="en-US" sz="2200" dirty="0"/>
          </a:p>
        </p:txBody>
      </p:sp>
      <p:sp>
        <p:nvSpPr>
          <p:cNvPr id="8" name="Text 5"/>
          <p:cNvSpPr txBox="1"/>
          <p:nvPr/>
        </p:nvSpPr>
        <p:spPr>
          <a:xfrm>
            <a:off x="640080" y="2551176"/>
            <a:ext cx="2384984" cy="329184"/>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Dosis de intubación</a:t>
            </a:r>
            <a:endParaRPr lang="en-US" sz="1100" dirty="0"/>
          </a:p>
        </p:txBody>
      </p:sp>
      <p:sp>
        <p:nvSpPr>
          <p:cNvPr id="9" name="Shape 6"/>
          <p:cNvSpPr/>
          <p:nvPr/>
        </p:nvSpPr>
        <p:spPr>
          <a:xfrm>
            <a:off x="3390824" y="1508760"/>
            <a:ext cx="2567864" cy="1371600"/>
          </a:xfrm>
          <a:prstGeom prst="roundRect">
            <a:avLst>
              <a:gd name="adj" fmla="val 5333"/>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0" name="Text 7"/>
          <p:cNvSpPr txBox="1"/>
          <p:nvPr/>
        </p:nvSpPr>
        <p:spPr>
          <a:xfrm>
            <a:off x="3482264" y="1600200"/>
            <a:ext cx="2384984" cy="713232"/>
          </a:xfrm>
          <a:prstGeom prst="rect">
            <a:avLst/>
          </a:prstGeom>
          <a:noFill/>
          <a:ln/>
        </p:spPr>
        <p:txBody>
          <a:bodyPr wrap="square" lIns="0" tIns="0" rIns="0" bIns="0" rtlCol="0" anchor="b"/>
          <a:lstStyle/>
          <a:p>
            <a:pPr algn="ctr" indent="0" marL="0">
              <a:lnSpc>
                <a:spcPct val="100000"/>
              </a:lnSpc>
              <a:buNone/>
            </a:pPr>
            <a:r>
              <a:rPr lang="en-US" sz="2200" b="1" dirty="0">
                <a:solidFill>
                  <a:srgbClr val="7A1F2B"/>
                </a:solidFill>
                <a:latin typeface="Cambria" pitchFamily="34" charset="0"/>
                <a:ea typeface="Cambria" pitchFamily="34" charset="-122"/>
                <a:cs typeface="Cambria" pitchFamily="34" charset="-120"/>
              </a:rPr>
              <a:t>3–5 min</a:t>
            </a:r>
            <a:endParaRPr lang="en-US" sz="2200" dirty="0"/>
          </a:p>
        </p:txBody>
      </p:sp>
      <p:sp>
        <p:nvSpPr>
          <p:cNvPr id="11" name="Text 8"/>
          <p:cNvSpPr txBox="1"/>
          <p:nvPr/>
        </p:nvSpPr>
        <p:spPr>
          <a:xfrm>
            <a:off x="3482264" y="2331720"/>
            <a:ext cx="2384984" cy="548640"/>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Inicio de acción</a:t>
            </a:r>
            <a:endParaRPr lang="en-US" sz="1100" dirty="0"/>
          </a:p>
        </p:txBody>
      </p:sp>
      <p:sp>
        <p:nvSpPr>
          <p:cNvPr id="12" name="Shape 9"/>
          <p:cNvSpPr/>
          <p:nvPr/>
        </p:nvSpPr>
        <p:spPr>
          <a:xfrm>
            <a:off x="6233008" y="1508760"/>
            <a:ext cx="2567864" cy="1371600"/>
          </a:xfrm>
          <a:prstGeom prst="roundRect">
            <a:avLst>
              <a:gd name="adj" fmla="val 5333"/>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3" name="Text 10"/>
          <p:cNvSpPr txBox="1"/>
          <p:nvPr/>
        </p:nvSpPr>
        <p:spPr>
          <a:xfrm>
            <a:off x="6324448" y="1600200"/>
            <a:ext cx="2384984" cy="713232"/>
          </a:xfrm>
          <a:prstGeom prst="rect">
            <a:avLst/>
          </a:prstGeom>
          <a:noFill/>
          <a:ln/>
        </p:spPr>
        <p:txBody>
          <a:bodyPr wrap="square" lIns="0" tIns="0" rIns="0" bIns="0" rtlCol="0" anchor="b"/>
          <a:lstStyle/>
          <a:p>
            <a:pPr algn="ctr" indent="0" marL="0">
              <a:lnSpc>
                <a:spcPct val="100000"/>
              </a:lnSpc>
              <a:buNone/>
            </a:pPr>
            <a:r>
              <a:rPr lang="en-US" sz="2200" b="1" dirty="0">
                <a:solidFill>
                  <a:srgbClr val="7A1F2B"/>
                </a:solidFill>
                <a:latin typeface="Cambria" pitchFamily="34" charset="0"/>
                <a:ea typeface="Cambria" pitchFamily="34" charset="-122"/>
                <a:cs typeface="Cambria" pitchFamily="34" charset="-120"/>
              </a:rPr>
              <a:t>60–120 min</a:t>
            </a:r>
            <a:endParaRPr lang="en-US" sz="2200" dirty="0"/>
          </a:p>
        </p:txBody>
      </p:sp>
      <p:sp>
        <p:nvSpPr>
          <p:cNvPr id="14" name="Text 11"/>
          <p:cNvSpPr txBox="1"/>
          <p:nvPr/>
        </p:nvSpPr>
        <p:spPr>
          <a:xfrm>
            <a:off x="6324448" y="2331720"/>
            <a:ext cx="2384984" cy="548640"/>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Duración clínica</a:t>
            </a:r>
            <a:endParaRPr lang="en-US" sz="1100" dirty="0"/>
          </a:p>
        </p:txBody>
      </p:sp>
      <p:sp>
        <p:nvSpPr>
          <p:cNvPr id="15" name="Shape 12"/>
          <p:cNvSpPr/>
          <p:nvPr/>
        </p:nvSpPr>
        <p:spPr>
          <a:xfrm>
            <a:off x="9075191" y="1508760"/>
            <a:ext cx="2567864" cy="1371600"/>
          </a:xfrm>
          <a:prstGeom prst="roundRect">
            <a:avLst>
              <a:gd name="adj" fmla="val 5333"/>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6" name="Text 13"/>
          <p:cNvSpPr txBox="1"/>
          <p:nvPr/>
        </p:nvSpPr>
        <p:spPr>
          <a:xfrm>
            <a:off x="9166631" y="1600200"/>
            <a:ext cx="2384984" cy="713232"/>
          </a:xfrm>
          <a:prstGeom prst="rect">
            <a:avLst/>
          </a:prstGeom>
          <a:noFill/>
          <a:ln/>
        </p:spPr>
        <p:txBody>
          <a:bodyPr wrap="square" lIns="0" tIns="0" rIns="0" bIns="0" rtlCol="0" anchor="b"/>
          <a:lstStyle/>
          <a:p>
            <a:pPr algn="ctr" indent="0" marL="0">
              <a:lnSpc>
                <a:spcPct val="100000"/>
              </a:lnSpc>
              <a:buNone/>
            </a:pPr>
            <a:r>
              <a:rPr lang="en-US" sz="2200" b="1" dirty="0">
                <a:solidFill>
                  <a:srgbClr val="7A1F2B"/>
                </a:solidFill>
                <a:latin typeface="Cambria" pitchFamily="34" charset="0"/>
                <a:ea typeface="Cambria" pitchFamily="34" charset="-122"/>
                <a:cs typeface="Cambria" pitchFamily="34" charset="-120"/>
              </a:rPr>
              <a:t>↑ FC</a:t>
            </a:r>
            <a:endParaRPr lang="en-US" sz="2200" dirty="0"/>
          </a:p>
        </p:txBody>
      </p:sp>
      <p:sp>
        <p:nvSpPr>
          <p:cNvPr id="17" name="Text 14"/>
          <p:cNvSpPr txBox="1"/>
          <p:nvPr/>
        </p:nvSpPr>
        <p:spPr>
          <a:xfrm>
            <a:off x="9166631" y="2331720"/>
            <a:ext cx="2384984" cy="548640"/>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Efecto vagolítico (taquicardia)</a:t>
            </a:r>
            <a:endParaRPr lang="en-US" sz="1100" dirty="0"/>
          </a:p>
        </p:txBody>
      </p:sp>
      <p:sp>
        <p:nvSpPr>
          <p:cNvPr id="18" name="Text 15"/>
          <p:cNvSpPr txBox="1"/>
          <p:nvPr/>
        </p:nvSpPr>
        <p:spPr>
          <a:xfrm>
            <a:off x="548640" y="3246120"/>
            <a:ext cx="11094415" cy="283464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Aminoesteroide de acción larga; su duración prolongada lo hace poco práctico para procedimientos breves, pero útil cuando se anticipa relajación sostenida (p. ej. cirugía cardiaca clásica).</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Efecto vagolítico (bloqueo de receptores muscarínicos cardiacos) y liberación de noradrenalina en terminales simpáticos: produce taquicardia e hipertensión leve dosis-dependiente.</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Eliminación predominantemente renal (~80%); su vida media se prolonga significativamente en insuficiencia renal, con riesgo elevado de bloqueo residual.</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No es sustrato de sugammadex a dosis clínicamente útiles; su reversión depende de anticolinesterásicos y requiere tiempo suficiente antes de la extubación.</a:t>
            </a:r>
            <a:endParaRPr lang="en-US" sz="1250" dirty="0"/>
          </a:p>
        </p:txBody>
      </p:sp>
      <p:sp>
        <p:nvSpPr>
          <p:cNvPr id="19" name="Text 16"/>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20" name="Text 1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table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VISTA CONSOLIDADA</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Cuadro comparativo — relajantes no despolarizantes</a:t>
            </a:r>
            <a:endParaRPr lang="en-US" sz="2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4480560"/>
        </p:xfrm>
        <a:graphic>
          <a:graphicData uri="http://schemas.openxmlformats.org/drawingml/2006/table">
            <a:tbl>
              <a:tblPr/>
              <a:tblGrid>
                <a:gridCol w="2247612"/>
                <a:gridCol w="2112417"/>
                <a:gridCol w="2830639"/>
                <a:gridCol w="3903747"/>
              </a:tblGrid>
              <a:tr h="6400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Fármaco</a:t>
                      </a:r>
                      <a:endParaRPr lang="en-US" sz="12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Inicio</a:t>
                      </a:r>
                      <a:endParaRPr lang="en-US" sz="12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Duración clínica</a:t>
                      </a:r>
                      <a:endParaRPr lang="en-US" sz="12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Efecto cardiovascular</a:t>
                      </a:r>
                      <a:endParaRPr lang="en-US" sz="12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r>
              <a:tr h="640080">
                <a:tc>
                  <a:txBody>
                    <a:bodyPr/>
                    <a:lstStyle/>
                    <a:p>
                      <a:pPr algn="l" indent="0" marL="0">
                        <a:buNone/>
                      </a:pPr>
                      <a:r>
                        <a:rPr lang="en-US" sz="1150" b="1" dirty="0">
                          <a:solidFill>
                            <a:srgbClr val="2E1015"/>
                          </a:solidFill>
                          <a:latin typeface="Calibri" pitchFamily="34" charset="0"/>
                          <a:ea typeface="Calibri" pitchFamily="34" charset="-122"/>
                          <a:cs typeface="Calibri" pitchFamily="34" charset="-120"/>
                        </a:rPr>
                        <a:t>Rocuronio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60–90 s</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30–45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Mínimo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640080">
                <a:tc>
                  <a:txBody>
                    <a:bodyPr/>
                    <a:lstStyle/>
                    <a:p>
                      <a:pPr algn="l" indent="0" marL="0">
                        <a:buNone/>
                      </a:pPr>
                      <a:r>
                        <a:rPr lang="en-US" sz="1150" b="1" dirty="0">
                          <a:solidFill>
                            <a:srgbClr val="2E1015"/>
                          </a:solidFill>
                          <a:latin typeface="Calibri" pitchFamily="34" charset="0"/>
                          <a:ea typeface="Calibri" pitchFamily="34" charset="-122"/>
                          <a:cs typeface="Calibri" pitchFamily="34" charset="-120"/>
                        </a:rPr>
                        <a:t>Vecuronio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2–3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30–45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Mínimo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2E1015"/>
                          </a:solidFill>
                          <a:latin typeface="Calibri" pitchFamily="34" charset="0"/>
                          <a:ea typeface="Calibri" pitchFamily="34" charset="-122"/>
                          <a:cs typeface="Calibri" pitchFamily="34" charset="-120"/>
                        </a:rPr>
                        <a:t>Atracurio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2–3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30–45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Histamina: hipotensión leve</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640080">
                <a:tc>
                  <a:txBody>
                    <a:bodyPr/>
                    <a:lstStyle/>
                    <a:p>
                      <a:pPr algn="l" indent="0" marL="0">
                        <a:buNone/>
                      </a:pPr>
                      <a:r>
                        <a:rPr lang="en-US" sz="1150" b="1" dirty="0">
                          <a:solidFill>
                            <a:srgbClr val="2E1015"/>
                          </a:solidFill>
                          <a:latin typeface="Calibri" pitchFamily="34" charset="0"/>
                          <a:ea typeface="Calibri" pitchFamily="34" charset="-122"/>
                          <a:cs typeface="Calibri" pitchFamily="34" charset="-120"/>
                        </a:rPr>
                        <a:t>Cisatracurio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2–4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40–60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Muy estable</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2E1015"/>
                          </a:solidFill>
                          <a:latin typeface="Calibri" pitchFamily="34" charset="0"/>
                          <a:ea typeface="Calibri" pitchFamily="34" charset="-122"/>
                          <a:cs typeface="Calibri" pitchFamily="34" charset="-120"/>
                        </a:rPr>
                        <a:t>Pancuronio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3–5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60–120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Taquicardia (vagolítico)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640080">
                <a:tc>
                  <a:txBody>
                    <a:bodyPr/>
                    <a:lstStyle/>
                    <a:p>
                      <a:pPr algn="l" indent="0" marL="0">
                        <a:buNone/>
                      </a:pPr>
                      <a:r>
                        <a:rPr lang="en-US" sz="1150" b="1" dirty="0">
                          <a:solidFill>
                            <a:srgbClr val="2E1015"/>
                          </a:solidFill>
                          <a:latin typeface="Calibri" pitchFamily="34" charset="0"/>
                          <a:ea typeface="Calibri" pitchFamily="34" charset="-122"/>
                          <a:cs typeface="Calibri" pitchFamily="34" charset="-120"/>
                        </a:rPr>
                        <a:t>Mivacurio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2–3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15–20 min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D2226"/>
                          </a:solidFill>
                          <a:latin typeface="Calibri" pitchFamily="34" charset="0"/>
                          <a:ea typeface="Calibri" pitchFamily="34" charset="-122"/>
                          <a:cs typeface="Calibri" pitchFamily="34" charset="-120"/>
                        </a:rPr>
                        <a:t>Histamina a dosis altas</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108192"/>
            <a:ext cx="11094415" cy="320040"/>
          </a:xfrm>
          <a:prstGeom prst="rect">
            <a:avLst/>
          </a:prstGeom>
          <a:noFill/>
          <a:ln/>
        </p:spPr>
        <p:txBody>
          <a:bodyPr wrap="square" lIns="0" tIns="0" rIns="0" bIns="0" rtlCol="0" anchor="ctr"/>
          <a:lstStyle/>
          <a:p>
            <a:pPr indent="0" marL="0">
              <a:buNone/>
            </a:pPr>
            <a:r>
              <a:rPr lang="en-US" sz="1050" i="1" dirty="0">
                <a:solidFill>
                  <a:srgbClr val="7A5B5F"/>
                </a:solidFill>
                <a:latin typeface="Calibri" pitchFamily="34" charset="0"/>
                <a:ea typeface="Calibri" pitchFamily="34" charset="-122"/>
                <a:cs typeface="Calibri" pitchFamily="34" charset="-120"/>
              </a:rPr>
              <a:t>Referencia comparativa: succinilcolina (despolarizante) — inicio 45–60 s, duración 5–10 min, sin sustitución con anticolinesterásicos.</a:t>
            </a:r>
            <a:endParaRPr lang="en-US" sz="1050" dirty="0"/>
          </a:p>
        </p:txBody>
      </p:sp>
      <p:sp>
        <p:nvSpPr>
          <p:cNvPr id="8" name="Text 4"/>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9" name="Text 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sync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VARIABILIDAD CINÉTICA</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Factores farmacocinéticos que alteran la duración de acción</a:t>
            </a:r>
            <a:endParaRPr lang="en-US" sz="2700" dirty="0"/>
          </a:p>
        </p:txBody>
      </p:sp>
      <p:sp>
        <p:nvSpPr>
          <p:cNvPr id="6" name="Shape 3"/>
          <p:cNvSpPr/>
          <p:nvPr/>
        </p:nvSpPr>
        <p:spPr>
          <a:xfrm>
            <a:off x="548640" y="1508760"/>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731520" y="1673352"/>
            <a:ext cx="512064" cy="512064"/>
          </a:xfrm>
          <a:prstGeom prst="ellipse">
            <a:avLst/>
          </a:prstGeom>
          <a:solidFill>
            <a:srgbClr val="7A1F2B"/>
          </a:solidFill>
          <a:ln/>
        </p:spPr>
      </p:sp>
      <p:pic>
        <p:nvPicPr>
          <p:cNvPr id="8" name="Image 1" descr="/tmp/claude-0/-home-user-gpa-academy1/adc6e4aa-3b77-57c1-ba92-a8d4ee625c84/scratchpad/relajantes/icons/syringe_FFFFFF.png">    </p:cNvPr>
          <p:cNvPicPr>
            <a:picLocks noChangeAspect="1"/>
          </p:cNvPicPr>
          <p:nvPr/>
        </p:nvPicPr>
        <p:blipFill>
          <a:blip r:embed="rId2"/>
          <a:stretch>
            <a:fillRect/>
          </a:stretch>
        </p:blipFill>
        <p:spPr>
          <a:xfrm>
            <a:off x="803209" y="1745041"/>
            <a:ext cx="368686" cy="368686"/>
          </a:xfrm>
          <a:prstGeom prst="rect">
            <a:avLst/>
          </a:prstGeom>
        </p:spPr>
      </p:pic>
      <p:sp>
        <p:nvSpPr>
          <p:cNvPr id="9" name="Text 5"/>
          <p:cNvSpPr txBox="1"/>
          <p:nvPr/>
        </p:nvSpPr>
        <p:spPr>
          <a:xfrm>
            <a:off x="1408176" y="1636776"/>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Dosis administrada</a:t>
            </a:r>
            <a:endParaRPr lang="en-US" sz="1300" dirty="0"/>
          </a:p>
        </p:txBody>
      </p:sp>
      <p:sp>
        <p:nvSpPr>
          <p:cNvPr id="10" name="Text 6"/>
          <p:cNvSpPr txBox="1"/>
          <p:nvPr/>
        </p:nvSpPr>
        <p:spPr>
          <a:xfrm>
            <a:off x="1408176" y="2139696"/>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Dosis mayores a la DE95 prolongan tanto el inicio como la duración total del bloqueo, de forma no lineal.</a:t>
            </a:r>
            <a:endParaRPr lang="en-US" sz="1050" dirty="0"/>
          </a:p>
        </p:txBody>
      </p:sp>
      <p:sp>
        <p:nvSpPr>
          <p:cNvPr id="11" name="Shape 7"/>
          <p:cNvSpPr/>
          <p:nvPr/>
        </p:nvSpPr>
        <p:spPr>
          <a:xfrm>
            <a:off x="6233008" y="1508760"/>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2" name="Shape 8"/>
          <p:cNvSpPr/>
          <p:nvPr/>
        </p:nvSpPr>
        <p:spPr>
          <a:xfrm>
            <a:off x="6415888" y="1673352"/>
            <a:ext cx="512064" cy="512064"/>
          </a:xfrm>
          <a:prstGeom prst="ellipse">
            <a:avLst/>
          </a:prstGeom>
          <a:solidFill>
            <a:srgbClr val="7A1F2B"/>
          </a:solidFill>
          <a:ln/>
        </p:spPr>
      </p:sp>
      <p:pic>
        <p:nvPicPr>
          <p:cNvPr id="13" name="Image 2" descr="/tmp/claude-0/-home-user-gpa-academy1/adc6e4aa-3b77-57c1-ba92-a8d4ee625c84/scratchpad/relajantes/icons/clock_FFFFFF.png">    </p:cNvPr>
          <p:cNvPicPr>
            <a:picLocks noChangeAspect="1"/>
          </p:cNvPicPr>
          <p:nvPr/>
        </p:nvPicPr>
        <p:blipFill>
          <a:blip r:embed="rId3"/>
          <a:stretch>
            <a:fillRect/>
          </a:stretch>
        </p:blipFill>
        <p:spPr>
          <a:xfrm>
            <a:off x="6487577" y="1745041"/>
            <a:ext cx="368686" cy="368686"/>
          </a:xfrm>
          <a:prstGeom prst="rect">
            <a:avLst/>
          </a:prstGeom>
        </p:spPr>
      </p:pic>
      <p:sp>
        <p:nvSpPr>
          <p:cNvPr id="14" name="Text 9"/>
          <p:cNvSpPr txBox="1"/>
          <p:nvPr/>
        </p:nvSpPr>
        <p:spPr>
          <a:xfrm>
            <a:off x="7092544" y="1636776"/>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Redosificación e infusión continua</a:t>
            </a:r>
            <a:endParaRPr lang="en-US" sz="1300" dirty="0"/>
          </a:p>
        </p:txBody>
      </p:sp>
      <p:sp>
        <p:nvSpPr>
          <p:cNvPr id="15" name="Text 10"/>
          <p:cNvSpPr txBox="1"/>
          <p:nvPr/>
        </p:nvSpPr>
        <p:spPr>
          <a:xfrm>
            <a:off x="7092544" y="2139696"/>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Dosis repetidas generan acumulación, especialmente con fármacos de metabolitos activos.</a:t>
            </a:r>
            <a:endParaRPr lang="en-US" sz="1050" dirty="0"/>
          </a:p>
        </p:txBody>
      </p:sp>
      <p:sp>
        <p:nvSpPr>
          <p:cNvPr id="16" name="Shape 11"/>
          <p:cNvSpPr/>
          <p:nvPr/>
        </p:nvSpPr>
        <p:spPr>
          <a:xfrm>
            <a:off x="548640" y="2990088"/>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7" name="Shape 12"/>
          <p:cNvSpPr/>
          <p:nvPr/>
        </p:nvSpPr>
        <p:spPr>
          <a:xfrm>
            <a:off x="731520" y="3154680"/>
            <a:ext cx="512064" cy="512064"/>
          </a:xfrm>
          <a:prstGeom prst="ellipse">
            <a:avLst/>
          </a:prstGeom>
          <a:solidFill>
            <a:srgbClr val="7A1F2B"/>
          </a:solidFill>
          <a:ln/>
        </p:spPr>
      </p:sp>
      <p:pic>
        <p:nvPicPr>
          <p:cNvPr id="18" name="Image 3" descr="/tmp/claude-0/-home-user-gpa-academy1/adc6e4aa-3b77-57c1-ba92-a8d4ee625c84/scratchpad/relajantes/icons/liver_FFFFFF.png">    </p:cNvPr>
          <p:cNvPicPr>
            <a:picLocks noChangeAspect="1"/>
          </p:cNvPicPr>
          <p:nvPr/>
        </p:nvPicPr>
        <p:blipFill>
          <a:blip r:embed="rId4"/>
          <a:stretch>
            <a:fillRect/>
          </a:stretch>
        </p:blipFill>
        <p:spPr>
          <a:xfrm>
            <a:off x="803209" y="3226369"/>
            <a:ext cx="368686" cy="368686"/>
          </a:xfrm>
          <a:prstGeom prst="rect">
            <a:avLst/>
          </a:prstGeom>
        </p:spPr>
      </p:pic>
      <p:sp>
        <p:nvSpPr>
          <p:cNvPr id="19" name="Text 13"/>
          <p:cNvSpPr txBox="1"/>
          <p:nvPr/>
        </p:nvSpPr>
        <p:spPr>
          <a:xfrm>
            <a:off x="1408176" y="3118104"/>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Vía de eliminación del fármaco</a:t>
            </a:r>
            <a:endParaRPr lang="en-US" sz="1300" dirty="0"/>
          </a:p>
        </p:txBody>
      </p:sp>
      <p:sp>
        <p:nvSpPr>
          <p:cNvPr id="20" name="Text 14"/>
          <p:cNvSpPr txBox="1"/>
          <p:nvPr/>
        </p:nvSpPr>
        <p:spPr>
          <a:xfrm>
            <a:off x="1408176" y="3621024"/>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Dependencia hepática, renal, plasmática (Hofmann/esterasas) determina la sensibilidad a comorbilidades específicas.</a:t>
            </a:r>
            <a:endParaRPr lang="en-US" sz="1050" dirty="0"/>
          </a:p>
        </p:txBody>
      </p:sp>
      <p:sp>
        <p:nvSpPr>
          <p:cNvPr id="21" name="Shape 15"/>
          <p:cNvSpPr/>
          <p:nvPr/>
        </p:nvSpPr>
        <p:spPr>
          <a:xfrm>
            <a:off x="6233008" y="2990088"/>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22" name="Shape 16"/>
          <p:cNvSpPr/>
          <p:nvPr/>
        </p:nvSpPr>
        <p:spPr>
          <a:xfrm>
            <a:off x="6415888" y="3154680"/>
            <a:ext cx="512064" cy="512064"/>
          </a:xfrm>
          <a:prstGeom prst="ellipse">
            <a:avLst/>
          </a:prstGeom>
          <a:solidFill>
            <a:srgbClr val="7A1F2B"/>
          </a:solidFill>
          <a:ln/>
        </p:spPr>
      </p:sp>
      <p:pic>
        <p:nvPicPr>
          <p:cNvPr id="23" name="Image 4" descr="/tmp/claude-0/-home-user-gpa-academy1/adc6e4aa-3b77-57c1-ba92-a8d4ee625c84/scratchpad/relajantes/icons/dna_FFFFFF.png">    </p:cNvPr>
          <p:cNvPicPr>
            <a:picLocks noChangeAspect="1"/>
          </p:cNvPicPr>
          <p:nvPr/>
        </p:nvPicPr>
        <p:blipFill>
          <a:blip r:embed="rId5"/>
          <a:stretch>
            <a:fillRect/>
          </a:stretch>
        </p:blipFill>
        <p:spPr>
          <a:xfrm>
            <a:off x="6487577" y="3226369"/>
            <a:ext cx="368686" cy="368686"/>
          </a:xfrm>
          <a:prstGeom prst="rect">
            <a:avLst/>
          </a:prstGeom>
        </p:spPr>
      </p:pic>
      <p:sp>
        <p:nvSpPr>
          <p:cNvPr id="24" name="Text 17"/>
          <p:cNvSpPr txBox="1"/>
          <p:nvPr/>
        </p:nvSpPr>
        <p:spPr>
          <a:xfrm>
            <a:off x="7092544" y="3118104"/>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Unión a proteínas plasmáticas</a:t>
            </a:r>
            <a:endParaRPr lang="en-US" sz="1300" dirty="0"/>
          </a:p>
        </p:txBody>
      </p:sp>
      <p:sp>
        <p:nvSpPr>
          <p:cNvPr id="25" name="Text 18"/>
          <p:cNvSpPr txBox="1"/>
          <p:nvPr/>
        </p:nvSpPr>
        <p:spPr>
          <a:xfrm>
            <a:off x="7092544" y="3621024"/>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Modifica la fracción libre activa del fármaco disponible para actuar en el receptor.</a:t>
            </a:r>
            <a:endParaRPr lang="en-US" sz="1050" dirty="0"/>
          </a:p>
        </p:txBody>
      </p:sp>
      <p:sp>
        <p:nvSpPr>
          <p:cNvPr id="26" name="Shape 19"/>
          <p:cNvSpPr/>
          <p:nvPr/>
        </p:nvSpPr>
        <p:spPr>
          <a:xfrm>
            <a:off x="548640" y="4471416"/>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27" name="Shape 20"/>
          <p:cNvSpPr/>
          <p:nvPr/>
        </p:nvSpPr>
        <p:spPr>
          <a:xfrm>
            <a:off x="731520" y="4636008"/>
            <a:ext cx="512064" cy="512064"/>
          </a:xfrm>
          <a:prstGeom prst="ellipse">
            <a:avLst/>
          </a:prstGeom>
          <a:solidFill>
            <a:srgbClr val="7A1F2B"/>
          </a:solidFill>
          <a:ln/>
        </p:spPr>
      </p:sp>
      <p:pic>
        <p:nvPicPr>
          <p:cNvPr id="28" name="Image 5" descr="/tmp/claude-0/-home-user-gpa-academy1/adc6e4aa-3b77-57c1-ba92-a8d4ee625c84/scratchpad/relajantes/icons/link_FFFFFF.png">    </p:cNvPr>
          <p:cNvPicPr>
            <a:picLocks noChangeAspect="1"/>
          </p:cNvPicPr>
          <p:nvPr/>
        </p:nvPicPr>
        <p:blipFill>
          <a:blip r:embed="rId6"/>
          <a:stretch>
            <a:fillRect/>
          </a:stretch>
        </p:blipFill>
        <p:spPr>
          <a:xfrm>
            <a:off x="803209" y="4707697"/>
            <a:ext cx="368686" cy="368686"/>
          </a:xfrm>
          <a:prstGeom prst="rect">
            <a:avLst/>
          </a:prstGeom>
        </p:spPr>
      </p:pic>
      <p:sp>
        <p:nvSpPr>
          <p:cNvPr id="29" name="Text 21"/>
          <p:cNvSpPr txBox="1"/>
          <p:nvPr/>
        </p:nvSpPr>
        <p:spPr>
          <a:xfrm>
            <a:off x="1408176" y="4599432"/>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Interacción con otros fármacos</a:t>
            </a:r>
            <a:endParaRPr lang="en-US" sz="1300" dirty="0"/>
          </a:p>
        </p:txBody>
      </p:sp>
      <p:sp>
        <p:nvSpPr>
          <p:cNvPr id="30" name="Text 22"/>
          <p:cNvSpPr txBox="1"/>
          <p:nvPr/>
        </p:nvSpPr>
        <p:spPr>
          <a:xfrm>
            <a:off x="1408176" y="5102352"/>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Anestésicos inhalatorios, antibióticos y anticonvulsivantes modifican la potencia y duración.</a:t>
            </a:r>
            <a:endParaRPr lang="en-US" sz="1050" dirty="0"/>
          </a:p>
        </p:txBody>
      </p:sp>
      <p:sp>
        <p:nvSpPr>
          <p:cNvPr id="31" name="Shape 23"/>
          <p:cNvSpPr/>
          <p:nvPr/>
        </p:nvSpPr>
        <p:spPr>
          <a:xfrm>
            <a:off x="6233008" y="4471416"/>
            <a:ext cx="5410048" cy="1353312"/>
          </a:xfrm>
          <a:prstGeom prst="roundRect">
            <a:avLst>
              <a:gd name="adj" fmla="val 540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32" name="Shape 24"/>
          <p:cNvSpPr/>
          <p:nvPr/>
        </p:nvSpPr>
        <p:spPr>
          <a:xfrm>
            <a:off x="6415888" y="4636008"/>
            <a:ext cx="512064" cy="512064"/>
          </a:xfrm>
          <a:prstGeom prst="ellipse">
            <a:avLst/>
          </a:prstGeom>
          <a:solidFill>
            <a:srgbClr val="7A1F2B"/>
          </a:solidFill>
          <a:ln/>
        </p:spPr>
      </p:sp>
      <p:pic>
        <p:nvPicPr>
          <p:cNvPr id="33" name="Image 6" descr="/tmp/claude-0/-home-user-gpa-academy1/adc6e4aa-3b77-57c1-ba92-a8d4ee625c84/scratchpad/relajantes/icons/wave_FFFFFF.png">    </p:cNvPr>
          <p:cNvPicPr>
            <a:picLocks noChangeAspect="1"/>
          </p:cNvPicPr>
          <p:nvPr/>
        </p:nvPicPr>
        <p:blipFill>
          <a:blip r:embed="rId7"/>
          <a:stretch>
            <a:fillRect/>
          </a:stretch>
        </p:blipFill>
        <p:spPr>
          <a:xfrm>
            <a:off x="6487577" y="4707697"/>
            <a:ext cx="368686" cy="368686"/>
          </a:xfrm>
          <a:prstGeom prst="rect">
            <a:avLst/>
          </a:prstGeom>
        </p:spPr>
      </p:pic>
      <p:sp>
        <p:nvSpPr>
          <p:cNvPr id="34" name="Text 25"/>
          <p:cNvSpPr txBox="1"/>
          <p:nvPr/>
        </p:nvSpPr>
        <p:spPr>
          <a:xfrm>
            <a:off x="7092544" y="4599432"/>
            <a:ext cx="4367632" cy="502920"/>
          </a:xfrm>
          <a:prstGeom prst="rect">
            <a:avLst/>
          </a:prstGeom>
          <a:noFill/>
          <a:ln/>
        </p:spPr>
        <p:txBody>
          <a:bodyPr wrap="square" lIns="0" tIns="0" rIns="0" bIns="0" rtlCol="0" anchor="t"/>
          <a:lstStyle/>
          <a:p>
            <a:pPr indent="0" marL="0">
              <a:lnSpc>
                <a:spcPct val="105000"/>
              </a:lnSpc>
              <a:buNone/>
            </a:pPr>
            <a:r>
              <a:rPr lang="en-US" sz="1300" b="1" dirty="0">
                <a:solidFill>
                  <a:srgbClr val="2E1015"/>
                </a:solidFill>
                <a:latin typeface="Cambria" pitchFamily="34" charset="0"/>
                <a:ea typeface="Cambria" pitchFamily="34" charset="-122"/>
                <a:cs typeface="Cambria" pitchFamily="34" charset="-120"/>
              </a:rPr>
              <a:t>Temperatura corporal</a:t>
            </a:r>
            <a:endParaRPr lang="en-US" sz="1300" dirty="0"/>
          </a:p>
        </p:txBody>
      </p:sp>
      <p:sp>
        <p:nvSpPr>
          <p:cNvPr id="35" name="Text 26"/>
          <p:cNvSpPr txBox="1"/>
          <p:nvPr/>
        </p:nvSpPr>
        <p:spPr>
          <a:xfrm>
            <a:off x="7092544" y="5102352"/>
            <a:ext cx="4367632" cy="777240"/>
          </a:xfrm>
          <a:prstGeom prst="rect">
            <a:avLst/>
          </a:prstGeom>
          <a:noFill/>
          <a:ln/>
        </p:spPr>
        <p:txBody>
          <a:bodyPr wrap="square" lIns="0" tIns="0" rIns="0" bIns="0" rtlCol="0" anchor="t"/>
          <a:lstStyle/>
          <a:p>
            <a:pPr indent="0" marL="0">
              <a:lnSpc>
                <a:spcPct val="105000"/>
              </a:lnSpc>
              <a:buNone/>
            </a:pPr>
            <a:r>
              <a:rPr lang="en-US" sz="1050" dirty="0">
                <a:solidFill>
                  <a:srgbClr val="3D2226"/>
                </a:solidFill>
                <a:latin typeface="Calibri" pitchFamily="34" charset="0"/>
                <a:ea typeface="Calibri" pitchFamily="34" charset="-122"/>
                <a:cs typeface="Calibri" pitchFamily="34" charset="-120"/>
              </a:rPr>
              <a:t>La hipotermia enlentece el metabolismo enzimático y la eliminación de Hofmann, prolongando el efecto.</a:t>
            </a:r>
            <a:endParaRPr lang="en-US" sz="1050" dirty="0"/>
          </a:p>
        </p:txBody>
      </p:sp>
      <p:sp>
        <p:nvSpPr>
          <p:cNvPr id="36" name="Text 27"/>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37" name="Text 2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userMd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VARIABILIDAD INDIVIDUAL</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Causas que alteran la duración — factores del paciente</a:t>
            </a:r>
            <a:endParaRPr lang="en-US" sz="2700" dirty="0"/>
          </a:p>
        </p:txBody>
      </p:sp>
      <p:sp>
        <p:nvSpPr>
          <p:cNvPr id="6" name="Text 3"/>
          <p:cNvSpPr txBox="1"/>
          <p:nvPr/>
        </p:nvSpPr>
        <p:spPr>
          <a:xfrm>
            <a:off x="548640" y="1508760"/>
            <a:ext cx="6309360" cy="466344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Hepatopatía: reduce la síntesis de pseudocolinesterasa y altera la eliminación biliar de aminoesteroides, prolongando su efecto (rocuronio, vecuronio, pancuronio).</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Nefropatía: disminuye la eliminación renal de pancuronio y de los metabolitos activos del vecuronio; rocuronio y bencilisoquinolinas se afectan menos.</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Hipotermia: reduce la velocidad de todas las reacciones enzimáticas (metabolismo hepático, esterasas) y de la eliminación de Hofmann, prolongando cualquier bloqueo.</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Edad extrema: neonatos tienen unión neuromuscular inmadura y mayor sensibilidad; ancianos presentan menor masa muscular, menor gasto cardiaco y eliminación más lenta.</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Trastornos ácido-base: la acidosis respiratoria potencia el bloqueo no despolarizante y antagoniza parcialmente su reversión.</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Obesidad y composición corporal: modifican el volumen de distribución; se recomienda dosificar según peso corporal magro o ideal, no peso total.</a:t>
            </a:r>
            <a:endParaRPr lang="en-US" sz="1250" dirty="0"/>
          </a:p>
        </p:txBody>
      </p:sp>
      <p:sp>
        <p:nvSpPr>
          <p:cNvPr id="7" name="Shape 4"/>
          <p:cNvSpPr/>
          <p:nvPr/>
        </p:nvSpPr>
        <p:spPr>
          <a:xfrm>
            <a:off x="7223760" y="1508760"/>
            <a:ext cx="4419295" cy="4663440"/>
          </a:xfrm>
          <a:prstGeom prst="roundRect">
            <a:avLst>
              <a:gd name="adj" fmla="val 1655"/>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8" name="Text 5"/>
          <p:cNvSpPr txBox="1"/>
          <p:nvPr/>
        </p:nvSpPr>
        <p:spPr>
          <a:xfrm>
            <a:off x="7498080" y="1737360"/>
            <a:ext cx="3870655" cy="274320"/>
          </a:xfrm>
          <a:prstGeom prst="rect">
            <a:avLst/>
          </a:prstGeom>
          <a:noFill/>
          <a:ln/>
        </p:spPr>
        <p:txBody>
          <a:bodyPr wrap="square" lIns="0" tIns="0" rIns="0" bIns="0" rtlCol="0" anchor="ctr"/>
          <a:lstStyle/>
          <a:p>
            <a:pPr indent="0" marL="0">
              <a:buNone/>
            </a:pPr>
            <a:r>
              <a:rPr lang="en-US" sz="1100" b="1" spc="130" kern="0" dirty="0">
                <a:solidFill>
                  <a:srgbClr val="7A1F2B"/>
                </a:solidFill>
                <a:latin typeface="Calibri" pitchFamily="34" charset="0"/>
                <a:ea typeface="Calibri" pitchFamily="34" charset="-122"/>
                <a:cs typeface="Calibri" pitchFamily="34" charset="-120"/>
              </a:rPr>
              <a:t>REGLA PRÁCTICA</a:t>
            </a:r>
            <a:endParaRPr lang="en-US" sz="1100" dirty="0"/>
          </a:p>
        </p:txBody>
      </p:sp>
      <p:sp>
        <p:nvSpPr>
          <p:cNvPr id="9" name="Shape 6"/>
          <p:cNvSpPr/>
          <p:nvPr/>
        </p:nvSpPr>
        <p:spPr>
          <a:xfrm>
            <a:off x="9021928" y="2103120"/>
            <a:ext cx="822960" cy="822960"/>
          </a:xfrm>
          <a:prstGeom prst="ellipse">
            <a:avLst/>
          </a:prstGeom>
          <a:solidFill>
            <a:srgbClr val="E8A33D"/>
          </a:solidFill>
          <a:ln/>
        </p:spPr>
      </p:sp>
      <p:pic>
        <p:nvPicPr>
          <p:cNvPr id="10" name="Image 1" descr="/tmp/claude-0/-home-user-gpa-academy1/adc6e4aa-3b77-57c1-ba92-a8d4ee625c84/scratchpad/relajantes/icons/bulb_FFFFFF.png">    </p:cNvPr>
          <p:cNvPicPr>
            <a:picLocks noChangeAspect="1"/>
          </p:cNvPicPr>
          <p:nvPr/>
        </p:nvPicPr>
        <p:blipFill>
          <a:blip r:embed="rId2"/>
          <a:stretch>
            <a:fillRect/>
          </a:stretch>
        </p:blipFill>
        <p:spPr>
          <a:xfrm>
            <a:off x="9137142" y="2218334"/>
            <a:ext cx="592531" cy="592531"/>
          </a:xfrm>
          <a:prstGeom prst="rect">
            <a:avLst/>
          </a:prstGeom>
        </p:spPr>
      </p:pic>
      <p:sp>
        <p:nvSpPr>
          <p:cNvPr id="11" name="Text 7"/>
          <p:cNvSpPr txBox="1"/>
          <p:nvPr/>
        </p:nvSpPr>
        <p:spPr>
          <a:xfrm>
            <a:off x="7452360" y="3108960"/>
            <a:ext cx="3962095" cy="822960"/>
          </a:xfrm>
          <a:prstGeom prst="rect">
            <a:avLst/>
          </a:prstGeom>
          <a:noFill/>
          <a:ln/>
        </p:spPr>
        <p:txBody>
          <a:bodyPr wrap="square" lIns="0" tIns="0" rIns="0" bIns="0" rtlCol="0" anchor="t"/>
          <a:lstStyle/>
          <a:p>
            <a:pPr algn="ctr" indent="0" marL="0">
              <a:lnSpc>
                <a:spcPct val="110000"/>
              </a:lnSpc>
              <a:buNone/>
            </a:pPr>
            <a:r>
              <a:rPr lang="en-US" sz="1400" b="1" i="1" dirty="0">
                <a:solidFill>
                  <a:srgbClr val="7A1F2B"/>
                </a:solidFill>
                <a:latin typeface="Cambria" pitchFamily="34" charset="0"/>
                <a:ea typeface="Cambria" pitchFamily="34" charset="-122"/>
                <a:cs typeface="Cambria" pitchFamily="34" charset="-120"/>
              </a:rPr>
              <a:t>“Órgano enfermo, fármaco que menos dependa de él.”</a:t>
            </a:r>
            <a:endParaRPr lang="en-US" sz="1400" dirty="0"/>
          </a:p>
        </p:txBody>
      </p:sp>
      <p:sp>
        <p:nvSpPr>
          <p:cNvPr id="12" name="Text 8"/>
          <p:cNvSpPr txBox="1"/>
          <p:nvPr/>
        </p:nvSpPr>
        <p:spPr>
          <a:xfrm>
            <a:off x="7452360" y="4114800"/>
            <a:ext cx="3962095" cy="1280160"/>
          </a:xfrm>
          <a:prstGeom prst="rect">
            <a:avLst/>
          </a:prstGeom>
          <a:noFill/>
          <a:ln/>
        </p:spPr>
        <p:txBody>
          <a:bodyPr wrap="square" lIns="0" tIns="0" rIns="0" bIns="0" rtlCol="0" anchor="t"/>
          <a:lstStyle/>
          <a:p>
            <a:pPr algn="ctr" indent="0" marL="0">
              <a:lnSpc>
                <a:spcPct val="115000"/>
              </a:lnSpc>
              <a:buNone/>
            </a:pPr>
            <a:r>
              <a:rPr lang="en-US" sz="1100" dirty="0">
                <a:solidFill>
                  <a:srgbClr val="3D2226"/>
                </a:solidFill>
                <a:latin typeface="Calibri" pitchFamily="34" charset="0"/>
                <a:ea typeface="Calibri" pitchFamily="34" charset="-122"/>
                <a:cs typeface="Calibri" pitchFamily="34" charset="-120"/>
              </a:rPr>
              <a:t>En falla hepatorrenal combinada, cisatracurio (eliminación de Hofmann) suele ser la opción más predecible.</a:t>
            </a:r>
            <a:endParaRPr lang="en-US" sz="1100" dirty="0"/>
          </a:p>
        </p:txBody>
      </p:sp>
      <p:sp>
        <p:nvSpPr>
          <p:cNvPr id="13" name="Text 9"/>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14" name="Text 10"/>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link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SINERGIAS Y ANTAGONISMOS</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Interacciones farmacológicas relevantes</a:t>
            </a:r>
            <a:endParaRPr lang="en-US" sz="2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4480560"/>
        </p:xfrm>
        <a:graphic>
          <a:graphicData uri="http://schemas.openxmlformats.org/drawingml/2006/table">
            <a:tbl>
              <a:tblPr/>
              <a:tblGrid>
                <a:gridCol w="4831297"/>
                <a:gridCol w="6263118"/>
              </a:tblGrid>
              <a:tr h="64008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Grupo farmacológico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Efecto sobre el bloqueo neuromuscular</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r>
              <a:tr h="640080">
                <a:tc>
                  <a:txBody>
                    <a:bodyPr/>
                    <a:lstStyle/>
                    <a:p>
                      <a:pPr algn="l" indent="0" marL="0">
                        <a:buNone/>
                      </a:pPr>
                      <a:r>
                        <a:rPr lang="en-US" sz="1050" b="1" dirty="0">
                          <a:solidFill>
                            <a:srgbClr val="2E1015"/>
                          </a:solidFill>
                          <a:latin typeface="Calibri" pitchFamily="34" charset="0"/>
                          <a:ea typeface="Calibri" pitchFamily="34" charset="-122"/>
                          <a:cs typeface="Calibri" pitchFamily="34" charset="-120"/>
                        </a:rPr>
                        <a:t>Anestésicos inhalatorios (sevoflurano, desflurano, isoflurano)</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Potencian el bloqueo no despolarizante de forma dosis y tiempo-dependiente; permiten reducir dosis de mantenimiento</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640080">
                <a:tc>
                  <a:txBody>
                    <a:bodyPr/>
                    <a:lstStyle/>
                    <a:p>
                      <a:pPr algn="l" indent="0" marL="0">
                        <a:buNone/>
                      </a:pPr>
                      <a:r>
                        <a:rPr lang="en-US" sz="1050" b="1" dirty="0">
                          <a:solidFill>
                            <a:srgbClr val="2E1015"/>
                          </a:solidFill>
                          <a:latin typeface="Calibri" pitchFamily="34" charset="0"/>
                          <a:ea typeface="Calibri" pitchFamily="34" charset="-122"/>
                          <a:cs typeface="Calibri" pitchFamily="34" charset="-120"/>
                        </a:rPr>
                        <a:t>Antibióticos aminoglucósidos (gentamicina, amikacina)</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Inhiben la liberación presináptica de ACh; potencian marcadamente el bloqueo, riesgo de bloqueo residual</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r h="640080">
                <a:tc>
                  <a:txBody>
                    <a:bodyPr/>
                    <a:lstStyle/>
                    <a:p>
                      <a:pPr algn="l" indent="0" marL="0">
                        <a:buNone/>
                      </a:pPr>
                      <a:r>
                        <a:rPr lang="en-US" sz="1050" b="1" dirty="0">
                          <a:solidFill>
                            <a:srgbClr val="2E1015"/>
                          </a:solidFill>
                          <a:latin typeface="Calibri" pitchFamily="34" charset="0"/>
                          <a:ea typeface="Calibri" pitchFamily="34" charset="-122"/>
                          <a:cs typeface="Calibri" pitchFamily="34" charset="-120"/>
                        </a:rPr>
                        <a:t>Anticonvulsivantes crónicos (fenitoína, carbamazepina)</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Uso crónico induce resistencia relativa (menor efecto, mayor requerimiento de dosis) a los no despolarizantes</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640080">
                <a:tc>
                  <a:txBody>
                    <a:bodyPr/>
                    <a:lstStyle/>
                    <a:p>
                      <a:pPr algn="l" indent="0" marL="0">
                        <a:buNone/>
                      </a:pPr>
                      <a:r>
                        <a:rPr lang="en-US" sz="1050" b="1" dirty="0">
                          <a:solidFill>
                            <a:srgbClr val="2E1015"/>
                          </a:solidFill>
                          <a:latin typeface="Calibri" pitchFamily="34" charset="0"/>
                          <a:ea typeface="Calibri" pitchFamily="34" charset="-122"/>
                          <a:cs typeface="Calibri" pitchFamily="34" charset="-120"/>
                        </a:rPr>
                        <a:t>Magnesio (sulfato de magnesio)</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Potencia significativamente el bloqueo no despolarizante; reduce liberación presináptica de ACh y sensibilidad postsináptica</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r h="640080">
                <a:tc>
                  <a:txBody>
                    <a:bodyPr/>
                    <a:lstStyle/>
                    <a:p>
                      <a:pPr algn="l" indent="0" marL="0">
                        <a:buNone/>
                      </a:pPr>
                      <a:r>
                        <a:rPr lang="en-US" sz="1050" b="1" dirty="0">
                          <a:solidFill>
                            <a:srgbClr val="2E1015"/>
                          </a:solidFill>
                          <a:latin typeface="Calibri" pitchFamily="34" charset="0"/>
                          <a:ea typeface="Calibri" pitchFamily="34" charset="-122"/>
                          <a:cs typeface="Calibri" pitchFamily="34" charset="-120"/>
                        </a:rPr>
                        <a:t>Bloqueadores de canales de calcio</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Potenciación leve a moderada del bloqueo neuromuscular</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640080">
                <a:tc>
                  <a:txBody>
                    <a:bodyPr/>
                    <a:lstStyle/>
                    <a:p>
                      <a:pPr algn="l" indent="0" marL="0">
                        <a:buNone/>
                      </a:pPr>
                      <a:r>
                        <a:rPr lang="en-US" sz="1050" b="1" dirty="0">
                          <a:solidFill>
                            <a:srgbClr val="2E1015"/>
                          </a:solidFill>
                          <a:latin typeface="Calibri" pitchFamily="34" charset="0"/>
                          <a:ea typeface="Calibri" pitchFamily="34" charset="-122"/>
                          <a:cs typeface="Calibri" pitchFamily="34" charset="-120"/>
                        </a:rPr>
                        <a:t>Anestésicos locales (dosis altas, sistémicas)</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Potencian el bloqueo neuromuscular por acción estabilizadora de membrana adicional</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8" name="Text 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pills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REVERSIÓN CLÁSICA</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Drogas anticolinesterasas — introducción</a:t>
            </a:r>
            <a:endParaRPr lang="en-US" sz="2700" dirty="0"/>
          </a:p>
        </p:txBody>
      </p:sp>
      <p:sp>
        <p:nvSpPr>
          <p:cNvPr id="6" name="Text 3"/>
          <p:cNvSpPr txBox="1"/>
          <p:nvPr/>
        </p:nvSpPr>
        <p:spPr>
          <a:xfrm>
            <a:off x="548640" y="1463040"/>
            <a:ext cx="6400800" cy="219456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300" dirty="0">
                <a:solidFill>
                  <a:srgbClr val="3D2226"/>
                </a:solidFill>
                <a:latin typeface="Calibri" pitchFamily="34" charset="0"/>
                <a:ea typeface="Calibri" pitchFamily="34" charset="-122"/>
                <a:cs typeface="Calibri" pitchFamily="34" charset="-120"/>
              </a:rPr>
              <a:t>Grupo de fármacos que inhiben reversiblemente la acetilcolinesterasa, aumentando la disponibilidad de ACh en la hendidura sináptica.</a:t>
            </a:r>
            <a:endParaRPr lang="en-US" sz="1300" dirty="0"/>
          </a:p>
          <a:p>
            <a:pPr marL="203200" indent="-203200">
              <a:lnSpc>
                <a:spcPct val="108000"/>
              </a:lnSpc>
              <a:spcAft>
                <a:spcPts val="1000"/>
              </a:spcAft>
              <a:buSzPct val="100000"/>
              <a:buChar char="•"/>
            </a:pPr>
            <a:r>
              <a:rPr lang="en-US" sz="1300" dirty="0">
                <a:solidFill>
                  <a:srgbClr val="3D2226"/>
                </a:solidFill>
                <a:latin typeface="Calibri" pitchFamily="34" charset="0"/>
                <a:ea typeface="Calibri" pitchFamily="34" charset="-122"/>
                <a:cs typeface="Calibri" pitchFamily="34" charset="-120"/>
              </a:rPr>
              <a:t>Constituyeron, junto a la reversión espontánea, la única estrategia farmacológica de reversión del bloqueo no despolarizante durante décadas.</a:t>
            </a:r>
            <a:endParaRPr lang="en-US" sz="1300" dirty="0"/>
          </a:p>
          <a:p>
            <a:pPr marL="203200" indent="-203200">
              <a:lnSpc>
                <a:spcPct val="108000"/>
              </a:lnSpc>
              <a:spcAft>
                <a:spcPts val="1000"/>
              </a:spcAft>
              <a:buSzPct val="100000"/>
              <a:buChar char="•"/>
            </a:pPr>
            <a:r>
              <a:rPr lang="en-US" sz="1300" dirty="0">
                <a:solidFill>
                  <a:srgbClr val="3D2226"/>
                </a:solidFill>
                <a:latin typeface="Calibri" pitchFamily="34" charset="0"/>
                <a:ea typeface="Calibri" pitchFamily="34" charset="-122"/>
                <a:cs typeface="Calibri" pitchFamily="34" charset="-120"/>
              </a:rPr>
              <a:t>Su efecto no es exclusivo de la unión neuromuscular: actúan en todas las sinapsis colinérgicas del organismo, incluyendo receptores muscarínicos (de ahí sus efectos adversos).</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11094415" cy="2331720"/>
        </p:xfrm>
        <a:graphic>
          <a:graphicData uri="http://schemas.openxmlformats.org/drawingml/2006/table">
            <a:tbl>
              <a:tblPr/>
              <a:tblGrid>
                <a:gridCol w="2829783"/>
                <a:gridCol w="2996241"/>
                <a:gridCol w="2605065"/>
                <a:gridCol w="2663325"/>
              </a:tblGrid>
              <a:tr h="58293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Fármaco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Dosis habitual</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Inicio</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Duración</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r>
              <a:tr h="582930">
                <a:tc>
                  <a:txBody>
                    <a:bodyPr/>
                    <a:lstStyle/>
                    <a:p>
                      <a:pPr algn="l" indent="0" marL="0">
                        <a:buNone/>
                      </a:pPr>
                      <a:r>
                        <a:rPr lang="en-US" sz="1100" b="1" dirty="0">
                          <a:solidFill>
                            <a:srgbClr val="2E1015"/>
                          </a:solidFill>
                          <a:latin typeface="Calibri" pitchFamily="34" charset="0"/>
                          <a:ea typeface="Calibri" pitchFamily="34" charset="-122"/>
                          <a:cs typeface="Calibri" pitchFamily="34" charset="-120"/>
                        </a:rPr>
                        <a:t>Neostigmina</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0.03–0.07 mg/kg IV</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5–10 min</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45–60 min</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582930">
                <a:tc>
                  <a:txBody>
                    <a:bodyPr/>
                    <a:lstStyle/>
                    <a:p>
                      <a:pPr algn="l" indent="0" marL="0">
                        <a:buNone/>
                      </a:pPr>
                      <a:r>
                        <a:rPr lang="en-US" sz="1100" b="1" dirty="0">
                          <a:solidFill>
                            <a:srgbClr val="2E1015"/>
                          </a:solidFill>
                          <a:latin typeface="Calibri" pitchFamily="34" charset="0"/>
                          <a:ea typeface="Calibri" pitchFamily="34" charset="-122"/>
                          <a:cs typeface="Calibri" pitchFamily="34" charset="-120"/>
                        </a:rPr>
                        <a:t>Piridostigmina</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0.1–0.25 mg/kg IV</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10–15 min</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90–130 min</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r h="582930">
                <a:tc>
                  <a:txBody>
                    <a:bodyPr/>
                    <a:lstStyle/>
                    <a:p>
                      <a:pPr algn="l" indent="0" marL="0">
                        <a:buNone/>
                      </a:pPr>
                      <a:r>
                        <a:rPr lang="en-US" sz="1100" b="1" dirty="0">
                          <a:solidFill>
                            <a:srgbClr val="2E1015"/>
                          </a:solidFill>
                          <a:latin typeface="Calibri" pitchFamily="34" charset="0"/>
                          <a:ea typeface="Calibri" pitchFamily="34" charset="-122"/>
                          <a:cs typeface="Calibri" pitchFamily="34" charset="-120"/>
                        </a:rPr>
                        <a:t>Edrofonio</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0.5–1 mg/kg IV</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1–2 min</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100" dirty="0">
                          <a:solidFill>
                            <a:srgbClr val="3D2226"/>
                          </a:solidFill>
                          <a:latin typeface="Calibri" pitchFamily="34" charset="0"/>
                          <a:ea typeface="Calibri" pitchFamily="34" charset="-122"/>
                          <a:cs typeface="Calibri" pitchFamily="34" charset="-120"/>
                        </a:rPr>
                        <a:t>5–20 min (uso limitado)</a:t>
                      </a:r>
                      <a:endParaRPr lang="en-US" sz="110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bl>
          </a:graphicData>
        </a:graphic>
      </p:graphicFrame>
      <p:sp>
        <p:nvSpPr>
          <p:cNvPr id="8" name="Text 4"/>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9" name="Text 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sync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CÓMO REVIERTEN EL BLOQUEO</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Anticolinesterasas — mecanismo de reversión</a:t>
            </a:r>
            <a:endParaRPr lang="en-US" sz="2700" dirty="0"/>
          </a:p>
        </p:txBody>
      </p:sp>
      <p:sp>
        <p:nvSpPr>
          <p:cNvPr id="6" name="Shape 3"/>
          <p:cNvSpPr/>
          <p:nvPr/>
        </p:nvSpPr>
        <p:spPr>
          <a:xfrm>
            <a:off x="548640" y="1554480"/>
            <a:ext cx="2567864" cy="3246120"/>
          </a:xfrm>
          <a:prstGeom prst="roundRect">
            <a:avLst>
              <a:gd name="adj" fmla="val 284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1581112" y="1783080"/>
            <a:ext cx="502920" cy="502920"/>
          </a:xfrm>
          <a:prstGeom prst="ellipse">
            <a:avLst/>
          </a:prstGeom>
          <a:solidFill>
            <a:srgbClr val="7A1F2B"/>
          </a:solidFill>
          <a:ln/>
        </p:spPr>
      </p:sp>
      <p:sp>
        <p:nvSpPr>
          <p:cNvPr id="8" name="Text 5"/>
          <p:cNvSpPr txBox="1"/>
          <p:nvPr/>
        </p:nvSpPr>
        <p:spPr>
          <a:xfrm>
            <a:off x="1581112" y="1783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txBox="1"/>
          <p:nvPr/>
        </p:nvSpPr>
        <p:spPr>
          <a:xfrm>
            <a:off x="685800" y="2423160"/>
            <a:ext cx="2293544" cy="502920"/>
          </a:xfrm>
          <a:prstGeom prst="rect">
            <a:avLst/>
          </a:prstGeom>
          <a:noFill/>
          <a:ln/>
        </p:spPr>
        <p:txBody>
          <a:bodyPr wrap="square" lIns="0" tIns="0" rIns="0" bIns="0" rtlCol="0" anchor="t"/>
          <a:lstStyle/>
          <a:p>
            <a:pPr algn="ctr" indent="0" marL="0">
              <a:buNone/>
            </a:pPr>
            <a:r>
              <a:rPr lang="en-US" sz="1250" b="1" dirty="0">
                <a:solidFill>
                  <a:srgbClr val="7A1F2B"/>
                </a:solidFill>
                <a:latin typeface="Cambria" pitchFamily="34" charset="0"/>
                <a:ea typeface="Cambria" pitchFamily="34" charset="-122"/>
                <a:cs typeface="Cambria" pitchFamily="34" charset="-120"/>
              </a:rPr>
              <a:t>Inhibición enzimática</a:t>
            </a:r>
            <a:endParaRPr lang="en-US" sz="1250" dirty="0"/>
          </a:p>
        </p:txBody>
      </p:sp>
      <p:sp>
        <p:nvSpPr>
          <p:cNvPr id="10" name="Text 7"/>
          <p:cNvSpPr txBox="1"/>
          <p:nvPr/>
        </p:nvSpPr>
        <p:spPr>
          <a:xfrm>
            <a:off x="713232" y="2926080"/>
            <a:ext cx="2238680" cy="1737360"/>
          </a:xfrm>
          <a:prstGeom prst="rect">
            <a:avLst/>
          </a:prstGeom>
          <a:noFill/>
          <a:ln/>
        </p:spPr>
        <p:txBody>
          <a:bodyPr wrap="square" lIns="0" tIns="0" rIns="0" bIns="0" rtlCol="0" anchor="t"/>
          <a:lstStyle/>
          <a:p>
            <a:pPr algn="ctr" indent="0" marL="0">
              <a:lnSpc>
                <a:spcPct val="110000"/>
              </a:lnSpc>
              <a:buNone/>
            </a:pPr>
            <a:r>
              <a:rPr lang="en-US" sz="1000" dirty="0">
                <a:solidFill>
                  <a:srgbClr val="3D2226"/>
                </a:solidFill>
                <a:latin typeface="Calibri" pitchFamily="34" charset="0"/>
                <a:ea typeface="Calibri" pitchFamily="34" charset="-122"/>
                <a:cs typeface="Calibri" pitchFamily="34" charset="-120"/>
              </a:rPr>
              <a:t>El fármaco se une reversiblemente al sitio activo (esterásico) de la acetilcolinesterasa, bloqueando la hidrólisis de ACh.</a:t>
            </a:r>
            <a:endParaRPr lang="en-US" sz="1000" dirty="0"/>
          </a:p>
        </p:txBody>
      </p:sp>
      <p:sp>
        <p:nvSpPr>
          <p:cNvPr id="11" name="Shape 8"/>
          <p:cNvSpPr/>
          <p:nvPr/>
        </p:nvSpPr>
        <p:spPr>
          <a:xfrm>
            <a:off x="3143936" y="3154680"/>
            <a:ext cx="219456" cy="0"/>
          </a:xfrm>
          <a:prstGeom prst="line">
            <a:avLst/>
          </a:prstGeom>
          <a:noFill/>
          <a:ln w="25400">
            <a:solidFill>
              <a:srgbClr val="C1666B"/>
            </a:solidFill>
            <a:prstDash val="solid"/>
            <a:tailEnd type="triangle"/>
          </a:ln>
        </p:spPr>
      </p:sp>
      <p:sp>
        <p:nvSpPr>
          <p:cNvPr id="12" name="Shape 9"/>
          <p:cNvSpPr/>
          <p:nvPr/>
        </p:nvSpPr>
        <p:spPr>
          <a:xfrm>
            <a:off x="3390824" y="1554480"/>
            <a:ext cx="2567864" cy="3246120"/>
          </a:xfrm>
          <a:prstGeom prst="roundRect">
            <a:avLst>
              <a:gd name="adj" fmla="val 284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3" name="Shape 10"/>
          <p:cNvSpPr/>
          <p:nvPr/>
        </p:nvSpPr>
        <p:spPr>
          <a:xfrm>
            <a:off x="4423296" y="1783080"/>
            <a:ext cx="502920" cy="502920"/>
          </a:xfrm>
          <a:prstGeom prst="ellipse">
            <a:avLst/>
          </a:prstGeom>
          <a:solidFill>
            <a:srgbClr val="7A1F2B"/>
          </a:solidFill>
          <a:ln/>
        </p:spPr>
      </p:sp>
      <p:sp>
        <p:nvSpPr>
          <p:cNvPr id="14" name="Text 11"/>
          <p:cNvSpPr txBox="1"/>
          <p:nvPr/>
        </p:nvSpPr>
        <p:spPr>
          <a:xfrm>
            <a:off x="4423296" y="1783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2"/>
          <p:cNvSpPr txBox="1"/>
          <p:nvPr/>
        </p:nvSpPr>
        <p:spPr>
          <a:xfrm>
            <a:off x="3527984" y="2423160"/>
            <a:ext cx="2293544" cy="502920"/>
          </a:xfrm>
          <a:prstGeom prst="rect">
            <a:avLst/>
          </a:prstGeom>
          <a:noFill/>
          <a:ln/>
        </p:spPr>
        <p:txBody>
          <a:bodyPr wrap="square" lIns="0" tIns="0" rIns="0" bIns="0" rtlCol="0" anchor="t"/>
          <a:lstStyle/>
          <a:p>
            <a:pPr algn="ctr" indent="0" marL="0">
              <a:buNone/>
            </a:pPr>
            <a:r>
              <a:rPr lang="en-US" sz="1250" b="1" dirty="0">
                <a:solidFill>
                  <a:srgbClr val="7A1F2B"/>
                </a:solidFill>
                <a:latin typeface="Cambria" pitchFamily="34" charset="0"/>
                <a:ea typeface="Cambria" pitchFamily="34" charset="-122"/>
                <a:cs typeface="Cambria" pitchFamily="34" charset="-120"/>
              </a:rPr>
              <a:t>Acumulación de ACh</a:t>
            </a:r>
            <a:endParaRPr lang="en-US" sz="1250" dirty="0"/>
          </a:p>
        </p:txBody>
      </p:sp>
      <p:sp>
        <p:nvSpPr>
          <p:cNvPr id="16" name="Text 13"/>
          <p:cNvSpPr txBox="1"/>
          <p:nvPr/>
        </p:nvSpPr>
        <p:spPr>
          <a:xfrm>
            <a:off x="3555416" y="2926080"/>
            <a:ext cx="2238680" cy="1737360"/>
          </a:xfrm>
          <a:prstGeom prst="rect">
            <a:avLst/>
          </a:prstGeom>
          <a:noFill/>
          <a:ln/>
        </p:spPr>
        <p:txBody>
          <a:bodyPr wrap="square" lIns="0" tIns="0" rIns="0" bIns="0" rtlCol="0" anchor="t"/>
          <a:lstStyle/>
          <a:p>
            <a:pPr algn="ctr" indent="0" marL="0">
              <a:lnSpc>
                <a:spcPct val="110000"/>
              </a:lnSpc>
              <a:buNone/>
            </a:pPr>
            <a:r>
              <a:rPr lang="en-US" sz="1000" dirty="0">
                <a:solidFill>
                  <a:srgbClr val="3D2226"/>
                </a:solidFill>
                <a:latin typeface="Calibri" pitchFamily="34" charset="0"/>
                <a:ea typeface="Calibri" pitchFamily="34" charset="-122"/>
                <a:cs typeface="Calibri" pitchFamily="34" charset="-120"/>
              </a:rPr>
              <a:t>La acetilcolina liberada se acumula en la hendidura sináptica al no ser degradada con su rapidez habitual.</a:t>
            </a:r>
            <a:endParaRPr lang="en-US" sz="1000" dirty="0"/>
          </a:p>
        </p:txBody>
      </p:sp>
      <p:sp>
        <p:nvSpPr>
          <p:cNvPr id="17" name="Shape 14"/>
          <p:cNvSpPr/>
          <p:nvPr/>
        </p:nvSpPr>
        <p:spPr>
          <a:xfrm>
            <a:off x="5986120" y="3154680"/>
            <a:ext cx="219456" cy="0"/>
          </a:xfrm>
          <a:prstGeom prst="line">
            <a:avLst/>
          </a:prstGeom>
          <a:noFill/>
          <a:ln w="25400">
            <a:solidFill>
              <a:srgbClr val="C1666B"/>
            </a:solidFill>
            <a:prstDash val="solid"/>
            <a:tailEnd type="triangle"/>
          </a:ln>
        </p:spPr>
      </p:sp>
      <p:sp>
        <p:nvSpPr>
          <p:cNvPr id="18" name="Shape 15"/>
          <p:cNvSpPr/>
          <p:nvPr/>
        </p:nvSpPr>
        <p:spPr>
          <a:xfrm>
            <a:off x="6233008" y="1554480"/>
            <a:ext cx="2567864" cy="3246120"/>
          </a:xfrm>
          <a:prstGeom prst="roundRect">
            <a:avLst>
              <a:gd name="adj" fmla="val 284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9" name="Shape 16"/>
          <p:cNvSpPr/>
          <p:nvPr/>
        </p:nvSpPr>
        <p:spPr>
          <a:xfrm>
            <a:off x="7265480" y="1783080"/>
            <a:ext cx="502920" cy="502920"/>
          </a:xfrm>
          <a:prstGeom prst="ellipse">
            <a:avLst/>
          </a:prstGeom>
          <a:solidFill>
            <a:srgbClr val="7A1F2B"/>
          </a:solidFill>
          <a:ln/>
        </p:spPr>
      </p:sp>
      <p:sp>
        <p:nvSpPr>
          <p:cNvPr id="20" name="Text 17"/>
          <p:cNvSpPr txBox="1"/>
          <p:nvPr/>
        </p:nvSpPr>
        <p:spPr>
          <a:xfrm>
            <a:off x="7265480" y="1783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8"/>
          <p:cNvSpPr txBox="1"/>
          <p:nvPr/>
        </p:nvSpPr>
        <p:spPr>
          <a:xfrm>
            <a:off x="6370168" y="2423160"/>
            <a:ext cx="2293544" cy="502920"/>
          </a:xfrm>
          <a:prstGeom prst="rect">
            <a:avLst/>
          </a:prstGeom>
          <a:noFill/>
          <a:ln/>
        </p:spPr>
        <p:txBody>
          <a:bodyPr wrap="square" lIns="0" tIns="0" rIns="0" bIns="0" rtlCol="0" anchor="t"/>
          <a:lstStyle/>
          <a:p>
            <a:pPr algn="ctr" indent="0" marL="0">
              <a:buNone/>
            </a:pPr>
            <a:r>
              <a:rPr lang="en-US" sz="1250" b="1" dirty="0">
                <a:solidFill>
                  <a:srgbClr val="7A1F2B"/>
                </a:solidFill>
                <a:latin typeface="Cambria" pitchFamily="34" charset="0"/>
                <a:ea typeface="Cambria" pitchFamily="34" charset="-122"/>
                <a:cs typeface="Cambria" pitchFamily="34" charset="-120"/>
              </a:rPr>
              <a:t>Desplazamiento competitivo</a:t>
            </a:r>
            <a:endParaRPr lang="en-US" sz="1250" dirty="0"/>
          </a:p>
        </p:txBody>
      </p:sp>
      <p:sp>
        <p:nvSpPr>
          <p:cNvPr id="22" name="Text 19"/>
          <p:cNvSpPr txBox="1"/>
          <p:nvPr/>
        </p:nvSpPr>
        <p:spPr>
          <a:xfrm>
            <a:off x="6397600" y="2926080"/>
            <a:ext cx="2238680" cy="1737360"/>
          </a:xfrm>
          <a:prstGeom prst="rect">
            <a:avLst/>
          </a:prstGeom>
          <a:noFill/>
          <a:ln/>
        </p:spPr>
        <p:txBody>
          <a:bodyPr wrap="square" lIns="0" tIns="0" rIns="0" bIns="0" rtlCol="0" anchor="t"/>
          <a:lstStyle/>
          <a:p>
            <a:pPr algn="ctr" indent="0" marL="0">
              <a:lnSpc>
                <a:spcPct val="110000"/>
              </a:lnSpc>
              <a:buNone/>
            </a:pPr>
            <a:r>
              <a:rPr lang="en-US" sz="1000" dirty="0">
                <a:solidFill>
                  <a:srgbClr val="3D2226"/>
                </a:solidFill>
                <a:latin typeface="Calibri" pitchFamily="34" charset="0"/>
                <a:ea typeface="Calibri" pitchFamily="34" charset="-122"/>
                <a:cs typeface="Calibri" pitchFamily="34" charset="-120"/>
              </a:rPr>
              <a:t>El exceso de ACh compite exitosamente con el relajante no despolarizante por los sitios receptores libres.</a:t>
            </a:r>
            <a:endParaRPr lang="en-US" sz="1000" dirty="0"/>
          </a:p>
        </p:txBody>
      </p:sp>
      <p:sp>
        <p:nvSpPr>
          <p:cNvPr id="23" name="Shape 20"/>
          <p:cNvSpPr/>
          <p:nvPr/>
        </p:nvSpPr>
        <p:spPr>
          <a:xfrm>
            <a:off x="8828303" y="3154680"/>
            <a:ext cx="219456" cy="0"/>
          </a:xfrm>
          <a:prstGeom prst="line">
            <a:avLst/>
          </a:prstGeom>
          <a:noFill/>
          <a:ln w="25400">
            <a:solidFill>
              <a:srgbClr val="C1666B"/>
            </a:solidFill>
            <a:prstDash val="solid"/>
            <a:tailEnd type="triangle"/>
          </a:ln>
        </p:spPr>
      </p:sp>
      <p:sp>
        <p:nvSpPr>
          <p:cNvPr id="24" name="Shape 21"/>
          <p:cNvSpPr/>
          <p:nvPr/>
        </p:nvSpPr>
        <p:spPr>
          <a:xfrm>
            <a:off x="9075191" y="1554480"/>
            <a:ext cx="2567864" cy="3246120"/>
          </a:xfrm>
          <a:prstGeom prst="roundRect">
            <a:avLst>
              <a:gd name="adj" fmla="val 284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25" name="Shape 22"/>
          <p:cNvSpPr/>
          <p:nvPr/>
        </p:nvSpPr>
        <p:spPr>
          <a:xfrm>
            <a:off x="10107663" y="1783080"/>
            <a:ext cx="502920" cy="502920"/>
          </a:xfrm>
          <a:prstGeom prst="ellipse">
            <a:avLst/>
          </a:prstGeom>
          <a:solidFill>
            <a:srgbClr val="7A1F2B"/>
          </a:solidFill>
          <a:ln/>
        </p:spPr>
      </p:sp>
      <p:sp>
        <p:nvSpPr>
          <p:cNvPr id="26" name="Text 23"/>
          <p:cNvSpPr txBox="1"/>
          <p:nvPr/>
        </p:nvSpPr>
        <p:spPr>
          <a:xfrm>
            <a:off x="10107663" y="1783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7" name="Text 24"/>
          <p:cNvSpPr txBox="1"/>
          <p:nvPr/>
        </p:nvSpPr>
        <p:spPr>
          <a:xfrm>
            <a:off x="9212351" y="2423160"/>
            <a:ext cx="2293544" cy="502920"/>
          </a:xfrm>
          <a:prstGeom prst="rect">
            <a:avLst/>
          </a:prstGeom>
          <a:noFill/>
          <a:ln/>
        </p:spPr>
        <p:txBody>
          <a:bodyPr wrap="square" lIns="0" tIns="0" rIns="0" bIns="0" rtlCol="0" anchor="t"/>
          <a:lstStyle/>
          <a:p>
            <a:pPr algn="ctr" indent="0" marL="0">
              <a:buNone/>
            </a:pPr>
            <a:r>
              <a:rPr lang="en-US" sz="1250" b="1" dirty="0">
                <a:solidFill>
                  <a:srgbClr val="7A1F2B"/>
                </a:solidFill>
                <a:latin typeface="Cambria" pitchFamily="34" charset="0"/>
                <a:ea typeface="Cambria" pitchFamily="34" charset="-122"/>
                <a:cs typeface="Cambria" pitchFamily="34" charset="-120"/>
              </a:rPr>
              <a:t>Restauración de la transmisión</a:t>
            </a:r>
            <a:endParaRPr lang="en-US" sz="1250" dirty="0"/>
          </a:p>
        </p:txBody>
      </p:sp>
      <p:sp>
        <p:nvSpPr>
          <p:cNvPr id="28" name="Text 25"/>
          <p:cNvSpPr txBox="1"/>
          <p:nvPr/>
        </p:nvSpPr>
        <p:spPr>
          <a:xfrm>
            <a:off x="9239783" y="2926080"/>
            <a:ext cx="2238680" cy="1737360"/>
          </a:xfrm>
          <a:prstGeom prst="rect">
            <a:avLst/>
          </a:prstGeom>
          <a:noFill/>
          <a:ln/>
        </p:spPr>
        <p:txBody>
          <a:bodyPr wrap="square" lIns="0" tIns="0" rIns="0" bIns="0" rtlCol="0" anchor="t"/>
          <a:lstStyle/>
          <a:p>
            <a:pPr algn="ctr" indent="0" marL="0">
              <a:lnSpc>
                <a:spcPct val="110000"/>
              </a:lnSpc>
              <a:buNone/>
            </a:pPr>
            <a:r>
              <a:rPr lang="en-US" sz="1000" dirty="0">
                <a:solidFill>
                  <a:srgbClr val="3D2226"/>
                </a:solidFill>
                <a:latin typeface="Calibri" pitchFamily="34" charset="0"/>
                <a:ea typeface="Calibri" pitchFamily="34" charset="-122"/>
                <a:cs typeface="Calibri" pitchFamily="34" charset="-120"/>
              </a:rPr>
              <a:t>Se recupera progresivamente la generación de potenciales de placa motora eficaces y la función neuromuscular.</a:t>
            </a:r>
            <a:endParaRPr lang="en-US" sz="1000" dirty="0"/>
          </a:p>
        </p:txBody>
      </p:sp>
      <p:sp>
        <p:nvSpPr>
          <p:cNvPr id="29" name="Shape 26"/>
          <p:cNvSpPr/>
          <p:nvPr/>
        </p:nvSpPr>
        <p:spPr>
          <a:xfrm>
            <a:off x="548640" y="5029200"/>
            <a:ext cx="11094415" cy="1143000"/>
          </a:xfrm>
          <a:prstGeom prst="roundRect">
            <a:avLst>
              <a:gd name="adj" fmla="val 6400"/>
            </a:avLst>
          </a:prstGeom>
          <a:solidFill>
            <a:srgbClr val="FBEEEC"/>
          </a:solidFill>
          <a:ln w="12700">
            <a:solidFill>
              <a:srgbClr val="F0DFDD"/>
            </a:solidFill>
            <a:prstDash val="solid"/>
          </a:ln>
        </p:spPr>
      </p:sp>
      <p:sp>
        <p:nvSpPr>
          <p:cNvPr id="30" name="Text 27"/>
          <p:cNvSpPr txBox="1"/>
          <p:nvPr/>
        </p:nvSpPr>
        <p:spPr>
          <a:xfrm>
            <a:off x="822960" y="5138928"/>
            <a:ext cx="10545775" cy="914400"/>
          </a:xfrm>
          <a:prstGeom prst="rect">
            <a:avLst/>
          </a:prstGeom>
          <a:noFill/>
          <a:ln/>
        </p:spPr>
        <p:txBody>
          <a:bodyPr wrap="square" lIns="0" tIns="0" rIns="0" bIns="0" rtlCol="0" anchor="ctr"/>
          <a:lstStyle/>
          <a:p>
            <a:pPr indent="0" marL="0">
              <a:lnSpc>
                <a:spcPct val="115000"/>
              </a:lnSpc>
              <a:buNone/>
            </a:pPr>
            <a:r>
              <a:rPr lang="en-US" sz="1200" i="1" dirty="0">
                <a:solidFill>
                  <a:srgbClr val="7A1F2B"/>
                </a:solidFill>
                <a:latin typeface="Calibri" pitchFamily="34" charset="0"/>
                <a:ea typeface="Calibri" pitchFamily="34" charset="-122"/>
                <a:cs typeface="Calibri" pitchFamily="34" charset="-120"/>
              </a:rPr>
              <a:t>Límite fisiológico importante: existe un “techo” de inhibición de la acetilcolinesterasa. Si el bloqueo neuromuscular es demasiado profundo, no hay suficiente exceso de ACh posible para desplazar al relajante — la reversión con anticolinesterásicos falla o es incompleta.</a:t>
            </a:r>
            <a:endParaRPr lang="en-US" sz="1200" dirty="0"/>
          </a:p>
        </p:txBody>
      </p:sp>
      <p:sp>
        <p:nvSpPr>
          <p:cNvPr id="31" name="Text 28"/>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32" name="Text 29"/>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warning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EFECTOS MUSCARÍNICOS</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Anticolinesterasas — efectos adversos y uso obligatorio con anticolinérgicos</a:t>
            </a:r>
            <a:endParaRPr lang="en-US" sz="2700" dirty="0"/>
          </a:p>
        </p:txBody>
      </p:sp>
      <p:sp>
        <p:nvSpPr>
          <p:cNvPr id="6" name="Text 3"/>
          <p:cNvSpPr txBox="1"/>
          <p:nvPr/>
        </p:nvSpPr>
        <p:spPr>
          <a:xfrm>
            <a:off x="548640" y="1783080"/>
            <a:ext cx="6126480" cy="274320"/>
          </a:xfrm>
          <a:prstGeom prst="rect">
            <a:avLst/>
          </a:prstGeom>
          <a:noFill/>
          <a:ln/>
        </p:spPr>
        <p:txBody>
          <a:bodyPr wrap="square" lIns="0" tIns="0" rIns="0" bIns="0" rtlCol="0" anchor="ctr"/>
          <a:lstStyle/>
          <a:p>
            <a:pPr indent="0" marL="0">
              <a:buNone/>
            </a:pPr>
            <a:r>
              <a:rPr lang="en-US" sz="1100" b="1" spc="130" kern="0" dirty="0">
                <a:solidFill>
                  <a:srgbClr val="7A1F2B"/>
                </a:solidFill>
                <a:latin typeface="Calibri" pitchFamily="34" charset="0"/>
                <a:ea typeface="Calibri" pitchFamily="34" charset="-122"/>
                <a:cs typeface="Calibri" pitchFamily="34" charset="-120"/>
              </a:rPr>
              <a:t>EFECTOS MUSCARÍNICOS INDESEADOS</a:t>
            </a:r>
            <a:endParaRPr lang="en-US" sz="1100" dirty="0"/>
          </a:p>
        </p:txBody>
      </p:sp>
      <p:sp>
        <p:nvSpPr>
          <p:cNvPr id="7" name="Text 4"/>
          <p:cNvSpPr txBox="1"/>
          <p:nvPr/>
        </p:nvSpPr>
        <p:spPr>
          <a:xfrm>
            <a:off x="548640" y="2103120"/>
            <a:ext cx="6126480" cy="228600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250" dirty="0">
                <a:solidFill>
                  <a:srgbClr val="3D2226"/>
                </a:solidFill>
                <a:latin typeface="Calibri" pitchFamily="34" charset="0"/>
                <a:ea typeface="Calibri" pitchFamily="34" charset="-122"/>
                <a:cs typeface="Calibri" pitchFamily="34" charset="-120"/>
              </a:rPr>
              <a:t>Bradicardia y riesgo de arritmias / bloqueo AV.</a:t>
            </a:r>
            <a:endParaRPr lang="en-US" sz="1250" dirty="0"/>
          </a:p>
          <a:p>
            <a:pPr marL="203200" indent="-203200">
              <a:lnSpc>
                <a:spcPct val="108000"/>
              </a:lnSpc>
              <a:spcAft>
                <a:spcPts val="800"/>
              </a:spcAft>
              <a:buSzPct val="100000"/>
              <a:buChar char="•"/>
            </a:pPr>
            <a:r>
              <a:rPr lang="en-US" sz="1250" dirty="0">
                <a:solidFill>
                  <a:srgbClr val="3D2226"/>
                </a:solidFill>
                <a:latin typeface="Calibri" pitchFamily="34" charset="0"/>
                <a:ea typeface="Calibri" pitchFamily="34" charset="-122"/>
                <a:cs typeface="Calibri" pitchFamily="34" charset="-120"/>
              </a:rPr>
              <a:t>Aumento de secreciones (salivación, broncorrea).</a:t>
            </a:r>
            <a:endParaRPr lang="en-US" sz="1250" dirty="0"/>
          </a:p>
          <a:p>
            <a:pPr marL="203200" indent="-203200">
              <a:lnSpc>
                <a:spcPct val="108000"/>
              </a:lnSpc>
              <a:spcAft>
                <a:spcPts val="800"/>
              </a:spcAft>
              <a:buSzPct val="100000"/>
              <a:buChar char="•"/>
            </a:pPr>
            <a:r>
              <a:rPr lang="en-US" sz="1250" dirty="0">
                <a:solidFill>
                  <a:srgbClr val="3D2226"/>
                </a:solidFill>
                <a:latin typeface="Calibri" pitchFamily="34" charset="0"/>
                <a:ea typeface="Calibri" pitchFamily="34" charset="-122"/>
                <a:cs typeface="Calibri" pitchFamily="34" charset="-120"/>
              </a:rPr>
              <a:t>Broncoespasmo en pacientes susceptibles.</a:t>
            </a:r>
            <a:endParaRPr lang="en-US" sz="1250" dirty="0"/>
          </a:p>
          <a:p>
            <a:pPr marL="203200" indent="-203200">
              <a:lnSpc>
                <a:spcPct val="108000"/>
              </a:lnSpc>
              <a:spcAft>
                <a:spcPts val="800"/>
              </a:spcAft>
              <a:buSzPct val="100000"/>
              <a:buChar char="•"/>
            </a:pPr>
            <a:r>
              <a:rPr lang="en-US" sz="1250" dirty="0">
                <a:solidFill>
                  <a:srgbClr val="3D2226"/>
                </a:solidFill>
                <a:latin typeface="Calibri" pitchFamily="34" charset="0"/>
                <a:ea typeface="Calibri" pitchFamily="34" charset="-122"/>
                <a:cs typeface="Calibri" pitchFamily="34" charset="-120"/>
              </a:rPr>
              <a:t>Náuseas, vómitos y aumento de la motilidad intestinal.</a:t>
            </a:r>
            <a:endParaRPr lang="en-US" sz="1250" dirty="0"/>
          </a:p>
          <a:p>
            <a:pPr marL="203200" indent="-203200">
              <a:lnSpc>
                <a:spcPct val="108000"/>
              </a:lnSpc>
              <a:spcAft>
                <a:spcPts val="800"/>
              </a:spcAft>
              <a:buSzPct val="100000"/>
              <a:buChar char="•"/>
            </a:pPr>
            <a:r>
              <a:rPr lang="en-US" sz="1250" dirty="0">
                <a:solidFill>
                  <a:srgbClr val="3D2226"/>
                </a:solidFill>
                <a:latin typeface="Calibri" pitchFamily="34" charset="0"/>
                <a:ea typeface="Calibri" pitchFamily="34" charset="-122"/>
                <a:cs typeface="Calibri" pitchFamily="34" charset="-120"/>
              </a:rPr>
              <a:t>Miosis.</a:t>
            </a:r>
            <a:endParaRPr lang="en-US" sz="1250" dirty="0"/>
          </a:p>
        </p:txBody>
      </p:sp>
      <p:sp>
        <p:nvSpPr>
          <p:cNvPr id="8" name="Shape 5"/>
          <p:cNvSpPr/>
          <p:nvPr/>
        </p:nvSpPr>
        <p:spPr>
          <a:xfrm>
            <a:off x="7040880" y="1783080"/>
            <a:ext cx="4602175" cy="2514600"/>
          </a:xfrm>
          <a:prstGeom prst="roundRect">
            <a:avLst>
              <a:gd name="adj" fmla="val 290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9" name="Shape 6"/>
          <p:cNvSpPr/>
          <p:nvPr/>
        </p:nvSpPr>
        <p:spPr>
          <a:xfrm>
            <a:off x="7269480" y="2011680"/>
            <a:ext cx="502920" cy="502920"/>
          </a:xfrm>
          <a:prstGeom prst="ellipse">
            <a:avLst/>
          </a:prstGeom>
          <a:solidFill>
            <a:srgbClr val="E8A33D"/>
          </a:solidFill>
          <a:ln/>
        </p:spPr>
      </p:sp>
      <p:pic>
        <p:nvPicPr>
          <p:cNvPr id="10" name="Image 1" descr="/tmp/claude-0/-home-user-gpa-academy1/adc6e4aa-3b77-57c1-ba92-a8d4ee625c84/scratchpad/relajantes/icons/shield_FFFFFF.png">    </p:cNvPr>
          <p:cNvPicPr>
            <a:picLocks noChangeAspect="1"/>
          </p:cNvPicPr>
          <p:nvPr/>
        </p:nvPicPr>
        <p:blipFill>
          <a:blip r:embed="rId2"/>
          <a:stretch>
            <a:fillRect/>
          </a:stretch>
        </p:blipFill>
        <p:spPr>
          <a:xfrm>
            <a:off x="7339889" y="2082089"/>
            <a:ext cx="362102" cy="362102"/>
          </a:xfrm>
          <a:prstGeom prst="rect">
            <a:avLst/>
          </a:prstGeom>
        </p:spPr>
      </p:pic>
      <p:sp>
        <p:nvSpPr>
          <p:cNvPr id="11" name="Text 7"/>
          <p:cNvSpPr txBox="1"/>
          <p:nvPr/>
        </p:nvSpPr>
        <p:spPr>
          <a:xfrm>
            <a:off x="7909560" y="2075688"/>
            <a:ext cx="3504895" cy="365760"/>
          </a:xfrm>
          <a:prstGeom prst="rect">
            <a:avLst/>
          </a:prstGeom>
          <a:noFill/>
          <a:ln/>
        </p:spPr>
        <p:txBody>
          <a:bodyPr wrap="square" lIns="0" tIns="0" rIns="0" bIns="0" rtlCol="0" anchor="ctr"/>
          <a:lstStyle/>
          <a:p>
            <a:pPr indent="0" marL="0">
              <a:buNone/>
            </a:pPr>
            <a:r>
              <a:rPr lang="en-US" sz="1400" b="1" dirty="0">
                <a:solidFill>
                  <a:srgbClr val="7A1F2B"/>
                </a:solidFill>
                <a:latin typeface="Cambria" pitchFamily="34" charset="0"/>
                <a:ea typeface="Cambria" pitchFamily="34" charset="-122"/>
                <a:cs typeface="Cambria" pitchFamily="34" charset="-120"/>
              </a:rPr>
              <a:t>Regla de oro</a:t>
            </a:r>
            <a:endParaRPr lang="en-US" sz="1400" dirty="0"/>
          </a:p>
        </p:txBody>
      </p:sp>
      <p:sp>
        <p:nvSpPr>
          <p:cNvPr id="12" name="Text 8"/>
          <p:cNvSpPr txBox="1"/>
          <p:nvPr/>
        </p:nvSpPr>
        <p:spPr>
          <a:xfrm>
            <a:off x="7269480" y="2606040"/>
            <a:ext cx="4144975" cy="1554480"/>
          </a:xfrm>
          <a:prstGeom prst="rect">
            <a:avLst/>
          </a:prstGeom>
          <a:noFill/>
          <a:ln/>
        </p:spPr>
        <p:txBody>
          <a:bodyPr wrap="square" lIns="0" tIns="0" rIns="0" bIns="0" rtlCol="0" anchor="t"/>
          <a:lstStyle/>
          <a:p>
            <a:pPr indent="0" marL="0">
              <a:lnSpc>
                <a:spcPct val="115000"/>
              </a:lnSpc>
              <a:buNone/>
            </a:pPr>
            <a:r>
              <a:rPr lang="en-US" sz="1150" dirty="0">
                <a:solidFill>
                  <a:srgbClr val="3D2226"/>
                </a:solidFill>
                <a:latin typeface="Calibri" pitchFamily="34" charset="0"/>
                <a:ea typeface="Calibri" pitchFamily="34" charset="-122"/>
                <a:cs typeface="Calibri" pitchFamily="34" charset="-120"/>
              </a:rPr>
              <a:t>Todo anticolinesterásico DEBE administrarse junto con un anticolinérgico (atropina o glicopirrolato) para bloquear sus efectos muscarínicos sistémicos.</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94415" cy="1645920"/>
        </p:xfrm>
        <a:graphic>
          <a:graphicData uri="http://schemas.openxmlformats.org/drawingml/2006/table">
            <a:tbl>
              <a:tblPr/>
              <a:tblGrid>
                <a:gridCol w="3745301"/>
                <a:gridCol w="2996241"/>
                <a:gridCol w="4352873"/>
              </a:tblGrid>
              <a:tr h="54864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Combinación habitual</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Relación de dosis</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Ventaja clínica principal</a:t>
                      </a:r>
                      <a:endParaRPr lang="en-US" sz="11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7A1F2B"/>
                    </a:solidFill>
                  </a:tcPr>
                </a:tc>
              </a:tr>
              <a:tr h="548640">
                <a:tc>
                  <a:txBody>
                    <a:bodyPr/>
                    <a:lstStyle/>
                    <a:p>
                      <a:pPr algn="l" indent="0" marL="0">
                        <a:buNone/>
                      </a:pPr>
                      <a:r>
                        <a:rPr lang="en-US" sz="1050" b="1" dirty="0">
                          <a:solidFill>
                            <a:srgbClr val="2E1015"/>
                          </a:solidFill>
                          <a:latin typeface="Calibri" pitchFamily="34" charset="0"/>
                          <a:ea typeface="Calibri" pitchFamily="34" charset="-122"/>
                          <a:cs typeface="Calibri" pitchFamily="34" charset="-120"/>
                        </a:rPr>
                        <a:t>Neostigmina + Glicopirrolato</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1:0.2 (mg)</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Perfiles de inicio similares; menor taquicardia que atropina</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AF3F2"/>
                    </a:solidFill>
                  </a:tcPr>
                </a:tc>
              </a:tr>
              <a:tr h="548640">
                <a:tc>
                  <a:txBody>
                    <a:bodyPr/>
                    <a:lstStyle/>
                    <a:p>
                      <a:pPr algn="l" indent="0" marL="0">
                        <a:buNone/>
                      </a:pPr>
                      <a:r>
                        <a:rPr lang="en-US" sz="1050" b="1" dirty="0">
                          <a:solidFill>
                            <a:srgbClr val="2E1015"/>
                          </a:solidFill>
                          <a:latin typeface="Calibri" pitchFamily="34" charset="0"/>
                          <a:ea typeface="Calibri" pitchFamily="34" charset="-122"/>
                          <a:cs typeface="Calibri" pitchFamily="34" charset="-120"/>
                        </a:rPr>
                        <a:t>Neostigmina + Atropina</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1:0.4–0.5 (mg)</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2226"/>
                          </a:solidFill>
                          <a:latin typeface="Calibri" pitchFamily="34" charset="0"/>
                          <a:ea typeface="Calibri" pitchFamily="34" charset="-122"/>
                          <a:cs typeface="Calibri" pitchFamily="34" charset="-120"/>
                        </a:rPr>
                        <a:t>Inicio más rápido de atropina; útil si se requiere efecto cronotrópico inmediato</a:t>
                      </a:r>
                      <a:endParaRPr lang="en-US" sz="1050" dirty="0">
                        <a:latin typeface="Calibri" charset="0"/>
                        <a:ea typeface="Calibri" charset="0"/>
                        <a:cs typeface="Calibri" charset="0"/>
                      </a:endParaRPr>
                    </a:p>
                  </a:txBody>
                  <a:tcPr marL="91440" marR="91440" marT="45720" marB="45720" anchor="ctr">
                    <a:lnL w="9525" cap="flat" cmpd="sng" algn="ctr">
                      <a:solidFill>
                        <a:srgbClr val="F0DFDD"/>
                      </a:solidFill>
                      <a:prstDash val="solid"/>
                      <a:round/>
                      <a:headEnd type="none" w="med" len="med"/>
                      <a:tailEnd type="none" w="med" len="med"/>
                    </a:lnL>
                    <a:lnR w="9525" cap="flat" cmpd="sng" algn="ctr">
                      <a:solidFill>
                        <a:srgbClr val="F0DFDD"/>
                      </a:solidFill>
                      <a:prstDash val="solid"/>
                      <a:round/>
                      <a:headEnd type="none" w="med" len="med"/>
                      <a:tailEnd type="none" w="med" len="med"/>
                    </a:lnR>
                    <a:lnT w="9525" cap="flat" cmpd="sng" algn="ctr">
                      <a:solidFill>
                        <a:srgbClr val="F0DFDD"/>
                      </a:solidFill>
                      <a:prstDash val="solid"/>
                      <a:round/>
                      <a:headEnd type="none" w="med" len="med"/>
                      <a:tailEnd type="none" w="med" len="med"/>
                    </a:lnT>
                    <a:lnB w="9525" cap="flat" cmpd="sng" algn="ctr">
                      <a:solidFill>
                        <a:srgbClr val="F0DFDD"/>
                      </a:solidFill>
                      <a:prstDash val="solid"/>
                      <a:round/>
                      <a:headEnd type="none" w="med" len="med"/>
                      <a:tailEnd type="none" w="med" len="med"/>
                    </a:lnB>
                    <a:solidFill>
                      <a:srgbClr val="FFFFFF"/>
                    </a:solidFill>
                  </a:tcPr>
                </a:tc>
              </a:tr>
            </a:tbl>
          </a:graphicData>
        </a:graphic>
      </p:graphicFrame>
      <p:sp>
        <p:nvSpPr>
          <p:cNvPr id="14" name="Text 9"/>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15" name="Text 10"/>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shield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AVANCE FARMACOLÓGICO MODERNO</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Sugammadex — reversión selectiva de aminoesteroides</a:t>
            </a:r>
            <a:endParaRPr lang="en-US" sz="2700" dirty="0"/>
          </a:p>
        </p:txBody>
      </p:sp>
      <p:sp>
        <p:nvSpPr>
          <p:cNvPr id="6" name="Shape 3"/>
          <p:cNvSpPr/>
          <p:nvPr/>
        </p:nvSpPr>
        <p:spPr>
          <a:xfrm>
            <a:off x="548640" y="1463040"/>
            <a:ext cx="2567864" cy="1417320"/>
          </a:xfrm>
          <a:prstGeom prst="roundRect">
            <a:avLst>
              <a:gd name="adj" fmla="val 5161"/>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Text 4"/>
          <p:cNvSpPr txBox="1"/>
          <p:nvPr/>
        </p:nvSpPr>
        <p:spPr>
          <a:xfrm>
            <a:off x="640080" y="1554480"/>
            <a:ext cx="2384984" cy="737006"/>
          </a:xfrm>
          <a:prstGeom prst="rect">
            <a:avLst/>
          </a:prstGeom>
          <a:noFill/>
          <a:ln/>
        </p:spPr>
        <p:txBody>
          <a:bodyPr wrap="square" lIns="0" tIns="0" rIns="0" bIns="0" rtlCol="0" anchor="b"/>
          <a:lstStyle/>
          <a:p>
            <a:pPr algn="ctr" indent="0" marL="0">
              <a:lnSpc>
                <a:spcPct val="100000"/>
              </a:lnSpc>
              <a:buNone/>
            </a:pPr>
            <a:r>
              <a:rPr lang="en-US" sz="1800" b="1" dirty="0">
                <a:solidFill>
                  <a:srgbClr val="7A1F2B"/>
                </a:solidFill>
                <a:latin typeface="Cambria" pitchFamily="34" charset="0"/>
                <a:ea typeface="Cambria" pitchFamily="34" charset="-122"/>
                <a:cs typeface="Cambria" pitchFamily="34" charset="-120"/>
              </a:rPr>
              <a:t>γ-ciclodextrina</a:t>
            </a:r>
            <a:endParaRPr lang="en-US" sz="1800" dirty="0"/>
          </a:p>
        </p:txBody>
      </p:sp>
      <p:sp>
        <p:nvSpPr>
          <p:cNvPr id="8" name="Text 5"/>
          <p:cNvSpPr txBox="1"/>
          <p:nvPr/>
        </p:nvSpPr>
        <p:spPr>
          <a:xfrm>
            <a:off x="640080" y="2309774"/>
            <a:ext cx="2384984" cy="570586"/>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Naturaleza química: encapsulación molecular</a:t>
            </a:r>
            <a:endParaRPr lang="en-US" sz="1100" dirty="0"/>
          </a:p>
        </p:txBody>
      </p:sp>
      <p:sp>
        <p:nvSpPr>
          <p:cNvPr id="9" name="Shape 6"/>
          <p:cNvSpPr/>
          <p:nvPr/>
        </p:nvSpPr>
        <p:spPr>
          <a:xfrm>
            <a:off x="3390824" y="1463040"/>
            <a:ext cx="2567864" cy="1417320"/>
          </a:xfrm>
          <a:prstGeom prst="roundRect">
            <a:avLst>
              <a:gd name="adj" fmla="val 5161"/>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0" name="Text 7"/>
          <p:cNvSpPr txBox="1"/>
          <p:nvPr/>
        </p:nvSpPr>
        <p:spPr>
          <a:xfrm>
            <a:off x="3482264" y="1554480"/>
            <a:ext cx="2384984" cy="737006"/>
          </a:xfrm>
          <a:prstGeom prst="rect">
            <a:avLst/>
          </a:prstGeom>
          <a:noFill/>
          <a:ln/>
        </p:spPr>
        <p:txBody>
          <a:bodyPr wrap="square" lIns="0" tIns="0" rIns="0" bIns="0" rtlCol="0" anchor="b"/>
          <a:lstStyle/>
          <a:p>
            <a:pPr algn="ctr" indent="0" marL="0">
              <a:lnSpc>
                <a:spcPct val="100000"/>
              </a:lnSpc>
              <a:buNone/>
            </a:pPr>
            <a:r>
              <a:rPr lang="en-US" sz="1800" b="1" dirty="0">
                <a:solidFill>
                  <a:srgbClr val="7A1F2B"/>
                </a:solidFill>
                <a:latin typeface="Cambria" pitchFamily="34" charset="0"/>
                <a:ea typeface="Cambria" pitchFamily="34" charset="-122"/>
                <a:cs typeface="Cambria" pitchFamily="34" charset="-120"/>
              </a:rPr>
              <a:t>1.5–3 min</a:t>
            </a:r>
            <a:endParaRPr lang="en-US" sz="1800" dirty="0"/>
          </a:p>
        </p:txBody>
      </p:sp>
      <p:sp>
        <p:nvSpPr>
          <p:cNvPr id="11" name="Text 8"/>
          <p:cNvSpPr txBox="1"/>
          <p:nvPr/>
        </p:nvSpPr>
        <p:spPr>
          <a:xfrm>
            <a:off x="3482264" y="2309774"/>
            <a:ext cx="2384984" cy="570586"/>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Tiempo hasta recuperación completa (TOF ≥0.9)</a:t>
            </a:r>
            <a:endParaRPr lang="en-US" sz="1100" dirty="0"/>
          </a:p>
        </p:txBody>
      </p:sp>
      <p:sp>
        <p:nvSpPr>
          <p:cNvPr id="12" name="Shape 9"/>
          <p:cNvSpPr/>
          <p:nvPr/>
        </p:nvSpPr>
        <p:spPr>
          <a:xfrm>
            <a:off x="6233008" y="1463040"/>
            <a:ext cx="2567864" cy="1417320"/>
          </a:xfrm>
          <a:prstGeom prst="roundRect">
            <a:avLst>
              <a:gd name="adj" fmla="val 5161"/>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3" name="Text 10"/>
          <p:cNvSpPr txBox="1"/>
          <p:nvPr/>
        </p:nvSpPr>
        <p:spPr>
          <a:xfrm>
            <a:off x="6324448" y="1554480"/>
            <a:ext cx="2384984" cy="963778"/>
          </a:xfrm>
          <a:prstGeom prst="rect">
            <a:avLst/>
          </a:prstGeom>
          <a:noFill/>
          <a:ln/>
        </p:spPr>
        <p:txBody>
          <a:bodyPr wrap="square" lIns="0" tIns="0" rIns="0" bIns="0" rtlCol="0" anchor="b"/>
          <a:lstStyle/>
          <a:p>
            <a:pPr algn="ctr" indent="0" marL="0">
              <a:lnSpc>
                <a:spcPct val="100000"/>
              </a:lnSpc>
              <a:buNone/>
            </a:pPr>
            <a:r>
              <a:rPr lang="en-US" sz="1800" b="1" dirty="0">
                <a:solidFill>
                  <a:srgbClr val="7A1F2B"/>
                </a:solidFill>
                <a:latin typeface="Cambria" pitchFamily="34" charset="0"/>
                <a:ea typeface="Cambria" pitchFamily="34" charset="-122"/>
                <a:cs typeface="Cambria" pitchFamily="34" charset="-120"/>
              </a:rPr>
              <a:t>2 / 4 / 16</a:t>
            </a:r>
            <a:endParaRPr lang="en-US" sz="1800" dirty="0"/>
          </a:p>
          <a:p>
            <a:pPr algn="ctr" indent="0" marL="0">
              <a:lnSpc>
                <a:spcPct val="100000"/>
              </a:lnSpc>
              <a:buNone/>
            </a:pPr>
            <a:r>
              <a:rPr lang="en-US" sz="1800" b="1" dirty="0">
                <a:solidFill>
                  <a:srgbClr val="7A1F2B"/>
                </a:solidFill>
                <a:latin typeface="Cambria" pitchFamily="34" charset="0"/>
                <a:ea typeface="Cambria" pitchFamily="34" charset="-122"/>
                <a:cs typeface="Cambria" pitchFamily="34" charset="-120"/>
              </a:rPr>
              <a:t>mg/kg</a:t>
            </a:r>
            <a:endParaRPr lang="en-US" sz="1800" dirty="0"/>
          </a:p>
        </p:txBody>
      </p:sp>
      <p:sp>
        <p:nvSpPr>
          <p:cNvPr id="14" name="Text 11"/>
          <p:cNvSpPr txBox="1"/>
          <p:nvPr/>
        </p:nvSpPr>
        <p:spPr>
          <a:xfrm>
            <a:off x="6324448" y="2536546"/>
            <a:ext cx="2384984" cy="343814"/>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Dosis según profundidad del bloqueo</a:t>
            </a:r>
            <a:endParaRPr lang="en-US" sz="1100" dirty="0"/>
          </a:p>
        </p:txBody>
      </p:sp>
      <p:sp>
        <p:nvSpPr>
          <p:cNvPr id="15" name="Shape 12"/>
          <p:cNvSpPr/>
          <p:nvPr/>
        </p:nvSpPr>
        <p:spPr>
          <a:xfrm>
            <a:off x="9075191" y="1463040"/>
            <a:ext cx="2567864" cy="1417320"/>
          </a:xfrm>
          <a:prstGeom prst="roundRect">
            <a:avLst>
              <a:gd name="adj" fmla="val 5161"/>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6" name="Text 13"/>
          <p:cNvSpPr txBox="1"/>
          <p:nvPr/>
        </p:nvSpPr>
        <p:spPr>
          <a:xfrm>
            <a:off x="9166631" y="1554480"/>
            <a:ext cx="2384984" cy="737006"/>
          </a:xfrm>
          <a:prstGeom prst="rect">
            <a:avLst/>
          </a:prstGeom>
          <a:noFill/>
          <a:ln/>
        </p:spPr>
        <p:txBody>
          <a:bodyPr wrap="square" lIns="0" tIns="0" rIns="0" bIns="0" rtlCol="0" anchor="b"/>
          <a:lstStyle/>
          <a:p>
            <a:pPr algn="ctr" indent="0" marL="0">
              <a:lnSpc>
                <a:spcPct val="100000"/>
              </a:lnSpc>
              <a:buNone/>
            </a:pPr>
            <a:r>
              <a:rPr lang="en-US" sz="1800" b="1" dirty="0">
                <a:solidFill>
                  <a:srgbClr val="7A1F2B"/>
                </a:solidFill>
                <a:latin typeface="Cambria" pitchFamily="34" charset="0"/>
                <a:ea typeface="Cambria" pitchFamily="34" charset="-122"/>
                <a:cs typeface="Cambria" pitchFamily="34" charset="-120"/>
              </a:rPr>
              <a:t>Roc / Vec</a:t>
            </a:r>
            <a:endParaRPr lang="en-US" sz="1800" dirty="0"/>
          </a:p>
        </p:txBody>
      </p:sp>
      <p:sp>
        <p:nvSpPr>
          <p:cNvPr id="17" name="Text 14"/>
          <p:cNvSpPr txBox="1"/>
          <p:nvPr/>
        </p:nvSpPr>
        <p:spPr>
          <a:xfrm>
            <a:off x="9166631" y="2309774"/>
            <a:ext cx="2384984" cy="570586"/>
          </a:xfrm>
          <a:prstGeom prst="rect">
            <a:avLst/>
          </a:prstGeom>
          <a:noFill/>
          <a:ln/>
        </p:spPr>
        <p:txBody>
          <a:bodyPr wrap="square" lIns="0" tIns="0" rIns="0" bIns="0" rtlCol="0" anchor="t"/>
          <a:lstStyle/>
          <a:p>
            <a:pPr algn="ctr" indent="0" marL="0">
              <a:buNone/>
            </a:pPr>
            <a:r>
              <a:rPr lang="en-US" sz="1100" dirty="0">
                <a:solidFill>
                  <a:srgbClr val="7A5B5F"/>
                </a:solidFill>
                <a:latin typeface="Calibri" pitchFamily="34" charset="0"/>
                <a:ea typeface="Calibri" pitchFamily="34" charset="-122"/>
                <a:cs typeface="Calibri" pitchFamily="34" charset="-120"/>
              </a:rPr>
              <a:t>Aminoesteroides revertidos selectivamente</a:t>
            </a:r>
            <a:endParaRPr lang="en-US" sz="1100" dirty="0"/>
          </a:p>
        </p:txBody>
      </p:sp>
      <p:sp>
        <p:nvSpPr>
          <p:cNvPr id="18" name="Text 15"/>
          <p:cNvSpPr txBox="1"/>
          <p:nvPr/>
        </p:nvSpPr>
        <p:spPr>
          <a:xfrm>
            <a:off x="548640" y="3200400"/>
            <a:ext cx="11094415" cy="292608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Es una gamma-ciclodextrina modificada que forma un complejo de encapsulación 1:1 con rocuronio (y en menor medida vecuronio), inactivándolo farmacológicamente sin interactuar con receptores.</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Mecanismo completamente distinto al de los anticolinesterásicos: no depende de la acetilcolinesterasa ni tiene “techo” de reversión — puede revertir incluso bloqueo profundo o inmediato.</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No revierte bencilisoquinolinas (atracurio, cisatracurio) ni succinilcolina, al carecer estas de núcleo esteroideo compatible.</a:t>
            </a:r>
            <a:endParaRPr lang="en-US" sz="1250" dirty="0"/>
          </a:p>
          <a:p>
            <a:pPr marL="203200" indent="-203200">
              <a:lnSpc>
                <a:spcPct val="108000"/>
              </a:lnSpc>
              <a:spcAft>
                <a:spcPts val="1000"/>
              </a:spcAft>
              <a:buSzPct val="100000"/>
              <a:buChar char="•"/>
            </a:pPr>
            <a:r>
              <a:rPr lang="en-US" sz="1250" dirty="0">
                <a:solidFill>
                  <a:srgbClr val="3D2226"/>
                </a:solidFill>
                <a:latin typeface="Calibri" pitchFamily="34" charset="0"/>
                <a:ea typeface="Calibri" pitchFamily="34" charset="-122"/>
                <a:cs typeface="Calibri" pitchFamily="34" charset="-120"/>
              </a:rPr>
              <a:t>Efectos adversos infrecuentes: reacciones de hipersensibilidad/anafilaxia (raras), recurarización si la dosis es insuficiente para la profundidad del bloqueo, interferencia con anticonceptivos hormonales.</a:t>
            </a:r>
            <a:endParaRPr lang="en-US" sz="1250" dirty="0"/>
          </a:p>
        </p:txBody>
      </p:sp>
      <p:sp>
        <p:nvSpPr>
          <p:cNvPr id="19" name="Text 16"/>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20" name="Text 1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wave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VIGILANCIA OBJETIVA</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Monitorización del bloqueo neuromuscular — TOF y otras técnicas</a:t>
            </a:r>
            <a:endParaRPr lang="en-US" sz="2700" dirty="0"/>
          </a:p>
        </p:txBody>
      </p:sp>
      <p:sp>
        <p:nvSpPr>
          <p:cNvPr id="6" name="Shape 3"/>
          <p:cNvSpPr/>
          <p:nvPr/>
        </p:nvSpPr>
        <p:spPr>
          <a:xfrm>
            <a:off x="548640" y="1463040"/>
            <a:ext cx="6400800" cy="2651760"/>
          </a:xfrm>
          <a:prstGeom prst="roundRect">
            <a:avLst>
              <a:gd name="adj" fmla="val 2759"/>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Text 4"/>
          <p:cNvSpPr txBox="1"/>
          <p:nvPr/>
        </p:nvSpPr>
        <p:spPr>
          <a:xfrm>
            <a:off x="777240" y="1572768"/>
            <a:ext cx="5943600" cy="274320"/>
          </a:xfrm>
          <a:prstGeom prst="rect">
            <a:avLst/>
          </a:prstGeom>
          <a:noFill/>
          <a:ln/>
        </p:spPr>
        <p:txBody>
          <a:bodyPr wrap="square" lIns="0" tIns="0" rIns="0" bIns="0" rtlCol="0" anchor="ctr"/>
          <a:lstStyle/>
          <a:p>
            <a:pPr indent="0" marL="0">
              <a:buNone/>
            </a:pPr>
            <a:r>
              <a:rPr lang="en-US" sz="1150" b="1" dirty="0">
                <a:solidFill>
                  <a:srgbClr val="7A1F2B"/>
                </a:solidFill>
                <a:latin typeface="Calibri" pitchFamily="34" charset="0"/>
                <a:ea typeface="Calibri" pitchFamily="34" charset="-122"/>
                <a:cs typeface="Calibri" pitchFamily="34" charset="-120"/>
              </a:rPr>
              <a:t>Tren de cuatro (TOF) — 4 estímulos supramáximos a 2 Hz</a:t>
            </a:r>
            <a:endParaRPr lang="en-US" sz="1150" dirty="0"/>
          </a:p>
        </p:txBody>
      </p:sp>
      <p:sp>
        <p:nvSpPr>
          <p:cNvPr id="8" name="Shape 5"/>
          <p:cNvSpPr/>
          <p:nvPr/>
        </p:nvSpPr>
        <p:spPr>
          <a:xfrm>
            <a:off x="1097280" y="2057400"/>
            <a:ext cx="502920" cy="1188720"/>
          </a:xfrm>
          <a:prstGeom prst="rect">
            <a:avLst/>
          </a:prstGeom>
          <a:solidFill>
            <a:srgbClr val="7A1F2B"/>
          </a:solidFill>
          <a:ln/>
        </p:spPr>
      </p:sp>
      <p:sp>
        <p:nvSpPr>
          <p:cNvPr id="9" name="Text 6"/>
          <p:cNvSpPr txBox="1"/>
          <p:nvPr/>
        </p:nvSpPr>
        <p:spPr>
          <a:xfrm>
            <a:off x="1051560" y="3291840"/>
            <a:ext cx="594360" cy="228600"/>
          </a:xfrm>
          <a:prstGeom prst="rect">
            <a:avLst/>
          </a:prstGeom>
          <a:noFill/>
          <a:ln/>
        </p:spPr>
        <p:txBody>
          <a:bodyPr wrap="square" lIns="0" tIns="0" rIns="0" bIns="0" rtlCol="0" anchor="ctr"/>
          <a:lstStyle/>
          <a:p>
            <a:pPr algn="ctr" indent="0" marL="0">
              <a:buNone/>
            </a:pPr>
            <a:r>
              <a:rPr lang="en-US" sz="1000" dirty="0">
                <a:solidFill>
                  <a:srgbClr val="7A5B5F"/>
                </a:solidFill>
                <a:latin typeface="Calibri" pitchFamily="34" charset="0"/>
                <a:ea typeface="Calibri" pitchFamily="34" charset="-122"/>
                <a:cs typeface="Calibri" pitchFamily="34" charset="-120"/>
              </a:rPr>
              <a:t>T1</a:t>
            </a:r>
            <a:endParaRPr lang="en-US" sz="1000" dirty="0"/>
          </a:p>
        </p:txBody>
      </p:sp>
      <p:sp>
        <p:nvSpPr>
          <p:cNvPr id="10" name="Shape 7"/>
          <p:cNvSpPr/>
          <p:nvPr/>
        </p:nvSpPr>
        <p:spPr>
          <a:xfrm>
            <a:off x="2514600" y="2295144"/>
            <a:ext cx="502920" cy="950976"/>
          </a:xfrm>
          <a:prstGeom prst="rect">
            <a:avLst/>
          </a:prstGeom>
          <a:solidFill>
            <a:srgbClr val="7A1F2B"/>
          </a:solidFill>
          <a:ln/>
        </p:spPr>
      </p:sp>
      <p:sp>
        <p:nvSpPr>
          <p:cNvPr id="11" name="Text 8"/>
          <p:cNvSpPr txBox="1"/>
          <p:nvPr/>
        </p:nvSpPr>
        <p:spPr>
          <a:xfrm>
            <a:off x="2468880" y="3291840"/>
            <a:ext cx="594360" cy="228600"/>
          </a:xfrm>
          <a:prstGeom prst="rect">
            <a:avLst/>
          </a:prstGeom>
          <a:noFill/>
          <a:ln/>
        </p:spPr>
        <p:txBody>
          <a:bodyPr wrap="square" lIns="0" tIns="0" rIns="0" bIns="0" rtlCol="0" anchor="ctr"/>
          <a:lstStyle/>
          <a:p>
            <a:pPr algn="ctr" indent="0" marL="0">
              <a:buNone/>
            </a:pPr>
            <a:r>
              <a:rPr lang="en-US" sz="1000" dirty="0">
                <a:solidFill>
                  <a:srgbClr val="7A5B5F"/>
                </a:solidFill>
                <a:latin typeface="Calibri" pitchFamily="34" charset="0"/>
                <a:ea typeface="Calibri" pitchFamily="34" charset="-122"/>
                <a:cs typeface="Calibri" pitchFamily="34" charset="-120"/>
              </a:rPr>
              <a:t>T2</a:t>
            </a:r>
            <a:endParaRPr lang="en-US" sz="1000" dirty="0"/>
          </a:p>
        </p:txBody>
      </p:sp>
      <p:sp>
        <p:nvSpPr>
          <p:cNvPr id="12" name="Shape 9"/>
          <p:cNvSpPr/>
          <p:nvPr/>
        </p:nvSpPr>
        <p:spPr>
          <a:xfrm>
            <a:off x="3931920" y="2592324"/>
            <a:ext cx="502920" cy="653796"/>
          </a:xfrm>
          <a:prstGeom prst="rect">
            <a:avLst/>
          </a:prstGeom>
          <a:solidFill>
            <a:srgbClr val="7A1F2B"/>
          </a:solidFill>
          <a:ln/>
        </p:spPr>
      </p:sp>
      <p:sp>
        <p:nvSpPr>
          <p:cNvPr id="13" name="Text 10"/>
          <p:cNvSpPr txBox="1"/>
          <p:nvPr/>
        </p:nvSpPr>
        <p:spPr>
          <a:xfrm>
            <a:off x="3886200" y="3291840"/>
            <a:ext cx="594360" cy="228600"/>
          </a:xfrm>
          <a:prstGeom prst="rect">
            <a:avLst/>
          </a:prstGeom>
          <a:noFill/>
          <a:ln/>
        </p:spPr>
        <p:txBody>
          <a:bodyPr wrap="square" lIns="0" tIns="0" rIns="0" bIns="0" rtlCol="0" anchor="ctr"/>
          <a:lstStyle/>
          <a:p>
            <a:pPr algn="ctr" indent="0" marL="0">
              <a:buNone/>
            </a:pPr>
            <a:r>
              <a:rPr lang="en-US" sz="1000" dirty="0">
                <a:solidFill>
                  <a:srgbClr val="7A5B5F"/>
                </a:solidFill>
                <a:latin typeface="Calibri" pitchFamily="34" charset="0"/>
                <a:ea typeface="Calibri" pitchFamily="34" charset="-122"/>
                <a:cs typeface="Calibri" pitchFamily="34" charset="-120"/>
              </a:rPr>
              <a:t>T3</a:t>
            </a:r>
            <a:endParaRPr lang="en-US" sz="1000" dirty="0"/>
          </a:p>
        </p:txBody>
      </p:sp>
      <p:sp>
        <p:nvSpPr>
          <p:cNvPr id="14" name="Shape 11"/>
          <p:cNvSpPr/>
          <p:nvPr/>
        </p:nvSpPr>
        <p:spPr>
          <a:xfrm>
            <a:off x="5349240" y="2889504"/>
            <a:ext cx="502920" cy="356616"/>
          </a:xfrm>
          <a:prstGeom prst="rect">
            <a:avLst/>
          </a:prstGeom>
          <a:solidFill>
            <a:srgbClr val="7A1F2B"/>
          </a:solidFill>
          <a:ln/>
        </p:spPr>
      </p:sp>
      <p:sp>
        <p:nvSpPr>
          <p:cNvPr id="15" name="Text 12"/>
          <p:cNvSpPr txBox="1"/>
          <p:nvPr/>
        </p:nvSpPr>
        <p:spPr>
          <a:xfrm>
            <a:off x="5303520" y="3291840"/>
            <a:ext cx="594360" cy="228600"/>
          </a:xfrm>
          <a:prstGeom prst="rect">
            <a:avLst/>
          </a:prstGeom>
          <a:noFill/>
          <a:ln/>
        </p:spPr>
        <p:txBody>
          <a:bodyPr wrap="square" lIns="0" tIns="0" rIns="0" bIns="0" rtlCol="0" anchor="ctr"/>
          <a:lstStyle/>
          <a:p>
            <a:pPr algn="ctr" indent="0" marL="0">
              <a:buNone/>
            </a:pPr>
            <a:r>
              <a:rPr lang="en-US" sz="1000" dirty="0">
                <a:solidFill>
                  <a:srgbClr val="7A5B5F"/>
                </a:solidFill>
                <a:latin typeface="Calibri" pitchFamily="34" charset="0"/>
                <a:ea typeface="Calibri" pitchFamily="34" charset="-122"/>
                <a:cs typeface="Calibri" pitchFamily="34" charset="-120"/>
              </a:rPr>
              <a:t>T4</a:t>
            </a:r>
            <a:endParaRPr lang="en-US" sz="1000" dirty="0"/>
          </a:p>
        </p:txBody>
      </p:sp>
      <p:sp>
        <p:nvSpPr>
          <p:cNvPr id="16" name="Text 13"/>
          <p:cNvSpPr txBox="1"/>
          <p:nvPr/>
        </p:nvSpPr>
        <p:spPr>
          <a:xfrm>
            <a:off x="777240" y="3547872"/>
            <a:ext cx="5943600" cy="502920"/>
          </a:xfrm>
          <a:prstGeom prst="rect">
            <a:avLst/>
          </a:prstGeom>
          <a:noFill/>
          <a:ln/>
        </p:spPr>
        <p:txBody>
          <a:bodyPr wrap="square" lIns="0" tIns="0" rIns="0" bIns="0" rtlCol="0" anchor="t"/>
          <a:lstStyle/>
          <a:p>
            <a:pPr indent="0" marL="0">
              <a:buNone/>
            </a:pPr>
            <a:r>
              <a:rPr lang="en-US" sz="1000" i="1" dirty="0">
                <a:solidFill>
                  <a:srgbClr val="3D2226"/>
                </a:solidFill>
                <a:latin typeface="Calibri" pitchFamily="34" charset="0"/>
                <a:ea typeface="Calibri" pitchFamily="34" charset="-122"/>
                <a:cs typeface="Calibri" pitchFamily="34" charset="-120"/>
              </a:rPr>
              <a:t>El “fade” (T4/T1) progresivo indica bloqueo no despolarizante. TOFR ≥ 0.9 = recuperación neuromuscular adecuada.</a:t>
            </a:r>
            <a:endParaRPr lang="en-US" sz="1000" dirty="0"/>
          </a:p>
        </p:txBody>
      </p:sp>
      <p:sp>
        <p:nvSpPr>
          <p:cNvPr id="17" name="Shape 14"/>
          <p:cNvSpPr/>
          <p:nvPr/>
        </p:nvSpPr>
        <p:spPr>
          <a:xfrm>
            <a:off x="7315200" y="1463040"/>
            <a:ext cx="4327855" cy="4480560"/>
          </a:xfrm>
          <a:prstGeom prst="roundRect">
            <a:avLst>
              <a:gd name="adj" fmla="val 1690"/>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8" name="Text 15"/>
          <p:cNvSpPr txBox="1"/>
          <p:nvPr/>
        </p:nvSpPr>
        <p:spPr>
          <a:xfrm>
            <a:off x="7543800" y="1664208"/>
            <a:ext cx="3870655" cy="274320"/>
          </a:xfrm>
          <a:prstGeom prst="rect">
            <a:avLst/>
          </a:prstGeom>
          <a:noFill/>
          <a:ln/>
        </p:spPr>
        <p:txBody>
          <a:bodyPr wrap="square" lIns="0" tIns="0" rIns="0" bIns="0" rtlCol="0" anchor="ctr"/>
          <a:lstStyle/>
          <a:p>
            <a:pPr indent="0" marL="0">
              <a:buNone/>
            </a:pPr>
            <a:r>
              <a:rPr lang="en-US" sz="1100" b="1" spc="130" kern="0" dirty="0">
                <a:solidFill>
                  <a:srgbClr val="7A1F2B"/>
                </a:solidFill>
                <a:latin typeface="Calibri" pitchFamily="34" charset="0"/>
                <a:ea typeface="Calibri" pitchFamily="34" charset="-122"/>
                <a:cs typeface="Calibri" pitchFamily="34" charset="-120"/>
              </a:rPr>
              <a:t>OTRAS TÉCNICAS</a:t>
            </a:r>
            <a:endParaRPr lang="en-US" sz="1100" dirty="0"/>
          </a:p>
        </p:txBody>
      </p:sp>
      <p:sp>
        <p:nvSpPr>
          <p:cNvPr id="19" name="Text 16"/>
          <p:cNvSpPr txBox="1"/>
          <p:nvPr/>
        </p:nvSpPr>
        <p:spPr>
          <a:xfrm>
            <a:off x="7543800" y="2057400"/>
            <a:ext cx="3870655" cy="27432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Conteo postetánico (PTC)</a:t>
            </a:r>
            <a:endParaRPr lang="en-US" sz="1150" dirty="0"/>
          </a:p>
        </p:txBody>
      </p:sp>
      <p:sp>
        <p:nvSpPr>
          <p:cNvPr id="20" name="Text 17"/>
          <p:cNvSpPr txBox="1"/>
          <p:nvPr/>
        </p:nvSpPr>
        <p:spPr>
          <a:xfrm>
            <a:off x="7543800" y="2313432"/>
            <a:ext cx="3870655" cy="502920"/>
          </a:xfrm>
          <a:prstGeom prst="rect">
            <a:avLst/>
          </a:prstGeom>
          <a:noFill/>
          <a:ln/>
        </p:spPr>
        <p:txBody>
          <a:bodyPr wrap="square" lIns="0" tIns="0" rIns="0" bIns="0" rtlCol="0" anchor="t"/>
          <a:lstStyle/>
          <a:p>
            <a:pPr indent="0" marL="0">
              <a:lnSpc>
                <a:spcPct val="105000"/>
              </a:lnSpc>
              <a:buNone/>
            </a:pPr>
            <a:r>
              <a:rPr lang="en-US" sz="1000" dirty="0">
                <a:solidFill>
                  <a:srgbClr val="7A5B5F"/>
                </a:solidFill>
                <a:latin typeface="Calibri" pitchFamily="34" charset="0"/>
                <a:ea typeface="Calibri" pitchFamily="34" charset="-122"/>
                <a:cs typeface="Calibri" pitchFamily="34" charset="-120"/>
              </a:rPr>
              <a:t>Evalúa bloqueo profundo, cuando no hay respuesta al TOF.</a:t>
            </a:r>
            <a:endParaRPr lang="en-US" sz="1000" dirty="0"/>
          </a:p>
        </p:txBody>
      </p:sp>
      <p:sp>
        <p:nvSpPr>
          <p:cNvPr id="21" name="Text 18"/>
          <p:cNvSpPr txBox="1"/>
          <p:nvPr/>
        </p:nvSpPr>
        <p:spPr>
          <a:xfrm>
            <a:off x="7543800" y="2953512"/>
            <a:ext cx="3870655" cy="27432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Doble ráfaga (DBS)</a:t>
            </a:r>
            <a:endParaRPr lang="en-US" sz="1150" dirty="0"/>
          </a:p>
        </p:txBody>
      </p:sp>
      <p:sp>
        <p:nvSpPr>
          <p:cNvPr id="22" name="Text 19"/>
          <p:cNvSpPr txBox="1"/>
          <p:nvPr/>
        </p:nvSpPr>
        <p:spPr>
          <a:xfrm>
            <a:off x="7543800" y="3209544"/>
            <a:ext cx="3870655" cy="502920"/>
          </a:xfrm>
          <a:prstGeom prst="rect">
            <a:avLst/>
          </a:prstGeom>
          <a:noFill/>
          <a:ln/>
        </p:spPr>
        <p:txBody>
          <a:bodyPr wrap="square" lIns="0" tIns="0" rIns="0" bIns="0" rtlCol="0" anchor="t"/>
          <a:lstStyle/>
          <a:p>
            <a:pPr indent="0" marL="0">
              <a:lnSpc>
                <a:spcPct val="105000"/>
              </a:lnSpc>
              <a:buNone/>
            </a:pPr>
            <a:r>
              <a:rPr lang="en-US" sz="1000" dirty="0">
                <a:solidFill>
                  <a:srgbClr val="7A5B5F"/>
                </a:solidFill>
                <a:latin typeface="Calibri" pitchFamily="34" charset="0"/>
                <a:ea typeface="Calibri" pitchFamily="34" charset="-122"/>
                <a:cs typeface="Calibri" pitchFamily="34" charset="-120"/>
              </a:rPr>
              <a:t>Más fácil de evaluar táctilmente que el fade del TOF.</a:t>
            </a:r>
            <a:endParaRPr lang="en-US" sz="1000" dirty="0"/>
          </a:p>
        </p:txBody>
      </p:sp>
      <p:sp>
        <p:nvSpPr>
          <p:cNvPr id="23" name="Text 20"/>
          <p:cNvSpPr txBox="1"/>
          <p:nvPr/>
        </p:nvSpPr>
        <p:spPr>
          <a:xfrm>
            <a:off x="7543800" y="3849624"/>
            <a:ext cx="3870655" cy="27432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Estimulación tetánica</a:t>
            </a:r>
            <a:endParaRPr lang="en-US" sz="1150" dirty="0"/>
          </a:p>
        </p:txBody>
      </p:sp>
      <p:sp>
        <p:nvSpPr>
          <p:cNvPr id="24" name="Text 21"/>
          <p:cNvSpPr txBox="1"/>
          <p:nvPr/>
        </p:nvSpPr>
        <p:spPr>
          <a:xfrm>
            <a:off x="7543800" y="4105656"/>
            <a:ext cx="3870655" cy="502920"/>
          </a:xfrm>
          <a:prstGeom prst="rect">
            <a:avLst/>
          </a:prstGeom>
          <a:noFill/>
          <a:ln/>
        </p:spPr>
        <p:txBody>
          <a:bodyPr wrap="square" lIns="0" tIns="0" rIns="0" bIns="0" rtlCol="0" anchor="t"/>
          <a:lstStyle/>
          <a:p>
            <a:pPr indent="0" marL="0">
              <a:lnSpc>
                <a:spcPct val="105000"/>
              </a:lnSpc>
              <a:buNone/>
            </a:pPr>
            <a:r>
              <a:rPr lang="en-US" sz="1000" dirty="0">
                <a:solidFill>
                  <a:srgbClr val="7A5B5F"/>
                </a:solidFill>
                <a:latin typeface="Calibri" pitchFamily="34" charset="0"/>
                <a:ea typeface="Calibri" pitchFamily="34" charset="-122"/>
                <a:cs typeface="Calibri" pitchFamily="34" charset="-120"/>
              </a:rPr>
              <a:t>Sostenida a 50 Hz; el fade confirma bloqueo residual.</a:t>
            </a:r>
            <a:endParaRPr lang="en-US" sz="1000" dirty="0"/>
          </a:p>
        </p:txBody>
      </p:sp>
      <p:sp>
        <p:nvSpPr>
          <p:cNvPr id="25" name="Text 22"/>
          <p:cNvSpPr txBox="1"/>
          <p:nvPr/>
        </p:nvSpPr>
        <p:spPr>
          <a:xfrm>
            <a:off x="7543800" y="4745736"/>
            <a:ext cx="3870655" cy="274320"/>
          </a:xfrm>
          <a:prstGeom prst="rect">
            <a:avLst/>
          </a:prstGeom>
          <a:noFill/>
          <a:ln/>
        </p:spPr>
        <p:txBody>
          <a:bodyPr wrap="square" lIns="0" tIns="0" rIns="0" bIns="0" rtlCol="0" anchor="ctr"/>
          <a:lstStyle/>
          <a:p>
            <a:pPr indent="0" marL="0">
              <a:buNone/>
            </a:pPr>
            <a:r>
              <a:rPr lang="en-US" sz="1150" b="1" dirty="0">
                <a:solidFill>
                  <a:srgbClr val="2E1015"/>
                </a:solidFill>
                <a:latin typeface="Calibri" pitchFamily="34" charset="0"/>
                <a:ea typeface="Calibri" pitchFamily="34" charset="-122"/>
                <a:cs typeface="Calibri" pitchFamily="34" charset="-120"/>
              </a:rPr>
              <a:t>Aceleromiografía / electromiografía</a:t>
            </a:r>
            <a:endParaRPr lang="en-US" sz="1150" dirty="0"/>
          </a:p>
        </p:txBody>
      </p:sp>
      <p:sp>
        <p:nvSpPr>
          <p:cNvPr id="26" name="Text 23"/>
          <p:cNvSpPr txBox="1"/>
          <p:nvPr/>
        </p:nvSpPr>
        <p:spPr>
          <a:xfrm>
            <a:off x="7543800" y="5001768"/>
            <a:ext cx="3870655" cy="502920"/>
          </a:xfrm>
          <a:prstGeom prst="rect">
            <a:avLst/>
          </a:prstGeom>
          <a:noFill/>
          <a:ln/>
        </p:spPr>
        <p:txBody>
          <a:bodyPr wrap="square" lIns="0" tIns="0" rIns="0" bIns="0" rtlCol="0" anchor="t"/>
          <a:lstStyle/>
          <a:p>
            <a:pPr indent="0" marL="0">
              <a:lnSpc>
                <a:spcPct val="105000"/>
              </a:lnSpc>
              <a:buNone/>
            </a:pPr>
            <a:r>
              <a:rPr lang="en-US" sz="1000" dirty="0">
                <a:solidFill>
                  <a:srgbClr val="7A5B5F"/>
                </a:solidFill>
                <a:latin typeface="Calibri" pitchFamily="34" charset="0"/>
                <a:ea typeface="Calibri" pitchFamily="34" charset="-122"/>
                <a:cs typeface="Calibri" pitchFamily="34" charset="-120"/>
              </a:rPr>
              <a:t>Monitorización cuantitativa objetiva (estándar recomendado sobre la evaluación visual/táctil).</a:t>
            </a:r>
            <a:endParaRPr lang="en-US" sz="1000" dirty="0"/>
          </a:p>
        </p:txBody>
      </p:sp>
      <p:sp>
        <p:nvSpPr>
          <p:cNvPr id="27" name="Text 24"/>
          <p:cNvSpPr txBox="1"/>
          <p:nvPr/>
        </p:nvSpPr>
        <p:spPr>
          <a:xfrm>
            <a:off x="548640" y="4343400"/>
            <a:ext cx="6400800" cy="1371600"/>
          </a:xfrm>
          <a:prstGeom prst="rect">
            <a:avLst/>
          </a:prstGeom>
          <a:noFill/>
          <a:ln/>
        </p:spPr>
        <p:txBody>
          <a:bodyPr wrap="square" lIns="0" tIns="0" rIns="0" bIns="0" rtlCol="0" anchor="t"/>
          <a:lstStyle/>
          <a:p>
            <a:pPr marL="203200" indent="-203200">
              <a:lnSpc>
                <a:spcPct val="108000"/>
              </a:lnSpc>
              <a:spcAft>
                <a:spcPts val="600"/>
              </a:spcAft>
              <a:buSzPct val="100000"/>
              <a:buChar char="•"/>
            </a:pPr>
            <a:r>
              <a:rPr lang="en-US" sz="1150" dirty="0">
                <a:solidFill>
                  <a:srgbClr val="3D2226"/>
                </a:solidFill>
                <a:latin typeface="Calibri" pitchFamily="34" charset="0"/>
                <a:ea typeface="Calibri" pitchFamily="34" charset="-122"/>
                <a:cs typeface="Calibri" pitchFamily="34" charset="-120"/>
              </a:rPr>
              <a:t>La evaluación clínica subjetiva (fuerza de prensión, elevación cefálica) es poco sensible para detectar bloqueo residual leve-moderado; se recomienda monitorización cuantitativa siempre que esté disponible.</a:t>
            </a:r>
            <a:endParaRPr lang="en-US" sz="1150" dirty="0"/>
          </a:p>
        </p:txBody>
      </p:sp>
      <p:sp>
        <p:nvSpPr>
          <p:cNvPr id="28" name="Text 25"/>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29" name="Text 2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procedures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APLICACIÓN PERIOPERATORIA</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Uso clínico de los relajantes musculares</a:t>
            </a:r>
            <a:endParaRPr lang="en-US" sz="2700" dirty="0"/>
          </a:p>
        </p:txBody>
      </p:sp>
      <p:sp>
        <p:nvSpPr>
          <p:cNvPr id="6" name="Shape 3"/>
          <p:cNvSpPr/>
          <p:nvPr/>
        </p:nvSpPr>
        <p:spPr>
          <a:xfrm>
            <a:off x="548640" y="1508760"/>
            <a:ext cx="3515258" cy="4480560"/>
          </a:xfrm>
          <a:prstGeom prst="roundRect">
            <a:avLst>
              <a:gd name="adj" fmla="val 2081"/>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1995373" y="1783080"/>
            <a:ext cx="621792" cy="621792"/>
          </a:xfrm>
          <a:prstGeom prst="ellipse">
            <a:avLst/>
          </a:prstGeom>
          <a:solidFill>
            <a:srgbClr val="7A1F2B"/>
          </a:solidFill>
          <a:ln/>
        </p:spPr>
      </p:sp>
      <p:pic>
        <p:nvPicPr>
          <p:cNvPr id="8" name="Image 1" descr="/tmp/claude-0/-home-user-gpa-academy1/adc6e4aa-3b77-57c1-ba92-a8d4ee625c84/scratchpad/relajantes/icons/userMd_FFFFFF.png">    </p:cNvPr>
          <p:cNvPicPr>
            <a:picLocks noChangeAspect="1"/>
          </p:cNvPicPr>
          <p:nvPr/>
        </p:nvPicPr>
        <p:blipFill>
          <a:blip r:embed="rId2"/>
          <a:stretch>
            <a:fillRect/>
          </a:stretch>
        </p:blipFill>
        <p:spPr>
          <a:xfrm>
            <a:off x="2082424" y="1870131"/>
            <a:ext cx="447690" cy="447690"/>
          </a:xfrm>
          <a:prstGeom prst="rect">
            <a:avLst/>
          </a:prstGeom>
        </p:spPr>
      </p:pic>
      <p:sp>
        <p:nvSpPr>
          <p:cNvPr id="9" name="Text 5"/>
          <p:cNvSpPr txBox="1"/>
          <p:nvPr/>
        </p:nvSpPr>
        <p:spPr>
          <a:xfrm>
            <a:off x="731520" y="2606040"/>
            <a:ext cx="3149498" cy="548640"/>
          </a:xfrm>
          <a:prstGeom prst="rect">
            <a:avLst/>
          </a:prstGeom>
          <a:noFill/>
          <a:ln/>
        </p:spPr>
        <p:txBody>
          <a:bodyPr wrap="square" lIns="0" tIns="0" rIns="0" bIns="0" rtlCol="0" anchor="ctr"/>
          <a:lstStyle/>
          <a:p>
            <a:pPr algn="ctr" indent="0" marL="0">
              <a:buNone/>
            </a:pPr>
            <a:r>
              <a:rPr lang="en-US" sz="1450" b="1" dirty="0">
                <a:solidFill>
                  <a:srgbClr val="7A1F2B"/>
                </a:solidFill>
                <a:latin typeface="Cambria" pitchFamily="34" charset="0"/>
                <a:ea typeface="Cambria" pitchFamily="34" charset="-122"/>
                <a:cs typeface="Cambria" pitchFamily="34" charset="-120"/>
              </a:rPr>
              <a:t>Intubación endotraqueal</a:t>
            </a:r>
            <a:endParaRPr lang="en-US" sz="1450" dirty="0"/>
          </a:p>
        </p:txBody>
      </p:sp>
      <p:sp>
        <p:nvSpPr>
          <p:cNvPr id="10" name="Text 6"/>
          <p:cNvSpPr txBox="1"/>
          <p:nvPr/>
        </p:nvSpPr>
        <p:spPr>
          <a:xfrm>
            <a:off x="804672" y="3200400"/>
            <a:ext cx="3003194" cy="265176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Optimiza condiciones de laringoscopia</a:t>
            </a:r>
            <a:endParaRPr lang="en-US" sz="1100" dirty="0"/>
          </a:p>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Reduce trauma en cuerdas vocales</a:t>
            </a:r>
            <a:endParaRPr lang="en-US" sz="1100" dirty="0"/>
          </a:p>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Succinilcolina o rocuronio según contexto (ISR)</a:t>
            </a:r>
            <a:endParaRPr lang="en-US" sz="1100" dirty="0"/>
          </a:p>
        </p:txBody>
      </p:sp>
      <p:sp>
        <p:nvSpPr>
          <p:cNvPr id="11" name="Shape 7"/>
          <p:cNvSpPr/>
          <p:nvPr/>
        </p:nvSpPr>
        <p:spPr>
          <a:xfrm>
            <a:off x="4338218" y="1508760"/>
            <a:ext cx="3515258" cy="4480560"/>
          </a:xfrm>
          <a:prstGeom prst="roundRect">
            <a:avLst>
              <a:gd name="adj" fmla="val 2081"/>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2" name="Shape 8"/>
          <p:cNvSpPr/>
          <p:nvPr/>
        </p:nvSpPr>
        <p:spPr>
          <a:xfrm>
            <a:off x="5784952" y="1783080"/>
            <a:ext cx="621792" cy="621792"/>
          </a:xfrm>
          <a:prstGeom prst="ellipse">
            <a:avLst/>
          </a:prstGeom>
          <a:solidFill>
            <a:srgbClr val="7A1F2B"/>
          </a:solidFill>
          <a:ln/>
        </p:spPr>
      </p:sp>
      <p:pic>
        <p:nvPicPr>
          <p:cNvPr id="13" name="Image 2" descr="/tmp/claude-0/-home-user-gpa-academy1/adc6e4aa-3b77-57c1-ba92-a8d4ee625c84/scratchpad/relajantes/icons/procedures_FFFFFF.png">    </p:cNvPr>
          <p:cNvPicPr>
            <a:picLocks noChangeAspect="1"/>
          </p:cNvPicPr>
          <p:nvPr/>
        </p:nvPicPr>
        <p:blipFill>
          <a:blip r:embed="rId3"/>
          <a:stretch>
            <a:fillRect/>
          </a:stretch>
        </p:blipFill>
        <p:spPr>
          <a:xfrm>
            <a:off x="5872002" y="1870131"/>
            <a:ext cx="447690" cy="447690"/>
          </a:xfrm>
          <a:prstGeom prst="rect">
            <a:avLst/>
          </a:prstGeom>
        </p:spPr>
      </p:pic>
      <p:sp>
        <p:nvSpPr>
          <p:cNvPr id="14" name="Text 9"/>
          <p:cNvSpPr txBox="1"/>
          <p:nvPr/>
        </p:nvSpPr>
        <p:spPr>
          <a:xfrm>
            <a:off x="4521098" y="2606040"/>
            <a:ext cx="3149498" cy="548640"/>
          </a:xfrm>
          <a:prstGeom prst="rect">
            <a:avLst/>
          </a:prstGeom>
          <a:noFill/>
          <a:ln/>
        </p:spPr>
        <p:txBody>
          <a:bodyPr wrap="square" lIns="0" tIns="0" rIns="0" bIns="0" rtlCol="0" anchor="ctr"/>
          <a:lstStyle/>
          <a:p>
            <a:pPr algn="ctr" indent="0" marL="0">
              <a:buNone/>
            </a:pPr>
            <a:r>
              <a:rPr lang="en-US" sz="1450" b="1" dirty="0">
                <a:solidFill>
                  <a:srgbClr val="7A1F2B"/>
                </a:solidFill>
                <a:latin typeface="Cambria" pitchFamily="34" charset="0"/>
                <a:ea typeface="Cambria" pitchFamily="34" charset="-122"/>
                <a:cs typeface="Cambria" pitchFamily="34" charset="-120"/>
              </a:rPr>
              <a:t>Relajación quirúrgica</a:t>
            </a:r>
            <a:endParaRPr lang="en-US" sz="1450" dirty="0"/>
          </a:p>
        </p:txBody>
      </p:sp>
      <p:sp>
        <p:nvSpPr>
          <p:cNvPr id="15" name="Text 10"/>
          <p:cNvSpPr txBox="1"/>
          <p:nvPr/>
        </p:nvSpPr>
        <p:spPr>
          <a:xfrm>
            <a:off x="4594250" y="3200400"/>
            <a:ext cx="3003194" cy="265176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Cirugía abdominal, torácica, laparoscópica</a:t>
            </a:r>
            <a:endParaRPr lang="en-US" sz="1100" dirty="0"/>
          </a:p>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Mejora exposición y campo operatorio</a:t>
            </a:r>
            <a:endParaRPr lang="en-US" sz="1100" dirty="0"/>
          </a:p>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Reduce presión intraabdominal requerida en laparoscopia</a:t>
            </a:r>
            <a:endParaRPr lang="en-US" sz="1100" dirty="0"/>
          </a:p>
        </p:txBody>
      </p:sp>
      <p:sp>
        <p:nvSpPr>
          <p:cNvPr id="16" name="Shape 11"/>
          <p:cNvSpPr/>
          <p:nvPr/>
        </p:nvSpPr>
        <p:spPr>
          <a:xfrm>
            <a:off x="8127797" y="1508760"/>
            <a:ext cx="3515258" cy="4480560"/>
          </a:xfrm>
          <a:prstGeom prst="roundRect">
            <a:avLst>
              <a:gd name="adj" fmla="val 2081"/>
            </a:avLst>
          </a:prstGeom>
          <a:solidFill>
            <a:srgbClr val="FAF3F2"/>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7" name="Shape 12"/>
          <p:cNvSpPr/>
          <p:nvPr/>
        </p:nvSpPr>
        <p:spPr>
          <a:xfrm>
            <a:off x="9574530" y="1783080"/>
            <a:ext cx="621792" cy="621792"/>
          </a:xfrm>
          <a:prstGeom prst="ellipse">
            <a:avLst/>
          </a:prstGeom>
          <a:solidFill>
            <a:srgbClr val="7A1F2B"/>
          </a:solidFill>
          <a:ln/>
        </p:spPr>
      </p:sp>
      <p:pic>
        <p:nvPicPr>
          <p:cNvPr id="18" name="Image 3" descr="/tmp/claude-0/-home-user-gpa-academy1/adc6e4aa-3b77-57c1-ba92-a8d4ee625c84/scratchpad/relajantes/icons/lungs_FFFFFF.png">    </p:cNvPr>
          <p:cNvPicPr>
            <a:picLocks noChangeAspect="1"/>
          </p:cNvPicPr>
          <p:nvPr/>
        </p:nvPicPr>
        <p:blipFill>
          <a:blip r:embed="rId4"/>
          <a:stretch>
            <a:fillRect/>
          </a:stretch>
        </p:blipFill>
        <p:spPr>
          <a:xfrm>
            <a:off x="9661581" y="1870131"/>
            <a:ext cx="447690" cy="447690"/>
          </a:xfrm>
          <a:prstGeom prst="rect">
            <a:avLst/>
          </a:prstGeom>
        </p:spPr>
      </p:pic>
      <p:sp>
        <p:nvSpPr>
          <p:cNvPr id="19" name="Text 13"/>
          <p:cNvSpPr txBox="1"/>
          <p:nvPr/>
        </p:nvSpPr>
        <p:spPr>
          <a:xfrm>
            <a:off x="8310677" y="2606040"/>
            <a:ext cx="3149498" cy="548640"/>
          </a:xfrm>
          <a:prstGeom prst="rect">
            <a:avLst/>
          </a:prstGeom>
          <a:noFill/>
          <a:ln/>
        </p:spPr>
        <p:txBody>
          <a:bodyPr wrap="square" lIns="0" tIns="0" rIns="0" bIns="0" rtlCol="0" anchor="ctr"/>
          <a:lstStyle/>
          <a:p>
            <a:pPr algn="ctr" indent="0" marL="0">
              <a:buNone/>
            </a:pPr>
            <a:r>
              <a:rPr lang="en-US" sz="1450" b="1" dirty="0">
                <a:solidFill>
                  <a:srgbClr val="7A1F2B"/>
                </a:solidFill>
                <a:latin typeface="Cambria" pitchFamily="34" charset="0"/>
                <a:ea typeface="Cambria" pitchFamily="34" charset="-122"/>
                <a:cs typeface="Cambria" pitchFamily="34" charset="-120"/>
              </a:rPr>
              <a:t>Ventilación mecánica</a:t>
            </a:r>
            <a:endParaRPr lang="en-US" sz="1450" dirty="0"/>
          </a:p>
        </p:txBody>
      </p:sp>
      <p:sp>
        <p:nvSpPr>
          <p:cNvPr id="20" name="Text 14"/>
          <p:cNvSpPr txBox="1"/>
          <p:nvPr/>
        </p:nvSpPr>
        <p:spPr>
          <a:xfrm>
            <a:off x="8383829" y="3200400"/>
            <a:ext cx="3003194" cy="265176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Sincronía paciente-ventilador en UCI</a:t>
            </a:r>
            <a:endParaRPr lang="en-US" sz="1100" dirty="0"/>
          </a:p>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SDRA grave, hipertensión intracraneal refractaria</a:t>
            </a:r>
            <a:endParaRPr lang="en-US" sz="1100" dirty="0"/>
          </a:p>
          <a:p>
            <a:pPr marL="203200" indent="-203200">
              <a:lnSpc>
                <a:spcPct val="108000"/>
              </a:lnSpc>
              <a:spcAft>
                <a:spcPts val="1000"/>
              </a:spcAft>
              <a:buSzPct val="100000"/>
              <a:buChar char="•"/>
            </a:pPr>
            <a:r>
              <a:rPr lang="en-US" sz="1100" dirty="0">
                <a:solidFill>
                  <a:srgbClr val="3D2226"/>
                </a:solidFill>
                <a:latin typeface="Calibri" pitchFamily="34" charset="0"/>
                <a:ea typeface="Calibri" pitchFamily="34" charset="-122"/>
                <a:cs typeface="Calibri" pitchFamily="34" charset="-120"/>
              </a:rPr>
              <a:t>Uso limitado en el tiempo por riesgo de miopatía del paciente crítico</a:t>
            </a:r>
            <a:endParaRPr lang="en-US" sz="1100" dirty="0"/>
          </a:p>
        </p:txBody>
      </p:sp>
      <p:sp>
        <p:nvSpPr>
          <p:cNvPr id="21" name="Text 15"/>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22" name="Text 1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7A1F2B"/>
          </a:solidFill>
          <a:ln/>
        </p:spPr>
      </p:sp>
      <p:pic>
        <p:nvPicPr>
          <p:cNvPr id="3" name="Image 0" descr="/tmp/claude-0/-home-user-gpa-academy1/adc6e4aa-3b77-57c1-ba92-a8d4ee625c84/scratchpad/relajantes/icons/shield_FFFFFF.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10234879"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COMPLICACIÓN PREVENIBLE</a:t>
            </a:r>
            <a:endParaRPr lang="en-US" sz="1150" dirty="0"/>
          </a:p>
        </p:txBody>
      </p:sp>
      <p:sp>
        <p:nvSpPr>
          <p:cNvPr id="5" name="Text 2"/>
          <p:cNvSpPr txBox="1"/>
          <p:nvPr/>
        </p:nvSpPr>
        <p:spPr>
          <a:xfrm>
            <a:off x="1408176" y="658368"/>
            <a:ext cx="10234879" cy="566928"/>
          </a:xfrm>
          <a:prstGeom prst="rect">
            <a:avLst/>
          </a:prstGeom>
          <a:noFill/>
          <a:ln/>
        </p:spPr>
        <p:txBody>
          <a:bodyPr wrap="square" lIns="0" tIns="0" rIns="0" bIns="0" rtlCol="0" anchor="t"/>
          <a:lstStyle/>
          <a:p>
            <a:pPr indent="0" marL="0">
              <a:buNone/>
            </a:pPr>
            <a:r>
              <a:rPr lang="en-US" sz="2700" b="1" dirty="0">
                <a:solidFill>
                  <a:srgbClr val="2E1015"/>
                </a:solidFill>
                <a:latin typeface="Cambria" pitchFamily="34" charset="0"/>
                <a:ea typeface="Cambria" pitchFamily="34" charset="-122"/>
                <a:cs typeface="Cambria" pitchFamily="34" charset="-120"/>
              </a:rPr>
              <a:t>Bloqueo neuromuscular residual — riesgos y prevención</a:t>
            </a:r>
            <a:endParaRPr lang="en-US" sz="2700" dirty="0"/>
          </a:p>
        </p:txBody>
      </p:sp>
      <p:sp>
        <p:nvSpPr>
          <p:cNvPr id="6" name="Shape 3"/>
          <p:cNvSpPr/>
          <p:nvPr/>
        </p:nvSpPr>
        <p:spPr>
          <a:xfrm>
            <a:off x="548640" y="1508760"/>
            <a:ext cx="5364328" cy="4572000"/>
          </a:xfrm>
          <a:prstGeom prst="roundRect">
            <a:avLst>
              <a:gd name="adj" fmla="val 1600"/>
            </a:avLst>
          </a:prstGeom>
          <a:solidFill>
            <a:srgbClr val="FBEEEC"/>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7" name="Shape 4"/>
          <p:cNvSpPr/>
          <p:nvPr/>
        </p:nvSpPr>
        <p:spPr>
          <a:xfrm>
            <a:off x="822960" y="1783080"/>
            <a:ext cx="548640" cy="548640"/>
          </a:xfrm>
          <a:prstGeom prst="ellipse">
            <a:avLst/>
          </a:prstGeom>
          <a:solidFill>
            <a:srgbClr val="7A1F2B"/>
          </a:solidFill>
          <a:ln/>
        </p:spPr>
      </p:sp>
      <p:pic>
        <p:nvPicPr>
          <p:cNvPr id="8" name="Image 1" descr="/tmp/claude-0/-home-user-gpa-academy1/adc6e4aa-3b77-57c1-ba92-a8d4ee625c84/scratchpad/relajantes/icons/warning_FFFFFF.png">    </p:cNvPr>
          <p:cNvPicPr>
            <a:picLocks noChangeAspect="1"/>
          </p:cNvPicPr>
          <p:nvPr/>
        </p:nvPicPr>
        <p:blipFill>
          <a:blip r:embed="rId2"/>
          <a:stretch>
            <a:fillRect/>
          </a:stretch>
        </p:blipFill>
        <p:spPr>
          <a:xfrm>
            <a:off x="899770" y="1859890"/>
            <a:ext cx="395021" cy="395021"/>
          </a:xfrm>
          <a:prstGeom prst="rect">
            <a:avLst/>
          </a:prstGeom>
        </p:spPr>
      </p:pic>
      <p:sp>
        <p:nvSpPr>
          <p:cNvPr id="9" name="Text 5"/>
          <p:cNvSpPr txBox="1"/>
          <p:nvPr/>
        </p:nvSpPr>
        <p:spPr>
          <a:xfrm>
            <a:off x="1508760" y="1828800"/>
            <a:ext cx="4175608" cy="457200"/>
          </a:xfrm>
          <a:prstGeom prst="rect">
            <a:avLst/>
          </a:prstGeom>
          <a:noFill/>
          <a:ln/>
        </p:spPr>
        <p:txBody>
          <a:bodyPr wrap="square" lIns="0" tIns="0" rIns="0" bIns="0" rtlCol="0" anchor="ctr"/>
          <a:lstStyle/>
          <a:p>
            <a:pPr indent="0" marL="0">
              <a:buNone/>
            </a:pPr>
            <a:r>
              <a:rPr lang="en-US" sz="1700" b="1" dirty="0">
                <a:solidFill>
                  <a:srgbClr val="7A1F2B"/>
                </a:solidFill>
                <a:latin typeface="Cambria" pitchFamily="34" charset="0"/>
                <a:ea typeface="Cambria" pitchFamily="34" charset="-122"/>
                <a:cs typeface="Cambria" pitchFamily="34" charset="-120"/>
              </a:rPr>
              <a:t>Riesgos clínicos</a:t>
            </a:r>
            <a:endParaRPr lang="en-US" sz="1700" dirty="0"/>
          </a:p>
        </p:txBody>
      </p:sp>
      <p:sp>
        <p:nvSpPr>
          <p:cNvPr id="10" name="Text 6"/>
          <p:cNvSpPr txBox="1"/>
          <p:nvPr/>
        </p:nvSpPr>
        <p:spPr>
          <a:xfrm>
            <a:off x="822960" y="2423160"/>
            <a:ext cx="4815688" cy="347472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Definido como TOFR &lt; 0.9 al llegar a la sala de recuperación.</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Debilidad de músculos faríngeos: alto riesgo de aspiración pulmonar.</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Hipoxemia por obstrucción de vía aérea superior.</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Disminución de la respuesta ventilatoria a la hipoxia.</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Se asocia a mayor incidencia de complicaciones respiratorias postoperatorias y reintubación.</a:t>
            </a:r>
            <a:endParaRPr lang="en-US" sz="1200" dirty="0"/>
          </a:p>
        </p:txBody>
      </p:sp>
      <p:sp>
        <p:nvSpPr>
          <p:cNvPr id="11" name="Shape 7"/>
          <p:cNvSpPr/>
          <p:nvPr/>
        </p:nvSpPr>
        <p:spPr>
          <a:xfrm>
            <a:off x="6278728" y="1508760"/>
            <a:ext cx="5364328" cy="4572000"/>
          </a:xfrm>
          <a:prstGeom prst="roundRect">
            <a:avLst>
              <a:gd name="adj" fmla="val 1600"/>
            </a:avLst>
          </a:prstGeom>
          <a:solidFill>
            <a:srgbClr val="F0F6EF"/>
          </a:solidFill>
          <a:ln w="12700">
            <a:solidFill>
              <a:srgbClr val="F0DFDD"/>
            </a:solidFill>
            <a:prstDash val="solid"/>
          </a:ln>
          <a:effectLst>
            <a:outerShdw sx="100000" sy="100000" kx="0" ky="0" algn="bl" rotWithShape="0" blurRad="76200" dist="25400" dir="5400000">
              <a:srgbClr val="3A1420">
                <a:alpha val="18000"/>
              </a:srgbClr>
            </a:outerShdw>
          </a:effectLst>
        </p:spPr>
      </p:sp>
      <p:sp>
        <p:nvSpPr>
          <p:cNvPr id="12" name="Shape 8"/>
          <p:cNvSpPr/>
          <p:nvPr/>
        </p:nvSpPr>
        <p:spPr>
          <a:xfrm>
            <a:off x="6553048" y="1783080"/>
            <a:ext cx="548640" cy="548640"/>
          </a:xfrm>
          <a:prstGeom prst="ellipse">
            <a:avLst/>
          </a:prstGeom>
          <a:solidFill>
            <a:srgbClr val="C1666B"/>
          </a:solidFill>
          <a:ln/>
        </p:spPr>
      </p:sp>
      <p:pic>
        <p:nvPicPr>
          <p:cNvPr id="13" name="Image 2" descr="/tmp/claude-0/-home-user-gpa-academy1/adc6e4aa-3b77-57c1-ba92-a8d4ee625c84/scratchpad/relajantes/icons/check_FFFFFF.png">    </p:cNvPr>
          <p:cNvPicPr>
            <a:picLocks noChangeAspect="1"/>
          </p:cNvPicPr>
          <p:nvPr/>
        </p:nvPicPr>
        <p:blipFill>
          <a:blip r:embed="rId3"/>
          <a:stretch>
            <a:fillRect/>
          </a:stretch>
        </p:blipFill>
        <p:spPr>
          <a:xfrm>
            <a:off x="6629857" y="1859890"/>
            <a:ext cx="395021" cy="395021"/>
          </a:xfrm>
          <a:prstGeom prst="rect">
            <a:avLst/>
          </a:prstGeom>
        </p:spPr>
      </p:pic>
      <p:sp>
        <p:nvSpPr>
          <p:cNvPr id="14" name="Text 9"/>
          <p:cNvSpPr txBox="1"/>
          <p:nvPr/>
        </p:nvSpPr>
        <p:spPr>
          <a:xfrm>
            <a:off x="7238848" y="1828800"/>
            <a:ext cx="4175608" cy="457200"/>
          </a:xfrm>
          <a:prstGeom prst="rect">
            <a:avLst/>
          </a:prstGeom>
          <a:noFill/>
          <a:ln/>
        </p:spPr>
        <p:txBody>
          <a:bodyPr wrap="square" lIns="0" tIns="0" rIns="0" bIns="0" rtlCol="0" anchor="ctr"/>
          <a:lstStyle/>
          <a:p>
            <a:pPr indent="0" marL="0">
              <a:buNone/>
            </a:pPr>
            <a:r>
              <a:rPr lang="en-US" sz="1700" b="1" dirty="0">
                <a:solidFill>
                  <a:srgbClr val="C1666B"/>
                </a:solidFill>
                <a:latin typeface="Cambria" pitchFamily="34" charset="0"/>
                <a:ea typeface="Cambria" pitchFamily="34" charset="-122"/>
                <a:cs typeface="Cambria" pitchFamily="34" charset="-120"/>
              </a:rPr>
              <a:t>Prevención</a:t>
            </a:r>
            <a:endParaRPr lang="en-US" sz="1700" dirty="0"/>
          </a:p>
        </p:txBody>
      </p:sp>
      <p:sp>
        <p:nvSpPr>
          <p:cNvPr id="15" name="Text 10"/>
          <p:cNvSpPr txBox="1"/>
          <p:nvPr/>
        </p:nvSpPr>
        <p:spPr>
          <a:xfrm>
            <a:off x="6553048" y="2423160"/>
            <a:ext cx="4815688" cy="3474720"/>
          </a:xfrm>
          <a:prstGeom prst="rect">
            <a:avLst/>
          </a:prstGeom>
          <a:noFill/>
          <a:ln/>
        </p:spPr>
        <p:txBody>
          <a:bodyPr wrap="square" lIns="0" tIns="0" rIns="0" bIns="0" rtlCol="0" anchor="t"/>
          <a:lstStyle/>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Monitorización cuantitativa del TOF en todos los pacientes que reciben BNM.</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Confirmar TOFR ≥ 0.9 antes de la extubación (no solo criterios clínicos).</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Individualizar dosis de reversión según profundidad real del bloqueo.</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Preferir sugammadex ante bloqueo profundo con aminoesteroides.</a:t>
            </a:r>
            <a:endParaRPr lang="en-US" sz="1200" dirty="0"/>
          </a:p>
          <a:p>
            <a:pPr marL="203200" indent="-203200">
              <a:lnSpc>
                <a:spcPct val="108000"/>
              </a:lnSpc>
              <a:spcAft>
                <a:spcPts val="1000"/>
              </a:spcAft>
              <a:buSzPct val="100000"/>
              <a:buChar char="•"/>
            </a:pPr>
            <a:r>
              <a:rPr lang="en-US" sz="1200" dirty="0">
                <a:solidFill>
                  <a:srgbClr val="3D2226"/>
                </a:solidFill>
                <a:latin typeface="Calibri" pitchFamily="34" charset="0"/>
                <a:ea typeface="Calibri" pitchFamily="34" charset="-122"/>
                <a:cs typeface="Calibri" pitchFamily="34" charset="-120"/>
              </a:rPr>
              <a:t>Evitar extubación “por rutina de tiempo” sin confirmación objetiva.</a:t>
            </a:r>
            <a:endParaRPr lang="en-US" sz="1200" dirty="0"/>
          </a:p>
        </p:txBody>
      </p:sp>
      <p:sp>
        <p:nvSpPr>
          <p:cNvPr id="16" name="Text 11"/>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7A5B5F"/>
                </a:solidFill>
                <a:latin typeface="Calibri" pitchFamily="34" charset="0"/>
                <a:ea typeface="Calibri" pitchFamily="34" charset="-122"/>
                <a:cs typeface="Calibri" pitchFamily="34" charset="-120"/>
              </a:rPr>
              <a:t>CAPÍTULO VI  ·  RELAJANTES MUSCULARES</a:t>
            </a:r>
            <a:endParaRPr lang="en-US" sz="900" dirty="0"/>
          </a:p>
        </p:txBody>
      </p:sp>
      <p:sp>
        <p:nvSpPr>
          <p:cNvPr id="17" name="Text 1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7A5B5F"/>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E0F14"/>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E8A33D"/>
          </a:solidFill>
          <a:ln/>
        </p:spPr>
      </p:sp>
      <p:pic>
        <p:nvPicPr>
          <p:cNvPr id="3" name="Image 0" descr="/tmp/claude-0/-home-user-gpa-academy1/adc6e4aa-3b77-57c1-ba92-a8d4ee625c84/scratchpad/relajantes/icons/check_2E0F14.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9144000"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SÍNTESIS FINAL</a:t>
            </a:r>
            <a:endParaRPr lang="en-US" sz="1150" dirty="0"/>
          </a:p>
        </p:txBody>
      </p:sp>
      <p:sp>
        <p:nvSpPr>
          <p:cNvPr id="5" name="Text 2"/>
          <p:cNvSpPr txBox="1"/>
          <p:nvPr/>
        </p:nvSpPr>
        <p:spPr>
          <a:xfrm>
            <a:off x="1408176" y="658368"/>
            <a:ext cx="1005840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Resumen del capítulo — puntos clave</a:t>
            </a:r>
            <a:endParaRPr lang="en-US" sz="2700" dirty="0"/>
          </a:p>
        </p:txBody>
      </p:sp>
      <p:sp>
        <p:nvSpPr>
          <p:cNvPr id="6" name="Shape 3"/>
          <p:cNvSpPr/>
          <p:nvPr/>
        </p:nvSpPr>
        <p:spPr>
          <a:xfrm>
            <a:off x="548640" y="1536192"/>
            <a:ext cx="310896" cy="310896"/>
          </a:xfrm>
          <a:prstGeom prst="ellipse">
            <a:avLst/>
          </a:prstGeom>
          <a:solidFill>
            <a:srgbClr val="7A1F2B"/>
          </a:solidFill>
          <a:ln/>
        </p:spPr>
      </p:sp>
      <p:sp>
        <p:nvSpPr>
          <p:cNvPr id="7" name="Text 4"/>
          <p:cNvSpPr txBox="1"/>
          <p:nvPr/>
        </p:nvSpPr>
        <p:spPr>
          <a:xfrm>
            <a:off x="54864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5"/>
          <p:cNvSpPr txBox="1"/>
          <p:nvPr/>
        </p:nvSpPr>
        <p:spPr>
          <a:xfrm>
            <a:off x="987552" y="1508760"/>
            <a:ext cx="4925416" cy="1097280"/>
          </a:xfrm>
          <a:prstGeom prst="rect">
            <a:avLst/>
          </a:prstGeom>
          <a:noFill/>
          <a:ln/>
        </p:spPr>
        <p:txBody>
          <a:bodyPr wrap="square" lIns="0" tIns="0" rIns="0" bIns="0" rtlCol="0" anchor="t"/>
          <a:lstStyle/>
          <a:p>
            <a:pPr indent="0" marL="0">
              <a:lnSpc>
                <a:spcPct val="112000"/>
              </a:lnSpc>
              <a:buNone/>
            </a:pPr>
            <a:r>
              <a:rPr lang="en-US" sz="1150" dirty="0">
                <a:solidFill>
                  <a:srgbClr val="F6E9E6"/>
                </a:solidFill>
                <a:latin typeface="Calibri" pitchFamily="34" charset="0"/>
                <a:ea typeface="Calibri" pitchFamily="34" charset="-122"/>
                <a:cs typeface="Calibri" pitchFamily="34" charset="-120"/>
              </a:rPr>
              <a:t>La unión neuromuscular transmite el impulso del nervio motor al músculo mediante acetilcolina y receptores nicotínicos pentaméricos.</a:t>
            </a:r>
            <a:endParaRPr lang="en-US" sz="1150" dirty="0"/>
          </a:p>
        </p:txBody>
      </p:sp>
      <p:sp>
        <p:nvSpPr>
          <p:cNvPr id="9" name="Shape 6"/>
          <p:cNvSpPr/>
          <p:nvPr/>
        </p:nvSpPr>
        <p:spPr>
          <a:xfrm>
            <a:off x="6278728" y="1536192"/>
            <a:ext cx="310896" cy="310896"/>
          </a:xfrm>
          <a:prstGeom prst="ellipse">
            <a:avLst/>
          </a:prstGeom>
          <a:solidFill>
            <a:srgbClr val="7A1F2B"/>
          </a:solidFill>
          <a:ln/>
        </p:spPr>
      </p:sp>
      <p:sp>
        <p:nvSpPr>
          <p:cNvPr id="10" name="Text 7"/>
          <p:cNvSpPr txBox="1"/>
          <p:nvPr/>
        </p:nvSpPr>
        <p:spPr>
          <a:xfrm>
            <a:off x="6278728"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1" name="Text 8"/>
          <p:cNvSpPr txBox="1"/>
          <p:nvPr/>
        </p:nvSpPr>
        <p:spPr>
          <a:xfrm>
            <a:off x="6717640" y="1508760"/>
            <a:ext cx="4925416" cy="1097280"/>
          </a:xfrm>
          <a:prstGeom prst="rect">
            <a:avLst/>
          </a:prstGeom>
          <a:noFill/>
          <a:ln/>
        </p:spPr>
        <p:txBody>
          <a:bodyPr wrap="square" lIns="0" tIns="0" rIns="0" bIns="0" rtlCol="0" anchor="t"/>
          <a:lstStyle/>
          <a:p>
            <a:pPr indent="0" marL="0">
              <a:lnSpc>
                <a:spcPct val="112000"/>
              </a:lnSpc>
              <a:buNone/>
            </a:pPr>
            <a:r>
              <a:rPr lang="en-US" sz="1150" dirty="0">
                <a:solidFill>
                  <a:srgbClr val="F6E9E6"/>
                </a:solidFill>
                <a:latin typeface="Calibri" pitchFamily="34" charset="0"/>
                <a:ea typeface="Calibri" pitchFamily="34" charset="-122"/>
                <a:cs typeface="Calibri" pitchFamily="34" charset="-120"/>
              </a:rPr>
              <a:t>Los relajantes despolarizantes (succinilcolina) activan el receptor produciendo un bloqueo de Fase I no revertible farmacológicamente.</a:t>
            </a:r>
            <a:endParaRPr lang="en-US" sz="1150" dirty="0"/>
          </a:p>
        </p:txBody>
      </p:sp>
      <p:sp>
        <p:nvSpPr>
          <p:cNvPr id="12" name="Shape 9"/>
          <p:cNvSpPr/>
          <p:nvPr/>
        </p:nvSpPr>
        <p:spPr>
          <a:xfrm>
            <a:off x="548640" y="2706624"/>
            <a:ext cx="310896" cy="310896"/>
          </a:xfrm>
          <a:prstGeom prst="ellipse">
            <a:avLst/>
          </a:prstGeom>
          <a:solidFill>
            <a:srgbClr val="7A1F2B"/>
          </a:solidFill>
          <a:ln/>
        </p:spPr>
      </p:sp>
      <p:sp>
        <p:nvSpPr>
          <p:cNvPr id="13" name="Text 10"/>
          <p:cNvSpPr txBox="1"/>
          <p:nvPr/>
        </p:nvSpPr>
        <p:spPr>
          <a:xfrm>
            <a:off x="548640" y="2706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4" name="Text 11"/>
          <p:cNvSpPr txBox="1"/>
          <p:nvPr/>
        </p:nvSpPr>
        <p:spPr>
          <a:xfrm>
            <a:off x="987552" y="2679192"/>
            <a:ext cx="4925416" cy="1097280"/>
          </a:xfrm>
          <a:prstGeom prst="rect">
            <a:avLst/>
          </a:prstGeom>
          <a:noFill/>
          <a:ln/>
        </p:spPr>
        <p:txBody>
          <a:bodyPr wrap="square" lIns="0" tIns="0" rIns="0" bIns="0" rtlCol="0" anchor="t"/>
          <a:lstStyle/>
          <a:p>
            <a:pPr indent="0" marL="0">
              <a:lnSpc>
                <a:spcPct val="112000"/>
              </a:lnSpc>
              <a:buNone/>
            </a:pPr>
            <a:r>
              <a:rPr lang="en-US" sz="1150" dirty="0">
                <a:solidFill>
                  <a:srgbClr val="F6E9E6"/>
                </a:solidFill>
                <a:latin typeface="Calibri" pitchFamily="34" charset="0"/>
                <a:ea typeface="Calibri" pitchFamily="34" charset="-122"/>
                <a:cs typeface="Calibri" pitchFamily="34" charset="-120"/>
              </a:rPr>
              <a:t>Los relajantes no despolarizantes (aminoesteroides y bencilisoquinolinas) bloquean el receptor por antagonismo competitivo y sí son revertibles.</a:t>
            </a:r>
            <a:endParaRPr lang="en-US" sz="1150" dirty="0"/>
          </a:p>
        </p:txBody>
      </p:sp>
      <p:sp>
        <p:nvSpPr>
          <p:cNvPr id="15" name="Shape 12"/>
          <p:cNvSpPr/>
          <p:nvPr/>
        </p:nvSpPr>
        <p:spPr>
          <a:xfrm>
            <a:off x="6278728" y="2706624"/>
            <a:ext cx="310896" cy="310896"/>
          </a:xfrm>
          <a:prstGeom prst="ellipse">
            <a:avLst/>
          </a:prstGeom>
          <a:solidFill>
            <a:srgbClr val="7A1F2B"/>
          </a:solidFill>
          <a:ln/>
        </p:spPr>
      </p:sp>
      <p:sp>
        <p:nvSpPr>
          <p:cNvPr id="16" name="Text 13"/>
          <p:cNvSpPr txBox="1"/>
          <p:nvPr/>
        </p:nvSpPr>
        <p:spPr>
          <a:xfrm>
            <a:off x="6278728" y="2706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7" name="Text 14"/>
          <p:cNvSpPr txBox="1"/>
          <p:nvPr/>
        </p:nvSpPr>
        <p:spPr>
          <a:xfrm>
            <a:off x="6717640" y="2679192"/>
            <a:ext cx="4925416" cy="1097280"/>
          </a:xfrm>
          <a:prstGeom prst="rect">
            <a:avLst/>
          </a:prstGeom>
          <a:noFill/>
          <a:ln/>
        </p:spPr>
        <p:txBody>
          <a:bodyPr wrap="square" lIns="0" tIns="0" rIns="0" bIns="0" rtlCol="0" anchor="t"/>
          <a:lstStyle/>
          <a:p>
            <a:pPr indent="0" marL="0">
              <a:lnSpc>
                <a:spcPct val="112000"/>
              </a:lnSpc>
              <a:buNone/>
            </a:pPr>
            <a:r>
              <a:rPr lang="en-US" sz="1150" dirty="0">
                <a:solidFill>
                  <a:srgbClr val="F6E9E6"/>
                </a:solidFill>
                <a:latin typeface="Calibri" pitchFamily="34" charset="0"/>
                <a:ea typeface="Calibri" pitchFamily="34" charset="-122"/>
                <a:cs typeface="Calibri" pitchFamily="34" charset="-120"/>
              </a:rPr>
              <a:t>La duración de acción depende de la dosis, la vía de eliminación del fármaco y factores del paciente (función hepática, renal, temperatura).</a:t>
            </a:r>
            <a:endParaRPr lang="en-US" sz="1150" dirty="0"/>
          </a:p>
        </p:txBody>
      </p:sp>
      <p:sp>
        <p:nvSpPr>
          <p:cNvPr id="18" name="Shape 15"/>
          <p:cNvSpPr/>
          <p:nvPr/>
        </p:nvSpPr>
        <p:spPr>
          <a:xfrm>
            <a:off x="548640" y="3877056"/>
            <a:ext cx="310896" cy="310896"/>
          </a:xfrm>
          <a:prstGeom prst="ellipse">
            <a:avLst/>
          </a:prstGeom>
          <a:solidFill>
            <a:srgbClr val="7A1F2B"/>
          </a:solidFill>
          <a:ln/>
        </p:spPr>
      </p:sp>
      <p:sp>
        <p:nvSpPr>
          <p:cNvPr id="19" name="Text 16"/>
          <p:cNvSpPr txBox="1"/>
          <p:nvPr/>
        </p:nvSpPr>
        <p:spPr>
          <a:xfrm>
            <a:off x="548640" y="38770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0" name="Text 17"/>
          <p:cNvSpPr txBox="1"/>
          <p:nvPr/>
        </p:nvSpPr>
        <p:spPr>
          <a:xfrm>
            <a:off x="987552" y="3849624"/>
            <a:ext cx="4925416" cy="1097280"/>
          </a:xfrm>
          <a:prstGeom prst="rect">
            <a:avLst/>
          </a:prstGeom>
          <a:noFill/>
          <a:ln/>
        </p:spPr>
        <p:txBody>
          <a:bodyPr wrap="square" lIns="0" tIns="0" rIns="0" bIns="0" rtlCol="0" anchor="t"/>
          <a:lstStyle/>
          <a:p>
            <a:pPr indent="0" marL="0">
              <a:lnSpc>
                <a:spcPct val="112000"/>
              </a:lnSpc>
              <a:buNone/>
            </a:pPr>
            <a:r>
              <a:rPr lang="en-US" sz="1150" dirty="0">
                <a:solidFill>
                  <a:srgbClr val="F6E9E6"/>
                </a:solidFill>
                <a:latin typeface="Calibri" pitchFamily="34" charset="0"/>
                <a:ea typeface="Calibri" pitchFamily="34" charset="-122"/>
                <a:cs typeface="Calibri" pitchFamily="34" charset="-120"/>
              </a:rPr>
              <a:t>Los anticolinesterásicos revierten el bloqueo aumentando la ACh disponible, pero tienen un “techo” de eficacia en bloqueos profundos.</a:t>
            </a:r>
            <a:endParaRPr lang="en-US" sz="1150" dirty="0"/>
          </a:p>
        </p:txBody>
      </p:sp>
      <p:sp>
        <p:nvSpPr>
          <p:cNvPr id="21" name="Shape 18"/>
          <p:cNvSpPr/>
          <p:nvPr/>
        </p:nvSpPr>
        <p:spPr>
          <a:xfrm>
            <a:off x="6278728" y="3877056"/>
            <a:ext cx="310896" cy="310896"/>
          </a:xfrm>
          <a:prstGeom prst="ellipse">
            <a:avLst/>
          </a:prstGeom>
          <a:solidFill>
            <a:srgbClr val="7A1F2B"/>
          </a:solidFill>
          <a:ln/>
        </p:spPr>
      </p:sp>
      <p:sp>
        <p:nvSpPr>
          <p:cNvPr id="22" name="Text 19"/>
          <p:cNvSpPr txBox="1"/>
          <p:nvPr/>
        </p:nvSpPr>
        <p:spPr>
          <a:xfrm>
            <a:off x="6278728" y="38770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23" name="Text 20"/>
          <p:cNvSpPr txBox="1"/>
          <p:nvPr/>
        </p:nvSpPr>
        <p:spPr>
          <a:xfrm>
            <a:off x="6717640" y="3849624"/>
            <a:ext cx="4925416" cy="1097280"/>
          </a:xfrm>
          <a:prstGeom prst="rect">
            <a:avLst/>
          </a:prstGeom>
          <a:noFill/>
          <a:ln/>
        </p:spPr>
        <p:txBody>
          <a:bodyPr wrap="square" lIns="0" tIns="0" rIns="0" bIns="0" rtlCol="0" anchor="t"/>
          <a:lstStyle/>
          <a:p>
            <a:pPr indent="0" marL="0">
              <a:lnSpc>
                <a:spcPct val="112000"/>
              </a:lnSpc>
              <a:buNone/>
            </a:pPr>
            <a:r>
              <a:rPr lang="en-US" sz="1150" dirty="0">
                <a:solidFill>
                  <a:srgbClr val="F6E9E6"/>
                </a:solidFill>
                <a:latin typeface="Calibri" pitchFamily="34" charset="0"/>
                <a:ea typeface="Calibri" pitchFamily="34" charset="-122"/>
                <a:cs typeface="Calibri" pitchFamily="34" charset="-120"/>
              </a:rPr>
              <a:t>Sugammadex revoluciona la reversión de aminoesteroides al encapsular selectivamente el fármaco, sin techo de eficacia.</a:t>
            </a:r>
            <a:endParaRPr lang="en-US" sz="1150" dirty="0"/>
          </a:p>
        </p:txBody>
      </p:sp>
      <p:sp>
        <p:nvSpPr>
          <p:cNvPr id="24" name="Shape 21"/>
          <p:cNvSpPr/>
          <p:nvPr/>
        </p:nvSpPr>
        <p:spPr>
          <a:xfrm>
            <a:off x="548640" y="5047488"/>
            <a:ext cx="310896" cy="310896"/>
          </a:xfrm>
          <a:prstGeom prst="ellipse">
            <a:avLst/>
          </a:prstGeom>
          <a:solidFill>
            <a:srgbClr val="7A1F2B"/>
          </a:solidFill>
          <a:ln/>
        </p:spPr>
      </p:sp>
      <p:sp>
        <p:nvSpPr>
          <p:cNvPr id="25" name="Text 22"/>
          <p:cNvSpPr txBox="1"/>
          <p:nvPr/>
        </p:nvSpPr>
        <p:spPr>
          <a:xfrm>
            <a:off x="548640" y="5047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26" name="Text 23"/>
          <p:cNvSpPr txBox="1"/>
          <p:nvPr/>
        </p:nvSpPr>
        <p:spPr>
          <a:xfrm>
            <a:off x="987552" y="5020056"/>
            <a:ext cx="4925416" cy="1097280"/>
          </a:xfrm>
          <a:prstGeom prst="rect">
            <a:avLst/>
          </a:prstGeom>
          <a:noFill/>
          <a:ln/>
        </p:spPr>
        <p:txBody>
          <a:bodyPr wrap="square" lIns="0" tIns="0" rIns="0" bIns="0" rtlCol="0" anchor="t"/>
          <a:lstStyle/>
          <a:p>
            <a:pPr indent="0" marL="0">
              <a:lnSpc>
                <a:spcPct val="112000"/>
              </a:lnSpc>
              <a:buNone/>
            </a:pPr>
            <a:r>
              <a:rPr lang="en-US" sz="1150" dirty="0">
                <a:solidFill>
                  <a:srgbClr val="F6E9E6"/>
                </a:solidFill>
                <a:latin typeface="Calibri" pitchFamily="34" charset="0"/>
                <a:ea typeface="Calibri" pitchFamily="34" charset="-122"/>
                <a:cs typeface="Calibri" pitchFamily="34" charset="-120"/>
              </a:rPr>
              <a:t>La monitorización cuantitativa (TOF) es indispensable para confirmar recuperación neuromuscular adecuada (TOFR ≥ 0.9) antes de extubar.</a:t>
            </a:r>
            <a:endParaRPr lang="en-US" sz="1150" dirty="0"/>
          </a:p>
        </p:txBody>
      </p:sp>
      <p:sp>
        <p:nvSpPr>
          <p:cNvPr id="27" name="Shape 24"/>
          <p:cNvSpPr/>
          <p:nvPr/>
        </p:nvSpPr>
        <p:spPr>
          <a:xfrm>
            <a:off x="6278728" y="5047488"/>
            <a:ext cx="310896" cy="310896"/>
          </a:xfrm>
          <a:prstGeom prst="ellipse">
            <a:avLst/>
          </a:prstGeom>
          <a:solidFill>
            <a:srgbClr val="7A1F2B"/>
          </a:solidFill>
          <a:ln/>
        </p:spPr>
      </p:sp>
      <p:sp>
        <p:nvSpPr>
          <p:cNvPr id="28" name="Text 25"/>
          <p:cNvSpPr txBox="1"/>
          <p:nvPr/>
        </p:nvSpPr>
        <p:spPr>
          <a:xfrm>
            <a:off x="6278728" y="5047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29" name="Text 26"/>
          <p:cNvSpPr txBox="1"/>
          <p:nvPr/>
        </p:nvSpPr>
        <p:spPr>
          <a:xfrm>
            <a:off x="6717640" y="5020056"/>
            <a:ext cx="4925416" cy="1097280"/>
          </a:xfrm>
          <a:prstGeom prst="rect">
            <a:avLst/>
          </a:prstGeom>
          <a:noFill/>
          <a:ln/>
        </p:spPr>
        <p:txBody>
          <a:bodyPr wrap="square" lIns="0" tIns="0" rIns="0" bIns="0" rtlCol="0" anchor="t"/>
          <a:lstStyle/>
          <a:p>
            <a:pPr indent="0" marL="0">
              <a:lnSpc>
                <a:spcPct val="112000"/>
              </a:lnSpc>
              <a:buNone/>
            </a:pPr>
            <a:r>
              <a:rPr lang="en-US" sz="1150" dirty="0">
                <a:solidFill>
                  <a:srgbClr val="F6E9E6"/>
                </a:solidFill>
                <a:latin typeface="Calibri" pitchFamily="34" charset="0"/>
                <a:ea typeface="Calibri" pitchFamily="34" charset="-122"/>
                <a:cs typeface="Calibri" pitchFamily="34" charset="-120"/>
              </a:rPr>
              <a:t>El bloqueo neuromuscular residual sigue siendo una complicación frecuente y prevenible con vigilancia objetiva sistemática.</a:t>
            </a:r>
            <a:endParaRPr lang="en-US" sz="1150" dirty="0"/>
          </a:p>
        </p:txBody>
      </p:sp>
      <p:sp>
        <p:nvSpPr>
          <p:cNvPr id="30" name="Text 27"/>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D8B3B0"/>
                </a:solidFill>
                <a:latin typeface="Calibri" pitchFamily="34" charset="0"/>
                <a:ea typeface="Calibri" pitchFamily="34" charset="-122"/>
                <a:cs typeface="Calibri" pitchFamily="34" charset="-120"/>
              </a:rPr>
              <a:t>CAPÍTULO VI  ·  RELAJANTES MUSCULARES</a:t>
            </a:r>
            <a:endParaRPr lang="en-US" sz="900" dirty="0"/>
          </a:p>
        </p:txBody>
      </p:sp>
      <p:sp>
        <p:nvSpPr>
          <p:cNvPr id="31" name="Text 2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D8B3B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E0F14"/>
        </a:solidFill>
      </p:bgPr>
    </p:bg>
    <p:spTree>
      <p:nvGrpSpPr>
        <p:cNvPr id="1" name=""/>
        <p:cNvGrpSpPr/>
        <p:nvPr/>
      </p:nvGrpSpPr>
      <p:grpSpPr>
        <a:xfrm>
          <a:off x="0" y="0"/>
          <a:ext cx="0" cy="0"/>
          <a:chOff x="0" y="0"/>
          <a:chExt cx="0" cy="0"/>
        </a:xfrm>
      </p:grpSpPr>
      <p:sp>
        <p:nvSpPr>
          <p:cNvPr id="2" name="Shape 0"/>
          <p:cNvSpPr/>
          <p:nvPr/>
        </p:nvSpPr>
        <p:spPr>
          <a:xfrm>
            <a:off x="548640" y="457200"/>
            <a:ext cx="676656" cy="676656"/>
          </a:xfrm>
          <a:prstGeom prst="ellipse">
            <a:avLst/>
          </a:prstGeom>
          <a:solidFill>
            <a:srgbClr val="E8A33D"/>
          </a:solidFill>
          <a:ln/>
        </p:spPr>
      </p:sp>
      <p:pic>
        <p:nvPicPr>
          <p:cNvPr id="3" name="Image 0" descr="/tmp/claude-0/-home-user-gpa-academy1/adc6e4aa-3b77-57c1-ba92-a8d4ee625c84/scratchpad/relajantes/icons/book_2E0F14.png">    </p:cNvPr>
          <p:cNvPicPr>
            <a:picLocks noChangeAspect="1"/>
          </p:cNvPicPr>
          <p:nvPr/>
        </p:nvPicPr>
        <p:blipFill>
          <a:blip r:embed="rId1"/>
          <a:stretch>
            <a:fillRect/>
          </a:stretch>
        </p:blipFill>
        <p:spPr>
          <a:xfrm>
            <a:off x="643372" y="551932"/>
            <a:ext cx="487192" cy="487192"/>
          </a:xfrm>
          <a:prstGeom prst="rect">
            <a:avLst/>
          </a:prstGeom>
        </p:spPr>
      </p:pic>
      <p:sp>
        <p:nvSpPr>
          <p:cNvPr id="4" name="Text 1"/>
          <p:cNvSpPr txBox="1"/>
          <p:nvPr/>
        </p:nvSpPr>
        <p:spPr>
          <a:xfrm>
            <a:off x="1408176" y="402336"/>
            <a:ext cx="9144000" cy="274320"/>
          </a:xfrm>
          <a:prstGeom prst="rect">
            <a:avLst/>
          </a:prstGeom>
          <a:noFill/>
          <a:ln/>
        </p:spPr>
        <p:txBody>
          <a:bodyPr wrap="square" lIns="0" tIns="0" rIns="0" bIns="0" rtlCol="0" anchor="ctr"/>
          <a:lstStyle/>
          <a:p>
            <a:pPr indent="0" marL="0">
              <a:buNone/>
            </a:pPr>
            <a:r>
              <a:rPr lang="en-US" sz="1150" b="1" spc="150" kern="0" dirty="0">
                <a:solidFill>
                  <a:srgbClr val="E8A33D"/>
                </a:solidFill>
                <a:latin typeface="Calibri" pitchFamily="34" charset="0"/>
                <a:ea typeface="Calibri" pitchFamily="34" charset="-122"/>
                <a:cs typeface="Calibri" pitchFamily="34" charset="-120"/>
              </a:rPr>
              <a:t>BIBLIOGRAFÍA</a:t>
            </a:r>
            <a:endParaRPr lang="en-US" sz="1150" dirty="0"/>
          </a:p>
        </p:txBody>
      </p:sp>
      <p:sp>
        <p:nvSpPr>
          <p:cNvPr id="5" name="Text 2"/>
          <p:cNvSpPr txBox="1"/>
          <p:nvPr/>
        </p:nvSpPr>
        <p:spPr>
          <a:xfrm>
            <a:off x="1408176" y="658368"/>
            <a:ext cx="1005840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Referencias bibliográficas</a:t>
            </a:r>
            <a:endParaRPr lang="en-US" sz="2700" dirty="0"/>
          </a:p>
        </p:txBody>
      </p:sp>
      <p:sp>
        <p:nvSpPr>
          <p:cNvPr id="6" name="Shape 3"/>
          <p:cNvSpPr/>
          <p:nvPr/>
        </p:nvSpPr>
        <p:spPr>
          <a:xfrm>
            <a:off x="548640" y="1627632"/>
            <a:ext cx="128016" cy="128016"/>
          </a:xfrm>
          <a:prstGeom prst="ellipse">
            <a:avLst/>
          </a:prstGeom>
          <a:solidFill>
            <a:srgbClr val="E8A33D"/>
          </a:solidFill>
          <a:ln/>
        </p:spPr>
      </p:sp>
      <p:sp>
        <p:nvSpPr>
          <p:cNvPr id="7" name="Text 4"/>
          <p:cNvSpPr txBox="1"/>
          <p:nvPr/>
        </p:nvSpPr>
        <p:spPr>
          <a:xfrm>
            <a:off x="868680" y="1527048"/>
            <a:ext cx="10774375" cy="475488"/>
          </a:xfrm>
          <a:prstGeom prst="rect">
            <a:avLst/>
          </a:prstGeom>
          <a:noFill/>
          <a:ln/>
        </p:spPr>
        <p:txBody>
          <a:bodyPr wrap="square" lIns="0" tIns="0" rIns="0" bIns="0" rtlCol="0" anchor="t"/>
          <a:lstStyle/>
          <a:p>
            <a:pPr indent="0" marL="0">
              <a:lnSpc>
                <a:spcPct val="105000"/>
              </a:lnSpc>
              <a:buNone/>
            </a:pPr>
            <a:r>
              <a:rPr lang="en-US" sz="1200" dirty="0">
                <a:solidFill>
                  <a:srgbClr val="F6E9E6"/>
                </a:solidFill>
                <a:latin typeface="Calibri" pitchFamily="34" charset="0"/>
                <a:ea typeface="Calibri" pitchFamily="34" charset="-122"/>
                <a:cs typeface="Calibri" pitchFamily="34" charset="-120"/>
              </a:rPr>
              <a:t>Miller RD, Cohen NH, Eriksson LI, et al. Miller’s Anesthesia. Edición vigente. Elsevier.</a:t>
            </a:r>
            <a:endParaRPr lang="en-US" sz="1200" dirty="0"/>
          </a:p>
        </p:txBody>
      </p:sp>
      <p:sp>
        <p:nvSpPr>
          <p:cNvPr id="8" name="Shape 5"/>
          <p:cNvSpPr/>
          <p:nvPr/>
        </p:nvSpPr>
        <p:spPr>
          <a:xfrm>
            <a:off x="548640" y="2176272"/>
            <a:ext cx="128016" cy="128016"/>
          </a:xfrm>
          <a:prstGeom prst="ellipse">
            <a:avLst/>
          </a:prstGeom>
          <a:solidFill>
            <a:srgbClr val="E8A33D"/>
          </a:solidFill>
          <a:ln/>
        </p:spPr>
      </p:sp>
      <p:sp>
        <p:nvSpPr>
          <p:cNvPr id="9" name="Text 6"/>
          <p:cNvSpPr txBox="1"/>
          <p:nvPr/>
        </p:nvSpPr>
        <p:spPr>
          <a:xfrm>
            <a:off x="868680" y="2075688"/>
            <a:ext cx="10774375" cy="475488"/>
          </a:xfrm>
          <a:prstGeom prst="rect">
            <a:avLst/>
          </a:prstGeom>
          <a:noFill/>
          <a:ln/>
        </p:spPr>
        <p:txBody>
          <a:bodyPr wrap="square" lIns="0" tIns="0" rIns="0" bIns="0" rtlCol="0" anchor="t"/>
          <a:lstStyle/>
          <a:p>
            <a:pPr indent="0" marL="0">
              <a:lnSpc>
                <a:spcPct val="105000"/>
              </a:lnSpc>
              <a:buNone/>
            </a:pPr>
            <a:r>
              <a:rPr lang="en-US" sz="1200" dirty="0">
                <a:solidFill>
                  <a:srgbClr val="F6E9E6"/>
                </a:solidFill>
                <a:latin typeface="Calibri" pitchFamily="34" charset="0"/>
                <a:ea typeface="Calibri" pitchFamily="34" charset="-122"/>
                <a:cs typeface="Calibri" pitchFamily="34" charset="-120"/>
              </a:rPr>
              <a:t>Barash PG, Cullen BF, Stoelting RK, et al. Clinical Anesthesia. Edición vigente. Wolters Kluwer.</a:t>
            </a:r>
            <a:endParaRPr lang="en-US" sz="1200" dirty="0"/>
          </a:p>
        </p:txBody>
      </p:sp>
      <p:sp>
        <p:nvSpPr>
          <p:cNvPr id="10" name="Shape 7"/>
          <p:cNvSpPr/>
          <p:nvPr/>
        </p:nvSpPr>
        <p:spPr>
          <a:xfrm>
            <a:off x="548640" y="2724912"/>
            <a:ext cx="128016" cy="128016"/>
          </a:xfrm>
          <a:prstGeom prst="ellipse">
            <a:avLst/>
          </a:prstGeom>
          <a:solidFill>
            <a:srgbClr val="E8A33D"/>
          </a:solidFill>
          <a:ln/>
        </p:spPr>
      </p:sp>
      <p:sp>
        <p:nvSpPr>
          <p:cNvPr id="11" name="Text 8"/>
          <p:cNvSpPr txBox="1"/>
          <p:nvPr/>
        </p:nvSpPr>
        <p:spPr>
          <a:xfrm>
            <a:off x="868680" y="2624328"/>
            <a:ext cx="10774375" cy="475488"/>
          </a:xfrm>
          <a:prstGeom prst="rect">
            <a:avLst/>
          </a:prstGeom>
          <a:noFill/>
          <a:ln/>
        </p:spPr>
        <p:txBody>
          <a:bodyPr wrap="square" lIns="0" tIns="0" rIns="0" bIns="0" rtlCol="0" anchor="t"/>
          <a:lstStyle/>
          <a:p>
            <a:pPr indent="0" marL="0">
              <a:lnSpc>
                <a:spcPct val="105000"/>
              </a:lnSpc>
              <a:buNone/>
            </a:pPr>
            <a:r>
              <a:rPr lang="en-US" sz="1200" dirty="0">
                <a:solidFill>
                  <a:srgbClr val="F6E9E6"/>
                </a:solidFill>
                <a:latin typeface="Calibri" pitchFamily="34" charset="0"/>
                <a:ea typeface="Calibri" pitchFamily="34" charset="-122"/>
                <a:cs typeface="Calibri" pitchFamily="34" charset="-120"/>
              </a:rPr>
              <a:t>Butterworth JF, Mackey DC, Wasnick JD. Morgan &amp; Mikhail’s Clinical Anesthesiology. Edición vigente. McGraw-Hill.</a:t>
            </a:r>
            <a:endParaRPr lang="en-US" sz="1200" dirty="0"/>
          </a:p>
        </p:txBody>
      </p:sp>
      <p:sp>
        <p:nvSpPr>
          <p:cNvPr id="12" name="Shape 9"/>
          <p:cNvSpPr/>
          <p:nvPr/>
        </p:nvSpPr>
        <p:spPr>
          <a:xfrm>
            <a:off x="548640" y="3273552"/>
            <a:ext cx="128016" cy="128016"/>
          </a:xfrm>
          <a:prstGeom prst="ellipse">
            <a:avLst/>
          </a:prstGeom>
          <a:solidFill>
            <a:srgbClr val="E8A33D"/>
          </a:solidFill>
          <a:ln/>
        </p:spPr>
      </p:sp>
      <p:sp>
        <p:nvSpPr>
          <p:cNvPr id="13" name="Text 10"/>
          <p:cNvSpPr txBox="1"/>
          <p:nvPr/>
        </p:nvSpPr>
        <p:spPr>
          <a:xfrm>
            <a:off x="868680" y="3172968"/>
            <a:ext cx="10774375" cy="475488"/>
          </a:xfrm>
          <a:prstGeom prst="rect">
            <a:avLst/>
          </a:prstGeom>
          <a:noFill/>
          <a:ln/>
        </p:spPr>
        <p:txBody>
          <a:bodyPr wrap="square" lIns="0" tIns="0" rIns="0" bIns="0" rtlCol="0" anchor="t"/>
          <a:lstStyle/>
          <a:p>
            <a:pPr indent="0" marL="0">
              <a:lnSpc>
                <a:spcPct val="105000"/>
              </a:lnSpc>
              <a:buNone/>
            </a:pPr>
            <a:r>
              <a:rPr lang="en-US" sz="1200" dirty="0">
                <a:solidFill>
                  <a:srgbClr val="F6E9E6"/>
                </a:solidFill>
                <a:latin typeface="Calibri" pitchFamily="34" charset="0"/>
                <a:ea typeface="Calibri" pitchFamily="34" charset="-122"/>
                <a:cs typeface="Calibri" pitchFamily="34" charset="-120"/>
              </a:rPr>
              <a:t>Flood P, Rathmell JP, Shafer S (eds). Stoelting’s Pharmacology and Physiology in Anesthetic Practice. Edición vigente. Wolters Kluwer.</a:t>
            </a:r>
            <a:endParaRPr lang="en-US" sz="1200" dirty="0"/>
          </a:p>
        </p:txBody>
      </p:sp>
      <p:sp>
        <p:nvSpPr>
          <p:cNvPr id="14" name="Shape 11"/>
          <p:cNvSpPr/>
          <p:nvPr/>
        </p:nvSpPr>
        <p:spPr>
          <a:xfrm>
            <a:off x="548640" y="3822192"/>
            <a:ext cx="128016" cy="128016"/>
          </a:xfrm>
          <a:prstGeom prst="ellipse">
            <a:avLst/>
          </a:prstGeom>
          <a:solidFill>
            <a:srgbClr val="E8A33D"/>
          </a:solidFill>
          <a:ln/>
        </p:spPr>
      </p:sp>
      <p:sp>
        <p:nvSpPr>
          <p:cNvPr id="15" name="Text 12"/>
          <p:cNvSpPr txBox="1"/>
          <p:nvPr/>
        </p:nvSpPr>
        <p:spPr>
          <a:xfrm>
            <a:off x="868680" y="3721608"/>
            <a:ext cx="10774375" cy="475488"/>
          </a:xfrm>
          <a:prstGeom prst="rect">
            <a:avLst/>
          </a:prstGeom>
          <a:noFill/>
          <a:ln/>
        </p:spPr>
        <p:txBody>
          <a:bodyPr wrap="square" lIns="0" tIns="0" rIns="0" bIns="0" rtlCol="0" anchor="t"/>
          <a:lstStyle/>
          <a:p>
            <a:pPr indent="0" marL="0">
              <a:lnSpc>
                <a:spcPct val="105000"/>
              </a:lnSpc>
              <a:buNone/>
            </a:pPr>
            <a:r>
              <a:rPr lang="en-US" sz="1200" dirty="0">
                <a:solidFill>
                  <a:srgbClr val="F6E9E6"/>
                </a:solidFill>
                <a:latin typeface="Calibri" pitchFamily="34" charset="0"/>
                <a:ea typeface="Calibri" pitchFamily="34" charset="-122"/>
                <a:cs typeface="Calibri" pitchFamily="34" charset="-120"/>
              </a:rPr>
              <a:t>Naguib M, Brull SJ, Kopman AF, et al. Consensus statements on perioperative use of neuromuscular monitoring. Anesth Analg. Sociedades de anestesiología.</a:t>
            </a:r>
            <a:endParaRPr lang="en-US" sz="1200" dirty="0"/>
          </a:p>
        </p:txBody>
      </p:sp>
      <p:sp>
        <p:nvSpPr>
          <p:cNvPr id="16" name="Shape 13"/>
          <p:cNvSpPr/>
          <p:nvPr/>
        </p:nvSpPr>
        <p:spPr>
          <a:xfrm>
            <a:off x="548640" y="4370832"/>
            <a:ext cx="128016" cy="128016"/>
          </a:xfrm>
          <a:prstGeom prst="ellipse">
            <a:avLst/>
          </a:prstGeom>
          <a:solidFill>
            <a:srgbClr val="E8A33D"/>
          </a:solidFill>
          <a:ln/>
        </p:spPr>
      </p:sp>
      <p:sp>
        <p:nvSpPr>
          <p:cNvPr id="17" name="Text 14"/>
          <p:cNvSpPr txBox="1"/>
          <p:nvPr/>
        </p:nvSpPr>
        <p:spPr>
          <a:xfrm>
            <a:off x="868680" y="4270248"/>
            <a:ext cx="10774375" cy="475488"/>
          </a:xfrm>
          <a:prstGeom prst="rect">
            <a:avLst/>
          </a:prstGeom>
          <a:noFill/>
          <a:ln/>
        </p:spPr>
        <p:txBody>
          <a:bodyPr wrap="square" lIns="0" tIns="0" rIns="0" bIns="0" rtlCol="0" anchor="t"/>
          <a:lstStyle/>
          <a:p>
            <a:pPr indent="0" marL="0">
              <a:lnSpc>
                <a:spcPct val="105000"/>
              </a:lnSpc>
              <a:buNone/>
            </a:pPr>
            <a:r>
              <a:rPr lang="en-US" sz="1200" dirty="0">
                <a:solidFill>
                  <a:srgbClr val="F6E9E6"/>
                </a:solidFill>
                <a:latin typeface="Calibri" pitchFamily="34" charset="0"/>
                <a:ea typeface="Calibri" pitchFamily="34" charset="-122"/>
                <a:cs typeface="Calibri" pitchFamily="34" charset="-120"/>
              </a:rPr>
              <a:t>Fleisher LA (ed). Evidence-Based Practice of Anesthesiology. Edición vigente. Elsevier.</a:t>
            </a:r>
            <a:endParaRPr lang="en-US" sz="1200" dirty="0"/>
          </a:p>
        </p:txBody>
      </p:sp>
      <p:sp>
        <p:nvSpPr>
          <p:cNvPr id="18" name="Shape 15"/>
          <p:cNvSpPr/>
          <p:nvPr/>
        </p:nvSpPr>
        <p:spPr>
          <a:xfrm>
            <a:off x="548640" y="4919472"/>
            <a:ext cx="128016" cy="128016"/>
          </a:xfrm>
          <a:prstGeom prst="ellipse">
            <a:avLst/>
          </a:prstGeom>
          <a:solidFill>
            <a:srgbClr val="E8A33D"/>
          </a:solidFill>
          <a:ln/>
        </p:spPr>
      </p:sp>
      <p:sp>
        <p:nvSpPr>
          <p:cNvPr id="19" name="Text 16"/>
          <p:cNvSpPr txBox="1"/>
          <p:nvPr/>
        </p:nvSpPr>
        <p:spPr>
          <a:xfrm>
            <a:off x="868680" y="4818888"/>
            <a:ext cx="10774375" cy="475488"/>
          </a:xfrm>
          <a:prstGeom prst="rect">
            <a:avLst/>
          </a:prstGeom>
          <a:noFill/>
          <a:ln/>
        </p:spPr>
        <p:txBody>
          <a:bodyPr wrap="square" lIns="0" tIns="0" rIns="0" bIns="0" rtlCol="0" anchor="t"/>
          <a:lstStyle/>
          <a:p>
            <a:pPr indent="0" marL="0">
              <a:lnSpc>
                <a:spcPct val="105000"/>
              </a:lnSpc>
              <a:buNone/>
            </a:pPr>
            <a:r>
              <a:rPr lang="en-US" sz="1200" dirty="0">
                <a:solidFill>
                  <a:srgbClr val="F6E9E6"/>
                </a:solidFill>
                <a:latin typeface="Calibri" pitchFamily="34" charset="0"/>
                <a:ea typeface="Calibri" pitchFamily="34" charset="-122"/>
                <a:cs typeface="Calibri" pitchFamily="34" charset="-120"/>
              </a:rPr>
              <a:t>Hemmings HC, Egan TD. Pharmacology and Physiology for Anesthesia. Edición vigente. Elsevier.</a:t>
            </a:r>
            <a:endParaRPr lang="en-US" sz="1200" dirty="0"/>
          </a:p>
        </p:txBody>
      </p:sp>
      <p:sp>
        <p:nvSpPr>
          <p:cNvPr id="20" name="Shape 17"/>
          <p:cNvSpPr/>
          <p:nvPr/>
        </p:nvSpPr>
        <p:spPr>
          <a:xfrm>
            <a:off x="548640" y="5468112"/>
            <a:ext cx="128016" cy="128016"/>
          </a:xfrm>
          <a:prstGeom prst="ellipse">
            <a:avLst/>
          </a:prstGeom>
          <a:solidFill>
            <a:srgbClr val="E8A33D"/>
          </a:solidFill>
          <a:ln/>
        </p:spPr>
      </p:sp>
      <p:sp>
        <p:nvSpPr>
          <p:cNvPr id="21" name="Text 18"/>
          <p:cNvSpPr txBox="1"/>
          <p:nvPr/>
        </p:nvSpPr>
        <p:spPr>
          <a:xfrm>
            <a:off x="868680" y="5367528"/>
            <a:ext cx="10774375" cy="475488"/>
          </a:xfrm>
          <a:prstGeom prst="rect">
            <a:avLst/>
          </a:prstGeom>
          <a:noFill/>
          <a:ln/>
        </p:spPr>
        <p:txBody>
          <a:bodyPr wrap="square" lIns="0" tIns="0" rIns="0" bIns="0" rtlCol="0" anchor="t"/>
          <a:lstStyle/>
          <a:p>
            <a:pPr indent="0" marL="0">
              <a:lnSpc>
                <a:spcPct val="105000"/>
              </a:lnSpc>
              <a:buNone/>
            </a:pPr>
            <a:r>
              <a:rPr lang="en-US" sz="1200" dirty="0">
                <a:solidFill>
                  <a:srgbClr val="F6E9E6"/>
                </a:solidFill>
                <a:latin typeface="Calibri" pitchFamily="34" charset="0"/>
                <a:ea typeface="Calibri" pitchFamily="34" charset="-122"/>
                <a:cs typeface="Calibri" pitchFamily="34" charset="-120"/>
              </a:rPr>
              <a:t>Guías y consensos de sociedades nacionales e internacionales de anestesiología sobre monitorización y reversión del bloqueo neuromuscular.</a:t>
            </a:r>
            <a:endParaRPr lang="en-US" sz="1200" dirty="0"/>
          </a:p>
        </p:txBody>
      </p:sp>
      <p:sp>
        <p:nvSpPr>
          <p:cNvPr id="22" name="Text 19"/>
          <p:cNvSpPr txBox="1"/>
          <p:nvPr/>
        </p:nvSpPr>
        <p:spPr>
          <a:xfrm>
            <a:off x="54864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D8B3B0"/>
                </a:solidFill>
                <a:latin typeface="Calibri" pitchFamily="34" charset="0"/>
                <a:ea typeface="Calibri" pitchFamily="34" charset="-122"/>
                <a:cs typeface="Calibri" pitchFamily="34" charset="-120"/>
              </a:rPr>
              <a:t>CAPÍTULO VI  ·  RELAJANTES MUSCULARES</a:t>
            </a:r>
            <a:endParaRPr lang="en-US" sz="900" dirty="0"/>
          </a:p>
        </p:txBody>
      </p:sp>
      <p:sp>
        <p:nvSpPr>
          <p:cNvPr id="23" name="Text 20"/>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D8B3B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GPA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Capitulo VI - Relajantes Musculares</dc:title>
  <dc:subject>PptxGenJS Presentation</dc:subject>
  <dc:creator>GPA Academy</dc:creator>
  <cp:lastModifiedBy>GPA Academy</cp:lastModifiedBy>
  <cp:revision>1</cp:revision>
  <dcterms:created xsi:type="dcterms:W3CDTF">2026-08-26T23:40:45Z</dcterms:created>
  <dcterms:modified xsi:type="dcterms:W3CDTF">2026-08-26T23:40:45Z</dcterms:modified>
</cp:coreProperties>
</file>